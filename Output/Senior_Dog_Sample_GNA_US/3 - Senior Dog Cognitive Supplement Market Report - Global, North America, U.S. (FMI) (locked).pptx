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00.xml" ContentType="application/vnd.openxmlformats-officedocument.drawingml.chart+xml"/>
  <Override PartName="/ppt/charts/chart101.xml" ContentType="application/vnd.openxmlformats-officedocument.drawingml.chart+xml"/>
  <Override PartName="/ppt/charts/chart102.xml" ContentType="application/vnd.openxmlformats-officedocument.drawingml.chart+xml"/>
  <Override PartName="/ppt/charts/chart103.xml" ContentType="application/vnd.openxmlformats-officedocument.drawingml.chart+xml"/>
  <Override PartName="/ppt/charts/chart104.xml" ContentType="application/vnd.openxmlformats-officedocument.drawingml.chart+xml"/>
  <Override PartName="/ppt/charts/chart105.xml" ContentType="application/vnd.openxmlformats-officedocument.drawingml.chart+xml"/>
  <Override PartName="/ppt/charts/chart106.xml" ContentType="application/vnd.openxmlformats-officedocument.drawingml.chart+xml"/>
  <Override PartName="/ppt/charts/chart107.xml" ContentType="application/vnd.openxmlformats-officedocument.drawingml.chart+xml"/>
  <Override PartName="/ppt/charts/chart108.xml" ContentType="application/vnd.openxmlformats-officedocument.drawingml.chart+xml"/>
  <Override PartName="/ppt/charts/chart109.xml" ContentType="application/vnd.openxmlformats-officedocument.drawingml.chart+xml"/>
  <Override PartName="/ppt/charts/chart11.xml" ContentType="application/vnd.openxmlformats-officedocument.drawingml.chart+xml"/>
  <Override PartName="/ppt/charts/chart110.xml" ContentType="application/vnd.openxmlformats-officedocument.drawingml.chart+xml"/>
  <Override PartName="/ppt/charts/chart111.xml" ContentType="application/vnd.openxmlformats-officedocument.drawingml.chart+xml"/>
  <Override PartName="/ppt/charts/chart112.xml" ContentType="application/vnd.openxmlformats-officedocument.drawingml.chart+xml"/>
  <Override PartName="/ppt/charts/chart113.xml" ContentType="application/vnd.openxmlformats-officedocument.drawingml.chart+xml"/>
  <Override PartName="/ppt/charts/chart114.xml" ContentType="application/vnd.openxmlformats-officedocument.drawingml.chart+xml"/>
  <Override PartName="/ppt/charts/chart115.xml" ContentType="application/vnd.openxmlformats-officedocument.drawingml.chart+xml"/>
  <Override PartName="/ppt/charts/chart116.xml" ContentType="application/vnd.openxmlformats-officedocument.drawingml.chart+xml"/>
  <Override PartName="/ppt/charts/chart117.xml" ContentType="application/vnd.openxmlformats-officedocument.drawingml.chart+xml"/>
  <Override PartName="/ppt/charts/chart118.xml" ContentType="application/vnd.openxmlformats-officedocument.drawingml.chart+xml"/>
  <Override PartName="/ppt/charts/chart119.xml" ContentType="application/vnd.openxmlformats-officedocument.drawingml.chart+xml"/>
  <Override PartName="/ppt/charts/chart12.xml" ContentType="application/vnd.openxmlformats-officedocument.drawingml.chart+xml"/>
  <Override PartName="/ppt/charts/chart120.xml" ContentType="application/vnd.openxmlformats-officedocument.drawingml.chart+xml"/>
  <Override PartName="/ppt/charts/chart121.xml" ContentType="application/vnd.openxmlformats-officedocument.drawingml.chart+xml"/>
  <Override PartName="/ppt/charts/chart122.xml" ContentType="application/vnd.openxmlformats-officedocument.drawingml.chart+xml"/>
  <Override PartName="/ppt/charts/chart123.xml" ContentType="application/vnd.openxmlformats-officedocument.drawingml.chart+xml"/>
  <Override PartName="/ppt/charts/chart124.xml" ContentType="application/vnd.openxmlformats-officedocument.drawingml.chart+xml"/>
  <Override PartName="/ppt/charts/chart125.xml" ContentType="application/vnd.openxmlformats-officedocument.drawingml.chart+xml"/>
  <Override PartName="/ppt/charts/chart126.xml" ContentType="application/vnd.openxmlformats-officedocument.drawingml.chart+xml"/>
  <Override PartName="/ppt/charts/chart127.xml" ContentType="application/vnd.openxmlformats-officedocument.drawingml.chart+xml"/>
  <Override PartName="/ppt/charts/chart128.xml" ContentType="application/vnd.openxmlformats-officedocument.drawingml.chart+xml"/>
  <Override PartName="/ppt/charts/chart129.xml" ContentType="application/vnd.openxmlformats-officedocument.drawingml.chart+xml"/>
  <Override PartName="/ppt/charts/chart13.xml" ContentType="application/vnd.openxmlformats-officedocument.drawingml.chart+xml"/>
  <Override PartName="/ppt/charts/chart130.xml" ContentType="application/vnd.openxmlformats-officedocument.drawingml.chart+xml"/>
  <Override PartName="/ppt/charts/chart131.xml" ContentType="application/vnd.openxmlformats-officedocument.drawingml.chart+xml"/>
  <Override PartName="/ppt/charts/chart132.xml" ContentType="application/vnd.openxmlformats-officedocument.drawingml.chart+xml"/>
  <Override PartName="/ppt/charts/chart133.xml" ContentType="application/vnd.openxmlformats-officedocument.drawingml.chart+xml"/>
  <Override PartName="/ppt/charts/chart134.xml" ContentType="application/vnd.openxmlformats-officedocument.drawingml.chart+xml"/>
  <Override PartName="/ppt/charts/chart135.xml" ContentType="application/vnd.openxmlformats-officedocument.drawingml.chart+xml"/>
  <Override PartName="/ppt/charts/chart136.xml" ContentType="application/vnd.openxmlformats-officedocument.drawingml.chart+xml"/>
  <Override PartName="/ppt/charts/chart137.xml" ContentType="application/vnd.openxmlformats-officedocument.drawingml.chart+xml"/>
  <Override PartName="/ppt/charts/chart138.xml" ContentType="application/vnd.openxmlformats-officedocument.drawingml.chart+xml"/>
  <Override PartName="/ppt/charts/chart139.xml" ContentType="application/vnd.openxmlformats-officedocument.drawingml.chart+xml"/>
  <Override PartName="/ppt/charts/chart14.xml" ContentType="application/vnd.openxmlformats-officedocument.drawingml.chart+xml"/>
  <Override PartName="/ppt/charts/chart140.xml" ContentType="application/vnd.openxmlformats-officedocument.drawingml.chart+xml"/>
  <Override PartName="/ppt/charts/chart141.xml" ContentType="application/vnd.openxmlformats-officedocument.drawingml.chart+xml"/>
  <Override PartName="/ppt/charts/chart142.xml" ContentType="application/vnd.openxmlformats-officedocument.drawingml.chart+xml"/>
  <Override PartName="/ppt/charts/chart143.xml" ContentType="application/vnd.openxmlformats-officedocument.drawingml.chart+xml"/>
  <Override PartName="/ppt/charts/chart144.xml" ContentType="application/vnd.openxmlformats-officedocument.drawingml.chart+xml"/>
  <Override PartName="/ppt/charts/chart145.xml" ContentType="application/vnd.openxmlformats-officedocument.drawingml.chart+xml"/>
  <Override PartName="/ppt/charts/chart146.xml" ContentType="application/vnd.openxmlformats-officedocument.drawingml.chart+xml"/>
  <Override PartName="/ppt/charts/chart147.xml" ContentType="application/vnd.openxmlformats-officedocument.drawingml.chart+xml"/>
  <Override PartName="/ppt/charts/chart148.xml" ContentType="application/vnd.openxmlformats-officedocument.drawingml.chart+xml"/>
  <Override PartName="/ppt/charts/chart149.xml" ContentType="application/vnd.openxmlformats-officedocument.drawingml.chart+xml"/>
  <Override PartName="/ppt/charts/chart15.xml" ContentType="application/vnd.openxmlformats-officedocument.drawingml.chart+xml"/>
  <Override PartName="/ppt/charts/chart150.xml" ContentType="application/vnd.openxmlformats-officedocument.drawingml.chart+xml"/>
  <Override PartName="/ppt/charts/chart151.xml" ContentType="application/vnd.openxmlformats-officedocument.drawingml.chart+xml"/>
  <Override PartName="/ppt/charts/chart152.xml" ContentType="application/vnd.openxmlformats-officedocument.drawingml.chart+xml"/>
  <Override PartName="/ppt/charts/chart153.xml" ContentType="application/vnd.openxmlformats-officedocument.drawingml.chart+xml"/>
  <Override PartName="/ppt/charts/chart154.xml" ContentType="application/vnd.openxmlformats-officedocument.drawingml.chart+xml"/>
  <Override PartName="/ppt/charts/chart155.xml" ContentType="application/vnd.openxmlformats-officedocument.drawingml.chart+xml"/>
  <Override PartName="/ppt/charts/chart156.xml" ContentType="application/vnd.openxmlformats-officedocument.drawingml.chart+xml"/>
  <Override PartName="/ppt/charts/chart157.xml" ContentType="application/vnd.openxmlformats-officedocument.drawingml.chart+xml"/>
  <Override PartName="/ppt/charts/chart158.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5.xml" ContentType="application/vnd.openxmlformats-officedocument.drawingml.chart+xml"/>
  <Override PartName="/ppt/charts/chart76.xml" ContentType="application/vnd.openxmlformats-officedocument.drawingml.chart+xml"/>
  <Override PartName="/ppt/charts/chart77.xml" ContentType="application/vnd.openxmlformats-officedocument.drawingml.chart+xml"/>
  <Override PartName="/ppt/charts/chart78.xml" ContentType="application/vnd.openxmlformats-officedocument.drawingml.chart+xml"/>
  <Override PartName="/ppt/charts/chart79.xml" ContentType="application/vnd.openxmlformats-officedocument.drawingml.chart+xml"/>
  <Override PartName="/ppt/charts/chart8.xml" ContentType="application/vnd.openxmlformats-officedocument.drawingml.chart+xml"/>
  <Override PartName="/ppt/charts/chart80.xml" ContentType="application/vnd.openxmlformats-officedocument.drawingml.chart+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89.xml" ContentType="application/vnd.openxmlformats-officedocument.drawingml.chart+xml"/>
  <Override PartName="/ppt/charts/chart9.xml" ContentType="application/vnd.openxmlformats-officedocument.drawingml.chart+xml"/>
  <Override PartName="/ppt/charts/chart90.xml" ContentType="application/vnd.openxmlformats-officedocument.drawingml.chart+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2.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7.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544" r:id="rId296"/>
    <p:sldId id="536" r:id="rId288"/>
    <p:sldId id="537" r:id="rId289"/>
    <p:sldId id="538" r:id="rId290"/>
    <p:sldId id="539" r:id="rId291"/>
    <p:sldId id="540" r:id="rId292"/>
    <p:sldId id="541" r:id="rId293"/>
    <p:sldId id="542" r:id="rId294"/>
    <p:sldId id="543" r:id="rId295"/>
    <p:sldId id="553" r:id="rId305"/>
    <p:sldId id="545" r:id="rId297"/>
    <p:sldId id="546" r:id="rId298"/>
    <p:sldId id="547" r:id="rId299"/>
    <p:sldId id="548" r:id="rId300"/>
    <p:sldId id="549" r:id="rId301"/>
    <p:sldId id="550" r:id="rId302"/>
    <p:sldId id="551" r:id="rId303"/>
    <p:sldId id="552" r:id="rId304"/>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2" r:id="rId44"/>
    <p:sldId id="293" r:id="rId45"/>
    <p:sldId id="296" r:id="rId48"/>
    <p:sldId id="297" r:id="rId49"/>
    <p:sldId id="298" r:id="rId50"/>
    <p:sldId id="299" r:id="rId51"/>
    <p:sldId id="300" r:id="rId52"/>
    <p:sldId id="304" r:id="rId56"/>
    <p:sldId id="305" r:id="rId57"/>
    <p:sldId id="306" r:id="rId58"/>
    <p:sldId id="311" r:id="rId63"/>
    <p:sldId id="312" r:id="rId64"/>
    <p:sldId id="313" r:id="rId65"/>
    <p:sldId id="314" r:id="rId66"/>
    <p:sldId id="316" r:id="rId68"/>
    <p:sldId id="317" r:id="rId69"/>
    <p:sldId id="320" r:id="rId72"/>
    <p:sldId id="321" r:id="rId73"/>
    <p:sldId id="322" r:id="rId74"/>
    <p:sldId id="323" r:id="rId75"/>
    <p:sldId id="324" r:id="rId76"/>
    <p:sldId id="326" r:id="rId78"/>
    <p:sldId id="327" r:id="rId79"/>
    <p:sldId id="330" r:id="rId82"/>
    <p:sldId id="331" r:id="rId83"/>
    <p:sldId id="332" r:id="rId84"/>
    <p:sldId id="333" r:id="rId85"/>
    <p:sldId id="334" r:id="rId86"/>
    <p:sldId id="336" r:id="rId88"/>
    <p:sldId id="337" r:id="rId89"/>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80" r:id="rId132"/>
    <p:sldId id="381" r:id="rId133"/>
    <p:sldId id="384" r:id="rId136"/>
    <p:sldId id="385" r:id="rId137"/>
    <p:sldId id="386" r:id="rId138"/>
    <p:sldId id="387" r:id="rId139"/>
    <p:sldId id="388" r:id="rId140"/>
    <p:sldId id="391" r:id="rId143"/>
    <p:sldId id="392" r:id="rId144"/>
    <p:sldId id="393" r:id="rId145"/>
    <p:sldId id="398" r:id="rId150"/>
    <p:sldId id="399" r:id="rId151"/>
    <p:sldId id="400" r:id="rId152"/>
    <p:sldId id="401" r:id="rId153"/>
    <p:sldId id="403" r:id="rId155"/>
    <p:sldId id="404" r:id="rId156"/>
    <p:sldId id="407" r:id="rId159"/>
    <p:sldId id="408" r:id="rId160"/>
    <p:sldId id="409" r:id="rId161"/>
    <p:sldId id="410" r:id="rId162"/>
    <p:sldId id="411" r:id="rId163"/>
    <p:sldId id="413" r:id="rId165"/>
    <p:sldId id="414" r:id="rId166"/>
    <p:sldId id="417" r:id="rId169"/>
    <p:sldId id="418" r:id="rId170"/>
    <p:sldId id="419" r:id="rId171"/>
    <p:sldId id="420" r:id="rId172"/>
    <p:sldId id="421" r:id="rId173"/>
    <p:sldId id="423" r:id="rId175"/>
    <p:sldId id="424" r:id="rId176"/>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1" r:id="rId203"/>
    <p:sldId id="452" r:id="rId204"/>
    <p:sldId id="453" r:id="rId205"/>
    <p:sldId id="454" r:id="rId206"/>
    <p:sldId id="455" r:id="rId207"/>
    <p:sldId id="459" r:id="rId211"/>
    <p:sldId id="460" r:id="rId212"/>
    <p:sldId id="461" r:id="rId213"/>
    <p:sldId id="463" r:id="rId215"/>
    <p:sldId id="464" r:id="rId216"/>
    <p:sldId id="465" r:id="rId217"/>
    <p:sldId id="467" r:id="rId219"/>
    <p:sldId id="468" r:id="rId220"/>
    <p:sldId id="469" r:id="rId221"/>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54" r:id="rId2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28.xml"/><Relationship Id="rId18" Type="http://schemas.openxmlformats.org/officeDocument/2006/relationships/slide" Target="slides/slide29.xml"/><Relationship Id="rId19" Type="http://schemas.openxmlformats.org/officeDocument/2006/relationships/slide" Target="slides/slide30.xml"/><Relationship Id="rId20" Type="http://schemas.openxmlformats.org/officeDocument/2006/relationships/slide" Target="slides/slide31.xml"/><Relationship Id="rId21" Type="http://schemas.openxmlformats.org/officeDocument/2006/relationships/slide" Target="slides/slide32.xml"/><Relationship Id="rId22" Type="http://schemas.openxmlformats.org/officeDocument/2006/relationships/slide" Target="slides/slide33.xml"/><Relationship Id="rId23" Type="http://schemas.openxmlformats.org/officeDocument/2006/relationships/slide" Target="slides/slide34.xml"/><Relationship Id="rId24" Type="http://schemas.openxmlformats.org/officeDocument/2006/relationships/slide" Target="slides/slide35.xml"/><Relationship Id="rId25" Type="http://schemas.openxmlformats.org/officeDocument/2006/relationships/slide" Target="slides/slide36.xml"/><Relationship Id="rId26" Type="http://schemas.openxmlformats.org/officeDocument/2006/relationships/slide" Target="slides/slide37.xml"/><Relationship Id="rId27" Type="http://schemas.openxmlformats.org/officeDocument/2006/relationships/slide" Target="slides/slide38.xml"/><Relationship Id="rId28" Type="http://schemas.openxmlformats.org/officeDocument/2006/relationships/slide" Target="slides/slide39.xml"/><Relationship Id="rId29" Type="http://schemas.openxmlformats.org/officeDocument/2006/relationships/slide" Target="slides/slide40.xml"/><Relationship Id="rId30" Type="http://schemas.openxmlformats.org/officeDocument/2006/relationships/slide" Target="slides/slide41.xml"/><Relationship Id="rId31" Type="http://schemas.openxmlformats.org/officeDocument/2006/relationships/slide" Target="slides/slide42.xml"/><Relationship Id="rId32" Type="http://schemas.openxmlformats.org/officeDocument/2006/relationships/slide" Target="slides/slide43.xml"/><Relationship Id="rId33" Type="http://schemas.openxmlformats.org/officeDocument/2006/relationships/slide" Target="slides/slide44.xml"/><Relationship Id="rId34" Type="http://schemas.openxmlformats.org/officeDocument/2006/relationships/slide" Target="slides/slide45.xml"/><Relationship Id="rId35" Type="http://schemas.openxmlformats.org/officeDocument/2006/relationships/slide" Target="slides/slide46.xml"/><Relationship Id="rId36" Type="http://schemas.openxmlformats.org/officeDocument/2006/relationships/slide" Target="slides/slide47.xml"/><Relationship Id="rId37" Type="http://schemas.openxmlformats.org/officeDocument/2006/relationships/slide" Target="slides/slide48.xml"/><Relationship Id="rId38" Type="http://schemas.openxmlformats.org/officeDocument/2006/relationships/slide" Target="slides/slide49.xml"/><Relationship Id="rId39" Type="http://schemas.openxmlformats.org/officeDocument/2006/relationships/slide" Target="slides/slide50.xml"/><Relationship Id="rId40" Type="http://schemas.openxmlformats.org/officeDocument/2006/relationships/slide" Target="slides/slide51.xml"/><Relationship Id="rId41" Type="http://schemas.openxmlformats.org/officeDocument/2006/relationships/slide" Target="slides/slide52.xml"/><Relationship Id="rId42" Type="http://schemas.openxmlformats.org/officeDocument/2006/relationships/slide" Target="slides/slide53.xml"/><Relationship Id="rId44" Type="http://schemas.openxmlformats.org/officeDocument/2006/relationships/slide" Target="slides/slide54.xml"/><Relationship Id="rId45" Type="http://schemas.openxmlformats.org/officeDocument/2006/relationships/slide" Target="slides/slide55.xml"/><Relationship Id="rId48" Type="http://schemas.openxmlformats.org/officeDocument/2006/relationships/slide" Target="slides/slide56.xml"/><Relationship Id="rId49" Type="http://schemas.openxmlformats.org/officeDocument/2006/relationships/slide" Target="slides/slide57.xml"/><Relationship Id="rId50" Type="http://schemas.openxmlformats.org/officeDocument/2006/relationships/slide" Target="slides/slide58.xml"/><Relationship Id="rId51" Type="http://schemas.openxmlformats.org/officeDocument/2006/relationships/slide" Target="slides/slide59.xml"/><Relationship Id="rId52" Type="http://schemas.openxmlformats.org/officeDocument/2006/relationships/slide" Target="slides/slide60.xml"/><Relationship Id="rId56" Type="http://schemas.openxmlformats.org/officeDocument/2006/relationships/slide" Target="slides/slide61.xml"/><Relationship Id="rId57" Type="http://schemas.openxmlformats.org/officeDocument/2006/relationships/slide" Target="slides/slide62.xml"/><Relationship Id="rId58" Type="http://schemas.openxmlformats.org/officeDocument/2006/relationships/slide" Target="slides/slide63.xml"/><Relationship Id="rId63" Type="http://schemas.openxmlformats.org/officeDocument/2006/relationships/slide" Target="slides/slide64.xml"/><Relationship Id="rId64" Type="http://schemas.openxmlformats.org/officeDocument/2006/relationships/slide" Target="slides/slide65.xml"/><Relationship Id="rId65" Type="http://schemas.openxmlformats.org/officeDocument/2006/relationships/slide" Target="slides/slide66.xml"/><Relationship Id="rId66" Type="http://schemas.openxmlformats.org/officeDocument/2006/relationships/slide" Target="slides/slide67.xml"/><Relationship Id="rId68" Type="http://schemas.openxmlformats.org/officeDocument/2006/relationships/slide" Target="slides/slide68.xml"/><Relationship Id="rId69" Type="http://schemas.openxmlformats.org/officeDocument/2006/relationships/slide" Target="slides/slide69.xml"/><Relationship Id="rId72" Type="http://schemas.openxmlformats.org/officeDocument/2006/relationships/slide" Target="slides/slide70.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2" Type="http://schemas.openxmlformats.org/officeDocument/2006/relationships/slide" Target="slides/slide84.xml"/><Relationship Id="rId93" Type="http://schemas.openxmlformats.org/officeDocument/2006/relationships/slide" Target="slides/slide85.xml"/><Relationship Id="rId94" Type="http://schemas.openxmlformats.org/officeDocument/2006/relationships/slide" Target="slides/slide86.xml"/><Relationship Id="rId95" Type="http://schemas.openxmlformats.org/officeDocument/2006/relationships/slide" Target="slides/slide87.xml"/><Relationship Id="rId96" Type="http://schemas.openxmlformats.org/officeDocument/2006/relationships/slide" Target="slides/slide88.xml"/><Relationship Id="rId97" Type="http://schemas.openxmlformats.org/officeDocument/2006/relationships/slide" Target="slides/slide89.xml"/><Relationship Id="rId98" Type="http://schemas.openxmlformats.org/officeDocument/2006/relationships/slide" Target="slides/slide90.xml"/><Relationship Id="rId99" Type="http://schemas.openxmlformats.org/officeDocument/2006/relationships/slide" Target="slides/slide91.xml"/><Relationship Id="rId100" Type="http://schemas.openxmlformats.org/officeDocument/2006/relationships/slide" Target="slides/slide92.xml"/><Relationship Id="rId101" Type="http://schemas.openxmlformats.org/officeDocument/2006/relationships/slide" Target="slides/slide93.xml"/><Relationship Id="rId102" Type="http://schemas.openxmlformats.org/officeDocument/2006/relationships/slide" Target="slides/slide94.xml"/><Relationship Id="rId103" Type="http://schemas.openxmlformats.org/officeDocument/2006/relationships/slide" Target="slides/slide95.xml"/><Relationship Id="rId104" Type="http://schemas.openxmlformats.org/officeDocument/2006/relationships/slide" Target="slides/slide96.xml"/><Relationship Id="rId105" Type="http://schemas.openxmlformats.org/officeDocument/2006/relationships/slide" Target="slides/slide97.xml"/><Relationship Id="rId106" Type="http://schemas.openxmlformats.org/officeDocument/2006/relationships/slide" Target="slides/slide98.xml"/><Relationship Id="rId107" Type="http://schemas.openxmlformats.org/officeDocument/2006/relationships/slide" Target="slides/slide99.xml"/><Relationship Id="rId108" Type="http://schemas.openxmlformats.org/officeDocument/2006/relationships/slide" Target="slides/slide100.xml"/><Relationship Id="rId109" Type="http://schemas.openxmlformats.org/officeDocument/2006/relationships/slide" Target="slides/slide101.xml"/><Relationship Id="rId110" Type="http://schemas.openxmlformats.org/officeDocument/2006/relationships/slide" Target="slides/slide102.xml"/><Relationship Id="rId111" Type="http://schemas.openxmlformats.org/officeDocument/2006/relationships/slide" Target="slides/slide103.xml"/><Relationship Id="rId112" Type="http://schemas.openxmlformats.org/officeDocument/2006/relationships/slide" Target="slides/slide104.xml"/><Relationship Id="rId113" Type="http://schemas.openxmlformats.org/officeDocument/2006/relationships/slide" Target="slides/slide105.xml"/><Relationship Id="rId114" Type="http://schemas.openxmlformats.org/officeDocument/2006/relationships/slide" Target="slides/slide106.xml"/><Relationship Id="rId115" Type="http://schemas.openxmlformats.org/officeDocument/2006/relationships/slide" Target="slides/slide107.xml"/><Relationship Id="rId116" Type="http://schemas.openxmlformats.org/officeDocument/2006/relationships/slide" Target="slides/slide108.xml"/><Relationship Id="rId117" Type="http://schemas.openxmlformats.org/officeDocument/2006/relationships/slide" Target="slides/slide109.xml"/><Relationship Id="rId118" Type="http://schemas.openxmlformats.org/officeDocument/2006/relationships/slide" Target="slides/slide110.xml"/><Relationship Id="rId119" Type="http://schemas.openxmlformats.org/officeDocument/2006/relationships/slide" Target="slides/slide111.xml"/><Relationship Id="rId120" Type="http://schemas.openxmlformats.org/officeDocument/2006/relationships/slide" Target="slides/slide112.xml"/><Relationship Id="rId121" Type="http://schemas.openxmlformats.org/officeDocument/2006/relationships/slide" Target="slides/slide113.xml"/><Relationship Id="rId122" Type="http://schemas.openxmlformats.org/officeDocument/2006/relationships/slide" Target="slides/slide114.xml"/><Relationship Id="rId123" Type="http://schemas.openxmlformats.org/officeDocument/2006/relationships/slide" Target="slides/slide115.xml"/><Relationship Id="rId124" Type="http://schemas.openxmlformats.org/officeDocument/2006/relationships/slide" Target="slides/slide116.xml"/><Relationship Id="rId125" Type="http://schemas.openxmlformats.org/officeDocument/2006/relationships/slide" Target="slides/slide117.xml"/><Relationship Id="rId126" Type="http://schemas.openxmlformats.org/officeDocument/2006/relationships/slide" Target="slides/slide118.xml"/><Relationship Id="rId127" Type="http://schemas.openxmlformats.org/officeDocument/2006/relationships/slide" Target="slides/slide119.xml"/><Relationship Id="rId128" Type="http://schemas.openxmlformats.org/officeDocument/2006/relationships/slide" Target="slides/slide120.xml"/><Relationship Id="rId129" Type="http://schemas.openxmlformats.org/officeDocument/2006/relationships/slide" Target="slides/slide121.xml"/><Relationship Id="rId130" Type="http://schemas.openxmlformats.org/officeDocument/2006/relationships/slide" Target="slides/slide122.xml"/><Relationship Id="rId132" Type="http://schemas.openxmlformats.org/officeDocument/2006/relationships/slide" Target="slides/slide123.xml"/><Relationship Id="rId133" Type="http://schemas.openxmlformats.org/officeDocument/2006/relationships/slide" Target="slides/slide124.xml"/><Relationship Id="rId136" Type="http://schemas.openxmlformats.org/officeDocument/2006/relationships/slide" Target="slides/slide125.xml"/><Relationship Id="rId137" Type="http://schemas.openxmlformats.org/officeDocument/2006/relationships/slide" Target="slides/slide126.xml"/><Relationship Id="rId138" Type="http://schemas.openxmlformats.org/officeDocument/2006/relationships/slide" Target="slides/slide127.xml"/><Relationship Id="rId139" Type="http://schemas.openxmlformats.org/officeDocument/2006/relationships/slide" Target="slides/slide128.xml"/><Relationship Id="rId140" Type="http://schemas.openxmlformats.org/officeDocument/2006/relationships/slide" Target="slides/slide129.xml"/><Relationship Id="rId143" Type="http://schemas.openxmlformats.org/officeDocument/2006/relationships/slide" Target="slides/slide130.xml"/><Relationship Id="rId144" Type="http://schemas.openxmlformats.org/officeDocument/2006/relationships/slide" Target="slides/slide131.xml"/><Relationship Id="rId145" Type="http://schemas.openxmlformats.org/officeDocument/2006/relationships/slide" Target="slides/slide132.xml"/><Relationship Id="rId150" Type="http://schemas.openxmlformats.org/officeDocument/2006/relationships/slide" Target="slides/slide133.xml"/><Relationship Id="rId151" Type="http://schemas.openxmlformats.org/officeDocument/2006/relationships/slide" Target="slides/slide134.xml"/><Relationship Id="rId152" Type="http://schemas.openxmlformats.org/officeDocument/2006/relationships/slide" Target="slides/slide135.xml"/><Relationship Id="rId153" Type="http://schemas.openxmlformats.org/officeDocument/2006/relationships/slide" Target="slides/slide136.xml"/><Relationship Id="rId155" Type="http://schemas.openxmlformats.org/officeDocument/2006/relationships/slide" Target="slides/slide137.xml"/><Relationship Id="rId156" Type="http://schemas.openxmlformats.org/officeDocument/2006/relationships/slide" Target="slides/slide138.xml"/><Relationship Id="rId159" Type="http://schemas.openxmlformats.org/officeDocument/2006/relationships/slide" Target="slides/slide139.xml"/><Relationship Id="rId160" Type="http://schemas.openxmlformats.org/officeDocument/2006/relationships/slide" Target="slides/slide140.xml"/><Relationship Id="rId161" Type="http://schemas.openxmlformats.org/officeDocument/2006/relationships/slide" Target="slides/slide141.xml"/><Relationship Id="rId162" Type="http://schemas.openxmlformats.org/officeDocument/2006/relationships/slide" Target="slides/slide142.xml"/><Relationship Id="rId163" Type="http://schemas.openxmlformats.org/officeDocument/2006/relationships/slide" Target="slides/slide143.xml"/><Relationship Id="rId165" Type="http://schemas.openxmlformats.org/officeDocument/2006/relationships/slide" Target="slides/slide144.xml"/><Relationship Id="rId166" Type="http://schemas.openxmlformats.org/officeDocument/2006/relationships/slide" Target="slides/slide145.xml"/><Relationship Id="rId169" Type="http://schemas.openxmlformats.org/officeDocument/2006/relationships/slide" Target="slides/slide146.xml"/><Relationship Id="rId170" Type="http://schemas.openxmlformats.org/officeDocument/2006/relationships/slide" Target="slides/slide147.xml"/><Relationship Id="rId171" Type="http://schemas.openxmlformats.org/officeDocument/2006/relationships/slide" Target="slides/slide148.xml"/><Relationship Id="rId172" Type="http://schemas.openxmlformats.org/officeDocument/2006/relationships/slide" Target="slides/slide149.xml"/><Relationship Id="rId173" Type="http://schemas.openxmlformats.org/officeDocument/2006/relationships/slide" Target="slides/slide150.xml"/><Relationship Id="rId175" Type="http://schemas.openxmlformats.org/officeDocument/2006/relationships/slide" Target="slides/slide151.xml"/><Relationship Id="rId176" Type="http://schemas.openxmlformats.org/officeDocument/2006/relationships/slide" Target="slides/slide152.xml"/><Relationship Id="rId179" Type="http://schemas.openxmlformats.org/officeDocument/2006/relationships/slide" Target="slides/slide153.xml"/><Relationship Id="rId180" Type="http://schemas.openxmlformats.org/officeDocument/2006/relationships/slide" Target="slides/slide154.xml"/><Relationship Id="rId181" Type="http://schemas.openxmlformats.org/officeDocument/2006/relationships/slide" Target="slides/slide155.xml"/><Relationship Id="rId182" Type="http://schemas.openxmlformats.org/officeDocument/2006/relationships/slide" Target="slides/slide156.xml"/><Relationship Id="rId183" Type="http://schemas.openxmlformats.org/officeDocument/2006/relationships/slide" Target="slides/slide157.xml"/><Relationship Id="rId184" Type="http://schemas.openxmlformats.org/officeDocument/2006/relationships/slide" Target="slides/slide158.xml"/><Relationship Id="rId185" Type="http://schemas.openxmlformats.org/officeDocument/2006/relationships/slide" Target="slides/slide159.xml"/><Relationship Id="rId186" Type="http://schemas.openxmlformats.org/officeDocument/2006/relationships/slide" Target="slides/slide160.xml"/><Relationship Id="rId187" Type="http://schemas.openxmlformats.org/officeDocument/2006/relationships/slide" Target="slides/slide161.xml"/><Relationship Id="rId188" Type="http://schemas.openxmlformats.org/officeDocument/2006/relationships/slide" Target="slides/slide162.xml"/><Relationship Id="rId189" Type="http://schemas.openxmlformats.org/officeDocument/2006/relationships/slide" Target="slides/slide163.xml"/><Relationship Id="rId190" Type="http://schemas.openxmlformats.org/officeDocument/2006/relationships/slide" Target="slides/slide164.xml"/><Relationship Id="rId191" Type="http://schemas.openxmlformats.org/officeDocument/2006/relationships/slide" Target="slides/slide165.xml"/><Relationship Id="rId192" Type="http://schemas.openxmlformats.org/officeDocument/2006/relationships/slide" Target="slides/slide166.xml"/><Relationship Id="rId193" Type="http://schemas.openxmlformats.org/officeDocument/2006/relationships/slide" Target="slides/slide167.xml"/><Relationship Id="rId194" Type="http://schemas.openxmlformats.org/officeDocument/2006/relationships/slide" Target="slides/slide168.xml"/><Relationship Id="rId195" Type="http://schemas.openxmlformats.org/officeDocument/2006/relationships/slide" Target="slides/slide169.xml"/><Relationship Id="rId196" Type="http://schemas.openxmlformats.org/officeDocument/2006/relationships/slide" Target="slides/slide170.xml"/><Relationship Id="rId197" Type="http://schemas.openxmlformats.org/officeDocument/2006/relationships/slide" Target="slides/slide171.xml"/><Relationship Id="rId198" Type="http://schemas.openxmlformats.org/officeDocument/2006/relationships/slide" Target="slides/slide172.xml"/><Relationship Id="rId199" Type="http://schemas.openxmlformats.org/officeDocument/2006/relationships/slide" Target="slides/slide173.xml"/><Relationship Id="rId200" Type="http://schemas.openxmlformats.org/officeDocument/2006/relationships/slide" Target="slides/slide174.xml"/><Relationship Id="rId201" Type="http://schemas.openxmlformats.org/officeDocument/2006/relationships/slide" Target="slides/slide175.xml"/><Relationship Id="rId203" Type="http://schemas.openxmlformats.org/officeDocument/2006/relationships/slide" Target="slides/slide176.xml"/><Relationship Id="rId204" Type="http://schemas.openxmlformats.org/officeDocument/2006/relationships/slide" Target="slides/slide177.xml"/><Relationship Id="rId205" Type="http://schemas.openxmlformats.org/officeDocument/2006/relationships/slide" Target="slides/slide178.xml"/><Relationship Id="rId206" Type="http://schemas.openxmlformats.org/officeDocument/2006/relationships/slide" Target="slides/slide179.xml"/><Relationship Id="rId207" Type="http://schemas.openxmlformats.org/officeDocument/2006/relationships/slide" Target="slides/slide180.xml"/><Relationship Id="rId211" Type="http://schemas.openxmlformats.org/officeDocument/2006/relationships/slide" Target="slides/slide181.xml"/><Relationship Id="rId212" Type="http://schemas.openxmlformats.org/officeDocument/2006/relationships/slide" Target="slides/slide182.xml"/><Relationship Id="rId213" Type="http://schemas.openxmlformats.org/officeDocument/2006/relationships/slide" Target="slides/slide183.xml"/><Relationship Id="rId215" Type="http://schemas.openxmlformats.org/officeDocument/2006/relationships/slide" Target="slides/slide184.xml"/><Relationship Id="rId216" Type="http://schemas.openxmlformats.org/officeDocument/2006/relationships/slide" Target="slides/slide185.xml"/><Relationship Id="rId217" Type="http://schemas.openxmlformats.org/officeDocument/2006/relationships/slide" Target="slides/slide186.xml"/><Relationship Id="rId219" Type="http://schemas.openxmlformats.org/officeDocument/2006/relationships/slide" Target="slides/slide187.xml"/><Relationship Id="rId220" Type="http://schemas.openxmlformats.org/officeDocument/2006/relationships/slide" Target="slides/slide188.xml"/><Relationship Id="rId221" Type="http://schemas.openxmlformats.org/officeDocument/2006/relationships/slide" Target="slides/slide189.xml"/><Relationship Id="rId222" Type="http://schemas.openxmlformats.org/officeDocument/2006/relationships/slide" Target="slides/slide245.xml"/><Relationship Id="rId223" Type="http://schemas.openxmlformats.org/officeDocument/2006/relationships/slide" Target="slides/slide190.xml"/><Relationship Id="rId224" Type="http://schemas.openxmlformats.org/officeDocument/2006/relationships/slide" Target="slides/slide191.xml"/><Relationship Id="rId225" Type="http://schemas.openxmlformats.org/officeDocument/2006/relationships/slide" Target="slides/slide192.xml"/><Relationship Id="rId226" Type="http://schemas.openxmlformats.org/officeDocument/2006/relationships/slide" Target="slides/slide193.xml"/><Relationship Id="rId227" Type="http://schemas.openxmlformats.org/officeDocument/2006/relationships/slide" Target="slides/slide194.xml"/><Relationship Id="rId228" Type="http://schemas.openxmlformats.org/officeDocument/2006/relationships/slide" Target="slides/slide195.xml"/><Relationship Id="rId229" Type="http://schemas.openxmlformats.org/officeDocument/2006/relationships/slide" Target="slides/slide196.xml"/><Relationship Id="rId230" Type="http://schemas.openxmlformats.org/officeDocument/2006/relationships/slide" Target="slides/slide197.xml"/><Relationship Id="rId231" Type="http://schemas.openxmlformats.org/officeDocument/2006/relationships/slide" Target="slides/slide198.xml"/><Relationship Id="rId232" Type="http://schemas.openxmlformats.org/officeDocument/2006/relationships/slide" Target="slides/slide199.xml"/><Relationship Id="rId233" Type="http://schemas.openxmlformats.org/officeDocument/2006/relationships/slide" Target="slides/slide200.xml"/><Relationship Id="rId234" Type="http://schemas.openxmlformats.org/officeDocument/2006/relationships/slide" Target="slides/slide201.xml"/><Relationship Id="rId235" Type="http://schemas.openxmlformats.org/officeDocument/2006/relationships/slide" Target="slides/slide202.xml"/><Relationship Id="rId236" Type="http://schemas.openxmlformats.org/officeDocument/2006/relationships/slide" Target="slides/slide203.xml"/><Relationship Id="rId237" Type="http://schemas.openxmlformats.org/officeDocument/2006/relationships/slide" Target="slides/slide204.xml"/><Relationship Id="rId238" Type="http://schemas.openxmlformats.org/officeDocument/2006/relationships/slide" Target="slides/slide205.xml"/><Relationship Id="rId239" Type="http://schemas.openxmlformats.org/officeDocument/2006/relationships/slide" Target="slides/slide206.xml"/><Relationship Id="rId240" Type="http://schemas.openxmlformats.org/officeDocument/2006/relationships/slide" Target="slides/slide207.xml"/><Relationship Id="rId241" Type="http://schemas.openxmlformats.org/officeDocument/2006/relationships/slide" Target="slides/slide208.xml"/><Relationship Id="rId242" Type="http://schemas.openxmlformats.org/officeDocument/2006/relationships/slide" Target="slides/slide209.xml"/><Relationship Id="rId243" Type="http://schemas.openxmlformats.org/officeDocument/2006/relationships/slide" Target="slides/slide210.xml"/><Relationship Id="rId244" Type="http://schemas.openxmlformats.org/officeDocument/2006/relationships/slide" Target="slides/slide211.xml"/><Relationship Id="rId245" Type="http://schemas.openxmlformats.org/officeDocument/2006/relationships/slide" Target="slides/slide212.xml"/><Relationship Id="rId246" Type="http://schemas.openxmlformats.org/officeDocument/2006/relationships/slide" Target="slides/slide213.xml"/><Relationship Id="rId247" Type="http://schemas.openxmlformats.org/officeDocument/2006/relationships/slide" Target="slides/slide214.xml"/><Relationship Id="rId248" Type="http://schemas.openxmlformats.org/officeDocument/2006/relationships/slide" Target="slides/slide215.xml"/><Relationship Id="rId249" Type="http://schemas.openxmlformats.org/officeDocument/2006/relationships/slide" Target="slides/slide216.xml"/><Relationship Id="rId250" Type="http://schemas.openxmlformats.org/officeDocument/2006/relationships/slide" Target="slides/slide217.xml"/><Relationship Id="rId251" Type="http://schemas.openxmlformats.org/officeDocument/2006/relationships/slide" Target="slides/slide218.xml"/><Relationship Id="rId252" Type="http://schemas.openxmlformats.org/officeDocument/2006/relationships/slide" Target="slides/slide231.xml"/><Relationship Id="rId253" Type="http://schemas.openxmlformats.org/officeDocument/2006/relationships/slide" Target="slides/slide232.xml"/><Relationship Id="rId254" Type="http://schemas.openxmlformats.org/officeDocument/2006/relationships/slide" Target="slides/slide233.xml"/><Relationship Id="rId255" Type="http://schemas.openxmlformats.org/officeDocument/2006/relationships/slide" Target="slides/slide234.xml"/><Relationship Id="rId256" Type="http://schemas.openxmlformats.org/officeDocument/2006/relationships/slide" Target="slides/slide235.xml"/><Relationship Id="rId257" Type="http://schemas.openxmlformats.org/officeDocument/2006/relationships/slide" Target="slides/slide236.xml"/><Relationship Id="rId258" Type="http://schemas.openxmlformats.org/officeDocument/2006/relationships/slide" Target="slides/slide237.xml"/><Relationship Id="rId259" Type="http://schemas.openxmlformats.org/officeDocument/2006/relationships/slide" Target="slides/slide238.xml"/><Relationship Id="rId260" Type="http://schemas.openxmlformats.org/officeDocument/2006/relationships/slide" Target="slides/slide239.xml"/><Relationship Id="rId261" Type="http://schemas.openxmlformats.org/officeDocument/2006/relationships/slide" Target="slides/slide240.xml"/><Relationship Id="rId262" Type="http://schemas.openxmlformats.org/officeDocument/2006/relationships/slide" Target="slides/slide241.xml"/><Relationship Id="rId263" Type="http://schemas.openxmlformats.org/officeDocument/2006/relationships/slide" Target="slides/slide242.xml"/><Relationship Id="rId264" Type="http://schemas.openxmlformats.org/officeDocument/2006/relationships/slide" Target="slides/slide243.xml"/><Relationship Id="rId265" Type="http://schemas.openxmlformats.org/officeDocument/2006/relationships/slide" Target="slides/slide244.xml"/><Relationship Id="rId266" Type="http://schemas.openxmlformats.org/officeDocument/2006/relationships/slide" Target="slides/slide219.xml"/><Relationship Id="rId267" Type="http://schemas.openxmlformats.org/officeDocument/2006/relationships/slide" Target="slides/slide220.xml"/><Relationship Id="rId268" Type="http://schemas.openxmlformats.org/officeDocument/2006/relationships/slide" Target="slides/slide221.xml"/><Relationship Id="rId269" Type="http://schemas.openxmlformats.org/officeDocument/2006/relationships/slide" Target="slides/slide222.xml"/><Relationship Id="rId270" Type="http://schemas.openxmlformats.org/officeDocument/2006/relationships/slide" Target="slides/slide223.xml"/><Relationship Id="rId271" Type="http://schemas.openxmlformats.org/officeDocument/2006/relationships/slide" Target="slides/slide224.xml"/><Relationship Id="rId272" Type="http://schemas.openxmlformats.org/officeDocument/2006/relationships/slide" Target="slides/slide225.xml"/><Relationship Id="rId273" Type="http://schemas.openxmlformats.org/officeDocument/2006/relationships/slide" Target="slides/slide226.xml"/><Relationship Id="rId274" Type="http://schemas.openxmlformats.org/officeDocument/2006/relationships/slide" Target="slides/slide227.xml"/><Relationship Id="rId275" Type="http://schemas.openxmlformats.org/officeDocument/2006/relationships/slide" Target="slides/slide228.xml"/><Relationship Id="rId276" Type="http://schemas.openxmlformats.org/officeDocument/2006/relationships/slide" Target="slides/slide229.xml"/><Relationship Id="rId277" Type="http://schemas.openxmlformats.org/officeDocument/2006/relationships/slide" Target="slides/slide230.xml"/><Relationship Id="rId288" Type="http://schemas.openxmlformats.org/officeDocument/2006/relationships/slide" Target="slides/slide11.xml"/><Relationship Id="rId289" Type="http://schemas.openxmlformats.org/officeDocument/2006/relationships/slide" Target="slides/slide12.xml"/><Relationship Id="rId290" Type="http://schemas.openxmlformats.org/officeDocument/2006/relationships/slide" Target="slides/slide13.xml"/><Relationship Id="rId291" Type="http://schemas.openxmlformats.org/officeDocument/2006/relationships/slide" Target="slides/slide14.xml"/><Relationship Id="rId292" Type="http://schemas.openxmlformats.org/officeDocument/2006/relationships/slide" Target="slides/slide15.xml"/><Relationship Id="rId293" Type="http://schemas.openxmlformats.org/officeDocument/2006/relationships/slide" Target="slides/slide16.xml"/><Relationship Id="rId294" Type="http://schemas.openxmlformats.org/officeDocument/2006/relationships/slide" Target="slides/slide17.xml"/><Relationship Id="rId295" Type="http://schemas.openxmlformats.org/officeDocument/2006/relationships/slide" Target="slides/slide18.xml"/><Relationship Id="rId296" Type="http://schemas.openxmlformats.org/officeDocument/2006/relationships/slide" Target="slides/slide10.xml"/><Relationship Id="rId297" Type="http://schemas.openxmlformats.org/officeDocument/2006/relationships/slide" Target="slides/slide20.xml"/><Relationship Id="rId298" Type="http://schemas.openxmlformats.org/officeDocument/2006/relationships/slide" Target="slides/slide21.xml"/><Relationship Id="rId299" Type="http://schemas.openxmlformats.org/officeDocument/2006/relationships/slide" Target="slides/slide22.xml"/><Relationship Id="rId300" Type="http://schemas.openxmlformats.org/officeDocument/2006/relationships/slide" Target="slides/slide23.xml"/><Relationship Id="rId301" Type="http://schemas.openxmlformats.org/officeDocument/2006/relationships/slide" Target="slides/slide24.xml"/><Relationship Id="rId302" Type="http://schemas.openxmlformats.org/officeDocument/2006/relationships/slide" Target="slides/slide25.xml"/><Relationship Id="rId303" Type="http://schemas.openxmlformats.org/officeDocument/2006/relationships/slide" Target="slides/slide26.xml"/><Relationship Id="rId304" Type="http://schemas.openxmlformats.org/officeDocument/2006/relationships/slide" Target="slides/slide27.xml"/><Relationship Id="rId305" Type="http://schemas.openxmlformats.org/officeDocument/2006/relationships/slide" Target="slides/slide19.xml"/></Relationships>
</file>

<file path=ppt/charts/_rels/chart1.xml.rels><?xml version='1.0' encoding='UTF-8' standalone='yes'?>
<Relationships xmlns="http://schemas.openxmlformats.org/package/2006/relationships"><Relationship Id="rId2" Type="http://schemas.openxmlformats.org/officeDocument/2006/relationships/image" Target="../media/image3.png"/></Relationships>
</file>

<file path=ppt/charts/_rels/chart3.xml.rels><?xml version='1.0' encoding='UTF-8' standalone='yes'?>
<Relationships xmlns="http://schemas.openxmlformats.org/package/2006/relationships"><Relationship Id="rId2" Type="http://schemas.openxmlformats.org/officeDocument/2006/relationships/image" Target="../media/image4.png"/></Relationships>
</file>

<file path=ppt/charts/_rels/chart5.xml.rels><?xml version='1.0' encoding='UTF-8' standalone='yes'?>
<Relationships xmlns="http://schemas.openxmlformats.org/package/2006/relationships"><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s>
</file>

<file path=ppt/charts/_rels/chart6.xml.rels><?xml version='1.0' encoding='UTF-8' standalone='yes'?>
<Relationships xmlns="http://schemas.openxmlformats.org/package/2006/relationships"><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image" Target="../media/image27.png"/><Relationship Id="rId15" Type="http://schemas.openxmlformats.org/officeDocument/2006/relationships/image" Target="../media/image28.png"/><Relationship Id="rId16" Type="http://schemas.openxmlformats.org/officeDocument/2006/relationships/image" Target="../media/image29.png"/><Relationship Id="rId17" Type="http://schemas.openxmlformats.org/officeDocument/2006/relationships/image" Target="../media/image30.png"/><Relationship Id="rId18" Type="http://schemas.openxmlformats.org/officeDocument/2006/relationships/image" Target="../media/image31.png"/><Relationship Id="rId19" Type="http://schemas.openxmlformats.org/officeDocument/2006/relationships/image" Target="../media/image32.png"/><Relationship Id="rId20" Type="http://schemas.openxmlformats.org/officeDocument/2006/relationships/image" Target="../media/image33.png"/><Relationship Id="rId21" Type="http://schemas.openxmlformats.org/officeDocument/2006/relationships/image" Target="../media/image34.png"/><Relationship Id="rId22" Type="http://schemas.openxmlformats.org/officeDocument/2006/relationships/image" Target="../media/image35.png"/><Relationship Id="rId23" Type="http://schemas.openxmlformats.org/officeDocument/2006/relationships/image" Target="../media/image36.png"/></Relationships>
</file>

<file path=ppt/charts/_rels/chart7.xml.rels><?xml version='1.0' encoding='UTF-8' standalone='yes'?>
<Relationships xmlns="http://schemas.openxmlformats.org/package/2006/relationships"><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45.png"/><Relationship Id="rId11" Type="http://schemas.openxmlformats.org/officeDocument/2006/relationships/image" Target="../media/image46.png"/></Relationships>
</file>

<file path=ppt/charts/_rels/chart8.xml.rels><?xml version='1.0' encoding='UTF-8' standalone='yes'?>
<Relationships xmlns="http://schemas.openxmlformats.org/package/2006/relationships"><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image" Target="../media/image52.png"/><Relationship Id="rId8" Type="http://schemas.openxmlformats.org/officeDocument/2006/relationships/image" Target="../media/image53.png"/><Relationship Id="rId9" Type="http://schemas.openxmlformats.org/officeDocument/2006/relationships/image" Target="../media/image54.png"/><Relationship Id="rId10" Type="http://schemas.openxmlformats.org/officeDocument/2006/relationships/image" Target="../media/image55.png"/><Relationship Id="rId11" Type="http://schemas.openxmlformats.org/officeDocument/2006/relationships/image" Target="../media/image56.png"/></Relationships>
</file>

<file path=ppt/charts/_rels/chart9.xml.rels><?xml version='1.0' encoding='UTF-8' standalone='yes'?>
<Relationships xmlns="http://schemas.openxmlformats.org/package/2006/relationships"><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1.png"/><Relationship Id="rId7" Type="http://schemas.openxmlformats.org/officeDocument/2006/relationships/image" Target="../media/image62.png"/></Relationships>
</file>

<file path=ppt/charts/_rels/chart11.xml.rels><?xml version='1.0' encoding='UTF-8' standalone='yes'?>
<Relationships xmlns="http://schemas.openxmlformats.org/package/2006/relationships"><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86.png"/><Relationship Id="rId8" Type="http://schemas.openxmlformats.org/officeDocument/2006/relationships/image" Target="../media/image87.png"/><Relationship Id="rId9" Type="http://schemas.openxmlformats.org/officeDocument/2006/relationships/image" Target="../media/image88.png"/><Relationship Id="rId10" Type="http://schemas.openxmlformats.org/officeDocument/2006/relationships/image" Target="../media/image89.png"/><Relationship Id="rId11" Type="http://schemas.openxmlformats.org/officeDocument/2006/relationships/image" Target="../media/image90.png"/><Relationship Id="rId12" Type="http://schemas.openxmlformats.org/officeDocument/2006/relationships/image" Target="../media/image91.png"/></Relationships>
</file>

<file path=ppt/charts/_rels/chart12.xml.rels><?xml version='1.0' encoding='UTF-8' standalone='yes'?>
<Relationships xmlns="http://schemas.openxmlformats.org/package/2006/relationships"><Relationship Id="rId2" Type="http://schemas.openxmlformats.org/officeDocument/2006/relationships/image" Target="../media/image93.png"/><Relationship Id="rId3" Type="http://schemas.openxmlformats.org/officeDocument/2006/relationships/image" Target="../media/image94.png"/><Relationship Id="rId4" Type="http://schemas.openxmlformats.org/officeDocument/2006/relationships/image" Target="../media/image95.png"/><Relationship Id="rId5" Type="http://schemas.openxmlformats.org/officeDocument/2006/relationships/image" Target="../media/image96.png"/><Relationship Id="rId6" Type="http://schemas.openxmlformats.org/officeDocument/2006/relationships/image" Target="../media/image97.png"/><Relationship Id="rId7" Type="http://schemas.openxmlformats.org/officeDocument/2006/relationships/image" Target="../media/image98.png"/><Relationship Id="rId8" Type="http://schemas.openxmlformats.org/officeDocument/2006/relationships/image" Target="../media/image99.png"/><Relationship Id="rId9" Type="http://schemas.openxmlformats.org/officeDocument/2006/relationships/image" Target="../media/image100.png"/><Relationship Id="rId10" Type="http://schemas.openxmlformats.org/officeDocument/2006/relationships/image" Target="../media/image101.png"/><Relationship Id="rId11" Type="http://schemas.openxmlformats.org/officeDocument/2006/relationships/image" Target="../media/image102.png"/><Relationship Id="rId12" Type="http://schemas.openxmlformats.org/officeDocument/2006/relationships/image" Target="../media/image103.png"/></Relationships>
</file>

<file path=ppt/charts/_rels/chart13.xml.rels><?xml version='1.0' encoding='UTF-8' standalone='yes'?>
<Relationships xmlns="http://schemas.openxmlformats.org/package/2006/relationships"><Relationship Id="rId2" Type="http://schemas.openxmlformats.org/officeDocument/2006/relationships/image" Target="../media/image107.png"/></Relationships>
</file>

<file path=ppt/charts/_rels/chart14.xml.rels><?xml version='1.0' encoding='UTF-8' standalone='yes'?>
<Relationships xmlns="http://schemas.openxmlformats.org/package/2006/relationships"><Relationship Id="rId2" Type="http://schemas.openxmlformats.org/officeDocument/2006/relationships/image" Target="../media/image108.png"/></Relationships>
</file>

<file path=ppt/charts/_rels/chart15.xml.rels><?xml version='1.0' encoding='UTF-8' standalone='yes'?>
<Relationships xmlns="http://schemas.openxmlformats.org/package/2006/relationships"><Relationship Id="rId2" Type="http://schemas.openxmlformats.org/officeDocument/2006/relationships/image" Target="../media/image124.png"/><Relationship Id="rId3" Type="http://schemas.openxmlformats.org/officeDocument/2006/relationships/image" Target="../media/image125.png"/><Relationship Id="rId4" Type="http://schemas.openxmlformats.org/officeDocument/2006/relationships/image" Target="../media/image126.png"/><Relationship Id="rId5" Type="http://schemas.openxmlformats.org/officeDocument/2006/relationships/image" Target="../media/image127.png"/><Relationship Id="rId6" Type="http://schemas.openxmlformats.org/officeDocument/2006/relationships/image" Target="../media/image128.png"/><Relationship Id="rId7" Type="http://schemas.openxmlformats.org/officeDocument/2006/relationships/image" Target="../media/image129.png"/><Relationship Id="rId8" Type="http://schemas.openxmlformats.org/officeDocument/2006/relationships/image" Target="../media/image130.png"/><Relationship Id="rId9" Type="http://schemas.openxmlformats.org/officeDocument/2006/relationships/image" Target="../media/image131.png"/><Relationship Id="rId10" Type="http://schemas.openxmlformats.org/officeDocument/2006/relationships/image" Target="../media/image132.png"/><Relationship Id="rId11" Type="http://schemas.openxmlformats.org/officeDocument/2006/relationships/image" Target="../media/image133.png"/><Relationship Id="rId12" Type="http://schemas.openxmlformats.org/officeDocument/2006/relationships/image" Target="../media/image134.png"/><Relationship Id="rId13" Type="http://schemas.openxmlformats.org/officeDocument/2006/relationships/image" Target="../media/image135.png"/><Relationship Id="rId14" Type="http://schemas.openxmlformats.org/officeDocument/2006/relationships/image" Target="../media/image136.png"/><Relationship Id="rId15" Type="http://schemas.openxmlformats.org/officeDocument/2006/relationships/image" Target="../media/image137.png"/><Relationship Id="rId16" Type="http://schemas.openxmlformats.org/officeDocument/2006/relationships/image" Target="../media/image138.png"/><Relationship Id="rId17" Type="http://schemas.openxmlformats.org/officeDocument/2006/relationships/image" Target="../media/image139.png"/><Relationship Id="rId18" Type="http://schemas.openxmlformats.org/officeDocument/2006/relationships/image" Target="../media/image140.png"/><Relationship Id="rId19" Type="http://schemas.openxmlformats.org/officeDocument/2006/relationships/image" Target="../media/image141.png"/><Relationship Id="rId20" Type="http://schemas.openxmlformats.org/officeDocument/2006/relationships/image" Target="../media/image142.png"/><Relationship Id="rId21" Type="http://schemas.openxmlformats.org/officeDocument/2006/relationships/image" Target="../media/image143.png"/><Relationship Id="rId22" Type="http://schemas.openxmlformats.org/officeDocument/2006/relationships/image" Target="../media/image144.png"/><Relationship Id="rId23" Type="http://schemas.openxmlformats.org/officeDocument/2006/relationships/image" Target="../media/image145.png"/><Relationship Id="rId24" Type="http://schemas.openxmlformats.org/officeDocument/2006/relationships/image" Target="../media/image146.png"/><Relationship Id="rId25" Type="http://schemas.openxmlformats.org/officeDocument/2006/relationships/image" Target="../media/image147.png"/><Relationship Id="rId26" Type="http://schemas.openxmlformats.org/officeDocument/2006/relationships/image" Target="../media/image148.png"/><Relationship Id="rId27" Type="http://schemas.openxmlformats.org/officeDocument/2006/relationships/image" Target="../media/image149.png"/><Relationship Id="rId28" Type="http://schemas.openxmlformats.org/officeDocument/2006/relationships/image" Target="../media/image150.png"/><Relationship Id="rId29" Type="http://schemas.openxmlformats.org/officeDocument/2006/relationships/image" Target="../media/image151.png"/><Relationship Id="rId30" Type="http://schemas.openxmlformats.org/officeDocument/2006/relationships/image" Target="../media/image152.png"/><Relationship Id="rId31" Type="http://schemas.openxmlformats.org/officeDocument/2006/relationships/image" Target="../media/image153.png"/><Relationship Id="rId32" Type="http://schemas.openxmlformats.org/officeDocument/2006/relationships/image" Target="../media/image154.png"/><Relationship Id="rId33" Type="http://schemas.openxmlformats.org/officeDocument/2006/relationships/image" Target="../media/image155.png"/></Relationships>
</file>

<file path=ppt/charts/_rels/chart23.xml.rels><?xml version='1.0' encoding='UTF-8' standalone='yes'?>
<Relationships xmlns="http://schemas.openxmlformats.org/package/2006/relationships"><Relationship Id="rId2" Type="http://schemas.openxmlformats.org/officeDocument/2006/relationships/image" Target="../media/image156.png"/><Relationship Id="rId3" Type="http://schemas.openxmlformats.org/officeDocument/2006/relationships/image" Target="../media/image157.png"/><Relationship Id="rId4" Type="http://schemas.openxmlformats.org/officeDocument/2006/relationships/image" Target="../media/image158.png"/><Relationship Id="rId5" Type="http://schemas.openxmlformats.org/officeDocument/2006/relationships/image" Target="../media/image159.png"/><Relationship Id="rId6" Type="http://schemas.openxmlformats.org/officeDocument/2006/relationships/image" Target="../media/image160.png"/><Relationship Id="rId7" Type="http://schemas.openxmlformats.org/officeDocument/2006/relationships/image" Target="../media/image161.png"/><Relationship Id="rId8" Type="http://schemas.openxmlformats.org/officeDocument/2006/relationships/image" Target="../media/image162.png"/><Relationship Id="rId9" Type="http://schemas.openxmlformats.org/officeDocument/2006/relationships/image" Target="../media/image163.png"/><Relationship Id="rId10" Type="http://schemas.openxmlformats.org/officeDocument/2006/relationships/image" Target="../media/image164.png"/><Relationship Id="rId11" Type="http://schemas.openxmlformats.org/officeDocument/2006/relationships/image" Target="../media/image165.png"/><Relationship Id="rId12" Type="http://schemas.openxmlformats.org/officeDocument/2006/relationships/image" Target="../media/image166.png"/><Relationship Id="rId13" Type="http://schemas.openxmlformats.org/officeDocument/2006/relationships/image" Target="../media/image167.png"/><Relationship Id="rId14" Type="http://schemas.openxmlformats.org/officeDocument/2006/relationships/image" Target="../media/image168.png"/><Relationship Id="rId15" Type="http://schemas.openxmlformats.org/officeDocument/2006/relationships/image" Target="../media/image169.png"/><Relationship Id="rId16" Type="http://schemas.openxmlformats.org/officeDocument/2006/relationships/image" Target="../media/image170.png"/><Relationship Id="rId17" Type="http://schemas.openxmlformats.org/officeDocument/2006/relationships/image" Target="../media/image171.png"/><Relationship Id="rId18" Type="http://schemas.openxmlformats.org/officeDocument/2006/relationships/image" Target="../media/image172.png"/><Relationship Id="rId19" Type="http://schemas.openxmlformats.org/officeDocument/2006/relationships/image" Target="../media/image173.png"/></Relationships>
</file>

<file path=ppt/charts/_rels/chart24.xml.rels><?xml version='1.0' encoding='UTF-8' standalone='yes'?>
<Relationships xmlns="http://schemas.openxmlformats.org/package/2006/relationships"><Relationship Id="rId2" Type="http://schemas.openxmlformats.org/officeDocument/2006/relationships/image" Target="../media/image188.png"/><Relationship Id="rId3" Type="http://schemas.openxmlformats.org/officeDocument/2006/relationships/image" Target="../media/image189.png"/><Relationship Id="rId4" Type="http://schemas.openxmlformats.org/officeDocument/2006/relationships/image" Target="../media/image190.png"/><Relationship Id="rId5" Type="http://schemas.openxmlformats.org/officeDocument/2006/relationships/image" Target="../media/image191.png"/><Relationship Id="rId6" Type="http://schemas.openxmlformats.org/officeDocument/2006/relationships/image" Target="../media/image192.png"/><Relationship Id="rId7" Type="http://schemas.openxmlformats.org/officeDocument/2006/relationships/image" Target="../media/image193.png"/><Relationship Id="rId8" Type="http://schemas.openxmlformats.org/officeDocument/2006/relationships/image" Target="../media/image194.png"/><Relationship Id="rId9" Type="http://schemas.openxmlformats.org/officeDocument/2006/relationships/image" Target="../media/image195.png"/><Relationship Id="rId10" Type="http://schemas.openxmlformats.org/officeDocument/2006/relationships/image" Target="../media/image196.png"/><Relationship Id="rId11" Type="http://schemas.openxmlformats.org/officeDocument/2006/relationships/image" Target="../media/image197.png"/><Relationship Id="rId12" Type="http://schemas.openxmlformats.org/officeDocument/2006/relationships/image" Target="../media/image198.png"/><Relationship Id="rId13" Type="http://schemas.openxmlformats.org/officeDocument/2006/relationships/image" Target="../media/image199.png"/><Relationship Id="rId14" Type="http://schemas.openxmlformats.org/officeDocument/2006/relationships/image" Target="../media/image200.png"/><Relationship Id="rId15" Type="http://schemas.openxmlformats.org/officeDocument/2006/relationships/image" Target="../media/image201.png"/><Relationship Id="rId16" Type="http://schemas.openxmlformats.org/officeDocument/2006/relationships/image" Target="../media/image202.png"/><Relationship Id="rId17" Type="http://schemas.openxmlformats.org/officeDocument/2006/relationships/image" Target="../media/image203.png"/><Relationship Id="rId18" Type="http://schemas.openxmlformats.org/officeDocument/2006/relationships/image" Target="../media/image204.png"/><Relationship Id="rId19" Type="http://schemas.openxmlformats.org/officeDocument/2006/relationships/image" Target="../media/image205.png"/><Relationship Id="rId20" Type="http://schemas.openxmlformats.org/officeDocument/2006/relationships/image" Target="../media/image206.png"/><Relationship Id="rId21" Type="http://schemas.openxmlformats.org/officeDocument/2006/relationships/image" Target="../media/image207.png"/><Relationship Id="rId22" Type="http://schemas.openxmlformats.org/officeDocument/2006/relationships/image" Target="../media/image208.png"/><Relationship Id="rId23" Type="http://schemas.openxmlformats.org/officeDocument/2006/relationships/image" Target="../media/image209.png"/><Relationship Id="rId24" Type="http://schemas.openxmlformats.org/officeDocument/2006/relationships/image" Target="../media/image210.png"/><Relationship Id="rId25" Type="http://schemas.openxmlformats.org/officeDocument/2006/relationships/image" Target="../media/image211.png"/><Relationship Id="rId26" Type="http://schemas.openxmlformats.org/officeDocument/2006/relationships/image" Target="../media/image212.png"/><Relationship Id="rId27" Type="http://schemas.openxmlformats.org/officeDocument/2006/relationships/image" Target="../media/image213.png"/><Relationship Id="rId28" Type="http://schemas.openxmlformats.org/officeDocument/2006/relationships/image" Target="../media/image214.png"/><Relationship Id="rId29" Type="http://schemas.openxmlformats.org/officeDocument/2006/relationships/image" Target="../media/image215.png"/><Relationship Id="rId30" Type="http://schemas.openxmlformats.org/officeDocument/2006/relationships/image" Target="../media/image216.png"/><Relationship Id="rId31" Type="http://schemas.openxmlformats.org/officeDocument/2006/relationships/image" Target="../media/image217.png"/><Relationship Id="rId32" Type="http://schemas.openxmlformats.org/officeDocument/2006/relationships/image" Target="../media/image218.png"/></Relationships>
</file>

<file path=ppt/charts/_rels/chart32.xml.rels><?xml version='1.0' encoding='UTF-8' standalone='yes'?>
<Relationships xmlns="http://schemas.openxmlformats.org/package/2006/relationships"><Relationship Id="rId2" Type="http://schemas.openxmlformats.org/officeDocument/2006/relationships/image" Target="../media/image219.png"/><Relationship Id="rId3" Type="http://schemas.openxmlformats.org/officeDocument/2006/relationships/image" Target="../media/image220.png"/><Relationship Id="rId4" Type="http://schemas.openxmlformats.org/officeDocument/2006/relationships/image" Target="../media/image221.png"/><Relationship Id="rId5" Type="http://schemas.openxmlformats.org/officeDocument/2006/relationships/image" Target="../media/image222.png"/><Relationship Id="rId6" Type="http://schemas.openxmlformats.org/officeDocument/2006/relationships/image" Target="../media/image223.png"/><Relationship Id="rId7" Type="http://schemas.openxmlformats.org/officeDocument/2006/relationships/image" Target="../media/image224.png"/><Relationship Id="rId8" Type="http://schemas.openxmlformats.org/officeDocument/2006/relationships/image" Target="../media/image225.png"/><Relationship Id="rId9" Type="http://schemas.openxmlformats.org/officeDocument/2006/relationships/image" Target="../media/image226.png"/><Relationship Id="rId10" Type="http://schemas.openxmlformats.org/officeDocument/2006/relationships/image" Target="../media/image227.png"/><Relationship Id="rId11" Type="http://schemas.openxmlformats.org/officeDocument/2006/relationships/image" Target="../media/image228.png"/><Relationship Id="rId12" Type="http://schemas.openxmlformats.org/officeDocument/2006/relationships/image" Target="../media/image229.png"/><Relationship Id="rId13" Type="http://schemas.openxmlformats.org/officeDocument/2006/relationships/image" Target="../media/image230.png"/><Relationship Id="rId14" Type="http://schemas.openxmlformats.org/officeDocument/2006/relationships/image" Target="../media/image231.png"/><Relationship Id="rId15" Type="http://schemas.openxmlformats.org/officeDocument/2006/relationships/image" Target="../media/image232.png"/><Relationship Id="rId16" Type="http://schemas.openxmlformats.org/officeDocument/2006/relationships/image" Target="../media/image233.png"/><Relationship Id="rId17" Type="http://schemas.openxmlformats.org/officeDocument/2006/relationships/image" Target="../media/image234.png"/><Relationship Id="rId18" Type="http://schemas.openxmlformats.org/officeDocument/2006/relationships/image" Target="../media/image235.png"/><Relationship Id="rId19" Type="http://schemas.openxmlformats.org/officeDocument/2006/relationships/image" Target="../media/image236.png"/></Relationships>
</file>

<file path=ppt/charts/_rels/chart33.xml.rels><?xml version='1.0' encoding='UTF-8' standalone='yes'?>
<Relationships xmlns="http://schemas.openxmlformats.org/package/2006/relationships"><Relationship Id="rId2" Type="http://schemas.openxmlformats.org/officeDocument/2006/relationships/image" Target="../media/image249.png"/><Relationship Id="rId3" Type="http://schemas.openxmlformats.org/officeDocument/2006/relationships/image" Target="../media/image250.png"/><Relationship Id="rId4" Type="http://schemas.openxmlformats.org/officeDocument/2006/relationships/image" Target="../media/image251.png"/><Relationship Id="rId5" Type="http://schemas.openxmlformats.org/officeDocument/2006/relationships/image" Target="../media/image252.png"/><Relationship Id="rId6" Type="http://schemas.openxmlformats.org/officeDocument/2006/relationships/image" Target="../media/image253.png"/><Relationship Id="rId7" Type="http://schemas.openxmlformats.org/officeDocument/2006/relationships/image" Target="../media/image254.png"/><Relationship Id="rId8" Type="http://schemas.openxmlformats.org/officeDocument/2006/relationships/image" Target="../media/image255.png"/><Relationship Id="rId9" Type="http://schemas.openxmlformats.org/officeDocument/2006/relationships/image" Target="../media/image256.png"/><Relationship Id="rId10" Type="http://schemas.openxmlformats.org/officeDocument/2006/relationships/image" Target="../media/image257.png"/><Relationship Id="rId11" Type="http://schemas.openxmlformats.org/officeDocument/2006/relationships/image" Target="../media/image258.png"/><Relationship Id="rId12" Type="http://schemas.openxmlformats.org/officeDocument/2006/relationships/image" Target="../media/image259.png"/><Relationship Id="rId13" Type="http://schemas.openxmlformats.org/officeDocument/2006/relationships/image" Target="../media/image260.png"/><Relationship Id="rId14" Type="http://schemas.openxmlformats.org/officeDocument/2006/relationships/image" Target="../media/image261.png"/><Relationship Id="rId15" Type="http://schemas.openxmlformats.org/officeDocument/2006/relationships/image" Target="../media/image262.png"/><Relationship Id="rId16" Type="http://schemas.openxmlformats.org/officeDocument/2006/relationships/image" Target="../media/image263.png"/><Relationship Id="rId17" Type="http://schemas.openxmlformats.org/officeDocument/2006/relationships/image" Target="../media/image264.png"/><Relationship Id="rId18" Type="http://schemas.openxmlformats.org/officeDocument/2006/relationships/image" Target="../media/image265.png"/><Relationship Id="rId19" Type="http://schemas.openxmlformats.org/officeDocument/2006/relationships/image" Target="../media/image266.png"/><Relationship Id="rId20" Type="http://schemas.openxmlformats.org/officeDocument/2006/relationships/image" Target="../media/image267.png"/><Relationship Id="rId21" Type="http://schemas.openxmlformats.org/officeDocument/2006/relationships/image" Target="../media/image268.png"/><Relationship Id="rId22" Type="http://schemas.openxmlformats.org/officeDocument/2006/relationships/image" Target="../media/image269.png"/><Relationship Id="rId23" Type="http://schemas.openxmlformats.org/officeDocument/2006/relationships/image" Target="../media/image270.png"/><Relationship Id="rId24" Type="http://schemas.openxmlformats.org/officeDocument/2006/relationships/image" Target="../media/image271.png"/><Relationship Id="rId25" Type="http://schemas.openxmlformats.org/officeDocument/2006/relationships/image" Target="../media/image272.png"/></Relationships>
</file>

<file path=ppt/charts/_rels/chart39.xml.rels><?xml version='1.0' encoding='UTF-8' standalone='yes'?>
<Relationships xmlns="http://schemas.openxmlformats.org/package/2006/relationships"><Relationship Id="rId2" Type="http://schemas.openxmlformats.org/officeDocument/2006/relationships/image" Target="../media/image273.png"/><Relationship Id="rId3" Type="http://schemas.openxmlformats.org/officeDocument/2006/relationships/image" Target="../media/image274.png"/><Relationship Id="rId4" Type="http://schemas.openxmlformats.org/officeDocument/2006/relationships/image" Target="../media/image275.png"/><Relationship Id="rId5" Type="http://schemas.openxmlformats.org/officeDocument/2006/relationships/image" Target="../media/image276.png"/><Relationship Id="rId6" Type="http://schemas.openxmlformats.org/officeDocument/2006/relationships/image" Target="../media/image277.png"/><Relationship Id="rId7" Type="http://schemas.openxmlformats.org/officeDocument/2006/relationships/image" Target="../media/image278.png"/><Relationship Id="rId8" Type="http://schemas.openxmlformats.org/officeDocument/2006/relationships/image" Target="../media/image279.png"/><Relationship Id="rId9" Type="http://schemas.openxmlformats.org/officeDocument/2006/relationships/image" Target="../media/image280.png"/><Relationship Id="rId10" Type="http://schemas.openxmlformats.org/officeDocument/2006/relationships/image" Target="../media/image281.png"/><Relationship Id="rId11" Type="http://schemas.openxmlformats.org/officeDocument/2006/relationships/image" Target="../media/image282.png"/><Relationship Id="rId12" Type="http://schemas.openxmlformats.org/officeDocument/2006/relationships/image" Target="../media/image283.png"/><Relationship Id="rId13" Type="http://schemas.openxmlformats.org/officeDocument/2006/relationships/image" Target="../media/image284.png"/></Relationships>
</file>

<file path=ppt/charts/_rels/chart40.xml.rels><?xml version='1.0' encoding='UTF-8' standalone='yes'?>
<Relationships xmlns="http://schemas.openxmlformats.org/package/2006/relationships"><Relationship Id="rId2" Type="http://schemas.openxmlformats.org/officeDocument/2006/relationships/image" Target="../media/image301.png"/><Relationship Id="rId3" Type="http://schemas.openxmlformats.org/officeDocument/2006/relationships/image" Target="../media/image302.png"/><Relationship Id="rId4" Type="http://schemas.openxmlformats.org/officeDocument/2006/relationships/image" Target="../media/image303.png"/><Relationship Id="rId5" Type="http://schemas.openxmlformats.org/officeDocument/2006/relationships/image" Target="../media/image304.png"/><Relationship Id="rId6" Type="http://schemas.openxmlformats.org/officeDocument/2006/relationships/image" Target="../media/image305.png"/><Relationship Id="rId7" Type="http://schemas.openxmlformats.org/officeDocument/2006/relationships/image" Target="../media/image306.png"/><Relationship Id="rId8" Type="http://schemas.openxmlformats.org/officeDocument/2006/relationships/image" Target="../media/image307.png"/><Relationship Id="rId9" Type="http://schemas.openxmlformats.org/officeDocument/2006/relationships/image" Target="../media/image308.png"/><Relationship Id="rId10" Type="http://schemas.openxmlformats.org/officeDocument/2006/relationships/image" Target="../media/image309.png"/><Relationship Id="rId11" Type="http://schemas.openxmlformats.org/officeDocument/2006/relationships/image" Target="../media/image310.png"/><Relationship Id="rId12" Type="http://schemas.openxmlformats.org/officeDocument/2006/relationships/image" Target="../media/image311.png"/><Relationship Id="rId13" Type="http://schemas.openxmlformats.org/officeDocument/2006/relationships/image" Target="../media/image312.png"/><Relationship Id="rId14" Type="http://schemas.openxmlformats.org/officeDocument/2006/relationships/image" Target="../media/image313.png"/><Relationship Id="rId15" Type="http://schemas.openxmlformats.org/officeDocument/2006/relationships/image" Target="../media/image314.png"/><Relationship Id="rId16" Type="http://schemas.openxmlformats.org/officeDocument/2006/relationships/image" Target="../media/image315.png"/><Relationship Id="rId17" Type="http://schemas.openxmlformats.org/officeDocument/2006/relationships/image" Target="../media/image316.png"/><Relationship Id="rId18" Type="http://schemas.openxmlformats.org/officeDocument/2006/relationships/image" Target="../media/image317.png"/><Relationship Id="rId19" Type="http://schemas.openxmlformats.org/officeDocument/2006/relationships/image" Target="../media/image318.png"/><Relationship Id="rId20" Type="http://schemas.openxmlformats.org/officeDocument/2006/relationships/image" Target="../media/image319.png"/><Relationship Id="rId21" Type="http://schemas.openxmlformats.org/officeDocument/2006/relationships/image" Target="../media/image320.png"/><Relationship Id="rId22" Type="http://schemas.openxmlformats.org/officeDocument/2006/relationships/image" Target="../media/image321.png"/><Relationship Id="rId23" Type="http://schemas.openxmlformats.org/officeDocument/2006/relationships/image" Target="../media/image322.png"/><Relationship Id="rId24" Type="http://schemas.openxmlformats.org/officeDocument/2006/relationships/image" Target="../media/image323.png"/><Relationship Id="rId25" Type="http://schemas.openxmlformats.org/officeDocument/2006/relationships/image" Target="../media/image324.png"/><Relationship Id="rId26" Type="http://schemas.openxmlformats.org/officeDocument/2006/relationships/image" Target="../media/image325.png"/><Relationship Id="rId27" Type="http://schemas.openxmlformats.org/officeDocument/2006/relationships/image" Target="../media/image326.png"/><Relationship Id="rId28" Type="http://schemas.openxmlformats.org/officeDocument/2006/relationships/image" Target="../media/image327.png"/><Relationship Id="rId29" Type="http://schemas.openxmlformats.org/officeDocument/2006/relationships/image" Target="../media/image328.png"/><Relationship Id="rId30" Type="http://schemas.openxmlformats.org/officeDocument/2006/relationships/image" Target="../media/image329.png"/><Relationship Id="rId31" Type="http://schemas.openxmlformats.org/officeDocument/2006/relationships/image" Target="../media/image330.png"/><Relationship Id="rId32" Type="http://schemas.openxmlformats.org/officeDocument/2006/relationships/image" Target="../media/image331.png"/></Relationships>
</file>

<file path=ppt/charts/_rels/chart48.xml.rels><?xml version='1.0' encoding='UTF-8' standalone='yes'?>
<Relationships xmlns="http://schemas.openxmlformats.org/package/2006/relationships"><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image" Target="../media/image340.png"/><Relationship Id="rId11" Type="http://schemas.openxmlformats.org/officeDocument/2006/relationships/image" Target="../media/image341.png"/><Relationship Id="rId12" Type="http://schemas.openxmlformats.org/officeDocument/2006/relationships/image" Target="../media/image342.png"/><Relationship Id="rId13" Type="http://schemas.openxmlformats.org/officeDocument/2006/relationships/image" Target="../media/image343.png"/><Relationship Id="rId14" Type="http://schemas.openxmlformats.org/officeDocument/2006/relationships/image" Target="../media/image344.png"/><Relationship Id="rId15" Type="http://schemas.openxmlformats.org/officeDocument/2006/relationships/image" Target="../media/image345.png"/><Relationship Id="rId16" Type="http://schemas.openxmlformats.org/officeDocument/2006/relationships/image" Target="../media/image346.png"/><Relationship Id="rId17" Type="http://schemas.openxmlformats.org/officeDocument/2006/relationships/image" Target="../media/image347.png"/><Relationship Id="rId18" Type="http://schemas.openxmlformats.org/officeDocument/2006/relationships/image" Target="../media/image348.png"/></Relationships>
</file>

<file path=ppt/charts/_rels/chart49.xml.rels><?xml version='1.0' encoding='UTF-8' standalone='yes'?>
<Relationships xmlns="http://schemas.openxmlformats.org/package/2006/relationships"><Relationship Id="rId2" Type="http://schemas.openxmlformats.org/officeDocument/2006/relationships/image" Target="../media/image366.png"/><Relationship Id="rId3" Type="http://schemas.openxmlformats.org/officeDocument/2006/relationships/image" Target="../media/image367.png"/><Relationship Id="rId4" Type="http://schemas.openxmlformats.org/officeDocument/2006/relationships/image" Target="../media/image368.png"/><Relationship Id="rId5" Type="http://schemas.openxmlformats.org/officeDocument/2006/relationships/image" Target="../media/image369.png"/><Relationship Id="rId6" Type="http://schemas.openxmlformats.org/officeDocument/2006/relationships/image" Target="../media/image370.png"/><Relationship Id="rId7" Type="http://schemas.openxmlformats.org/officeDocument/2006/relationships/image" Target="../media/image371.png"/><Relationship Id="rId8" Type="http://schemas.openxmlformats.org/officeDocument/2006/relationships/image" Target="../media/image372.png"/><Relationship Id="rId9" Type="http://schemas.openxmlformats.org/officeDocument/2006/relationships/image" Target="../media/image373.png"/><Relationship Id="rId10" Type="http://schemas.openxmlformats.org/officeDocument/2006/relationships/image" Target="../media/image374.png"/><Relationship Id="rId11" Type="http://schemas.openxmlformats.org/officeDocument/2006/relationships/image" Target="../media/image375.png"/><Relationship Id="rId12" Type="http://schemas.openxmlformats.org/officeDocument/2006/relationships/image" Target="../media/image376.png"/><Relationship Id="rId13" Type="http://schemas.openxmlformats.org/officeDocument/2006/relationships/image" Target="../media/image377.png"/><Relationship Id="rId14" Type="http://schemas.openxmlformats.org/officeDocument/2006/relationships/image" Target="../media/image378.png"/><Relationship Id="rId15" Type="http://schemas.openxmlformats.org/officeDocument/2006/relationships/image" Target="../media/image379.png"/><Relationship Id="rId16" Type="http://schemas.openxmlformats.org/officeDocument/2006/relationships/image" Target="../media/image380.png"/><Relationship Id="rId17" Type="http://schemas.openxmlformats.org/officeDocument/2006/relationships/image" Target="../media/image381.png"/><Relationship Id="rId18" Type="http://schemas.openxmlformats.org/officeDocument/2006/relationships/image" Target="../media/image382.png"/><Relationship Id="rId19" Type="http://schemas.openxmlformats.org/officeDocument/2006/relationships/image" Target="../media/image383.png"/><Relationship Id="rId20" Type="http://schemas.openxmlformats.org/officeDocument/2006/relationships/image" Target="../media/image384.png"/><Relationship Id="rId21" Type="http://schemas.openxmlformats.org/officeDocument/2006/relationships/image" Target="../media/image385.png"/><Relationship Id="rId22" Type="http://schemas.openxmlformats.org/officeDocument/2006/relationships/image" Target="../media/image386.png"/><Relationship Id="rId23" Type="http://schemas.openxmlformats.org/officeDocument/2006/relationships/image" Target="../media/image387.png"/><Relationship Id="rId24" Type="http://schemas.openxmlformats.org/officeDocument/2006/relationships/image" Target="../media/image388.png"/><Relationship Id="rId25" Type="http://schemas.openxmlformats.org/officeDocument/2006/relationships/image" Target="../media/image389.png"/><Relationship Id="rId26" Type="http://schemas.openxmlformats.org/officeDocument/2006/relationships/image" Target="../media/image390.png"/><Relationship Id="rId27" Type="http://schemas.openxmlformats.org/officeDocument/2006/relationships/image" Target="../media/image391.png"/><Relationship Id="rId28" Type="http://schemas.openxmlformats.org/officeDocument/2006/relationships/image" Target="../media/image392.png"/><Relationship Id="rId29" Type="http://schemas.openxmlformats.org/officeDocument/2006/relationships/image" Target="../media/image393.png"/><Relationship Id="rId30" Type="http://schemas.openxmlformats.org/officeDocument/2006/relationships/image" Target="../media/image394.png"/><Relationship Id="rId31" Type="http://schemas.openxmlformats.org/officeDocument/2006/relationships/image" Target="../media/image395.png"/><Relationship Id="rId32" Type="http://schemas.openxmlformats.org/officeDocument/2006/relationships/image" Target="../media/image396.png"/><Relationship Id="rId33" Type="http://schemas.openxmlformats.org/officeDocument/2006/relationships/image" Target="../media/image397.png"/></Relationships>
</file>

<file path=ppt/charts/_rels/chart57.xml.rels><?xml version='1.0' encoding='UTF-8' standalone='yes'?>
<Relationships xmlns="http://schemas.openxmlformats.org/package/2006/relationships"><Relationship Id="rId2" Type="http://schemas.openxmlformats.org/officeDocument/2006/relationships/image" Target="../media/image398.png"/><Relationship Id="rId3" Type="http://schemas.openxmlformats.org/officeDocument/2006/relationships/image" Target="../media/image399.png"/><Relationship Id="rId4" Type="http://schemas.openxmlformats.org/officeDocument/2006/relationships/image" Target="../media/image400.png"/><Relationship Id="rId5" Type="http://schemas.openxmlformats.org/officeDocument/2006/relationships/image" Target="../media/image401.png"/><Relationship Id="rId6" Type="http://schemas.openxmlformats.org/officeDocument/2006/relationships/image" Target="../media/image402.png"/><Relationship Id="rId7" Type="http://schemas.openxmlformats.org/officeDocument/2006/relationships/image" Target="../media/image403.png"/><Relationship Id="rId8" Type="http://schemas.openxmlformats.org/officeDocument/2006/relationships/image" Target="../media/image404.png"/><Relationship Id="rId9" Type="http://schemas.openxmlformats.org/officeDocument/2006/relationships/image" Target="../media/image405.png"/><Relationship Id="rId10" Type="http://schemas.openxmlformats.org/officeDocument/2006/relationships/image" Target="../media/image406.png"/><Relationship Id="rId11" Type="http://schemas.openxmlformats.org/officeDocument/2006/relationships/image" Target="../media/image407.png"/><Relationship Id="rId12" Type="http://schemas.openxmlformats.org/officeDocument/2006/relationships/image" Target="../media/image408.png"/><Relationship Id="rId13" Type="http://schemas.openxmlformats.org/officeDocument/2006/relationships/image" Target="../media/image409.png"/><Relationship Id="rId14" Type="http://schemas.openxmlformats.org/officeDocument/2006/relationships/image" Target="../media/image410.png"/><Relationship Id="rId15" Type="http://schemas.openxmlformats.org/officeDocument/2006/relationships/image" Target="../media/image411.png"/><Relationship Id="rId16" Type="http://schemas.openxmlformats.org/officeDocument/2006/relationships/image" Target="../media/image412.png"/><Relationship Id="rId17" Type="http://schemas.openxmlformats.org/officeDocument/2006/relationships/image" Target="../media/image413.png"/></Relationships>
</file>

<file path=ppt/charts/_rels/chart61.xml.rels><?xml version='1.0' encoding='UTF-8' standalone='yes'?>
<Relationships xmlns="http://schemas.openxmlformats.org/package/2006/relationships"><Relationship Id="rId2" Type="http://schemas.openxmlformats.org/officeDocument/2006/relationships/image" Target="../media/image414.png"/></Relationships>
</file>

<file path=ppt/charts/_rels/chart63.xml.rels><?xml version='1.0' encoding='UTF-8' standalone='yes'?>
<Relationships xmlns="http://schemas.openxmlformats.org/package/2006/relationships"><Relationship Id="rId2" Type="http://schemas.openxmlformats.org/officeDocument/2006/relationships/image" Target="../media/image415.png"/></Relationships>
</file>

<file path=ppt/charts/_rels/chart65.xml.rels><?xml version='1.0' encoding='UTF-8' standalone='yes'?>
<Relationships xmlns="http://schemas.openxmlformats.org/package/2006/relationships"><Relationship Id="rId2" Type="http://schemas.openxmlformats.org/officeDocument/2006/relationships/image" Target="../media/image416.png"/><Relationship Id="rId3" Type="http://schemas.openxmlformats.org/officeDocument/2006/relationships/image" Target="../media/image417.png"/><Relationship Id="rId4" Type="http://schemas.openxmlformats.org/officeDocument/2006/relationships/image" Target="../media/image418.png"/><Relationship Id="rId5" Type="http://schemas.openxmlformats.org/officeDocument/2006/relationships/image" Target="../media/image419.png"/><Relationship Id="rId6" Type="http://schemas.openxmlformats.org/officeDocument/2006/relationships/image" Target="../media/image420.png"/><Relationship Id="rId7" Type="http://schemas.openxmlformats.org/officeDocument/2006/relationships/image" Target="../media/image421.png"/><Relationship Id="rId8" Type="http://schemas.openxmlformats.org/officeDocument/2006/relationships/image" Target="../media/image422.png"/><Relationship Id="rId9" Type="http://schemas.openxmlformats.org/officeDocument/2006/relationships/image" Target="../media/image423.png"/><Relationship Id="rId10" Type="http://schemas.openxmlformats.org/officeDocument/2006/relationships/image" Target="../media/image424.png"/><Relationship Id="rId11" Type="http://schemas.openxmlformats.org/officeDocument/2006/relationships/image" Target="../media/image425.png"/></Relationships>
</file>

<file path=ppt/charts/_rels/chart66.xml.rels><?xml version='1.0' encoding='UTF-8' standalone='yes'?>
<Relationships xmlns="http://schemas.openxmlformats.org/package/2006/relationships"><Relationship Id="rId2" Type="http://schemas.openxmlformats.org/officeDocument/2006/relationships/image" Target="../media/image426.png"/><Relationship Id="rId3" Type="http://schemas.openxmlformats.org/officeDocument/2006/relationships/image" Target="../media/image427.png"/><Relationship Id="rId4" Type="http://schemas.openxmlformats.org/officeDocument/2006/relationships/image" Target="../media/image428.png"/><Relationship Id="rId5" Type="http://schemas.openxmlformats.org/officeDocument/2006/relationships/image" Target="../media/image429.png"/><Relationship Id="rId6" Type="http://schemas.openxmlformats.org/officeDocument/2006/relationships/image" Target="../media/image430.png"/><Relationship Id="rId7" Type="http://schemas.openxmlformats.org/officeDocument/2006/relationships/image" Target="../media/image431.png"/><Relationship Id="rId8" Type="http://schemas.openxmlformats.org/officeDocument/2006/relationships/image" Target="../media/image432.png"/><Relationship Id="rId9" Type="http://schemas.openxmlformats.org/officeDocument/2006/relationships/image" Target="../media/image433.png"/><Relationship Id="rId10" Type="http://schemas.openxmlformats.org/officeDocument/2006/relationships/image" Target="../media/image434.png"/><Relationship Id="rId11" Type="http://schemas.openxmlformats.org/officeDocument/2006/relationships/image" Target="../media/image435.png"/><Relationship Id="rId12" Type="http://schemas.openxmlformats.org/officeDocument/2006/relationships/image" Target="../media/image436.png"/><Relationship Id="rId13" Type="http://schemas.openxmlformats.org/officeDocument/2006/relationships/image" Target="../media/image437.png"/><Relationship Id="rId14" Type="http://schemas.openxmlformats.org/officeDocument/2006/relationships/image" Target="../media/image438.png"/><Relationship Id="rId15" Type="http://schemas.openxmlformats.org/officeDocument/2006/relationships/image" Target="../media/image439.png"/><Relationship Id="rId16" Type="http://schemas.openxmlformats.org/officeDocument/2006/relationships/image" Target="../media/image440.png"/><Relationship Id="rId17" Type="http://schemas.openxmlformats.org/officeDocument/2006/relationships/image" Target="../media/image441.png"/><Relationship Id="rId18" Type="http://schemas.openxmlformats.org/officeDocument/2006/relationships/image" Target="../media/image442.png"/><Relationship Id="rId19" Type="http://schemas.openxmlformats.org/officeDocument/2006/relationships/image" Target="../media/image443.png"/><Relationship Id="rId20" Type="http://schemas.openxmlformats.org/officeDocument/2006/relationships/image" Target="../media/image444.png"/><Relationship Id="rId21" Type="http://schemas.openxmlformats.org/officeDocument/2006/relationships/image" Target="../media/image445.png"/><Relationship Id="rId22" Type="http://schemas.openxmlformats.org/officeDocument/2006/relationships/image" Target="../media/image446.png"/><Relationship Id="rId23" Type="http://schemas.openxmlformats.org/officeDocument/2006/relationships/image" Target="../media/image447.png"/></Relationships>
</file>

<file path=ppt/charts/_rels/chart67.xml.rels><?xml version='1.0' encoding='UTF-8' standalone='yes'?>
<Relationships xmlns="http://schemas.openxmlformats.org/package/2006/relationships"><Relationship Id="rId2" Type="http://schemas.openxmlformats.org/officeDocument/2006/relationships/image" Target="../media/image448.png"/><Relationship Id="rId3" Type="http://schemas.openxmlformats.org/officeDocument/2006/relationships/image" Target="../media/image449.png"/></Relationships>
</file>

<file path=ppt/charts/_rels/chart68.xml.rels><?xml version='1.0' encoding='UTF-8' standalone='yes'?>
<Relationships xmlns="http://schemas.openxmlformats.org/package/2006/relationships"><Relationship Id="rId2" Type="http://schemas.openxmlformats.org/officeDocument/2006/relationships/image" Target="../media/image450.png"/><Relationship Id="rId3" Type="http://schemas.openxmlformats.org/officeDocument/2006/relationships/image" Target="../media/image451.png"/></Relationships>
</file>

<file path=ppt/charts/_rels/chart69.xml.rels><?xml version='1.0' encoding='UTF-8' standalone='yes'?>
<Relationships xmlns="http://schemas.openxmlformats.org/package/2006/relationships"><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s>
</file>

<file path=ppt/charts/_rels/chart71.xml.rels><?xml version='1.0' encoding='UTF-8' standalone='yes'?>
<Relationships xmlns="http://schemas.openxmlformats.org/package/2006/relationships"><Relationship Id="rId2" Type="http://schemas.openxmlformats.org/officeDocument/2006/relationships/image" Target="../media/image458.png"/><Relationship Id="rId3" Type="http://schemas.openxmlformats.org/officeDocument/2006/relationships/image" Target="../media/image459.png"/><Relationship Id="rId4" Type="http://schemas.openxmlformats.org/officeDocument/2006/relationships/image" Target="../media/image460.png"/><Relationship Id="rId5" Type="http://schemas.openxmlformats.org/officeDocument/2006/relationships/image" Target="../media/image461.png"/></Relationships>
</file>

<file path=ppt/charts/_rels/chart72.xml.rels><?xml version='1.0' encoding='UTF-8' standalone='yes'?>
<Relationships xmlns="http://schemas.openxmlformats.org/package/2006/relationships"><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s>
</file>

<file path=ppt/charts/_rels/chart73.xml.rels><?xml version='1.0' encoding='UTF-8' standalone='yes'?>
<Relationships xmlns="http://schemas.openxmlformats.org/package/2006/relationships"><Relationship Id="rId2" Type="http://schemas.openxmlformats.org/officeDocument/2006/relationships/image" Target="../media/image466.png"/><Relationship Id="rId3" Type="http://schemas.openxmlformats.org/officeDocument/2006/relationships/image" Target="../media/image467.png"/><Relationship Id="rId4" Type="http://schemas.openxmlformats.org/officeDocument/2006/relationships/image" Target="../media/image468.png"/><Relationship Id="rId5" Type="http://schemas.openxmlformats.org/officeDocument/2006/relationships/image" Target="../media/image469.png"/><Relationship Id="rId6" Type="http://schemas.openxmlformats.org/officeDocument/2006/relationships/image" Target="../media/image470.png"/><Relationship Id="rId7" Type="http://schemas.openxmlformats.org/officeDocument/2006/relationships/image" Target="../media/image471.png"/><Relationship Id="rId8" Type="http://schemas.openxmlformats.org/officeDocument/2006/relationships/image" Target="../media/image472.png"/><Relationship Id="rId9" Type="http://schemas.openxmlformats.org/officeDocument/2006/relationships/image" Target="../media/image473.png"/><Relationship Id="rId10" Type="http://schemas.openxmlformats.org/officeDocument/2006/relationships/image" Target="../media/image474.png"/><Relationship Id="rId11" Type="http://schemas.openxmlformats.org/officeDocument/2006/relationships/image" Target="../media/image475.png"/><Relationship Id="rId12" Type="http://schemas.openxmlformats.org/officeDocument/2006/relationships/image" Target="../media/image476.png"/><Relationship Id="rId13" Type="http://schemas.openxmlformats.org/officeDocument/2006/relationships/image" Target="../media/image477.png"/><Relationship Id="rId14" Type="http://schemas.openxmlformats.org/officeDocument/2006/relationships/image" Target="../media/image478.png"/><Relationship Id="rId15" Type="http://schemas.openxmlformats.org/officeDocument/2006/relationships/image" Target="../media/image479.png"/><Relationship Id="rId16" Type="http://schemas.openxmlformats.org/officeDocument/2006/relationships/image" Target="../media/image480.png"/><Relationship Id="rId17" Type="http://schemas.openxmlformats.org/officeDocument/2006/relationships/image" Target="../media/image481.png"/><Relationship Id="rId18" Type="http://schemas.openxmlformats.org/officeDocument/2006/relationships/image" Target="../media/image482.png"/><Relationship Id="rId19" Type="http://schemas.openxmlformats.org/officeDocument/2006/relationships/image" Target="../media/image483.png"/><Relationship Id="rId20" Type="http://schemas.openxmlformats.org/officeDocument/2006/relationships/image" Target="../media/image484.png"/><Relationship Id="rId21" Type="http://schemas.openxmlformats.org/officeDocument/2006/relationships/image" Target="../media/image485.png"/><Relationship Id="rId22" Type="http://schemas.openxmlformats.org/officeDocument/2006/relationships/image" Target="../media/image486.png"/><Relationship Id="rId23" Type="http://schemas.openxmlformats.org/officeDocument/2006/relationships/image" Target="../media/image487.png"/><Relationship Id="rId24" Type="http://schemas.openxmlformats.org/officeDocument/2006/relationships/image" Target="../media/image488.png"/><Relationship Id="rId25" Type="http://schemas.openxmlformats.org/officeDocument/2006/relationships/image" Target="../media/image489.png"/><Relationship Id="rId26" Type="http://schemas.openxmlformats.org/officeDocument/2006/relationships/image" Target="../media/image490.png"/><Relationship Id="rId27" Type="http://schemas.openxmlformats.org/officeDocument/2006/relationships/image" Target="../media/image491.png"/><Relationship Id="rId28" Type="http://schemas.openxmlformats.org/officeDocument/2006/relationships/image" Target="../media/image492.png"/><Relationship Id="rId29" Type="http://schemas.openxmlformats.org/officeDocument/2006/relationships/image" Target="../media/image493.png"/><Relationship Id="rId30" Type="http://schemas.openxmlformats.org/officeDocument/2006/relationships/image" Target="../media/image494.png"/><Relationship Id="rId31" Type="http://schemas.openxmlformats.org/officeDocument/2006/relationships/image" Target="../media/image495.png"/><Relationship Id="rId32" Type="http://schemas.openxmlformats.org/officeDocument/2006/relationships/image" Target="../media/image496.png"/><Relationship Id="rId33" Type="http://schemas.openxmlformats.org/officeDocument/2006/relationships/image" Target="../media/image497.png"/></Relationships>
</file>

<file path=ppt/charts/_rels/chart74.xml.rels><?xml version='1.0' encoding='UTF-8' standalone='yes'?>
<Relationships xmlns="http://schemas.openxmlformats.org/package/2006/relationships"><Relationship Id="rId2" Type="http://schemas.openxmlformats.org/officeDocument/2006/relationships/image" Target="../media/image498.png"/><Relationship Id="rId3" Type="http://schemas.openxmlformats.org/officeDocument/2006/relationships/image" Target="../media/image499.png"/><Relationship Id="rId4" Type="http://schemas.openxmlformats.org/officeDocument/2006/relationships/image" Target="../media/image500.png"/><Relationship Id="rId5" Type="http://schemas.openxmlformats.org/officeDocument/2006/relationships/image" Target="../media/image501.png"/><Relationship Id="rId6" Type="http://schemas.openxmlformats.org/officeDocument/2006/relationships/image" Target="../media/image502.png"/><Relationship Id="rId7" Type="http://schemas.openxmlformats.org/officeDocument/2006/relationships/image" Target="../media/image503.png"/><Relationship Id="rId8" Type="http://schemas.openxmlformats.org/officeDocument/2006/relationships/image" Target="../media/image504.png"/><Relationship Id="rId9" Type="http://schemas.openxmlformats.org/officeDocument/2006/relationships/image" Target="../media/image505.png"/><Relationship Id="rId10" Type="http://schemas.openxmlformats.org/officeDocument/2006/relationships/image" Target="../media/image506.png"/><Relationship Id="rId11" Type="http://schemas.openxmlformats.org/officeDocument/2006/relationships/image" Target="../media/image507.png"/><Relationship Id="rId12" Type="http://schemas.openxmlformats.org/officeDocument/2006/relationships/image" Target="../media/image508.png"/><Relationship Id="rId13" Type="http://schemas.openxmlformats.org/officeDocument/2006/relationships/image" Target="../media/image509.png"/><Relationship Id="rId14" Type="http://schemas.openxmlformats.org/officeDocument/2006/relationships/image" Target="../media/image510.png"/><Relationship Id="rId15" Type="http://schemas.openxmlformats.org/officeDocument/2006/relationships/image" Target="../media/image511.png"/><Relationship Id="rId16" Type="http://schemas.openxmlformats.org/officeDocument/2006/relationships/image" Target="../media/image512.png"/><Relationship Id="rId17" Type="http://schemas.openxmlformats.org/officeDocument/2006/relationships/image" Target="../media/image513.png"/><Relationship Id="rId18" Type="http://schemas.openxmlformats.org/officeDocument/2006/relationships/image" Target="../media/image514.png"/><Relationship Id="rId19" Type="http://schemas.openxmlformats.org/officeDocument/2006/relationships/image" Target="../media/image515.png"/><Relationship Id="rId20" Type="http://schemas.openxmlformats.org/officeDocument/2006/relationships/image" Target="../media/image516.png"/><Relationship Id="rId21" Type="http://schemas.openxmlformats.org/officeDocument/2006/relationships/image" Target="../media/image517.png"/><Relationship Id="rId22" Type="http://schemas.openxmlformats.org/officeDocument/2006/relationships/image" Target="../media/image518.png"/><Relationship Id="rId23" Type="http://schemas.openxmlformats.org/officeDocument/2006/relationships/image" Target="../media/image519.png"/><Relationship Id="rId24" Type="http://schemas.openxmlformats.org/officeDocument/2006/relationships/image" Target="../media/image520.png"/><Relationship Id="rId25" Type="http://schemas.openxmlformats.org/officeDocument/2006/relationships/image" Target="../media/image521.png"/><Relationship Id="rId26" Type="http://schemas.openxmlformats.org/officeDocument/2006/relationships/image" Target="../media/image522.png"/><Relationship Id="rId27" Type="http://schemas.openxmlformats.org/officeDocument/2006/relationships/image" Target="../media/image523.png"/><Relationship Id="rId28" Type="http://schemas.openxmlformats.org/officeDocument/2006/relationships/image" Target="../media/image524.png"/><Relationship Id="rId29" Type="http://schemas.openxmlformats.org/officeDocument/2006/relationships/image" Target="../media/image525.png"/><Relationship Id="rId30" Type="http://schemas.openxmlformats.org/officeDocument/2006/relationships/image" Target="../media/image526.png"/><Relationship Id="rId31" Type="http://schemas.openxmlformats.org/officeDocument/2006/relationships/image" Target="../media/image527.png"/><Relationship Id="rId32" Type="http://schemas.openxmlformats.org/officeDocument/2006/relationships/image" Target="../media/image528.png"/><Relationship Id="rId33" Type="http://schemas.openxmlformats.org/officeDocument/2006/relationships/image" Target="../media/image529.png"/></Relationships>
</file>

<file path=ppt/charts/_rels/chart75.xml.rels><?xml version='1.0' encoding='UTF-8' standalone='yes'?>
<Relationships xmlns="http://schemas.openxmlformats.org/package/2006/relationships"><Relationship Id="rId2" Type="http://schemas.openxmlformats.org/officeDocument/2006/relationships/image" Target="../media/image541.png"/><Relationship Id="rId3" Type="http://schemas.openxmlformats.org/officeDocument/2006/relationships/image" Target="../media/image542.png"/><Relationship Id="rId4" Type="http://schemas.openxmlformats.org/officeDocument/2006/relationships/image" Target="../media/image543.png"/><Relationship Id="rId5" Type="http://schemas.openxmlformats.org/officeDocument/2006/relationships/image" Target="../media/image544.png"/><Relationship Id="rId6" Type="http://schemas.openxmlformats.org/officeDocument/2006/relationships/image" Target="../media/image545.png"/><Relationship Id="rId7" Type="http://schemas.openxmlformats.org/officeDocument/2006/relationships/image" Target="../media/image546.png"/><Relationship Id="rId8" Type="http://schemas.openxmlformats.org/officeDocument/2006/relationships/image" Target="../media/image547.png"/><Relationship Id="rId9" Type="http://schemas.openxmlformats.org/officeDocument/2006/relationships/image" Target="../media/image548.png"/><Relationship Id="rId10" Type="http://schemas.openxmlformats.org/officeDocument/2006/relationships/image" Target="../media/image549.png"/><Relationship Id="rId11" Type="http://schemas.openxmlformats.org/officeDocument/2006/relationships/image" Target="../media/image550.png"/><Relationship Id="rId12" Type="http://schemas.openxmlformats.org/officeDocument/2006/relationships/image" Target="../media/image551.png"/><Relationship Id="rId13" Type="http://schemas.openxmlformats.org/officeDocument/2006/relationships/image" Target="../media/image552.png"/></Relationships>
</file>

<file path=ppt/charts/_rels/chart83.xml.rels><?xml version='1.0' encoding='UTF-8' standalone='yes'?>
<Relationships xmlns="http://schemas.openxmlformats.org/package/2006/relationships"><Relationship Id="rId2" Type="http://schemas.openxmlformats.org/officeDocument/2006/relationships/image" Target="../media/image553.png"/><Relationship Id="rId3" Type="http://schemas.openxmlformats.org/officeDocument/2006/relationships/image" Target="../media/image554.png"/><Relationship Id="rId4" Type="http://schemas.openxmlformats.org/officeDocument/2006/relationships/image" Target="../media/image555.png"/><Relationship Id="rId5" Type="http://schemas.openxmlformats.org/officeDocument/2006/relationships/image" Target="../media/image556.png"/><Relationship Id="rId6" Type="http://schemas.openxmlformats.org/officeDocument/2006/relationships/image" Target="../media/image557.png"/><Relationship Id="rId7" Type="http://schemas.openxmlformats.org/officeDocument/2006/relationships/image" Target="../media/image558.png"/><Relationship Id="rId8" Type="http://schemas.openxmlformats.org/officeDocument/2006/relationships/image" Target="../media/image559.png"/><Relationship Id="rId9" Type="http://schemas.openxmlformats.org/officeDocument/2006/relationships/image" Target="../media/image560.png"/><Relationship Id="rId10" Type="http://schemas.openxmlformats.org/officeDocument/2006/relationships/image" Target="../media/image561.png"/><Relationship Id="rId11" Type="http://schemas.openxmlformats.org/officeDocument/2006/relationships/image" Target="../media/image562.png"/><Relationship Id="rId12" Type="http://schemas.openxmlformats.org/officeDocument/2006/relationships/image" Target="../media/image563.png"/><Relationship Id="rId13" Type="http://schemas.openxmlformats.org/officeDocument/2006/relationships/image" Target="../media/image564.png"/><Relationship Id="rId14" Type="http://schemas.openxmlformats.org/officeDocument/2006/relationships/image" Target="../media/image565.png"/><Relationship Id="rId15" Type="http://schemas.openxmlformats.org/officeDocument/2006/relationships/image" Target="../media/image566.png"/><Relationship Id="rId16" Type="http://schemas.openxmlformats.org/officeDocument/2006/relationships/image" Target="../media/image567.png"/><Relationship Id="rId17" Type="http://schemas.openxmlformats.org/officeDocument/2006/relationships/image" Target="../media/image568.png"/><Relationship Id="rId18" Type="http://schemas.openxmlformats.org/officeDocument/2006/relationships/image" Target="../media/image569.png"/><Relationship Id="rId19" Type="http://schemas.openxmlformats.org/officeDocument/2006/relationships/image" Target="../media/image570.png"/></Relationships>
</file>

<file path=ppt/charts/_rels/chart84.xml.rels><?xml version='1.0' encoding='UTF-8' standalone='yes'?>
<Relationships xmlns="http://schemas.openxmlformats.org/package/2006/relationships"><Relationship Id="rId2" Type="http://schemas.openxmlformats.org/officeDocument/2006/relationships/image" Target="../media/image585.png"/><Relationship Id="rId3" Type="http://schemas.openxmlformats.org/officeDocument/2006/relationships/image" Target="../media/image586.png"/><Relationship Id="rId4" Type="http://schemas.openxmlformats.org/officeDocument/2006/relationships/image" Target="../media/image587.png"/><Relationship Id="rId5" Type="http://schemas.openxmlformats.org/officeDocument/2006/relationships/image" Target="../media/image588.png"/><Relationship Id="rId6" Type="http://schemas.openxmlformats.org/officeDocument/2006/relationships/image" Target="../media/image589.png"/><Relationship Id="rId7" Type="http://schemas.openxmlformats.org/officeDocument/2006/relationships/image" Target="../media/image590.png"/><Relationship Id="rId8" Type="http://schemas.openxmlformats.org/officeDocument/2006/relationships/image" Target="../media/image591.png"/><Relationship Id="rId9" Type="http://schemas.openxmlformats.org/officeDocument/2006/relationships/image" Target="../media/image592.png"/><Relationship Id="rId10" Type="http://schemas.openxmlformats.org/officeDocument/2006/relationships/image" Target="../media/image593.png"/><Relationship Id="rId11" Type="http://schemas.openxmlformats.org/officeDocument/2006/relationships/image" Target="../media/image594.png"/><Relationship Id="rId12" Type="http://schemas.openxmlformats.org/officeDocument/2006/relationships/image" Target="../media/image595.png"/></Relationships>
</file>

<file path=ppt/charts/_rels/chart92.xml.rels><?xml version='1.0' encoding='UTF-8' standalone='yes'?>
<Relationships xmlns="http://schemas.openxmlformats.org/package/2006/relationships"><Relationship Id="rId2" Type="http://schemas.openxmlformats.org/officeDocument/2006/relationships/image" Target="../media/image596.png"/><Relationship Id="rId3" Type="http://schemas.openxmlformats.org/officeDocument/2006/relationships/image" Target="../media/image597.png"/><Relationship Id="rId4" Type="http://schemas.openxmlformats.org/officeDocument/2006/relationships/image" Target="../media/image598.png"/><Relationship Id="rId5" Type="http://schemas.openxmlformats.org/officeDocument/2006/relationships/image" Target="../media/image599.png"/><Relationship Id="rId6" Type="http://schemas.openxmlformats.org/officeDocument/2006/relationships/image" Target="../media/image600.png"/><Relationship Id="rId7" Type="http://schemas.openxmlformats.org/officeDocument/2006/relationships/image" Target="../media/image601.png"/><Relationship Id="rId8" Type="http://schemas.openxmlformats.org/officeDocument/2006/relationships/image" Target="../media/image602.png"/><Relationship Id="rId9" Type="http://schemas.openxmlformats.org/officeDocument/2006/relationships/image" Target="../media/image603.png"/><Relationship Id="rId10" Type="http://schemas.openxmlformats.org/officeDocument/2006/relationships/image" Target="../media/image604.png"/><Relationship Id="rId11" Type="http://schemas.openxmlformats.org/officeDocument/2006/relationships/image" Target="../media/image605.png"/><Relationship Id="rId12" Type="http://schemas.openxmlformats.org/officeDocument/2006/relationships/image" Target="../media/image606.png"/><Relationship Id="rId13" Type="http://schemas.openxmlformats.org/officeDocument/2006/relationships/image" Target="../media/image607.png"/><Relationship Id="rId14" Type="http://schemas.openxmlformats.org/officeDocument/2006/relationships/image" Target="../media/image608.png"/><Relationship Id="rId15" Type="http://schemas.openxmlformats.org/officeDocument/2006/relationships/image" Target="../media/image609.png"/><Relationship Id="rId16" Type="http://schemas.openxmlformats.org/officeDocument/2006/relationships/image" Target="../media/image610.png"/><Relationship Id="rId17" Type="http://schemas.openxmlformats.org/officeDocument/2006/relationships/image" Target="../media/image611.png"/><Relationship Id="rId18" Type="http://schemas.openxmlformats.org/officeDocument/2006/relationships/image" Target="../media/image612.png"/></Relationships>
</file>

<file path=ppt/charts/_rels/chart93.xml.rels><?xml version='1.0' encoding='UTF-8' standalone='yes'?>
<Relationships xmlns="http://schemas.openxmlformats.org/package/2006/relationships"><Relationship Id="rId2" Type="http://schemas.openxmlformats.org/officeDocument/2006/relationships/image" Target="../media/image623.png"/><Relationship Id="rId3" Type="http://schemas.openxmlformats.org/officeDocument/2006/relationships/image" Target="../media/image624.png"/><Relationship Id="rId4" Type="http://schemas.openxmlformats.org/officeDocument/2006/relationships/image" Target="../media/image625.png"/><Relationship Id="rId5" Type="http://schemas.openxmlformats.org/officeDocument/2006/relationships/image" Target="../media/image626.png"/><Relationship Id="rId6" Type="http://schemas.openxmlformats.org/officeDocument/2006/relationships/image" Target="../media/image627.png"/><Relationship Id="rId7" Type="http://schemas.openxmlformats.org/officeDocument/2006/relationships/image" Target="../media/image628.png"/><Relationship Id="rId8" Type="http://schemas.openxmlformats.org/officeDocument/2006/relationships/image" Target="../media/image629.png"/><Relationship Id="rId9" Type="http://schemas.openxmlformats.org/officeDocument/2006/relationships/image" Target="../media/image630.png"/></Relationships>
</file>

<file path=ppt/charts/_rels/chart99.xml.rels><?xml version='1.0' encoding='UTF-8' standalone='yes'?>
<Relationships xmlns="http://schemas.openxmlformats.org/package/2006/relationships"><Relationship Id="rId2" Type="http://schemas.openxmlformats.org/officeDocument/2006/relationships/image" Target="../media/image631.png"/><Relationship Id="rId3" Type="http://schemas.openxmlformats.org/officeDocument/2006/relationships/image" Target="../media/image632.png"/><Relationship Id="rId4" Type="http://schemas.openxmlformats.org/officeDocument/2006/relationships/image" Target="../media/image633.png"/><Relationship Id="rId5" Type="http://schemas.openxmlformats.org/officeDocument/2006/relationships/image" Target="../media/image634.png"/><Relationship Id="rId6" Type="http://schemas.openxmlformats.org/officeDocument/2006/relationships/image" Target="../media/image635.png"/><Relationship Id="rId7" Type="http://schemas.openxmlformats.org/officeDocument/2006/relationships/image" Target="../media/image636.png"/><Relationship Id="rId8" Type="http://schemas.openxmlformats.org/officeDocument/2006/relationships/image" Target="../media/image637.png"/><Relationship Id="rId9" Type="http://schemas.openxmlformats.org/officeDocument/2006/relationships/image" Target="../media/image638.png"/><Relationship Id="rId10" Type="http://schemas.openxmlformats.org/officeDocument/2006/relationships/image" Target="../media/image639.png"/><Relationship Id="rId11" Type="http://schemas.openxmlformats.org/officeDocument/2006/relationships/image" Target="../media/image640.png"/><Relationship Id="rId12" Type="http://schemas.openxmlformats.org/officeDocument/2006/relationships/image" Target="../media/image641.png"/><Relationship Id="rId13" Type="http://schemas.openxmlformats.org/officeDocument/2006/relationships/image" Target="../media/image642.png"/></Relationships>
</file>

<file path=ppt/charts/_rels/chart100.xml.rels><?xml version='1.0' encoding='UTF-8' standalone='yes'?>
<Relationships xmlns="http://schemas.openxmlformats.org/package/2006/relationships"><Relationship Id="rId2" Type="http://schemas.openxmlformats.org/officeDocument/2006/relationships/image" Target="../media/image659.png"/><Relationship Id="rId3" Type="http://schemas.openxmlformats.org/officeDocument/2006/relationships/image" Target="../media/image660.png"/><Relationship Id="rId4" Type="http://schemas.openxmlformats.org/officeDocument/2006/relationships/image" Target="../media/image661.png"/><Relationship Id="rId5" Type="http://schemas.openxmlformats.org/officeDocument/2006/relationships/image" Target="../media/image662.png"/><Relationship Id="rId6" Type="http://schemas.openxmlformats.org/officeDocument/2006/relationships/image" Target="../media/image663.png"/><Relationship Id="rId7" Type="http://schemas.openxmlformats.org/officeDocument/2006/relationships/image" Target="../media/image664.png"/><Relationship Id="rId8" Type="http://schemas.openxmlformats.org/officeDocument/2006/relationships/image" Target="../media/image665.png"/><Relationship Id="rId9" Type="http://schemas.openxmlformats.org/officeDocument/2006/relationships/image" Target="../media/image666.png"/><Relationship Id="rId10" Type="http://schemas.openxmlformats.org/officeDocument/2006/relationships/image" Target="../media/image667.png"/><Relationship Id="rId11" Type="http://schemas.openxmlformats.org/officeDocument/2006/relationships/image" Target="../media/image668.png"/><Relationship Id="rId12" Type="http://schemas.openxmlformats.org/officeDocument/2006/relationships/image" Target="../media/image669.png"/><Relationship Id="rId13" Type="http://schemas.openxmlformats.org/officeDocument/2006/relationships/image" Target="../media/image670.png"/></Relationships>
</file>

<file path=ppt/charts/_rels/chart108.xml.rels><?xml version='1.0' encoding='UTF-8' standalone='yes'?>
<Relationships xmlns="http://schemas.openxmlformats.org/package/2006/relationships"><Relationship Id="rId2" Type="http://schemas.openxmlformats.org/officeDocument/2006/relationships/image" Target="../media/image671.png"/><Relationship Id="rId3" Type="http://schemas.openxmlformats.org/officeDocument/2006/relationships/image" Target="../media/image672.png"/><Relationship Id="rId4" Type="http://schemas.openxmlformats.org/officeDocument/2006/relationships/image" Target="../media/image673.png"/><Relationship Id="rId5" Type="http://schemas.openxmlformats.org/officeDocument/2006/relationships/image" Target="../media/image674.png"/><Relationship Id="rId6" Type="http://schemas.openxmlformats.org/officeDocument/2006/relationships/image" Target="../media/image675.png"/><Relationship Id="rId7" Type="http://schemas.openxmlformats.org/officeDocument/2006/relationships/image" Target="../media/image676.png"/><Relationship Id="rId8" Type="http://schemas.openxmlformats.org/officeDocument/2006/relationships/image" Target="../media/image677.png"/><Relationship Id="rId9" Type="http://schemas.openxmlformats.org/officeDocument/2006/relationships/image" Target="../media/image678.png"/><Relationship Id="rId10" Type="http://schemas.openxmlformats.org/officeDocument/2006/relationships/image" Target="../media/image679.png"/><Relationship Id="rId11" Type="http://schemas.openxmlformats.org/officeDocument/2006/relationships/image" Target="../media/image680.png"/><Relationship Id="rId12" Type="http://schemas.openxmlformats.org/officeDocument/2006/relationships/image" Target="../media/image681.png"/><Relationship Id="rId13" Type="http://schemas.openxmlformats.org/officeDocument/2006/relationships/image" Target="../media/image682.png"/><Relationship Id="rId14" Type="http://schemas.openxmlformats.org/officeDocument/2006/relationships/image" Target="../media/image683.png"/><Relationship Id="rId15" Type="http://schemas.openxmlformats.org/officeDocument/2006/relationships/image" Target="../media/image684.png"/><Relationship Id="rId16" Type="http://schemas.openxmlformats.org/officeDocument/2006/relationships/image" Target="../media/image685.png"/><Relationship Id="rId17" Type="http://schemas.openxmlformats.org/officeDocument/2006/relationships/image" Target="../media/image686.png"/><Relationship Id="rId18" Type="http://schemas.openxmlformats.org/officeDocument/2006/relationships/image" Target="../media/image687.png"/><Relationship Id="rId19" Type="http://schemas.openxmlformats.org/officeDocument/2006/relationships/image" Target="../media/image688.png"/></Relationships>
</file>

<file path=ppt/charts/_rels/chart109.xml.rels><?xml version='1.0' encoding='UTF-8' standalone='yes'?>
<Relationships xmlns="http://schemas.openxmlformats.org/package/2006/relationships"><Relationship Id="rId2" Type="http://schemas.openxmlformats.org/officeDocument/2006/relationships/image" Target="../media/image705.png"/><Relationship Id="rId3" Type="http://schemas.openxmlformats.org/officeDocument/2006/relationships/image" Target="../media/image706.png"/><Relationship Id="rId4" Type="http://schemas.openxmlformats.org/officeDocument/2006/relationships/image" Target="../media/image707.png"/><Relationship Id="rId5" Type="http://schemas.openxmlformats.org/officeDocument/2006/relationships/image" Target="../media/image708.png"/><Relationship Id="rId6" Type="http://schemas.openxmlformats.org/officeDocument/2006/relationships/image" Target="../media/image709.png"/><Relationship Id="rId7" Type="http://schemas.openxmlformats.org/officeDocument/2006/relationships/image" Target="../media/image710.png"/><Relationship Id="rId8" Type="http://schemas.openxmlformats.org/officeDocument/2006/relationships/image" Target="../media/image711.png"/><Relationship Id="rId9" Type="http://schemas.openxmlformats.org/officeDocument/2006/relationships/image" Target="../media/image712.png"/><Relationship Id="rId10" Type="http://schemas.openxmlformats.org/officeDocument/2006/relationships/image" Target="../media/image713.png"/><Relationship Id="rId11" Type="http://schemas.openxmlformats.org/officeDocument/2006/relationships/image" Target="../media/image714.png"/><Relationship Id="rId12" Type="http://schemas.openxmlformats.org/officeDocument/2006/relationships/image" Target="../media/image715.png"/><Relationship Id="rId13" Type="http://schemas.openxmlformats.org/officeDocument/2006/relationships/image" Target="../media/image716.png"/></Relationships>
</file>

<file path=ppt/charts/_rels/chart117.xml.rels><?xml version='1.0' encoding='UTF-8' standalone='yes'?>
<Relationships xmlns="http://schemas.openxmlformats.org/package/2006/relationships"><Relationship Id="rId2" Type="http://schemas.openxmlformats.org/officeDocument/2006/relationships/image" Target="../media/image717.png"/><Relationship Id="rId3" Type="http://schemas.openxmlformats.org/officeDocument/2006/relationships/image" Target="../media/image718.png"/><Relationship Id="rId4" Type="http://schemas.openxmlformats.org/officeDocument/2006/relationships/image" Target="../media/image719.png"/><Relationship Id="rId5" Type="http://schemas.openxmlformats.org/officeDocument/2006/relationships/image" Target="../media/image720.png"/><Relationship Id="rId6" Type="http://schemas.openxmlformats.org/officeDocument/2006/relationships/image" Target="../media/image721.png"/><Relationship Id="rId7" Type="http://schemas.openxmlformats.org/officeDocument/2006/relationships/image" Target="../media/image722.png"/><Relationship Id="rId8" Type="http://schemas.openxmlformats.org/officeDocument/2006/relationships/image" Target="../media/image723.png"/><Relationship Id="rId9" Type="http://schemas.openxmlformats.org/officeDocument/2006/relationships/image" Target="../media/image724.png"/><Relationship Id="rId10" Type="http://schemas.openxmlformats.org/officeDocument/2006/relationships/image" Target="../media/image725.png"/><Relationship Id="rId11" Type="http://schemas.openxmlformats.org/officeDocument/2006/relationships/image" Target="../media/image726.png"/><Relationship Id="rId12" Type="http://schemas.openxmlformats.org/officeDocument/2006/relationships/image" Target="../media/image727.png"/><Relationship Id="rId13" Type="http://schemas.openxmlformats.org/officeDocument/2006/relationships/image" Target="../media/image728.png"/><Relationship Id="rId14" Type="http://schemas.openxmlformats.org/officeDocument/2006/relationships/image" Target="../media/image729.png"/><Relationship Id="rId15" Type="http://schemas.openxmlformats.org/officeDocument/2006/relationships/image" Target="../media/image730.png"/><Relationship Id="rId16" Type="http://schemas.openxmlformats.org/officeDocument/2006/relationships/image" Target="../media/image731.png"/><Relationship Id="rId17" Type="http://schemas.openxmlformats.org/officeDocument/2006/relationships/image" Target="../media/image732.png"/><Relationship Id="rId18" Type="http://schemas.openxmlformats.org/officeDocument/2006/relationships/image" Target="../media/image733.png"/></Relationships>
</file>

<file path=ppt/charts/_rels/chart148.xml.rels><?xml version='1.0' encoding='UTF-8' standalone='yes'?>
<Relationships xmlns="http://schemas.openxmlformats.org/package/2006/relationships"><Relationship Id="rId2" Type="http://schemas.openxmlformats.org/officeDocument/2006/relationships/image" Target="../media/image734.png"/><Relationship Id="rId3" Type="http://schemas.openxmlformats.org/officeDocument/2006/relationships/image" Target="../media/image735.png"/><Relationship Id="rId4" Type="http://schemas.openxmlformats.org/officeDocument/2006/relationships/image" Target="../media/image736.png"/><Relationship Id="rId5" Type="http://schemas.openxmlformats.org/officeDocument/2006/relationships/image" Target="../media/image737.png"/><Relationship Id="rId6" Type="http://schemas.openxmlformats.org/officeDocument/2006/relationships/image" Target="../media/image738.png"/><Relationship Id="rId7" Type="http://schemas.openxmlformats.org/officeDocument/2006/relationships/image" Target="../media/image739.png"/><Relationship Id="rId8" Type="http://schemas.openxmlformats.org/officeDocument/2006/relationships/image" Target="../media/image740.png"/><Relationship Id="rId9" Type="http://schemas.openxmlformats.org/officeDocument/2006/relationships/image" Target="../media/image741.png"/><Relationship Id="rId10" Type="http://schemas.openxmlformats.org/officeDocument/2006/relationships/image" Target="../media/image742.png"/><Relationship Id="rId11" Type="http://schemas.openxmlformats.org/officeDocument/2006/relationships/image" Target="../media/image743.png"/></Relationships>
</file>

<file path=ppt/charts/_rels/chart149.xml.rels><?xml version='1.0' encoding='UTF-8' standalone='yes'?>
<Relationships xmlns="http://schemas.openxmlformats.org/package/2006/relationships"><Relationship Id="rId2" Type="http://schemas.openxmlformats.org/officeDocument/2006/relationships/image" Target="../media/image744.png"/><Relationship Id="rId3" Type="http://schemas.openxmlformats.org/officeDocument/2006/relationships/image" Target="../media/image745.png"/><Relationship Id="rId4" Type="http://schemas.openxmlformats.org/officeDocument/2006/relationships/image" Target="../media/image746.png"/><Relationship Id="rId5" Type="http://schemas.openxmlformats.org/officeDocument/2006/relationships/image" Target="../media/image747.png"/><Relationship Id="rId6" Type="http://schemas.openxmlformats.org/officeDocument/2006/relationships/image" Target="../media/image748.png"/><Relationship Id="rId7" Type="http://schemas.openxmlformats.org/officeDocument/2006/relationships/image" Target="../media/image749.png"/><Relationship Id="rId8" Type="http://schemas.openxmlformats.org/officeDocument/2006/relationships/image" Target="../media/image750.png"/><Relationship Id="rId9" Type="http://schemas.openxmlformats.org/officeDocument/2006/relationships/image" Target="../media/image751.png"/><Relationship Id="rId10" Type="http://schemas.openxmlformats.org/officeDocument/2006/relationships/image" Target="../media/image752.png"/><Relationship Id="rId11" Type="http://schemas.openxmlformats.org/officeDocument/2006/relationships/image" Target="../media/image753.png"/><Relationship Id="rId12" Type="http://schemas.openxmlformats.org/officeDocument/2006/relationships/image" Target="../media/image754.png"/></Relationships>
</file>

<file path=ppt/charts/_rels/chart150.xml.rels><?xml version='1.0' encoding='UTF-8' standalone='yes'?>
<Relationships xmlns="http://schemas.openxmlformats.org/package/2006/relationships"><Relationship Id="rId2" Type="http://schemas.openxmlformats.org/officeDocument/2006/relationships/image" Target="../media/image755.png"/><Relationship Id="rId3" Type="http://schemas.openxmlformats.org/officeDocument/2006/relationships/image" Target="../media/image756.png"/><Relationship Id="rId4" Type="http://schemas.openxmlformats.org/officeDocument/2006/relationships/image" Target="../media/image757.png"/><Relationship Id="rId5" Type="http://schemas.openxmlformats.org/officeDocument/2006/relationships/image" Target="../media/image758.png"/><Relationship Id="rId6" Type="http://schemas.openxmlformats.org/officeDocument/2006/relationships/image" Target="../media/image759.png"/><Relationship Id="rId7" Type="http://schemas.openxmlformats.org/officeDocument/2006/relationships/image" Target="../media/image760.png"/><Relationship Id="rId8" Type="http://schemas.openxmlformats.org/officeDocument/2006/relationships/image" Target="../media/image761.png"/><Relationship Id="rId9" Type="http://schemas.openxmlformats.org/officeDocument/2006/relationships/image" Target="../media/image762.png"/><Relationship Id="rId10" Type="http://schemas.openxmlformats.org/officeDocument/2006/relationships/image" Target="../media/image763.png"/><Relationship Id="rId11" Type="http://schemas.openxmlformats.org/officeDocument/2006/relationships/image" Target="../media/image764.png"/></Relationships>
</file>

<file path=ppt/charts/_rels/chart151.xml.rels><?xml version='1.0' encoding='UTF-8' standalone='yes'?>
<Relationships xmlns="http://schemas.openxmlformats.org/package/2006/relationships"><Relationship Id="rId2" Type="http://schemas.openxmlformats.org/officeDocument/2006/relationships/image" Target="../media/image765.png"/><Relationship Id="rId3" Type="http://schemas.openxmlformats.org/officeDocument/2006/relationships/image" Target="../media/image766.png"/><Relationship Id="rId4" Type="http://schemas.openxmlformats.org/officeDocument/2006/relationships/image" Target="../media/image767.png"/><Relationship Id="rId5" Type="http://schemas.openxmlformats.org/officeDocument/2006/relationships/image" Target="../media/image768.png"/><Relationship Id="rId6" Type="http://schemas.openxmlformats.org/officeDocument/2006/relationships/image" Target="../media/image769.png"/><Relationship Id="rId7" Type="http://schemas.openxmlformats.org/officeDocument/2006/relationships/image" Target="../media/image770.png"/><Relationship Id="rId8" Type="http://schemas.openxmlformats.org/officeDocument/2006/relationships/image" Target="../media/image771.png"/><Relationship Id="rId9" Type="http://schemas.openxmlformats.org/officeDocument/2006/relationships/image" Target="../media/image772.png"/><Relationship Id="rId10" Type="http://schemas.openxmlformats.org/officeDocument/2006/relationships/image" Target="../media/image773.png"/><Relationship Id="rId11" Type="http://schemas.openxmlformats.org/officeDocument/2006/relationships/image" Target="../media/image774.png"/><Relationship Id="rId12" Type="http://schemas.openxmlformats.org/officeDocument/2006/relationships/image" Target="../media/image775.png"/></Relationships>
</file>

<file path=ppt/charts/_rels/chart152.xml.rels><?xml version='1.0' encoding='UTF-8' standalone='yes'?>
<Relationships xmlns="http://schemas.openxmlformats.org/package/2006/relationships"><Relationship Id="rId2" Type="http://schemas.openxmlformats.org/officeDocument/2006/relationships/image" Target="../media/image776.png"/><Relationship Id="rId3" Type="http://schemas.openxmlformats.org/officeDocument/2006/relationships/image" Target="../media/image777.png"/><Relationship Id="rId4" Type="http://schemas.openxmlformats.org/officeDocument/2006/relationships/image" Target="../media/image778.png"/><Relationship Id="rId5" Type="http://schemas.openxmlformats.org/officeDocument/2006/relationships/image" Target="../media/image779.png"/><Relationship Id="rId6" Type="http://schemas.openxmlformats.org/officeDocument/2006/relationships/image" Target="../media/image780.png"/><Relationship Id="rId7" Type="http://schemas.openxmlformats.org/officeDocument/2006/relationships/image" Target="../media/image781.png"/><Relationship Id="rId8" Type="http://schemas.openxmlformats.org/officeDocument/2006/relationships/image" Target="../media/image782.png"/><Relationship Id="rId9" Type="http://schemas.openxmlformats.org/officeDocument/2006/relationships/image" Target="../media/image783.png"/><Relationship Id="rId10" Type="http://schemas.openxmlformats.org/officeDocument/2006/relationships/image" Target="../media/image784.png"/><Relationship Id="rId11" Type="http://schemas.openxmlformats.org/officeDocument/2006/relationships/image" Target="../media/image785.png"/></Relationships>
</file>

<file path=ppt/charts/_rels/chart153.xml.rels><?xml version='1.0' encoding='UTF-8' standalone='yes'?>
<Relationships xmlns="http://schemas.openxmlformats.org/package/2006/relationships"><Relationship Id="rId2" Type="http://schemas.openxmlformats.org/officeDocument/2006/relationships/image" Target="../media/image786.png"/><Relationship Id="rId3" Type="http://schemas.openxmlformats.org/officeDocument/2006/relationships/image" Target="../media/image787.png"/><Relationship Id="rId4" Type="http://schemas.openxmlformats.org/officeDocument/2006/relationships/image" Target="../media/image788.png"/><Relationship Id="rId5" Type="http://schemas.openxmlformats.org/officeDocument/2006/relationships/image" Target="../media/image789.png"/><Relationship Id="rId6" Type="http://schemas.openxmlformats.org/officeDocument/2006/relationships/image" Target="../media/image790.png"/><Relationship Id="rId7" Type="http://schemas.openxmlformats.org/officeDocument/2006/relationships/image" Target="../media/image791.png"/><Relationship Id="rId8" Type="http://schemas.openxmlformats.org/officeDocument/2006/relationships/image" Target="../media/image792.png"/><Relationship Id="rId9" Type="http://schemas.openxmlformats.org/officeDocument/2006/relationships/image" Target="../media/image793.png"/><Relationship Id="rId10" Type="http://schemas.openxmlformats.org/officeDocument/2006/relationships/image" Target="../media/image794.png"/></Relationships>
</file>

<file path=ppt/charts/_rels/chart154.xml.rels><?xml version='1.0' encoding='UTF-8' standalone='yes'?>
<Relationships xmlns="http://schemas.openxmlformats.org/package/2006/relationships"><Relationship Id="rId2" Type="http://schemas.openxmlformats.org/officeDocument/2006/relationships/image" Target="../media/image795.png"/><Relationship Id="rId3" Type="http://schemas.openxmlformats.org/officeDocument/2006/relationships/image" Target="../media/image796.png"/><Relationship Id="rId4" Type="http://schemas.openxmlformats.org/officeDocument/2006/relationships/image" Target="../media/image797.png"/><Relationship Id="rId5" Type="http://schemas.openxmlformats.org/officeDocument/2006/relationships/image" Target="../media/image798.png"/><Relationship Id="rId6" Type="http://schemas.openxmlformats.org/officeDocument/2006/relationships/image" Target="../media/image799.png"/><Relationship Id="rId7" Type="http://schemas.openxmlformats.org/officeDocument/2006/relationships/image" Target="../media/image800.png"/><Relationship Id="rId8" Type="http://schemas.openxmlformats.org/officeDocument/2006/relationships/image" Target="../media/image801.png"/><Relationship Id="rId9" Type="http://schemas.openxmlformats.org/officeDocument/2006/relationships/image" Target="../media/image802.png"/><Relationship Id="rId10" Type="http://schemas.openxmlformats.org/officeDocument/2006/relationships/image" Target="../media/image803.png"/><Relationship Id="rId11" Type="http://schemas.openxmlformats.org/officeDocument/2006/relationships/image" Target="../media/image804.png"/><Relationship Id="rId12" Type="http://schemas.openxmlformats.org/officeDocument/2006/relationships/image" Target="../media/image805.png"/></Relationships>
</file>

<file path=ppt/charts/_rels/chart155.xml.rels><?xml version='1.0' encoding='UTF-8' standalone='yes'?>
<Relationships xmlns="http://schemas.openxmlformats.org/package/2006/relationships"><Relationship Id="rId2" Type="http://schemas.openxmlformats.org/officeDocument/2006/relationships/image" Target="../media/image806.png"/><Relationship Id="rId3" Type="http://schemas.openxmlformats.org/officeDocument/2006/relationships/image" Target="../media/image807.png"/><Relationship Id="rId4" Type="http://schemas.openxmlformats.org/officeDocument/2006/relationships/image" Target="../media/image808.png"/><Relationship Id="rId5" Type="http://schemas.openxmlformats.org/officeDocument/2006/relationships/image" Target="../media/image809.png"/></Relationships>
</file>

<file path=ppt/charts/_rels/chart156.xml.rels><?xml version='1.0' encoding='UTF-8' standalone='yes'?>
<Relationships xmlns="http://schemas.openxmlformats.org/package/2006/relationships"><Relationship Id="rId2" Type="http://schemas.openxmlformats.org/officeDocument/2006/relationships/image" Target="../media/image810.png"/><Relationship Id="rId3" Type="http://schemas.openxmlformats.org/officeDocument/2006/relationships/image" Target="../media/image811.png"/><Relationship Id="rId4" Type="http://schemas.openxmlformats.org/officeDocument/2006/relationships/image" Target="../media/image812.png"/><Relationship Id="rId5" Type="http://schemas.openxmlformats.org/officeDocument/2006/relationships/image" Target="../media/image813.png"/><Relationship Id="rId6" Type="http://schemas.openxmlformats.org/officeDocument/2006/relationships/image" Target="../media/image814.png"/></Relationships>
</file>

<file path=ppt/charts/_rels/chart157.xml.rels><?xml version='1.0' encoding='UTF-8' standalone='yes'?>
<Relationships xmlns="http://schemas.openxmlformats.org/package/2006/relationships"><Relationship Id="rId2" Type="http://schemas.openxmlformats.org/officeDocument/2006/relationships/image" Target="../media/image815.png"/><Relationship Id="rId3" Type="http://schemas.openxmlformats.org/officeDocument/2006/relationships/image" Target="../media/image816.png"/><Relationship Id="rId4" Type="http://schemas.openxmlformats.org/officeDocument/2006/relationships/image" Target="../media/image817.png"/><Relationship Id="rId5" Type="http://schemas.openxmlformats.org/officeDocument/2006/relationships/image" Target="../media/image818.png"/></Relationships>
</file>

<file path=ppt/charts/_rels/chart158.xml.rels><?xml version='1.0' encoding='UTF-8' standalone='yes'?>
<Relationships xmlns="http://schemas.openxmlformats.org/package/2006/relationships"><Relationship Id="rId2" Type="http://schemas.openxmlformats.org/officeDocument/2006/relationships/image" Target="../media/image819.png"/><Relationship Id="rId3" Type="http://schemas.openxmlformats.org/officeDocument/2006/relationships/image" Target="../media/image820.png"/><Relationship Id="rId4" Type="http://schemas.openxmlformats.org/officeDocument/2006/relationships/image" Target="../media/image821.png"/><Relationship Id="rId5" Type="http://schemas.openxmlformats.org/officeDocument/2006/relationships/image" Target="../media/image822.png"/><Relationship Id="rId6" Type="http://schemas.openxmlformats.org/officeDocument/2006/relationships/image" Target="../media/image823.png"/><Relationship Id="rId7" Type="http://schemas.openxmlformats.org/officeDocument/2006/relationships/image" Target="../media/image824.png"/><Relationship Id="rId8" Type="http://schemas.openxmlformats.org/officeDocument/2006/relationships/image" Target="../media/image825.png"/><Relationship Id="rId9" Type="http://schemas.openxmlformats.org/officeDocument/2006/relationships/image" Target="../media/image826.png"/><Relationship Id="rId10" Type="http://schemas.openxmlformats.org/officeDocument/2006/relationships/image" Target="../media/image827.png"/><Relationship Id="rId11" Type="http://schemas.openxmlformats.org/officeDocument/2006/relationships/image" Target="../media/image828.png"/></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3.4785889077068477</c:v>
                </c:pt>
                <c:pt idx="1">
                  <c:v>4.407844578395537</c:v>
                </c:pt>
                <c:pt idx="2">
                  <c:v>4.097169160998582</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5.818354843482108"/>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2240733.219</c:v>
                </c:pt>
                <c:pt idx="2">
                  <c:v>0.0</c:v>
                </c:pt>
                <c:pt idx="3">
                  <c:v>2658536.588</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0,,&quot;M&quot;"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2240733.219</c:v>
                </c:pt>
                <c:pt idx="1">
                  <c:v>417803.36899999995</c:v>
                </c:pt>
                <c:pt idx="2">
                  <c:v>2658536.588</c:v>
                </c:pt>
                <c:pt idx="3">
                  <c:v>1433824.4700000002</c:v>
                </c:pt>
                <c:pt idx="4">
                  <c:v>4092361.058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quot;M&quot;"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4.1136781538467115</c:v>
                </c:pt>
                <c:pt idx="1">
                  <c:v>4.9944145569506215</c:v>
                </c:pt>
                <c:pt idx="2">
                  <c:v>4.700011022228323</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6.59262721517482"/>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8910.202</c:v>
                </c:pt>
                <c:pt idx="2">
                  <c:v>0.0</c:v>
                </c:pt>
                <c:pt idx="3">
                  <c:v>10900.000000000002</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8910.202</c:v>
                </c:pt>
                <c:pt idx="1">
                  <c:v>1989.7980000000025</c:v>
                </c:pt>
                <c:pt idx="2">
                  <c:v>10900.000000000002</c:v>
                </c:pt>
                <c:pt idx="3">
                  <c:v>6845.508999999996</c:v>
                </c:pt>
                <c:pt idx="4">
                  <c:v>17745.509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8910.202</c:v>
                </c:pt>
                <c:pt idx="1">
                  <c:v>9274.852</c:v>
                </c:pt>
                <c:pt idx="2">
                  <c:v>9655.396999999999</c:v>
                </c:pt>
                <c:pt idx="3">
                  <c:v>10052.588999999998</c:v>
                </c:pt>
                <c:pt idx="4">
                  <c:v>10467.184</c:v>
                </c:pt>
              </c:numCache>
            </c:numRef>
          </c:val>
        </c:ser>
        <c:gapWidth val="50"/>
        <c:axId val="-2068027336"/>
        <c:axId val="-2113994440"/>
      </c:barChart>
      <c:barChart>
        <c:barDir val="col"/>
        <c:grouping val="clustered"/>
        <c:varyColors val="0"/>
        <c:ser>
          <c:idx val="1"/>
          <c:order val="1"/>
          <c:tx>
            <c:strRef>
              <c:strCache>
                <c:ptCount val="1"/>
                <c:pt idx="0">
                  <c:v>Volume (MT)</c:v>
                </c:pt>
              </c:strCache>
            </c:strRef>
          </c:tx>
          <c:spPr>
            <a:solidFill>
              <a:srgbClr val="C55A11"/>
            </a:solidFill>
            <a:ln>
              <a:noFill/>
            </a:ln>
          </c:spPr>
          <c:dLbls>
            <c:dLbl>
              <c:idx val="0"/>
              <c:numFmt formatCode="&quot;MMMMMMMMMMM&quot;;&quot;MMMMMMMMMMM&quot;;&quot;MM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MM&quot;;&quot;MMMMMMMMMMM&quot;;&quot;MM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MM&quot;;&quot;MMMMMMMMMMM&quot;;&quot;MM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MM&quot;;&quot;MMMMMMMMMMM&quot;;&quot;MM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MM&quot;;&quot;MMMMMMMMMMM&quot;;&quot;MM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2240733.219</c:v>
                </c:pt>
                <c:pt idx="1">
                  <c:v>2317872.3619999997</c:v>
                </c:pt>
                <c:pt idx="2">
                  <c:v>2398084.12</c:v>
                </c:pt>
                <c:pt idx="3">
                  <c:v>2481503.449</c:v>
                </c:pt>
                <c:pt idx="4">
                  <c:v>2568271.6360000004</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12351"/>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3529651"/>
          <c:min val="0"/>
        </c:scaling>
        <c:delete val="0"/>
        <c:axPos val="r"/>
        <c:numFmt formatCode="#,##0,,&quot;M&quot;"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M&quot;;&quot;MMMMMMMM&quot;;&quot;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quot;;&quot;MMMMMMMM&quot;;&quot;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quot;;&quot;MMMMMMMM&quot;;&quot;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quot;;&quot;MMMMMMMM&quot;;&quot;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quot;;&quot;MMMMMMMM&quot;;&quot;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quot;;&quot;MMMMMMMM&quot;;&quot;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quot;;&quot;MMMMMMMM&quot;;&quot;M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10900.000000000002</c:v>
                </c:pt>
                <c:pt idx="1">
                  <c:v>11439.086</c:v>
                </c:pt>
                <c:pt idx="2">
                  <c:v>12006.056000000002</c:v>
                </c:pt>
                <c:pt idx="3">
                  <c:v>12602.422</c:v>
                </c:pt>
                <c:pt idx="4">
                  <c:v>13229.767000000002</c:v>
                </c:pt>
                <c:pt idx="5">
                  <c:v>13889.777</c:v>
                </c:pt>
                <c:pt idx="6">
                  <c:v>14584.227999999997</c:v>
                </c:pt>
                <c:pt idx="7">
                  <c:v>15314.991</c:v>
                </c:pt>
                <c:pt idx="8">
                  <c:v>16084.041000000001</c:v>
                </c:pt>
                <c:pt idx="9">
                  <c:v>16893.478000000003</c:v>
                </c:pt>
                <c:pt idx="10">
                  <c:v>17745.509</c:v>
                </c:pt>
              </c:numCache>
            </c:numRef>
          </c:val>
        </c:ser>
        <c:gapWidth val="50"/>
        <c:axId val="-2068027336"/>
        <c:axId val="-2113994440"/>
      </c:barChart>
      <c:barChart>
        <c:barDir val="col"/>
        <c:grouping val="clustered"/>
        <c:varyColors val="0"/>
        <c:ser>
          <c:idx val="1"/>
          <c:order val="1"/>
          <c:tx>
            <c:strRef>
              <c:strCache>
                <c:ptCount val="1"/>
                <c:pt idx="0">
                  <c:v>Volume (MT)</c:v>
                </c:pt>
              </c:strCache>
            </c:strRef>
          </c:tx>
          <c:spPr>
            <a:solidFill>
              <a:srgbClr val="C55A11"/>
            </a:solidFill>
            <a:ln>
              <a:noFill/>
            </a:ln>
          </c:spPr>
          <c:dLbls>
            <c:dLbl>
              <c:idx val="0"/>
              <c:numFmt formatCode="&quot;MMMMMMMMMMM&quot;;&quot;MMMMMMMMMMM&quot;;&quot;MM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MM&quot;;&quot;MMMMMMMMMMM&quot;;&quot;MM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MM&quot;;&quot;MMMMMMMMMMM&quot;;&quot;MM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MM&quot;;&quot;MMMMMMMMMMM&quot;;&quot;MM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MM&quot;;&quot;MMMMMMMMMMM&quot;;&quot;MM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MM&quot;;&quot;MMMMMMMMMMM&quot;;&quot;MM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MM&quot;;&quot;MMMMMMMMMMM&quot;;&quot;MM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MM&quot;;&quot;MMMMMMMMMMM&quot;;&quot;MM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MM&quot;;&quot;MMMMMMMMMMM&quot;;&quot;MM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MM&quot;;&quot;MMMMMMMMMMM&quot;;&quot;MM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MM&quot;;&quot;MMMMMMMMMMM&quot;;&quot;MM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2658536.588</c:v>
                </c:pt>
                <c:pt idx="1">
                  <c:v>2773574.218</c:v>
                </c:pt>
                <c:pt idx="2">
                  <c:v>2894088.133</c:v>
                </c:pt>
                <c:pt idx="3">
                  <c:v>3020358.4850000003</c:v>
                </c:pt>
                <c:pt idx="4">
                  <c:v>3152680.5429999996</c:v>
                </c:pt>
                <c:pt idx="5">
                  <c:v>3291365.5169999995</c:v>
                </c:pt>
                <c:pt idx="6">
                  <c:v>3436741.478</c:v>
                </c:pt>
                <c:pt idx="7">
                  <c:v>3589154.294</c:v>
                </c:pt>
                <c:pt idx="8">
                  <c:v>3748968.6399999997</c:v>
                </c:pt>
                <c:pt idx="9">
                  <c:v>3916569.054</c:v>
                </c:pt>
                <c:pt idx="10">
                  <c:v>4092361.058</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20940"/>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5803686"/>
          <c:min val="0"/>
        </c:scaling>
        <c:delete val="0"/>
        <c:axPos val="r"/>
        <c:numFmt formatCode="#,##0,,&quot;M&quot;"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0"/>
                <c:pt idx="0">
                  <c:v>China</c:v>
                </c:pt>
                <c:pt idx="1">
                  <c:v>Malaysia</c:v>
                </c:pt>
                <c:pt idx="2">
                  <c:v>Spain</c:v>
                </c:pt>
                <c:pt idx="3">
                  <c:v>Thailand</c:v>
                </c:pt>
                <c:pt idx="4">
                  <c:v>Brazil</c:v>
                </c:pt>
                <c:pt idx="5">
                  <c:v>France</c:v>
                </c:pt>
                <c:pt idx="6">
                  <c:v>Netherlands</c:v>
                </c:pt>
                <c:pt idx="7">
                  <c:v>Germany</c:v>
                </c:pt>
                <c:pt idx="8">
                  <c:v>Saudi Arabia</c:v>
                </c:pt>
                <c:pt idx="9">
                  <c:v>India</c:v>
                </c:pt>
              </c:strCache>
            </c:strRef>
          </c:cat>
          <c:val>
            <c:numRef>
              <c:numCache>
                <c:formatCode>General</c:formatCode>
                <c:ptCount val="10"/>
                <c:pt idx="0">
                  <c:v>101.59839916154326</c:v>
                </c:pt>
                <c:pt idx="1">
                  <c:v>105.94801046294018</c:v>
                </c:pt>
                <c:pt idx="2">
                  <c:v>114.39906564440756</c:v>
                </c:pt>
                <c:pt idx="3">
                  <c:v>118.03481530341912</c:v>
                </c:pt>
                <c:pt idx="4">
                  <c:v>118.56183533314837</c:v>
                </c:pt>
                <c:pt idx="5">
                  <c:v>122.97427328206352</c:v>
                </c:pt>
                <c:pt idx="6">
                  <c:v>127.69086905692264</c:v>
                </c:pt>
                <c:pt idx="7">
                  <c:v>131.04241477228211</c:v>
                </c:pt>
                <c:pt idx="8">
                  <c:v>131.4246376031995</c:v>
                </c:pt>
                <c:pt idx="9">
                  <c:v>135.41754590509254</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0"/>
                <c:pt idx="0">
                  <c:v>UAE</c:v>
                </c:pt>
                <c:pt idx="1">
                  <c:v>Japan</c:v>
                </c:pt>
                <c:pt idx="2">
                  <c:v>U.K.</c:v>
                </c:pt>
                <c:pt idx="3">
                  <c:v>France</c:v>
                </c:pt>
                <c:pt idx="4">
                  <c:v>Brazil</c:v>
                </c:pt>
                <c:pt idx="5">
                  <c:v>India</c:v>
                </c:pt>
                <c:pt idx="6">
                  <c:v>China</c:v>
                </c:pt>
                <c:pt idx="7">
                  <c:v>Canada</c:v>
                </c:pt>
                <c:pt idx="8">
                  <c:v>Germany</c:v>
                </c:pt>
                <c:pt idx="9">
                  <c:v>U.S.</c:v>
                </c:pt>
              </c:strCache>
            </c:strRef>
          </c:cat>
          <c:val>
            <c:numRef>
              <c:numCache>
                <c:formatCode>General</c:formatCode>
                <c:ptCount val="10"/>
                <c:pt idx="0">
                  <c:v>2.7732196393285005</c:v>
                </c:pt>
                <c:pt idx="1">
                  <c:v>3.0427686239255567</c:v>
                </c:pt>
                <c:pt idx="2">
                  <c:v>3.3640449526835807</c:v>
                </c:pt>
                <c:pt idx="3">
                  <c:v>3.7167725584759315</c:v>
                </c:pt>
                <c:pt idx="4">
                  <c:v>6.167459570939138</c:v>
                </c:pt>
                <c:pt idx="5">
                  <c:v>7.1686561218457285</c:v>
                </c:pt>
                <c:pt idx="6">
                  <c:v>7.648415917647619</c:v>
                </c:pt>
                <c:pt idx="7">
                  <c:v>9.150773156532267</c:v>
                </c:pt>
                <c:pt idx="8">
                  <c:v>14.278689868058036</c:v>
                </c:pt>
                <c:pt idx="9">
                  <c:v>16.50449951931991</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Lbls>
            <c:dLbl>
              <c:idx val="0"/>
              <c:layout>
                <c:manualLayout>
                  <c:x val="0.0350"/>
                  <c:y val="0.0000"/>
                </c:manualLayout>
              </c:layout>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Chewables</c:v>
                </c:pt>
                <c:pt idx="1">
                  <c:v>Tablets</c:v>
                </c:pt>
                <c:pt idx="2">
                  <c:v>Capsules and Softgels</c:v>
                </c:pt>
                <c:pt idx="3">
                  <c:v>Powders and Granules</c:v>
                </c:pt>
                <c:pt idx="4">
                  <c:v>Liquids</c:v>
                </c:pt>
                <c:pt idx="5">
                  <c:v>Gels and Pastes</c:v>
                </c:pt>
              </c:strCache>
            </c:strRef>
          </c:cat>
          <c:val>
            <c:numRef>
              <c:numCache>
                <c:formatCode>General</c:formatCode>
                <c:ptCount val="6"/>
                <c:pt idx="0">
                  <c:v>3309.639</c:v>
                </c:pt>
                <c:pt idx="1">
                  <c:v>3744.498</c:v>
                </c:pt>
                <c:pt idx="2">
                  <c:v>6678.809</c:v>
                </c:pt>
                <c:pt idx="3">
                  <c:v>803.258</c:v>
                </c:pt>
                <c:pt idx="4">
                  <c:v>1375.533</c:v>
                </c:pt>
                <c:pt idx="5">
                  <c:v>1833.772</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0.06296130037287159</c:v>
                </c:pt>
                <c:pt idx="1">
                  <c:v>0.061291300372871595</c:v>
                </c:pt>
                <c:pt idx="2">
                  <c:v>0.0606213003728716</c:v>
                </c:pt>
                <c:pt idx="3">
                  <c:v>0.061291300372871595</c:v>
                </c:pt>
                <c:pt idx="4">
                  <c:v>0.06329130037287159</c:v>
                </c:pt>
                <c:pt idx="5">
                  <c:v>0.0639613003728716</c:v>
                </c:pt>
                <c:pt idx="6">
                  <c:v>0.06329130037287159</c:v>
                </c:pt>
                <c:pt idx="7">
                  <c:v>0.0612613003728716</c:v>
                </c:pt>
                <c:pt idx="8">
                  <c:v>0.0603713003728716</c:v>
                </c:pt>
                <c:pt idx="9">
                  <c:v>0.059391300372871596</c:v>
                </c:pt>
                <c:pt idx="10">
                  <c:v>0.0582213003728716</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0.043829186923873095</c:v>
                </c:pt>
                <c:pt idx="1">
                  <c:v>0.04462445432263921</c:v>
                </c:pt>
                <c:pt idx="2">
                  <c:v>0.04541448969904502</c:v>
                </c:pt>
                <c:pt idx="3">
                  <c:v>0.046037100359921125</c:v>
                </c:pt>
                <c:pt idx="4">
                  <c:v>0.04782645200714488</c:v>
                </c:pt>
                <c:pt idx="5">
                  <c:v>0.049458842983559535</c:v>
                </c:pt>
                <c:pt idx="6">
                  <c:v>0.05065697610406902</c:v>
                </c:pt>
                <c:pt idx="7">
                  <c:v>0.05200160585066699</c:v>
                </c:pt>
                <c:pt idx="8">
                  <c:v>0.05274455302583007</c:v>
                </c:pt>
                <c:pt idx="9">
                  <c:v>0.053450876044471025</c:v>
                </c:pt>
                <c:pt idx="10">
                  <c:v>0.05478504174634839</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0.03125782588264232</c:v>
                </c:pt>
                <c:pt idx="1">
                  <c:v>0.03190368271107239</c:v>
                </c:pt>
                <c:pt idx="2">
                  <c:v>0.03333067719010369</c:v>
                </c:pt>
                <c:pt idx="3">
                  <c:v>0.03476639946411378</c:v>
                </c:pt>
                <c:pt idx="4">
                  <c:v>0.03631121917535868</c:v>
                </c:pt>
                <c:pt idx="5">
                  <c:v>0.03731927949540831</c:v>
                </c:pt>
                <c:pt idx="6">
                  <c:v>0.03796077242634899</c:v>
                </c:pt>
                <c:pt idx="7">
                  <c:v>0.03934412793048637</c:v>
                </c:pt>
                <c:pt idx="8">
                  <c:v>0.039933254091554335</c:v>
                </c:pt>
                <c:pt idx="9">
                  <c:v>0.041438798725394695</c:v>
                </c:pt>
                <c:pt idx="10">
                  <c:v>0.04207592775884598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6D5E1"/>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6D5E1"/>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South Asia &amp; Pacific</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19.469178018324122</c:v>
                </c:pt>
                <c:pt idx="1">
                  <c:v>22.36165252846075</c:v>
                </c:pt>
              </c:numCache>
            </c:numRef>
          </c:val>
        </c:ser>
        <c:ser>
          <c:idx val="1"/>
          <c:order val="1"/>
          <c:tx>
            <c:strRef>
              <c:strCache>
                <c:ptCount val="1"/>
                <c:pt idx="0">
                  <c:v>Europe</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22.160651602813303</c:v>
                </c:pt>
                <c:pt idx="1">
                  <c:v>21.895319042008143</c:v>
                </c:pt>
              </c:numCache>
            </c:numRef>
          </c:val>
        </c:ser>
        <c:ser>
          <c:idx val="2"/>
          <c:order val="2"/>
          <c:tx>
            <c:strRef>
              <c:strCache>
                <c:ptCount val="1"/>
                <c:pt idx="0">
                  <c:v>North America</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24.127871810955874</c:v>
                </c:pt>
                <c:pt idx="1">
                  <c:v>20.233050218805985</c:v>
                </c:pt>
              </c:numCache>
            </c:numRef>
          </c:val>
        </c:ser>
        <c:ser>
          <c:idx val="3"/>
          <c:order val="3"/>
          <c:tx>
            <c:strRef>
              <c:strCache>
                <c:ptCount val="1"/>
                <c:pt idx="0">
                  <c:v>East Asia</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18.297036203889178</c:v>
                </c:pt>
                <c:pt idx="1">
                  <c:v>18.97507289788114</c:v>
                </c:pt>
              </c:numCache>
            </c:numRef>
          </c:val>
        </c:ser>
        <c:ser>
          <c:idx val="4"/>
          <c:order val="4"/>
          <c:tx>
            <c:strRef>
              <c:strCache>
                <c:ptCount val="1"/>
                <c:pt idx="0">
                  <c:v>Latin America</c:v>
                </c:pt>
              </c:strCache>
            </c:strRef>
          </c:tx>
          <c:spPr>
            <a:solidFill>
              <a:srgbClr val="A35313"/>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8.332804032110618</c:v>
                </c:pt>
                <c:pt idx="1">
                  <c:v>8.906388557468285</c:v>
                </c:pt>
              </c:numCache>
            </c:numRef>
          </c:val>
        </c:ser>
        <c:ser>
          <c:idx val="5"/>
          <c:order val="5"/>
          <c:tx>
            <c:strRef>
              <c:strCache>
                <c:ptCount val="1"/>
                <c:pt idx="0">
                  <c:v>Middle East &amp; Africa</c:v>
                </c:pt>
              </c:strCache>
            </c:strRef>
          </c:tx>
          <c:spPr>
            <a:solidFill>
              <a:srgbClr val="808080"/>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7.612458331906923</c:v>
                </c:pt>
                <c:pt idx="1">
                  <c:v>7.628516755375693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North America</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33.0</c:v>
                </c:pt>
                <c:pt idx="1">
                  <c:v>30.166697388054644</c:v>
                </c:pt>
              </c:numCache>
            </c:numRef>
          </c:val>
        </c:ser>
        <c:ser>
          <c:idx val="1"/>
          <c:order val="1"/>
          <c:tx>
            <c:strRef>
              <c:strCache>
                <c:ptCount val="1"/>
                <c:pt idx="0">
                  <c:v>Europe</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27.000009174311927</c:v>
                </c:pt>
                <c:pt idx="1">
                  <c:v>28.49338951055166</c:v>
                </c:pt>
              </c:numCache>
            </c:numRef>
          </c:val>
        </c:ser>
        <c:ser>
          <c:idx val="2"/>
          <c:order val="2"/>
          <c:tx>
            <c:strRef>
              <c:strCache>
                <c:ptCount val="1"/>
                <c:pt idx="0">
                  <c:v>South Asia &amp; Pacific</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11.999990825688075</c:v>
                </c:pt>
                <c:pt idx="1">
                  <c:v>13.041784262147683</c:v>
                </c:pt>
              </c:numCache>
            </c:numRef>
          </c:val>
        </c:ser>
        <c:ser>
          <c:idx val="3"/>
          <c:order val="3"/>
          <c:tx>
            <c:strRef>
              <c:strCache>
                <c:ptCount val="1"/>
                <c:pt idx="0">
                  <c:v>East Asia</c:v>
                </c:pt>
              </c:strCache>
            </c:strRef>
          </c:tx>
          <c:spPr>
            <a:solidFill>
              <a:srgbClr val="40315E"/>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13.000009174311927</c:v>
                </c:pt>
                <c:pt idx="1">
                  <c:v>12.755469566976075</c:v>
                </c:pt>
              </c:numCache>
            </c:numRef>
          </c:val>
        </c:ser>
        <c:ser>
          <c:idx val="4"/>
          <c:order val="4"/>
          <c:tx>
            <c:strRef>
              <c:strCache>
                <c:ptCount val="1"/>
                <c:pt idx="0">
                  <c:v>Latin America</c:v>
                </c:pt>
              </c:strCache>
            </c:strRef>
          </c:tx>
          <c:spPr>
            <a:solidFill>
              <a:srgbClr val="A35313"/>
            </a:solidFill>
            <a:ln>
              <a:noFill/>
            </a:ln>
          </c:spPr>
          <c:dLbls>
            <c:dLbl>
              <c:idx val="0"/>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7.999990825688073</c:v>
                </c:pt>
                <c:pt idx="1">
                  <c:v>8.60414880181797</c:v>
                </c:pt>
              </c:numCache>
            </c:numRef>
          </c:val>
        </c:ser>
        <c:ser>
          <c:idx val="5"/>
          <c:order val="5"/>
          <c:tx>
            <c:strRef>
              <c:strCache>
                <c:ptCount val="1"/>
                <c:pt idx="0">
                  <c:v>Middle East &amp; Africa</c:v>
                </c:pt>
              </c:strCache>
            </c:strRef>
          </c:tx>
          <c:spPr>
            <a:solidFill>
              <a:srgbClr val="808080"/>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7.000000000000001</c:v>
                </c:pt>
                <c:pt idx="1">
                  <c:v>6.938510470451989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586928.854</c:v>
                </c:pt>
                <c:pt idx="1">
                  <c:v>597441.504</c:v>
                </c:pt>
                <c:pt idx="2">
                  <c:v>608146.159</c:v>
                </c:pt>
                <c:pt idx="3">
                  <c:v>619046.399</c:v>
                </c:pt>
                <c:pt idx="4">
                  <c:v>630145.873</c:v>
                </c:pt>
                <c:pt idx="5">
                  <c:v>641448.3</c:v>
                </c:pt>
                <c:pt idx="6">
                  <c:v>658017.042</c:v>
                </c:pt>
                <c:pt idx="7">
                  <c:v>675017.838</c:v>
                </c:pt>
                <c:pt idx="8">
                  <c:v>692462.069</c:v>
                </c:pt>
                <c:pt idx="9">
                  <c:v>710361.418</c:v>
                </c:pt>
                <c:pt idx="10">
                  <c:v>728727.877</c:v>
                </c:pt>
                <c:pt idx="11">
                  <c:v>747573.762</c:v>
                </c:pt>
                <c:pt idx="12">
                  <c:v>766911.711</c:v>
                </c:pt>
                <c:pt idx="13">
                  <c:v>786754.704</c:v>
                </c:pt>
                <c:pt idx="14">
                  <c:v>807116.063</c:v>
                </c:pt>
                <c:pt idx="15">
                  <c:v>828009.468</c:v>
                </c:pt>
              </c:numCache>
            </c:numRef>
          </c:val>
        </c:ser>
        <c:ser>
          <c:idx val="1"/>
          <c:order val="1"/>
          <c:tx>
            <c:strRef>
              <c:strCache>
                <c:ptCount val="1"/>
                <c:pt idx="0">
                  <c:v>Europe</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498307.835</c:v>
                </c:pt>
                <c:pt idx="1">
                  <c:v>515161.67</c:v>
                </c:pt>
                <c:pt idx="2">
                  <c:v>532647.033</c:v>
                </c:pt>
                <c:pt idx="3">
                  <c:v>550789.075</c:v>
                </c:pt>
                <c:pt idx="4">
                  <c:v>569613.986</c:v>
                </c:pt>
                <c:pt idx="5">
                  <c:v>589149.031</c:v>
                </c:pt>
                <c:pt idx="6">
                  <c:v>614079.24</c:v>
                </c:pt>
                <c:pt idx="7">
                  <c:v>640134.789</c:v>
                </c:pt>
                <c:pt idx="8">
                  <c:v>667368.759</c:v>
                </c:pt>
                <c:pt idx="9">
                  <c:v>695836.807</c:v>
                </c:pt>
                <c:pt idx="10">
                  <c:v>725597.295</c:v>
                </c:pt>
                <c:pt idx="11">
                  <c:v>756711.417</c:v>
                </c:pt>
                <c:pt idx="12">
                  <c:v>789243.351</c:v>
                </c:pt>
                <c:pt idx="13">
                  <c:v>823260.386</c:v>
                </c:pt>
                <c:pt idx="14">
                  <c:v>858833.102</c:v>
                </c:pt>
                <c:pt idx="15">
                  <c:v>896035.51</c:v>
                </c:pt>
              </c:numCache>
            </c:numRef>
          </c:val>
        </c:ser>
        <c:ser>
          <c:idx val="2"/>
          <c:order val="2"/>
          <c:tx>
            <c:strRef>
              <c:strCache>
                <c:ptCount val="1"/>
                <c:pt idx="0">
                  <c:v>South Asia &amp; Pacific</c:v>
                </c:pt>
              </c:strCache>
            </c:strRef>
          </c:tx>
          <c:spPr>
            <a:solidFill>
              <a:srgbClr val="008189"/>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405771.481</c:v>
                </c:pt>
                <c:pt idx="1">
                  <c:v>425928.268</c:v>
                </c:pt>
                <c:pt idx="2">
                  <c:v>447131.372</c:v>
                </c:pt>
                <c:pt idx="3">
                  <c:v>469436.901</c:v>
                </c:pt>
                <c:pt idx="4">
                  <c:v>492904.038</c:v>
                </c:pt>
                <c:pt idx="5">
                  <c:v>517595.221</c:v>
                </c:pt>
                <c:pt idx="6">
                  <c:v>547717.686</c:v>
                </c:pt>
                <c:pt idx="7">
                  <c:v>579648.443</c:v>
                </c:pt>
                <c:pt idx="8">
                  <c:v>613498.706</c:v>
                </c:pt>
                <c:pt idx="9">
                  <c:v>649386.651</c:v>
                </c:pt>
                <c:pt idx="10">
                  <c:v>687437.872</c:v>
                </c:pt>
                <c:pt idx="11">
                  <c:v>727785.84</c:v>
                </c:pt>
                <c:pt idx="12">
                  <c:v>770572.413</c:v>
                </c:pt>
                <c:pt idx="13">
                  <c:v>815948.367</c:v>
                </c:pt>
                <c:pt idx="14">
                  <c:v>864073.965</c:v>
                </c:pt>
                <c:pt idx="15">
                  <c:v>915119.56</c:v>
                </c:pt>
              </c:numCache>
            </c:numRef>
          </c:val>
        </c:ser>
        <c:ser>
          <c:idx val="3"/>
          <c:order val="3"/>
          <c:tx>
            <c:strRef>
              <c:strCache>
                <c:ptCount val="1"/>
                <c:pt idx="0">
                  <c:v>East Asia</c:v>
                </c:pt>
              </c:strCache>
            </c:strRef>
          </c:tx>
          <c:spPr>
            <a:solidFill>
              <a:srgbClr val="40315E"/>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400333.859</c:v>
                </c:pt>
                <c:pt idx="1">
                  <c:v>416221.528</c:v>
                </c:pt>
                <c:pt idx="2">
                  <c:v>432748.721</c:v>
                </c:pt>
                <c:pt idx="3">
                  <c:v>449941.493</c:v>
                </c:pt>
                <c:pt idx="4">
                  <c:v>467826.972</c:v>
                </c:pt>
                <c:pt idx="5">
                  <c:v>486433.402</c:v>
                </c:pt>
                <c:pt idx="6">
                  <c:v>509680.395</c:v>
                </c:pt>
                <c:pt idx="7">
                  <c:v>534049.126</c:v>
                </c:pt>
                <c:pt idx="8">
                  <c:v>559594.179</c:v>
                </c:pt>
                <c:pt idx="9">
                  <c:v>586372.82</c:v>
                </c:pt>
                <c:pt idx="10">
                  <c:v>614445.115</c:v>
                </c:pt>
                <c:pt idx="11">
                  <c:v>643874.084</c:v>
                </c:pt>
                <c:pt idx="12">
                  <c:v>674725.833</c:v>
                </c:pt>
                <c:pt idx="13">
                  <c:v>707069.717</c:v>
                </c:pt>
                <c:pt idx="14">
                  <c:v>740978.494</c:v>
                </c:pt>
                <c:pt idx="15">
                  <c:v>776528.494</c:v>
                </c:pt>
              </c:numCache>
            </c:numRef>
          </c:val>
        </c:ser>
        <c:ser>
          <c:idx val="4"/>
          <c:order val="4"/>
          <c:tx>
            <c:strRef>
              <c:strCache>
                <c:ptCount val="1"/>
                <c:pt idx="0">
                  <c:v>Latin America</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179564.007</c:v>
                </c:pt>
                <c:pt idx="1">
                  <c:v>187257.788</c:v>
                </c:pt>
                <c:pt idx="2">
                  <c:v>195286.234</c:v>
                </c:pt>
                <c:pt idx="3">
                  <c:v>203664.12</c:v>
                </c:pt>
                <c:pt idx="4">
                  <c:v>212406.881</c:v>
                </c:pt>
                <c:pt idx="5">
                  <c:v>221530.644</c:v>
                </c:pt>
                <c:pt idx="6">
                  <c:v>232813.541</c:v>
                </c:pt>
                <c:pt idx="7">
                  <c:v>244677.308</c:v>
                </c:pt>
                <c:pt idx="8">
                  <c:v>257152.17</c:v>
                </c:pt>
                <c:pt idx="9">
                  <c:v>270269.939</c:v>
                </c:pt>
                <c:pt idx="10">
                  <c:v>284064.102</c:v>
                </c:pt>
                <c:pt idx="11">
                  <c:v>298569.906</c:v>
                </c:pt>
                <c:pt idx="12">
                  <c:v>313824.455</c:v>
                </c:pt>
                <c:pt idx="13">
                  <c:v>329866.809</c:v>
                </c:pt>
                <c:pt idx="14">
                  <c:v>346738.088</c:v>
                </c:pt>
                <c:pt idx="15">
                  <c:v>364481.577</c:v>
                </c:pt>
              </c:numCache>
            </c:numRef>
          </c:val>
        </c:ser>
        <c:ser>
          <c:idx val="5"/>
          <c:order val="5"/>
          <c:tx>
            <c:strRef>
              <c:strCache>
                <c:ptCount val="1"/>
                <c:pt idx="0">
                  <c:v>Middle East &amp; Africa</c:v>
                </c:pt>
              </c:strCache>
            </c:strRef>
          </c:tx>
          <c:spPr>
            <a:solidFill>
              <a:srgbClr val="808080"/>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169827.183</c:v>
                </c:pt>
                <c:pt idx="1">
                  <c:v>175861.604</c:v>
                </c:pt>
                <c:pt idx="2">
                  <c:v>182124.601</c:v>
                </c:pt>
                <c:pt idx="3">
                  <c:v>188625.461</c:v>
                </c:pt>
                <c:pt idx="4">
                  <c:v>195373.886</c:v>
                </c:pt>
                <c:pt idx="5">
                  <c:v>202379.99</c:v>
                </c:pt>
                <c:pt idx="6">
                  <c:v>211266.314</c:v>
                </c:pt>
                <c:pt idx="7">
                  <c:v>220560.629</c:v>
                </c:pt>
                <c:pt idx="8">
                  <c:v>230282.602</c:v>
                </c:pt>
                <c:pt idx="9">
                  <c:v>240452.908</c:v>
                </c:pt>
                <c:pt idx="10">
                  <c:v>251093.256</c:v>
                </c:pt>
                <c:pt idx="11">
                  <c:v>262226.469</c:v>
                </c:pt>
                <c:pt idx="12">
                  <c:v>273876.531</c:v>
                </c:pt>
                <c:pt idx="13">
                  <c:v>286068.657</c:v>
                </c:pt>
                <c:pt idx="14">
                  <c:v>298829.342</c:v>
                </c:pt>
                <c:pt idx="15">
                  <c:v>312186.449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3065.726</c:v>
                </c:pt>
                <c:pt idx="1">
                  <c:v>3165.233</c:v>
                </c:pt>
                <c:pt idx="2">
                  <c:v>3268.003</c:v>
                </c:pt>
                <c:pt idx="3">
                  <c:v>3374.146</c:v>
                </c:pt>
                <c:pt idx="4">
                  <c:v>3483.774</c:v>
                </c:pt>
                <c:pt idx="5">
                  <c:v>3597.0</c:v>
                </c:pt>
                <c:pt idx="6">
                  <c:v>3742.722</c:v>
                </c:pt>
                <c:pt idx="7">
                  <c:v>3894.387</c:v>
                </c:pt>
                <c:pt idx="8">
                  <c:v>4052.241</c:v>
                </c:pt>
                <c:pt idx="9">
                  <c:v>4216.537</c:v>
                </c:pt>
                <c:pt idx="10">
                  <c:v>4387.542</c:v>
                </c:pt>
                <c:pt idx="11">
                  <c:v>4565.529</c:v>
                </c:pt>
                <c:pt idx="12">
                  <c:v>4750.786</c:v>
                </c:pt>
                <c:pt idx="13">
                  <c:v>4943.613</c:v>
                </c:pt>
                <c:pt idx="14">
                  <c:v>5144.321</c:v>
                </c:pt>
                <c:pt idx="15">
                  <c:v>5353.234</c:v>
                </c:pt>
              </c:numCache>
            </c:numRef>
          </c:val>
        </c:ser>
        <c:ser>
          <c:idx val="1"/>
          <c:order val="1"/>
          <c:tx>
            <c:strRef>
              <c:strCache>
                <c:ptCount val="1"/>
                <c:pt idx="0">
                  <c:v>Europe</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2342.875</c:v>
                </c:pt>
                <c:pt idx="1">
                  <c:v>2451.597</c:v>
                </c:pt>
                <c:pt idx="2">
                  <c:v>2565.686</c:v>
                </c:pt>
                <c:pt idx="3">
                  <c:v>2685.419</c:v>
                </c:pt>
                <c:pt idx="4">
                  <c:v>2811.088</c:v>
                </c:pt>
                <c:pt idx="5">
                  <c:v>2943.001</c:v>
                </c:pt>
                <c:pt idx="6">
                  <c:v>3105.025</c:v>
                </c:pt>
                <c:pt idx="7">
                  <c:v>3276.359</c:v>
                </c:pt>
                <c:pt idx="8">
                  <c:v>3457.56</c:v>
                </c:pt>
                <c:pt idx="9">
                  <c:v>3649.214</c:v>
                </c:pt>
                <c:pt idx="10">
                  <c:v>3851.941</c:v>
                </c:pt>
                <c:pt idx="11">
                  <c:v>4066.408</c:v>
                </c:pt>
                <c:pt idx="12">
                  <c:v>4293.309</c:v>
                </c:pt>
                <c:pt idx="13">
                  <c:v>4533.39</c:v>
                </c:pt>
                <c:pt idx="14">
                  <c:v>4787.442</c:v>
                </c:pt>
                <c:pt idx="15">
                  <c:v>5056.297</c:v>
                </c:pt>
              </c:numCache>
            </c:numRef>
          </c:val>
        </c:ser>
        <c:ser>
          <c:idx val="2"/>
          <c:order val="2"/>
          <c:tx>
            <c:strRef>
              <c:strCache>
                <c:ptCount val="1"/>
                <c:pt idx="0">
                  <c:v>East Asia</c:v>
                </c:pt>
              </c:strCache>
            </c:strRef>
          </c:tx>
          <c:spPr>
            <a:solidFill>
              <a:srgbClr val="008189"/>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1165.472</c:v>
                </c:pt>
                <c:pt idx="1">
                  <c:v>1211.894</c:v>
                </c:pt>
                <c:pt idx="2">
                  <c:v>1260.181</c:v>
                </c:pt>
                <c:pt idx="3">
                  <c:v>1310.408</c:v>
                </c:pt>
                <c:pt idx="4">
                  <c:v>1362.653</c:v>
                </c:pt>
                <c:pt idx="5">
                  <c:v>1417.001</c:v>
                </c:pt>
                <c:pt idx="6">
                  <c:v>1484.868</c:v>
                </c:pt>
                <c:pt idx="7">
                  <c:v>1556.006</c:v>
                </c:pt>
                <c:pt idx="8">
                  <c:v>1630.571</c:v>
                </c:pt>
                <c:pt idx="9">
                  <c:v>1708.73</c:v>
                </c:pt>
                <c:pt idx="10">
                  <c:v>1790.657</c:v>
                </c:pt>
                <c:pt idx="11">
                  <c:v>1876.535</c:v>
                </c:pt>
                <c:pt idx="12">
                  <c:v>1966.555</c:v>
                </c:pt>
                <c:pt idx="13">
                  <c:v>2060.917</c:v>
                </c:pt>
                <c:pt idx="14">
                  <c:v>2159.833</c:v>
                </c:pt>
                <c:pt idx="15">
                  <c:v>2263.523</c:v>
                </c:pt>
              </c:numCache>
            </c:numRef>
          </c:val>
        </c:ser>
        <c:ser>
          <c:idx val="3"/>
          <c:order val="3"/>
          <c:tx>
            <c:strRef>
              <c:strCache>
                <c:ptCount val="1"/>
                <c:pt idx="0">
                  <c:v>South Asia &amp; Pacific</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1025.065</c:v>
                </c:pt>
                <c:pt idx="1">
                  <c:v>1076.053</c:v>
                </c:pt>
                <c:pt idx="2">
                  <c:v>1129.694</c:v>
                </c:pt>
                <c:pt idx="3">
                  <c:v>1186.133</c:v>
                </c:pt>
                <c:pt idx="4">
                  <c:v>1245.514</c:v>
                </c:pt>
                <c:pt idx="5">
                  <c:v>1307.999</c:v>
                </c:pt>
                <c:pt idx="6">
                  <c:v>1384.22</c:v>
                </c:pt>
                <c:pt idx="7">
                  <c:v>1465.025</c:v>
                </c:pt>
                <c:pt idx="8">
                  <c:v>1550.696</c:v>
                </c:pt>
                <c:pt idx="9">
                  <c:v>1641.528</c:v>
                </c:pt>
                <c:pt idx="10">
                  <c:v>1737.848</c:v>
                </c:pt>
                <c:pt idx="11">
                  <c:v>1839.989</c:v>
                </c:pt>
                <c:pt idx="12">
                  <c:v>1948.315</c:v>
                </c:pt>
                <c:pt idx="13">
                  <c:v>2063.203</c:v>
                </c:pt>
                <c:pt idx="14">
                  <c:v>2185.064</c:v>
                </c:pt>
                <c:pt idx="15">
                  <c:v>2314.331</c:v>
                </c:pt>
              </c:numCache>
            </c:numRef>
          </c:val>
        </c:ser>
        <c:ser>
          <c:idx val="4"/>
          <c:order val="4"/>
          <c:tx>
            <c:strRef>
              <c:strCache>
                <c:ptCount val="1"/>
                <c:pt idx="0">
                  <c:v>Latin America</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685.04</c:v>
                </c:pt>
                <c:pt idx="1">
                  <c:v>718.882</c:v>
                </c:pt>
                <c:pt idx="2">
                  <c:v>754.41</c:v>
                </c:pt>
                <c:pt idx="3">
                  <c:v>791.714</c:v>
                </c:pt>
                <c:pt idx="4">
                  <c:v>830.878</c:v>
                </c:pt>
                <c:pt idx="5">
                  <c:v>871.999</c:v>
                </c:pt>
                <c:pt idx="6">
                  <c:v>922.153</c:v>
                </c:pt>
                <c:pt idx="7">
                  <c:v>975.211</c:v>
                </c:pt>
                <c:pt idx="8">
                  <c:v>1031.343</c:v>
                </c:pt>
                <c:pt idx="9">
                  <c:v>1090.731</c:v>
                </c:pt>
                <c:pt idx="10">
                  <c:v>1153.561</c:v>
                </c:pt>
                <c:pt idx="11">
                  <c:v>1220.038</c:v>
                </c:pt>
                <c:pt idx="12">
                  <c:v>1290.373</c:v>
                </c:pt>
                <c:pt idx="13">
                  <c:v>1364.792</c:v>
                </c:pt>
                <c:pt idx="14">
                  <c:v>1443.534</c:v>
                </c:pt>
                <c:pt idx="15">
                  <c:v>1526.85</c:v>
                </c:pt>
              </c:numCache>
            </c:numRef>
          </c:val>
        </c:ser>
        <c:ser>
          <c:idx val="5"/>
          <c:order val="5"/>
          <c:tx>
            <c:strRef>
              <c:strCache>
                <c:ptCount val="1"/>
                <c:pt idx="0">
                  <c:v>Middle East &amp; Africa</c:v>
                </c:pt>
              </c:strCache>
            </c:strRef>
          </c:tx>
          <c:spPr>
            <a:solidFill>
              <a:srgbClr val="808080"/>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626.024</c:v>
                </c:pt>
                <c:pt idx="1">
                  <c:v>651.193</c:v>
                </c:pt>
                <c:pt idx="2">
                  <c:v>677.423</c:v>
                </c:pt>
                <c:pt idx="3">
                  <c:v>704.769</c:v>
                </c:pt>
                <c:pt idx="4">
                  <c:v>733.277</c:v>
                </c:pt>
                <c:pt idx="5">
                  <c:v>763.0</c:v>
                </c:pt>
                <c:pt idx="6">
                  <c:v>800.098</c:v>
                </c:pt>
                <c:pt idx="7">
                  <c:v>839.068</c:v>
                </c:pt>
                <c:pt idx="8">
                  <c:v>880.011</c:v>
                </c:pt>
                <c:pt idx="9">
                  <c:v>923.027</c:v>
                </c:pt>
                <c:pt idx="10">
                  <c:v>968.228</c:v>
                </c:pt>
                <c:pt idx="11">
                  <c:v>1015.729</c:v>
                </c:pt>
                <c:pt idx="12">
                  <c:v>1065.653</c:v>
                </c:pt>
                <c:pt idx="13">
                  <c:v>1118.126</c:v>
                </c:pt>
                <c:pt idx="14">
                  <c:v>1173.284</c:v>
                </c:pt>
                <c:pt idx="15">
                  <c:v>1231.274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Chewables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18.048785241952643</c:v>
                </c:pt>
                <c:pt idx="1">
                  <c:v>16.945344991322006</c:v>
                </c:pt>
                <c:pt idx="2">
                  <c:v>16.8924283075542</c:v>
                </c:pt>
                <c:pt idx="3">
                  <c:v>19.322992259966266</c:v>
                </c:pt>
                <c:pt idx="4">
                  <c:v>18.759993726634335</c:v>
                </c:pt>
                <c:pt idx="5">
                  <c:v>19.62469789289988</c:v>
                </c:pt>
              </c:numCache>
            </c:numRef>
          </c:val>
        </c:ser>
        <c:ser>
          <c:idx val="1"/>
          <c:order val="1"/>
          <c:tx>
            <c:strRef>
              <c:strCache>
                <c:ptCount val="1"/>
                <c:pt idx="0">
                  <c:v>Tablets</c:v>
                </c:pt>
              </c:strCache>
            </c:strRef>
          </c:tx>
          <c:spPr>
            <a:solidFill>
              <a:srgbClr val="9E7E0A"/>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20.106247675172217</c:v>
                </c:pt>
                <c:pt idx="1">
                  <c:v>23.184071781772932</c:v>
                </c:pt>
                <c:pt idx="2">
                  <c:v>21.954139631008836</c:v>
                </c:pt>
                <c:pt idx="3">
                  <c:v>23.941994468379846</c:v>
                </c:pt>
                <c:pt idx="4">
                  <c:v>20.724751730367107</c:v>
                </c:pt>
                <c:pt idx="5">
                  <c:v>19.502416669997984</c:v>
                </c:pt>
              </c:numCache>
            </c:numRef>
          </c:val>
        </c:ser>
        <c:ser>
          <c:idx val="2"/>
          <c:order val="2"/>
          <c:tx>
            <c:strRef>
              <c:strCache>
                <c:ptCount val="1"/>
                <c:pt idx="0">
                  <c:v>Capsules and Softgels</c:v>
                </c:pt>
              </c:strCache>
            </c:strRef>
          </c:tx>
          <c:spPr>
            <a:solidFill>
              <a:srgbClr val="008189"/>
            </a:solidFill>
            <a:ln>
              <a:noFill/>
            </a:ln>
          </c:spPr>
          <c:dLbls>
            <c:dLbl>
              <c:idx val="0"/>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36.87871261798754</c:v>
                </c:pt>
                <c:pt idx="1">
                  <c:v>37.608540459115176</c:v>
                </c:pt>
                <c:pt idx="2">
                  <c:v>36.24027677209377</c:v>
                </c:pt>
                <c:pt idx="3">
                  <c:v>33.251769085753075</c:v>
                </c:pt>
                <c:pt idx="4">
                  <c:v>36.92546145924577</c:v>
                </c:pt>
                <c:pt idx="5">
                  <c:v>40.97674415129247</c:v>
                </c:pt>
              </c:numCache>
            </c:numRef>
          </c:val>
        </c:ser>
        <c:ser>
          <c:idx val="3"/>
          <c:order val="3"/>
          <c:tx>
            <c:strRef>
              <c:strCache>
                <c:ptCount val="1"/>
                <c:pt idx="0">
                  <c:v>Powders and Granules</c:v>
                </c:pt>
              </c:strCache>
            </c:strRef>
          </c:tx>
          <c:spPr>
            <a:solidFill>
              <a:srgbClr val="40315E"/>
            </a:solidFill>
            <a:ln>
              <a:noFill/>
            </a:ln>
          </c:spPr>
          <c:dLbls>
            <c:dLbl>
              <c:idx val="0"/>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5.113808949104748</c:v>
                </c:pt>
                <c:pt idx="1">
                  <c:v>4.1488030913318275</c:v>
                </c:pt>
                <c:pt idx="2">
                  <c:v>5.598485193214295</c:v>
                </c:pt>
                <c:pt idx="3">
                  <c:v>5.180762820875665</c:v>
                </c:pt>
                <c:pt idx="4">
                  <c:v>4.609578907251691</c:v>
                </c:pt>
                <c:pt idx="5">
                  <c:v>3.6846885452793576</c:v>
                </c:pt>
              </c:numCache>
            </c:numRef>
          </c:val>
        </c:ser>
        <c:ser>
          <c:idx val="4"/>
          <c:order val="4"/>
          <c:tx>
            <c:strRef>
              <c:strCache>
                <c:ptCount val="1"/>
                <c:pt idx="0">
                  <c:v>Liquids</c:v>
                </c:pt>
              </c:strCache>
            </c:strRef>
          </c:tx>
          <c:spPr>
            <a:solidFill>
              <a:srgbClr val="A35313"/>
            </a:solidFill>
            <a:ln>
              <a:noFill/>
            </a:ln>
          </c:spPr>
          <c:dLbls>
            <c:dLbl>
              <c:idx val="0"/>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8.732012533359756</c:v>
                </c:pt>
                <c:pt idx="1">
                  <c:v>7.586730851098668</c:v>
                </c:pt>
                <c:pt idx="2">
                  <c:v>9.245057372953578</c:v>
                </c:pt>
                <c:pt idx="3">
                  <c:v>8.012941968975051</c:v>
                </c:pt>
                <c:pt idx="4">
                  <c:v>7.552800003639028</c:v>
                </c:pt>
                <c:pt idx="5">
                  <c:v>7.015908514367202</c:v>
                </c:pt>
              </c:numCache>
            </c:numRef>
          </c:val>
        </c:ser>
        <c:ser>
          <c:idx val="5"/>
          <c:order val="5"/>
          <c:tx>
            <c:strRef>
              <c:strCache>
                <c:ptCount val="1"/>
                <c:pt idx="0">
                  <c:v>Gels and Pastes</c:v>
                </c:pt>
              </c:strCache>
            </c:strRef>
          </c:tx>
          <c:spPr>
            <a:solidFill>
              <a:srgbClr val="808080"/>
            </a:solidFill>
            <a:ln>
              <a:noFill/>
            </a:ln>
          </c:spPr>
          <c:dLbls>
            <c:dLbl>
              <c:idx val="0"/>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11.120432982423083</c:v>
                </c:pt>
                <c:pt idx="1">
                  <c:v>10.5265088253594</c:v>
                </c:pt>
                <c:pt idx="2">
                  <c:v>10.069612723175334</c:v>
                </c:pt>
                <c:pt idx="3">
                  <c:v>10.289539396050088</c:v>
                </c:pt>
                <c:pt idx="4">
                  <c:v>11.427414172862077</c:v>
                </c:pt>
                <c:pt idx="5">
                  <c:v>9.1955442261631</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Chewables</c:v>
                </c:pt>
              </c:strCache>
            </c:strRef>
          </c:tx>
          <c:spPr>
            <a:solidFill>
              <a:srgbClr val="3D85C6"/>
            </a:solidFill>
          </c:spPr>
          <c:invertIfNegative val="0"/>
          <c:xVal>
            <c:numRef>
              <c:numCache>
                <c:formatCode>General</c:formatCode>
                <c:ptCount val="1"/>
                <c:pt idx="0">
                  <c:v>128.15582401819333</c:v>
                </c:pt>
              </c:numCache>
            </c:numRef>
          </c:xVal>
          <c:yVal>
            <c:numRef>
              <c:numCache>
                <c:formatCode>General</c:formatCode>
                <c:ptCount val="1"/>
                <c:pt idx="0">
                  <c:v>97.96326605504585</c:v>
                </c:pt>
              </c:numCache>
            </c:numRef>
          </c:yVal>
          <c:bubbleSize>
            <c:numRef>
              <c:numCache>
                <c:formatCode>General</c:formatCode>
                <c:ptCount val="1"/>
                <c:pt idx="0">
                  <c:v>3309.639</c:v>
                </c:pt>
              </c:numCache>
            </c:numRef>
          </c:bubbleSize>
          <c:bubble3D val="0"/>
        </c:ser>
        <c:ser>
          <c:idx val="1"/>
          <c:order val="1"/>
          <c:tx>
            <c:strRef>
              <c:strCache>
                <c:ptCount val="1"/>
                <c:pt idx="0">
                  <c:v>Tablets</c:v>
                </c:pt>
              </c:strCache>
            </c:strRef>
          </c:tx>
          <c:spPr>
            <a:solidFill>
              <a:srgbClr val="9E7E0A"/>
            </a:solidFill>
          </c:spPr>
          <c:invertIfNegative val="0"/>
          <c:xVal>
            <c:numRef>
              <c:numCache>
                <c:formatCode>General</c:formatCode>
                <c:ptCount val="1"/>
                <c:pt idx="0">
                  <c:v>87.82541253692476</c:v>
                </c:pt>
              </c:numCache>
            </c:numRef>
          </c:xVal>
          <c:yVal>
            <c:numRef>
              <c:numCache>
                <c:formatCode>General</c:formatCode>
                <c:ptCount val="1"/>
                <c:pt idx="0">
                  <c:v>134.17777981651375</c:v>
                </c:pt>
              </c:numCache>
            </c:numRef>
          </c:yVal>
          <c:bubbleSize>
            <c:numRef>
              <c:numCache>
                <c:formatCode>General</c:formatCode>
                <c:ptCount val="1"/>
                <c:pt idx="0">
                  <c:v>3744.498</c:v>
                </c:pt>
              </c:numCache>
            </c:numRef>
          </c:bubbleSize>
          <c:bubble3D val="0"/>
        </c:ser>
        <c:ser>
          <c:idx val="2"/>
          <c:order val="2"/>
          <c:tx>
            <c:strRef>
              <c:strCache>
                <c:ptCount val="1"/>
                <c:pt idx="0">
                  <c:v>Capsules and Softgels</c:v>
                </c:pt>
              </c:strCache>
            </c:strRef>
          </c:tx>
          <c:spPr>
            <a:solidFill>
              <a:srgbClr val="008189"/>
            </a:solidFill>
          </c:spPr>
          <c:invertIfNegative val="0"/>
          <c:xVal>
            <c:numRef>
              <c:numCache>
                <c:formatCode>General</c:formatCode>
                <c:ptCount val="1"/>
                <c:pt idx="0">
                  <c:v>115.14761260690531</c:v>
                </c:pt>
              </c:numCache>
            </c:numRef>
          </c:xVal>
          <c:yVal>
            <c:numRef>
              <c:numCache>
                <c:formatCode>General</c:formatCode>
                <c:ptCount val="1"/>
                <c:pt idx="0">
                  <c:v>210.17499082568807</c:v>
                </c:pt>
              </c:numCache>
            </c:numRef>
          </c:yVal>
          <c:bubbleSize>
            <c:numRef>
              <c:numCache>
                <c:formatCode>General</c:formatCode>
                <c:ptCount val="1"/>
                <c:pt idx="0">
                  <c:v>6678.809</c:v>
                </c:pt>
              </c:numCache>
            </c:numRef>
          </c:bubbleSize>
          <c:bubble3D val="0"/>
        </c:ser>
        <c:ser>
          <c:idx val="3"/>
          <c:order val="3"/>
          <c:tx>
            <c:strRef>
              <c:strCache>
                <c:ptCount val="1"/>
                <c:pt idx="0">
                  <c:v>Powders and Granules</c:v>
                </c:pt>
              </c:strCache>
            </c:strRef>
          </c:tx>
          <c:spPr>
            <a:solidFill>
              <a:srgbClr val="40315E"/>
            </a:solidFill>
          </c:spPr>
          <c:invertIfNegative val="0"/>
          <c:xVal>
            <c:numRef>
              <c:numCache>
                <c:formatCode>General</c:formatCode>
                <c:ptCount val="1"/>
                <c:pt idx="0">
                  <c:v>80.21050503040728</c:v>
                </c:pt>
              </c:numCache>
            </c:numRef>
          </c:xVal>
          <c:yVal>
            <c:numRef>
              <c:numCache>
                <c:formatCode>General</c:formatCode>
                <c:ptCount val="1"/>
                <c:pt idx="0">
                  <c:v>29.853412844036693</c:v>
                </c:pt>
              </c:numCache>
            </c:numRef>
          </c:yVal>
          <c:bubbleSize>
            <c:numRef>
              <c:numCache>
                <c:formatCode>General</c:formatCode>
                <c:ptCount val="1"/>
                <c:pt idx="0">
                  <c:v>803.258</c:v>
                </c:pt>
              </c:numCache>
            </c:numRef>
          </c:bubbleSize>
          <c:bubble3D val="0"/>
        </c:ser>
        <c:ser>
          <c:idx val="4"/>
          <c:order val="4"/>
          <c:tx>
            <c:strRef>
              <c:strCache>
                <c:ptCount val="1"/>
                <c:pt idx="0">
                  <c:v>Liquids</c:v>
                </c:pt>
              </c:strCache>
            </c:strRef>
          </c:tx>
          <c:spPr>
            <a:solidFill>
              <a:srgbClr val="A35313"/>
            </a:solidFill>
          </c:spPr>
          <c:invertIfNegative val="0"/>
          <c:xVal>
            <c:numRef>
              <c:numCache>
                <c:formatCode>General</c:formatCode>
                <c:ptCount val="1"/>
                <c:pt idx="0">
                  <c:v>64.34802110893833</c:v>
                </c:pt>
              </c:numCache>
            </c:numRef>
          </c:xVal>
          <c:yVal>
            <c:numRef>
              <c:numCache>
                <c:formatCode>General</c:formatCode>
                <c:ptCount val="1"/>
                <c:pt idx="0">
                  <c:v>55.18458715596329</c:v>
                </c:pt>
              </c:numCache>
            </c:numRef>
          </c:yVal>
          <c:bubbleSize>
            <c:numRef>
              <c:numCache>
                <c:formatCode>General</c:formatCode>
                <c:ptCount val="1"/>
                <c:pt idx="0">
                  <c:v>1375.533</c:v>
                </c:pt>
              </c:numCache>
            </c:numRef>
          </c:bubbleSize>
          <c:bubble3D val="0"/>
        </c:ser>
        <c:ser>
          <c:idx val="5"/>
          <c:order val="5"/>
          <c:tx>
            <c:strRef>
              <c:strCache>
                <c:ptCount val="1"/>
                <c:pt idx="0">
                  <c:v>Gels and Pastes</c:v>
                </c:pt>
              </c:strCache>
            </c:strRef>
          </c:tx>
          <c:spPr>
            <a:solidFill>
              <a:srgbClr val="808080"/>
            </a:solidFill>
          </c:spPr>
          <c:invertIfNegative val="0"/>
          <c:xVal>
            <c:numRef>
              <c:numCache>
                <c:formatCode>General</c:formatCode>
                <c:ptCount val="1"/>
                <c:pt idx="0">
                  <c:v>66.95762008421042</c:v>
                </c:pt>
              </c:numCache>
            </c:numRef>
          </c:xVal>
          <c:yVal>
            <c:numRef>
              <c:numCache>
                <c:formatCode>General</c:formatCode>
                <c:ptCount val="1"/>
                <c:pt idx="0">
                  <c:v>72.64596330275228</c:v>
                </c:pt>
              </c:numCache>
            </c:numRef>
          </c:yVal>
          <c:bubbleSize>
            <c:numRef>
              <c:numCache>
                <c:formatCode>General</c:formatCode>
                <c:ptCount val="1"/>
                <c:pt idx="0">
                  <c:v>1833.772</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50.0"/>
          <c:min val="4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7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1779.666</c:v>
                </c:pt>
                <c:pt idx="2">
                  <c:v>2019.155</c:v>
                </c:pt>
                <c:pt idx="3">
                  <c:v>2288.055</c:v>
                </c:pt>
                <c:pt idx="4">
                  <c:v>2589.981</c:v>
                </c:pt>
                <c:pt idx="5">
                  <c:v>2928.987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1779.666</c:v>
                </c:pt>
                <c:pt idx="1">
                  <c:v>239.48900000000003</c:v>
                </c:pt>
                <c:pt idx="2">
                  <c:v>268.89999999999986</c:v>
                </c:pt>
                <c:pt idx="3">
                  <c:v>301.9260000000004</c:v>
                </c:pt>
                <c:pt idx="4">
                  <c:v>339.00599999999986</c:v>
                </c:pt>
                <c:pt idx="5">
                  <c:v>380.65200000000004</c:v>
                </c:pt>
                <c:pt idx="6">
                  <c:v>3309.639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2437.563</c:v>
                </c:pt>
                <c:pt idx="2">
                  <c:v>2652.535</c:v>
                </c:pt>
                <c:pt idx="3">
                  <c:v>2888.425</c:v>
                </c:pt>
                <c:pt idx="4">
                  <c:v>3147.384</c:v>
                </c:pt>
                <c:pt idx="5">
                  <c:v>3431.858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2437.563</c:v>
                </c:pt>
                <c:pt idx="1">
                  <c:v>214.97199999999975</c:v>
                </c:pt>
                <c:pt idx="2">
                  <c:v>235.89000000000033</c:v>
                </c:pt>
                <c:pt idx="3">
                  <c:v>258.95899999999983</c:v>
                </c:pt>
                <c:pt idx="4">
                  <c:v>284.47400000000016</c:v>
                </c:pt>
                <c:pt idx="5">
                  <c:v>312.6399999999999</c:v>
                </c:pt>
                <c:pt idx="6">
                  <c:v>3744.498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3818.179</c:v>
                </c:pt>
                <c:pt idx="2">
                  <c:v>4272.636</c:v>
                </c:pt>
                <c:pt idx="3">
                  <c:v>4779.434</c:v>
                </c:pt>
                <c:pt idx="4">
                  <c:v>5344.682</c:v>
                </c:pt>
                <c:pt idx="5">
                  <c:v>5975.25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3818.179</c:v>
                </c:pt>
                <c:pt idx="1">
                  <c:v>454.45700000000033</c:v>
                </c:pt>
                <c:pt idx="2">
                  <c:v>506.7979999999998</c:v>
                </c:pt>
                <c:pt idx="3">
                  <c:v>565.2479999999996</c:v>
                </c:pt>
                <c:pt idx="4">
                  <c:v>630.5680000000002</c:v>
                </c:pt>
                <c:pt idx="5">
                  <c:v>703.5590000000002</c:v>
                </c:pt>
                <c:pt idx="6">
                  <c:v>6678.809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542.337</c:v>
                </c:pt>
                <c:pt idx="2">
                  <c:v>585.914</c:v>
                </c:pt>
                <c:pt idx="3">
                  <c:v>633.394</c:v>
                </c:pt>
                <c:pt idx="4">
                  <c:v>685.166</c:v>
                </c:pt>
                <c:pt idx="5">
                  <c:v>741.632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542.337</c:v>
                </c:pt>
                <c:pt idx="1">
                  <c:v>43.577</c:v>
                </c:pt>
                <c:pt idx="2">
                  <c:v>47.48000000000002</c:v>
                </c:pt>
                <c:pt idx="3">
                  <c:v>51.77200000000005</c:v>
                </c:pt>
                <c:pt idx="4">
                  <c:v>56.465999999999894</c:v>
                </c:pt>
                <c:pt idx="5">
                  <c:v>61.62600000000009</c:v>
                </c:pt>
                <c:pt idx="6">
                  <c:v>803.258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1002.52</c:v>
                </c:pt>
                <c:pt idx="2">
                  <c:v>1067.394</c:v>
                </c:pt>
                <c:pt idx="3">
                  <c:v>1136.807</c:v>
                </c:pt>
                <c:pt idx="4">
                  <c:v>1211.079</c:v>
                </c:pt>
                <c:pt idx="5">
                  <c:v>1290.531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1002.52</c:v>
                </c:pt>
                <c:pt idx="1">
                  <c:v>64.87400000000002</c:v>
                </c:pt>
                <c:pt idx="2">
                  <c:v>69.41300000000001</c:v>
                </c:pt>
                <c:pt idx="3">
                  <c:v>74.27199999999993</c:v>
                </c:pt>
                <c:pt idx="4">
                  <c:v>79.452</c:v>
                </c:pt>
                <c:pt idx="5">
                  <c:v>85.00199999999995</c:v>
                </c:pt>
                <c:pt idx="6">
                  <c:v>1375.533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1319.735</c:v>
                </c:pt>
                <c:pt idx="2">
                  <c:v>1408.422</c:v>
                </c:pt>
                <c:pt idx="3">
                  <c:v>1503.652</c:v>
                </c:pt>
                <c:pt idx="4">
                  <c:v>1605.936</c:v>
                </c:pt>
                <c:pt idx="5">
                  <c:v>1715.783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1319.735</c:v>
                </c:pt>
                <c:pt idx="1">
                  <c:v>88.68700000000013</c:v>
                </c:pt>
                <c:pt idx="2">
                  <c:v>95.23000000000002</c:v>
                </c:pt>
                <c:pt idx="3">
                  <c:v>102.28399999999988</c:v>
                </c:pt>
                <c:pt idx="4">
                  <c:v>109.84699999999998</c:v>
                </c:pt>
                <c:pt idx="5">
                  <c:v>117.98900000000003</c:v>
                </c:pt>
                <c:pt idx="6">
                  <c:v>1833.772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Capsules and Softgels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33.543481954730105</c:v>
                </c:pt>
                <c:pt idx="1">
                  <c:v>35.02916513761468</c:v>
                </c:pt>
                <c:pt idx="2">
                  <c:v>37.636615551574195</c:v>
                </c:pt>
              </c:numCache>
            </c:numRef>
          </c:val>
        </c:ser>
        <c:ser>
          <c:idx val="1"/>
          <c:order val="1"/>
          <c:tx>
            <c:strRef>
              <c:strCache>
                <c:ptCount val="1"/>
                <c:pt idx="0">
                  <c:v>Tablets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23.07981345428533</c:v>
                </c:pt>
                <c:pt idx="1">
                  <c:v>22.362963302752295</c:v>
                </c:pt>
                <c:pt idx="2">
                  <c:v>21.10110225635117</c:v>
                </c:pt>
              </c:numCache>
            </c:numRef>
          </c:val>
        </c:ser>
        <c:ser>
          <c:idx val="2"/>
          <c:order val="2"/>
          <c:tx>
            <c:strRef>
              <c:strCache>
                <c:ptCount val="1"/>
                <c:pt idx="0">
                  <c:v>Chewables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15.035910521444972</c:v>
                </c:pt>
                <c:pt idx="1">
                  <c:v>16.32721100917431</c:v>
                </c:pt>
                <c:pt idx="2">
                  <c:v>18.65057237862267</c:v>
                </c:pt>
              </c:numCache>
            </c:numRef>
          </c:val>
        </c:ser>
        <c:ser>
          <c:idx val="3"/>
          <c:order val="3"/>
          <c:tx>
            <c:strRef>
              <c:strCache>
                <c:ptCount val="1"/>
                <c:pt idx="0">
                  <c:v>Gels and Pastes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13.103934119563174</c:v>
                </c:pt>
                <c:pt idx="1">
                  <c:v>12.107660550458716</c:v>
                </c:pt>
                <c:pt idx="2">
                  <c:v>10.3337244369829</c:v>
                </c:pt>
              </c:numCache>
            </c:numRef>
          </c:val>
        </c:ser>
        <c:ser>
          <c:idx val="4"/>
          <c:order val="4"/>
          <c:tx>
            <c:strRef>
              <c:strCache>
                <c:ptCount val="1"/>
                <c:pt idx="0">
                  <c:v>Liquids</c:v>
                </c:pt>
              </c:strCache>
            </c:strRef>
          </c:tx>
          <c:spPr>
            <a:solidFill>
              <a:srgbClr val="A35313"/>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10.008852773483701</c:v>
                </c:pt>
                <c:pt idx="1">
                  <c:v>9.19743119266055</c:v>
                </c:pt>
                <c:pt idx="2">
                  <c:v>7.751442914373433</c:v>
                </c:pt>
              </c:numCache>
            </c:numRef>
          </c:val>
        </c:ser>
        <c:ser>
          <c:idx val="5"/>
          <c:order val="5"/>
          <c:tx>
            <c:strRef>
              <c:strCache>
                <c:ptCount val="1"/>
                <c:pt idx="0">
                  <c:v>Powders and Granules</c:v>
                </c:pt>
              </c:strCache>
            </c:strRef>
          </c:tx>
          <c:spPr>
            <a:solidFill>
              <a:srgbClr val="808080"/>
            </a:solidFill>
            <a:ln>
              <a:noFill/>
            </a:ln>
          </c:spPr>
          <c:dLbls>
            <c:dLbl>
              <c:idx val="0"/>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5.228007176492746</c:v>
                </c:pt>
                <c:pt idx="1">
                  <c:v>4.9755688073394495</c:v>
                </c:pt>
                <c:pt idx="2">
                  <c:v>4.5265424620956205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Omega-3 Fatty Acids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16.115909212734127</c:v>
                </c:pt>
                <c:pt idx="1">
                  <c:v>15.412843435831943</c:v>
                </c:pt>
                <c:pt idx="2">
                  <c:v>16.95547162542638</c:v>
                </c:pt>
                <c:pt idx="3">
                  <c:v>16.76877680850319</c:v>
                </c:pt>
                <c:pt idx="4">
                  <c:v>15.72773513897621</c:v>
                </c:pt>
                <c:pt idx="5">
                  <c:v>17.567810411426063</c:v>
                </c:pt>
              </c:numCache>
            </c:numRef>
          </c:val>
        </c:ser>
        <c:ser>
          <c:idx val="1"/>
          <c:order val="1"/>
          <c:tx>
            <c:strRef>
              <c:strCache>
                <c:ptCount val="1"/>
                <c:pt idx="0">
                  <c:v>Antioxidant Ingredients</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23.40478236363312</c:v>
                </c:pt>
                <c:pt idx="1">
                  <c:v>22.589514359629305</c:v>
                </c:pt>
                <c:pt idx="2">
                  <c:v>23.306147099013348</c:v>
                </c:pt>
                <c:pt idx="3">
                  <c:v>22.376358437924395</c:v>
                </c:pt>
                <c:pt idx="4">
                  <c:v>23.22594974148077</c:v>
                </c:pt>
                <c:pt idx="5">
                  <c:v>22.917567212641927</c:v>
                </c:pt>
              </c:numCache>
            </c:numRef>
          </c:val>
        </c:ser>
        <c:ser>
          <c:idx val="2"/>
          <c:order val="2"/>
          <c:tx>
            <c:strRef>
              <c:strCache>
                <c:ptCount val="1"/>
                <c:pt idx="0">
                  <c:v>Neurofunctional Nutrients</c:v>
                </c:pt>
              </c:strCache>
            </c:strRef>
          </c:tx>
          <c:spPr>
            <a:solidFill>
              <a:srgbClr val="008189"/>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11.854713085795689</c:v>
                </c:pt>
                <c:pt idx="1">
                  <c:v>12.09896191505387</c:v>
                </c:pt>
                <c:pt idx="2">
                  <c:v>12.222142209290562</c:v>
                </c:pt>
                <c:pt idx="3">
                  <c:v>11.333944885152555</c:v>
                </c:pt>
                <c:pt idx="4">
                  <c:v>11.524283482556502</c:v>
                </c:pt>
                <c:pt idx="5">
                  <c:v>11.021767402657906</c:v>
                </c:pt>
              </c:numCache>
            </c:numRef>
          </c:val>
        </c:ser>
        <c:ser>
          <c:idx val="3"/>
          <c:order val="3"/>
          <c:tx>
            <c:strRef>
              <c:strCache>
                <c:ptCount val="1"/>
                <c:pt idx="0">
                  <c:v>Cellular Energy Support Ingredients</c:v>
                </c:pt>
              </c:strCache>
            </c:strRef>
          </c:tx>
          <c:spPr>
            <a:solidFill>
              <a:srgbClr val="40315E"/>
            </a:solidFill>
            <a:ln>
              <a:noFill/>
            </a:ln>
          </c:spPr>
          <c:dLbls>
            <c:dLbl>
              <c:idx val="0"/>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23.038089003747338</c:v>
                </c:pt>
                <c:pt idx="1">
                  <c:v>23.37852441300717</c:v>
                </c:pt>
                <c:pt idx="2">
                  <c:v>19.939978520209426</c:v>
                </c:pt>
                <c:pt idx="3">
                  <c:v>21.24402257066945</c:v>
                </c:pt>
                <c:pt idx="4">
                  <c:v>22.03124144012901</c:v>
                </c:pt>
                <c:pt idx="5">
                  <c:v>23.485373514402692</c:v>
                </c:pt>
              </c:numCache>
            </c:numRef>
          </c:val>
        </c:ser>
        <c:ser>
          <c:idx val="4"/>
          <c:order val="4"/>
          <c:tx>
            <c:strRef>
              <c:strCache>
                <c:ptCount val="1"/>
                <c:pt idx="0">
                  <c:v>Botanical Ingredients</c:v>
                </c:pt>
              </c:strCache>
            </c:strRef>
          </c:tx>
          <c:spPr>
            <a:solidFill>
              <a:srgbClr val="A35313"/>
            </a:solidFill>
            <a:ln>
              <a:noFill/>
            </a:ln>
          </c:spPr>
          <c:dLbls>
            <c:dLbl>
              <c:idx val="0"/>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11.06317521526484</c:v>
                </c:pt>
                <c:pt idx="1">
                  <c:v>11.693290107083213</c:v>
                </c:pt>
                <c:pt idx="2">
                  <c:v>12.98679094491198</c:v>
                </c:pt>
                <c:pt idx="3">
                  <c:v>12.553433368001379</c:v>
                </c:pt>
                <c:pt idx="4">
                  <c:v>12.111432536498548</c:v>
                </c:pt>
                <c:pt idx="5">
                  <c:v>11.11387994621569</c:v>
                </c:pt>
              </c:numCache>
            </c:numRef>
          </c:val>
        </c:ser>
        <c:ser>
          <c:idx val="5"/>
          <c:order val="5"/>
          <c:tx>
            <c:strRef>
              <c:strCache>
                <c:ptCount val="1"/>
                <c:pt idx="0">
                  <c:v>Microbiome-Targeted Ingredients</c:v>
                </c:pt>
              </c:strCache>
            </c:strRef>
          </c:tx>
          <c:spPr>
            <a:solidFill>
              <a:srgbClr val="808080"/>
            </a:solidFill>
            <a:ln>
              <a:noFill/>
            </a:ln>
          </c:spPr>
          <c:dLbls>
            <c:dLbl>
              <c:idx val="0"/>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14.523331118824895</c:v>
                </c:pt>
                <c:pt idx="1">
                  <c:v>14.826865769394507</c:v>
                </c:pt>
                <c:pt idx="2">
                  <c:v>14.589469601148297</c:v>
                </c:pt>
                <c:pt idx="3">
                  <c:v>15.723463929749029</c:v>
                </c:pt>
                <c:pt idx="4">
                  <c:v>15.379357660358952</c:v>
                </c:pt>
                <c:pt idx="5">
                  <c:v>13.893601512655716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25.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Omega-3 Fatty Acids</c:v>
                </c:pt>
              </c:strCache>
            </c:strRef>
          </c:tx>
          <c:spPr>
            <a:solidFill>
              <a:srgbClr val="3D85C6"/>
            </a:solidFill>
          </c:spPr>
          <c:invertIfNegative val="0"/>
          <c:xVal>
            <c:numRef>
              <c:numCache>
                <c:formatCode>General</c:formatCode>
                <c:ptCount val="1"/>
                <c:pt idx="0">
                  <c:v>92.81258898667419</c:v>
                </c:pt>
              </c:numCache>
            </c:numRef>
          </c:xVal>
          <c:yVal>
            <c:numRef>
              <c:numCache>
                <c:formatCode>General</c:formatCode>
                <c:ptCount val="1"/>
                <c:pt idx="0">
                  <c:v>102.91519266055047</c:v>
                </c:pt>
              </c:numCache>
            </c:numRef>
          </c:yVal>
          <c:bubbleSize>
            <c:numRef>
              <c:numCache>
                <c:formatCode>General</c:formatCode>
                <c:ptCount val="1"/>
                <c:pt idx="0">
                  <c:v>2941.325</c:v>
                </c:pt>
              </c:numCache>
            </c:numRef>
          </c:bubbleSize>
          <c:bubble3D val="0"/>
        </c:ser>
        <c:ser>
          <c:idx val="1"/>
          <c:order val="1"/>
          <c:tx>
            <c:strRef>
              <c:strCache>
                <c:ptCount val="1"/>
                <c:pt idx="0">
                  <c:v>Antioxidant Ingredients</c:v>
                </c:pt>
              </c:strCache>
            </c:strRef>
          </c:tx>
          <c:spPr>
            <a:solidFill>
              <a:srgbClr val="9E7E0A"/>
            </a:solidFill>
          </c:spPr>
          <c:invertIfNegative val="0"/>
          <c:xVal>
            <c:numRef>
              <c:numCache>
                <c:formatCode>General</c:formatCode>
                <c:ptCount val="1"/>
                <c:pt idx="0">
                  <c:v>116.3750483131982</c:v>
                </c:pt>
              </c:numCache>
            </c:numRef>
          </c:xVal>
          <c:yVal>
            <c:numRef>
              <c:numCache>
                <c:formatCode>General</c:formatCode>
                <c:ptCount val="1"/>
                <c:pt idx="0">
                  <c:v>127.6416880733945</c:v>
                </c:pt>
              </c:numCache>
            </c:numRef>
          </c:yVal>
          <c:bubbleSize>
            <c:numRef>
              <c:numCache>
                <c:formatCode>General</c:formatCode>
                <c:ptCount val="1"/>
                <c:pt idx="0">
                  <c:v>4079.692</c:v>
                </c:pt>
              </c:numCache>
            </c:numRef>
          </c:bubbleSize>
          <c:bubble3D val="0"/>
        </c:ser>
        <c:ser>
          <c:idx val="2"/>
          <c:order val="2"/>
          <c:tx>
            <c:strRef>
              <c:strCache>
                <c:ptCount val="1"/>
                <c:pt idx="0">
                  <c:v>Neurofunctional Nutrients</c:v>
                </c:pt>
              </c:strCache>
            </c:strRef>
          </c:tx>
          <c:spPr>
            <a:solidFill>
              <a:srgbClr val="008189"/>
            </a:solidFill>
          </c:spPr>
          <c:invertIfNegative val="0"/>
          <c:xVal>
            <c:numRef>
              <c:numCache>
                <c:formatCode>General</c:formatCode>
                <c:ptCount val="1"/>
                <c:pt idx="0">
                  <c:v>84.8716090883751</c:v>
                </c:pt>
              </c:numCache>
            </c:numRef>
          </c:xVal>
          <c:yVal>
            <c:numRef>
              <c:numCache>
                <c:formatCode>General</c:formatCode>
                <c:ptCount val="1"/>
                <c:pt idx="0">
                  <c:v>74.22748623853211</c:v>
                </c:pt>
              </c:numCache>
            </c:numRef>
          </c:yVal>
          <c:bubbleSize>
            <c:numRef>
              <c:numCache>
                <c:formatCode>General</c:formatCode>
                <c:ptCount val="1"/>
                <c:pt idx="0">
                  <c:v>2042.3760000000002</c:v>
                </c:pt>
              </c:numCache>
            </c:numRef>
          </c:bubbleSize>
          <c:bubble3D val="0"/>
        </c:ser>
        <c:ser>
          <c:idx val="3"/>
          <c:order val="3"/>
          <c:tx>
            <c:strRef>
              <c:strCache>
                <c:ptCount val="1"/>
                <c:pt idx="0">
                  <c:v>Cellular Energy Support Ingredients</c:v>
                </c:pt>
              </c:strCache>
            </c:strRef>
          </c:tx>
          <c:spPr>
            <a:solidFill>
              <a:srgbClr val="40315E"/>
            </a:solidFill>
          </c:spPr>
          <c:invertIfNegative val="0"/>
          <c:xVal>
            <c:numRef>
              <c:numCache>
                <c:formatCode>General</c:formatCode>
                <c:ptCount val="1"/>
                <c:pt idx="0">
                  <c:v>115.77433049610705</c:v>
                </c:pt>
              </c:numCache>
            </c:numRef>
          </c:xVal>
          <c:yVal>
            <c:numRef>
              <c:numCache>
                <c:formatCode>General</c:formatCode>
                <c:ptCount val="1"/>
                <c:pt idx="0">
                  <c:v>124.08594495412845</c:v>
                </c:pt>
              </c:numCache>
            </c:numRef>
          </c:yVal>
          <c:bubbleSize>
            <c:numRef>
              <c:numCache>
                <c:formatCode>General</c:formatCode>
                <c:ptCount val="1"/>
                <c:pt idx="0">
                  <c:v>3954.8120000000004</c:v>
                </c:pt>
              </c:numCache>
            </c:numRef>
          </c:bubbleSize>
          <c:bubble3D val="0"/>
        </c:ser>
        <c:ser>
          <c:idx val="4"/>
          <c:order val="4"/>
          <c:tx>
            <c:strRef>
              <c:strCache>
                <c:ptCount val="1"/>
                <c:pt idx="0">
                  <c:v>Botanical Ingredients</c:v>
                </c:pt>
              </c:strCache>
            </c:strRef>
          </c:tx>
          <c:spPr>
            <a:solidFill>
              <a:srgbClr val="A35313"/>
            </a:solidFill>
          </c:spPr>
          <c:invertIfNegative val="0"/>
          <c:xVal>
            <c:numRef>
              <c:numCache>
                <c:formatCode>General</c:formatCode>
                <c:ptCount val="1"/>
                <c:pt idx="0">
                  <c:v>82.07959742321795</c:v>
                </c:pt>
              </c:numCache>
            </c:numRef>
          </c:xVal>
          <c:yVal>
            <c:numRef>
              <c:numCache>
                <c:formatCode>General</c:formatCode>
                <c:ptCount val="1"/>
                <c:pt idx="0">
                  <c:v>77.59288073394495</c:v>
                </c:pt>
              </c:numCache>
            </c:numRef>
          </c:yVal>
          <c:bubbleSize>
            <c:numRef>
              <c:numCache>
                <c:formatCode>General</c:formatCode>
                <c:ptCount val="1"/>
                <c:pt idx="0">
                  <c:v>2106.5860000000002</c:v>
                </c:pt>
              </c:numCache>
            </c:numRef>
          </c:bubbleSize>
          <c:bubble3D val="0"/>
        </c:ser>
        <c:ser>
          <c:idx val="5"/>
          <c:order val="5"/>
          <c:tx>
            <c:strRef>
              <c:strCache>
                <c:ptCount val="1"/>
                <c:pt idx="0">
                  <c:v>Microbiome-Targeted Ingredients</c:v>
                </c:pt>
              </c:strCache>
            </c:strRef>
          </c:tx>
          <c:spPr>
            <a:solidFill>
              <a:srgbClr val="808080"/>
            </a:solidFill>
          </c:spPr>
          <c:invertIfNegative val="0"/>
          <c:xVal>
            <c:numRef>
              <c:numCache>
                <c:formatCode>General</c:formatCode>
                <c:ptCount val="1"/>
                <c:pt idx="0">
                  <c:v>88.65562023062033</c:v>
                </c:pt>
              </c:numCache>
            </c:numRef>
          </c:xVal>
          <c:yVal>
            <c:numRef>
              <c:numCache>
                <c:formatCode>General</c:formatCode>
                <c:ptCount val="1"/>
                <c:pt idx="0">
                  <c:v>93.53680733944955</c:v>
                </c:pt>
              </c:numCache>
            </c:numRef>
          </c:yVal>
          <c:bubbleSize>
            <c:numRef>
              <c:numCache>
                <c:formatCode>General</c:formatCode>
                <c:ptCount val="1"/>
                <c:pt idx="0">
                  <c:v>2620.718</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5.0"/>
          <c:min val="7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50.0"/>
          <c:min val="6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1869.626</c:v>
                </c:pt>
                <c:pt idx="2">
                  <c:v>2045.27</c:v>
                </c:pt>
                <c:pt idx="3">
                  <c:v>2238.357</c:v>
                </c:pt>
                <c:pt idx="4">
                  <c:v>2450.6730000000002</c:v>
                </c:pt>
                <c:pt idx="5">
                  <c:v>2684.255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1869.626</c:v>
                </c:pt>
                <c:pt idx="1">
                  <c:v>175.644</c:v>
                </c:pt>
                <c:pt idx="2">
                  <c:v>193.087</c:v>
                </c:pt>
                <c:pt idx="3">
                  <c:v>212.31600000000026</c:v>
                </c:pt>
                <c:pt idx="4">
                  <c:v>233.58199999999988</c:v>
                </c:pt>
                <c:pt idx="5">
                  <c:v>257.0699999999997</c:v>
                </c:pt>
                <c:pt idx="6">
                  <c:v>2941.325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2318.824</c:v>
                </c:pt>
                <c:pt idx="2">
                  <c:v>2596.301</c:v>
                </c:pt>
                <c:pt idx="3">
                  <c:v>2906.867</c:v>
                </c:pt>
                <c:pt idx="4">
                  <c:v>3254.522</c:v>
                </c:pt>
                <c:pt idx="5">
                  <c:v>3643.779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2318.824</c:v>
                </c:pt>
                <c:pt idx="1">
                  <c:v>277.47699999999986</c:v>
                </c:pt>
                <c:pt idx="2">
                  <c:v>310.56600000000026</c:v>
                </c:pt>
                <c:pt idx="3">
                  <c:v>347.65499999999975</c:v>
                </c:pt>
                <c:pt idx="4">
                  <c:v>389.25700000000006</c:v>
                </c:pt>
                <c:pt idx="5">
                  <c:v>435.913</c:v>
                </c:pt>
                <c:pt idx="6">
                  <c:v>4079.692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1348.466</c:v>
                </c:pt>
                <c:pt idx="2">
                  <c:v>1464.194</c:v>
                </c:pt>
                <c:pt idx="3">
                  <c:v>1590.397</c:v>
                </c:pt>
                <c:pt idx="4">
                  <c:v>1728.091</c:v>
                </c:pt>
                <c:pt idx="5">
                  <c:v>1878.341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1348.466</c:v>
                </c:pt>
                <c:pt idx="1">
                  <c:v>115.72800000000007</c:v>
                </c:pt>
                <c:pt idx="2">
                  <c:v>126.20299999999997</c:v>
                </c:pt>
                <c:pt idx="3">
                  <c:v>137.69399999999996</c:v>
                </c:pt>
                <c:pt idx="4">
                  <c:v>150.25</c:v>
                </c:pt>
                <c:pt idx="5">
                  <c:v>164.0350000000003</c:v>
                </c:pt>
                <c:pt idx="6">
                  <c:v>2042.3760000000002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2254.228</c:v>
                </c:pt>
                <c:pt idx="2">
                  <c:v>2522.085</c:v>
                </c:pt>
                <c:pt idx="3">
                  <c:v>2821.918</c:v>
                </c:pt>
                <c:pt idx="4">
                  <c:v>3157.6310000000003</c:v>
                </c:pt>
                <c:pt idx="5">
                  <c:v>3533.625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2254.228</c:v>
                </c:pt>
                <c:pt idx="1">
                  <c:v>267.85699999999997</c:v>
                </c:pt>
                <c:pt idx="2">
                  <c:v>299.8330000000001</c:v>
                </c:pt>
                <c:pt idx="3">
                  <c:v>335.7130000000002</c:v>
                </c:pt>
                <c:pt idx="4">
                  <c:v>375.9939999999997</c:v>
                </c:pt>
                <c:pt idx="5">
                  <c:v>421.18700000000035</c:v>
                </c:pt>
                <c:pt idx="6">
                  <c:v>3954.8120000000004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1409.604</c:v>
                </c:pt>
                <c:pt idx="2">
                  <c:v>1526.623</c:v>
                </c:pt>
                <c:pt idx="3">
                  <c:v>1653.863</c:v>
                </c:pt>
                <c:pt idx="4">
                  <c:v>1792.239</c:v>
                </c:pt>
                <c:pt idx="5">
                  <c:v>1942.775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1409.604</c:v>
                </c:pt>
                <c:pt idx="1">
                  <c:v>117.019</c:v>
                </c:pt>
                <c:pt idx="2">
                  <c:v>127.24000000000001</c:v>
                </c:pt>
                <c:pt idx="3">
                  <c:v>138.37599999999998</c:v>
                </c:pt>
                <c:pt idx="4">
                  <c:v>150.53600000000006</c:v>
                </c:pt>
                <c:pt idx="5">
                  <c:v>163.81100000000015</c:v>
                </c:pt>
                <c:pt idx="6">
                  <c:v>2106.5860000000002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1699.252</c:v>
                </c:pt>
                <c:pt idx="2">
                  <c:v>1851.583</c:v>
                </c:pt>
                <c:pt idx="3">
                  <c:v>2018.365</c:v>
                </c:pt>
                <c:pt idx="4">
                  <c:v>2201.072</c:v>
                </c:pt>
                <c:pt idx="5">
                  <c:v>2401.266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1699.252</c:v>
                </c:pt>
                <c:pt idx="1">
                  <c:v>152.33100000000013</c:v>
                </c:pt>
                <c:pt idx="2">
                  <c:v>166.78199999999993</c:v>
                </c:pt>
                <c:pt idx="3">
                  <c:v>182.7070000000001</c:v>
                </c:pt>
                <c:pt idx="4">
                  <c:v>200.19399999999996</c:v>
                </c:pt>
                <c:pt idx="5">
                  <c:v>219.45199999999977</c:v>
                </c:pt>
                <c:pt idx="6">
                  <c:v>2620.718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Antioxidant Ingredients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20.377573931544987</c:v>
                </c:pt>
                <c:pt idx="1">
                  <c:v>21.273614678899083</c:v>
                </c:pt>
                <c:pt idx="2">
                  <c:v>22.98999707475283</c:v>
                </c:pt>
              </c:numCache>
            </c:numRef>
          </c:val>
        </c:ser>
        <c:ser>
          <c:idx val="1"/>
          <c:order val="1"/>
          <c:tx>
            <c:strRef>
              <c:strCache>
                <c:ptCount val="1"/>
                <c:pt idx="0">
                  <c:v>Cellular Energy Support Ingredients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19.855565564057923</c:v>
                </c:pt>
                <c:pt idx="1">
                  <c:v>20.680990825688074</c:v>
                </c:pt>
                <c:pt idx="2">
                  <c:v>22.286269726047305</c:v>
                </c:pt>
              </c:numCache>
            </c:numRef>
          </c:val>
        </c:ser>
        <c:ser>
          <c:idx val="2"/>
          <c:order val="2"/>
          <c:tx>
            <c:strRef>
              <c:strCache>
                <c:ptCount val="1"/>
                <c:pt idx="0">
                  <c:v>Omega-3 Fatty Acids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17.449424827854635</c:v>
                </c:pt>
                <c:pt idx="1">
                  <c:v>17.15253211009174</c:v>
                </c:pt>
                <c:pt idx="2">
                  <c:v>16.575038788687323</c:v>
                </c:pt>
              </c:numCache>
            </c:numRef>
          </c:val>
        </c:ser>
        <c:ser>
          <c:idx val="3"/>
          <c:order val="3"/>
          <c:tx>
            <c:strRef>
              <c:strCache>
                <c:ptCount val="1"/>
                <c:pt idx="0">
                  <c:v>Microbiome-Targeted Ingredients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16.015349595890196</c:v>
                </c:pt>
                <c:pt idx="1">
                  <c:v>15.589467889908256</c:v>
                </c:pt>
                <c:pt idx="2">
                  <c:v>14.768345050006735</c:v>
                </c:pt>
              </c:numCache>
            </c:numRef>
          </c:val>
        </c:ser>
        <c:ser>
          <c:idx val="4"/>
          <c:order val="4"/>
          <c:tx>
            <c:strRef>
              <c:strCache>
                <c:ptCount val="1"/>
                <c:pt idx="0">
                  <c:v>Botanical Ingredients</c:v>
                </c:pt>
              </c:strCache>
            </c:strRef>
          </c:tx>
          <c:spPr>
            <a:solidFill>
              <a:srgbClr val="A35313"/>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13.483543919655247</c:v>
                </c:pt>
                <c:pt idx="1">
                  <c:v>12.932146788990826</c:v>
                </c:pt>
                <c:pt idx="2">
                  <c:v>11.871093694748344</c:v>
                </c:pt>
              </c:numCache>
            </c:numRef>
          </c:val>
        </c:ser>
        <c:ser>
          <c:idx val="5"/>
          <c:order val="5"/>
          <c:tx>
            <c:strRef>
              <c:strCache>
                <c:ptCount val="1"/>
                <c:pt idx="0">
                  <c:v>Neurofunctional Nutrients</c:v>
                </c:pt>
              </c:strCache>
            </c:strRef>
          </c:tx>
          <c:spPr>
            <a:solidFill>
              <a:srgbClr val="808080"/>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12.818542160997023</c:v>
                </c:pt>
                <c:pt idx="1">
                  <c:v>12.371247706422018</c:v>
                </c:pt>
                <c:pt idx="2">
                  <c:v>11.509255665757461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Routine Cognitive Wellness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21.40595838131886</c:v>
                </c:pt>
                <c:pt idx="1">
                  <c:v>21.498706487212235</c:v>
                </c:pt>
                <c:pt idx="2">
                  <c:v>24.183584615663285</c:v>
                </c:pt>
                <c:pt idx="3">
                  <c:v>25.200284661096443</c:v>
                </c:pt>
                <c:pt idx="4">
                  <c:v>23.66389869898861</c:v>
                </c:pt>
                <c:pt idx="5">
                  <c:v>19.61193925018036</c:v>
                </c:pt>
              </c:numCache>
            </c:numRef>
          </c:val>
        </c:ser>
        <c:ser>
          <c:idx val="1"/>
          <c:order val="1"/>
          <c:tx>
            <c:strRef>
              <c:strCache>
                <c:ptCount val="1"/>
                <c:pt idx="0">
                  <c:v>Preventive Cognitive Support for Senior Dogs</c:v>
                </c:pt>
              </c:strCache>
            </c:strRef>
          </c:tx>
          <c:spPr>
            <a:solidFill>
              <a:srgbClr val="9E7E0A"/>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9.888132129810263</c:v>
                </c:pt>
                <c:pt idx="1">
                  <c:v>9.66859874905852</c:v>
                </c:pt>
                <c:pt idx="2">
                  <c:v>10.99675152406227</c:v>
                </c:pt>
                <c:pt idx="3">
                  <c:v>8.937528815022569</c:v>
                </c:pt>
                <c:pt idx="4">
                  <c:v>11.119046211090843</c:v>
                </c:pt>
                <c:pt idx="5">
                  <c:v>11.6357140375332</c:v>
                </c:pt>
              </c:numCache>
            </c:numRef>
          </c:val>
        </c:ser>
        <c:ser>
          <c:idx val="2"/>
          <c:order val="2"/>
          <c:tx>
            <c:strRef>
              <c:strCache>
                <c:ptCount val="1"/>
                <c:pt idx="0">
                  <c:v>Support for Observable Age-Related Cognitive Changes</c:v>
                </c:pt>
              </c:strCache>
            </c:strRef>
          </c:tx>
          <c:spPr>
            <a:solidFill>
              <a:srgbClr val="008189"/>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57.91042448715721</c:v>
                </c:pt>
                <c:pt idx="1">
                  <c:v>57.37184399253364</c:v>
                </c:pt>
                <c:pt idx="2">
                  <c:v>52.10267357566061</c:v>
                </c:pt>
                <c:pt idx="3">
                  <c:v>55.00397307040349</c:v>
                </c:pt>
                <c:pt idx="4">
                  <c:v>55.232791902849065</c:v>
                </c:pt>
                <c:pt idx="5">
                  <c:v>58.9255392161075</c:v>
                </c:pt>
              </c:numCache>
            </c:numRef>
          </c:val>
        </c:ser>
        <c:ser>
          <c:idx val="3"/>
          <c:order val="3"/>
          <c:tx>
            <c:strRef>
              <c:strCache>
                <c:ptCount val="1"/>
                <c:pt idx="0">
                  <c:v>Veterinary-Guided Cognitive Dysfunction Support</c:v>
                </c:pt>
              </c:strCache>
            </c:strRef>
          </c:tx>
          <c:spPr>
            <a:solidFill>
              <a:srgbClr val="40315E"/>
            </a:solidFill>
            <a:ln>
              <a:noFill/>
            </a:ln>
          </c:spPr>
          <c:dLbls>
            <c:dLbl>
              <c:idx val="0"/>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10.795485001713672</c:v>
                </c:pt>
                <c:pt idx="1">
                  <c:v>11.4608507711956</c:v>
                </c:pt>
                <c:pt idx="2">
                  <c:v>12.716990284613852</c:v>
                </c:pt>
                <c:pt idx="3">
                  <c:v>10.858213453477482</c:v>
                </c:pt>
                <c:pt idx="4">
                  <c:v>9.984263187071488</c:v>
                </c:pt>
                <c:pt idx="5">
                  <c:v>9.826807496178947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34.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Routine Cognitive Wellness</c:v>
                </c:pt>
              </c:strCache>
            </c:strRef>
          </c:tx>
          <c:spPr>
            <a:solidFill>
              <a:srgbClr val="3D85C6"/>
            </a:solidFill>
          </c:spPr>
          <c:invertIfNegative val="0"/>
          <c:xVal>
            <c:numRef>
              <c:numCache>
                <c:formatCode>General</c:formatCode>
                <c:ptCount val="1"/>
                <c:pt idx="0">
                  <c:v>106.53594629128283</c:v>
                </c:pt>
              </c:numCache>
            </c:numRef>
          </c:xVal>
          <c:yVal>
            <c:numRef>
              <c:numCache>
                <c:formatCode>General</c:formatCode>
                <c:ptCount val="1"/>
                <c:pt idx="0">
                  <c:v>86.72660550458716</c:v>
                </c:pt>
              </c:numCache>
            </c:numRef>
          </c:yVal>
          <c:bubbleSize>
            <c:numRef>
              <c:numCache>
                <c:formatCode>General</c:formatCode>
                <c:ptCount val="1"/>
                <c:pt idx="0">
                  <c:v>3968.828</c:v>
                </c:pt>
              </c:numCache>
            </c:numRef>
          </c:bubbleSize>
          <c:bubble3D val="0"/>
        </c:ser>
        <c:ser>
          <c:idx val="1"/>
          <c:order val="1"/>
          <c:tx>
            <c:strRef>
              <c:strCache>
                <c:ptCount val="1"/>
                <c:pt idx="0">
                  <c:v>Preventive Cognitive Support for Senior Dogs</c:v>
                </c:pt>
              </c:strCache>
            </c:strRef>
          </c:tx>
          <c:spPr>
            <a:solidFill>
              <a:srgbClr val="9E7E0A"/>
            </a:solidFill>
          </c:spPr>
          <c:invertIfNegative val="0"/>
          <c:xVal>
            <c:numRef>
              <c:numCache>
                <c:formatCode>General</c:formatCode>
                <c:ptCount val="1"/>
                <c:pt idx="0">
                  <c:v>164.4518068340778</c:v>
                </c:pt>
              </c:numCache>
            </c:numRef>
          </c:xVal>
          <c:yVal>
            <c:numRef>
              <c:numCache>
                <c:formatCode>General</c:formatCode>
                <c:ptCount val="1"/>
                <c:pt idx="0">
                  <c:v>31.835302752293575</c:v>
                </c:pt>
              </c:numCache>
            </c:numRef>
          </c:yVal>
          <c:bubbleSize>
            <c:numRef>
              <c:numCache>
                <c:formatCode>General</c:formatCode>
                <c:ptCount val="1"/>
                <c:pt idx="0">
                  <c:v>1910.232</c:v>
                </c:pt>
              </c:numCache>
            </c:numRef>
          </c:bubbleSize>
          <c:bubble3D val="0"/>
        </c:ser>
        <c:ser>
          <c:idx val="2"/>
          <c:order val="2"/>
          <c:tx>
            <c:strRef>
              <c:strCache>
                <c:ptCount val="1"/>
                <c:pt idx="0">
                  <c:v>Support for Observable Age-Related Cognitive Changes</c:v>
                </c:pt>
              </c:strCache>
            </c:strRef>
          </c:tx>
          <c:spPr>
            <a:solidFill>
              <a:srgbClr val="008189"/>
            </a:solidFill>
          </c:spPr>
          <c:invertIfNegative val="0"/>
          <c:xVal>
            <c:numRef>
              <c:numCache>
                <c:formatCode>General</c:formatCode>
                <c:ptCount val="1"/>
                <c:pt idx="0">
                  <c:v>76.72514235269368</c:v>
                </c:pt>
              </c:numCache>
            </c:numRef>
          </c:xVal>
          <c:yVal>
            <c:numRef>
              <c:numCache>
                <c:formatCode>General</c:formatCode>
                <c:ptCount val="1"/>
                <c:pt idx="0">
                  <c:v>251.66506422018347</c:v>
                </c:pt>
              </c:numCache>
            </c:numRef>
          </c:yVal>
          <c:bubbleSize>
            <c:numRef>
              <c:numCache>
                <c:formatCode>General</c:formatCode>
                <c:ptCount val="1"/>
                <c:pt idx="0">
                  <c:v>9988.504</c:v>
                </c:pt>
              </c:numCache>
            </c:numRef>
          </c:bubbleSize>
          <c:bubble3D val="0"/>
        </c:ser>
        <c:ser>
          <c:idx val="3"/>
          <c:order val="3"/>
          <c:tx>
            <c:strRef>
              <c:strCache>
                <c:ptCount val="1"/>
                <c:pt idx="0">
                  <c:v>Veterinary-Guided Cognitive Dysfunction Support</c:v>
                </c:pt>
              </c:strCache>
            </c:strRef>
          </c:tx>
          <c:spPr>
            <a:solidFill>
              <a:srgbClr val="40315E"/>
            </a:solidFill>
          </c:spPr>
          <c:invertIfNegative val="0"/>
          <c:xVal>
            <c:numRef>
              <c:numCache>
                <c:formatCode>General</c:formatCode>
                <c:ptCount val="1"/>
                <c:pt idx="0">
                  <c:v>175.2963404015383</c:v>
                </c:pt>
              </c:numCache>
            </c:numRef>
          </c:xVal>
          <c:yVal>
            <c:numRef>
              <c:numCache>
                <c:formatCode>General</c:formatCode>
                <c:ptCount val="1"/>
                <c:pt idx="0">
                  <c:v>29.77302752293578</c:v>
                </c:pt>
              </c:numCache>
            </c:numRef>
          </c:yVal>
          <c:bubbleSize>
            <c:numRef>
              <c:numCache>
                <c:formatCode>General</c:formatCode>
                <c:ptCount val="1"/>
                <c:pt idx="0">
                  <c:v>1877.945</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200.0"/>
          <c:min val="5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32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2363.3</c:v>
                </c:pt>
                <c:pt idx="2">
                  <c:v>2618.293</c:v>
                </c:pt>
                <c:pt idx="3">
                  <c:v>2902.513</c:v>
                </c:pt>
                <c:pt idx="4">
                  <c:v>3219.554</c:v>
                </c:pt>
                <c:pt idx="5">
                  <c:v>3573.463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2363.3</c:v>
                </c:pt>
                <c:pt idx="1">
                  <c:v>254.99299999999994</c:v>
                </c:pt>
                <c:pt idx="2">
                  <c:v>284.2199999999998</c:v>
                </c:pt>
                <c:pt idx="3">
                  <c:v>317.04100000000017</c:v>
                </c:pt>
                <c:pt idx="4">
                  <c:v>353.9090000000001</c:v>
                </c:pt>
                <c:pt idx="5">
                  <c:v>395.3649999999998</c:v>
                </c:pt>
                <c:pt idx="6">
                  <c:v>3968.828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867.512</c:v>
                </c:pt>
                <c:pt idx="2">
                  <c:v>1016.906</c:v>
                </c:pt>
                <c:pt idx="3">
                  <c:v>1191.253</c:v>
                </c:pt>
                <c:pt idx="4">
                  <c:v>1394.783</c:v>
                </c:pt>
                <c:pt idx="5">
                  <c:v>1632.488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867.512</c:v>
                </c:pt>
                <c:pt idx="1">
                  <c:v>149.394</c:v>
                </c:pt>
                <c:pt idx="2">
                  <c:v>174.34699999999998</c:v>
                </c:pt>
                <c:pt idx="3">
                  <c:v>203.52999999999997</c:v>
                </c:pt>
                <c:pt idx="4">
                  <c:v>237.70500000000015</c:v>
                </c:pt>
                <c:pt idx="5">
                  <c:v>277.7439999999999</c:v>
                </c:pt>
                <c:pt idx="6">
                  <c:v>1910.232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6857.873</c:v>
                </c:pt>
                <c:pt idx="2">
                  <c:v>7408.651</c:v>
                </c:pt>
                <c:pt idx="3">
                  <c:v>7996.673</c:v>
                </c:pt>
                <c:pt idx="4">
                  <c:v>8622.642</c:v>
                </c:pt>
                <c:pt idx="5">
                  <c:v>9286.756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6857.873</c:v>
                </c:pt>
                <c:pt idx="1">
                  <c:v>550.7780000000002</c:v>
                </c:pt>
                <c:pt idx="2">
                  <c:v>588.0219999999999</c:v>
                </c:pt>
                <c:pt idx="3">
                  <c:v>625.969</c:v>
                </c:pt>
                <c:pt idx="4">
                  <c:v>664.1139999999996</c:v>
                </c:pt>
                <c:pt idx="5">
                  <c:v>701.7480000000014</c:v>
                </c:pt>
                <c:pt idx="6">
                  <c:v>9988.504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811.315</c:v>
                </c:pt>
                <c:pt idx="2">
                  <c:v>962.206</c:v>
                </c:pt>
                <c:pt idx="3">
                  <c:v>1139.328</c:v>
                </c:pt>
                <c:pt idx="4">
                  <c:v>1347.249</c:v>
                </c:pt>
                <c:pt idx="5">
                  <c:v>1591.334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811.315</c:v>
                </c:pt>
                <c:pt idx="1">
                  <c:v>150.89099999999996</c:v>
                </c:pt>
                <c:pt idx="2">
                  <c:v>177.12199999999996</c:v>
                </c:pt>
                <c:pt idx="3">
                  <c:v>207.92100000000005</c:v>
                </c:pt>
                <c:pt idx="4">
                  <c:v>244.08500000000004</c:v>
                </c:pt>
                <c:pt idx="5">
                  <c:v>286.6109999999999</c:v>
                </c:pt>
                <c:pt idx="6">
                  <c:v>1877.945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Support for Observable Age-Related Cognitive Changes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65.72241572076594</c:v>
                </c:pt>
                <c:pt idx="1">
                  <c:v>62.91626605504587</c:v>
                </c:pt>
                <c:pt idx="2">
                  <c:v>56.28750350299898</c:v>
                </c:pt>
              </c:numCache>
            </c:numRef>
          </c:val>
        </c:ser>
        <c:ser>
          <c:idx val="1"/>
          <c:order val="1"/>
          <c:tx>
            <c:strRef>
              <c:strCache>
                <c:ptCount val="1"/>
                <c:pt idx="0">
                  <c:v>Routine Cognitive Wellness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21.383869860638402</c:v>
                </c:pt>
                <c:pt idx="1">
                  <c:v>21.68165137614679</c:v>
                </c:pt>
                <c:pt idx="2">
                  <c:v>22.365253090232574</c:v>
                </c:pt>
              </c:numCache>
            </c:numRef>
          </c:val>
        </c:ser>
        <c:ser>
          <c:idx val="2"/>
          <c:order val="2"/>
          <c:tx>
            <c:strRef>
              <c:strCache>
                <c:ptCount val="1"/>
                <c:pt idx="0">
                  <c:v>Preventive Cognitive Support for Senior Dogs</c:v>
                </c:pt>
              </c:strCache>
            </c:strRef>
          </c:tx>
          <c:spPr>
            <a:solidFill>
              <a:srgbClr val="008189"/>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6.77330323150923</c:v>
                </c:pt>
                <c:pt idx="1">
                  <c:v>7.958825688073394</c:v>
                </c:pt>
                <c:pt idx="2">
                  <c:v>10.764594016435368</c:v>
                </c:pt>
              </c:numCache>
            </c:numRef>
          </c:val>
        </c:ser>
        <c:ser>
          <c:idx val="3"/>
          <c:order val="3"/>
          <c:tx>
            <c:strRef>
              <c:strCache>
                <c:ptCount val="1"/>
                <c:pt idx="0">
                  <c:v>Veterinary-Guided Cognitive Dysfunction Support</c:v>
                </c:pt>
              </c:strCache>
            </c:strRef>
          </c:tx>
          <c:spPr>
            <a:solidFill>
              <a:srgbClr val="40315E"/>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6.120411187086443</c:v>
                </c:pt>
                <c:pt idx="1">
                  <c:v>7.443256880733945</c:v>
                </c:pt>
                <c:pt idx="2">
                  <c:v>10.582649390333069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Bottles</c:v>
                </c:pt>
              </c:strCache>
            </c:strRef>
          </c:tx>
          <c:spPr>
            <a:solidFill>
              <a:srgbClr val="3D85C6"/>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8.512646250956326</c:v>
                </c:pt>
                <c:pt idx="1">
                  <c:v>6.937747650391329</c:v>
                </c:pt>
                <c:pt idx="2">
                  <c:v>7.881916817279964</c:v>
                </c:pt>
                <c:pt idx="3">
                  <c:v>7.672195550247567</c:v>
                </c:pt>
                <c:pt idx="4">
                  <c:v>8.005581950585578</c:v>
                </c:pt>
                <c:pt idx="5">
                  <c:v>6.372801936175404</c:v>
                </c:pt>
              </c:numCache>
            </c:numRef>
          </c:val>
        </c:ser>
        <c:ser>
          <c:idx val="1"/>
          <c:order val="1"/>
          <c:tx>
            <c:strRef>
              <c:strCache>
                <c:ptCount val="1"/>
                <c:pt idx="0">
                  <c:v>Jars and Tubs</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10.069407784132533</c:v>
                </c:pt>
                <c:pt idx="1">
                  <c:v>9.225791662573272</c:v>
                </c:pt>
                <c:pt idx="2">
                  <c:v>9.193058784911837</c:v>
                </c:pt>
                <c:pt idx="3">
                  <c:v>9.532301127193994</c:v>
                </c:pt>
                <c:pt idx="4">
                  <c:v>9.88735432273856</c:v>
                </c:pt>
                <c:pt idx="5">
                  <c:v>11.140518049463186</c:v>
                </c:pt>
              </c:numCache>
            </c:numRef>
          </c:val>
        </c:ser>
        <c:ser>
          <c:idx val="2"/>
          <c:order val="2"/>
          <c:tx>
            <c:strRef>
              <c:strCache>
                <c:ptCount val="1"/>
                <c:pt idx="0">
                  <c:v>Pouches</c:v>
                </c:pt>
              </c:strCache>
            </c:strRef>
          </c:tx>
          <c:spPr>
            <a:solidFill>
              <a:srgbClr val="008189"/>
            </a:solidFill>
            <a:ln>
              <a:noFill/>
            </a:ln>
          </c:spPr>
          <c:dLbls>
            <c:dLbl>
              <c:idx val="0"/>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22.091264820015695</c:v>
                </c:pt>
                <c:pt idx="1">
                  <c:v>24.6144022006091</c:v>
                </c:pt>
                <c:pt idx="2">
                  <c:v>26.328692043332452</c:v>
                </c:pt>
                <c:pt idx="3">
                  <c:v>20.89191217678025</c:v>
                </c:pt>
                <c:pt idx="4">
                  <c:v>23.64327095500917</c:v>
                </c:pt>
                <c:pt idx="5">
                  <c:v>25.135105246660245</c:v>
                </c:pt>
              </c:numCache>
            </c:numRef>
          </c:val>
        </c:ser>
        <c:ser>
          <c:idx val="3"/>
          <c:order val="3"/>
          <c:tx>
            <c:strRef>
              <c:strCache>
                <c:ptCount val="1"/>
                <c:pt idx="0">
                  <c:v>Sachets</c:v>
                </c:pt>
              </c:strCache>
            </c:strRef>
          </c:tx>
          <c:spPr>
            <a:solidFill>
              <a:srgbClr val="40315E"/>
            </a:solidFill>
            <a:ln>
              <a:noFill/>
            </a:ln>
          </c:spPr>
          <c:dLbls>
            <c:dLbl>
              <c:idx val="0"/>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20.13304918320374</c:v>
                </c:pt>
                <c:pt idx="1">
                  <c:v>17.818777221076072</c:v>
                </c:pt>
                <c:pt idx="2">
                  <c:v>19.198479538312622</c:v>
                </c:pt>
                <c:pt idx="3">
                  <c:v>20.20951194967358</c:v>
                </c:pt>
                <c:pt idx="4">
                  <c:v>18.499209994982497</c:v>
                </c:pt>
                <c:pt idx="5">
                  <c:v>17.52359414888271</c:v>
                </c:pt>
              </c:numCache>
            </c:numRef>
          </c:val>
        </c:ser>
        <c:ser>
          <c:idx val="4"/>
          <c:order val="4"/>
          <c:tx>
            <c:strRef>
              <c:strCache>
                <c:ptCount val="1"/>
                <c:pt idx="0">
                  <c:v>Blister Packs</c:v>
                </c:pt>
              </c:strCache>
            </c:strRef>
          </c:tx>
          <c:spPr>
            <a:solidFill>
              <a:srgbClr val="A35313"/>
            </a:solidFill>
            <a:ln>
              <a:noFill/>
            </a:ln>
          </c:spPr>
          <c:dLbls>
            <c:dLbl>
              <c:idx val="0"/>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16.67597951390186</c:v>
                </c:pt>
                <c:pt idx="1">
                  <c:v>19.32508104921898</c:v>
                </c:pt>
                <c:pt idx="2">
                  <c:v>19.81764709260741</c:v>
                </c:pt>
                <c:pt idx="3">
                  <c:v>20.151222966809847</c:v>
                </c:pt>
                <c:pt idx="4">
                  <c:v>19.852037963750945</c:v>
                </c:pt>
                <c:pt idx="5">
                  <c:v>19.78617037850391</c:v>
                </c:pt>
              </c:numCache>
            </c:numRef>
          </c:val>
        </c:ser>
        <c:ser>
          <c:idx val="5"/>
          <c:order val="5"/>
          <c:tx>
            <c:strRef>
              <c:strCache>
                <c:ptCount val="1"/>
                <c:pt idx="0">
                  <c:v>Canisters</c:v>
                </c:pt>
              </c:strCache>
            </c:strRef>
          </c:tx>
          <c:spPr>
            <a:solidFill>
              <a:srgbClr val="808080"/>
            </a:solidFill>
            <a:ln>
              <a:noFill/>
            </a:ln>
          </c:spPr>
          <c:dLbls>
            <c:dLbl>
              <c:idx val="0"/>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22.517652447789853</c:v>
                </c:pt>
                <c:pt idx="1">
                  <c:v>22.078200216131254</c:v>
                </c:pt>
                <c:pt idx="2">
                  <c:v>17.580205723555714</c:v>
                </c:pt>
                <c:pt idx="3">
                  <c:v>21.542856229294774</c:v>
                </c:pt>
                <c:pt idx="4">
                  <c:v>20.112544812933262</c:v>
                </c:pt>
                <c:pt idx="5">
                  <c:v>20.041810240314547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41.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Bottles</c:v>
                </c:pt>
              </c:strCache>
            </c:strRef>
          </c:tx>
          <c:spPr>
            <a:solidFill>
              <a:srgbClr val="3D85C6"/>
            </a:solidFill>
          </c:spPr>
          <c:invertIfNegative val="0"/>
          <c:xVal>
            <c:numRef>
              <c:numCache>
                <c:formatCode>General</c:formatCode>
                <c:ptCount val="1"/>
                <c:pt idx="0">
                  <c:v>75.18406291789347</c:v>
                </c:pt>
              </c:numCache>
            </c:numRef>
          </c:xVal>
          <c:yVal>
            <c:numRef>
              <c:numCache>
                <c:formatCode>General</c:formatCode>
                <c:ptCount val="1"/>
                <c:pt idx="0">
                  <c:v>49.97845871559633</c:v>
                </c:pt>
              </c:numCache>
            </c:numRef>
          </c:yVal>
          <c:bubbleSize>
            <c:numRef>
              <c:numCache>
                <c:formatCode>General</c:formatCode>
                <c:ptCount val="1"/>
                <c:pt idx="0">
                  <c:v>1312.649</c:v>
                </c:pt>
              </c:numCache>
            </c:numRef>
          </c:bubbleSize>
          <c:bubble3D val="0"/>
        </c:ser>
        <c:ser>
          <c:idx val="1"/>
          <c:order val="1"/>
          <c:tx>
            <c:strRef>
              <c:strCache>
                <c:ptCount val="1"/>
                <c:pt idx="0">
                  <c:v>Jars and Tubs</c:v>
                </c:pt>
              </c:strCache>
            </c:strRef>
          </c:tx>
          <c:spPr>
            <a:solidFill>
              <a:srgbClr val="9E7E0A"/>
            </a:solidFill>
          </c:spPr>
          <c:invertIfNegative val="0"/>
          <c:xVal>
            <c:numRef>
              <c:numCache>
                <c:formatCode>General</c:formatCode>
                <c:ptCount val="1"/>
                <c:pt idx="0">
                  <c:v>140.9533504830474</c:v>
                </c:pt>
              </c:numCache>
            </c:numRef>
          </c:xVal>
          <c:yVal>
            <c:numRef>
              <c:numCache>
                <c:formatCode>General</c:formatCode>
                <c:ptCount val="1"/>
                <c:pt idx="0">
                  <c:v>49.898752293577985</c:v>
                </c:pt>
              </c:numCache>
            </c:numRef>
          </c:yVal>
          <c:bubbleSize>
            <c:numRef>
              <c:numCache>
                <c:formatCode>General</c:formatCode>
                <c:ptCount val="1"/>
                <c:pt idx="0">
                  <c:v>1789.854</c:v>
                </c:pt>
              </c:numCache>
            </c:numRef>
          </c:bubbleSize>
          <c:bubble3D val="0"/>
        </c:ser>
        <c:ser>
          <c:idx val="2"/>
          <c:order val="2"/>
          <c:tx>
            <c:strRef>
              <c:strCache>
                <c:ptCount val="1"/>
                <c:pt idx="0">
                  <c:v>Pouches</c:v>
                </c:pt>
              </c:strCache>
            </c:strRef>
          </c:tx>
          <c:spPr>
            <a:solidFill>
              <a:srgbClr val="008189"/>
            </a:solidFill>
          </c:spPr>
          <c:invertIfNegative val="0"/>
          <c:xVal>
            <c:numRef>
              <c:numCache>
                <c:formatCode>General</c:formatCode>
                <c:ptCount val="1"/>
                <c:pt idx="0">
                  <c:v>161.7366340723265</c:v>
                </c:pt>
              </c:numCache>
            </c:numRef>
          </c:xVal>
          <c:yVal>
            <c:numRef>
              <c:numCache>
                <c:formatCode>General</c:formatCode>
                <c:ptCount val="1"/>
                <c:pt idx="0">
                  <c:v>108.04772477064222</c:v>
                </c:pt>
              </c:numCache>
            </c:numRef>
          </c:yVal>
          <c:bubbleSize>
            <c:numRef>
              <c:numCache>
                <c:formatCode>General</c:formatCode>
                <c:ptCount val="1"/>
                <c:pt idx="0">
                  <c:v>4268.308</c:v>
                </c:pt>
              </c:numCache>
            </c:numRef>
          </c:bubbleSize>
          <c:bubble3D val="0"/>
        </c:ser>
        <c:ser>
          <c:idx val="3"/>
          <c:order val="3"/>
          <c:tx>
            <c:strRef>
              <c:strCache>
                <c:ptCount val="1"/>
                <c:pt idx="0">
                  <c:v>Sachets</c:v>
                </c:pt>
              </c:strCache>
            </c:strRef>
          </c:tx>
          <c:spPr>
            <a:solidFill>
              <a:srgbClr val="40315E"/>
            </a:solidFill>
          </c:spPr>
          <c:invertIfNegative val="0"/>
          <c:xVal>
            <c:numRef>
              <c:numCache>
                <c:formatCode>General</c:formatCode>
                <c:ptCount val="1"/>
                <c:pt idx="0">
                  <c:v>56.68688763462352</c:v>
                </c:pt>
              </c:numCache>
            </c:numRef>
          </c:xVal>
          <c:yVal>
            <c:numRef>
              <c:numCache>
                <c:formatCode>General</c:formatCode>
                <c:ptCount val="1"/>
                <c:pt idx="0">
                  <c:v>137.2217614678899</c:v>
                </c:pt>
              </c:numCache>
            </c:numRef>
          </c:yVal>
          <c:bubbleSize>
            <c:numRef>
              <c:numCache>
                <c:formatCode>General</c:formatCode>
                <c:ptCount val="1"/>
                <c:pt idx="0">
                  <c:v>3295.69</c:v>
                </c:pt>
              </c:numCache>
            </c:numRef>
          </c:bubbleSize>
          <c:bubble3D val="0"/>
        </c:ser>
        <c:ser>
          <c:idx val="4"/>
          <c:order val="4"/>
          <c:tx>
            <c:strRef>
              <c:strCache>
                <c:ptCount val="1"/>
                <c:pt idx="0">
                  <c:v>Blister Packs</c:v>
                </c:pt>
              </c:strCache>
            </c:strRef>
          </c:tx>
          <c:spPr>
            <a:solidFill>
              <a:srgbClr val="A35313"/>
            </a:solidFill>
          </c:spPr>
          <c:invertIfNegative val="0"/>
          <c:xVal>
            <c:numRef>
              <c:numCache>
                <c:formatCode>General</c:formatCode>
                <c:ptCount val="1"/>
                <c:pt idx="0">
                  <c:v>77.94085908334843</c:v>
                </c:pt>
              </c:numCache>
            </c:numRef>
          </c:xVal>
          <c:yVal>
            <c:numRef>
              <c:numCache>
                <c:formatCode>General</c:formatCode>
                <c:ptCount val="1"/>
                <c:pt idx="0">
                  <c:v>130.69034862385323</c:v>
                </c:pt>
              </c:numCache>
            </c:numRef>
          </c:yVal>
          <c:bubbleSize>
            <c:numRef>
              <c:numCache>
                <c:formatCode>General</c:formatCode>
                <c:ptCount val="1"/>
                <c:pt idx="0">
                  <c:v>3478.313</c:v>
                </c:pt>
              </c:numCache>
            </c:numRef>
          </c:bubbleSize>
          <c:bubble3D val="0"/>
        </c:ser>
        <c:ser>
          <c:idx val="5"/>
          <c:order val="5"/>
          <c:tx>
            <c:strRef>
              <c:strCache>
                <c:ptCount val="1"/>
                <c:pt idx="0">
                  <c:v>Canisters</c:v>
                </c:pt>
              </c:strCache>
            </c:strRef>
          </c:tx>
          <c:spPr>
            <a:solidFill>
              <a:srgbClr val="808080"/>
            </a:solidFill>
          </c:spPr>
          <c:invertIfNegative val="0"/>
          <c:xVal>
            <c:numRef>
              <c:numCache>
                <c:formatCode>General</c:formatCode>
                <c:ptCount val="1"/>
                <c:pt idx="0">
                  <c:v>95.86880074097887</c:v>
                </c:pt>
              </c:numCache>
            </c:numRef>
          </c:xVal>
          <c:yVal>
            <c:numRef>
              <c:numCache>
                <c:formatCode>General</c:formatCode>
                <c:ptCount val="1"/>
                <c:pt idx="0">
                  <c:v>124.16295412844039</c:v>
                </c:pt>
              </c:numCache>
            </c:numRef>
          </c:yVal>
          <c:bubbleSize>
            <c:numRef>
              <c:numCache>
                <c:formatCode>General</c:formatCode>
                <c:ptCount val="1"/>
                <c:pt idx="0">
                  <c:v>3600.695</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90.0"/>
          <c:min val="3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907.942</c:v>
                </c:pt>
                <c:pt idx="2">
                  <c:v>979.223</c:v>
                </c:pt>
                <c:pt idx="3">
                  <c:v>1055.249</c:v>
                </c:pt>
                <c:pt idx="4">
                  <c:v>1136.135</c:v>
                </c:pt>
                <c:pt idx="5">
                  <c:v>1221.94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907.942</c:v>
                </c:pt>
                <c:pt idx="1">
                  <c:v>71.28099999999995</c:v>
                </c:pt>
                <c:pt idx="2">
                  <c:v>76.02600000000007</c:v>
                </c:pt>
                <c:pt idx="3">
                  <c:v>80.88599999999997</c:v>
                </c:pt>
                <c:pt idx="4">
                  <c:v>85.80500000000006</c:v>
                </c:pt>
                <c:pt idx="5">
                  <c:v>90.70899999999983</c:v>
                </c:pt>
                <c:pt idx="6">
                  <c:v>1312.649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906.494</c:v>
                </c:pt>
                <c:pt idx="2">
                  <c:v>1038.077</c:v>
                </c:pt>
                <c:pt idx="3">
                  <c:v>1189.018</c:v>
                </c:pt>
                <c:pt idx="4">
                  <c:v>1362.262</c:v>
                </c:pt>
                <c:pt idx="5">
                  <c:v>1561.222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906.494</c:v>
                </c:pt>
                <c:pt idx="1">
                  <c:v>131.58299999999997</c:v>
                </c:pt>
                <c:pt idx="2">
                  <c:v>150.94100000000003</c:v>
                </c:pt>
                <c:pt idx="3">
                  <c:v>173.24399999999991</c:v>
                </c:pt>
                <c:pt idx="4">
                  <c:v>198.96000000000004</c:v>
                </c:pt>
                <c:pt idx="5">
                  <c:v>228.63200000000006</c:v>
                </c:pt>
                <c:pt idx="6">
                  <c:v>1789.854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1962.867</c:v>
                </c:pt>
                <c:pt idx="2">
                  <c:v>2297.501</c:v>
                </c:pt>
                <c:pt idx="3">
                  <c:v>2685.981</c:v>
                </c:pt>
                <c:pt idx="4">
                  <c:v>3136.953</c:v>
                </c:pt>
                <c:pt idx="5">
                  <c:v>3660.487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1962.867</c:v>
                </c:pt>
                <c:pt idx="1">
                  <c:v>334.63400000000024</c:v>
                </c:pt>
                <c:pt idx="2">
                  <c:v>388.48</c:v>
                </c:pt>
                <c:pt idx="3">
                  <c:v>450.97199999999975</c:v>
                </c:pt>
                <c:pt idx="4">
                  <c:v>523.5340000000001</c:v>
                </c:pt>
                <c:pt idx="5">
                  <c:v>607.8209999999999</c:v>
                </c:pt>
                <c:pt idx="6">
                  <c:v>4268.308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2492.862</c:v>
                </c:pt>
                <c:pt idx="2">
                  <c:v>2649.946</c:v>
                </c:pt>
                <c:pt idx="3">
                  <c:v>2810.577</c:v>
                </c:pt>
                <c:pt idx="4">
                  <c:v>2973.214</c:v>
                </c:pt>
                <c:pt idx="5">
                  <c:v>3135.806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2492.862</c:v>
                </c:pt>
                <c:pt idx="1">
                  <c:v>157.08399999999983</c:v>
                </c:pt>
                <c:pt idx="2">
                  <c:v>160.6310000000003</c:v>
                </c:pt>
                <c:pt idx="3">
                  <c:v>162.63699999999972</c:v>
                </c:pt>
                <c:pt idx="4">
                  <c:v>162.5920000000001</c:v>
                </c:pt>
                <c:pt idx="5">
                  <c:v>159.88400000000001</c:v>
                </c:pt>
                <c:pt idx="6">
                  <c:v>3295.69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2374.208</c:v>
                </c:pt>
                <c:pt idx="2">
                  <c:v>2565.998</c:v>
                </c:pt>
                <c:pt idx="3">
                  <c:v>2771.721</c:v>
                </c:pt>
                <c:pt idx="4">
                  <c:v>2992.0</c:v>
                </c:pt>
                <c:pt idx="5">
                  <c:v>3227.381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2374.208</c:v>
                </c:pt>
                <c:pt idx="1">
                  <c:v>191.78999999999996</c:v>
                </c:pt>
                <c:pt idx="2">
                  <c:v>205.72299999999996</c:v>
                </c:pt>
                <c:pt idx="3">
                  <c:v>220.279</c:v>
                </c:pt>
                <c:pt idx="4">
                  <c:v>235.38099999999986</c:v>
                </c:pt>
                <c:pt idx="5">
                  <c:v>250.93200000000024</c:v>
                </c:pt>
                <c:pt idx="6">
                  <c:v>3478.313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2255.627</c:v>
                </c:pt>
                <c:pt idx="2">
                  <c:v>2475.311</c:v>
                </c:pt>
                <c:pt idx="3">
                  <c:v>2717.221</c:v>
                </c:pt>
                <c:pt idx="4">
                  <c:v>2983.664</c:v>
                </c:pt>
                <c:pt idx="5">
                  <c:v>3277.205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2255.627</c:v>
                </c:pt>
                <c:pt idx="1">
                  <c:v>219.6840000000002</c:v>
                </c:pt>
                <c:pt idx="2">
                  <c:v>241.90999999999985</c:v>
                </c:pt>
                <c:pt idx="3">
                  <c:v>266.4430000000002</c:v>
                </c:pt>
                <c:pt idx="4">
                  <c:v>293.5409999999997</c:v>
                </c:pt>
                <c:pt idx="5">
                  <c:v>323.49000000000024</c:v>
                </c:pt>
                <c:pt idx="6">
                  <c:v>3600.695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Pouches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15.341391811319207</c:v>
                </c:pt>
                <c:pt idx="1">
                  <c:v>18.007954128440367</c:v>
                </c:pt>
                <c:pt idx="2">
                  <c:v>24.052891354088516</c:v>
                </c:pt>
              </c:numCache>
            </c:numRef>
          </c:val>
        </c:ser>
        <c:ser>
          <c:idx val="1"/>
          <c:order val="1"/>
          <c:tx>
            <c:strRef>
              <c:strCache>
                <c:ptCount val="1"/>
                <c:pt idx="0">
                  <c:v>Canisters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20.8772371266106</c:v>
                </c:pt>
                <c:pt idx="1">
                  <c:v>20.693825688073396</c:v>
                </c:pt>
                <c:pt idx="2">
                  <c:v>20.29073947667548</c:v>
                </c:pt>
              </c:numCache>
            </c:numRef>
          </c:val>
        </c:ser>
        <c:ser>
          <c:idx val="2"/>
          <c:order val="2"/>
          <c:tx>
            <c:strRef>
              <c:strCache>
                <c:ptCount val="1"/>
                <c:pt idx="0">
                  <c:v>Blister Packs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22.753681678597186</c:v>
                </c:pt>
                <c:pt idx="1">
                  <c:v>21.781724770642203</c:v>
                </c:pt>
                <c:pt idx="2">
                  <c:v>19.60108892903551</c:v>
                </c:pt>
              </c:numCache>
            </c:numRef>
          </c:val>
        </c:ser>
        <c:ser>
          <c:idx val="3"/>
          <c:order val="3"/>
          <c:tx>
            <c:strRef>
              <c:strCache>
                <c:ptCount val="1"/>
                <c:pt idx="0">
                  <c:v>Sachets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24.75069588770266</c:v>
                </c:pt>
                <c:pt idx="1">
                  <c:v>22.870293577981652</c:v>
                </c:pt>
                <c:pt idx="2">
                  <c:v>18.57196657475421</c:v>
                </c:pt>
              </c:numCache>
            </c:numRef>
          </c:val>
        </c:ser>
        <c:ser>
          <c:idx val="4"/>
          <c:order val="4"/>
          <c:tx>
            <c:strRef>
              <c:strCache>
                <c:ptCount val="1"/>
                <c:pt idx="0">
                  <c:v>Jars and Tubs</c:v>
                </c:pt>
              </c:strCache>
            </c:strRef>
          </c:tx>
          <c:spPr>
            <a:solidFill>
              <a:srgbClr val="A35313"/>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7.537797684048017</c:v>
                </c:pt>
                <c:pt idx="1">
                  <c:v>8.316458715596331</c:v>
                </c:pt>
                <c:pt idx="2">
                  <c:v>10.086236466928055</c:v>
                </c:pt>
              </c:numCache>
            </c:numRef>
          </c:val>
        </c:ser>
        <c:ser>
          <c:idx val="5"/>
          <c:order val="5"/>
          <c:tx>
            <c:strRef>
              <c:strCache>
                <c:ptCount val="1"/>
                <c:pt idx="0">
                  <c:v>Bottles</c:v>
                </c:pt>
              </c:strCache>
            </c:strRef>
          </c:tx>
          <c:spPr>
            <a:solidFill>
              <a:srgbClr val="808080"/>
            </a:solidFill>
            <a:ln>
              <a:noFill/>
            </a:ln>
          </c:spPr>
          <c:dLbls>
            <c:dLbl>
              <c:idx val="0"/>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8.739195811722338</c:v>
                </c:pt>
                <c:pt idx="1">
                  <c:v>8.329743119266055</c:v>
                </c:pt>
                <c:pt idx="2">
                  <c:v>7.397077198518226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Veterinary Channels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26.098252704109726</c:v>
                </c:pt>
                <c:pt idx="1">
                  <c:v>27.53315649867374</c:v>
                </c:pt>
                <c:pt idx="2">
                  <c:v>23.660329495216086</c:v>
                </c:pt>
                <c:pt idx="3">
                  <c:v>23.186052470454744</c:v>
                </c:pt>
                <c:pt idx="4">
                  <c:v>23.191121882278676</c:v>
                </c:pt>
                <c:pt idx="5">
                  <c:v>26.294927514844296</c:v>
                </c:pt>
              </c:numCache>
            </c:numRef>
          </c:val>
        </c:ser>
        <c:ser>
          <c:idx val="1"/>
          <c:order val="1"/>
          <c:tx>
            <c:strRef>
              <c:strCache>
                <c:ptCount val="1"/>
                <c:pt idx="0">
                  <c:v>Specialist Pet Retail</c:v>
                </c:pt>
              </c:strCache>
            </c:strRef>
          </c:tx>
          <c:spPr>
            <a:solidFill>
              <a:srgbClr val="9E7E0A"/>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19.89289142790313</c:v>
                </c:pt>
                <c:pt idx="1">
                  <c:v>19.72001178897731</c:v>
                </c:pt>
                <c:pt idx="2">
                  <c:v>21.311115460280277</c:v>
                </c:pt>
                <c:pt idx="3">
                  <c:v>17.984592523714195</c:v>
                </c:pt>
                <c:pt idx="4">
                  <c:v>22.58482838330106</c:v>
                </c:pt>
                <c:pt idx="5">
                  <c:v>22.425864440074914</c:v>
                </c:pt>
              </c:numCache>
            </c:numRef>
          </c:val>
        </c:ser>
        <c:ser>
          <c:idx val="2"/>
          <c:order val="2"/>
          <c:tx>
            <c:strRef>
              <c:strCache>
                <c:ptCount val="1"/>
                <c:pt idx="0">
                  <c:v>General Retail</c:v>
                </c:pt>
              </c:strCache>
            </c:strRef>
          </c:tx>
          <c:spPr>
            <a:solidFill>
              <a:srgbClr val="008189"/>
            </a:solidFill>
            <a:ln>
              <a:noFill/>
            </a:ln>
          </c:spPr>
          <c:dLbls>
            <c:dLbl>
              <c:idx val="0"/>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7.087293323825565</c:v>
                </c:pt>
                <c:pt idx="1">
                  <c:v>7.974915676065102</c:v>
                </c:pt>
                <c:pt idx="2">
                  <c:v>8.109968398819008</c:v>
                </c:pt>
                <c:pt idx="3">
                  <c:v>7.096219166575566</c:v>
                </c:pt>
                <c:pt idx="4">
                  <c:v>6.1808869217927676</c:v>
                </c:pt>
                <c:pt idx="5">
                  <c:v>6.885333239682778</c:v>
                </c:pt>
              </c:numCache>
            </c:numRef>
          </c:val>
        </c:ser>
        <c:ser>
          <c:idx val="3"/>
          <c:order val="3"/>
          <c:tx>
            <c:strRef>
              <c:strCache>
                <c:ptCount val="1"/>
                <c:pt idx="0">
                  <c:v>Brand-Owned E-commerce</c:v>
                </c:pt>
              </c:strCache>
            </c:strRef>
          </c:tx>
          <c:spPr>
            <a:solidFill>
              <a:srgbClr val="40315E"/>
            </a:solidFill>
            <a:ln>
              <a:noFill/>
            </a:ln>
          </c:spPr>
          <c:dLbls>
            <c:dLbl>
              <c:idx val="0"/>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18.094835105752253</c:v>
                </c:pt>
                <c:pt idx="1">
                  <c:v>15.054458525722895</c:v>
                </c:pt>
                <c:pt idx="2">
                  <c:v>19.06019952083544</c:v>
                </c:pt>
                <c:pt idx="3">
                  <c:v>18.286926113853205</c:v>
                </c:pt>
                <c:pt idx="4">
                  <c:v>17.433548701747544</c:v>
                </c:pt>
                <c:pt idx="5">
                  <c:v>15.528332966576839</c:v>
                </c:pt>
              </c:numCache>
            </c:numRef>
          </c:val>
        </c:ser>
        <c:ser>
          <c:idx val="4"/>
          <c:order val="4"/>
          <c:tx>
            <c:strRef>
              <c:strCache>
                <c:ptCount val="1"/>
                <c:pt idx="0">
                  <c:v>Third-Party E-commerce</c:v>
                </c:pt>
              </c:strCache>
            </c:strRef>
          </c:tx>
          <c:spPr>
            <a:solidFill>
              <a:srgbClr val="A35313"/>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21.300457899703883</c:v>
                </c:pt>
                <c:pt idx="1">
                  <c:v>22.148541114058357</c:v>
                </c:pt>
                <c:pt idx="2">
                  <c:v>21.083991636046992</c:v>
                </c:pt>
                <c:pt idx="3">
                  <c:v>25.506852736276702</c:v>
                </c:pt>
                <c:pt idx="4">
                  <c:v>23.277074111746206</c:v>
                </c:pt>
                <c:pt idx="5">
                  <c:v>20.80353670323397</c:v>
                </c:pt>
              </c:numCache>
            </c:numRef>
          </c:val>
        </c:ser>
        <c:ser>
          <c:idx val="5"/>
          <c:order val="5"/>
          <c:tx>
            <c:strRef>
              <c:strCache>
                <c:ptCount val="1"/>
                <c:pt idx="0">
                  <c:v>Other Direct Sales</c:v>
                </c:pt>
              </c:strCache>
            </c:strRef>
          </c:tx>
          <c:spPr>
            <a:solidFill>
              <a:srgbClr val="808080"/>
            </a:solidFill>
            <a:ln>
              <a:noFill/>
            </a:ln>
          </c:spPr>
          <c:dLbls>
            <c:dLbl>
              <c:idx val="0"/>
              <c:numFmt formatCode="&quot;MMM&quot;;&quot;MMM&quot;;&quot;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7.526269538705438</c:v>
                </c:pt>
                <c:pt idx="1">
                  <c:v>7.568916396502604</c:v>
                </c:pt>
                <c:pt idx="2">
                  <c:v>6.77439548880219</c:v>
                </c:pt>
                <c:pt idx="3">
                  <c:v>7.939356989125583</c:v>
                </c:pt>
                <c:pt idx="4">
                  <c:v>7.332539999133754</c:v>
                </c:pt>
                <c:pt idx="5">
                  <c:v>8.062005135587198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0.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Veterinary Channels</c:v>
                </c:pt>
              </c:strCache>
            </c:strRef>
          </c:tx>
          <c:spPr>
            <a:solidFill>
              <a:srgbClr val="3D85C6"/>
            </a:solidFill>
          </c:spPr>
          <c:invertIfNegative val="0"/>
          <c:xVal>
            <c:numRef>
              <c:numCache>
                <c:formatCode>General</c:formatCode>
                <c:ptCount val="1"/>
                <c:pt idx="0">
                  <c:v>86.11313319046508</c:v>
                </c:pt>
              </c:numCache>
            </c:numRef>
          </c:xVal>
          <c:yVal>
            <c:numRef>
              <c:numCache>
                <c:formatCode>General</c:formatCode>
                <c:ptCount val="1"/>
                <c:pt idx="0">
                  <c:v>158.7520733944954</c:v>
                </c:pt>
              </c:numCache>
            </c:numRef>
          </c:yVal>
          <c:bubbleSize>
            <c:numRef>
              <c:numCache>
                <c:formatCode>General</c:formatCode>
                <c:ptCount val="1"/>
                <c:pt idx="0">
                  <c:v>4394.131</c:v>
                </c:pt>
              </c:numCache>
            </c:numRef>
          </c:bubbleSize>
          <c:bubble3D val="0"/>
        </c:ser>
        <c:ser>
          <c:idx val="1"/>
          <c:order val="1"/>
          <c:tx>
            <c:strRef>
              <c:strCache>
                <c:ptCount val="1"/>
                <c:pt idx="0">
                  <c:v>Specialist Pet Retail</c:v>
                </c:pt>
              </c:strCache>
            </c:strRef>
          </c:tx>
          <c:spPr>
            <a:solidFill>
              <a:srgbClr val="9E7E0A"/>
            </a:solidFill>
          </c:spPr>
          <c:invertIfNegative val="0"/>
          <c:xVal>
            <c:numRef>
              <c:numCache>
                <c:formatCode>General</c:formatCode>
                <c:ptCount val="1"/>
                <c:pt idx="0">
                  <c:v>143.47940420780247</c:v>
                </c:pt>
              </c:numCache>
            </c:numRef>
          </c:xVal>
          <c:yVal>
            <c:numRef>
              <c:numCache>
                <c:formatCode>General</c:formatCode>
                <c:ptCount val="1"/>
                <c:pt idx="0">
                  <c:v>104.34297247706421</c:v>
                </c:pt>
              </c:numCache>
            </c:numRef>
          </c:yVal>
          <c:bubbleSize>
            <c:numRef>
              <c:numCache>
                <c:formatCode>General</c:formatCode>
                <c:ptCount val="1"/>
                <c:pt idx="0">
                  <c:v>3787.101</c:v>
                </c:pt>
              </c:numCache>
            </c:numRef>
          </c:bubbleSize>
          <c:bubble3D val="0"/>
        </c:ser>
        <c:ser>
          <c:idx val="2"/>
          <c:order val="2"/>
          <c:tx>
            <c:strRef>
              <c:strCache>
                <c:ptCount val="1"/>
                <c:pt idx="0">
                  <c:v>General Retail</c:v>
                </c:pt>
              </c:strCache>
            </c:strRef>
          </c:tx>
          <c:spPr>
            <a:solidFill>
              <a:srgbClr val="008189"/>
            </a:solidFill>
          </c:spPr>
          <c:invertIfNegative val="0"/>
          <c:xVal>
            <c:numRef>
              <c:numCache>
                <c:formatCode>General</c:formatCode>
                <c:ptCount val="1"/>
                <c:pt idx="0">
                  <c:v>41.3191813578987</c:v>
                </c:pt>
              </c:numCache>
            </c:numRef>
          </c:xVal>
          <c:yVal>
            <c:numRef>
              <c:numCache>
                <c:formatCode>General</c:formatCode>
                <c:ptCount val="1"/>
                <c:pt idx="0">
                  <c:v>55.55383486238532</c:v>
                </c:pt>
              </c:numCache>
            </c:numRef>
          </c:yVal>
          <c:bubbleSize>
            <c:numRef>
              <c:numCache>
                <c:formatCode>General</c:formatCode>
                <c:ptCount val="1"/>
                <c:pt idx="0">
                  <c:v>1237.942</c:v>
                </c:pt>
              </c:numCache>
            </c:numRef>
          </c:bubbleSize>
          <c:bubble3D val="0"/>
        </c:ser>
        <c:ser>
          <c:idx val="3"/>
          <c:order val="3"/>
          <c:tx>
            <c:strRef>
              <c:strCache>
                <c:ptCount val="1"/>
                <c:pt idx="0">
                  <c:v>Brand-Owned E-commerce</c:v>
                </c:pt>
              </c:strCache>
            </c:strRef>
          </c:tx>
          <c:spPr>
            <a:solidFill>
              <a:srgbClr val="40315E"/>
            </a:solidFill>
          </c:spPr>
          <c:invertIfNegative val="0"/>
          <c:xVal>
            <c:numRef>
              <c:numCache>
                <c:formatCode>General</c:formatCode>
                <c:ptCount val="1"/>
                <c:pt idx="0">
                  <c:v>59.961246086705835</c:v>
                </c:pt>
              </c:numCache>
            </c:numRef>
          </c:xVal>
          <c:yVal>
            <c:numRef>
              <c:numCache>
                <c:formatCode>General</c:formatCode>
                <c:ptCount val="1"/>
                <c:pt idx="0">
                  <c:v>123.76337614678896</c:v>
                </c:pt>
              </c:numCache>
            </c:numRef>
          </c:yVal>
          <c:bubbleSize>
            <c:numRef>
              <c:numCache>
                <c:formatCode>General</c:formatCode>
                <c:ptCount val="1"/>
                <c:pt idx="0">
                  <c:v>3020.068</c:v>
                </c:pt>
              </c:numCache>
            </c:numRef>
          </c:bubbleSize>
          <c:bubble3D val="0"/>
        </c:ser>
        <c:ser>
          <c:idx val="4"/>
          <c:order val="4"/>
          <c:tx>
            <c:strRef>
              <c:strCache>
                <c:ptCount val="1"/>
                <c:pt idx="0">
                  <c:v>Third-Party E-commerce</c:v>
                </c:pt>
              </c:strCache>
            </c:strRef>
          </c:tx>
          <c:spPr>
            <a:solidFill>
              <a:srgbClr val="A35313"/>
            </a:solidFill>
          </c:spPr>
          <c:invertIfNegative val="0"/>
          <c:xVal>
            <c:numRef>
              <c:numCache>
                <c:formatCode>General</c:formatCode>
                <c:ptCount val="1"/>
                <c:pt idx="0">
                  <c:v>152.67973363885216</c:v>
                </c:pt>
              </c:numCache>
            </c:numRef>
          </c:xVal>
          <c:yVal>
            <c:numRef>
              <c:numCache>
                <c:formatCode>General</c:formatCode>
                <c:ptCount val="1"/>
                <c:pt idx="0">
                  <c:v>104.50040366972475</c:v>
                </c:pt>
              </c:numCache>
            </c:numRef>
          </c:yVal>
          <c:bubbleSize>
            <c:numRef>
              <c:numCache>
                <c:formatCode>General</c:formatCode>
                <c:ptCount val="1"/>
                <c:pt idx="0">
                  <c:v>3958.616</c:v>
                </c:pt>
              </c:numCache>
            </c:numRef>
          </c:bubbleSize>
          <c:bubble3D val="0"/>
        </c:ser>
        <c:ser>
          <c:idx val="5"/>
          <c:order val="5"/>
          <c:tx>
            <c:strRef>
              <c:strCache>
                <c:ptCount val="1"/>
                <c:pt idx="0">
                  <c:v>Other Direct Sales</c:v>
                </c:pt>
              </c:strCache>
            </c:strRef>
          </c:tx>
          <c:spPr>
            <a:solidFill>
              <a:srgbClr val="808080"/>
            </a:solidFill>
          </c:spPr>
          <c:invertIfNegative val="0"/>
          <c:xVal>
            <c:numRef>
              <c:numCache>
                <c:formatCode>General</c:formatCode>
                <c:ptCount val="1"/>
                <c:pt idx="0">
                  <c:v>68.12650331475221</c:v>
                </c:pt>
              </c:numCache>
            </c:numRef>
          </c:xVal>
          <c:yVal>
            <c:numRef>
              <c:numCache>
                <c:formatCode>General</c:formatCode>
                <c:ptCount val="1"/>
                <c:pt idx="0">
                  <c:v>53.08733944954127</c:v>
                </c:pt>
              </c:numCache>
            </c:numRef>
          </c:yVal>
          <c:bubbleSize>
            <c:numRef>
              <c:numCache>
                <c:formatCode>General</c:formatCode>
                <c:ptCount val="1"/>
                <c:pt idx="0">
                  <c:v>1347.651</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90.0"/>
          <c:min val="1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00.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2883.996</c:v>
                </c:pt>
                <c:pt idx="2">
                  <c:v>3137.441</c:v>
                </c:pt>
                <c:pt idx="3">
                  <c:v>3413.191</c:v>
                </c:pt>
                <c:pt idx="4">
                  <c:v>3713.166</c:v>
                </c:pt>
                <c:pt idx="5">
                  <c:v>4039.41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2883.996</c:v>
                </c:pt>
                <c:pt idx="1">
                  <c:v>253.4449999999997</c:v>
                </c:pt>
                <c:pt idx="2">
                  <c:v>275.75</c:v>
                </c:pt>
                <c:pt idx="3">
                  <c:v>299.97500000000036</c:v>
                </c:pt>
                <c:pt idx="4">
                  <c:v>326.2439999999997</c:v>
                </c:pt>
                <c:pt idx="5">
                  <c:v>354.72100000000046</c:v>
                </c:pt>
                <c:pt idx="6">
                  <c:v>4394.131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1895.564</c:v>
                </c:pt>
                <c:pt idx="2">
                  <c:v>2179.33</c:v>
                </c:pt>
                <c:pt idx="3">
                  <c:v>2504.042</c:v>
                </c:pt>
                <c:pt idx="4">
                  <c:v>2875.58</c:v>
                </c:pt>
                <c:pt idx="5">
                  <c:v>3300.692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1895.564</c:v>
                </c:pt>
                <c:pt idx="1">
                  <c:v>283.76599999999985</c:v>
                </c:pt>
                <c:pt idx="2">
                  <c:v>324.712</c:v>
                </c:pt>
                <c:pt idx="3">
                  <c:v>371.538</c:v>
                </c:pt>
                <c:pt idx="4">
                  <c:v>425.1120000000001</c:v>
                </c:pt>
                <c:pt idx="5">
                  <c:v>486.4090000000001</c:v>
                </c:pt>
                <c:pt idx="6">
                  <c:v>3787.101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1009.228</c:v>
                </c:pt>
                <c:pt idx="2">
                  <c:v>1058.932</c:v>
                </c:pt>
                <c:pt idx="3">
                  <c:v>1107.654</c:v>
                </c:pt>
                <c:pt idx="4">
                  <c:v>1154.502</c:v>
                </c:pt>
                <c:pt idx="5">
                  <c:v>1198.38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1009.228</c:v>
                </c:pt>
                <c:pt idx="1">
                  <c:v>49.704000000000065</c:v>
                </c:pt>
                <c:pt idx="2">
                  <c:v>48.72199999999998</c:v>
                </c:pt>
                <c:pt idx="3">
                  <c:v>46.847999999999956</c:v>
                </c:pt>
                <c:pt idx="4">
                  <c:v>43.878000000000156</c:v>
                </c:pt>
                <c:pt idx="5">
                  <c:v>39.5619999999999</c:v>
                </c:pt>
                <c:pt idx="6">
                  <c:v>1237.942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2248.368</c:v>
                </c:pt>
                <c:pt idx="2">
                  <c:v>2393.479</c:v>
                </c:pt>
                <c:pt idx="3">
                  <c:v>2544.004</c:v>
                </c:pt>
                <c:pt idx="4">
                  <c:v>2699.273</c:v>
                </c:pt>
                <c:pt idx="5">
                  <c:v>2858.362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2248.368</c:v>
                </c:pt>
                <c:pt idx="1">
                  <c:v>145.11099999999988</c:v>
                </c:pt>
                <c:pt idx="2">
                  <c:v>150.5250000000001</c:v>
                </c:pt>
                <c:pt idx="3">
                  <c:v>155.26900000000023</c:v>
                </c:pt>
                <c:pt idx="4">
                  <c:v>159.08899999999994</c:v>
                </c:pt>
                <c:pt idx="5">
                  <c:v>161.70600000000013</c:v>
                </c:pt>
                <c:pt idx="6">
                  <c:v>3020.068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1898.424</c:v>
                </c:pt>
                <c:pt idx="2">
                  <c:v>2203.535</c:v>
                </c:pt>
                <c:pt idx="3">
                  <c:v>2554.729</c:v>
                </c:pt>
                <c:pt idx="4">
                  <c:v>2958.856</c:v>
                </c:pt>
                <c:pt idx="5">
                  <c:v>3423.804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1898.424</c:v>
                </c:pt>
                <c:pt idx="1">
                  <c:v>305.1109999999999</c:v>
                </c:pt>
                <c:pt idx="2">
                  <c:v>351.19399999999996</c:v>
                </c:pt>
                <c:pt idx="3">
                  <c:v>404.1270000000004</c:v>
                </c:pt>
                <c:pt idx="4">
                  <c:v>464.94799999999987</c:v>
                </c:pt>
                <c:pt idx="5">
                  <c:v>534.8119999999999</c:v>
                </c:pt>
                <c:pt idx="6">
                  <c:v>3958.616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964.42</c:v>
                </c:pt>
                <c:pt idx="2">
                  <c:v>1033.339</c:v>
                </c:pt>
                <c:pt idx="3">
                  <c:v>1106.147</c:v>
                </c:pt>
                <c:pt idx="4">
                  <c:v>1182.851</c:v>
                </c:pt>
                <c:pt idx="5">
                  <c:v>1263.393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964.42</c:v>
                </c:pt>
                <c:pt idx="1">
                  <c:v>68.91899999999998</c:v>
                </c:pt>
                <c:pt idx="2">
                  <c:v>72.80799999999999</c:v>
                </c:pt>
                <c:pt idx="3">
                  <c:v>76.70400000000018</c:v>
                </c:pt>
                <c:pt idx="4">
                  <c:v>80.54199999999992</c:v>
                </c:pt>
                <c:pt idx="5">
                  <c:v>84.25800000000004</c:v>
                </c:pt>
                <c:pt idx="6">
                  <c:v>1347.651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Veterinary Channels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27.24935977882432</c:v>
                </c:pt>
                <c:pt idx="1">
                  <c:v>26.45867889908257</c:v>
                </c:pt>
                <c:pt idx="2">
                  <c:v>24.761932723372432</c:v>
                </c:pt>
              </c:numCache>
            </c:numRef>
          </c:val>
        </c:ser>
        <c:ser>
          <c:idx val="1"/>
          <c:order val="1"/>
          <c:tx>
            <c:strRef>
              <c:strCache>
                <c:ptCount val="1"/>
                <c:pt idx="0">
                  <c:v>Third-Party E-commerce</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15.158635011866172</c:v>
                </c:pt>
                <c:pt idx="1">
                  <c:v>17.416733944954128</c:v>
                </c:pt>
                <c:pt idx="2">
                  <c:v>22.30770613567635</c:v>
                </c:pt>
              </c:numCache>
            </c:numRef>
          </c:val>
        </c:ser>
        <c:ser>
          <c:idx val="2"/>
          <c:order val="2"/>
          <c:tx>
            <c:strRef>
              <c:strCache>
                <c:ptCount val="1"/>
                <c:pt idx="0">
                  <c:v>Specialist Pet Retail</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15.545494928173348</c:v>
                </c:pt>
                <c:pt idx="1">
                  <c:v>17.390495412844036</c:v>
                </c:pt>
                <c:pt idx="2">
                  <c:v>21.341179900785036</c:v>
                </c:pt>
              </c:numCache>
            </c:numRef>
          </c:val>
        </c:ser>
        <c:ser>
          <c:idx val="3"/>
          <c:order val="3"/>
          <c:tx>
            <c:strRef>
              <c:strCache>
                <c:ptCount val="1"/>
                <c:pt idx="0">
                  <c:v>Brand-Owned E-commerce</c:v>
                </c:pt>
              </c:strCache>
            </c:strRef>
          </c:tx>
          <c:spPr>
            <a:solidFill>
              <a:srgbClr val="40315E"/>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22.294814416104145</c:v>
                </c:pt>
                <c:pt idx="1">
                  <c:v>20.627229357798164</c:v>
                </c:pt>
                <c:pt idx="2">
                  <c:v>17.018773595054387</c:v>
                </c:pt>
              </c:numCache>
            </c:numRef>
          </c:val>
        </c:ser>
        <c:ser>
          <c:idx val="4"/>
          <c:order val="4"/>
          <c:tx>
            <c:strRef>
              <c:strCache>
                <c:ptCount val="1"/>
                <c:pt idx="0">
                  <c:v>Other Direct Sales</c:v>
                </c:pt>
              </c:strCache>
            </c:strRef>
          </c:tx>
          <c:spPr>
            <a:solidFill>
              <a:srgbClr val="A35313"/>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9.43105442502875</c:v>
                </c:pt>
                <c:pt idx="1">
                  <c:v>8.84788990825688</c:v>
                </c:pt>
                <c:pt idx="2">
                  <c:v>7.5943214702942585</c:v>
                </c:pt>
              </c:numCache>
            </c:numRef>
          </c:val>
        </c:ser>
        <c:ser>
          <c:idx val="5"/>
          <c:order val="5"/>
          <c:tx>
            <c:strRef>
              <c:strCache>
                <c:ptCount val="1"/>
                <c:pt idx="0">
                  <c:v>General Retail</c:v>
                </c:pt>
              </c:strCache>
            </c:strRef>
          </c:tx>
          <c:spPr>
            <a:solidFill>
              <a:srgbClr val="808080"/>
            </a:solidFill>
            <a:ln>
              <a:noFill/>
            </a:ln>
          </c:spPr>
          <c:dLbls>
            <c:dLbl>
              <c:idx val="0"/>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10.32064144000327</c:v>
                </c:pt>
                <c:pt idx="1">
                  <c:v>9.25897247706422</c:v>
                </c:pt>
                <c:pt idx="2">
                  <c:v>6.976086174817526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Cellular Energy Support Ingredients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Chewables</c:v>
                </c:pt>
                <c:pt idx="1">
                  <c:v>Tablets</c:v>
                </c:pt>
                <c:pt idx="2">
                  <c:v>Capsules and Softgels</c:v>
                </c:pt>
                <c:pt idx="3">
                  <c:v>Powders and Granules</c:v>
                </c:pt>
                <c:pt idx="4">
                  <c:v>Liquids</c:v>
                </c:pt>
                <c:pt idx="5">
                  <c:v>Gels and Pastes</c:v>
                </c:pt>
              </c:strCache>
            </c:strRef>
          </c:cat>
          <c:val>
            <c:numRef>
              <c:numCache>
                <c:formatCode>General</c:formatCode>
                <c:ptCount val="6"/>
                <c:pt idx="0">
                  <c:v>22.88097402765244</c:v>
                </c:pt>
                <c:pt idx="1">
                  <c:v>19.85965473670392</c:v>
                </c:pt>
                <c:pt idx="2">
                  <c:v>19.94348107349294</c:v>
                </c:pt>
                <c:pt idx="3">
                  <c:v>20.181068896530743</c:v>
                </c:pt>
                <c:pt idx="4">
                  <c:v>20.37796789886276</c:v>
                </c:pt>
                <c:pt idx="5">
                  <c:v>21.8007568191772</c:v>
                </c:pt>
              </c:numCache>
            </c:numRef>
          </c:val>
        </c:ser>
        <c:ser>
          <c:idx val="1"/>
          <c:order val="1"/>
          <c:tx>
            <c:strRef>
              <c:strCache>
                <c:ptCount val="1"/>
                <c:pt idx="0">
                  <c:v>Antioxidant Ingredients</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Chewables</c:v>
                </c:pt>
                <c:pt idx="1">
                  <c:v>Tablets</c:v>
                </c:pt>
                <c:pt idx="2">
                  <c:v>Capsules and Softgels</c:v>
                </c:pt>
                <c:pt idx="3">
                  <c:v>Powders and Granules</c:v>
                </c:pt>
                <c:pt idx="4">
                  <c:v>Liquids</c:v>
                </c:pt>
                <c:pt idx="5">
                  <c:v>Gels and Pastes</c:v>
                </c:pt>
              </c:strCache>
            </c:strRef>
          </c:cat>
          <c:val>
            <c:numRef>
              <c:numCache>
                <c:formatCode>General</c:formatCode>
                <c:ptCount val="6"/>
                <c:pt idx="0">
                  <c:v>20.664260966408225</c:v>
                </c:pt>
                <c:pt idx="1">
                  <c:v>21.510855117412497</c:v>
                </c:pt>
                <c:pt idx="2">
                  <c:v>21.825210374549197</c:v>
                </c:pt>
                <c:pt idx="3">
                  <c:v>21.436565960153782</c:v>
                </c:pt>
                <c:pt idx="4">
                  <c:v>21.416950701183715</c:v>
                </c:pt>
                <c:pt idx="5">
                  <c:v>19.885825476952174</c:v>
                </c:pt>
              </c:numCache>
            </c:numRef>
          </c:val>
        </c:ser>
        <c:ser>
          <c:idx val="2"/>
          <c:order val="2"/>
          <c:tx>
            <c:strRef>
              <c:strCache>
                <c:ptCount val="1"/>
                <c:pt idx="0">
                  <c:v>Omega-3 Fatty Acids</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Chewables</c:v>
                </c:pt>
                <c:pt idx="1">
                  <c:v>Tablets</c:v>
                </c:pt>
                <c:pt idx="2">
                  <c:v>Capsules and Softgels</c:v>
                </c:pt>
                <c:pt idx="3">
                  <c:v>Powders and Granules</c:v>
                </c:pt>
                <c:pt idx="4">
                  <c:v>Liquids</c:v>
                </c:pt>
                <c:pt idx="5">
                  <c:v>Gels and Pastes</c:v>
                </c:pt>
              </c:strCache>
            </c:strRef>
          </c:cat>
          <c:val>
            <c:numRef>
              <c:numCache>
                <c:formatCode>General</c:formatCode>
                <c:ptCount val="6"/>
                <c:pt idx="0">
                  <c:v>17.02553630970375</c:v>
                </c:pt>
                <c:pt idx="1">
                  <c:v>18.51589294212245</c:v>
                </c:pt>
                <c:pt idx="2">
                  <c:v>16.016908535196</c:v>
                </c:pt>
                <c:pt idx="3">
                  <c:v>17.956797920104734</c:v>
                </c:pt>
                <c:pt idx="4">
                  <c:v>18.30708445425972</c:v>
                </c:pt>
                <c:pt idx="5">
                  <c:v>16.88362957990019</c:v>
                </c:pt>
              </c:numCache>
            </c:numRef>
          </c:val>
        </c:ser>
        <c:ser>
          <c:idx val="3"/>
          <c:order val="3"/>
          <c:tx>
            <c:strRef>
              <c:strCache>
                <c:ptCount val="1"/>
                <c:pt idx="0">
                  <c:v>Microbiome-Targeted Ingredients</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Chewables</c:v>
                </c:pt>
                <c:pt idx="1">
                  <c:v>Tablets</c:v>
                </c:pt>
                <c:pt idx="2">
                  <c:v>Capsules and Softgels</c:v>
                </c:pt>
                <c:pt idx="3">
                  <c:v>Powders and Granules</c:v>
                </c:pt>
                <c:pt idx="4">
                  <c:v>Liquids</c:v>
                </c:pt>
                <c:pt idx="5">
                  <c:v>Gels and Pastes</c:v>
                </c:pt>
              </c:strCache>
            </c:strRef>
          </c:cat>
          <c:val>
            <c:numRef>
              <c:numCache>
                <c:formatCode>General</c:formatCode>
                <c:ptCount val="6"/>
                <c:pt idx="0">
                  <c:v>14.502360560600833</c:v>
                </c:pt>
                <c:pt idx="1">
                  <c:v>16.625231789166218</c:v>
                </c:pt>
                <c:pt idx="2">
                  <c:v>15.826268467519952</c:v>
                </c:pt>
                <c:pt idx="3">
                  <c:v>14.254104935141568</c:v>
                </c:pt>
                <c:pt idx="4">
                  <c:v>14.205416555696202</c:v>
                </c:pt>
                <c:pt idx="5">
                  <c:v>16.057250930869404</c:v>
                </c:pt>
              </c:numCache>
            </c:numRef>
          </c:val>
        </c:ser>
        <c:ser>
          <c:idx val="4"/>
          <c:order val="4"/>
          <c:tx>
            <c:strRef>
              <c:strCache>
                <c:ptCount val="1"/>
                <c:pt idx="0">
                  <c:v>Botanical Ingredients</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Chewables</c:v>
                </c:pt>
                <c:pt idx="1">
                  <c:v>Tablets</c:v>
                </c:pt>
                <c:pt idx="2">
                  <c:v>Capsules and Softgels</c:v>
                </c:pt>
                <c:pt idx="3">
                  <c:v>Powders and Granules</c:v>
                </c:pt>
                <c:pt idx="4">
                  <c:v>Liquids</c:v>
                </c:pt>
                <c:pt idx="5">
                  <c:v>Gels and Pastes</c:v>
                </c:pt>
              </c:strCache>
            </c:strRef>
          </c:cat>
          <c:val>
            <c:numRef>
              <c:numCache>
                <c:formatCode>General</c:formatCode>
                <c:ptCount val="6"/>
                <c:pt idx="0">
                  <c:v>12.742812961112836</c:v>
                </c:pt>
                <c:pt idx="1">
                  <c:v>12.205402123434911</c:v>
                </c:pt>
                <c:pt idx="2">
                  <c:v>13.169905112108093</c:v>
                </c:pt>
                <c:pt idx="3">
                  <c:v>13.95465902071598</c:v>
                </c:pt>
                <c:pt idx="4">
                  <c:v>13.328226198206716</c:v>
                </c:pt>
                <c:pt idx="5">
                  <c:v>13.120598544858284</c:v>
                </c:pt>
              </c:numCache>
            </c:numRef>
          </c:val>
        </c:ser>
        <c:ser>
          <c:idx val="5"/>
          <c:order val="5"/>
          <c:tx>
            <c:strRef>
              <c:strCache>
                <c:ptCount val="1"/>
                <c:pt idx="0">
                  <c:v>Neurofunctional Nutrients</c:v>
                </c:pt>
              </c:strCache>
            </c:strRef>
          </c:tx>
          <c:spPr>
            <a:solidFill>
              <a:srgbClr val="80808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Chewables</c:v>
                </c:pt>
                <c:pt idx="1">
                  <c:v>Tablets</c:v>
                </c:pt>
                <c:pt idx="2">
                  <c:v>Capsules and Softgels</c:v>
                </c:pt>
                <c:pt idx="3">
                  <c:v>Powders and Granules</c:v>
                </c:pt>
                <c:pt idx="4">
                  <c:v>Liquids</c:v>
                </c:pt>
                <c:pt idx="5">
                  <c:v>Gels and Pastes</c:v>
                </c:pt>
              </c:strCache>
            </c:strRef>
          </c:cat>
          <c:val>
            <c:numRef>
              <c:numCache>
                <c:formatCode>General</c:formatCode>
                <c:ptCount val="6"/>
                <c:pt idx="0">
                  <c:v>12.184055174521902</c:v>
                </c:pt>
                <c:pt idx="1">
                  <c:v>11.282963291160012</c:v>
                </c:pt>
                <c:pt idx="2">
                  <c:v>13.218226437133826</c:v>
                </c:pt>
                <c:pt idx="3">
                  <c:v>12.216803267353207</c:v>
                </c:pt>
                <c:pt idx="4">
                  <c:v>12.364354191790877</c:v>
                </c:pt>
                <c:pt idx="5">
                  <c:v>12.251938648242753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Antioxidant Ingredients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4"/>
                <c:pt idx="0">
                  <c:v>Routine Cognitive Wellness</c:v>
                </c:pt>
                <c:pt idx="1">
                  <c:v>Preventive Cognitive Support for Senior Dogs</c:v>
                </c:pt>
                <c:pt idx="2">
                  <c:v>Support for Observable Age-Related Cognitive Changes</c:v>
                </c:pt>
                <c:pt idx="3">
                  <c:v>Veterinary-Guided Cognitive Dysfunction Support</c:v>
                </c:pt>
              </c:strCache>
            </c:strRef>
          </c:cat>
          <c:val>
            <c:numRef>
              <c:numCache>
                <c:formatCode>General</c:formatCode>
                <c:ptCount val="4"/>
                <c:pt idx="0">
                  <c:v>19.59843456250389</c:v>
                </c:pt>
                <c:pt idx="1">
                  <c:v>21.56509470175087</c:v>
                </c:pt>
                <c:pt idx="2">
                  <c:v>21.897463236409198</c:v>
                </c:pt>
                <c:pt idx="3">
                  <c:v>20.568608454926206</c:v>
                </c:pt>
              </c:numCache>
            </c:numRef>
          </c:val>
        </c:ser>
        <c:ser>
          <c:idx val="1"/>
          <c:order val="1"/>
          <c:tx>
            <c:strRef>
              <c:strCache>
                <c:ptCount val="1"/>
                <c:pt idx="0">
                  <c:v>Cellular Energy Support Ingredients</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4"/>
                <c:pt idx="0">
                  <c:v>Routine Cognitive Wellness</c:v>
                </c:pt>
                <c:pt idx="1">
                  <c:v>Preventive Cognitive Support for Senior Dogs</c:v>
                </c:pt>
                <c:pt idx="2">
                  <c:v>Support for Observable Age-Related Cognitive Changes</c:v>
                </c:pt>
                <c:pt idx="3">
                  <c:v>Veterinary-Guided Cognitive Dysfunction Support</c:v>
                </c:pt>
              </c:strCache>
            </c:strRef>
          </c:cat>
          <c:val>
            <c:numRef>
              <c:numCache>
                <c:formatCode>General</c:formatCode>
                <c:ptCount val="4"/>
                <c:pt idx="0">
                  <c:v>20.71543150872445</c:v>
                </c:pt>
                <c:pt idx="1">
                  <c:v>20.82205108165526</c:v>
                </c:pt>
                <c:pt idx="2">
                  <c:v>20.74325680036023</c:v>
                </c:pt>
                <c:pt idx="3">
                  <c:v>19.903391288699567</c:v>
                </c:pt>
              </c:numCache>
            </c:numRef>
          </c:val>
        </c:ser>
        <c:ser>
          <c:idx val="2"/>
          <c:order val="2"/>
          <c:tx>
            <c:strRef>
              <c:strCache>
                <c:ptCount val="1"/>
                <c:pt idx="0">
                  <c:v>Omega-3 Fatty Acids</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4"/>
                <c:pt idx="0">
                  <c:v>Routine Cognitive Wellness</c:v>
                </c:pt>
                <c:pt idx="1">
                  <c:v>Preventive Cognitive Support for Senior Dogs</c:v>
                </c:pt>
                <c:pt idx="2">
                  <c:v>Support for Observable Age-Related Cognitive Changes</c:v>
                </c:pt>
                <c:pt idx="3">
                  <c:v>Veterinary-Guided Cognitive Dysfunction Support</c:v>
                </c:pt>
              </c:strCache>
            </c:strRef>
          </c:cat>
          <c:val>
            <c:numRef>
              <c:numCache>
                <c:formatCode>General</c:formatCode>
                <c:ptCount val="4"/>
                <c:pt idx="0">
                  <c:v>17.669987868663366</c:v>
                </c:pt>
                <c:pt idx="1">
                  <c:v>17.986589249959366</c:v>
                </c:pt>
                <c:pt idx="2">
                  <c:v>16.61610190449749</c:v>
                </c:pt>
                <c:pt idx="3">
                  <c:v>19.287600115368402</c:v>
                </c:pt>
              </c:numCache>
            </c:numRef>
          </c:val>
        </c:ser>
        <c:ser>
          <c:idx val="3"/>
          <c:order val="3"/>
          <c:tx>
            <c:strRef>
              <c:strCache>
                <c:ptCount val="1"/>
                <c:pt idx="0">
                  <c:v>Microbiome-Targeted Ingredients</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4"/>
                <c:pt idx="0">
                  <c:v>Routine Cognitive Wellness</c:v>
                </c:pt>
                <c:pt idx="1">
                  <c:v>Preventive Cognitive Support for Senior Dogs</c:v>
                </c:pt>
                <c:pt idx="2">
                  <c:v>Support for Observable Age-Related Cognitive Changes</c:v>
                </c:pt>
                <c:pt idx="3">
                  <c:v>Veterinary-Guided Cognitive Dysfunction Support</c:v>
                </c:pt>
              </c:strCache>
            </c:strRef>
          </c:cat>
          <c:val>
            <c:numRef>
              <c:numCache>
                <c:formatCode>General</c:formatCode>
                <c:ptCount val="4"/>
                <c:pt idx="0">
                  <c:v>17.08580498209919</c:v>
                </c:pt>
                <c:pt idx="1">
                  <c:v>15.178907981782409</c:v>
                </c:pt>
                <c:pt idx="2">
                  <c:v>15.118129938849837</c:v>
                </c:pt>
                <c:pt idx="3">
                  <c:v>15.653865211249899</c:v>
                </c:pt>
              </c:numCache>
            </c:numRef>
          </c:val>
        </c:ser>
        <c:ser>
          <c:idx val="4"/>
          <c:order val="4"/>
          <c:tx>
            <c:strRef>
              <c:strCache>
                <c:ptCount val="1"/>
                <c:pt idx="0">
                  <c:v>Botanical Ingredients</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4"/>
                <c:pt idx="0">
                  <c:v>Routine Cognitive Wellness</c:v>
                </c:pt>
                <c:pt idx="1">
                  <c:v>Preventive Cognitive Support for Senior Dogs</c:v>
                </c:pt>
                <c:pt idx="2">
                  <c:v>Support for Observable Age-Related Cognitive Changes</c:v>
                </c:pt>
                <c:pt idx="3">
                  <c:v>Veterinary-Guided Cognitive Dysfunction Support</c:v>
                </c:pt>
              </c:strCache>
            </c:strRef>
          </c:cat>
          <c:val>
            <c:numRef>
              <c:numCache>
                <c:formatCode>General</c:formatCode>
                <c:ptCount val="4"/>
                <c:pt idx="0">
                  <c:v>12.729948491537895</c:v>
                </c:pt>
                <c:pt idx="1">
                  <c:v>13.849360182498707</c:v>
                </c:pt>
                <c:pt idx="2">
                  <c:v>12.876370395947898</c:v>
                </c:pt>
                <c:pt idx="3">
                  <c:v>13.012101356564784</c:v>
                </c:pt>
              </c:numCache>
            </c:numRef>
          </c:val>
        </c:ser>
        <c:ser>
          <c:idx val="5"/>
          <c:order val="5"/>
          <c:tx>
            <c:strRef>
              <c:strCache>
                <c:ptCount val="1"/>
                <c:pt idx="0">
                  <c:v>Neurofunctional Nutrients</c:v>
                </c:pt>
              </c:strCache>
            </c:strRef>
          </c:tx>
          <c:spPr>
            <a:solidFill>
              <a:srgbClr val="80808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4"/>
                <c:pt idx="0">
                  <c:v>Routine Cognitive Wellness</c:v>
                </c:pt>
                <c:pt idx="1">
                  <c:v>Preventive Cognitive Support for Senior Dogs</c:v>
                </c:pt>
                <c:pt idx="2">
                  <c:v>Support for Observable Age-Related Cognitive Changes</c:v>
                </c:pt>
                <c:pt idx="3">
                  <c:v>Veterinary-Guided Cognitive Dysfunction Support</c:v>
                </c:pt>
              </c:strCache>
            </c:strRef>
          </c:cat>
          <c:val>
            <c:numRef>
              <c:numCache>
                <c:formatCode>General</c:formatCode>
                <c:ptCount val="4"/>
                <c:pt idx="0">
                  <c:v>12.20039258647121</c:v>
                </c:pt>
                <c:pt idx="1">
                  <c:v>10.597996802353395</c:v>
                </c:pt>
                <c:pt idx="2">
                  <c:v>12.748677723935357</c:v>
                </c:pt>
                <c:pt idx="3">
                  <c:v>11.574433573191145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Support for Observable Age-Related Cognitive Changes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Veterinary Channels</c:v>
                </c:pt>
                <c:pt idx="1">
                  <c:v>Specialist Pet Retail</c:v>
                </c:pt>
                <c:pt idx="2">
                  <c:v>General Retail</c:v>
                </c:pt>
                <c:pt idx="3">
                  <c:v>Brand-Owned E-commerce</c:v>
                </c:pt>
                <c:pt idx="4">
                  <c:v>Third-Party E-commerce</c:v>
                </c:pt>
                <c:pt idx="5">
                  <c:v>Other Direct Sales</c:v>
                </c:pt>
              </c:strCache>
            </c:strRef>
          </c:cat>
          <c:val>
            <c:numRef>
              <c:numCache>
                <c:formatCode>General</c:formatCode>
                <c:ptCount val="6"/>
                <c:pt idx="0">
                  <c:v>62.38018806525246</c:v>
                </c:pt>
                <c:pt idx="1">
                  <c:v>63.45395699962808</c:v>
                </c:pt>
                <c:pt idx="2">
                  <c:v>61.325923056115116</c:v>
                </c:pt>
                <c:pt idx="3">
                  <c:v>62.04409689343422</c:v>
                </c:pt>
                <c:pt idx="4">
                  <c:v>66.19613552729582</c:v>
                </c:pt>
                <c:pt idx="5">
                  <c:v>60.70386492164186</c:v>
                </c:pt>
              </c:numCache>
            </c:numRef>
          </c:val>
        </c:ser>
        <c:ser>
          <c:idx val="1"/>
          <c:order val="1"/>
          <c:tx>
            <c:strRef>
              <c:strCache>
                <c:ptCount val="1"/>
                <c:pt idx="0">
                  <c:v>Routine Cognitive Wellness</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Veterinary Channels</c:v>
                </c:pt>
                <c:pt idx="1">
                  <c:v>Specialist Pet Retail</c:v>
                </c:pt>
                <c:pt idx="2">
                  <c:v>General Retail</c:v>
                </c:pt>
                <c:pt idx="3">
                  <c:v>Brand-Owned E-commerce</c:v>
                </c:pt>
                <c:pt idx="4">
                  <c:v>Third-Party E-commerce</c:v>
                </c:pt>
                <c:pt idx="5">
                  <c:v>Other Direct Sales</c:v>
                </c:pt>
              </c:strCache>
            </c:strRef>
          </c:cat>
          <c:val>
            <c:numRef>
              <c:numCache>
                <c:formatCode>General</c:formatCode>
                <c:ptCount val="6"/>
                <c:pt idx="0">
                  <c:v>20.973169546868775</c:v>
                </c:pt>
                <c:pt idx="1">
                  <c:v>21.572776454513562</c:v>
                </c:pt>
                <c:pt idx="2">
                  <c:v>22.815337252496708</c:v>
                </c:pt>
                <c:pt idx="3">
                  <c:v>22.193574269681065</c:v>
                </c:pt>
                <c:pt idx="4">
                  <c:v>20.666427169512364</c:v>
                </c:pt>
                <c:pt idx="5">
                  <c:v>23.632802374074316</c:v>
                </c:pt>
              </c:numCache>
            </c:numRef>
          </c:val>
        </c:ser>
        <c:ser>
          <c:idx val="2"/>
          <c:order val="2"/>
          <c:tx>
            <c:strRef>
              <c:strCache>
                <c:ptCount val="1"/>
                <c:pt idx="0">
                  <c:v>Preventive Cognitive Support for Senior Dogs</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Veterinary Channels</c:v>
                </c:pt>
                <c:pt idx="1">
                  <c:v>Specialist Pet Retail</c:v>
                </c:pt>
                <c:pt idx="2">
                  <c:v>General Retail</c:v>
                </c:pt>
                <c:pt idx="3">
                  <c:v>Brand-Owned E-commerce</c:v>
                </c:pt>
                <c:pt idx="4">
                  <c:v>Third-Party E-commerce</c:v>
                </c:pt>
                <c:pt idx="5">
                  <c:v>Other Direct Sales</c:v>
                </c:pt>
              </c:strCache>
            </c:strRef>
          </c:cat>
          <c:val>
            <c:numRef>
              <c:numCache>
                <c:formatCode>General</c:formatCode>
                <c:ptCount val="6"/>
                <c:pt idx="0">
                  <c:v>8.3687962443815</c:v>
                </c:pt>
                <c:pt idx="1">
                  <c:v>7.6908995471007335</c:v>
                </c:pt>
                <c:pt idx="2">
                  <c:v>8.745983319940272</c:v>
                </c:pt>
                <c:pt idx="3">
                  <c:v>8.540732006829845</c:v>
                </c:pt>
                <c:pt idx="4">
                  <c:v>6.301654742728435</c:v>
                </c:pt>
                <c:pt idx="5">
                  <c:v>8.341196452160785</c:v>
                </c:pt>
              </c:numCache>
            </c:numRef>
          </c:val>
        </c:ser>
        <c:ser>
          <c:idx val="3"/>
          <c:order val="3"/>
          <c:tx>
            <c:strRef>
              <c:strCache>
                <c:ptCount val="1"/>
                <c:pt idx="0">
                  <c:v>Veterinary-Guided Cognitive Dysfunction Support</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Veterinary Channels</c:v>
                </c:pt>
                <c:pt idx="1">
                  <c:v>Specialist Pet Retail</c:v>
                </c:pt>
                <c:pt idx="2">
                  <c:v>General Retail</c:v>
                </c:pt>
                <c:pt idx="3">
                  <c:v>Brand-Owned E-commerce</c:v>
                </c:pt>
                <c:pt idx="4">
                  <c:v>Third-Party E-commerce</c:v>
                </c:pt>
                <c:pt idx="5">
                  <c:v>Other Direct Sales</c:v>
                </c:pt>
              </c:strCache>
            </c:strRef>
          </c:cat>
          <c:val>
            <c:numRef>
              <c:numCache>
                <c:formatCode>General</c:formatCode>
                <c:ptCount val="6"/>
                <c:pt idx="0">
                  <c:v>8.277846143497277</c:v>
                </c:pt>
                <c:pt idx="1">
                  <c:v>7.2823669987576265</c:v>
                </c:pt>
                <c:pt idx="2">
                  <c:v>7.112756371447908</c:v>
                </c:pt>
                <c:pt idx="3">
                  <c:v>7.22159683005488</c:v>
                </c:pt>
                <c:pt idx="4">
                  <c:v>6.835782560463374</c:v>
                </c:pt>
                <c:pt idx="5">
                  <c:v>7.322136252123043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1.7923731863686898</c:v>
                </c:pt>
                <c:pt idx="1">
                  <c:v>2.5858271293185187</c:v>
                </c:pt>
                <c:pt idx="2">
                  <c:v>2.320657647599056</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3.4132918107004446"/>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586928.854</c:v>
                </c:pt>
                <c:pt idx="2">
                  <c:v>0.0</c:v>
                </c:pt>
                <c:pt idx="3">
                  <c:v>641448.3</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586928.854</c:v>
                </c:pt>
                <c:pt idx="1">
                  <c:v>54519.445999999996</c:v>
                </c:pt>
                <c:pt idx="2">
                  <c:v>641448.3</c:v>
                </c:pt>
                <c:pt idx="3">
                  <c:v>186561.16799999995</c:v>
                </c:pt>
                <c:pt idx="4">
                  <c:v>828009.468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3.247945887409953</c:v>
                </c:pt>
                <c:pt idx="1">
                  <c:v>4.056108237174105</c:v>
                </c:pt>
                <c:pt idx="2">
                  <c:v>3.7860203540756476</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5.354062873069819"/>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3065.726</c:v>
                </c:pt>
                <c:pt idx="2">
                  <c:v>0.0</c:v>
                </c:pt>
                <c:pt idx="3">
                  <c:v>3597.0</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3065.726</c:v>
                </c:pt>
                <c:pt idx="1">
                  <c:v>531.2739999999999</c:v>
                </c:pt>
                <c:pt idx="2">
                  <c:v>3597.0</c:v>
                </c:pt>
                <c:pt idx="3">
                  <c:v>1756.2340000000004</c:v>
                </c:pt>
                <c:pt idx="4">
                  <c:v>5353.234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3065.726</c:v>
                </c:pt>
                <c:pt idx="1">
                  <c:v>3165.2329999999997</c:v>
                </c:pt>
                <c:pt idx="2">
                  <c:v>3268.003</c:v>
                </c:pt>
                <c:pt idx="3">
                  <c:v>3374.146</c:v>
                </c:pt>
                <c:pt idx="4">
                  <c:v>3483.774</c:v>
                </c:pt>
              </c:numCache>
            </c:numRef>
          </c:val>
        </c:ser>
        <c:gapWidth val="50"/>
        <c:axId val="-2068027336"/>
        <c:axId val="-2113994440"/>
      </c:barChart>
      <c:barChart>
        <c:barDir val="col"/>
        <c:grouping val="clustered"/>
        <c:varyColors val="0"/>
        <c:ser>
          <c:idx val="1"/>
          <c:order val="1"/>
          <c:tx>
            <c:strRef>
              <c:strCache>
                <c:ptCount val="1"/>
                <c:pt idx="0">
                  <c:v>Volume (MT)</c:v>
                </c:pt>
              </c:strCache>
            </c:strRef>
          </c:tx>
          <c:spPr>
            <a:solidFill>
              <a:srgbClr val="C55A11"/>
            </a:solidFill>
            <a:ln>
              <a:noFill/>
            </a:ln>
          </c:spPr>
          <c:dLbls>
            <c:dLbl>
              <c:idx val="0"/>
              <c:numFmt formatCode="&quot;MMMMMMMMM&quot;;&quot;MMMMMMMMM&quot;;&quot;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586928.854</c:v>
                </c:pt>
                <c:pt idx="1">
                  <c:v>597441.504</c:v>
                </c:pt>
                <c:pt idx="2">
                  <c:v>608146.159</c:v>
                </c:pt>
                <c:pt idx="3">
                  <c:v>619046.399</c:v>
                </c:pt>
                <c:pt idx="4">
                  <c:v>630145.873</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4111"/>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894337"/>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3597.0</c:v>
                </c:pt>
                <c:pt idx="1">
                  <c:v>3742.7219999999998</c:v>
                </c:pt>
                <c:pt idx="2">
                  <c:v>3894.3869999999997</c:v>
                </c:pt>
                <c:pt idx="3">
                  <c:v>4052.241</c:v>
                </c:pt>
                <c:pt idx="4">
                  <c:v>4216.537</c:v>
                </c:pt>
                <c:pt idx="5">
                  <c:v>4387.5419999999995</c:v>
                </c:pt>
                <c:pt idx="6">
                  <c:v>4565.529</c:v>
                </c:pt>
                <c:pt idx="7">
                  <c:v>4750.786</c:v>
                </c:pt>
                <c:pt idx="8">
                  <c:v>4943.613</c:v>
                </c:pt>
                <c:pt idx="9">
                  <c:v>5144.321</c:v>
                </c:pt>
                <c:pt idx="10">
                  <c:v>5353.234</c:v>
                </c:pt>
              </c:numCache>
            </c:numRef>
          </c:val>
        </c:ser>
        <c:gapWidth val="50"/>
        <c:axId val="-2068027336"/>
        <c:axId val="-2113994440"/>
      </c:barChart>
      <c:barChart>
        <c:barDir val="col"/>
        <c:grouping val="clustered"/>
        <c:varyColors val="0"/>
        <c:ser>
          <c:idx val="1"/>
          <c:order val="1"/>
          <c:tx>
            <c:strRef>
              <c:strCache>
                <c:ptCount val="1"/>
                <c:pt idx="0">
                  <c:v>Volume (MT)</c:v>
                </c:pt>
              </c:strCache>
            </c:strRef>
          </c:tx>
          <c:spPr>
            <a:solidFill>
              <a:srgbClr val="C55A11"/>
            </a:solidFill>
            <a:ln>
              <a:noFill/>
            </a:ln>
          </c:spPr>
          <c:dLbls>
            <c:dLbl>
              <c:idx val="0"/>
              <c:numFmt formatCode="&quot;MMMMMMMMM&quot;;&quot;MMMMMMMMM&quot;;&quot;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641448.3</c:v>
                </c:pt>
                <c:pt idx="1">
                  <c:v>658017.0420000001</c:v>
                </c:pt>
                <c:pt idx="2">
                  <c:v>675017.838</c:v>
                </c:pt>
                <c:pt idx="3">
                  <c:v>692462.0690000001</c:v>
                </c:pt>
                <c:pt idx="4">
                  <c:v>710361.418</c:v>
                </c:pt>
                <c:pt idx="5">
                  <c:v>728727.8770000001</c:v>
                </c:pt>
                <c:pt idx="6">
                  <c:v>747573.762</c:v>
                </c:pt>
                <c:pt idx="7">
                  <c:v>766911.711</c:v>
                </c:pt>
                <c:pt idx="8">
                  <c:v>786754.7039999999</c:v>
                </c:pt>
                <c:pt idx="9">
                  <c:v>807116.0630000001</c:v>
                </c:pt>
                <c:pt idx="10">
                  <c:v>828009.468</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6317"/>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280079"/>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2"/>
                <c:pt idx="0">
                  <c:v>U.S.</c:v>
                </c:pt>
                <c:pt idx="1">
                  <c:v>Canada</c:v>
                </c:pt>
              </c:strCache>
            </c:strRef>
          </c:cat>
          <c:val>
            <c:numRef>
              <c:numCache>
                <c:formatCode>General</c:formatCode>
                <c:ptCount val="2"/>
                <c:pt idx="0">
                  <c:v>94.32280936141345</c:v>
                </c:pt>
                <c:pt idx="1">
                  <c:v>112.2089358792123</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35.66819683481814</c:v>
                </c:pt>
                <c:pt idx="1">
                  <c:v>64.33180316518188</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Lbls>
            <c:dLbl>
              <c:idx val="0"/>
              <c:layout>
                <c:manualLayout>
                  <c:x val="0.0350"/>
                  <c:y val="0.0000"/>
                </c:manualLayout>
              </c:layout>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Chewables</c:v>
                </c:pt>
                <c:pt idx="1">
                  <c:v>Tablets</c:v>
                </c:pt>
                <c:pt idx="2">
                  <c:v>Capsules and Softgels</c:v>
                </c:pt>
                <c:pt idx="3">
                  <c:v>Powders and Granules</c:v>
                </c:pt>
                <c:pt idx="4">
                  <c:v>Liquids</c:v>
                </c:pt>
                <c:pt idx="5">
                  <c:v>Gels and Pastes</c:v>
                </c:pt>
              </c:strCache>
            </c:strRef>
          </c:cat>
          <c:val>
            <c:numRef>
              <c:numCache>
                <c:formatCode>General</c:formatCode>
                <c:ptCount val="6"/>
                <c:pt idx="0">
                  <c:v>1050.556</c:v>
                </c:pt>
                <c:pt idx="1">
                  <c:v>1044.01</c:v>
                </c:pt>
                <c:pt idx="2">
                  <c:v>2193.581</c:v>
                </c:pt>
                <c:pt idx="3">
                  <c:v>197.25</c:v>
                </c:pt>
                <c:pt idx="4">
                  <c:v>375.578</c:v>
                </c:pt>
                <c:pt idx="5">
                  <c:v>492.259</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7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0.04553388112958957</c:v>
                </c:pt>
                <c:pt idx="1">
                  <c:v>0.04600540886124904</c:v>
                </c:pt>
                <c:pt idx="2">
                  <c:v>0.04703342427621834</c:v>
                </c:pt>
                <c:pt idx="3">
                  <c:v>0.047636639932935855</c:v>
                </c:pt>
                <c:pt idx="4">
                  <c:v>0.04865191135515759</c:v>
                </c:pt>
                <c:pt idx="5">
                  <c:v>0.05016419849453391</c:v>
                </c:pt>
                <c:pt idx="6">
                  <c:v>0.05079290213674653</c:v>
                </c:pt>
                <c:pt idx="7">
                  <c:v>0.05175294959039554</c:v>
                </c:pt>
                <c:pt idx="8">
                  <c:v>0.052394397225355716</c:v>
                </c:pt>
                <c:pt idx="9">
                  <c:v>0.0533247086959271</c:v>
                </c:pt>
                <c:pt idx="10">
                  <c:v>0.05434847611331387</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0.04439265069184865</c:v>
                </c:pt>
                <c:pt idx="1">
                  <c:v>0.04364496042388249</c:v>
                </c:pt>
                <c:pt idx="2">
                  <c:v>0.04244235017359956</c:v>
                </c:pt>
                <c:pt idx="3">
                  <c:v>0.04160007258257744</c:v>
                </c:pt>
                <c:pt idx="4">
                  <c:v>0.04064068687729556</c:v>
                </c:pt>
                <c:pt idx="5">
                  <c:v>0.039739855229143556</c:v>
                </c:pt>
                <c:pt idx="6">
                  <c:v>0.03869038635904647</c:v>
                </c:pt>
                <c:pt idx="7">
                  <c:v>0.03744273452635596</c:v>
                </c:pt>
                <c:pt idx="8">
                  <c:v>0.03694277296163159</c:v>
                </c:pt>
                <c:pt idx="9">
                  <c:v>0.03653289456172243</c:v>
                </c:pt>
                <c:pt idx="10">
                  <c:v>0.036055453788201866</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0.028995791195201466</c:v>
                </c:pt>
                <c:pt idx="1">
                  <c:v>0.030245791195201467</c:v>
                </c:pt>
                <c:pt idx="2">
                  <c:v>0.030445791195201466</c:v>
                </c:pt>
                <c:pt idx="3">
                  <c:v>0.02961579119520147</c:v>
                </c:pt>
                <c:pt idx="4">
                  <c:v>0.028635791195201467</c:v>
                </c:pt>
                <c:pt idx="5">
                  <c:v>0.02995579119520147</c:v>
                </c:pt>
                <c:pt idx="6">
                  <c:v>0.03136579119520147</c:v>
                </c:pt>
                <c:pt idx="7">
                  <c:v>0.03147579119520147</c:v>
                </c:pt>
                <c:pt idx="8">
                  <c:v>0.030655791195201468</c:v>
                </c:pt>
                <c:pt idx="9">
                  <c:v>0.029265791195201465</c:v>
                </c:pt>
                <c:pt idx="10">
                  <c:v>0.02791579119520147</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6D5E1"/>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6D5E1"/>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7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70.02305548241378</c:v>
                </c:pt>
                <c:pt idx="1">
                  <c:v>68.8858334407355</c:v>
                </c:pt>
              </c:numCache>
            </c:numRef>
          </c:val>
        </c:ser>
        <c:ser>
          <c:idx val="1"/>
          <c:order val="1"/>
          <c:tx>
            <c:strRef>
              <c:strCache>
                <c:ptCount val="1"/>
                <c:pt idx="0">
                  <c:v>Canada</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29.97694451758622</c:v>
                </c:pt>
                <c:pt idx="1">
                  <c:v>31.11416655926451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68.93577981651376</c:v>
                </c:pt>
                <c:pt idx="1">
                  <c:v>67.42535446797207</c:v>
                </c:pt>
              </c:numCache>
            </c:numRef>
          </c:val>
        </c:ser>
        <c:ser>
          <c:idx val="1"/>
          <c:order val="1"/>
          <c:tx>
            <c:strRef>
              <c:strCache>
                <c:ptCount val="1"/>
                <c:pt idx="0">
                  <c:v>Canada</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31.064220183486242</c:v>
                </c:pt>
                <c:pt idx="1">
                  <c:v>32.57464553202793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U.S.</c:v>
                </c:pt>
              </c:strCache>
            </c:strRef>
          </c:tx>
          <c:spPr>
            <a:solidFill>
              <a:srgbClr val="3D85C6"/>
            </a:solidFill>
            <a:ln>
              <a:noFill/>
            </a:ln>
          </c:spPr>
          <c:dLbls>
            <c:dLbl>
              <c:idx val="0"/>
              <c:numFmt formatCode="&quot;MMMMMMMMM&quot;;&quot;MMMMMMMMM&quot;;&quot;M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MM&quot;;&quot;MMMMMMMMM&quot;;&quot;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MM&quot;;&quot;MMMMMMMMM&quot;;&quot;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MM&quot;;&quot;MMMMMMMMM&quot;;&quot;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MM&quot;;&quot;MMMMMMMMM&quot;;&quot;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MM&quot;;&quot;MMMMMMMMM&quot;;&quot;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414302.84</c:v>
                </c:pt>
                <c:pt idx="1">
                  <c:v>421051.163</c:v>
                </c:pt>
                <c:pt idx="2">
                  <c:v>427909.406</c:v>
                </c:pt>
                <c:pt idx="3">
                  <c:v>434879.358</c:v>
                </c:pt>
                <c:pt idx="4">
                  <c:v>441962.839</c:v>
                </c:pt>
                <c:pt idx="5">
                  <c:v>449161.699</c:v>
                </c:pt>
                <c:pt idx="6">
                  <c:v>460022.386</c:v>
                </c:pt>
                <c:pt idx="7">
                  <c:v>471145.683</c:v>
                </c:pt>
                <c:pt idx="8">
                  <c:v>482537.941</c:v>
                </c:pt>
                <c:pt idx="9">
                  <c:v>494205.663</c:v>
                </c:pt>
                <c:pt idx="10">
                  <c:v>506155.508</c:v>
                </c:pt>
                <c:pt idx="11">
                  <c:v>518394.301</c:v>
                </c:pt>
                <c:pt idx="12">
                  <c:v>530929.025</c:v>
                </c:pt>
                <c:pt idx="13">
                  <c:v>543766.839</c:v>
                </c:pt>
                <c:pt idx="14">
                  <c:v>556915.069</c:v>
                </c:pt>
                <c:pt idx="15">
                  <c:v>570381.223</c:v>
                </c:pt>
              </c:numCache>
            </c:numRef>
          </c:val>
        </c:ser>
        <c:ser>
          <c:idx val="1"/>
          <c:order val="1"/>
          <c:tx>
            <c:strRef>
              <c:strCache>
                <c:ptCount val="1"/>
                <c:pt idx="0">
                  <c:v>Canada</c:v>
                </c:pt>
              </c:strCache>
            </c:strRef>
          </c:tx>
          <c:spPr>
            <a:solidFill>
              <a:srgbClr val="9E7E0A"/>
            </a:solidFill>
            <a:ln>
              <a:noFill/>
            </a:ln>
          </c:spPr>
          <c:dLbls>
            <c:dLbl>
              <c:idx val="0"/>
              <c:numFmt formatCode="&quot;MMMMMMMMM&quot;;&quot;MMMMMMMMM&quot;;&quot;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MM&quot;;&quot;MMMMMMMMM&quot;;&quot;MMMMMM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MM&quot;;&quot;MMMMMMMMM&quot;;&quot;MMMMMM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MM&quot;;&quot;MMMMMMMMM&quot;;&quot;MMMMMM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MM&quot;;&quot;MMMMMMMMM&quot;;&quot;MMMMMM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MM&quot;;&quot;MMMMMMMMM&quot;;&quot;MMMMMM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172626.014</c:v>
                </c:pt>
                <c:pt idx="1">
                  <c:v>176390.341</c:v>
                </c:pt>
                <c:pt idx="2">
                  <c:v>180236.753</c:v>
                </c:pt>
                <c:pt idx="3">
                  <c:v>184167.041</c:v>
                </c:pt>
                <c:pt idx="4">
                  <c:v>188183.034</c:v>
                </c:pt>
                <c:pt idx="5">
                  <c:v>192286.601</c:v>
                </c:pt>
                <c:pt idx="6">
                  <c:v>197994.656</c:v>
                </c:pt>
                <c:pt idx="7">
                  <c:v>203872.155</c:v>
                </c:pt>
                <c:pt idx="8">
                  <c:v>209924.128</c:v>
                </c:pt>
                <c:pt idx="9">
                  <c:v>216155.755</c:v>
                </c:pt>
                <c:pt idx="10">
                  <c:v>222572.369</c:v>
                </c:pt>
                <c:pt idx="11">
                  <c:v>229179.461</c:v>
                </c:pt>
                <c:pt idx="12">
                  <c:v>235982.686</c:v>
                </c:pt>
                <c:pt idx="13">
                  <c:v>242987.865</c:v>
                </c:pt>
                <c:pt idx="14">
                  <c:v>250200.994</c:v>
                </c:pt>
                <c:pt idx="15">
                  <c:v>257628.245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U.S.</c:v>
                </c:pt>
              </c:strCache>
            </c:strRef>
          </c:tx>
          <c:spPr>
            <a:solidFill>
              <a:srgbClr val="3D85C6"/>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quot;;&quot;MMMMMMM&quot;;&quot;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quot;;&quot;MMMMMMM&quot;;&quot;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quot;;&quot;MMMMMMM&quot;;&quot;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quot;;&quot;MMMMMMM&quot;;&quot;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quot;;&quot;MMMMMMM&quot;;&quot;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2136.262</c:v>
                </c:pt>
                <c:pt idx="1">
                  <c:v>2200.902</c:v>
                </c:pt>
                <c:pt idx="2">
                  <c:v>2267.497</c:v>
                </c:pt>
                <c:pt idx="3">
                  <c:v>2336.108</c:v>
                </c:pt>
                <c:pt idx="4">
                  <c:v>2406.795</c:v>
                </c:pt>
                <c:pt idx="5">
                  <c:v>2479.62</c:v>
                </c:pt>
                <c:pt idx="6">
                  <c:v>2574.487</c:v>
                </c:pt>
                <c:pt idx="7">
                  <c:v>2672.982</c:v>
                </c:pt>
                <c:pt idx="8">
                  <c:v>2775.246</c:v>
                </c:pt>
                <c:pt idx="9">
                  <c:v>2881.422</c:v>
                </c:pt>
                <c:pt idx="10">
                  <c:v>2991.661</c:v>
                </c:pt>
                <c:pt idx="11">
                  <c:v>3106.117</c:v>
                </c:pt>
                <c:pt idx="12">
                  <c:v>3224.952</c:v>
                </c:pt>
                <c:pt idx="13">
                  <c:v>3348.333</c:v>
                </c:pt>
                <c:pt idx="14">
                  <c:v>3476.435</c:v>
                </c:pt>
                <c:pt idx="15">
                  <c:v>3609.437</c:v>
                </c:pt>
              </c:numCache>
            </c:numRef>
          </c:val>
        </c:ser>
        <c:ser>
          <c:idx val="1"/>
          <c:order val="1"/>
          <c:tx>
            <c:strRef>
              <c:strCache>
                <c:ptCount val="1"/>
                <c:pt idx="0">
                  <c:v>Canada</c:v>
                </c:pt>
              </c:strCache>
            </c:strRef>
          </c:tx>
          <c:spPr>
            <a:solidFill>
              <a:srgbClr val="9E7E0A"/>
            </a:solidFill>
            <a:ln>
              <a:noFill/>
            </a:ln>
          </c:spPr>
          <c:dLbls>
            <c:dLbl>
              <c:idx val="0"/>
              <c:numFmt formatCode="&quot;MMMMM&quot;;&quot;MMMMM&quot;;&quot;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quot;;&quot;MMMMMMM&quot;;&quot;MMMM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quot;;&quot;MMMMMMM&quot;;&quot;MMMM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quot;;&quot;MMMMMMM&quot;;&quot;MMMM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quot;;&quot;MMMMMMM&quot;;&quot;MMMM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quot;;&quot;MMMMMMM&quot;;&quot;MMMM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929.464</c:v>
                </c:pt>
                <c:pt idx="1">
                  <c:v>964.331</c:v>
                </c:pt>
                <c:pt idx="2">
                  <c:v>1000.506</c:v>
                </c:pt>
                <c:pt idx="3">
                  <c:v>1038.038</c:v>
                </c:pt>
                <c:pt idx="4">
                  <c:v>1076.979</c:v>
                </c:pt>
                <c:pt idx="5">
                  <c:v>1117.38</c:v>
                </c:pt>
                <c:pt idx="6">
                  <c:v>1168.235</c:v>
                </c:pt>
                <c:pt idx="7">
                  <c:v>1221.405</c:v>
                </c:pt>
                <c:pt idx="8">
                  <c:v>1276.995</c:v>
                </c:pt>
                <c:pt idx="9">
                  <c:v>1335.115</c:v>
                </c:pt>
                <c:pt idx="10">
                  <c:v>1395.881</c:v>
                </c:pt>
                <c:pt idx="11">
                  <c:v>1459.412</c:v>
                </c:pt>
                <c:pt idx="12">
                  <c:v>1525.834</c:v>
                </c:pt>
                <c:pt idx="13">
                  <c:v>1595.28</c:v>
                </c:pt>
                <c:pt idx="14">
                  <c:v>1667.886</c:v>
                </c:pt>
                <c:pt idx="15">
                  <c:v>1743.797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Chewables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21.65372460211825</c:v>
                </c:pt>
                <c:pt idx="1">
                  <c:v>18.644431250635485</c:v>
                </c:pt>
              </c:numCache>
            </c:numRef>
          </c:val>
        </c:ser>
        <c:ser>
          <c:idx val="1"/>
          <c:order val="1"/>
          <c:tx>
            <c:strRef>
              <c:strCache>
                <c:ptCount val="1"/>
                <c:pt idx="0">
                  <c:v>Tablets</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18.84984318702234</c:v>
                </c:pt>
                <c:pt idx="1">
                  <c:v>19.817689019090786</c:v>
                </c:pt>
              </c:numCache>
            </c:numRef>
          </c:val>
        </c:ser>
        <c:ser>
          <c:idx val="2"/>
          <c:order val="2"/>
          <c:tx>
            <c:strRef>
              <c:strCache>
                <c:ptCount val="1"/>
                <c:pt idx="0">
                  <c:v>Capsules and Softgels</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40.12737721191171</c:v>
                </c:pt>
                <c:pt idx="1">
                  <c:v>41.38709167108332</c:v>
                </c:pt>
              </c:numCache>
            </c:numRef>
          </c:val>
        </c:ser>
        <c:ser>
          <c:idx val="3"/>
          <c:order val="3"/>
          <c:tx>
            <c:strRef>
              <c:strCache>
                <c:ptCount val="1"/>
                <c:pt idx="0">
                  <c:v>Powders and Granules</c:v>
                </c:pt>
              </c:strCache>
            </c:strRef>
          </c:tx>
          <c:spPr>
            <a:solidFill>
              <a:srgbClr val="40315E"/>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3.78748214385046</c:v>
                </c:pt>
                <c:pt idx="1">
                  <c:v>3.6350267368567453</c:v>
                </c:pt>
              </c:numCache>
            </c:numRef>
          </c:val>
        </c:ser>
        <c:ser>
          <c:idx val="4"/>
          <c:order val="4"/>
          <c:tx>
            <c:strRef>
              <c:strCache>
                <c:ptCount val="1"/>
                <c:pt idx="0">
                  <c:v>Liquids</c:v>
                </c:pt>
              </c:strCache>
            </c:strRef>
          </c:tx>
          <c:spPr>
            <a:solidFill>
              <a:srgbClr val="A35313"/>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6.62726223293193</c:v>
                </c:pt>
                <c:pt idx="1">
                  <c:v>7.203671929999055</c:v>
                </c:pt>
              </c:numCache>
            </c:numRef>
          </c:val>
        </c:ser>
        <c:ser>
          <c:idx val="5"/>
          <c:order val="5"/>
          <c:tx>
            <c:strRef>
              <c:strCache>
                <c:ptCount val="1"/>
                <c:pt idx="0">
                  <c:v>Gels and Pastes</c:v>
                </c:pt>
              </c:strCache>
            </c:strRef>
          </c:tx>
          <c:spPr>
            <a:solidFill>
              <a:srgbClr val="808080"/>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8.954310622165309</c:v>
                </c:pt>
                <c:pt idx="1">
                  <c:v>9.312089392334592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Chewables</c:v>
                </c:pt>
              </c:strCache>
            </c:strRef>
          </c:tx>
          <c:spPr>
            <a:solidFill>
              <a:srgbClr val="3D85C6"/>
            </a:solidFill>
          </c:spPr>
          <c:invertIfNegative val="0"/>
          <c:xVal>
            <c:numRef>
              <c:numCache>
                <c:formatCode>General</c:formatCode>
                <c:ptCount val="1"/>
                <c:pt idx="0">
                  <c:v>131.9289156360099</c:v>
                </c:pt>
              </c:numCache>
            </c:numRef>
          </c:xVal>
          <c:yVal>
            <c:numRef>
              <c:numCache>
                <c:formatCode>General</c:formatCode>
                <c:ptCount val="1"/>
                <c:pt idx="0">
                  <c:v>104.0485404503753</c:v>
                </c:pt>
              </c:numCache>
            </c:numRef>
          </c:yVal>
          <c:bubbleSize>
            <c:numRef>
              <c:numCache>
                <c:formatCode>General</c:formatCode>
                <c:ptCount val="1"/>
                <c:pt idx="0">
                  <c:v>1050.556</c:v>
                </c:pt>
              </c:numCache>
            </c:numRef>
          </c:bubbleSize>
          <c:bubble3D val="0"/>
        </c:ser>
        <c:ser>
          <c:idx val="1"/>
          <c:order val="1"/>
          <c:tx>
            <c:strRef>
              <c:strCache>
                <c:ptCount val="1"/>
                <c:pt idx="0">
                  <c:v>Tablets</c:v>
                </c:pt>
              </c:strCache>
            </c:strRef>
          </c:tx>
          <c:spPr>
            <a:solidFill>
              <a:srgbClr val="9E7E0A"/>
            </a:solidFill>
          </c:spPr>
          <c:invertIfNegative val="0"/>
          <c:xVal>
            <c:numRef>
              <c:numCache>
                <c:formatCode>General</c:formatCode>
                <c:ptCount val="1"/>
                <c:pt idx="0">
                  <c:v>82.4495866310543</c:v>
                </c:pt>
              </c:numCache>
            </c:numRef>
          </c:xVal>
          <c:yVal>
            <c:numRef>
              <c:numCache>
                <c:formatCode>General</c:formatCode>
                <c:ptCount val="1"/>
                <c:pt idx="0">
                  <c:v>125.32927439532946</c:v>
                </c:pt>
              </c:numCache>
            </c:numRef>
          </c:yVal>
          <c:bubbleSize>
            <c:numRef>
              <c:numCache>
                <c:formatCode>General</c:formatCode>
                <c:ptCount val="1"/>
                <c:pt idx="0">
                  <c:v>1044.01</c:v>
                </c:pt>
              </c:numCache>
            </c:numRef>
          </c:bubbleSize>
          <c:bubble3D val="0"/>
        </c:ser>
        <c:ser>
          <c:idx val="2"/>
          <c:order val="2"/>
          <c:tx>
            <c:strRef>
              <c:strCache>
                <c:ptCount val="1"/>
                <c:pt idx="0">
                  <c:v>Capsules and Softgels</c:v>
                </c:pt>
              </c:strCache>
            </c:strRef>
          </c:tx>
          <c:spPr>
            <a:solidFill>
              <a:srgbClr val="008189"/>
            </a:solidFill>
          </c:spPr>
          <c:invertIfNegative val="0"/>
          <c:xVal>
            <c:numRef>
              <c:numCache>
                <c:formatCode>General</c:formatCode>
                <c:ptCount val="1"/>
                <c:pt idx="0">
                  <c:v>117.67086979560308</c:v>
                </c:pt>
              </c:numCache>
            </c:numRef>
          </c:xVal>
          <c:yVal>
            <c:numRef>
              <c:numCache>
                <c:formatCode>General</c:formatCode>
                <c:ptCount val="1"/>
                <c:pt idx="0">
                  <c:v>229.5496246872394</c:v>
                </c:pt>
              </c:numCache>
            </c:numRef>
          </c:yVal>
          <c:bubbleSize>
            <c:numRef>
              <c:numCache>
                <c:formatCode>General</c:formatCode>
                <c:ptCount val="1"/>
                <c:pt idx="0">
                  <c:v>2193.581</c:v>
                </c:pt>
              </c:numCache>
            </c:numRef>
          </c:bubbleSize>
          <c:bubble3D val="0"/>
        </c:ser>
        <c:ser>
          <c:idx val="3"/>
          <c:order val="3"/>
          <c:tx>
            <c:strRef>
              <c:strCache>
                <c:ptCount val="1"/>
                <c:pt idx="0">
                  <c:v>Powders and Granules</c:v>
                </c:pt>
              </c:strCache>
            </c:strRef>
          </c:tx>
          <c:spPr>
            <a:solidFill>
              <a:srgbClr val="40315E"/>
            </a:solidFill>
          </c:spPr>
          <c:invertIfNegative val="0"/>
          <c:xVal>
            <c:numRef>
              <c:numCache>
                <c:formatCode>General</c:formatCode>
                <c:ptCount val="1"/>
                <c:pt idx="0">
                  <c:v>71.2458528781597</c:v>
                </c:pt>
              </c:numCache>
            </c:numRef>
          </c:xVal>
          <c:yVal>
            <c:numRef>
              <c:numCache>
                <c:formatCode>General</c:formatCode>
                <c:ptCount val="1"/>
                <c:pt idx="0">
                  <c:v>24.745954962468726</c:v>
                </c:pt>
              </c:numCache>
            </c:numRef>
          </c:yVal>
          <c:bubbleSize>
            <c:numRef>
              <c:numCache>
                <c:formatCode>General</c:formatCode>
                <c:ptCount val="1"/>
                <c:pt idx="0">
                  <c:v>197.25</c:v>
                </c:pt>
              </c:numCache>
            </c:numRef>
          </c:bubbleSize>
          <c:bubble3D val="0"/>
        </c:ser>
        <c:ser>
          <c:idx val="4"/>
          <c:order val="4"/>
          <c:tx>
            <c:strRef>
              <c:strCache>
                <c:ptCount val="1"/>
                <c:pt idx="0">
                  <c:v>Liquids</c:v>
                </c:pt>
              </c:strCache>
            </c:strRef>
          </c:tx>
          <c:spPr>
            <a:solidFill>
              <a:srgbClr val="A35313"/>
            </a:solidFill>
          </c:spPr>
          <c:invertIfNegative val="0"/>
          <c:xVal>
            <c:numRef>
              <c:numCache>
                <c:formatCode>General</c:formatCode>
                <c:ptCount val="1"/>
                <c:pt idx="0">
                  <c:v>52.82758534235832</c:v>
                </c:pt>
              </c:numCache>
            </c:numRef>
          </c:xVal>
          <c:yVal>
            <c:numRef>
              <c:numCache>
                <c:formatCode>General</c:formatCode>
                <c:ptCount val="1"/>
                <c:pt idx="0">
                  <c:v>50.67989991659717</c:v>
                </c:pt>
              </c:numCache>
            </c:numRef>
          </c:yVal>
          <c:bubbleSize>
            <c:numRef>
              <c:numCache>
                <c:formatCode>General</c:formatCode>
                <c:ptCount val="1"/>
                <c:pt idx="0">
                  <c:v>375.578</c:v>
                </c:pt>
              </c:numCache>
            </c:numRef>
          </c:bubbleSize>
          <c:bubble3D val="0"/>
        </c:ser>
        <c:ser>
          <c:idx val="5"/>
          <c:order val="5"/>
          <c:tx>
            <c:strRef>
              <c:strCache>
                <c:ptCount val="1"/>
                <c:pt idx="0">
                  <c:v>Gels and Pastes</c:v>
                </c:pt>
              </c:strCache>
            </c:strRef>
          </c:tx>
          <c:spPr>
            <a:solidFill>
              <a:srgbClr val="808080"/>
            </a:solidFill>
          </c:spPr>
          <c:invertIfNegative val="0"/>
          <c:xVal>
            <c:numRef>
              <c:numCache>
                <c:formatCode>General</c:formatCode>
                <c:ptCount val="1"/>
                <c:pt idx="0">
                  <c:v>55.796025282363594</c:v>
                </c:pt>
              </c:numCache>
            </c:numRef>
          </c:xVal>
          <c:yVal>
            <c:numRef>
              <c:numCache>
                <c:formatCode>General</c:formatCode>
                <c:ptCount val="1"/>
                <c:pt idx="0">
                  <c:v>65.64670558799001</c:v>
                </c:pt>
              </c:numCache>
            </c:numRef>
          </c:yVal>
          <c:bubbleSize>
            <c:numRef>
              <c:numCache>
                <c:formatCode>General</c:formatCode>
                <c:ptCount val="1"/>
                <c:pt idx="0">
                  <c:v>492.259</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60.0"/>
          <c:min val="3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30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7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623.771</c:v>
                </c:pt>
                <c:pt idx="2">
                  <c:v>694.323</c:v>
                </c:pt>
                <c:pt idx="3">
                  <c:v>771.628</c:v>
                </c:pt>
                <c:pt idx="4">
                  <c:v>856.308</c:v>
                </c:pt>
                <c:pt idx="5">
                  <c:v>949.038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623.771</c:v>
                </c:pt>
                <c:pt idx="1">
                  <c:v>70.55200000000002</c:v>
                </c:pt>
                <c:pt idx="2">
                  <c:v>77.30500000000006</c:v>
                </c:pt>
                <c:pt idx="3">
                  <c:v>84.67999999999995</c:v>
                </c:pt>
                <c:pt idx="4">
                  <c:v>92.73000000000002</c:v>
                </c:pt>
                <c:pt idx="5">
                  <c:v>101.51800000000003</c:v>
                </c:pt>
                <c:pt idx="6">
                  <c:v>1050.556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751.349</c:v>
                </c:pt>
                <c:pt idx="2">
                  <c:v>801.929</c:v>
                </c:pt>
                <c:pt idx="3">
                  <c:v>856.197</c:v>
                </c:pt>
                <c:pt idx="4">
                  <c:v>914.43</c:v>
                </c:pt>
                <c:pt idx="5">
                  <c:v>976.927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751.349</c:v>
                </c:pt>
                <c:pt idx="1">
                  <c:v>50.57999999999993</c:v>
                </c:pt>
                <c:pt idx="2">
                  <c:v>54.26800000000003</c:v>
                </c:pt>
                <c:pt idx="3">
                  <c:v>58.23299999999995</c:v>
                </c:pt>
                <c:pt idx="4">
                  <c:v>62.49700000000007</c:v>
                </c:pt>
                <c:pt idx="5">
                  <c:v>67.08299999999997</c:v>
                </c:pt>
                <c:pt idx="6">
                  <c:v>1044.01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1376.15</c:v>
                </c:pt>
                <c:pt idx="2">
                  <c:v>1512.617</c:v>
                </c:pt>
                <c:pt idx="3">
                  <c:v>1661.451</c:v>
                </c:pt>
                <c:pt idx="4">
                  <c:v>1823.742</c:v>
                </c:pt>
                <c:pt idx="5">
                  <c:v>2000.686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1376.15</c:v>
                </c:pt>
                <c:pt idx="1">
                  <c:v>136.46699999999987</c:v>
                </c:pt>
                <c:pt idx="2">
                  <c:v>148.83400000000006</c:v>
                </c:pt>
                <c:pt idx="3">
                  <c:v>162.29099999999994</c:v>
                </c:pt>
                <c:pt idx="4">
                  <c:v>176.94399999999996</c:v>
                </c:pt>
                <c:pt idx="5">
                  <c:v>192.8950000000002</c:v>
                </c:pt>
                <c:pt idx="6">
                  <c:v>2193.581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148.352</c:v>
                </c:pt>
                <c:pt idx="2">
                  <c:v>156.955</c:v>
                </c:pt>
                <c:pt idx="3">
                  <c:v>166.108</c:v>
                </c:pt>
                <c:pt idx="4">
                  <c:v>175.849</c:v>
                </c:pt>
                <c:pt idx="5">
                  <c:v>186.216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148.352</c:v>
                </c:pt>
                <c:pt idx="1">
                  <c:v>8.603000000000009</c:v>
                </c:pt>
                <c:pt idx="2">
                  <c:v>9.152999999999992</c:v>
                </c:pt>
                <c:pt idx="3">
                  <c:v>9.740999999999985</c:v>
                </c:pt>
                <c:pt idx="4">
                  <c:v>10.367000000000019</c:v>
                </c:pt>
                <c:pt idx="5">
                  <c:v>11.033999999999992</c:v>
                </c:pt>
                <c:pt idx="6">
                  <c:v>197.25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303.826</c:v>
                </c:pt>
                <c:pt idx="2">
                  <c:v>317.021</c:v>
                </c:pt>
                <c:pt idx="3">
                  <c:v>330.777</c:v>
                </c:pt>
                <c:pt idx="4">
                  <c:v>345.113</c:v>
                </c:pt>
                <c:pt idx="5">
                  <c:v>360.042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303.826</c:v>
                </c:pt>
                <c:pt idx="1">
                  <c:v>13.194999999999993</c:v>
                </c:pt>
                <c:pt idx="2">
                  <c:v>13.755999999999972</c:v>
                </c:pt>
                <c:pt idx="3">
                  <c:v>14.336000000000013</c:v>
                </c:pt>
                <c:pt idx="4">
                  <c:v>14.928999999999974</c:v>
                </c:pt>
                <c:pt idx="5">
                  <c:v>15.536000000000001</c:v>
                </c:pt>
                <c:pt idx="6">
                  <c:v>375.578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393.552</c:v>
                </c:pt>
                <c:pt idx="2">
                  <c:v>411.542</c:v>
                </c:pt>
                <c:pt idx="3">
                  <c:v>430.376</c:v>
                </c:pt>
                <c:pt idx="4">
                  <c:v>450.087</c:v>
                </c:pt>
                <c:pt idx="5">
                  <c:v>470.704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393.552</c:v>
                </c:pt>
                <c:pt idx="1">
                  <c:v>17.989999999999952</c:v>
                </c:pt>
                <c:pt idx="2">
                  <c:v>18.834000000000003</c:v>
                </c:pt>
                <c:pt idx="3">
                  <c:v>19.711000000000013</c:v>
                </c:pt>
                <c:pt idx="4">
                  <c:v>20.61700000000002</c:v>
                </c:pt>
                <c:pt idx="5">
                  <c:v>21.555000000000007</c:v>
                </c:pt>
                <c:pt idx="6">
                  <c:v>492.259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Capsules and Softgels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36.70438910718048</c:v>
                </c:pt>
                <c:pt idx="1">
                  <c:v>38.25827078120657</c:v>
                </c:pt>
                <c:pt idx="2">
                  <c:v>40.97674415129247</c:v>
                </c:pt>
              </c:numCache>
            </c:numRef>
          </c:val>
        </c:ser>
        <c:ser>
          <c:idx val="1"/>
          <c:order val="1"/>
          <c:tx>
            <c:strRef>
              <c:strCache>
                <c:ptCount val="1"/>
                <c:pt idx="0">
                  <c:v>Chewables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16.046182861743024</c:v>
                </c:pt>
                <c:pt idx="1">
                  <c:v>17.341423408395883</c:v>
                </c:pt>
                <c:pt idx="2">
                  <c:v>19.62469789289988</c:v>
                </c:pt>
              </c:numCache>
            </c:numRef>
          </c:val>
        </c:ser>
        <c:ser>
          <c:idx val="2"/>
          <c:order val="2"/>
          <c:tx>
            <c:strRef>
              <c:strCache>
                <c:ptCount val="1"/>
                <c:pt idx="0">
                  <c:v>Tablets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21.676627330687737</c:v>
                </c:pt>
                <c:pt idx="1">
                  <c:v>20.888212399221576</c:v>
                </c:pt>
                <c:pt idx="2">
                  <c:v>19.502416669997984</c:v>
                </c:pt>
              </c:numCache>
            </c:numRef>
          </c:val>
        </c:ser>
        <c:ser>
          <c:idx val="3"/>
          <c:order val="3"/>
          <c:tx>
            <c:strRef>
              <c:strCache>
                <c:ptCount val="1"/>
                <c:pt idx="0">
                  <c:v>Gels and Pastes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11.935802482022199</c:v>
                </c:pt>
                <c:pt idx="1">
                  <c:v>10.941117597998334</c:v>
                </c:pt>
                <c:pt idx="2">
                  <c:v>9.1955442261631</c:v>
                </c:pt>
              </c:numCache>
            </c:numRef>
          </c:val>
        </c:ser>
        <c:ser>
          <c:idx val="4"/>
          <c:order val="4"/>
          <c:tx>
            <c:strRef>
              <c:strCache>
                <c:ptCount val="1"/>
                <c:pt idx="0">
                  <c:v>Liquids</c:v>
                </c:pt>
              </c:strCache>
            </c:strRef>
          </c:tx>
          <c:spPr>
            <a:solidFill>
              <a:srgbClr val="A35313"/>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9.262341122461693</c:v>
                </c:pt>
                <c:pt idx="1">
                  <c:v>8.446649986099528</c:v>
                </c:pt>
                <c:pt idx="2">
                  <c:v>7.015908514367202</c:v>
                </c:pt>
              </c:numCache>
            </c:numRef>
          </c:val>
        </c:ser>
        <c:ser>
          <c:idx val="5"/>
          <c:order val="5"/>
          <c:tx>
            <c:strRef>
              <c:strCache>
                <c:ptCount val="1"/>
                <c:pt idx="0">
                  <c:v>Powders and Granules</c:v>
                </c:pt>
              </c:strCache>
            </c:strRef>
          </c:tx>
          <c:spPr>
            <a:solidFill>
              <a:srgbClr val="808080"/>
            </a:solidFill>
            <a:ln>
              <a:noFill/>
            </a:ln>
          </c:spPr>
          <c:dLbls>
            <c:dLbl>
              <c:idx val="0"/>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4.374657095904852</c:v>
                </c:pt>
                <c:pt idx="1">
                  <c:v>4.1243258270781205</c:v>
                </c:pt>
                <c:pt idx="2">
                  <c:v>3.6846885452793576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Omega-3 Fatty Acids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16.23755517414011</c:v>
                </c:pt>
                <c:pt idx="1">
                  <c:v>18.210485457981395</c:v>
                </c:pt>
              </c:numCache>
            </c:numRef>
          </c:val>
        </c:ser>
        <c:ser>
          <c:idx val="1"/>
          <c:order val="1"/>
          <c:tx>
            <c:strRef>
              <c:strCache>
                <c:ptCount val="1"/>
                <c:pt idx="0">
                  <c:v>Antioxidant Ingredients</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21.993500390240378</c:v>
                </c:pt>
                <c:pt idx="1">
                  <c:v>23.36400385988175</c:v>
                </c:pt>
              </c:numCache>
            </c:numRef>
          </c:val>
        </c:ser>
        <c:ser>
          <c:idx val="2"/>
          <c:order val="2"/>
          <c:tx>
            <c:strRef>
              <c:strCache>
                <c:ptCount val="1"/>
                <c:pt idx="0">
                  <c:v>Neurofunctional Nutrients</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11.57709297584524</c:v>
                </c:pt>
                <c:pt idx="1">
                  <c:v>10.753477619916902</c:v>
                </c:pt>
              </c:numCache>
            </c:numRef>
          </c:val>
        </c:ser>
        <c:ser>
          <c:idx val="3"/>
          <c:order val="3"/>
          <c:tx>
            <c:strRef>
              <c:strCache>
                <c:ptCount val="1"/>
                <c:pt idx="0">
                  <c:v>Cellular Energy Support Ingredients</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23.839930909389107</c:v>
                </c:pt>
                <c:pt idx="1">
                  <c:v>23.314079176336918</c:v>
                </c:pt>
              </c:numCache>
            </c:numRef>
          </c:val>
        </c:ser>
        <c:ser>
          <c:idx val="4"/>
          <c:order val="4"/>
          <c:tx>
            <c:strRef>
              <c:strCache>
                <c:ptCount val="1"/>
                <c:pt idx="0">
                  <c:v>Botanical Ingredients</c:v>
                </c:pt>
              </c:strCache>
            </c:strRef>
          </c:tx>
          <c:spPr>
            <a:solidFill>
              <a:srgbClr val="A35313"/>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13.170340354983978</c:v>
                </c:pt>
                <c:pt idx="1">
                  <c:v>10.120359490967704</c:v>
                </c:pt>
              </c:numCache>
            </c:numRef>
          </c:val>
        </c:ser>
        <c:ser>
          <c:idx val="5"/>
          <c:order val="5"/>
          <c:tx>
            <c:strRef>
              <c:strCache>
                <c:ptCount val="1"/>
                <c:pt idx="0">
                  <c:v>Microbiome-Targeted Ingredients</c:v>
                </c:pt>
              </c:strCache>
            </c:strRef>
          </c:tx>
          <c:spPr>
            <a:solidFill>
              <a:srgbClr val="808080"/>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13.181580195401185</c:v>
                </c:pt>
                <c:pt idx="1">
                  <c:v>14.237594394915329</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85.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Omega-3 Fatty Acids</c:v>
                </c:pt>
              </c:strCache>
            </c:strRef>
          </c:tx>
          <c:spPr>
            <a:solidFill>
              <a:srgbClr val="3D85C6"/>
            </a:solidFill>
          </c:spPr>
          <c:invertIfNegative val="0"/>
          <c:xVal>
            <c:numRef>
              <c:numCache>
                <c:formatCode>General</c:formatCode>
                <c:ptCount val="1"/>
                <c:pt idx="0">
                  <c:v>91.96704836956867</c:v>
                </c:pt>
              </c:numCache>
            </c:numRef>
          </c:xVal>
          <c:yVal>
            <c:numRef>
              <c:numCache>
                <c:formatCode>General</c:formatCode>
                <c:ptCount val="1"/>
                <c:pt idx="0">
                  <c:v>108.7649708090075</c:v>
                </c:pt>
              </c:numCache>
            </c:numRef>
          </c:yVal>
          <c:bubbleSize>
            <c:numRef>
              <c:numCache>
                <c:formatCode>General</c:formatCode>
                <c:ptCount val="1"/>
                <c:pt idx="0">
                  <c:v>940.446</c:v>
                </c:pt>
              </c:numCache>
            </c:numRef>
          </c:bubbleSize>
          <c:bubble3D val="0"/>
        </c:ser>
        <c:ser>
          <c:idx val="1"/>
          <c:order val="1"/>
          <c:tx>
            <c:strRef>
              <c:strCache>
                <c:ptCount val="1"/>
                <c:pt idx="0">
                  <c:v>Antioxidant Ingredients</c:v>
                </c:pt>
              </c:strCache>
            </c:strRef>
          </c:tx>
          <c:spPr>
            <a:solidFill>
              <a:srgbClr val="9E7E0A"/>
            </a:solidFill>
          </c:spPr>
          <c:invertIfNegative val="0"/>
          <c:xVal>
            <c:numRef>
              <c:numCache>
                <c:formatCode>General</c:formatCode>
                <c:ptCount val="1"/>
                <c:pt idx="0">
                  <c:v>121.07245121498525</c:v>
                </c:pt>
              </c:numCache>
            </c:numRef>
          </c:xVal>
          <c:yVal>
            <c:numRef>
              <c:numCache>
                <c:formatCode>General</c:formatCode>
                <c:ptCount val="1"/>
                <c:pt idx="0">
                  <c:v>126.70458715596331</c:v>
                </c:pt>
              </c:numCache>
            </c:numRef>
          </c:yVal>
          <c:bubbleSize>
            <c:numRef>
              <c:numCache>
                <c:formatCode>General</c:formatCode>
                <c:ptCount val="1"/>
                <c:pt idx="0">
                  <c:v>1226.831</c:v>
                </c:pt>
              </c:numCache>
            </c:numRef>
          </c:bubbleSize>
          <c:bubble3D val="0"/>
        </c:ser>
        <c:ser>
          <c:idx val="2"/>
          <c:order val="2"/>
          <c:tx>
            <c:strRef>
              <c:strCache>
                <c:ptCount val="1"/>
                <c:pt idx="0">
                  <c:v>Neurofunctional Nutrients</c:v>
                </c:pt>
              </c:strCache>
            </c:strRef>
          </c:tx>
          <c:spPr>
            <a:solidFill>
              <a:srgbClr val="008189"/>
            </a:solidFill>
          </c:spPr>
          <c:invertIfNegative val="0"/>
          <c:xVal>
            <c:numRef>
              <c:numCache>
                <c:formatCode>General</c:formatCode>
                <c:ptCount val="1"/>
                <c:pt idx="0">
                  <c:v>81.45566633984122</c:v>
                </c:pt>
              </c:numCache>
            </c:numRef>
          </c:xVal>
          <c:yVal>
            <c:numRef>
              <c:numCache>
                <c:formatCode>General</c:formatCode>
                <c:ptCount val="1"/>
                <c:pt idx="0">
                  <c:v>71.10658882402001</c:v>
                </c:pt>
              </c:numCache>
            </c:numRef>
          </c:yVal>
          <c:bubbleSize>
            <c:numRef>
              <c:numCache>
                <c:formatCode>General</c:formatCode>
                <c:ptCount val="1"/>
                <c:pt idx="0">
                  <c:v>590.021</c:v>
                </c:pt>
              </c:numCache>
            </c:numRef>
          </c:bubbleSize>
          <c:bubble3D val="0"/>
        </c:ser>
        <c:ser>
          <c:idx val="3"/>
          <c:order val="3"/>
          <c:tx>
            <c:strRef>
              <c:strCache>
                <c:ptCount val="1"/>
                <c:pt idx="0">
                  <c:v>Cellular Energy Support Ingredients</c:v>
                </c:pt>
              </c:strCache>
            </c:strRef>
          </c:tx>
          <c:spPr>
            <a:solidFill>
              <a:srgbClr val="40315E"/>
            </a:solidFill>
          </c:spPr>
          <c:invertIfNegative val="0"/>
          <c:xVal>
            <c:numRef>
              <c:numCache>
                <c:formatCode>General</c:formatCode>
                <c:ptCount val="1"/>
                <c:pt idx="0">
                  <c:v>118.1063091378974</c:v>
                </c:pt>
              </c:numCache>
            </c:numRef>
          </c:xVal>
          <c:yVal>
            <c:numRef>
              <c:numCache>
                <c:formatCode>General</c:formatCode>
                <c:ptCount val="1"/>
                <c:pt idx="0">
                  <c:v>131.34228523769806</c:v>
                </c:pt>
              </c:numCache>
            </c:numRef>
          </c:yVal>
          <c:bubbleSize>
            <c:numRef>
              <c:numCache>
                <c:formatCode>General</c:formatCode>
                <c:ptCount val="1"/>
                <c:pt idx="0">
                  <c:v>1257.2269999999999</c:v>
                </c:pt>
              </c:numCache>
            </c:numRef>
          </c:bubbleSize>
          <c:bubble3D val="0"/>
        </c:ser>
        <c:ser>
          <c:idx val="4"/>
          <c:order val="4"/>
          <c:tx>
            <c:strRef>
              <c:strCache>
                <c:ptCount val="1"/>
                <c:pt idx="0">
                  <c:v>Botanical Ingredients</c:v>
                </c:pt>
              </c:strCache>
            </c:strRef>
          </c:tx>
          <c:spPr>
            <a:solidFill>
              <a:srgbClr val="A35313"/>
            </a:solidFill>
          </c:spPr>
          <c:invertIfNegative val="0"/>
          <c:xVal>
            <c:numRef>
              <c:numCache>
                <c:formatCode>General</c:formatCode>
                <c:ptCount val="1"/>
                <c:pt idx="0">
                  <c:v>76.08842624667541</c:v>
                </c:pt>
              </c:numCache>
            </c:numRef>
          </c:xVal>
          <c:yVal>
            <c:numRef>
              <c:numCache>
                <c:formatCode>General</c:formatCode>
                <c:ptCount val="1"/>
                <c:pt idx="0">
                  <c:v>73.22952460383652</c:v>
                </c:pt>
              </c:numCache>
            </c:numRef>
          </c:yVal>
          <c:bubbleSize>
            <c:numRef>
              <c:numCache>
                <c:formatCode>General</c:formatCode>
                <c:ptCount val="1"/>
                <c:pt idx="0">
                  <c:v>594.952</c:v>
                </c:pt>
              </c:numCache>
            </c:numRef>
          </c:bubbleSize>
          <c:bubble3D val="0"/>
        </c:ser>
        <c:ser>
          <c:idx val="5"/>
          <c:order val="5"/>
          <c:tx>
            <c:strRef>
              <c:strCache>
                <c:ptCount val="1"/>
                <c:pt idx="0">
                  <c:v>Microbiome-Targeted Ingredients</c:v>
                </c:pt>
              </c:strCache>
            </c:strRef>
          </c:tx>
          <c:spPr>
            <a:solidFill>
              <a:srgbClr val="808080"/>
            </a:solidFill>
          </c:spPr>
          <c:invertIfNegative val="0"/>
          <c:xVal>
            <c:numRef>
              <c:numCache>
                <c:formatCode>General</c:formatCode>
                <c:ptCount val="1"/>
                <c:pt idx="0">
                  <c:v>83.68864507019292</c:v>
                </c:pt>
              </c:numCache>
            </c:numRef>
          </c:xVal>
          <c:yVal>
            <c:numRef>
              <c:numCache>
                <c:formatCode>General</c:formatCode>
                <c:ptCount val="1"/>
                <c:pt idx="0">
                  <c:v>88.85204336947456</c:v>
                </c:pt>
              </c:numCache>
            </c:numRef>
          </c:yVal>
          <c:bubbleSize>
            <c:numRef>
              <c:numCache>
                <c:formatCode>General</c:formatCode>
                <c:ptCount val="1"/>
                <c:pt idx="0">
                  <c:v>743.7570000000001</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35.0"/>
          <c:min val="6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8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652.0459999999999</c:v>
                </c:pt>
                <c:pt idx="2">
                  <c:v>701.51</c:v>
                </c:pt>
                <c:pt idx="3">
                  <c:v>754.776</c:v>
                </c:pt>
                <c:pt idx="4">
                  <c:v>812.136</c:v>
                </c:pt>
                <c:pt idx="5">
                  <c:v>873.912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652.0459999999999</c:v>
                </c:pt>
                <c:pt idx="1">
                  <c:v>49.464000000000055</c:v>
                </c:pt>
                <c:pt idx="2">
                  <c:v>53.26599999999996</c:v>
                </c:pt>
                <c:pt idx="3">
                  <c:v>57.360000000000014</c:v>
                </c:pt>
                <c:pt idx="4">
                  <c:v>61.77600000000007</c:v>
                </c:pt>
                <c:pt idx="5">
                  <c:v>66.53399999999999</c:v>
                </c:pt>
                <c:pt idx="6">
                  <c:v>940.446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759.5939999999999</c:v>
                </c:pt>
                <c:pt idx="2">
                  <c:v>836.677</c:v>
                </c:pt>
                <c:pt idx="3">
                  <c:v>921.21</c:v>
                </c:pt>
                <c:pt idx="4">
                  <c:v>1013.8919999999999</c:v>
                </c:pt>
                <c:pt idx="5">
                  <c:v>1115.487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759.5939999999999</c:v>
                </c:pt>
                <c:pt idx="1">
                  <c:v>77.08300000000008</c:v>
                </c:pt>
                <c:pt idx="2">
                  <c:v>84.53300000000002</c:v>
                </c:pt>
                <c:pt idx="3">
                  <c:v>92.6819999999999</c:v>
                </c:pt>
                <c:pt idx="4">
                  <c:v>101.59500000000014</c:v>
                </c:pt>
                <c:pt idx="5">
                  <c:v>111.34399999999982</c:v>
                </c:pt>
                <c:pt idx="6">
                  <c:v>1226.831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426.284</c:v>
                </c:pt>
                <c:pt idx="2">
                  <c:v>454.935</c:v>
                </c:pt>
                <c:pt idx="3">
                  <c:v>485.50199999999995</c:v>
                </c:pt>
                <c:pt idx="4">
                  <c:v>518.114</c:v>
                </c:pt>
                <c:pt idx="5">
                  <c:v>552.906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426.284</c:v>
                </c:pt>
                <c:pt idx="1">
                  <c:v>28.65100000000001</c:v>
                </c:pt>
                <c:pt idx="2">
                  <c:v>30.56699999999995</c:v>
                </c:pt>
                <c:pt idx="3">
                  <c:v>32.61200000000008</c:v>
                </c:pt>
                <c:pt idx="4">
                  <c:v>34.791999999999916</c:v>
                </c:pt>
                <c:pt idx="5">
                  <c:v>37.11500000000001</c:v>
                </c:pt>
                <c:pt idx="6">
                  <c:v>590.021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787.3969999999999</c:v>
                </c:pt>
                <c:pt idx="2">
                  <c:v>865.1650000000001</c:v>
                </c:pt>
                <c:pt idx="3">
                  <c:v>950.316</c:v>
                </c:pt>
                <c:pt idx="4">
                  <c:v>1043.531</c:v>
                </c:pt>
                <c:pt idx="5">
                  <c:v>1145.5629999999999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787.3969999999999</c:v>
                </c:pt>
                <c:pt idx="1">
                  <c:v>77.76800000000014</c:v>
                </c:pt>
                <c:pt idx="2">
                  <c:v>85.15099999999995</c:v>
                </c:pt>
                <c:pt idx="3">
                  <c:v>93.21499999999992</c:v>
                </c:pt>
                <c:pt idx="4">
                  <c:v>102.03199999999993</c:v>
                </c:pt>
                <c:pt idx="5">
                  <c:v>111.66399999999999</c:v>
                </c:pt>
                <c:pt idx="6">
                  <c:v>1257.2269999999999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439.01099999999997</c:v>
                </c:pt>
                <c:pt idx="2">
                  <c:v>466.676</c:v>
                </c:pt>
                <c:pt idx="3">
                  <c:v>496.005</c:v>
                </c:pt>
                <c:pt idx="4">
                  <c:v>527.0989999999999</c:v>
                </c:pt>
                <c:pt idx="5">
                  <c:v>560.046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439.01099999999997</c:v>
                </c:pt>
                <c:pt idx="1">
                  <c:v>27.66500000000002</c:v>
                </c:pt>
                <c:pt idx="2">
                  <c:v>29.329000000000008</c:v>
                </c:pt>
                <c:pt idx="3">
                  <c:v>31.093999999999937</c:v>
                </c:pt>
                <c:pt idx="4">
                  <c:v>32.947000000000116</c:v>
                </c:pt>
                <c:pt idx="5">
                  <c:v>34.90599999999995</c:v>
                </c:pt>
                <c:pt idx="6">
                  <c:v>594.952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532.668</c:v>
                </c:pt>
                <c:pt idx="2">
                  <c:v>569.424</c:v>
                </c:pt>
                <c:pt idx="3">
                  <c:v>608.728</c:v>
                </c:pt>
                <c:pt idx="4">
                  <c:v>650.7570000000001</c:v>
                </c:pt>
                <c:pt idx="5">
                  <c:v>695.6990000000001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532.668</c:v>
                </c:pt>
                <c:pt idx="1">
                  <c:v>36.75599999999997</c:v>
                </c:pt>
                <c:pt idx="2">
                  <c:v>39.303999999999974</c:v>
                </c:pt>
                <c:pt idx="3">
                  <c:v>42.02900000000011</c:v>
                </c:pt>
                <c:pt idx="4">
                  <c:v>44.94200000000001</c:v>
                </c:pt>
                <c:pt idx="5">
                  <c:v>48.05799999999999</c:v>
                </c:pt>
                <c:pt idx="6">
                  <c:v>743.7570000000001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Cellular Energy Support Ingredients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21.062580282778047</c:v>
                </c:pt>
                <c:pt idx="1">
                  <c:v>21.890380872949677</c:v>
                </c:pt>
                <c:pt idx="2">
                  <c:v>23.485373514402692</c:v>
                </c:pt>
              </c:numCache>
            </c:numRef>
          </c:val>
        </c:ser>
        <c:ser>
          <c:idx val="1"/>
          <c:order val="1"/>
          <c:tx>
            <c:strRef>
              <c:strCache>
                <c:ptCount val="1"/>
                <c:pt idx="0">
                  <c:v>Antioxidant Ingredients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20.18526769841793</c:v>
                </c:pt>
                <c:pt idx="1">
                  <c:v>21.11743119266055</c:v>
                </c:pt>
                <c:pt idx="2">
                  <c:v>22.917567212641927</c:v>
                </c:pt>
              </c:numCache>
            </c:numRef>
          </c:val>
        </c:ser>
        <c:ser>
          <c:idx val="2"/>
          <c:order val="2"/>
          <c:tx>
            <c:strRef>
              <c:strCache>
                <c:ptCount val="1"/>
                <c:pt idx="0">
                  <c:v>Omega-3 Fatty Acids</c:v>
                </c:pt>
              </c:strCache>
            </c:strRef>
          </c:tx>
          <c:spPr>
            <a:solidFill>
              <a:srgbClr val="008189"/>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18.417953854975952</c:v>
                </c:pt>
                <c:pt idx="1">
                  <c:v>18.127495134834582</c:v>
                </c:pt>
                <c:pt idx="2">
                  <c:v>17.567810411426063</c:v>
                </c:pt>
              </c:numCache>
            </c:numRef>
          </c:val>
        </c:ser>
        <c:ser>
          <c:idx val="3"/>
          <c:order val="3"/>
          <c:tx>
            <c:strRef>
              <c:strCache>
                <c:ptCount val="1"/>
                <c:pt idx="0">
                  <c:v>Microbiome-Targeted Ingredients</c:v>
                </c:pt>
              </c:strCache>
            </c:strRef>
          </c:tx>
          <c:spPr>
            <a:solidFill>
              <a:srgbClr val="40315E"/>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15.285286421552351</c:v>
                </c:pt>
                <c:pt idx="1">
                  <c:v>14.808673894912427</c:v>
                </c:pt>
                <c:pt idx="2">
                  <c:v>13.893601512655716</c:v>
                </c:pt>
              </c:numCache>
            </c:numRef>
          </c:val>
        </c:ser>
        <c:ser>
          <c:idx val="4"/>
          <c:order val="4"/>
          <c:tx>
            <c:strRef>
              <c:strCache>
                <c:ptCount val="1"/>
                <c:pt idx="0">
                  <c:v>Botanical Ingredients</c:v>
                </c:pt>
              </c:strCache>
            </c:strRef>
          </c:tx>
          <c:spPr>
            <a:solidFill>
              <a:srgbClr val="A35313"/>
            </a:solidFill>
            <a:ln>
              <a:noFill/>
            </a:ln>
          </c:spPr>
          <c:dLbls>
            <c:dLbl>
              <c:idx val="0"/>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12.76669865473953</c:v>
                </c:pt>
                <c:pt idx="1">
                  <c:v>12.204920767306088</c:v>
                </c:pt>
                <c:pt idx="2">
                  <c:v>11.11387994621569</c:v>
                </c:pt>
              </c:numCache>
            </c:numRef>
          </c:val>
        </c:ser>
        <c:ser>
          <c:idx val="5"/>
          <c:order val="5"/>
          <c:tx>
            <c:strRef>
              <c:strCache>
                <c:ptCount val="1"/>
                <c:pt idx="0">
                  <c:v>Neurofunctional Nutrients</c:v>
                </c:pt>
              </c:strCache>
            </c:strRef>
          </c:tx>
          <c:spPr>
            <a:solidFill>
              <a:srgbClr val="808080"/>
            </a:solidFill>
            <a:ln>
              <a:noFill/>
            </a:ln>
          </c:spPr>
          <c:dLbls>
            <c:dLbl>
              <c:idx val="0"/>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12.2822130875362</c:v>
                </c:pt>
                <c:pt idx="1">
                  <c:v>11.851098137336669</c:v>
                </c:pt>
                <c:pt idx="2">
                  <c:v>11.021767402657906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Routine Cognitive Wellness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22.065412430460658</c:v>
                </c:pt>
                <c:pt idx="1">
                  <c:v>18.426613347178524</c:v>
                </c:pt>
              </c:numCache>
            </c:numRef>
          </c:val>
        </c:ser>
        <c:ser>
          <c:idx val="1"/>
          <c:order val="1"/>
          <c:tx>
            <c:strRef>
              <c:strCache>
                <c:ptCount val="1"/>
                <c:pt idx="0">
                  <c:v>Preventive Cognitive Support for Senior Dogs</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12.56820604691945</c:v>
                </c:pt>
                <c:pt idx="1">
                  <c:v>11.185207000426937</c:v>
                </c:pt>
              </c:numCache>
            </c:numRef>
          </c:val>
        </c:ser>
        <c:ser>
          <c:idx val="2"/>
          <c:order val="2"/>
          <c:tx>
            <c:strRef>
              <c:strCache>
                <c:ptCount val="1"/>
                <c:pt idx="0">
                  <c:v>Support for Observable Age-Related Cognitive Changes</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51.84095396425157</c:v>
                </c:pt>
                <c:pt idx="1">
                  <c:v>62.348255420443685</c:v>
                </c:pt>
              </c:numCache>
            </c:numRef>
          </c:val>
        </c:ser>
        <c:ser>
          <c:idx val="3"/>
          <c:order val="3"/>
          <c:tx>
            <c:strRef>
              <c:strCache>
                <c:ptCount val="1"/>
                <c:pt idx="0">
                  <c:v>Veterinary-Guided Cognitive Dysfunction Support</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13.52542755836832</c:v>
                </c:pt>
                <c:pt idx="1">
                  <c:v>8.039924231950856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94.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Routine Cognitive Wellness</c:v>
                </c:pt>
              </c:strCache>
            </c:strRef>
          </c:tx>
          <c:spPr>
            <a:solidFill>
              <a:srgbClr val="3D85C6"/>
            </a:solidFill>
          </c:spPr>
          <c:invertIfNegative val="0"/>
          <c:xVal>
            <c:numRef>
              <c:numCache>
                <c:formatCode>General</c:formatCode>
                <c:ptCount val="1"/>
                <c:pt idx="0">
                  <c:v>107.874942142556</c:v>
                </c:pt>
              </c:numCache>
            </c:numRef>
          </c:xVal>
          <c:yVal>
            <c:numRef>
              <c:numCache>
                <c:formatCode>General</c:formatCode>
                <c:ptCount val="1"/>
                <c:pt idx="0">
                  <c:v>76.0798443147067</c:v>
                </c:pt>
              </c:numCache>
            </c:numRef>
          </c:yVal>
          <c:bubbleSize>
            <c:numRef>
              <c:numCache>
                <c:formatCode>General</c:formatCode>
                <c:ptCount val="1"/>
                <c:pt idx="0">
                  <c:v>1049.873</c:v>
                </c:pt>
              </c:numCache>
            </c:numRef>
          </c:bubbleSize>
          <c:bubble3D val="0"/>
        </c:ser>
        <c:ser>
          <c:idx val="1"/>
          <c:order val="1"/>
          <c:tx>
            <c:strRef>
              <c:strCache>
                <c:ptCount val="1"/>
                <c:pt idx="0">
                  <c:v>Preventive Cognitive Support for Senior Dogs</c:v>
                </c:pt>
              </c:strCache>
            </c:strRef>
          </c:tx>
          <c:spPr>
            <a:solidFill>
              <a:srgbClr val="9E7E0A"/>
            </a:solidFill>
          </c:spPr>
          <c:invertIfNegative val="0"/>
          <c:xVal>
            <c:numRef>
              <c:numCache>
                <c:formatCode>General</c:formatCode>
                <c:ptCount val="1"/>
                <c:pt idx="0">
                  <c:v>180.9290376082056</c:v>
                </c:pt>
              </c:numCache>
            </c:numRef>
          </c:xVal>
          <c:yVal>
            <c:numRef>
              <c:numCache>
                <c:formatCode>General</c:formatCode>
                <c:ptCount val="1"/>
                <c:pt idx="0">
                  <c:v>34.11665276619405</c:v>
                </c:pt>
              </c:numCache>
            </c:numRef>
          </c:yVal>
          <c:bubbleSize>
            <c:numRef>
              <c:numCache>
                <c:formatCode>General</c:formatCode>
                <c:ptCount val="1"/>
                <c:pt idx="0">
                  <c:v>622.887</c:v>
                </c:pt>
              </c:numCache>
            </c:numRef>
          </c:bubbleSize>
          <c:bubble3D val="0"/>
        </c:ser>
        <c:ser>
          <c:idx val="2"/>
          <c:order val="2"/>
          <c:tx>
            <c:strRef>
              <c:strCache>
                <c:ptCount val="1"/>
                <c:pt idx="0">
                  <c:v>Support for Observable Age-Related Cognitive Changes</c:v>
                </c:pt>
              </c:strCache>
            </c:strRef>
          </c:tx>
          <c:spPr>
            <a:solidFill>
              <a:srgbClr val="008189"/>
            </a:solidFill>
          </c:spPr>
          <c:invertIfNegative val="0"/>
          <c:xVal>
            <c:numRef>
              <c:numCache>
                <c:formatCode>General</c:formatCode>
                <c:ptCount val="1"/>
                <c:pt idx="0">
                  <c:v>72.62317461681322</c:v>
                </c:pt>
              </c:numCache>
            </c:numRef>
          </c:xVal>
          <c:yVal>
            <c:numRef>
              <c:numCache>
                <c:formatCode>General</c:formatCode>
                <c:ptCount val="1"/>
                <c:pt idx="0">
                  <c:v>262.3966638865721</c:v>
                </c:pt>
              </c:numCache>
            </c:numRef>
          </c:yVal>
          <c:bubbleSize>
            <c:numRef>
              <c:numCache>
                <c:formatCode>General</c:formatCode>
                <c:ptCount val="1"/>
                <c:pt idx="0">
                  <c:v>3154.422</c:v>
                </c:pt>
              </c:numCache>
            </c:numRef>
          </c:bubbleSize>
          <c:bubble3D val="0"/>
        </c:ser>
        <c:ser>
          <c:idx val="3"/>
          <c:order val="3"/>
          <c:tx>
            <c:strRef>
              <c:strCache>
                <c:ptCount val="1"/>
                <c:pt idx="0">
                  <c:v>Veterinary-Guided Cognitive Dysfunction Support</c:v>
                </c:pt>
              </c:strCache>
            </c:strRef>
          </c:tx>
          <c:spPr>
            <a:solidFill>
              <a:srgbClr val="40315E"/>
            </a:solidFill>
          </c:spPr>
          <c:invertIfNegative val="0"/>
          <c:xVal>
            <c:numRef>
              <c:numCache>
                <c:formatCode>General</c:formatCode>
                <c:ptCount val="1"/>
                <c:pt idx="0">
                  <c:v>194.2013459543995</c:v>
                </c:pt>
              </c:numCache>
            </c:numRef>
          </c:xVal>
          <c:yVal>
            <c:numRef>
              <c:numCache>
                <c:formatCode>General</c:formatCode>
                <c:ptCount val="1"/>
                <c:pt idx="0">
                  <c:v>27.406839032527103</c:v>
                </c:pt>
              </c:numCache>
            </c:numRef>
          </c:yVal>
          <c:bubbleSize>
            <c:numRef>
              <c:numCache>
                <c:formatCode>General</c:formatCode>
                <c:ptCount val="1"/>
                <c:pt idx="0">
                  <c:v>526.052</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230.0"/>
          <c:min val="4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32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9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684.148</c:v>
                </c:pt>
                <c:pt idx="2">
                  <c:v>744.953</c:v>
                </c:pt>
                <c:pt idx="3">
                  <c:v>811.354</c:v>
                </c:pt>
                <c:pt idx="4">
                  <c:v>883.897</c:v>
                </c:pt>
                <c:pt idx="5">
                  <c:v>963.181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684.148</c:v>
                </c:pt>
                <c:pt idx="1">
                  <c:v>60.80499999999995</c:v>
                </c:pt>
                <c:pt idx="2">
                  <c:v>66.40100000000007</c:v>
                </c:pt>
                <c:pt idx="3">
                  <c:v>72.543</c:v>
                </c:pt>
                <c:pt idx="4">
                  <c:v>79.28399999999999</c:v>
                </c:pt>
                <c:pt idx="5">
                  <c:v>86.69200000000001</c:v>
                </c:pt>
                <c:pt idx="6">
                  <c:v>1049.873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306.794</c:v>
                </c:pt>
                <c:pt idx="2">
                  <c:v>354.077</c:v>
                </c:pt>
                <c:pt idx="3">
                  <c:v>408.243</c:v>
                </c:pt>
                <c:pt idx="4">
                  <c:v>470.298</c:v>
                </c:pt>
                <c:pt idx="5">
                  <c:v>541.4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306.794</c:v>
                </c:pt>
                <c:pt idx="1">
                  <c:v>47.283000000000015</c:v>
                </c:pt>
                <c:pt idx="2">
                  <c:v>54.166</c:v>
                </c:pt>
                <c:pt idx="3">
                  <c:v>62.05500000000001</c:v>
                </c:pt>
                <c:pt idx="4">
                  <c:v>71.10199999999998</c:v>
                </c:pt>
                <c:pt idx="5">
                  <c:v>81.48699999999997</c:v>
                </c:pt>
                <c:pt idx="6">
                  <c:v>622.887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2359.602</c:v>
                </c:pt>
                <c:pt idx="2">
                  <c:v>2507.564</c:v>
                </c:pt>
                <c:pt idx="3">
                  <c:v>2661.531</c:v>
                </c:pt>
                <c:pt idx="4">
                  <c:v>2821.093</c:v>
                </c:pt>
                <c:pt idx="5">
                  <c:v>2985.659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2359.602</c:v>
                </c:pt>
                <c:pt idx="1">
                  <c:v>147.962</c:v>
                </c:pt>
                <c:pt idx="2">
                  <c:v>153.9670000000001</c:v>
                </c:pt>
                <c:pt idx="3">
                  <c:v>159.5619999999999</c:v>
                </c:pt>
                <c:pt idx="4">
                  <c:v>164.56600000000026</c:v>
                </c:pt>
                <c:pt idx="5">
                  <c:v>168.76299999999992</c:v>
                </c:pt>
                <c:pt idx="6">
                  <c:v>3154.422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246.456</c:v>
                </c:pt>
                <c:pt idx="2">
                  <c:v>287.793</c:v>
                </c:pt>
                <c:pt idx="3">
                  <c:v>335.409</c:v>
                </c:pt>
                <c:pt idx="4">
                  <c:v>390.241</c:v>
                </c:pt>
                <c:pt idx="5">
                  <c:v>453.373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246.456</c:v>
                </c:pt>
                <c:pt idx="1">
                  <c:v>41.33700000000002</c:v>
                </c:pt>
                <c:pt idx="2">
                  <c:v>47.615999999999985</c:v>
                </c:pt>
                <c:pt idx="3">
                  <c:v>54.831999999999994</c:v>
                </c:pt>
                <c:pt idx="4">
                  <c:v>63.132000000000005</c:v>
                </c:pt>
                <c:pt idx="5">
                  <c:v>72.67900000000003</c:v>
                </c:pt>
                <c:pt idx="6">
                  <c:v>526.052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Support for Observable Age-Related Cognitive Changes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68.39518600161921</c:v>
                </c:pt>
                <c:pt idx="1">
                  <c:v>65.59916597164303</c:v>
                </c:pt>
                <c:pt idx="2">
                  <c:v>58.9255392161075</c:v>
                </c:pt>
              </c:numCache>
            </c:numRef>
          </c:val>
        </c:ser>
        <c:ser>
          <c:idx val="1"/>
          <c:order val="1"/>
          <c:tx>
            <c:strRef>
              <c:strCache>
                <c:ptCount val="1"/>
                <c:pt idx="0">
                  <c:v>Routine Cognitive Wellness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18.764690647500785</c:v>
                </c:pt>
                <c:pt idx="1">
                  <c:v>19.019961078676676</c:v>
                </c:pt>
                <c:pt idx="2">
                  <c:v>19.61193925018036</c:v>
                </c:pt>
              </c:numCache>
            </c:numRef>
          </c:val>
        </c:ser>
        <c:ser>
          <c:idx val="2"/>
          <c:order val="2"/>
          <c:tx>
            <c:strRef>
              <c:strCache>
                <c:ptCount val="1"/>
                <c:pt idx="0">
                  <c:v>Preventive Cognitive Support for Senior Dogs</c:v>
                </c:pt>
              </c:strCache>
            </c:strRef>
          </c:tx>
          <c:spPr>
            <a:solidFill>
              <a:srgbClr val="008189"/>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7.229543670895572</c:v>
                </c:pt>
                <c:pt idx="1">
                  <c:v>8.529163191548513</c:v>
                </c:pt>
                <c:pt idx="2">
                  <c:v>11.6357140375332</c:v>
                </c:pt>
              </c:numCache>
            </c:numRef>
          </c:val>
        </c:ser>
        <c:ser>
          <c:idx val="3"/>
          <c:order val="3"/>
          <c:tx>
            <c:strRef>
              <c:strCache>
                <c:ptCount val="1"/>
                <c:pt idx="0">
                  <c:v>Veterinary-Guided Cognitive Dysfunction Support</c:v>
                </c:pt>
              </c:strCache>
            </c:strRef>
          </c:tx>
          <c:spPr>
            <a:solidFill>
              <a:srgbClr val="40315E"/>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5.610579679984447</c:v>
                </c:pt>
                <c:pt idx="1">
                  <c:v>6.851709758131776</c:v>
                </c:pt>
                <c:pt idx="2">
                  <c:v>9.826807496178947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Bottles</c:v>
                </c:pt>
              </c:strCache>
            </c:strRef>
          </c:tx>
          <c:spPr>
            <a:solidFill>
              <a:srgbClr val="3D85C6"/>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6.692407430452054</c:v>
                </c:pt>
                <c:pt idx="1">
                  <c:v>6.218393616511384</c:v>
                </c:pt>
              </c:numCache>
            </c:numRef>
          </c:val>
        </c:ser>
        <c:ser>
          <c:idx val="1"/>
          <c:order val="1"/>
          <c:tx>
            <c:strRef>
              <c:strCache>
                <c:ptCount val="1"/>
                <c:pt idx="0">
                  <c:v>Jars and Tubs</c:v>
                </c:pt>
              </c:strCache>
            </c:strRef>
          </c:tx>
          <c:spPr>
            <a:solidFill>
              <a:srgbClr val="9E7E0A"/>
            </a:solidFill>
            <a:ln>
              <a:noFill/>
            </a:ln>
          </c:spPr>
          <c:dLbls>
            <c:dLbl>
              <c:idx val="0"/>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9.608572557470852</c:v>
                </c:pt>
                <c:pt idx="1">
                  <c:v>11.880634015775868</c:v>
                </c:pt>
              </c:numCache>
            </c:numRef>
          </c:val>
        </c:ser>
        <c:ser>
          <c:idx val="2"/>
          <c:order val="2"/>
          <c:tx>
            <c:strRef>
              <c:strCache>
                <c:ptCount val="1"/>
                <c:pt idx="0">
                  <c:v>Pouches</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28.69307608626463</c:v>
                </c:pt>
                <c:pt idx="1">
                  <c:v>23.416172660722435</c:v>
                </c:pt>
              </c:numCache>
            </c:numRef>
          </c:val>
        </c:ser>
        <c:ser>
          <c:idx val="3"/>
          <c:order val="3"/>
          <c:tx>
            <c:strRef>
              <c:strCache>
                <c:ptCount val="1"/>
                <c:pt idx="0">
                  <c:v>Sachets</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16.76496748188006</c:v>
                </c:pt>
                <c:pt idx="1">
                  <c:v>17.890103082558305</c:v>
                </c:pt>
              </c:numCache>
            </c:numRef>
          </c:val>
        </c:ser>
        <c:ser>
          <c:idx val="4"/>
          <c:order val="4"/>
          <c:tx>
            <c:strRef>
              <c:strCache>
                <c:ptCount val="1"/>
                <c:pt idx="0">
                  <c:v>Blister Packs</c:v>
                </c:pt>
              </c:strCache>
            </c:strRef>
          </c:tx>
          <c:spPr>
            <a:solidFill>
              <a:srgbClr val="A35313"/>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15.55536567616529</c:v>
                </c:pt>
                <c:pt idx="1">
                  <c:v>21.830163540740564</c:v>
                </c:pt>
              </c:numCache>
            </c:numRef>
          </c:val>
        </c:ser>
        <c:ser>
          <c:idx val="5"/>
          <c:order val="5"/>
          <c:tx>
            <c:strRef>
              <c:strCache>
                <c:ptCount val="1"/>
                <c:pt idx="0">
                  <c:v>Canisters</c:v>
                </c:pt>
              </c:strCache>
            </c:strRef>
          </c:tx>
          <c:spPr>
            <a:solidFill>
              <a:srgbClr val="808080"/>
            </a:solidFill>
            <a:ln>
              <a:noFill/>
            </a:ln>
          </c:spPr>
          <c:dLbls>
            <c:dLbl>
              <c:idx val="0"/>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22.68561076776712</c:v>
                </c:pt>
                <c:pt idx="1">
                  <c:v>18.764533083691447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01.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Bottles</c:v>
                </c:pt>
              </c:strCache>
            </c:strRef>
          </c:tx>
          <c:spPr>
            <a:solidFill>
              <a:srgbClr val="3D85C6"/>
            </a:solidFill>
          </c:spPr>
          <c:invertIfNegative val="0"/>
          <c:xVal>
            <c:numRef>
              <c:numCache>
                <c:formatCode>General</c:formatCode>
                <c:ptCount val="1"/>
                <c:pt idx="0">
                  <c:v>67.15104339728771</c:v>
                </c:pt>
              </c:numCache>
            </c:numRef>
          </c:xVal>
          <c:yVal>
            <c:numRef>
              <c:numCache>
                <c:formatCode>General</c:formatCode>
                <c:ptCount val="1"/>
                <c:pt idx="0">
                  <c:v>43.49608006672228</c:v>
                </c:pt>
              </c:numCache>
            </c:numRef>
          </c:yVal>
          <c:bubbleSize>
            <c:numRef>
              <c:numCache>
                <c:formatCode>General</c:formatCode>
                <c:ptCount val="1"/>
                <c:pt idx="0">
                  <c:v>341.151</c:v>
                </c:pt>
              </c:numCache>
            </c:numRef>
          </c:bubbleSize>
          <c:bubble3D val="0"/>
        </c:ser>
        <c:ser>
          <c:idx val="1"/>
          <c:order val="1"/>
          <c:tx>
            <c:strRef>
              <c:strCache>
                <c:ptCount val="1"/>
                <c:pt idx="0">
                  <c:v>Jars and Tubs</c:v>
                </c:pt>
              </c:strCache>
            </c:strRef>
          </c:tx>
          <c:spPr>
            <a:solidFill>
              <a:srgbClr val="9E7E0A"/>
            </a:solidFill>
          </c:spPr>
          <c:invertIfNegative val="0"/>
          <c:xVal>
            <c:numRef>
              <c:numCache>
                <c:formatCode>General</c:formatCode>
                <c:ptCount val="1"/>
                <c:pt idx="0">
                  <c:v>149.16769909878158</c:v>
                </c:pt>
              </c:numCache>
            </c:numRef>
          </c:xVal>
          <c:yVal>
            <c:numRef>
              <c:numCache>
                <c:formatCode>General</c:formatCode>
                <c:ptCount val="1"/>
                <c:pt idx="0">
                  <c:v>55.28523769808174</c:v>
                </c:pt>
              </c:numCache>
            </c:numRef>
          </c:yVal>
          <c:bubbleSize>
            <c:numRef>
              <c:numCache>
                <c:formatCode>General</c:formatCode>
                <c:ptCount val="1"/>
                <c:pt idx="0">
                  <c:v>596.378</c:v>
                </c:pt>
              </c:numCache>
            </c:numRef>
          </c:bubbleSize>
          <c:bubble3D val="0"/>
        </c:ser>
        <c:ser>
          <c:idx val="2"/>
          <c:order val="2"/>
          <c:tx>
            <c:strRef>
              <c:strCache>
                <c:ptCount val="1"/>
                <c:pt idx="0">
                  <c:v>Pouches</c:v>
                </c:pt>
              </c:strCache>
            </c:strRef>
          </c:tx>
          <c:spPr>
            <a:solidFill>
              <a:srgbClr val="008189"/>
            </a:solidFill>
          </c:spPr>
          <c:invertIfNegative val="0"/>
          <c:xVal>
            <c:numRef>
              <c:numCache>
                <c:formatCode>General</c:formatCode>
                <c:ptCount val="1"/>
                <c:pt idx="0">
                  <c:v>175.27892745342783</c:v>
                </c:pt>
              </c:numCache>
            </c:numRef>
          </c:xVal>
          <c:yVal>
            <c:numRef>
              <c:numCache>
                <c:formatCode>General</c:formatCode>
                <c:ptCount val="1"/>
                <c:pt idx="0">
                  <c:v>112.93477898248541</c:v>
                </c:pt>
              </c:numCache>
            </c:numRef>
          </c:yVal>
          <c:bubbleSize>
            <c:numRef>
              <c:numCache>
                <c:formatCode>General</c:formatCode>
                <c:ptCount val="1"/>
                <c:pt idx="0">
                  <c:v>1345.541</c:v>
                </c:pt>
              </c:numCache>
            </c:numRef>
          </c:bubbleSize>
          <c:bubble3D val="0"/>
        </c:ser>
        <c:ser>
          <c:idx val="3"/>
          <c:order val="3"/>
          <c:tx>
            <c:strRef>
              <c:strCache>
                <c:ptCount val="1"/>
                <c:pt idx="0">
                  <c:v>Sachets</c:v>
                </c:pt>
              </c:strCache>
            </c:strRef>
          </c:tx>
          <c:spPr>
            <a:solidFill>
              <a:srgbClr val="40315E"/>
            </a:solidFill>
          </c:spPr>
          <c:invertIfNegative val="0"/>
          <c:xVal>
            <c:numRef>
              <c:numCache>
                <c:formatCode>General</c:formatCode>
                <c:ptCount val="1"/>
                <c:pt idx="0">
                  <c:v>43.73140347885997</c:v>
                </c:pt>
              </c:numCache>
            </c:numRef>
          </c:xVal>
          <c:yVal>
            <c:numRef>
              <c:numCache>
                <c:formatCode>General</c:formatCode>
                <c:ptCount val="1"/>
                <c:pt idx="0">
                  <c:v>131.24737281067559</c:v>
                </c:pt>
              </c:numCache>
            </c:numRef>
          </c:yVal>
          <c:bubbleSize>
            <c:numRef>
              <c:numCache>
                <c:formatCode>General</c:formatCode>
                <c:ptCount val="1"/>
                <c:pt idx="0">
                  <c:v>938.079</c:v>
                </c:pt>
              </c:numCache>
            </c:numRef>
          </c:bubbleSize>
          <c:bubble3D val="0"/>
        </c:ser>
        <c:ser>
          <c:idx val="4"/>
          <c:order val="4"/>
          <c:tx>
            <c:strRef>
              <c:strCache>
                <c:ptCount val="1"/>
                <c:pt idx="0">
                  <c:v>Blister Packs</c:v>
                </c:pt>
              </c:strCache>
            </c:strRef>
          </c:tx>
          <c:spPr>
            <a:solidFill>
              <a:srgbClr val="A35313"/>
            </a:solidFill>
          </c:spPr>
          <c:invertIfNegative val="0"/>
          <c:xVal>
            <c:numRef>
              <c:numCache>
                <c:formatCode>General</c:formatCode>
                <c:ptCount val="1"/>
                <c:pt idx="0">
                  <c:v>70.26743346664868</c:v>
                </c:pt>
              </c:numCache>
            </c:numRef>
          </c:xVal>
          <c:yVal>
            <c:numRef>
              <c:numCache>
                <c:formatCode>General</c:formatCode>
                <c:ptCount val="1"/>
                <c:pt idx="0">
                  <c:v>133.39532944120103</c:v>
                </c:pt>
              </c:numCache>
            </c:numRef>
          </c:yVal>
          <c:bubbleSize>
            <c:numRef>
              <c:numCache>
                <c:formatCode>General</c:formatCode>
                <c:ptCount val="1"/>
                <c:pt idx="0">
                  <c:v>1059.2</c:v>
                </c:pt>
              </c:numCache>
            </c:numRef>
          </c:bubbleSize>
          <c:bubble3D val="0"/>
        </c:ser>
        <c:ser>
          <c:idx val="5"/>
          <c:order val="5"/>
          <c:tx>
            <c:strRef>
              <c:strCache>
                <c:ptCount val="1"/>
                <c:pt idx="0">
                  <c:v>Canisters</c:v>
                </c:pt>
              </c:strCache>
            </c:strRef>
          </c:tx>
          <c:spPr>
            <a:solidFill>
              <a:srgbClr val="808080"/>
            </a:solidFill>
          </c:spPr>
          <c:invertIfNegative val="0"/>
          <c:xVal>
            <c:numRef>
              <c:numCache>
                <c:formatCode>General</c:formatCode>
                <c:ptCount val="1"/>
                <c:pt idx="0">
                  <c:v>92.87708215773237</c:v>
                </c:pt>
              </c:numCache>
            </c:numRef>
          </c:xVal>
          <c:yVal>
            <c:numRef>
              <c:numCache>
                <c:formatCode>General</c:formatCode>
                <c:ptCount val="1"/>
                <c:pt idx="0">
                  <c:v>123.64120100083404</c:v>
                </c:pt>
              </c:numCache>
            </c:numRef>
          </c:yVal>
          <c:bubbleSize>
            <c:numRef>
              <c:numCache>
                <c:formatCode>General</c:formatCode>
                <c:ptCount val="1"/>
                <c:pt idx="0">
                  <c:v>1072.885</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210.0"/>
          <c:min val="1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0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260.759</c:v>
                </c:pt>
                <c:pt idx="2">
                  <c:v>275.938</c:v>
                </c:pt>
                <c:pt idx="3">
                  <c:v>291.626</c:v>
                </c:pt>
                <c:pt idx="4">
                  <c:v>307.771</c:v>
                </c:pt>
                <c:pt idx="5">
                  <c:v>324.309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260.759</c:v>
                </c:pt>
                <c:pt idx="1">
                  <c:v>15.178999999999974</c:v>
                </c:pt>
                <c:pt idx="2">
                  <c:v>15.687999999999988</c:v>
                </c:pt>
                <c:pt idx="3">
                  <c:v>16.14500000000004</c:v>
                </c:pt>
                <c:pt idx="4">
                  <c:v>16.53800000000001</c:v>
                </c:pt>
                <c:pt idx="5">
                  <c:v>16.841999999999985</c:v>
                </c:pt>
                <c:pt idx="6">
                  <c:v>341.151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331.435</c:v>
                </c:pt>
                <c:pt idx="2">
                  <c:v>372.92</c:v>
                </c:pt>
                <c:pt idx="3">
                  <c:v>419.491</c:v>
                </c:pt>
                <c:pt idx="4">
                  <c:v>471.774</c:v>
                </c:pt>
                <c:pt idx="5">
                  <c:v>530.472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331.435</c:v>
                </c:pt>
                <c:pt idx="1">
                  <c:v>41.485000000000014</c:v>
                </c:pt>
                <c:pt idx="2">
                  <c:v>46.57099999999997</c:v>
                </c:pt>
                <c:pt idx="3">
                  <c:v>52.283000000000015</c:v>
                </c:pt>
                <c:pt idx="4">
                  <c:v>58.69799999999998</c:v>
                </c:pt>
                <c:pt idx="5">
                  <c:v>65.90600000000006</c:v>
                </c:pt>
                <c:pt idx="6">
                  <c:v>596.378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677.044</c:v>
                </c:pt>
                <c:pt idx="2">
                  <c:v>779.05</c:v>
                </c:pt>
                <c:pt idx="3">
                  <c:v>894.952</c:v>
                </c:pt>
                <c:pt idx="4">
                  <c:v>1026.58</c:v>
                </c:pt>
                <c:pt idx="5">
                  <c:v>1175.996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677.044</c:v>
                </c:pt>
                <c:pt idx="1">
                  <c:v>102.00599999999997</c:v>
                </c:pt>
                <c:pt idx="2">
                  <c:v>115.90200000000004</c:v>
                </c:pt>
                <c:pt idx="3">
                  <c:v>131.62799999999993</c:v>
                </c:pt>
                <c:pt idx="4">
                  <c:v>149.41600000000017</c:v>
                </c:pt>
                <c:pt idx="5">
                  <c:v>169.54499999999985</c:v>
                </c:pt>
                <c:pt idx="6">
                  <c:v>1345.541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786.828</c:v>
                </c:pt>
                <c:pt idx="2">
                  <c:v>820.13</c:v>
                </c:pt>
                <c:pt idx="3">
                  <c:v>852.491</c:v>
                </c:pt>
                <c:pt idx="4">
                  <c:v>883.38</c:v>
                </c:pt>
                <c:pt idx="5">
                  <c:v>912.162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786.828</c:v>
                </c:pt>
                <c:pt idx="1">
                  <c:v>33.30200000000002</c:v>
                </c:pt>
                <c:pt idx="2">
                  <c:v>32.36099999999999</c:v>
                </c:pt>
                <c:pt idx="3">
                  <c:v>30.88900000000001</c:v>
                </c:pt>
                <c:pt idx="4">
                  <c:v>28.78200000000004</c:v>
                </c:pt>
                <c:pt idx="5">
                  <c:v>25.916999999999916</c:v>
                </c:pt>
                <c:pt idx="6">
                  <c:v>938.079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799.705</c:v>
                </c:pt>
                <c:pt idx="2">
                  <c:v>847.9</c:v>
                </c:pt>
                <c:pt idx="3">
                  <c:v>898.052</c:v>
                </c:pt>
                <c:pt idx="4">
                  <c:v>950.075</c:v>
                </c:pt>
                <c:pt idx="5">
                  <c:v>1003.847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799.705</c:v>
                </c:pt>
                <c:pt idx="1">
                  <c:v>48.194999999999936</c:v>
                </c:pt>
                <c:pt idx="2">
                  <c:v>50.152000000000044</c:v>
                </c:pt>
                <c:pt idx="3">
                  <c:v>52.023000000000025</c:v>
                </c:pt>
                <c:pt idx="4">
                  <c:v>53.771999999999935</c:v>
                </c:pt>
                <c:pt idx="5">
                  <c:v>55.353000000000065</c:v>
                </c:pt>
                <c:pt idx="6">
                  <c:v>1059.2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741.229</c:v>
                </c:pt>
                <c:pt idx="2">
                  <c:v>798.449</c:v>
                </c:pt>
                <c:pt idx="3">
                  <c:v>859.925</c:v>
                </c:pt>
                <c:pt idx="4">
                  <c:v>925.949</c:v>
                </c:pt>
                <c:pt idx="5">
                  <c:v>996.827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741.229</c:v>
                </c:pt>
                <c:pt idx="1">
                  <c:v>57.219999999999914</c:v>
                </c:pt>
                <c:pt idx="2">
                  <c:v>61.476</c:v>
                </c:pt>
                <c:pt idx="3">
                  <c:v>66.024</c:v>
                </c:pt>
                <c:pt idx="4">
                  <c:v>70.87800000000004</c:v>
                </c:pt>
                <c:pt idx="5">
                  <c:v>76.05799999999999</c:v>
                </c:pt>
                <c:pt idx="6">
                  <c:v>1072.885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Pouches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16.024524044223128</c:v>
                </c:pt>
                <c:pt idx="1">
                  <c:v>18.822463163747567</c:v>
                </c:pt>
                <c:pt idx="2">
                  <c:v>25.135105246660245</c:v>
                </c:pt>
              </c:numCache>
            </c:numRef>
          </c:val>
        </c:ser>
        <c:ser>
          <c:idx val="1"/>
          <c:order val="1"/>
          <c:tx>
            <c:strRef>
              <c:strCache>
                <c:ptCount val="1"/>
                <c:pt idx="0">
                  <c:v>Canisters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20.850428250926534</c:v>
                </c:pt>
                <c:pt idx="1">
                  <c:v>20.60686683347234</c:v>
                </c:pt>
                <c:pt idx="2">
                  <c:v>20.041810240314547</c:v>
                </c:pt>
              </c:numCache>
            </c:numRef>
          </c:val>
        </c:ser>
        <c:ser>
          <c:idx val="2"/>
          <c:order val="2"/>
          <c:tx>
            <c:strRef>
              <c:strCache>
                <c:ptCount val="1"/>
                <c:pt idx="0">
                  <c:v>Blister Packs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23.326513850226664</c:v>
                </c:pt>
                <c:pt idx="1">
                  <c:v>22.232554906866834</c:v>
                </c:pt>
                <c:pt idx="2">
                  <c:v>19.78617037850391</c:v>
                </c:pt>
              </c:numCache>
            </c:numRef>
          </c:val>
        </c:ser>
        <c:ser>
          <c:idx val="3"/>
          <c:order val="3"/>
          <c:tx>
            <c:strRef>
              <c:strCache>
                <c:ptCount val="1"/>
                <c:pt idx="0">
                  <c:v>Sachets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23.805813043957613</c:v>
                </c:pt>
                <c:pt idx="1">
                  <c:v>21.874562135112594</c:v>
                </c:pt>
                <c:pt idx="2">
                  <c:v>17.52359414888271</c:v>
                </c:pt>
              </c:numCache>
            </c:numRef>
          </c:val>
        </c:ser>
        <c:ser>
          <c:idx val="4"/>
          <c:order val="4"/>
          <c:tx>
            <c:strRef>
              <c:strCache>
                <c:ptCount val="1"/>
                <c:pt idx="0">
                  <c:v>Jars and Tubs</c:v>
                </c:pt>
              </c:strCache>
            </c:strRef>
          </c:tx>
          <c:spPr>
            <a:solidFill>
              <a:srgbClr val="A35313"/>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8.356356699848583</c:v>
                </c:pt>
                <c:pt idx="1">
                  <c:v>9.214206283013622</c:v>
                </c:pt>
                <c:pt idx="2">
                  <c:v>11.140518049463186</c:v>
                </c:pt>
              </c:numCache>
            </c:numRef>
          </c:val>
        </c:ser>
        <c:ser>
          <c:idx val="5"/>
          <c:order val="5"/>
          <c:tx>
            <c:strRef>
              <c:strCache>
                <c:ptCount val="1"/>
                <c:pt idx="0">
                  <c:v>Bottles</c:v>
                </c:pt>
              </c:strCache>
            </c:strRef>
          </c:tx>
          <c:spPr>
            <a:solidFill>
              <a:srgbClr val="808080"/>
            </a:solidFill>
            <a:ln>
              <a:noFill/>
            </a:ln>
          </c:spPr>
          <c:dLbls>
            <c:dLbl>
              <c:idx val="0"/>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7.63636411081747</c:v>
                </c:pt>
                <c:pt idx="1">
                  <c:v>7.249346677787045</c:v>
                </c:pt>
                <c:pt idx="2">
                  <c:v>6.372801936175404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Veterinary Channels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28.14129167557921</c:v>
                </c:pt>
                <c:pt idx="1">
                  <c:v>25.40290909634938</c:v>
                </c:pt>
              </c:numCache>
            </c:numRef>
          </c:val>
        </c:ser>
        <c:ser>
          <c:idx val="1"/>
          <c:order val="1"/>
          <c:tx>
            <c:strRef>
              <c:strCache>
                <c:ptCount val="1"/>
                <c:pt idx="0">
                  <c:v>Specialist Pet Retail</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19.831035378544634</c:v>
                </c:pt>
                <c:pt idx="1">
                  <c:v>23.67948242343612</c:v>
                </c:pt>
              </c:numCache>
            </c:numRef>
          </c:val>
        </c:ser>
        <c:ser>
          <c:idx val="2"/>
          <c:order val="2"/>
          <c:tx>
            <c:strRef>
              <c:strCache>
                <c:ptCount val="1"/>
                <c:pt idx="0">
                  <c:v>General Retail</c:v>
                </c:pt>
              </c:strCache>
            </c:strRef>
          </c:tx>
          <c:spPr>
            <a:solidFill>
              <a:srgbClr val="008189"/>
            </a:solidFill>
            <a:ln>
              <a:noFill/>
            </a:ln>
          </c:spPr>
          <c:dLbls>
            <c:dLbl>
              <c:idx val="0"/>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6.253652231309034</c:v>
                </c:pt>
                <c:pt idx="1">
                  <c:v>7.190511982893731</c:v>
                </c:pt>
              </c:numCache>
            </c:numRef>
          </c:val>
        </c:ser>
        <c:ser>
          <c:idx val="3"/>
          <c:order val="3"/>
          <c:tx>
            <c:strRef>
              <c:strCache>
                <c:ptCount val="1"/>
                <c:pt idx="0">
                  <c:v>Brand-Owned E-commerce</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16.585302073578518</c:v>
                </c:pt>
                <c:pt idx="1">
                  <c:v>15.017688354167143</c:v>
                </c:pt>
              </c:numCache>
            </c:numRef>
          </c:val>
        </c:ser>
        <c:ser>
          <c:idx val="4"/>
          <c:order val="4"/>
          <c:tx>
            <c:strRef>
              <c:strCache>
                <c:ptCount val="1"/>
                <c:pt idx="0">
                  <c:v>Third-Party E-commerce</c:v>
                </c:pt>
              </c:strCache>
            </c:strRef>
          </c:tx>
          <c:spPr>
            <a:solidFill>
              <a:srgbClr val="A35313"/>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20.866132927169847</c:v>
                </c:pt>
                <c:pt idx="1">
                  <c:v>20.77329511499993</c:v>
                </c:pt>
              </c:numCache>
            </c:numRef>
          </c:val>
        </c:ser>
        <c:ser>
          <c:idx val="5"/>
          <c:order val="5"/>
          <c:tx>
            <c:strRef>
              <c:strCache>
                <c:ptCount val="1"/>
                <c:pt idx="0">
                  <c:v>Other Direct Sales</c:v>
                </c:pt>
              </c:strCache>
            </c:strRef>
          </c:tx>
          <c:spPr>
            <a:solidFill>
              <a:srgbClr val="808080"/>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8.322585713818752</c:v>
                </c:pt>
                <c:pt idx="1">
                  <c:v>7.936113028153699</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10.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Veterinary Channels</c:v>
                </c:pt>
              </c:strCache>
            </c:strRef>
          </c:tx>
          <c:spPr>
            <a:solidFill>
              <a:srgbClr val="3D85C6"/>
            </a:solidFill>
          </c:spPr>
          <c:invertIfNegative val="0"/>
          <c:xVal>
            <c:numRef>
              <c:numCache>
                <c:formatCode>General</c:formatCode>
                <c:ptCount val="1"/>
                <c:pt idx="0">
                  <c:v>83.86002354037323</c:v>
                </c:pt>
              </c:numCache>
            </c:numRef>
          </c:xVal>
          <c:yVal>
            <c:numRef>
              <c:numCache>
                <c:formatCode>General</c:formatCode>
                <c:ptCount val="1"/>
                <c:pt idx="0">
                  <c:v>168.0477064220184</c:v>
                </c:pt>
              </c:numCache>
            </c:numRef>
          </c:yVal>
          <c:bubbleSize>
            <c:numRef>
              <c:numCache>
                <c:formatCode>General</c:formatCode>
                <c:ptCount val="1"/>
                <c:pt idx="0">
                  <c:v>1407.629</c:v>
                </c:pt>
              </c:numCache>
            </c:numRef>
          </c:bubbleSize>
          <c:bubble3D val="0"/>
        </c:ser>
        <c:ser>
          <c:idx val="1"/>
          <c:order val="1"/>
          <c:tx>
            <c:strRef>
              <c:strCache>
                <c:ptCount val="1"/>
                <c:pt idx="0">
                  <c:v>Specialist Pet Retail</c:v>
                </c:pt>
              </c:strCache>
            </c:strRef>
          </c:tx>
          <c:spPr>
            <a:solidFill>
              <a:srgbClr val="9E7E0A"/>
            </a:solidFill>
          </c:spPr>
          <c:invertIfNegative val="0"/>
          <c:xVal>
            <c:numRef>
              <c:numCache>
                <c:formatCode>General</c:formatCode>
                <c:ptCount val="1"/>
                <c:pt idx="0">
                  <c:v>153.20198951780887</c:v>
                </c:pt>
              </c:numCache>
            </c:numRef>
          </c:xVal>
          <c:yVal>
            <c:numRef>
              <c:numCache>
                <c:formatCode>General</c:formatCode>
                <c:ptCount val="1"/>
                <c:pt idx="0">
                  <c:v>109.5864887406172</c:v>
                </c:pt>
              </c:numCache>
            </c:numRef>
          </c:yVal>
          <c:bubbleSize>
            <c:numRef>
              <c:numCache>
                <c:formatCode>General</c:formatCode>
                <c:ptCount val="1"/>
                <c:pt idx="0">
                  <c:v>1200.509</c:v>
                </c:pt>
              </c:numCache>
            </c:numRef>
          </c:bubbleSize>
          <c:bubble3D val="0"/>
        </c:ser>
        <c:ser>
          <c:idx val="2"/>
          <c:order val="2"/>
          <c:tx>
            <c:strRef>
              <c:strCache>
                <c:ptCount val="1"/>
                <c:pt idx="0">
                  <c:v>General Retail</c:v>
                </c:pt>
              </c:strCache>
            </c:strRef>
          </c:tx>
          <c:spPr>
            <a:solidFill>
              <a:srgbClr val="008189"/>
            </a:solidFill>
          </c:spPr>
          <c:invertIfNegative val="0"/>
          <c:xVal>
            <c:numRef>
              <c:numCache>
                <c:formatCode>General</c:formatCode>
                <c:ptCount val="1"/>
                <c:pt idx="0">
                  <c:v>27.864736561210346</c:v>
                </c:pt>
              </c:numCache>
            </c:numRef>
          </c:xVal>
          <c:yVal>
            <c:numRef>
              <c:numCache>
                <c:formatCode>General</c:formatCode>
                <c:ptCount val="1"/>
                <c:pt idx="0">
                  <c:v>54.9467889908257</c:v>
                </c:pt>
              </c:numCache>
            </c:numRef>
          </c:yVal>
          <c:bubbleSize>
            <c:numRef>
              <c:numCache>
                <c:formatCode>General</c:formatCode>
                <c:ptCount val="1"/>
                <c:pt idx="0">
                  <c:v>368.588</c:v>
                </c:pt>
              </c:numCache>
            </c:numRef>
          </c:bubbleSize>
          <c:bubble3D val="0"/>
        </c:ser>
        <c:ser>
          <c:idx val="3"/>
          <c:order val="3"/>
          <c:tx>
            <c:strRef>
              <c:strCache>
                <c:ptCount val="1"/>
                <c:pt idx="0">
                  <c:v>Brand-Owned E-commerce</c:v>
                </c:pt>
              </c:strCache>
            </c:strRef>
          </c:tx>
          <c:spPr>
            <a:solidFill>
              <a:srgbClr val="40315E"/>
            </a:solidFill>
          </c:spPr>
          <c:invertIfNegative val="0"/>
          <c:xVal>
            <c:numRef>
              <c:numCache>
                <c:formatCode>General</c:formatCode>
                <c:ptCount val="1"/>
                <c:pt idx="0">
                  <c:v>50.82616204432836</c:v>
                </c:pt>
              </c:numCache>
            </c:numRef>
          </c:xVal>
          <c:yVal>
            <c:numRef>
              <c:numCache>
                <c:formatCode>General</c:formatCode>
                <c:ptCount val="1"/>
                <c:pt idx="0">
                  <c:v>113.065387823186</c:v>
                </c:pt>
              </c:numCache>
            </c:numRef>
          </c:yVal>
          <c:bubbleSize>
            <c:numRef>
              <c:numCache>
                <c:formatCode>General</c:formatCode>
                <c:ptCount val="1"/>
                <c:pt idx="0">
                  <c:v>831.268</c:v>
                </c:pt>
              </c:numCache>
            </c:numRef>
          </c:bubbleSize>
          <c:bubble3D val="0"/>
        </c:ser>
        <c:ser>
          <c:idx val="4"/>
          <c:order val="4"/>
          <c:tx>
            <c:strRef>
              <c:strCache>
                <c:ptCount val="1"/>
                <c:pt idx="0">
                  <c:v>Third-Party E-commerce</c:v>
                </c:pt>
              </c:strCache>
            </c:strRef>
          </c:tx>
          <c:spPr>
            <a:solidFill>
              <a:srgbClr val="A35313"/>
            </a:solidFill>
          </c:spPr>
          <c:invertIfNegative val="0"/>
          <c:xVal>
            <c:numRef>
              <c:numCache>
                <c:formatCode>General</c:formatCode>
                <c:ptCount val="1"/>
                <c:pt idx="0">
                  <c:v>162.7026743932482</c:v>
                </c:pt>
              </c:numCache>
            </c:numRef>
          </c:xVal>
          <c:yVal>
            <c:numRef>
              <c:numCache>
                <c:formatCode>General</c:formatCode>
                <c:ptCount val="1"/>
                <c:pt idx="0">
                  <c:v>98.04303586321937</c:v>
                </c:pt>
              </c:numCache>
            </c:numRef>
          </c:yVal>
          <c:bubbleSize>
            <c:numRef>
              <c:numCache>
                <c:formatCode>General</c:formatCode>
                <c:ptCount val="1"/>
                <c:pt idx="0">
                  <c:v>1113.662</c:v>
                </c:pt>
              </c:numCache>
            </c:numRef>
          </c:bubbleSize>
          <c:bubble3D val="0"/>
        </c:ser>
        <c:ser>
          <c:idx val="5"/>
          <c:order val="5"/>
          <c:tx>
            <c:strRef>
              <c:strCache>
                <c:ptCount val="1"/>
                <c:pt idx="0">
                  <c:v>Other Direct Sales</c:v>
                </c:pt>
              </c:strCache>
            </c:strRef>
          </c:tx>
          <c:spPr>
            <a:solidFill>
              <a:srgbClr val="808080"/>
            </a:solidFill>
          </c:spPr>
          <c:invertIfNegative val="0"/>
          <c:xVal>
            <c:numRef>
              <c:numCache>
                <c:formatCode>General</c:formatCode>
                <c:ptCount val="1"/>
                <c:pt idx="0">
                  <c:v>61.310399471231506</c:v>
                </c:pt>
              </c:numCache>
            </c:numRef>
          </c:xVal>
          <c:yVal>
            <c:numRef>
              <c:numCache>
                <c:formatCode>General</c:formatCode>
                <c:ptCount val="1"/>
                <c:pt idx="0">
                  <c:v>56.31059216013345</c:v>
                </c:pt>
              </c:numCache>
            </c:numRef>
          </c:yVal>
          <c:bubbleSize>
            <c:numRef>
              <c:numCache>
                <c:formatCode>General</c:formatCode>
                <c:ptCount val="1"/>
                <c:pt idx="0">
                  <c:v>431.578</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200.0"/>
          <c:min val="-1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00.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1007.446</c:v>
                </c:pt>
                <c:pt idx="2">
                  <c:v>1077.907</c:v>
                </c:pt>
                <c:pt idx="3">
                  <c:v>1152.913</c:v>
                </c:pt>
                <c:pt idx="4">
                  <c:v>1232.704</c:v>
                </c:pt>
                <c:pt idx="5">
                  <c:v>1317.524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1007.446</c:v>
                </c:pt>
                <c:pt idx="1">
                  <c:v>70.4609999999999</c:v>
                </c:pt>
                <c:pt idx="2">
                  <c:v>75.00600000000009</c:v>
                </c:pt>
                <c:pt idx="3">
                  <c:v>79.79099999999994</c:v>
                </c:pt>
                <c:pt idx="4">
                  <c:v>84.81999999999994</c:v>
                </c:pt>
                <c:pt idx="5">
                  <c:v>90.10500000000002</c:v>
                </c:pt>
                <c:pt idx="6">
                  <c:v>1407.629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656.971</c:v>
                </c:pt>
                <c:pt idx="2">
                  <c:v>742.501</c:v>
                </c:pt>
                <c:pt idx="3">
                  <c:v>838.347</c:v>
                </c:pt>
                <c:pt idx="4">
                  <c:v>945.711</c:v>
                </c:pt>
                <c:pt idx="5">
                  <c:v>1065.934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656.971</c:v>
                </c:pt>
                <c:pt idx="1">
                  <c:v>85.52999999999997</c:v>
                </c:pt>
                <c:pt idx="2">
                  <c:v>95.846</c:v>
                </c:pt>
                <c:pt idx="3">
                  <c:v>107.36400000000003</c:v>
                </c:pt>
                <c:pt idx="4">
                  <c:v>120.22299999999996</c:v>
                </c:pt>
                <c:pt idx="5">
                  <c:v>134.57500000000005</c:v>
                </c:pt>
                <c:pt idx="6">
                  <c:v>1200.509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329.406</c:v>
                </c:pt>
                <c:pt idx="2">
                  <c:v>339.575</c:v>
                </c:pt>
                <c:pt idx="3">
                  <c:v>348.855</c:v>
                </c:pt>
                <c:pt idx="4">
                  <c:v>356.99</c:v>
                </c:pt>
                <c:pt idx="5">
                  <c:v>363.683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329.406</c:v>
                </c:pt>
                <c:pt idx="1">
                  <c:v>10.168999999999983</c:v>
                </c:pt>
                <c:pt idx="2">
                  <c:v>9.28000000000003</c:v>
                </c:pt>
                <c:pt idx="3">
                  <c:v>8.134999999999991</c:v>
                </c:pt>
                <c:pt idx="4">
                  <c:v>6.692999999999984</c:v>
                </c:pt>
                <c:pt idx="5">
                  <c:v>4.90500000000003</c:v>
                </c:pt>
                <c:pt idx="6">
                  <c:v>368.588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677.827</c:v>
                </c:pt>
                <c:pt idx="2">
                  <c:v>709.053</c:v>
                </c:pt>
                <c:pt idx="3">
                  <c:v>740.31</c:v>
                </c:pt>
                <c:pt idx="4">
                  <c:v>771.325</c:v>
                </c:pt>
                <c:pt idx="5">
                  <c:v>801.773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677.827</c:v>
                </c:pt>
                <c:pt idx="1">
                  <c:v>31.226</c:v>
                </c:pt>
                <c:pt idx="2">
                  <c:v>31.256999999999948</c:v>
                </c:pt>
                <c:pt idx="3">
                  <c:v>31.0150000000001</c:v>
                </c:pt>
                <c:pt idx="4">
                  <c:v>30.44799999999998</c:v>
                </c:pt>
                <c:pt idx="5">
                  <c:v>29.495000000000005</c:v>
                </c:pt>
                <c:pt idx="6">
                  <c:v>831.268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587.768</c:v>
                </c:pt>
                <c:pt idx="2">
                  <c:v>669.77</c:v>
                </c:pt>
                <c:pt idx="3">
                  <c:v>762.055</c:v>
                </c:pt>
                <c:pt idx="4">
                  <c:v>865.856</c:v>
                </c:pt>
                <c:pt idx="5">
                  <c:v>982.546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587.768</c:v>
                </c:pt>
                <c:pt idx="1">
                  <c:v>82.00199999999995</c:v>
                </c:pt>
                <c:pt idx="2">
                  <c:v>92.28499999999997</c:v>
                </c:pt>
                <c:pt idx="3">
                  <c:v>103.80100000000004</c:v>
                </c:pt>
                <c:pt idx="4">
                  <c:v>116.69000000000005</c:v>
                </c:pt>
                <c:pt idx="5">
                  <c:v>131.11599999999999</c:v>
                </c:pt>
                <c:pt idx="6">
                  <c:v>1113.662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337.582</c:v>
                </c:pt>
                <c:pt idx="2">
                  <c:v>355.581</c:v>
                </c:pt>
                <c:pt idx="3">
                  <c:v>374.057</c:v>
                </c:pt>
                <c:pt idx="4">
                  <c:v>392.943</c:v>
                </c:pt>
                <c:pt idx="5">
                  <c:v>412.153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337.582</c:v>
                </c:pt>
                <c:pt idx="1">
                  <c:v>17.999000000000024</c:v>
                </c:pt>
                <c:pt idx="2">
                  <c:v>18.476</c:v>
                </c:pt>
                <c:pt idx="3">
                  <c:v>18.885999999999967</c:v>
                </c:pt>
                <c:pt idx="4">
                  <c:v>19.210000000000036</c:v>
                </c:pt>
                <c:pt idx="5">
                  <c:v>19.424999999999955</c:v>
                </c:pt>
                <c:pt idx="6">
                  <c:v>431.578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Veterinary Channels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28.805020409521266</c:v>
                </c:pt>
                <c:pt idx="1">
                  <c:v>28.007951070336397</c:v>
                </c:pt>
                <c:pt idx="2">
                  <c:v>26.294927514844296</c:v>
                </c:pt>
              </c:numCache>
            </c:numRef>
          </c:val>
        </c:ser>
        <c:ser>
          <c:idx val="1"/>
          <c:order val="1"/>
          <c:tx>
            <c:strRef>
              <c:strCache>
                <c:ptCount val="1"/>
                <c:pt idx="0">
                  <c:v>Specialist Pet Retail</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16.3231482526488</c:v>
                </c:pt>
                <c:pt idx="1">
                  <c:v>18.264414790102865</c:v>
                </c:pt>
                <c:pt idx="2">
                  <c:v>22.425864440074914</c:v>
                </c:pt>
              </c:numCache>
            </c:numRef>
          </c:val>
        </c:ser>
        <c:ser>
          <c:idx val="2"/>
          <c:order val="2"/>
          <c:tx>
            <c:strRef>
              <c:strCache>
                <c:ptCount val="1"/>
                <c:pt idx="0">
                  <c:v>Third-Party E-commerce</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14.266278199682555</c:v>
                </c:pt>
                <c:pt idx="1">
                  <c:v>16.34050597720323</c:v>
                </c:pt>
                <c:pt idx="2">
                  <c:v>20.80353670323397</c:v>
                </c:pt>
              </c:numCache>
            </c:numRef>
          </c:val>
        </c:ser>
        <c:ser>
          <c:idx val="3"/>
          <c:order val="3"/>
          <c:tx>
            <c:strRef>
              <c:strCache>
                <c:ptCount val="1"/>
                <c:pt idx="0">
                  <c:v>Brand-Owned E-commerce</c:v>
                </c:pt>
              </c:strCache>
            </c:strRef>
          </c:tx>
          <c:spPr>
            <a:solidFill>
              <a:srgbClr val="40315E"/>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20.384404868536844</c:v>
                </c:pt>
                <c:pt idx="1">
                  <c:v>18.844231303864333</c:v>
                </c:pt>
                <c:pt idx="2">
                  <c:v>15.528332966576839</c:v>
                </c:pt>
              </c:numCache>
            </c:numRef>
          </c:val>
        </c:ser>
        <c:ser>
          <c:idx val="4"/>
          <c:order val="4"/>
          <c:tx>
            <c:strRef>
              <c:strCache>
                <c:ptCount val="1"/>
                <c:pt idx="0">
                  <c:v>Other Direct Sales</c:v>
                </c:pt>
              </c:strCache>
            </c:strRef>
          </c:tx>
          <c:spPr>
            <a:solidFill>
              <a:srgbClr val="A35313"/>
            </a:solidFill>
            <a:ln>
              <a:noFill/>
            </a:ln>
          </c:spPr>
          <c:dLbls>
            <c:dLbl>
              <c:idx val="0"/>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10.000861133708622</c:v>
                </c:pt>
                <c:pt idx="1">
                  <c:v>9.385098693355577</c:v>
                </c:pt>
                <c:pt idx="2">
                  <c:v>8.062005135587198</c:v>
                </c:pt>
              </c:numCache>
            </c:numRef>
          </c:val>
        </c:ser>
        <c:ser>
          <c:idx val="5"/>
          <c:order val="5"/>
          <c:tx>
            <c:strRef>
              <c:strCache>
                <c:ptCount val="1"/>
                <c:pt idx="0">
                  <c:v>General Retail</c:v>
                </c:pt>
              </c:strCache>
            </c:strRef>
          </c:tx>
          <c:spPr>
            <a:solidFill>
              <a:srgbClr val="808080"/>
            </a:solidFill>
            <a:ln>
              <a:noFill/>
            </a:ln>
          </c:spPr>
          <c:dLbls>
            <c:dLbl>
              <c:idx val="0"/>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10.220287135901904</c:v>
                </c:pt>
                <c:pt idx="1">
                  <c:v>9.157798165137617</c:v>
                </c:pt>
                <c:pt idx="2">
                  <c:v>6.885333239682778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Cellular Energy Support Ingredients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Chewables</c:v>
                </c:pt>
                <c:pt idx="1">
                  <c:v>Tablets</c:v>
                </c:pt>
                <c:pt idx="2">
                  <c:v>Capsules and Softgels</c:v>
                </c:pt>
                <c:pt idx="3">
                  <c:v>Powders and Granules</c:v>
                </c:pt>
                <c:pt idx="4">
                  <c:v>Liquids</c:v>
                </c:pt>
                <c:pt idx="5">
                  <c:v>Gels and Pastes</c:v>
                </c:pt>
              </c:strCache>
            </c:strRef>
          </c:cat>
          <c:val>
            <c:numRef>
              <c:numCache>
                <c:formatCode>General</c:formatCode>
                <c:ptCount val="6"/>
                <c:pt idx="0">
                  <c:v>24.65668435481026</c:v>
                </c:pt>
                <c:pt idx="1">
                  <c:v>21.68739161162123</c:v>
                </c:pt>
                <c:pt idx="2">
                  <c:v>20.674097047419185</c:v>
                </c:pt>
                <c:pt idx="3">
                  <c:v>20.91054323867045</c:v>
                </c:pt>
                <c:pt idx="4">
                  <c:v>20.67163221175208</c:v>
                </c:pt>
                <c:pt idx="5">
                  <c:v>23.456426231924198</c:v>
                </c:pt>
              </c:numCache>
            </c:numRef>
          </c:val>
        </c:ser>
        <c:ser>
          <c:idx val="1"/>
          <c:order val="1"/>
          <c:tx>
            <c:strRef>
              <c:strCache>
                <c:ptCount val="1"/>
                <c:pt idx="0">
                  <c:v>Antioxidant Ingredients</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Chewables</c:v>
                </c:pt>
                <c:pt idx="1">
                  <c:v>Tablets</c:v>
                </c:pt>
                <c:pt idx="2">
                  <c:v>Capsules and Softgels</c:v>
                </c:pt>
                <c:pt idx="3">
                  <c:v>Powders and Granules</c:v>
                </c:pt>
                <c:pt idx="4">
                  <c:v>Liquids</c:v>
                </c:pt>
                <c:pt idx="5">
                  <c:v>Gels and Pastes</c:v>
                </c:pt>
              </c:strCache>
            </c:strRef>
          </c:cat>
          <c:val>
            <c:numRef>
              <c:numCache>
                <c:formatCode>General</c:formatCode>
                <c:ptCount val="6"/>
                <c:pt idx="0">
                  <c:v>21.287493787774338</c:v>
                </c:pt>
                <c:pt idx="1">
                  <c:v>18.214571390924856</c:v>
                </c:pt>
                <c:pt idx="2">
                  <c:v>22.54496596306222</c:v>
                </c:pt>
                <c:pt idx="3">
                  <c:v>21.885258609648737</c:v>
                </c:pt>
                <c:pt idx="4">
                  <c:v>22.791588634321506</c:v>
                </c:pt>
                <c:pt idx="5">
                  <c:v>19.816491382311316</c:v>
                </c:pt>
              </c:numCache>
            </c:numRef>
          </c:val>
        </c:ser>
        <c:ser>
          <c:idx val="2"/>
          <c:order val="2"/>
          <c:tx>
            <c:strRef>
              <c:strCache>
                <c:ptCount val="1"/>
                <c:pt idx="0">
                  <c:v>Microbiome-Targeted Ingredients</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Chewables</c:v>
                </c:pt>
                <c:pt idx="1">
                  <c:v>Tablets</c:v>
                </c:pt>
                <c:pt idx="2">
                  <c:v>Capsules and Softgels</c:v>
                </c:pt>
                <c:pt idx="3">
                  <c:v>Powders and Granules</c:v>
                </c:pt>
                <c:pt idx="4">
                  <c:v>Liquids</c:v>
                </c:pt>
                <c:pt idx="5">
                  <c:v>Gels and Pastes</c:v>
                </c:pt>
              </c:strCache>
            </c:strRef>
          </c:cat>
          <c:val>
            <c:numRef>
              <c:numCache>
                <c:formatCode>General</c:formatCode>
                <c:ptCount val="6"/>
                <c:pt idx="0">
                  <c:v>15.733844205396217</c:v>
                </c:pt>
                <c:pt idx="1">
                  <c:v>15.765509769760788</c:v>
                </c:pt>
                <c:pt idx="2">
                  <c:v>14.454435265871796</c:v>
                </c:pt>
                <c:pt idx="3">
                  <c:v>12.526373263409077</c:v>
                </c:pt>
                <c:pt idx="4">
                  <c:v>12.026251781441413</c:v>
                </c:pt>
                <c:pt idx="5">
                  <c:v>15.762633051370726</c:v>
                </c:pt>
              </c:numCache>
            </c:numRef>
          </c:val>
        </c:ser>
        <c:ser>
          <c:idx val="3"/>
          <c:order val="3"/>
          <c:tx>
            <c:strRef>
              <c:strCache>
                <c:ptCount val="1"/>
                <c:pt idx="0">
                  <c:v>Neurofunctional Nutrients</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Chewables</c:v>
                </c:pt>
                <c:pt idx="1">
                  <c:v>Tablets</c:v>
                </c:pt>
                <c:pt idx="2">
                  <c:v>Capsules and Softgels</c:v>
                </c:pt>
                <c:pt idx="3">
                  <c:v>Powders and Granules</c:v>
                </c:pt>
                <c:pt idx="4">
                  <c:v>Liquids</c:v>
                </c:pt>
                <c:pt idx="5">
                  <c:v>Gels and Pastes</c:v>
                </c:pt>
              </c:strCache>
            </c:strRef>
          </c:cat>
          <c:val>
            <c:numRef>
              <c:numCache>
                <c:formatCode>General</c:formatCode>
                <c:ptCount val="6"/>
                <c:pt idx="0">
                  <c:v>11.64211167577793</c:v>
                </c:pt>
                <c:pt idx="1">
                  <c:v>11.163786735591582</c:v>
                </c:pt>
                <c:pt idx="2">
                  <c:v>11.358774321441237</c:v>
                </c:pt>
                <c:pt idx="3">
                  <c:v>13.722185896960587</c:v>
                </c:pt>
                <c:pt idx="4">
                  <c:v>10.812073976308886</c:v>
                </c:pt>
                <c:pt idx="5">
                  <c:v>15.312881939062537</c:v>
                </c:pt>
              </c:numCache>
            </c:numRef>
          </c:val>
        </c:ser>
        <c:ser>
          <c:idx val="4"/>
          <c:order val="4"/>
          <c:tx>
            <c:strRef>
              <c:strCache>
                <c:ptCount val="1"/>
                <c:pt idx="0">
                  <c:v>Omega-3 Fatty Acids</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Chewables</c:v>
                </c:pt>
                <c:pt idx="1">
                  <c:v>Tablets</c:v>
                </c:pt>
                <c:pt idx="2">
                  <c:v>Capsules and Softgels</c:v>
                </c:pt>
                <c:pt idx="3">
                  <c:v>Powders and Granules</c:v>
                </c:pt>
                <c:pt idx="4">
                  <c:v>Liquids</c:v>
                </c:pt>
                <c:pt idx="5">
                  <c:v>Gels and Pastes</c:v>
                </c:pt>
              </c:strCache>
            </c:strRef>
          </c:cat>
          <c:val>
            <c:numRef>
              <c:numCache>
                <c:formatCode>General</c:formatCode>
                <c:ptCount val="6"/>
                <c:pt idx="0">
                  <c:v>13.20021802908123</c:v>
                </c:pt>
                <c:pt idx="1">
                  <c:v>22.881244268642135</c:v>
                </c:pt>
                <c:pt idx="2">
                  <c:v>18.537632470831714</c:v>
                </c:pt>
                <c:pt idx="3">
                  <c:v>15.722172415420188</c:v>
                </c:pt>
                <c:pt idx="4">
                  <c:v>20.017970753093042</c:v>
                </c:pt>
                <c:pt idx="5">
                  <c:v>14.874819273740888</c:v>
                </c:pt>
              </c:numCache>
            </c:numRef>
          </c:val>
        </c:ser>
        <c:ser>
          <c:idx val="5"/>
          <c:order val="5"/>
          <c:tx>
            <c:strRef>
              <c:strCache>
                <c:ptCount val="1"/>
                <c:pt idx="0">
                  <c:v>Botanical Ingredients</c:v>
                </c:pt>
              </c:strCache>
            </c:strRef>
          </c:tx>
          <c:spPr>
            <a:solidFill>
              <a:srgbClr val="80808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Chewables</c:v>
                </c:pt>
                <c:pt idx="1">
                  <c:v>Tablets</c:v>
                </c:pt>
                <c:pt idx="2">
                  <c:v>Capsules and Softgels</c:v>
                </c:pt>
                <c:pt idx="3">
                  <c:v>Powders and Granules</c:v>
                </c:pt>
                <c:pt idx="4">
                  <c:v>Liquids</c:v>
                </c:pt>
                <c:pt idx="5">
                  <c:v>Gels and Pastes</c:v>
                </c:pt>
              </c:strCache>
            </c:strRef>
          </c:cat>
          <c:val>
            <c:numRef>
              <c:numCache>
                <c:formatCode>General</c:formatCode>
                <c:ptCount val="6"/>
                <c:pt idx="0">
                  <c:v>13.479647947160009</c:v>
                </c:pt>
                <c:pt idx="1">
                  <c:v>10.287496223459405</c:v>
                </c:pt>
                <c:pt idx="2">
                  <c:v>12.430094931373862</c:v>
                </c:pt>
                <c:pt idx="3">
                  <c:v>15.233466575890962</c:v>
                </c:pt>
                <c:pt idx="4">
                  <c:v>13.680482643083069</c:v>
                </c:pt>
                <c:pt idx="5">
                  <c:v>10.776748121590341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Antioxidant Ingredients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4"/>
                <c:pt idx="0">
                  <c:v>Routine Cognitive Wellness</c:v>
                </c:pt>
                <c:pt idx="1">
                  <c:v>Preventive Cognitive Support for Senior Dogs</c:v>
                </c:pt>
                <c:pt idx="2">
                  <c:v>Support for Observable Age-Related Cognitive Changes</c:v>
                </c:pt>
                <c:pt idx="3">
                  <c:v>Veterinary-Guided Cognitive Dysfunction Support</c:v>
                </c:pt>
              </c:strCache>
            </c:strRef>
          </c:cat>
          <c:val>
            <c:numRef>
              <c:numCache>
                <c:formatCode>General</c:formatCode>
                <c:ptCount val="4"/>
                <c:pt idx="0">
                  <c:v>18.140638954379824</c:v>
                </c:pt>
                <c:pt idx="1">
                  <c:v>21.71391878589542</c:v>
                </c:pt>
                <c:pt idx="2">
                  <c:v>21.883699828911755</c:v>
                </c:pt>
                <c:pt idx="3">
                  <c:v>21.30197682344922</c:v>
                </c:pt>
              </c:numCache>
            </c:numRef>
          </c:val>
        </c:ser>
        <c:ser>
          <c:idx val="1"/>
          <c:order val="1"/>
          <c:tx>
            <c:strRef>
              <c:strCache>
                <c:ptCount val="1"/>
                <c:pt idx="0">
                  <c:v>Cellular Energy Support Ingredients</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4"/>
                <c:pt idx="0">
                  <c:v>Routine Cognitive Wellness</c:v>
                </c:pt>
                <c:pt idx="1">
                  <c:v>Preventive Cognitive Support for Senior Dogs</c:v>
                </c:pt>
                <c:pt idx="2">
                  <c:v>Support for Observable Age-Related Cognitive Changes</c:v>
                </c:pt>
                <c:pt idx="3">
                  <c:v>Veterinary-Guided Cognitive Dysfunction Support</c:v>
                </c:pt>
              </c:strCache>
            </c:strRef>
          </c:cat>
          <c:val>
            <c:numRef>
              <c:numCache>
                <c:formatCode>General</c:formatCode>
                <c:ptCount val="4"/>
                <c:pt idx="0">
                  <c:v>19.423400458087347</c:v>
                </c:pt>
                <c:pt idx="1">
                  <c:v>19.94465341564698</c:v>
                </c:pt>
                <c:pt idx="2">
                  <c:v>22.96091584975595</c:v>
                </c:pt>
                <c:pt idx="3">
                  <c:v>20.91123770571624</c:v>
                </c:pt>
              </c:numCache>
            </c:numRef>
          </c:val>
        </c:ser>
        <c:ser>
          <c:idx val="2"/>
          <c:order val="2"/>
          <c:tx>
            <c:strRef>
              <c:strCache>
                <c:ptCount val="1"/>
                <c:pt idx="0">
                  <c:v>Omega-3 Fatty Acids</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4"/>
                <c:pt idx="0">
                  <c:v>Routine Cognitive Wellness</c:v>
                </c:pt>
                <c:pt idx="1">
                  <c:v>Preventive Cognitive Support for Senior Dogs</c:v>
                </c:pt>
                <c:pt idx="2">
                  <c:v>Support for Observable Age-Related Cognitive Changes</c:v>
                </c:pt>
                <c:pt idx="3">
                  <c:v>Veterinary-Guided Cognitive Dysfunction Support</c:v>
                </c:pt>
              </c:strCache>
            </c:strRef>
          </c:cat>
          <c:val>
            <c:numRef>
              <c:numCache>
                <c:formatCode>General</c:formatCode>
                <c:ptCount val="4"/>
                <c:pt idx="0">
                  <c:v>18.084218496263244</c:v>
                </c:pt>
                <c:pt idx="1">
                  <c:v>19.01634321401331</c:v>
                </c:pt>
                <c:pt idx="2">
                  <c:v>18.112002834377506</c:v>
                </c:pt>
                <c:pt idx="3">
                  <c:v>17.289495893790374</c:v>
                </c:pt>
              </c:numCache>
            </c:numRef>
          </c:val>
        </c:ser>
        <c:ser>
          <c:idx val="3"/>
          <c:order val="3"/>
          <c:tx>
            <c:strRef>
              <c:strCache>
                <c:ptCount val="1"/>
                <c:pt idx="0">
                  <c:v>Microbiome-Targeted Ingredients</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4"/>
                <c:pt idx="0">
                  <c:v>Routine Cognitive Wellness</c:v>
                </c:pt>
                <c:pt idx="1">
                  <c:v>Preventive Cognitive Support for Senior Dogs</c:v>
                </c:pt>
                <c:pt idx="2">
                  <c:v>Support for Observable Age-Related Cognitive Changes</c:v>
                </c:pt>
                <c:pt idx="3">
                  <c:v>Veterinary-Guided Cognitive Dysfunction Support</c:v>
                </c:pt>
              </c:strCache>
            </c:strRef>
          </c:cat>
          <c:val>
            <c:numRef>
              <c:numCache>
                <c:formatCode>General</c:formatCode>
                <c:ptCount val="4"/>
                <c:pt idx="0">
                  <c:v>17.46213178708147</c:v>
                </c:pt>
                <c:pt idx="1">
                  <c:v>14.338937528113323</c:v>
                </c:pt>
                <c:pt idx="2">
                  <c:v>14.095010130950106</c:v>
                </c:pt>
                <c:pt idx="3">
                  <c:v>14.859853280098681</c:v>
                </c:pt>
              </c:numCache>
            </c:numRef>
          </c:val>
        </c:ser>
        <c:ser>
          <c:idx val="4"/>
          <c:order val="4"/>
          <c:tx>
            <c:strRef>
              <c:strCache>
                <c:ptCount val="1"/>
                <c:pt idx="0">
                  <c:v>Botanical Ingredients</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4"/>
                <c:pt idx="0">
                  <c:v>Routine Cognitive Wellness</c:v>
                </c:pt>
                <c:pt idx="1">
                  <c:v>Preventive Cognitive Support for Senior Dogs</c:v>
                </c:pt>
                <c:pt idx="2">
                  <c:v>Support for Observable Age-Related Cognitive Changes</c:v>
                </c:pt>
                <c:pt idx="3">
                  <c:v>Veterinary-Guided Cognitive Dysfunction Support</c:v>
                </c:pt>
              </c:strCache>
            </c:strRef>
          </c:cat>
          <c:val>
            <c:numRef>
              <c:numCache>
                <c:formatCode>General</c:formatCode>
                <c:ptCount val="4"/>
                <c:pt idx="0">
                  <c:v>14.224971460895217</c:v>
                </c:pt>
                <c:pt idx="1">
                  <c:v>15.627750216757821</c:v>
                </c:pt>
                <c:pt idx="2">
                  <c:v>10.98397568063414</c:v>
                </c:pt>
                <c:pt idx="3">
                  <c:v>14.02643879637745</c:v>
                </c:pt>
              </c:numCache>
            </c:numRef>
          </c:val>
        </c:ser>
        <c:ser>
          <c:idx val="5"/>
          <c:order val="5"/>
          <c:tx>
            <c:strRef>
              <c:strCache>
                <c:ptCount val="1"/>
                <c:pt idx="0">
                  <c:v>Neurofunctional Nutrients</c:v>
                </c:pt>
              </c:strCache>
            </c:strRef>
          </c:tx>
          <c:spPr>
            <a:solidFill>
              <a:srgbClr val="80808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4"/>
                <c:pt idx="0">
                  <c:v>Routine Cognitive Wellness</c:v>
                </c:pt>
                <c:pt idx="1">
                  <c:v>Preventive Cognitive Support for Senior Dogs</c:v>
                </c:pt>
                <c:pt idx="2">
                  <c:v>Support for Observable Age-Related Cognitive Changes</c:v>
                </c:pt>
                <c:pt idx="3">
                  <c:v>Veterinary-Guided Cognitive Dysfunction Support</c:v>
                </c:pt>
              </c:strCache>
            </c:strRef>
          </c:cat>
          <c:val>
            <c:numRef>
              <c:numCache>
                <c:formatCode>General</c:formatCode>
                <c:ptCount val="4"/>
                <c:pt idx="0">
                  <c:v>12.664638843292911</c:v>
                </c:pt>
                <c:pt idx="1">
                  <c:v>9.358396839573132</c:v>
                </c:pt>
                <c:pt idx="2">
                  <c:v>11.96439567537054</c:v>
                </c:pt>
                <c:pt idx="3">
                  <c:v>11.610997500568054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Support for Observable Age-Related Cognitive Changes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Veterinary Channels</c:v>
                </c:pt>
                <c:pt idx="1">
                  <c:v>Specialist Pet Retail</c:v>
                </c:pt>
                <c:pt idx="2">
                  <c:v>General Retail</c:v>
                </c:pt>
                <c:pt idx="3">
                  <c:v>Brand-Owned E-commerce</c:v>
                </c:pt>
                <c:pt idx="4">
                  <c:v>Third-Party E-commerce</c:v>
                </c:pt>
                <c:pt idx="5">
                  <c:v>Other Direct Sales</c:v>
                </c:pt>
              </c:strCache>
            </c:strRef>
          </c:cat>
          <c:val>
            <c:numRef>
              <c:numCache>
                <c:formatCode>General</c:formatCode>
                <c:ptCount val="6"/>
                <c:pt idx="0">
                  <c:v>62.79512748077812</c:v>
                </c:pt>
                <c:pt idx="1">
                  <c:v>66.6527137423113</c:v>
                </c:pt>
                <c:pt idx="2">
                  <c:v>66.39132256243055</c:v>
                </c:pt>
                <c:pt idx="3">
                  <c:v>65.04226004570486</c:v>
                </c:pt>
                <c:pt idx="4">
                  <c:v>71.82800016332975</c:v>
                </c:pt>
                <c:pt idx="5">
                  <c:v>61.417077924770865</c:v>
                </c:pt>
              </c:numCache>
            </c:numRef>
          </c:val>
        </c:ser>
        <c:ser>
          <c:idx val="1"/>
          <c:order val="1"/>
          <c:tx>
            <c:strRef>
              <c:strCache>
                <c:ptCount val="1"/>
                <c:pt idx="0">
                  <c:v>Routine Cognitive Wellness</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Veterinary Channels</c:v>
                </c:pt>
                <c:pt idx="1">
                  <c:v>Specialist Pet Retail</c:v>
                </c:pt>
                <c:pt idx="2">
                  <c:v>General Retail</c:v>
                </c:pt>
                <c:pt idx="3">
                  <c:v>Brand-Owned E-commerce</c:v>
                </c:pt>
                <c:pt idx="4">
                  <c:v>Third-Party E-commerce</c:v>
                </c:pt>
                <c:pt idx="5">
                  <c:v>Other Direct Sales</c:v>
                </c:pt>
              </c:strCache>
            </c:strRef>
          </c:cat>
          <c:val>
            <c:numRef>
              <c:numCache>
                <c:formatCode>General</c:formatCode>
                <c:ptCount val="6"/>
                <c:pt idx="0">
                  <c:v>18.768251598596848</c:v>
                </c:pt>
                <c:pt idx="1">
                  <c:v>19.30831041248396</c:v>
                </c:pt>
                <c:pt idx="2">
                  <c:v>17.519717309338624</c:v>
                </c:pt>
                <c:pt idx="3">
                  <c:v>19.685849044077617</c:v>
                </c:pt>
                <c:pt idx="4">
                  <c:v>17.129377577547604</c:v>
                </c:pt>
                <c:pt idx="5">
                  <c:v>22.628279943835867</c:v>
                </c:pt>
              </c:numCache>
            </c:numRef>
          </c:val>
        </c:ser>
        <c:ser>
          <c:idx val="2"/>
          <c:order val="2"/>
          <c:tx>
            <c:strRef>
              <c:strCache>
                <c:ptCount val="1"/>
                <c:pt idx="0">
                  <c:v>Preventive Cognitive Support for Senior Dogs</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Veterinary Channels</c:v>
                </c:pt>
                <c:pt idx="1">
                  <c:v>Specialist Pet Retail</c:v>
                </c:pt>
                <c:pt idx="2">
                  <c:v>General Retail</c:v>
                </c:pt>
                <c:pt idx="3">
                  <c:v>Brand-Owned E-commerce</c:v>
                </c:pt>
                <c:pt idx="4">
                  <c:v>Third-Party E-commerce</c:v>
                </c:pt>
                <c:pt idx="5">
                  <c:v>Other Direct Sales</c:v>
                </c:pt>
              </c:strCache>
            </c:strRef>
          </c:cat>
          <c:val>
            <c:numRef>
              <c:numCache>
                <c:formatCode>General</c:formatCode>
                <c:ptCount val="6"/>
                <c:pt idx="0">
                  <c:v>9.328440432539312</c:v>
                </c:pt>
                <c:pt idx="1">
                  <c:v>7.8275905633582</c:v>
                </c:pt>
                <c:pt idx="2">
                  <c:v>9.556595811855278</c:v>
                </c:pt>
                <c:pt idx="3">
                  <c:v>9.261655260117992</c:v>
                </c:pt>
                <c:pt idx="4">
                  <c:v>6.123334376828953</c:v>
                </c:pt>
                <c:pt idx="5">
                  <c:v>9.22472169724689</c:v>
                </c:pt>
              </c:numCache>
            </c:numRef>
          </c:val>
        </c:ser>
        <c:ser>
          <c:idx val="3"/>
          <c:order val="3"/>
          <c:tx>
            <c:strRef>
              <c:strCache>
                <c:ptCount val="1"/>
                <c:pt idx="0">
                  <c:v>Veterinary-Guided Cognitive Dysfunction Support</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Veterinary Channels</c:v>
                </c:pt>
                <c:pt idx="1">
                  <c:v>Specialist Pet Retail</c:v>
                </c:pt>
                <c:pt idx="2">
                  <c:v>General Retail</c:v>
                </c:pt>
                <c:pt idx="3">
                  <c:v>Brand-Owned E-commerce</c:v>
                </c:pt>
                <c:pt idx="4">
                  <c:v>Third-Party E-commerce</c:v>
                </c:pt>
                <c:pt idx="5">
                  <c:v>Other Direct Sales</c:v>
                </c:pt>
              </c:strCache>
            </c:strRef>
          </c:cat>
          <c:val>
            <c:numRef>
              <c:numCache>
                <c:formatCode>General</c:formatCode>
                <c:ptCount val="6"/>
                <c:pt idx="0">
                  <c:v>9.108180488085713</c:v>
                </c:pt>
                <c:pt idx="1">
                  <c:v>6.211385281846535</c:v>
                </c:pt>
                <c:pt idx="2">
                  <c:v>6.532364316375536</c:v>
                </c:pt>
                <c:pt idx="3">
                  <c:v>6.010235650099507</c:v>
                </c:pt>
                <c:pt idx="4">
                  <c:v>4.919287882293695</c:v>
                </c:pt>
                <c:pt idx="5">
                  <c:v>6.72992043414637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Volume (MT)</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414302.84</c:v>
                </c:pt>
                <c:pt idx="1">
                  <c:v>421051.16300000006</c:v>
                </c:pt>
                <c:pt idx="2">
                  <c:v>427909.40599999996</c:v>
                </c:pt>
                <c:pt idx="3">
                  <c:v>434879.358</c:v>
                </c:pt>
                <c:pt idx="4">
                  <c:v>441962.839</c:v>
                </c:pt>
                <c:pt idx="5">
                  <c:v>449161.699</c:v>
                </c:pt>
                <c:pt idx="6">
                  <c:v>460022.38599999994</c:v>
                </c:pt>
                <c:pt idx="7">
                  <c:v>471145.68299999996</c:v>
                </c:pt>
                <c:pt idx="8">
                  <c:v>482537.941</c:v>
                </c:pt>
                <c:pt idx="9">
                  <c:v>494205.66299999994</c:v>
                </c:pt>
                <c:pt idx="10">
                  <c:v>506155.508</c:v>
                </c:pt>
                <c:pt idx="11">
                  <c:v>518394.30100000004</c:v>
                </c:pt>
                <c:pt idx="12">
                  <c:v>530929.025</c:v>
                </c:pt>
                <c:pt idx="13">
                  <c:v>543766.839</c:v>
                </c:pt>
                <c:pt idx="14">
                  <c:v>556915.069</c:v>
                </c:pt>
                <c:pt idx="15">
                  <c:v>570381.2230000001</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3D85C6"/>
            </a:solidFill>
            <a:ln>
              <a:noFill/>
            </a:ln>
          </c:spPr>
          <c:dPt>
            <c:idx val="0"/>
            <c:spPr>
              <a:solidFill>
                <a:srgbClr val="008189"/>
              </a:solidFill>
            </c:spPr>
          </c:dPt>
          <c:dPt>
            <c:idx val="1"/>
            <c:spPr>
              <a:solidFill>
                <a:srgbClr val="9E7E0A"/>
              </a:solidFill>
            </c:spPr>
          </c:dPt>
          <c:dPt>
            <c:idx val="2"/>
            <c:spPr>
              <a:solidFill>
                <a:srgbClr val="3D85C6"/>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North America</c:v>
                </c:pt>
                <c:pt idx="2">
                  <c:v>U.S.</c:v>
                </c:pt>
              </c:strCache>
            </c:strRef>
          </c:cat>
          <c:val>
            <c:numRef>
              <c:numCache>
                <c:formatCode>General</c:formatCode>
                <c:ptCount val="3"/>
                <c:pt idx="0">
                  <c:v>0.04407844578395537</c:v>
                </c:pt>
                <c:pt idx="1">
                  <c:v>0.025858271293185187</c:v>
                </c:pt>
                <c:pt idx="2">
                  <c:v>0.02417990485822874</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5950590180833975"/>
          <c:min val="0.0"/>
        </c:scaling>
        <c:delete/>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449161.699</c:v>
                </c:pt>
                <c:pt idx="2">
                  <c:v>460022.38599999994</c:v>
                </c:pt>
                <c:pt idx="3">
                  <c:v>471145.68299999996</c:v>
                </c:pt>
                <c:pt idx="4">
                  <c:v>482537.941</c:v>
                </c:pt>
                <c:pt idx="5">
                  <c:v>494205.66299999994</c:v>
                </c:pt>
                <c:pt idx="6">
                  <c:v>506155.508</c:v>
                </c:pt>
                <c:pt idx="7">
                  <c:v>518394.30100000004</c:v>
                </c:pt>
                <c:pt idx="8">
                  <c:v>530929.025</c:v>
                </c:pt>
                <c:pt idx="9">
                  <c:v>543766.839</c:v>
                </c:pt>
                <c:pt idx="10">
                  <c:v>556915.069</c:v>
                </c:pt>
                <c:pt idx="11">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449161.699</c:v>
                </c:pt>
                <c:pt idx="1">
                  <c:v>10860.686999999918</c:v>
                </c:pt>
                <c:pt idx="2">
                  <c:v>11123.29700000002</c:v>
                </c:pt>
                <c:pt idx="3">
                  <c:v>11392.25800000003</c:v>
                </c:pt>
                <c:pt idx="4">
                  <c:v>11667.72199999995</c:v>
                </c:pt>
                <c:pt idx="5">
                  <c:v>11949.84500000003</c:v>
                </c:pt>
                <c:pt idx="6">
                  <c:v>12238.793000000063</c:v>
                </c:pt>
                <c:pt idx="7">
                  <c:v>12534.723999999987</c:v>
                </c:pt>
                <c:pt idx="8">
                  <c:v>12837.814000000013</c:v>
                </c:pt>
                <c:pt idx="9">
                  <c:v>13148.229999999981</c:v>
                </c:pt>
                <c:pt idx="10">
                  <c:v>13466.154000000097</c:v>
                </c:pt>
                <c:pt idx="11">
                  <c:v>570381.2230000001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70.02305548241378</c:v>
                </c:pt>
                <c:pt idx="1">
                  <c:v>16.8950730649113</c:v>
                </c:pt>
              </c:numCache>
            </c:numRef>
          </c:val>
        </c:ser>
        <c:ser>
          <c:idx val="1"/>
          <c:order val="1"/>
          <c:tx>
            <c:strRef>
              <c:strCache>
                <c:ptCount val="1"/>
                <c:pt idx="0">
                  <c:v>Rest of the market</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29.97694451758622</c:v>
                </c:pt>
                <c:pt idx="1">
                  <c:v>83.1049269350887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2136.262</c:v>
                </c:pt>
                <c:pt idx="1">
                  <c:v>2200.902</c:v>
                </c:pt>
                <c:pt idx="2">
                  <c:v>2267.497</c:v>
                </c:pt>
                <c:pt idx="3">
                  <c:v>2336.1079999999997</c:v>
                </c:pt>
                <c:pt idx="4">
                  <c:v>2406.795</c:v>
                </c:pt>
                <c:pt idx="5">
                  <c:v>2479.62</c:v>
                </c:pt>
                <c:pt idx="6">
                  <c:v>2574.487</c:v>
                </c:pt>
                <c:pt idx="7">
                  <c:v>2672.982</c:v>
                </c:pt>
                <c:pt idx="8">
                  <c:v>2775.2459999999996</c:v>
                </c:pt>
                <c:pt idx="9">
                  <c:v>2881.422</c:v>
                </c:pt>
                <c:pt idx="10">
                  <c:v>2991.6609999999996</c:v>
                </c:pt>
                <c:pt idx="11">
                  <c:v>3106.117</c:v>
                </c:pt>
                <c:pt idx="12">
                  <c:v>3224.952</c:v>
                </c:pt>
                <c:pt idx="13">
                  <c:v>3348.333</c:v>
                </c:pt>
                <c:pt idx="14">
                  <c:v>3476.4350000000004</c:v>
                </c:pt>
                <c:pt idx="15">
                  <c:v>3609.4370000000004</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3D85C6"/>
            </a:solidFill>
            <a:ln>
              <a:noFill/>
            </a:ln>
          </c:spPr>
          <c:dPt>
            <c:idx val="0"/>
            <c:spPr>
              <a:solidFill>
                <a:srgbClr val="008189"/>
              </a:solidFill>
            </c:spPr>
          </c:dPt>
          <c:dPt>
            <c:idx val="1"/>
            <c:spPr>
              <a:solidFill>
                <a:srgbClr val="9E7E0A"/>
              </a:solidFill>
            </c:spPr>
          </c:dPt>
          <c:dPt>
            <c:idx val="2"/>
            <c:spPr>
              <a:solidFill>
                <a:srgbClr val="3D85C6"/>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North America</c:v>
                </c:pt>
                <c:pt idx="2">
                  <c:v>U.S.</c:v>
                </c:pt>
              </c:strCache>
            </c:strRef>
          </c:cat>
          <c:val>
            <c:numRef>
              <c:numCache>
                <c:formatCode>General</c:formatCode>
                <c:ptCount val="3"/>
                <c:pt idx="0">
                  <c:v>0.049944145569506215</c:v>
                </c:pt>
                <c:pt idx="1">
                  <c:v>0.04056108237174105</c:v>
                </c:pt>
                <c:pt idx="2">
                  <c:v>0.03825835240042319</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674245965188334"/>
          <c:min val="0.0"/>
        </c:scaling>
        <c:delete/>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2479.62</c:v>
                </c:pt>
                <c:pt idx="2">
                  <c:v>2574.487</c:v>
                </c:pt>
                <c:pt idx="3">
                  <c:v>2672.982</c:v>
                </c:pt>
                <c:pt idx="4">
                  <c:v>2775.2459999999996</c:v>
                </c:pt>
                <c:pt idx="5">
                  <c:v>2881.422</c:v>
                </c:pt>
                <c:pt idx="6">
                  <c:v>2991.6609999999996</c:v>
                </c:pt>
                <c:pt idx="7">
                  <c:v>3106.117</c:v>
                </c:pt>
                <c:pt idx="8">
                  <c:v>3224.952</c:v>
                </c:pt>
                <c:pt idx="9">
                  <c:v>3348.333</c:v>
                </c:pt>
                <c:pt idx="10">
                  <c:v>3476.4350000000004</c:v>
                </c:pt>
                <c:pt idx="11">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2479.62</c:v>
                </c:pt>
                <c:pt idx="1">
                  <c:v>94.86700000000019</c:v>
                </c:pt>
                <c:pt idx="2">
                  <c:v>98.49499999999989</c:v>
                </c:pt>
                <c:pt idx="3">
                  <c:v>102.26399999999967</c:v>
                </c:pt>
                <c:pt idx="4">
                  <c:v>106.17600000000039</c:v>
                </c:pt>
                <c:pt idx="5">
                  <c:v>110.23899999999958</c:v>
                </c:pt>
                <c:pt idx="6">
                  <c:v>114.45600000000059</c:v>
                </c:pt>
                <c:pt idx="7">
                  <c:v>118.83500000000004</c:v>
                </c:pt>
                <c:pt idx="8">
                  <c:v>123.38099999999986</c:v>
                </c:pt>
                <c:pt idx="9">
                  <c:v>128.10200000000032</c:v>
                </c:pt>
                <c:pt idx="10">
                  <c:v>133.00199999999995</c:v>
                </c:pt>
                <c:pt idx="11">
                  <c:v>3609.4370000000004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68.93577981651376</c:v>
                </c:pt>
                <c:pt idx="1">
                  <c:v>22.748807339449538</c:v>
                </c:pt>
              </c:numCache>
            </c:numRef>
          </c:val>
        </c:ser>
        <c:ser>
          <c:idx val="1"/>
          <c:order val="1"/>
          <c:tx>
            <c:strRef>
              <c:strCache>
                <c:ptCount val="1"/>
                <c:pt idx="0">
                  <c:v>Rest of the market</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31.064220183486242</c:v>
                </c:pt>
                <c:pt idx="1">
                  <c:v>77.25119266055046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9EC6DE"/>
              </a:solidFill>
            </c:spPr>
          </c:dPt>
          <c:dPt>
            <c:idx val="1"/>
            <c:spPr>
              <a:solidFill>
                <a:srgbClr val="81B5D4"/>
              </a:solidFill>
            </c:spPr>
          </c:dPt>
          <c:dPt>
            <c:idx val="2"/>
            <c:spPr>
              <a:solidFill>
                <a:srgbClr val="64A4CB"/>
              </a:solidFill>
            </c:spPr>
          </c:dPt>
          <c:dPt>
            <c:idx val="3"/>
            <c:spPr>
              <a:solidFill>
                <a:srgbClr val="4793C1"/>
              </a:solidFill>
            </c:spPr>
          </c:dPt>
          <c:dPt>
            <c:idx val="4"/>
            <c:spPr>
              <a:solidFill>
                <a:srgbClr val="2A82B7"/>
              </a:solidFill>
            </c:spPr>
          </c:dPt>
          <c:dPt>
            <c:idx val="5"/>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6"/>
                <c:pt idx="0">
                  <c:v>Powders and Granules</c:v>
                </c:pt>
                <c:pt idx="1">
                  <c:v>Liquids</c:v>
                </c:pt>
                <c:pt idx="2">
                  <c:v>Gels and Pastes</c:v>
                </c:pt>
                <c:pt idx="3">
                  <c:v>Chewables</c:v>
                </c:pt>
                <c:pt idx="4">
                  <c:v>Tablets</c:v>
                </c:pt>
                <c:pt idx="5">
                  <c:v>Capsules and Softgels</c:v>
                </c:pt>
              </c:strCache>
            </c:strRef>
          </c:cat>
          <c:val>
            <c:numRef>
              <c:numCache>
                <c:formatCode>General</c:formatCode>
                <c:ptCount val="6"/>
                <c:pt idx="0">
                  <c:v>100.793</c:v>
                </c:pt>
                <c:pt idx="1">
                  <c:v>214.472</c:v>
                </c:pt>
                <c:pt idx="2">
                  <c:v>274.164</c:v>
                </c:pt>
                <c:pt idx="3">
                  <c:v>408.774</c:v>
                </c:pt>
                <c:pt idx="4">
                  <c:v>525.145</c:v>
                </c:pt>
                <c:pt idx="5">
                  <c:v>956.272</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1281.4044800000001"/>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9DABB6"/>
              </a:solidFill>
            </c:spPr>
          </c:dPt>
          <c:dPt>
            <c:idx val="1"/>
            <c:spPr>
              <a:solidFill>
                <a:srgbClr val="8092A0"/>
              </a:solidFill>
            </c:spPr>
          </c:dPt>
          <c:dPt>
            <c:idx val="2"/>
            <c:spPr>
              <a:solidFill>
                <a:srgbClr val="62798B"/>
              </a:solidFill>
            </c:spPr>
          </c:dPt>
          <c:dPt>
            <c:idx val="3"/>
            <c:spPr>
              <a:solidFill>
                <a:srgbClr val="456075"/>
              </a:solidFill>
            </c:spPr>
          </c:dPt>
          <c:dPt>
            <c:idx val="4"/>
            <c:spPr>
              <a:solidFill>
                <a:srgbClr val="28475F"/>
              </a:solidFill>
            </c:spPr>
          </c:dPt>
          <c:dPt>
            <c:idx val="5"/>
            <c:spPr>
              <a:solidFill>
                <a:srgbClr val="0B2E4A"/>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6"/>
                <c:pt idx="0">
                  <c:v>Botanical Ingredients</c:v>
                </c:pt>
                <c:pt idx="1">
                  <c:v>Neurofunctional Nutri…</c:v>
                </c:pt>
                <c:pt idx="2">
                  <c:v>Microbiome-Targeted I…</c:v>
                </c:pt>
                <c:pt idx="3">
                  <c:v>Omega-3 Fatty Acids</c:v>
                </c:pt>
                <c:pt idx="4">
                  <c:v>Antioxidant Ingredien…</c:v>
                </c:pt>
                <c:pt idx="5">
                  <c:v>Cellular Energy Suppo…</c:v>
                </c:pt>
              </c:strCache>
            </c:strRef>
          </c:cat>
          <c:val>
            <c:numRef>
              <c:numCache>
                <c:formatCode>General</c:formatCode>
                <c:ptCount val="6"/>
                <c:pt idx="0">
                  <c:v>274.775</c:v>
                </c:pt>
                <c:pt idx="1">
                  <c:v>287.267</c:v>
                </c:pt>
                <c:pt idx="2">
                  <c:v>376.242</c:v>
                </c:pt>
                <c:pt idx="3">
                  <c:v>464.861</c:v>
                </c:pt>
                <c:pt idx="4">
                  <c:v>536.95</c:v>
                </c:pt>
                <c:pt idx="5">
                  <c:v>539.525</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722.9635000000001"/>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C5B1E6"/>
              </a:solidFill>
            </c:spPr>
          </c:dPt>
          <c:dPt>
            <c:idx val="3"/>
            <c:spPr>
              <a:solidFill>
                <a:srgbClr val="A88ADA"/>
              </a:solidFill>
            </c:spPr>
          </c:dPt>
          <c:dPt>
            <c:idx val="4"/>
            <c:spPr>
              <a:solidFill>
                <a:srgbClr val="8B63CE"/>
              </a:solidFill>
            </c:spPr>
          </c:dPt>
          <c:dPt>
            <c:idx val="5"/>
            <c:spPr>
              <a:solidFill>
                <a:srgbClr val="6F3CC2"/>
              </a:solidFill>
            </c:spPr>
          </c:dPt>
          <c:dLbls>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6"/>
                <c:pt idx="0">
                  <c:v> </c:v>
                </c:pt>
                <c:pt idx="1">
                  <c:v>  </c:v>
                </c:pt>
                <c:pt idx="2">
                  <c:v>Veterinary-Guided Cog…</c:v>
                </c:pt>
                <c:pt idx="3">
                  <c:v>Preventive Cognitive…</c:v>
                </c:pt>
                <c:pt idx="4">
                  <c:v>Routine Cognitive Wel…</c:v>
                </c:pt>
                <c:pt idx="5">
                  <c:v>Support for Observabl…</c:v>
                </c:pt>
              </c:strCache>
            </c:strRef>
          </c:cat>
          <c:val>
            <c:numRef>
              <c:numCache>
                <c:formatCode>General</c:formatCode>
                <c:ptCount val="6"/>
                <c:pt idx="2">
                  <c:v>138.179</c:v>
                </c:pt>
                <c:pt idx="3">
                  <c:v>201.39</c:v>
                </c:pt>
                <c:pt idx="4">
                  <c:v>439.183</c:v>
                </c:pt>
                <c:pt idx="5">
                  <c:v>1700.868</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2279.16312"/>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DABAA0"/>
              </a:solidFill>
            </c:spPr>
          </c:dPt>
          <c:dPt>
            <c:idx val="1"/>
            <c:spPr>
              <a:solidFill>
                <a:srgbClr val="CFA584"/>
              </a:solidFill>
            </c:spPr>
          </c:dPt>
          <c:dPt>
            <c:idx val="2"/>
            <c:spPr>
              <a:solidFill>
                <a:srgbClr val="C49067"/>
              </a:solidFill>
            </c:spPr>
          </c:dPt>
          <c:dPt>
            <c:idx val="3"/>
            <c:spPr>
              <a:solidFill>
                <a:srgbClr val="B97C4B"/>
              </a:solidFill>
            </c:spPr>
          </c:dPt>
          <c:dPt>
            <c:idx val="4"/>
            <c:spPr>
              <a:solidFill>
                <a:srgbClr val="AE672F"/>
              </a:solidFill>
            </c:spPr>
          </c:dPt>
          <c:dPt>
            <c:idx val="5"/>
            <c:spPr>
              <a:solidFill>
                <a:srgbClr val="A35313"/>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6"/>
                <c:pt idx="0">
                  <c:v>Bottles</c:v>
                </c:pt>
                <c:pt idx="1">
                  <c:v>Jars and Tubs</c:v>
                </c:pt>
                <c:pt idx="2">
                  <c:v>Pouches</c:v>
                </c:pt>
                <c:pt idx="3">
                  <c:v>Canisters</c:v>
                </c:pt>
                <c:pt idx="4">
                  <c:v>Sachets</c:v>
                </c:pt>
                <c:pt idx="5">
                  <c:v>Blister Packs</c:v>
                </c:pt>
              </c:strCache>
            </c:strRef>
          </c:cat>
          <c:val>
            <c:numRef>
              <c:numCache>
                <c:formatCode>General</c:formatCode>
                <c:ptCount val="6"/>
                <c:pt idx="0">
                  <c:v>174.581</c:v>
                </c:pt>
                <c:pt idx="1">
                  <c:v>241.756</c:v>
                </c:pt>
                <c:pt idx="2">
                  <c:v>433.439</c:v>
                </c:pt>
                <c:pt idx="3">
                  <c:v>476.825</c:v>
                </c:pt>
                <c:pt idx="4">
                  <c:v>550.299</c:v>
                </c:pt>
                <c:pt idx="5">
                  <c:v>602.72</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807.6448"/>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DCC599"/>
              </a:solidFill>
            </c:spPr>
          </c:dPt>
          <c:dPt>
            <c:idx val="1"/>
            <c:spPr>
              <a:solidFill>
                <a:srgbClr val="D1B47A"/>
              </a:solidFill>
            </c:spPr>
          </c:dPt>
          <c:dPt>
            <c:idx val="2"/>
            <c:spPr>
              <a:solidFill>
                <a:srgbClr val="C7A25B"/>
              </a:solidFill>
            </c:spPr>
          </c:dPt>
          <c:dPt>
            <c:idx val="3"/>
            <c:spPr>
              <a:solidFill>
                <a:srgbClr val="BC913D"/>
              </a:solidFill>
            </c:spPr>
          </c:dPt>
          <c:dPt>
            <c:idx val="4"/>
            <c:spPr>
              <a:solidFill>
                <a:srgbClr val="B2801E"/>
              </a:solidFill>
            </c:spPr>
          </c:dPt>
          <c:dPt>
            <c:idx val="5"/>
            <c:spPr>
              <a:solidFill>
                <a:srgbClr val="A86F00"/>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6"/>
                <c:pt idx="0">
                  <c:v>Other Direct Sales</c:v>
                </c:pt>
                <c:pt idx="1">
                  <c:v>General Retail</c:v>
                </c:pt>
                <c:pt idx="2">
                  <c:v>Third-Party E-commerce</c:v>
                </c:pt>
                <c:pt idx="3">
                  <c:v>Brand-Owned E-commerce</c:v>
                </c:pt>
                <c:pt idx="4">
                  <c:v>Specialist Pet Retail</c:v>
                </c:pt>
                <c:pt idx="5">
                  <c:v>Veterinary Channels</c:v>
                </c:pt>
              </c:strCache>
            </c:strRef>
          </c:cat>
          <c:val>
            <c:numRef>
              <c:numCache>
                <c:formatCode>General</c:formatCode>
                <c:ptCount val="6"/>
                <c:pt idx="0">
                  <c:v>229.967</c:v>
                </c:pt>
                <c:pt idx="1">
                  <c:v>237.309</c:v>
                </c:pt>
                <c:pt idx="2">
                  <c:v>405.855</c:v>
                </c:pt>
                <c:pt idx="3">
                  <c:v>454.062</c:v>
                </c:pt>
                <c:pt idx="4">
                  <c:v>478.247</c:v>
                </c:pt>
                <c:pt idx="5">
                  <c:v>674.18</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903.4012"/>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8"/>
                <c:pt idx="0">
                  <c:v>2026</c:v>
                </c:pt>
                <c:pt idx="1">
                  <c:v>Chewables</c:v>
                </c:pt>
                <c:pt idx="2">
                  <c:v>Tablets</c:v>
                </c:pt>
                <c:pt idx="3">
                  <c:v>Capsules and Softgels</c:v>
                </c:pt>
                <c:pt idx="4">
                  <c:v>Powders and Granules</c:v>
                </c:pt>
                <c:pt idx="5">
                  <c:v>Liquids</c:v>
                </c:pt>
                <c:pt idx="6">
                  <c:v>Gels and Pastes</c:v>
                </c:pt>
                <c:pt idx="7">
                  <c:v>2036 Total</c:v>
                </c:pt>
              </c:strCache>
            </c:strRef>
          </c:cat>
          <c:val>
            <c:numRef>
              <c:numCache>
                <c:formatCode>General</c:formatCode>
                <c:ptCount val="8"/>
                <c:pt idx="0">
                  <c:v>0.0</c:v>
                </c:pt>
                <c:pt idx="1">
                  <c:v>2479.62</c:v>
                </c:pt>
                <c:pt idx="2">
                  <c:v>2743.805</c:v>
                </c:pt>
                <c:pt idx="3">
                  <c:v>2933.9669999999996</c:v>
                </c:pt>
                <c:pt idx="4">
                  <c:v>3471.5359999999996</c:v>
                </c:pt>
                <c:pt idx="5">
                  <c:v>3501.9469999999997</c:v>
                </c:pt>
                <c:pt idx="6">
                  <c:v>3547.4869999999996</c:v>
                </c:pt>
                <c:pt idx="7">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8"/>
                <c:pt idx="0">
                  <c:v>2026</c:v>
                </c:pt>
                <c:pt idx="1">
                  <c:v>Chewables</c:v>
                </c:pt>
                <c:pt idx="2">
                  <c:v>Tablets</c:v>
                </c:pt>
                <c:pt idx="3">
                  <c:v>Capsules and Softgels</c:v>
                </c:pt>
                <c:pt idx="4">
                  <c:v>Powders and Granules</c:v>
                </c:pt>
                <c:pt idx="5">
                  <c:v>Liquids</c:v>
                </c:pt>
                <c:pt idx="6">
                  <c:v>Gels and Pastes</c:v>
                </c:pt>
                <c:pt idx="7">
                  <c:v>2036 Total</c:v>
                </c:pt>
              </c:strCache>
            </c:strRef>
          </c:cat>
          <c:val>
            <c:numRef>
              <c:numCache>
                <c:formatCode>General</c:formatCode>
                <c:ptCount val="8"/>
                <c:pt idx="0">
                  <c:v>2479.62</c:v>
                </c:pt>
                <c:pt idx="1">
                  <c:v>264.18499999999995</c:v>
                </c:pt>
                <c:pt idx="2">
                  <c:v>190.16200000000003</c:v>
                </c:pt>
                <c:pt idx="3">
                  <c:v>537.5689999999998</c:v>
                </c:pt>
                <c:pt idx="4">
                  <c:v>30.411</c:v>
                </c:pt>
                <c:pt idx="5">
                  <c:v>45.53999999999999</c:v>
                </c:pt>
                <c:pt idx="6">
                  <c:v>61.94999999999999</c:v>
                </c:pt>
                <c:pt idx="7">
                  <c:v>3609.4370000000004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Chewables</c:v>
                </c:pt>
                <c:pt idx="1">
                  <c:v>Tablets</c:v>
                </c:pt>
                <c:pt idx="2">
                  <c:v>Capsules and Softgels</c:v>
                </c:pt>
                <c:pt idx="3">
                  <c:v>Powders and Granules</c:v>
                </c:pt>
                <c:pt idx="4">
                  <c:v>Liquids</c:v>
                </c:pt>
                <c:pt idx="5">
                  <c:v>Gels and Pastes</c:v>
                </c:pt>
                <c:pt idx="6">
                  <c:v>Total Absolute $ Opportunity</c:v>
                </c:pt>
              </c:strCache>
            </c:strRef>
          </c:cat>
          <c:val>
            <c:numRef>
              <c:numCache>
                <c:formatCode>General</c:formatCode>
                <c:ptCount val="7"/>
                <c:pt idx="0">
                  <c:v>0.0</c:v>
                </c:pt>
                <c:pt idx="1">
                  <c:v>264.18499999999995</c:v>
                </c:pt>
                <c:pt idx="2">
                  <c:v>454.347</c:v>
                </c:pt>
                <c:pt idx="3">
                  <c:v>991.9159999999998</c:v>
                </c:pt>
                <c:pt idx="4">
                  <c:v>1022.3269999999998</c:v>
                </c:pt>
                <c:pt idx="5">
                  <c:v>1067.8669999999997</c:v>
                </c:pt>
                <c:pt idx="6">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Chewables</c:v>
                </c:pt>
                <c:pt idx="1">
                  <c:v>Tablets</c:v>
                </c:pt>
                <c:pt idx="2">
                  <c:v>Capsules and Softgels</c:v>
                </c:pt>
                <c:pt idx="3">
                  <c:v>Powders and Granules</c:v>
                </c:pt>
                <c:pt idx="4">
                  <c:v>Liquids</c:v>
                </c:pt>
                <c:pt idx="5">
                  <c:v>Gels and Pastes</c:v>
                </c:pt>
                <c:pt idx="6">
                  <c:v>Total Absolute $ Opportunity</c:v>
                </c:pt>
              </c:strCache>
            </c:strRef>
          </c:cat>
          <c:val>
            <c:numRef>
              <c:numCache>
                <c:formatCode>General</c:formatCode>
                <c:ptCount val="7"/>
                <c:pt idx="0">
                  <c:v>264.18499999999995</c:v>
                </c:pt>
                <c:pt idx="1">
                  <c:v>190.16200000000003</c:v>
                </c:pt>
                <c:pt idx="2">
                  <c:v>537.5689999999998</c:v>
                </c:pt>
                <c:pt idx="3">
                  <c:v>30.411</c:v>
                </c:pt>
                <c:pt idx="4">
                  <c:v>45.53999999999999</c:v>
                </c:pt>
                <c:pt idx="5">
                  <c:v>61.94999999999999</c:v>
                </c:pt>
                <c:pt idx="6">
                  <c:v>1129.8169999999998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8"/>
                <c:pt idx="0">
                  <c:v>2026</c:v>
                </c:pt>
                <c:pt idx="1">
                  <c:v>Omega-3 Fatty Acids</c:v>
                </c:pt>
                <c:pt idx="2">
                  <c:v>Antioxidant Ingredients</c:v>
                </c:pt>
                <c:pt idx="3">
                  <c:v>Neurofunctional Nutrients</c:v>
                </c:pt>
                <c:pt idx="4">
                  <c:v>Cellular Energy Support Ingredients</c:v>
                </c:pt>
                <c:pt idx="5">
                  <c:v>Botanical Ingredients</c:v>
                </c:pt>
                <c:pt idx="6">
                  <c:v>Microbiome-Targeted Ingredients</c:v>
                </c:pt>
                <c:pt idx="7">
                  <c:v>2036 Total</c:v>
                </c:pt>
              </c:strCache>
            </c:strRef>
          </c:cat>
          <c:val>
            <c:numRef>
              <c:numCache>
                <c:formatCode>General</c:formatCode>
                <c:ptCount val="8"/>
                <c:pt idx="0">
                  <c:v>0.0</c:v>
                </c:pt>
                <c:pt idx="1">
                  <c:v>2479.6200000000003</c:v>
                </c:pt>
                <c:pt idx="2">
                  <c:v>2672.0550000000003</c:v>
                </c:pt>
                <c:pt idx="3">
                  <c:v>2978.414</c:v>
                </c:pt>
                <c:pt idx="4">
                  <c:v>3079.2870000000003</c:v>
                </c:pt>
                <c:pt idx="5">
                  <c:v>3381.2690000000002</c:v>
                </c:pt>
                <c:pt idx="6">
                  <c:v>3471.782</c:v>
                </c:pt>
                <c:pt idx="7">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8"/>
                <c:pt idx="0">
                  <c:v>2026</c:v>
                </c:pt>
                <c:pt idx="1">
                  <c:v>Omega-3 Fatty Acids</c:v>
                </c:pt>
                <c:pt idx="2">
                  <c:v>Antioxidant Ingredients</c:v>
                </c:pt>
                <c:pt idx="3">
                  <c:v>Neurofunctional Nutrients</c:v>
                </c:pt>
                <c:pt idx="4">
                  <c:v>Cellular Energy Support Ingredients</c:v>
                </c:pt>
                <c:pt idx="5">
                  <c:v>Botanical Ingredients</c:v>
                </c:pt>
                <c:pt idx="6">
                  <c:v>Microbiome-Targeted Ingredients</c:v>
                </c:pt>
                <c:pt idx="7">
                  <c:v>2036 Total</c:v>
                </c:pt>
              </c:strCache>
            </c:strRef>
          </c:cat>
          <c:val>
            <c:numRef>
              <c:numCache>
                <c:formatCode>General</c:formatCode>
                <c:ptCount val="8"/>
                <c:pt idx="0">
                  <c:v>2479.6200000000003</c:v>
                </c:pt>
                <c:pt idx="1">
                  <c:v>192.43499999999995</c:v>
                </c:pt>
                <c:pt idx="2">
                  <c:v>306.3589999999999</c:v>
                </c:pt>
                <c:pt idx="3">
                  <c:v>100.87299999999999</c:v>
                </c:pt>
                <c:pt idx="4">
                  <c:v>301.98199999999997</c:v>
                </c:pt>
                <c:pt idx="5">
                  <c:v>90.51300000000003</c:v>
                </c:pt>
                <c:pt idx="6">
                  <c:v>137.65499999999992</c:v>
                </c:pt>
                <c:pt idx="7">
                  <c:v>3609.437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Omega-3 Fatty Acids</c:v>
                </c:pt>
                <c:pt idx="1">
                  <c:v>Antioxidant Ingredients</c:v>
                </c:pt>
                <c:pt idx="2">
                  <c:v>Neurofunctional Nutrients</c:v>
                </c:pt>
                <c:pt idx="3">
                  <c:v>Cellular Energy Support Ingredients</c:v>
                </c:pt>
                <c:pt idx="4">
                  <c:v>Botanical Ingredients</c:v>
                </c:pt>
                <c:pt idx="5">
                  <c:v>Microbiome-Targeted Ingredients</c:v>
                </c:pt>
                <c:pt idx="6">
                  <c:v>Total Absolute $ Opportunity</c:v>
                </c:pt>
              </c:strCache>
            </c:strRef>
          </c:cat>
          <c:val>
            <c:numRef>
              <c:numCache>
                <c:formatCode>General</c:formatCode>
                <c:ptCount val="7"/>
                <c:pt idx="0">
                  <c:v>0.0</c:v>
                </c:pt>
                <c:pt idx="1">
                  <c:v>192.43499999999995</c:v>
                </c:pt>
                <c:pt idx="2">
                  <c:v>498.79399999999987</c:v>
                </c:pt>
                <c:pt idx="3">
                  <c:v>599.6669999999999</c:v>
                </c:pt>
                <c:pt idx="4">
                  <c:v>901.6489999999999</c:v>
                </c:pt>
                <c:pt idx="5">
                  <c:v>992.1619999999999</c:v>
                </c:pt>
                <c:pt idx="6">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Omega-3 Fatty Acids</c:v>
                </c:pt>
                <c:pt idx="1">
                  <c:v>Antioxidant Ingredients</c:v>
                </c:pt>
                <c:pt idx="2">
                  <c:v>Neurofunctional Nutrients</c:v>
                </c:pt>
                <c:pt idx="3">
                  <c:v>Cellular Energy Support Ingredients</c:v>
                </c:pt>
                <c:pt idx="4">
                  <c:v>Botanical Ingredients</c:v>
                </c:pt>
                <c:pt idx="5">
                  <c:v>Microbiome-Targeted Ingredients</c:v>
                </c:pt>
                <c:pt idx="6">
                  <c:v>Total Absolute $ Opportunity</c:v>
                </c:pt>
              </c:strCache>
            </c:strRef>
          </c:cat>
          <c:val>
            <c:numRef>
              <c:numCache>
                <c:formatCode>General</c:formatCode>
                <c:ptCount val="7"/>
                <c:pt idx="0">
                  <c:v>192.43499999999995</c:v>
                </c:pt>
                <c:pt idx="1">
                  <c:v>306.3589999999999</c:v>
                </c:pt>
                <c:pt idx="2">
                  <c:v>100.87299999999999</c:v>
                </c:pt>
                <c:pt idx="3">
                  <c:v>301.98199999999997</c:v>
                </c:pt>
                <c:pt idx="4">
                  <c:v>90.51300000000003</c:v>
                </c:pt>
                <c:pt idx="5">
                  <c:v>137.65499999999992</c:v>
                </c:pt>
                <c:pt idx="6">
                  <c:v>1129.8169999999998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2026</c:v>
                </c:pt>
                <c:pt idx="1">
                  <c:v>Routine Cognitive Wellness</c:v>
                </c:pt>
                <c:pt idx="2">
                  <c:v>Preventive Cognitive Support for Senior Dogs</c:v>
                </c:pt>
                <c:pt idx="3">
                  <c:v>Support for Observable Age-Related Cognitive Changes</c:v>
                </c:pt>
                <c:pt idx="4">
                  <c:v>Veterinary-Guided Cognitive Dysfunction Support</c:v>
                </c:pt>
                <c:pt idx="5">
                  <c:v>2036 Total</c:v>
                </c:pt>
              </c:strCache>
            </c:strRef>
          </c:cat>
          <c:val>
            <c:numRef>
              <c:numCache>
                <c:formatCode>General</c:formatCode>
                <c:ptCount val="6"/>
                <c:pt idx="0">
                  <c:v>0.0</c:v>
                </c:pt>
                <c:pt idx="1">
                  <c:v>2479.62</c:v>
                </c:pt>
                <c:pt idx="2">
                  <c:v>2705.5339999999997</c:v>
                </c:pt>
                <c:pt idx="3">
                  <c:v>2907.8669999999997</c:v>
                </c:pt>
                <c:pt idx="4">
                  <c:v>3457.4199999999996</c:v>
                </c:pt>
                <c:pt idx="5">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6"/>
                <c:pt idx="0">
                  <c:v>2026</c:v>
                </c:pt>
                <c:pt idx="1">
                  <c:v>Routine Cognitive Wellness</c:v>
                </c:pt>
                <c:pt idx="2">
                  <c:v>Preventive Cognitive Support for Senior Dogs</c:v>
                </c:pt>
                <c:pt idx="3">
                  <c:v>Support for Observable Age-Related Cognitive Changes</c:v>
                </c:pt>
                <c:pt idx="4">
                  <c:v>Veterinary-Guided Cognitive Dysfunction Support</c:v>
                </c:pt>
                <c:pt idx="5">
                  <c:v>2036 Total</c:v>
                </c:pt>
              </c:strCache>
            </c:strRef>
          </c:cat>
          <c:val>
            <c:numRef>
              <c:numCache>
                <c:formatCode>General</c:formatCode>
                <c:ptCount val="6"/>
                <c:pt idx="0">
                  <c:v>2479.62</c:v>
                </c:pt>
                <c:pt idx="1">
                  <c:v>225.914</c:v>
                </c:pt>
                <c:pt idx="2">
                  <c:v>202.33300000000003</c:v>
                </c:pt>
                <c:pt idx="3">
                  <c:v>549.5529999999999</c:v>
                </c:pt>
                <c:pt idx="4">
                  <c:v>152.01700000000002</c:v>
                </c:pt>
                <c:pt idx="5">
                  <c:v>3609.437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Routine Cognitive Wellness</c:v>
                </c:pt>
                <c:pt idx="1">
                  <c:v>Preventive Cognitive Support for Senior Dogs</c:v>
                </c:pt>
                <c:pt idx="2">
                  <c:v>Support for Observable Age-Related Cognitive Changes</c:v>
                </c:pt>
                <c:pt idx="3">
                  <c:v>Veterinary-Guided Cognitive Dysfunction Support</c:v>
                </c:pt>
                <c:pt idx="4">
                  <c:v>Total Absolute $ Opportunity</c:v>
                </c:pt>
              </c:strCache>
            </c:strRef>
          </c:cat>
          <c:val>
            <c:numRef>
              <c:numCache>
                <c:formatCode>General</c:formatCode>
                <c:ptCount val="5"/>
                <c:pt idx="0">
                  <c:v>0.0</c:v>
                </c:pt>
                <c:pt idx="1">
                  <c:v>225.914</c:v>
                </c:pt>
                <c:pt idx="2">
                  <c:v>428.247</c:v>
                </c:pt>
                <c:pt idx="3">
                  <c:v>977.8</c:v>
                </c:pt>
                <c:pt idx="4">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Routine Cognitive Wellness</c:v>
                </c:pt>
                <c:pt idx="1">
                  <c:v>Preventive Cognitive Support for Senior Dogs</c:v>
                </c:pt>
                <c:pt idx="2">
                  <c:v>Support for Observable Age-Related Cognitive Changes</c:v>
                </c:pt>
                <c:pt idx="3">
                  <c:v>Veterinary-Guided Cognitive Dysfunction Support</c:v>
                </c:pt>
                <c:pt idx="4">
                  <c:v>Total Absolute $ Opportunity</c:v>
                </c:pt>
              </c:strCache>
            </c:strRef>
          </c:cat>
          <c:val>
            <c:numRef>
              <c:numCache>
                <c:formatCode>General</c:formatCode>
                <c:ptCount val="5"/>
                <c:pt idx="0">
                  <c:v>225.914</c:v>
                </c:pt>
                <c:pt idx="1">
                  <c:v>202.33300000000003</c:v>
                </c:pt>
                <c:pt idx="2">
                  <c:v>549.5529999999999</c:v>
                </c:pt>
                <c:pt idx="3">
                  <c:v>152.01700000000002</c:v>
                </c:pt>
                <c:pt idx="4">
                  <c:v>1129.817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8"/>
                <c:pt idx="0">
                  <c:v>2026</c:v>
                </c:pt>
                <c:pt idx="1">
                  <c:v>Bottles</c:v>
                </c:pt>
                <c:pt idx="2">
                  <c:v>Jars and Tubs</c:v>
                </c:pt>
                <c:pt idx="3">
                  <c:v>Pouches</c:v>
                </c:pt>
                <c:pt idx="4">
                  <c:v>Sachets</c:v>
                </c:pt>
                <c:pt idx="5">
                  <c:v>Blister Packs</c:v>
                </c:pt>
                <c:pt idx="6">
                  <c:v>Canisters</c:v>
                </c:pt>
                <c:pt idx="7">
                  <c:v>2036 Total</c:v>
                </c:pt>
              </c:strCache>
            </c:strRef>
          </c:cat>
          <c:val>
            <c:numRef>
              <c:numCache>
                <c:formatCode>General</c:formatCode>
                <c:ptCount val="8"/>
                <c:pt idx="0">
                  <c:v>0.0</c:v>
                </c:pt>
                <c:pt idx="1">
                  <c:v>2479.62</c:v>
                </c:pt>
                <c:pt idx="2">
                  <c:v>2529.488</c:v>
                </c:pt>
                <c:pt idx="3">
                  <c:v>2716.556</c:v>
                </c:pt>
                <c:pt idx="4">
                  <c:v>3128.309</c:v>
                </c:pt>
                <c:pt idx="5">
                  <c:v>3223.742</c:v>
                </c:pt>
                <c:pt idx="6">
                  <c:v>3408.9680000000003</c:v>
                </c:pt>
                <c:pt idx="7">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8"/>
                <c:pt idx="0">
                  <c:v>2026</c:v>
                </c:pt>
                <c:pt idx="1">
                  <c:v>Bottles</c:v>
                </c:pt>
                <c:pt idx="2">
                  <c:v>Jars and Tubs</c:v>
                </c:pt>
                <c:pt idx="3">
                  <c:v>Pouches</c:v>
                </c:pt>
                <c:pt idx="4">
                  <c:v>Sachets</c:v>
                </c:pt>
                <c:pt idx="5">
                  <c:v>Blister Packs</c:v>
                </c:pt>
                <c:pt idx="6">
                  <c:v>Canisters</c:v>
                </c:pt>
                <c:pt idx="7">
                  <c:v>2036 Total</c:v>
                </c:pt>
              </c:strCache>
            </c:strRef>
          </c:cat>
          <c:val>
            <c:numRef>
              <c:numCache>
                <c:formatCode>General</c:formatCode>
                <c:ptCount val="8"/>
                <c:pt idx="0">
                  <c:v>2479.62</c:v>
                </c:pt>
                <c:pt idx="1">
                  <c:v>49.86800000000002</c:v>
                </c:pt>
                <c:pt idx="2">
                  <c:v>187.068</c:v>
                </c:pt>
                <c:pt idx="3">
                  <c:v>411.753</c:v>
                </c:pt>
                <c:pt idx="4">
                  <c:v>95.43299999999999</c:v>
                </c:pt>
                <c:pt idx="5">
                  <c:v>185.226</c:v>
                </c:pt>
                <c:pt idx="6">
                  <c:v>200.469</c:v>
                </c:pt>
                <c:pt idx="7">
                  <c:v>3609.437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Bottles</c:v>
                </c:pt>
                <c:pt idx="1">
                  <c:v>Jars and Tubs</c:v>
                </c:pt>
                <c:pt idx="2">
                  <c:v>Pouches</c:v>
                </c:pt>
                <c:pt idx="3">
                  <c:v>Sachets</c:v>
                </c:pt>
                <c:pt idx="4">
                  <c:v>Blister Packs</c:v>
                </c:pt>
                <c:pt idx="5">
                  <c:v>Canisters</c:v>
                </c:pt>
                <c:pt idx="6">
                  <c:v>Total Absolute $ Opportunity</c:v>
                </c:pt>
              </c:strCache>
            </c:strRef>
          </c:cat>
          <c:val>
            <c:numRef>
              <c:numCache>
                <c:formatCode>General</c:formatCode>
                <c:ptCount val="7"/>
                <c:pt idx="0">
                  <c:v>0.0</c:v>
                </c:pt>
                <c:pt idx="1">
                  <c:v>49.86800000000002</c:v>
                </c:pt>
                <c:pt idx="2">
                  <c:v>236.93600000000004</c:v>
                </c:pt>
                <c:pt idx="3">
                  <c:v>648.6890000000001</c:v>
                </c:pt>
                <c:pt idx="4">
                  <c:v>744.1220000000001</c:v>
                </c:pt>
                <c:pt idx="5">
                  <c:v>929.3480000000001</c:v>
                </c:pt>
                <c:pt idx="6">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Bottles</c:v>
                </c:pt>
                <c:pt idx="1">
                  <c:v>Jars and Tubs</c:v>
                </c:pt>
                <c:pt idx="2">
                  <c:v>Pouches</c:v>
                </c:pt>
                <c:pt idx="3">
                  <c:v>Sachets</c:v>
                </c:pt>
                <c:pt idx="4">
                  <c:v>Blister Packs</c:v>
                </c:pt>
                <c:pt idx="5">
                  <c:v>Canisters</c:v>
                </c:pt>
                <c:pt idx="6">
                  <c:v>Total Absolute $ Opportunity</c:v>
                </c:pt>
              </c:strCache>
            </c:strRef>
          </c:cat>
          <c:val>
            <c:numRef>
              <c:numCache>
                <c:formatCode>General</c:formatCode>
                <c:ptCount val="7"/>
                <c:pt idx="0">
                  <c:v>49.86800000000002</c:v>
                </c:pt>
                <c:pt idx="1">
                  <c:v>187.068</c:v>
                </c:pt>
                <c:pt idx="2">
                  <c:v>411.753</c:v>
                </c:pt>
                <c:pt idx="3">
                  <c:v>95.43299999999999</c:v>
                </c:pt>
                <c:pt idx="4">
                  <c:v>185.226</c:v>
                </c:pt>
                <c:pt idx="5">
                  <c:v>200.469</c:v>
                </c:pt>
                <c:pt idx="6">
                  <c:v>1129.817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8"/>
                <c:pt idx="0">
                  <c:v>2026</c:v>
                </c:pt>
                <c:pt idx="1">
                  <c:v>Veterinary Channels</c:v>
                </c:pt>
                <c:pt idx="2">
                  <c:v>Specialist Pet Retail</c:v>
                </c:pt>
                <c:pt idx="3">
                  <c:v>General Retail</c:v>
                </c:pt>
                <c:pt idx="4">
                  <c:v>Brand-Owned E-commerce</c:v>
                </c:pt>
                <c:pt idx="5">
                  <c:v>Third-Party E-commerce</c:v>
                </c:pt>
                <c:pt idx="6">
                  <c:v>Other Direct Sales</c:v>
                </c:pt>
                <c:pt idx="7">
                  <c:v>2036 Total</c:v>
                </c:pt>
              </c:strCache>
            </c:strRef>
          </c:cat>
          <c:val>
            <c:numRef>
              <c:numCache>
                <c:formatCode>General</c:formatCode>
                <c:ptCount val="8"/>
                <c:pt idx="0">
                  <c:v>0.0</c:v>
                </c:pt>
                <c:pt idx="1">
                  <c:v>2479.62</c:v>
                </c:pt>
                <c:pt idx="2">
                  <c:v>2722.342</c:v>
                </c:pt>
                <c:pt idx="3">
                  <c:v>3098.791</c:v>
                </c:pt>
                <c:pt idx="4">
                  <c:v>3121.0190000000002</c:v>
                </c:pt>
                <c:pt idx="5">
                  <c:v>3209.0110000000004</c:v>
                </c:pt>
                <c:pt idx="6">
                  <c:v>3552.9550000000004</c:v>
                </c:pt>
                <c:pt idx="7">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8"/>
                <c:pt idx="0">
                  <c:v>2026</c:v>
                </c:pt>
                <c:pt idx="1">
                  <c:v>Veterinary Channels</c:v>
                </c:pt>
                <c:pt idx="2">
                  <c:v>Specialist Pet Retail</c:v>
                </c:pt>
                <c:pt idx="3">
                  <c:v>General Retail</c:v>
                </c:pt>
                <c:pt idx="4">
                  <c:v>Brand-Owned E-commerce</c:v>
                </c:pt>
                <c:pt idx="5">
                  <c:v>Third-Party E-commerce</c:v>
                </c:pt>
                <c:pt idx="6">
                  <c:v>Other Direct Sales</c:v>
                </c:pt>
                <c:pt idx="7">
                  <c:v>2036 Total</c:v>
                </c:pt>
              </c:strCache>
            </c:strRef>
          </c:cat>
          <c:val>
            <c:numRef>
              <c:numCache>
                <c:formatCode>General</c:formatCode>
                <c:ptCount val="8"/>
                <c:pt idx="0">
                  <c:v>2479.62</c:v>
                </c:pt>
                <c:pt idx="1">
                  <c:v>242.7220000000001</c:v>
                </c:pt>
                <c:pt idx="2">
                  <c:v>376.449</c:v>
                </c:pt>
                <c:pt idx="3">
                  <c:v>22.22799999999998</c:v>
                </c:pt>
                <c:pt idx="4">
                  <c:v>87.99199999999996</c:v>
                </c:pt>
                <c:pt idx="5">
                  <c:v>343.94399999999996</c:v>
                </c:pt>
                <c:pt idx="6">
                  <c:v>56.482</c:v>
                </c:pt>
                <c:pt idx="7">
                  <c:v>3609.437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Veterinary Channels</c:v>
                </c:pt>
                <c:pt idx="1">
                  <c:v>Specialist Pet Retail</c:v>
                </c:pt>
                <c:pt idx="2">
                  <c:v>General Retail</c:v>
                </c:pt>
                <c:pt idx="3">
                  <c:v>Brand-Owned E-commerce</c:v>
                </c:pt>
                <c:pt idx="4">
                  <c:v>Third-Party E-commerce</c:v>
                </c:pt>
                <c:pt idx="5">
                  <c:v>Other Direct Sales</c:v>
                </c:pt>
                <c:pt idx="6">
                  <c:v>Total Absolute $ Opportunity</c:v>
                </c:pt>
              </c:strCache>
            </c:strRef>
          </c:cat>
          <c:val>
            <c:numRef>
              <c:numCache>
                <c:formatCode>General</c:formatCode>
                <c:ptCount val="7"/>
                <c:pt idx="0">
                  <c:v>0.0</c:v>
                </c:pt>
                <c:pt idx="1">
                  <c:v>242.7220000000001</c:v>
                </c:pt>
                <c:pt idx="2">
                  <c:v>619.171</c:v>
                </c:pt>
                <c:pt idx="3">
                  <c:v>641.399</c:v>
                </c:pt>
                <c:pt idx="4">
                  <c:v>729.391</c:v>
                </c:pt>
                <c:pt idx="5">
                  <c:v>1073.335</c:v>
                </c:pt>
                <c:pt idx="6">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Veterinary Channels</c:v>
                </c:pt>
                <c:pt idx="1">
                  <c:v>Specialist Pet Retail</c:v>
                </c:pt>
                <c:pt idx="2">
                  <c:v>General Retail</c:v>
                </c:pt>
                <c:pt idx="3">
                  <c:v>Brand-Owned E-commerce</c:v>
                </c:pt>
                <c:pt idx="4">
                  <c:v>Third-Party E-commerce</c:v>
                </c:pt>
                <c:pt idx="5">
                  <c:v>Other Direct Sales</c:v>
                </c:pt>
                <c:pt idx="6">
                  <c:v>Total Absolute $ Opportunity</c:v>
                </c:pt>
              </c:strCache>
            </c:strRef>
          </c:cat>
          <c:val>
            <c:numRef>
              <c:numCache>
                <c:formatCode>General</c:formatCode>
                <c:ptCount val="7"/>
                <c:pt idx="0">
                  <c:v>242.7220000000001</c:v>
                </c:pt>
                <c:pt idx="1">
                  <c:v>376.449</c:v>
                </c:pt>
                <c:pt idx="2">
                  <c:v>22.22799999999998</c:v>
                </c:pt>
                <c:pt idx="3">
                  <c:v>87.99199999999996</c:v>
                </c:pt>
                <c:pt idx="4">
                  <c:v>343.94399999999996</c:v>
                </c:pt>
                <c:pt idx="5">
                  <c:v>56.482</c:v>
                </c:pt>
                <c:pt idx="6">
                  <c:v>1129.817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4.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strCache>
                <c:ptCount val="1"/>
                <c:pt idx="0">
                  <c:v>Capsules and Softgels</c:v>
                </c:pt>
              </c:strCache>
            </c:strRef>
          </c:tx>
          <c:spPr>
            <a:ln w="25400">
              <a:solidFill>
                <a:srgbClr val="C55A11"/>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5473.0</c:v>
                </c:pt>
                <c:pt idx="1">
                  <c:v>5507.0</c:v>
                </c:pt>
                <c:pt idx="2">
                  <c:v>5536.0</c:v>
                </c:pt>
                <c:pt idx="3">
                  <c:v>5566.0</c:v>
                </c:pt>
                <c:pt idx="4">
                  <c:v>5602.0</c:v>
                </c:pt>
                <c:pt idx="5">
                  <c:v>5644.0</c:v>
                </c:pt>
                <c:pt idx="6">
                  <c:v>5677.0</c:v>
                </c:pt>
                <c:pt idx="7">
                  <c:v>5710.0</c:v>
                </c:pt>
                <c:pt idx="8">
                  <c:v>5742.0</c:v>
                </c:pt>
                <c:pt idx="9">
                  <c:v>5771.0</c:v>
                </c:pt>
                <c:pt idx="10">
                  <c:v>5804.0</c:v>
                </c:pt>
                <c:pt idx="11">
                  <c:v>5840.0</c:v>
                </c:pt>
                <c:pt idx="12">
                  <c:v>5876.0</c:v>
                </c:pt>
                <c:pt idx="13">
                  <c:v>5911.0</c:v>
                </c:pt>
                <c:pt idx="14">
                  <c:v>5943.0</c:v>
                </c:pt>
                <c:pt idx="15">
                  <c:v>5972.0</c:v>
                </c:pt>
              </c:numCache>
            </c:numRef>
          </c:val>
          <c:smooth val="0"/>
        </c:ser>
        <c:ser>
          <c:idx val="1"/>
          <c:order val="1"/>
          <c:tx>
            <c:strRef>
              <c:strCache>
                <c:ptCount val="1"/>
                <c:pt idx="0">
                  <c:v>Powders and Granules</c:v>
                </c:pt>
              </c:strCache>
            </c:strRef>
          </c:tx>
          <c:spPr>
            <a:ln w="25400">
              <a:solidFill>
                <a:srgbClr val="0B2E4A"/>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5387.0</c:v>
                </c:pt>
                <c:pt idx="1">
                  <c:v>5403.0</c:v>
                </c:pt>
                <c:pt idx="2">
                  <c:v>5422.0</c:v>
                </c:pt>
                <c:pt idx="3">
                  <c:v>5444.0</c:v>
                </c:pt>
                <c:pt idx="4">
                  <c:v>5478.0</c:v>
                </c:pt>
                <c:pt idx="5">
                  <c:v>5525.0</c:v>
                </c:pt>
                <c:pt idx="6">
                  <c:v>5562.0</c:v>
                </c:pt>
                <c:pt idx="7">
                  <c:v>5603.0</c:v>
                </c:pt>
                <c:pt idx="8">
                  <c:v>5643.0</c:v>
                </c:pt>
                <c:pt idx="9">
                  <c:v>5678.0</c:v>
                </c:pt>
                <c:pt idx="10">
                  <c:v>5704.0</c:v>
                </c:pt>
                <c:pt idx="11">
                  <c:v>5726.0</c:v>
                </c:pt>
                <c:pt idx="12">
                  <c:v>5744.0</c:v>
                </c:pt>
                <c:pt idx="13">
                  <c:v>5760.0</c:v>
                </c:pt>
                <c:pt idx="14">
                  <c:v>5775.0</c:v>
                </c:pt>
                <c:pt idx="15">
                  <c:v>5786.0</c:v>
                </c:pt>
              </c:numCache>
            </c:numRef>
          </c:val>
          <c:smooth val="0"/>
        </c:ser>
        <c:ser>
          <c:idx val="2"/>
          <c:order val="2"/>
          <c:tx>
            <c:strRef>
              <c:strCache>
                <c:ptCount val="1"/>
                <c:pt idx="0">
                  <c:v>Liquids</c:v>
                </c:pt>
              </c:strCache>
            </c:strRef>
          </c:tx>
          <c:spPr>
            <a:ln w="25400">
              <a:solidFill>
                <a:srgbClr val="7030A0"/>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5296.0</c:v>
                </c:pt>
                <c:pt idx="1">
                  <c:v>5331.0</c:v>
                </c:pt>
                <c:pt idx="2">
                  <c:v>5363.0</c:v>
                </c:pt>
                <c:pt idx="3">
                  <c:v>5392.0</c:v>
                </c:pt>
                <c:pt idx="4">
                  <c:v>5418.0</c:v>
                </c:pt>
                <c:pt idx="5">
                  <c:v>5440.0</c:v>
                </c:pt>
                <c:pt idx="6">
                  <c:v>5462.0</c:v>
                </c:pt>
                <c:pt idx="7">
                  <c:v>5487.0</c:v>
                </c:pt>
                <c:pt idx="8">
                  <c:v>5516.0</c:v>
                </c:pt>
                <c:pt idx="9">
                  <c:v>5549.0</c:v>
                </c:pt>
                <c:pt idx="10">
                  <c:v>5583.0</c:v>
                </c:pt>
                <c:pt idx="11">
                  <c:v>5614.0</c:v>
                </c:pt>
                <c:pt idx="12">
                  <c:v>5642.0</c:v>
                </c:pt>
                <c:pt idx="13">
                  <c:v>5669.0</c:v>
                </c:pt>
                <c:pt idx="14">
                  <c:v>5693.0</c:v>
                </c:pt>
                <c:pt idx="15">
                  <c:v>5714.0</c:v>
                </c:pt>
              </c:numCache>
            </c:numRef>
          </c:val>
          <c:smooth val="0"/>
        </c:ser>
        <c:ser>
          <c:idx val="3"/>
          <c:order val="3"/>
          <c:tx>
            <c:strRef>
              <c:strCache>
                <c:ptCount val="1"/>
                <c:pt idx="0">
                  <c:v>Gels and Pastes</c:v>
                </c:pt>
              </c:strCache>
            </c:strRef>
          </c:tx>
          <c:spPr>
            <a:ln w="25400">
              <a:solidFill>
                <a:srgbClr val="008189"/>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3660.0</c:v>
                </c:pt>
                <c:pt idx="1">
                  <c:v>3673.0</c:v>
                </c:pt>
                <c:pt idx="2">
                  <c:v>3690.0</c:v>
                </c:pt>
                <c:pt idx="3">
                  <c:v>3710.0</c:v>
                </c:pt>
                <c:pt idx="4">
                  <c:v>3738.0</c:v>
                </c:pt>
                <c:pt idx="5">
                  <c:v>3769.0</c:v>
                </c:pt>
                <c:pt idx="6">
                  <c:v>3797.0</c:v>
                </c:pt>
                <c:pt idx="7">
                  <c:v>3824.0</c:v>
                </c:pt>
                <c:pt idx="8">
                  <c:v>3850.0</c:v>
                </c:pt>
                <c:pt idx="9">
                  <c:v>3873.0</c:v>
                </c:pt>
                <c:pt idx="10">
                  <c:v>3895.0</c:v>
                </c:pt>
                <c:pt idx="11">
                  <c:v>3915.0</c:v>
                </c:pt>
                <c:pt idx="12">
                  <c:v>3934.0</c:v>
                </c:pt>
                <c:pt idx="13">
                  <c:v>3953.0</c:v>
                </c:pt>
                <c:pt idx="14">
                  <c:v>3969.0</c:v>
                </c:pt>
                <c:pt idx="15">
                  <c:v>3983.0</c:v>
                </c:pt>
              </c:numCache>
            </c:numRef>
          </c:val>
          <c:smooth val="0"/>
        </c:ser>
        <c:ser>
          <c:idx val="4"/>
          <c:order val="4"/>
          <c:tx>
            <c:strRef>
              <c:strCache>
                <c:ptCount val="1"/>
                <c:pt idx="0">
                  <c:v>Chewables</c:v>
                </c:pt>
              </c:strCache>
            </c:strRef>
          </c:tx>
          <c:spPr>
            <a:ln w="25400">
              <a:solidFill>
                <a:srgbClr val="9E7E0A"/>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3225.0</c:v>
                </c:pt>
                <c:pt idx="1">
                  <c:v>3241.0</c:v>
                </c:pt>
                <c:pt idx="2">
                  <c:v>3258.0</c:v>
                </c:pt>
                <c:pt idx="3">
                  <c:v>3278.0</c:v>
                </c:pt>
                <c:pt idx="4">
                  <c:v>3300.0</c:v>
                </c:pt>
                <c:pt idx="5">
                  <c:v>3322.0</c:v>
                </c:pt>
                <c:pt idx="6">
                  <c:v>3351.0</c:v>
                </c:pt>
                <c:pt idx="7">
                  <c:v>3377.0</c:v>
                </c:pt>
                <c:pt idx="8">
                  <c:v>3401.0</c:v>
                </c:pt>
                <c:pt idx="9">
                  <c:v>3422.0</c:v>
                </c:pt>
                <c:pt idx="10">
                  <c:v>3442.0</c:v>
                </c:pt>
                <c:pt idx="11">
                  <c:v>3459.0</c:v>
                </c:pt>
                <c:pt idx="12">
                  <c:v>3472.0</c:v>
                </c:pt>
                <c:pt idx="13">
                  <c:v>3485.0</c:v>
                </c:pt>
                <c:pt idx="14">
                  <c:v>3497.0</c:v>
                </c:pt>
                <c:pt idx="15">
                  <c:v>3507.0</c:v>
                </c:pt>
              </c:numCache>
            </c:numRef>
          </c:val>
          <c:smooth val="0"/>
        </c:ser>
        <c:ser>
          <c:idx val="5"/>
          <c:order val="5"/>
          <c:tx>
            <c:strRef>
              <c:strCache>
                <c:ptCount val="1"/>
                <c:pt idx="0">
                  <c:v>Tablets</c:v>
                </c:pt>
              </c:strCache>
            </c:strRef>
          </c:tx>
          <c:spPr>
            <a:ln w="25400">
              <a:solidFill>
                <a:srgbClr val="5B7DB1"/>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2916.0</c:v>
                </c:pt>
                <c:pt idx="1">
                  <c:v>2922.0</c:v>
                </c:pt>
                <c:pt idx="2">
                  <c:v>2931.0</c:v>
                </c:pt>
                <c:pt idx="3">
                  <c:v>2945.0</c:v>
                </c:pt>
                <c:pt idx="4">
                  <c:v>2966.0</c:v>
                </c:pt>
                <c:pt idx="5">
                  <c:v>2995.0</c:v>
                </c:pt>
                <c:pt idx="6">
                  <c:v>3013.0</c:v>
                </c:pt>
                <c:pt idx="7">
                  <c:v>3036.0</c:v>
                </c:pt>
                <c:pt idx="8">
                  <c:v>3059.0</c:v>
                </c:pt>
                <c:pt idx="9">
                  <c:v>3079.0</c:v>
                </c:pt>
                <c:pt idx="10">
                  <c:v>3097.0</c:v>
                </c:pt>
                <c:pt idx="11">
                  <c:v>3111.0</c:v>
                </c:pt>
                <c:pt idx="12">
                  <c:v>3122.0</c:v>
                </c:pt>
                <c:pt idx="13">
                  <c:v>3133.0</c:v>
                </c:pt>
                <c:pt idx="14">
                  <c:v>3141.0</c:v>
                </c:pt>
                <c:pt idx="15">
                  <c:v>3146.0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a:solidFill>
              <a:srgbClr val="D9DEE4"/>
            </a:solidFill>
          </a:ln>
        </c:spPr>
        <c:txPr>
          <a:bodyPr/>
          <a:lstStyle/>
          <a:p>
            <a:pPr>
              <a:defRPr sz="900">
                <a:solidFill>
                  <a:srgbClr val="59636E"/>
                </a:solidFill>
                <a:latin typeface="Calibri"/>
              </a:defRPr>
            </a:pPr>
          </a:p>
        </c:txPr>
        <c:crossAx val="2140495176"/>
        <c:crosses val="autoZero"/>
        <c:auto val="1"/>
        <c:lblAlgn val="ctr"/>
        <c:lblOffset val="100"/>
        <c:noMultiLvlLbl val="0"/>
      </c:catAx>
      <c:valAx>
        <c:axId val="2140495176"/>
        <c:scaling>
          <c:max val="6000.0"/>
          <c:min val="2500.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900">
                <a:solidFill>
                  <a:srgbClr val="59636E"/>
                </a:solidFill>
                <a:latin typeface="Calibri"/>
              </a:defRPr>
            </a:pPr>
          </a:p>
        </c:txPr>
        <c:crossAx val="2118791784"/>
        <c:crosses val="autoZero"/>
        <c:majorUnit val="500.0"/>
      </c:valAx>
    </c:plotArea>
    <c:legend>
      <c:legendPos val="b"/>
      <c:layout/>
      <c:overlay val="0"/>
      <c:txPr>
        <a:bodyPr/>
        <a:lstStyle/>
        <a:p>
          <a:pPr>
            <a:defRPr sz="900">
              <a:latin typeface="Calibri"/>
            </a:defRPr>
          </a:pPr>
        </a:p>
      </c:txPr>
    </c:legend>
    <c:plotVisOnly val="1"/>
    <c:dispBlanksAs val="gap"/>
    <c:showDLblsOverMax val="0"/>
  </c:chart>
  <c:txPr>
    <a:bodyPr/>
    <a:lstStyle/>
    <a:p>
      <a:pPr>
        <a:defRPr sz="1800"/>
      </a:pPr>
      <a:endParaRPr lang="en-US"/>
    </a:p>
  </c:txPr>
</c:chartSpace>
</file>

<file path=ppt/charts/chart1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strCache>
                <c:ptCount val="1"/>
                <c:pt idx="0">
                  <c:v>Index</c:v>
                </c:pt>
              </c:strCache>
            </c:strRef>
          </c:tx>
          <c:dPt>
            <c:idx val="0"/>
            <c:spPr>
              <a:solidFill>
                <a:srgbClr val="5B7DB1"/>
              </a:solidFill>
            </c:spPr>
          </c:dPt>
          <c:dPt>
            <c:idx val="1"/>
            <c:spPr>
              <a:solidFill>
                <a:srgbClr val="5B7DB1"/>
              </a:solidFill>
            </c:spPr>
          </c:dPt>
          <c:dPt>
            <c:idx val="2"/>
            <c:spPr>
              <a:solidFill>
                <a:srgbClr val="5B7DB1"/>
              </a:solidFill>
            </c:spPr>
          </c:dPt>
          <c:dPt>
            <c:idx val="3"/>
            <c:spPr>
              <a:solidFill>
                <a:srgbClr val="C55A11"/>
              </a:solidFill>
            </c:spPr>
          </c:dPt>
          <c:dPt>
            <c:idx val="4"/>
            <c:spPr>
              <a:solidFill>
                <a:srgbClr val="C55A11"/>
              </a:solidFill>
            </c:spPr>
          </c:dPt>
          <c:dPt>
            <c:idx val="5"/>
            <c:spPr>
              <a:solidFill>
                <a:srgbClr val="C55A11"/>
              </a:solidFill>
            </c:spPr>
          </c:dPt>
          <c:cat>
            <c:strRef>
              <c:strCache>
                <c:ptCount val="6"/>
                <c:pt idx="0">
                  <c:v>Tablets</c:v>
                </c:pt>
                <c:pt idx="1">
                  <c:v>Chewables</c:v>
                </c:pt>
                <c:pt idx="2">
                  <c:v>Gels and Pastes</c:v>
                </c:pt>
                <c:pt idx="3">
                  <c:v>Liquids</c:v>
                </c:pt>
                <c:pt idx="4">
                  <c:v>Powders and Granules</c:v>
                </c:pt>
                <c:pt idx="5">
                  <c:v>Capsules and Softgels</c:v>
                </c:pt>
              </c:strCache>
            </c:strRef>
          </c:cat>
          <c:val>
            <c:numRef>
              <c:numCache>
                <c:formatCode>General</c:formatCode>
                <c:ptCount val="6"/>
                <c:pt idx="0">
                  <c:v>73.1</c:v>
                </c:pt>
                <c:pt idx="1">
                  <c:v>81.0</c:v>
                </c:pt>
                <c:pt idx="2">
                  <c:v>91.9</c:v>
                </c:pt>
                <c:pt idx="3">
                  <c:v>132.7</c:v>
                </c:pt>
                <c:pt idx="4">
                  <c:v>134.8</c:v>
                </c:pt>
                <c:pt idx="5">
                  <c:v>137.7</c:v>
                </c:pt>
              </c:numCache>
            </c:numRef>
          </c:val>
        </c:ser>
        <c:gapWidth val="45"/>
        <c:axId val="-2068027336"/>
        <c:axId val="-2113994440"/>
      </c:barChart>
      <c:catAx>
        <c:axId val="-2068027336"/>
        <c:scaling>
          <c:orientation val="minMax"/>
        </c:scaling>
        <c:delete val="0"/>
        <c:axPos val="l"/>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40.0"/>
          <c:min val="70.0"/>
        </c:scaling>
        <c:delete/>
        <c:axPos val="b"/>
        <c:majorTickMark val="out"/>
        <c:minorTickMark val="none"/>
        <c:tickLblPos val="none"/>
        <c:crossAx val="-2068027336"/>
        <c:crosses val="autoZero"/>
      </c:valAx>
    </c:plotArea>
    <c:dispBlanksAs val="gap"/>
  </c:chart>
  <c:txPr>
    <a:bodyPr/>
    <a:lstStyle/>
    <a:p>
      <a:pPr>
        <a:defRPr sz="1800"/>
      </a:pPr>
      <a:endParaRPr lang="en-US"/>
    </a:p>
  </c:txPr>
</c:chartSpace>
</file>

<file path=ppt/charts/chart14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strCache>
                <c:ptCount val="1"/>
                <c:pt idx="0">
                  <c:v>Base</c:v>
                </c:pt>
              </c:strCache>
            </c:strRef>
          </c:tx>
          <c:spPr>
            <a:noFill/>
          </c:spPr>
          <c:cat>
            <c:strRef>
              <c:strCache>
                <c:ptCount val="6"/>
                <c:pt idx="0">
                  <c:v>Tablets</c:v>
                </c:pt>
                <c:pt idx="1">
                  <c:v>Chewables</c:v>
                </c:pt>
                <c:pt idx="2">
                  <c:v>Gels and Pastes</c:v>
                </c:pt>
                <c:pt idx="3">
                  <c:v>Liquids</c:v>
                </c:pt>
                <c:pt idx="4">
                  <c:v>Powders and Granules</c:v>
                </c:pt>
                <c:pt idx="5">
                  <c:v>Capsules and Softgels</c:v>
                </c:pt>
              </c:strCache>
            </c:strRef>
          </c:cat>
          <c:val>
            <c:numRef>
              <c:numCache>
                <c:formatCode>General</c:formatCode>
                <c:ptCount val="6"/>
                <c:pt idx="0">
                  <c:v>2599</c:v>
                </c:pt>
                <c:pt idx="1">
                  <c:v>2839</c:v>
                </c:pt>
                <c:pt idx="2">
                  <c:v>3284</c:v>
                </c:pt>
                <c:pt idx="3">
                  <c:v>4900</c:v>
                </c:pt>
                <c:pt idx="4">
                  <c:v>4874</c:v>
                </c:pt>
                <c:pt idx="5">
                  <c:v>4972</c:v>
                </c:pt>
              </c:numCache>
            </c:numRef>
          </c:val>
        </c:ser>
        <c:ser>
          <c:idx val="1"/>
          <c:order val="1"/>
          <c:tx>
            <c:strRef>
              <c:strCache>
                <c:ptCount val="1"/>
                <c:pt idx="0">
                  <c:v>Range</c:v>
                </c:pt>
              </c:strCache>
            </c:strRef>
          </c:tx>
          <c:spPr>
            <a:solidFill>
              <a:srgbClr val="008189"/>
            </a:solidFill>
          </c:spPr>
          <c:cat>
            <c:strRef>
              <c:strCache>
                <c:ptCount val="6"/>
                <c:pt idx="0">
                  <c:v>Tablets</c:v>
                </c:pt>
                <c:pt idx="1">
                  <c:v>Chewables</c:v>
                </c:pt>
                <c:pt idx="2">
                  <c:v>Gels and Pastes</c:v>
                </c:pt>
                <c:pt idx="3">
                  <c:v>Liquids</c:v>
                </c:pt>
                <c:pt idx="4">
                  <c:v>Powders and Granules</c:v>
                </c:pt>
                <c:pt idx="5">
                  <c:v>Capsules and Softgels</c:v>
                </c:pt>
              </c:strCache>
            </c:strRef>
          </c:cat>
          <c:val>
            <c:numRef>
              <c:numCache>
                <c:formatCode>General</c:formatCode>
                <c:ptCount val="6"/>
                <c:pt idx="0">
                  <c:v>1148</c:v>
                </c:pt>
                <c:pt idx="1">
                  <c:v>1351</c:v>
                </c:pt>
                <c:pt idx="2">
                  <c:v>1412</c:v>
                </c:pt>
                <c:pt idx="3">
                  <c:v>1576</c:v>
                </c:pt>
                <c:pt idx="4">
                  <c:v>1856</c:v>
                </c:pt>
                <c:pt idx="5">
                  <c:v>2011</c:v>
                </c:pt>
              </c:numCache>
            </c:numRef>
          </c:val>
        </c:ser>
        <c:gapWidth val="55"/>
        <c:overlap val="100"/>
        <c:axId val="-2068027336"/>
        <c:axId val="-2113994440"/>
      </c:barChart>
      <c:catAx>
        <c:axId val="-2068027336"/>
        <c:scaling>
          <c:orientation val="minMax"/>
        </c:scaling>
        <c:delete val="0"/>
        <c:axPos val="l"/>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8000.0"/>
          <c:min val="2000.0"/>
        </c:scaling>
        <c:delete val="0"/>
        <c:axPos val="b"/>
        <c:majorGridlines>
          <c:spPr>
            <a:ln>
              <a:solidFill>
                <a:srgbClr val="D9DEE4"/>
              </a:solidFill>
            </a:ln>
          </c:spPr>
        </c:majorGridlines>
        <c:numFmt formatCode="#,##0" sourceLinked="0"/>
        <c:majorTickMark val="out"/>
        <c:minorTickMark val="none"/>
        <c:tickLblPos val="none"/>
        <c:spPr>
          <a:ln>
            <a:noFill/>
          </a:ln>
        </c:spPr>
        <c:txPr>
          <a:bodyPr/>
          <a:lstStyle/>
          <a:p>
            <a:pPr>
              <a:defRPr sz="800">
                <a:solidFill>
                  <a:srgbClr val="59636E"/>
                </a:solidFill>
                <a:latin typeface="Calibri"/>
              </a:defRPr>
            </a:pPr>
          </a:p>
        </c:txPr>
        <c:crossAx val="-2068027336"/>
        <c:crosses val="autoZero"/>
        <c:majorUnit val="2000.0"/>
      </c:valAx>
    </c:plotArea>
    <c:dispBlanksAs val="gap"/>
  </c:chart>
  <c:txPr>
    <a:bodyPr/>
    <a:lstStyle/>
    <a:p>
      <a:pPr>
        <a:defRPr sz="1800"/>
      </a:pPr>
      <a:endParaRPr lang="en-US"/>
    </a:p>
  </c:txPr>
</c:chartSpace>
</file>

<file path=ppt/charts/chart14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strCache>
                <c:ptCount val="1"/>
                <c:pt idx="0">
                  <c:v>Base</c:v>
                </c:pt>
              </c:strCache>
            </c:strRef>
          </c:tx>
          <c:spPr>
            <a:noFill/>
          </c:spPr>
          <c:cat>
            <c:strRef>
              <c:strCache>
                <c:ptCount val="6"/>
                <c:pt idx="0">
                  <c:v>North America</c:v>
                </c:pt>
                <c:pt idx="1">
                  <c:v>Europe</c:v>
                </c:pt>
                <c:pt idx="2">
                  <c:v>Latin America</c:v>
                </c:pt>
                <c:pt idx="3">
                  <c:v>Middle East &amp; Africa</c:v>
                </c:pt>
                <c:pt idx="4">
                  <c:v>East Asia</c:v>
                </c:pt>
                <c:pt idx="5">
                  <c:v>South Asia &amp; Pacific</c:v>
                </c:pt>
              </c:strCache>
            </c:strRef>
          </c:cat>
          <c:val>
            <c:numRef>
              <c:numCache>
                <c:formatCode>General</c:formatCode>
                <c:ptCount val="6"/>
                <c:pt idx="0">
                  <c:v>100.5</c:v>
                </c:pt>
                <c:pt idx="1">
                  <c:v>90.6</c:v>
                </c:pt>
                <c:pt idx="2">
                  <c:v>71.6</c:v>
                </c:pt>
                <c:pt idx="3">
                  <c:v>67.9</c:v>
                </c:pt>
                <c:pt idx="4">
                  <c:v>52.6</c:v>
                </c:pt>
                <c:pt idx="5">
                  <c:v>46.6</c:v>
                </c:pt>
              </c:numCache>
            </c:numRef>
          </c:val>
        </c:ser>
        <c:ser>
          <c:idx val="1"/>
          <c:order val="1"/>
          <c:tx>
            <c:strRef>
              <c:strCache>
                <c:ptCount val="1"/>
                <c:pt idx="0">
                  <c:v>Range</c:v>
                </c:pt>
              </c:strCache>
            </c:strRef>
          </c:tx>
          <c:spPr>
            <a:solidFill>
              <a:srgbClr val="008189"/>
            </a:solidFill>
          </c:spPr>
          <c:dPt>
            <c:idx val="2"/>
            <c:spPr>
              <a:solidFill>
                <a:srgbClr val="5B7DB1"/>
              </a:solidFill>
            </c:spPr>
          </c:dPt>
          <c:dPt>
            <c:idx val="3"/>
            <c:spPr>
              <a:solidFill>
                <a:srgbClr val="5B7DB1"/>
              </a:solidFill>
            </c:spPr>
          </c:dPt>
          <c:dPt>
            <c:idx val="4"/>
            <c:spPr>
              <a:solidFill>
                <a:srgbClr val="5B7DB1"/>
              </a:solidFill>
            </c:spPr>
          </c:dPt>
          <c:dPt>
            <c:idx val="5"/>
            <c:spPr>
              <a:solidFill>
                <a:srgbClr val="5B7DB1"/>
              </a:solidFill>
            </c:spPr>
          </c:dPt>
          <c:cat>
            <c:strRef>
              <c:strCache>
                <c:ptCount val="6"/>
                <c:pt idx="0">
                  <c:v>North America</c:v>
                </c:pt>
                <c:pt idx="1">
                  <c:v>Europe</c:v>
                </c:pt>
                <c:pt idx="2">
                  <c:v>Latin America</c:v>
                </c:pt>
                <c:pt idx="3">
                  <c:v>Middle East &amp; Africa</c:v>
                </c:pt>
                <c:pt idx="4">
                  <c:v>East Asia</c:v>
                </c:pt>
                <c:pt idx="5">
                  <c:v>South Asia &amp; Pacific</c:v>
                </c:pt>
              </c:strCache>
            </c:strRef>
          </c:cat>
          <c:val>
            <c:numRef>
              <c:numCache>
                <c:formatCode>General</c:formatCode>
                <c:ptCount val="6"/>
                <c:pt idx="0">
                  <c:v>89.2</c:v>
                </c:pt>
                <c:pt idx="1">
                  <c:v>80.0</c:v>
                </c:pt>
                <c:pt idx="2">
                  <c:v>63.4</c:v>
                </c:pt>
                <c:pt idx="3">
                  <c:v>59.4</c:v>
                </c:pt>
                <c:pt idx="4">
                  <c:v>45.5</c:v>
                </c:pt>
                <c:pt idx="5">
                  <c:v>41.2</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90.0"/>
          <c:min val="45.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850">
                <a:solidFill>
                  <a:srgbClr val="59636E"/>
                </a:solidFill>
                <a:latin typeface="Calibri"/>
              </a:defRPr>
            </a:pPr>
          </a:p>
        </c:txPr>
        <c:crossAx val="-2068027336"/>
        <c:crosses val="autoZero"/>
        <c:majorUnit val="10.0"/>
      </c:valAx>
    </c:plotArea>
    <c:dispBlanksAs val="gap"/>
  </c:chart>
  <c:txPr>
    <a:bodyPr/>
    <a:lstStyle/>
    <a:p>
      <a:pPr>
        <a:defRPr sz="1800"/>
      </a:pPr>
      <a:endParaRPr lang="en-US"/>
    </a:p>
  </c:txPr>
</c:chartSpace>
</file>

<file path=ppt/charts/chart14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Standard Process</c:v>
                </c:pt>
                <c:pt idx="1">
                  <c:v>VetriScience</c:v>
                </c:pt>
                <c:pt idx="2">
                  <c:v>Dr. Fossum's</c:v>
                </c:pt>
                <c:pt idx="3">
                  <c:v>Nestlé Purina PetCare</c:v>
                </c:pt>
                <c:pt idx="4">
                  <c:v>PetHeal</c:v>
                </c:pt>
                <c:pt idx="5">
                  <c:v>Senior Dogs Club</c:v>
                </c:pt>
                <c:pt idx="6">
                  <c:v>VISYO Corporation</c:v>
                </c:pt>
                <c:pt idx="7">
                  <c:v>NaturVet</c:v>
                </c:pt>
                <c:pt idx="8">
                  <c:v>Zesty Paws</c:v>
                </c:pt>
                <c:pt idx="9">
                  <c:v>Ark Naturals</c:v>
                </c:pt>
                <c:pt idx="10">
                  <c:v>Others</c:v>
                </c:pt>
              </c:strCache>
            </c:strRef>
          </c:cat>
          <c:val>
            <c:numRef>
              <c:numCache>
                <c:formatCode>General</c:formatCode>
                <c:ptCount val="11"/>
                <c:pt idx="0">
                  <c:v>15.401240790072533</c:v>
                </c:pt>
                <c:pt idx="1">
                  <c:v>13.483170759180723</c:v>
                </c:pt>
                <c:pt idx="2">
                  <c:v>9.29935288364539</c:v>
                </c:pt>
                <c:pt idx="3">
                  <c:v>6.532876475193235</c:v>
                </c:pt>
                <c:pt idx="4">
                  <c:v>6.473319829711896</c:v>
                </c:pt>
                <c:pt idx="5">
                  <c:v>6.433244680872183</c:v>
                </c:pt>
                <c:pt idx="6">
                  <c:v>5.150370028076766</c:v>
                </c:pt>
                <c:pt idx="7">
                  <c:v>3.1015192989370006</c:v>
                </c:pt>
                <c:pt idx="8">
                  <c:v>2.1645981368190896</c:v>
                </c:pt>
                <c:pt idx="9">
                  <c:v>2.1360961810687464</c:v>
                </c:pt>
                <c:pt idx="10">
                  <c:v>29.824210936422443</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4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Standard Process</c:v>
                </c:pt>
                <c:pt idx="1">
                  <c:v>VetriScience</c:v>
                </c:pt>
                <c:pt idx="2">
                  <c:v>Dr. Fossum's</c:v>
                </c:pt>
                <c:pt idx="3">
                  <c:v>Nestlé Purina PetCare</c:v>
                </c:pt>
                <c:pt idx="4">
                  <c:v>PetHeal</c:v>
                </c:pt>
                <c:pt idx="5">
                  <c:v>Senior Dogs Club</c:v>
                </c:pt>
                <c:pt idx="6">
                  <c:v>VISYO Corporation</c:v>
                </c:pt>
                <c:pt idx="7">
                  <c:v>NaturVet</c:v>
                </c:pt>
                <c:pt idx="8">
                  <c:v>Zesty Paws</c:v>
                </c:pt>
                <c:pt idx="9">
                  <c:v>Ark Naturals</c:v>
                </c:pt>
                <c:pt idx="10">
                  <c:v>Others</c:v>
                </c:pt>
              </c:strCache>
            </c:strRef>
          </c:cat>
          <c:val>
            <c:numRef>
              <c:numCache>
                <c:formatCode>General</c:formatCode>
                <c:ptCount val="11"/>
                <c:pt idx="0">
                  <c:v>11.693602256562977</c:v>
                </c:pt>
                <c:pt idx="1">
                  <c:v>9.98907014549872</c:v>
                </c:pt>
                <c:pt idx="2">
                  <c:v>11.264513875278551</c:v>
                </c:pt>
                <c:pt idx="3">
                  <c:v>11.542462021743303</c:v>
                </c:pt>
                <c:pt idx="4">
                  <c:v>9.170712625473369</c:v>
                </c:pt>
                <c:pt idx="5">
                  <c:v>5.69371565484273</c:v>
                </c:pt>
                <c:pt idx="6">
                  <c:v>3.7515880157620747</c:v>
                </c:pt>
                <c:pt idx="7">
                  <c:v>3.240076671241286</c:v>
                </c:pt>
                <c:pt idx="8">
                  <c:v>3.3901784262482124</c:v>
                </c:pt>
                <c:pt idx="9">
                  <c:v>3.0300946920704144</c:v>
                </c:pt>
                <c:pt idx="10">
                  <c:v>27.23398561527836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5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Standard Process</c:v>
                </c:pt>
                <c:pt idx="1">
                  <c:v>VetriScience</c:v>
                </c:pt>
                <c:pt idx="2">
                  <c:v>Dr. Fossum's</c:v>
                </c:pt>
                <c:pt idx="3">
                  <c:v>Nestlé Purina PetCare</c:v>
                </c:pt>
                <c:pt idx="4">
                  <c:v>PetHeal</c:v>
                </c:pt>
                <c:pt idx="5">
                  <c:v>Senior Dogs Club</c:v>
                </c:pt>
                <c:pt idx="6">
                  <c:v>VISYO Corporation</c:v>
                </c:pt>
                <c:pt idx="7">
                  <c:v>NaturVet</c:v>
                </c:pt>
                <c:pt idx="8">
                  <c:v>Zesty Paws</c:v>
                </c:pt>
                <c:pt idx="9">
                  <c:v>Ark Naturals</c:v>
                </c:pt>
                <c:pt idx="10">
                  <c:v>Others</c:v>
                </c:pt>
              </c:strCache>
            </c:strRef>
          </c:cat>
          <c:val>
            <c:numRef>
              <c:numCache>
                <c:formatCode>General</c:formatCode>
                <c:ptCount val="11"/>
                <c:pt idx="0">
                  <c:v>12.127056022733685</c:v>
                </c:pt>
                <c:pt idx="1">
                  <c:v>13.515963661294228</c:v>
                </c:pt>
                <c:pt idx="2">
                  <c:v>13.672509787055716</c:v>
                </c:pt>
                <c:pt idx="3">
                  <c:v>10.747277583816313</c:v>
                </c:pt>
                <c:pt idx="4">
                  <c:v>6.853819923875349</c:v>
                </c:pt>
                <c:pt idx="5">
                  <c:v>4.527540451517601</c:v>
                </c:pt>
                <c:pt idx="6">
                  <c:v>4.351504519294602</c:v>
                </c:pt>
                <c:pt idx="7">
                  <c:v>4.386878793633664</c:v>
                </c:pt>
                <c:pt idx="8">
                  <c:v>3.8343075690671227</c:v>
                </c:pt>
                <c:pt idx="9">
                  <c:v>2.614124464284719</c:v>
                </c:pt>
                <c:pt idx="10">
                  <c:v>23.369017223427004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5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Standard Process</c:v>
                </c:pt>
                <c:pt idx="1">
                  <c:v>VetriScience</c:v>
                </c:pt>
                <c:pt idx="2">
                  <c:v>Dr. Fossum's</c:v>
                </c:pt>
                <c:pt idx="3">
                  <c:v>Nestlé Purina PetCare</c:v>
                </c:pt>
                <c:pt idx="4">
                  <c:v>PetHeal</c:v>
                </c:pt>
                <c:pt idx="5">
                  <c:v>Senior Dogs Club</c:v>
                </c:pt>
                <c:pt idx="6">
                  <c:v>VISYO Corporation</c:v>
                </c:pt>
                <c:pt idx="7">
                  <c:v>NaturVet</c:v>
                </c:pt>
                <c:pt idx="8">
                  <c:v>Zesty Paws</c:v>
                </c:pt>
                <c:pt idx="9">
                  <c:v>Ark Naturals</c:v>
                </c:pt>
                <c:pt idx="10">
                  <c:v>Others</c:v>
                </c:pt>
              </c:strCache>
            </c:strRef>
          </c:cat>
          <c:val>
            <c:numRef>
              <c:numCache>
                <c:formatCode>General</c:formatCode>
                <c:ptCount val="11"/>
                <c:pt idx="0">
                  <c:v>16.616982878130067</c:v>
                </c:pt>
                <c:pt idx="1">
                  <c:v>15.838373751146179</c:v>
                </c:pt>
                <c:pt idx="2">
                  <c:v>12.226323321243271</c:v>
                </c:pt>
                <c:pt idx="3">
                  <c:v>7.956018792951126</c:v>
                </c:pt>
                <c:pt idx="4">
                  <c:v>5.814138033935408</c:v>
                </c:pt>
                <c:pt idx="5">
                  <c:v>5.618762435113716</c:v>
                </c:pt>
                <c:pt idx="6">
                  <c:v>5.851259038190951</c:v>
                </c:pt>
                <c:pt idx="7">
                  <c:v>4.7673503513720465</c:v>
                </c:pt>
                <c:pt idx="8">
                  <c:v>3.1905899020099824</c:v>
                </c:pt>
                <c:pt idx="9">
                  <c:v>1.9266097914653113</c:v>
                </c:pt>
                <c:pt idx="10">
                  <c:v>20.193591704441936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5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Standard Process</c:v>
                </c:pt>
                <c:pt idx="1">
                  <c:v>VetriScience</c:v>
                </c:pt>
                <c:pt idx="2">
                  <c:v>Dr. Fossum's</c:v>
                </c:pt>
                <c:pt idx="3">
                  <c:v>Nestlé Purina PetCare</c:v>
                </c:pt>
                <c:pt idx="4">
                  <c:v>PetHeal</c:v>
                </c:pt>
                <c:pt idx="5">
                  <c:v>Senior Dogs Club</c:v>
                </c:pt>
                <c:pt idx="6">
                  <c:v>VISYO Corporation</c:v>
                </c:pt>
                <c:pt idx="7">
                  <c:v>NaturVet</c:v>
                </c:pt>
                <c:pt idx="8">
                  <c:v>Zesty Paws</c:v>
                </c:pt>
                <c:pt idx="9">
                  <c:v>Ark Naturals</c:v>
                </c:pt>
                <c:pt idx="10">
                  <c:v>Others</c:v>
                </c:pt>
              </c:strCache>
            </c:strRef>
          </c:cat>
          <c:val>
            <c:numRef>
              <c:numCache>
                <c:formatCode>General</c:formatCode>
                <c:ptCount val="11"/>
                <c:pt idx="0">
                  <c:v>17.07493181467485</c:v>
                </c:pt>
                <c:pt idx="1">
                  <c:v>12.55088526010719</c:v>
                </c:pt>
                <c:pt idx="2">
                  <c:v>8.380043562697717</c:v>
                </c:pt>
                <c:pt idx="3">
                  <c:v>7.444952014860332</c:v>
                </c:pt>
                <c:pt idx="4">
                  <c:v>8.046607083054917</c:v>
                </c:pt>
                <c:pt idx="5">
                  <c:v>6.9192142292565135</c:v>
                </c:pt>
                <c:pt idx="6">
                  <c:v>4.691071174682331</c:v>
                </c:pt>
                <c:pt idx="7">
                  <c:v>2.8651087985998394</c:v>
                </c:pt>
                <c:pt idx="8">
                  <c:v>2.560369933335588</c:v>
                </c:pt>
                <c:pt idx="9">
                  <c:v>2.616980414229504</c:v>
                </c:pt>
                <c:pt idx="10">
                  <c:v>26.849835714501204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5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Standard Process</c:v>
                </c:pt>
                <c:pt idx="1">
                  <c:v>VetriScience</c:v>
                </c:pt>
                <c:pt idx="2">
                  <c:v>Dr. Fossum's</c:v>
                </c:pt>
                <c:pt idx="3">
                  <c:v>Nestlé Purina PetCare</c:v>
                </c:pt>
                <c:pt idx="4">
                  <c:v>PetHeal</c:v>
                </c:pt>
                <c:pt idx="5">
                  <c:v>Senior Dogs Club</c:v>
                </c:pt>
                <c:pt idx="6">
                  <c:v>VISYO Corporation</c:v>
                </c:pt>
                <c:pt idx="7">
                  <c:v>NaturVet</c:v>
                </c:pt>
                <c:pt idx="8">
                  <c:v>Zesty Paws</c:v>
                </c:pt>
                <c:pt idx="9">
                  <c:v>Ark Naturals</c:v>
                </c:pt>
                <c:pt idx="10">
                  <c:v>Others</c:v>
                </c:pt>
              </c:strCache>
            </c:strRef>
          </c:cat>
          <c:val>
            <c:numRef>
              <c:numCache>
                <c:formatCode>General</c:formatCode>
                <c:ptCount val="11"/>
                <c:pt idx="0">
                  <c:v>15.570454803610694</c:v>
                </c:pt>
                <c:pt idx="1">
                  <c:v>10.546713911504883</c:v>
                </c:pt>
                <c:pt idx="2">
                  <c:v>10.489494550876001</c:v>
                </c:pt>
                <c:pt idx="3">
                  <c:v>11.523850319189417</c:v>
                </c:pt>
                <c:pt idx="4">
                  <c:v>9.716274527037694</c:v>
                </c:pt>
                <c:pt idx="5">
                  <c:v>6.041847824962319</c:v>
                </c:pt>
                <c:pt idx="6">
                  <c:v>4.100995695833606</c:v>
                </c:pt>
                <c:pt idx="7">
                  <c:v>3.8524851858046234</c:v>
                </c:pt>
                <c:pt idx="8">
                  <c:v>3.889793811996375</c:v>
                </c:pt>
                <c:pt idx="9">
                  <c:v>2.9792010725276863</c:v>
                </c:pt>
                <c:pt idx="10">
                  <c:v>21.288888296656708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5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Standard Process</c:v>
                </c:pt>
                <c:pt idx="1">
                  <c:v>VetriScience</c:v>
                </c:pt>
                <c:pt idx="2">
                  <c:v>Dr. Fossum's</c:v>
                </c:pt>
                <c:pt idx="3">
                  <c:v>Nestlé Purina PetCare</c:v>
                </c:pt>
                <c:pt idx="4">
                  <c:v>PetHeal</c:v>
                </c:pt>
                <c:pt idx="5">
                  <c:v>Senior Dogs Club</c:v>
                </c:pt>
                <c:pt idx="6">
                  <c:v>VISYO Corporation</c:v>
                </c:pt>
                <c:pt idx="7">
                  <c:v>NaturVet</c:v>
                </c:pt>
                <c:pt idx="8">
                  <c:v>Zesty Paws</c:v>
                </c:pt>
                <c:pt idx="9">
                  <c:v>Ark Naturals</c:v>
                </c:pt>
                <c:pt idx="10">
                  <c:v>Others</c:v>
                </c:pt>
              </c:strCache>
            </c:strRef>
          </c:cat>
          <c:val>
            <c:numRef>
              <c:numCache>
                <c:formatCode>General</c:formatCode>
                <c:ptCount val="11"/>
                <c:pt idx="0">
                  <c:v>11.931858870012501</c:v>
                </c:pt>
                <c:pt idx="1">
                  <c:v>12.495250983383206</c:v>
                </c:pt>
                <c:pt idx="2">
                  <c:v>13.557011133261542</c:v>
                </c:pt>
                <c:pt idx="3">
                  <c:v>11.024479649083794</c:v>
                </c:pt>
                <c:pt idx="4">
                  <c:v>6.975036720459171</c:v>
                </c:pt>
                <c:pt idx="5">
                  <c:v>4.918850211127804</c:v>
                </c:pt>
                <c:pt idx="6">
                  <c:v>5.131252406943278</c:v>
                </c:pt>
                <c:pt idx="7">
                  <c:v>4.808839258461541</c:v>
                </c:pt>
                <c:pt idx="8">
                  <c:v>3.5084788144252483</c:v>
                </c:pt>
                <c:pt idx="9">
                  <c:v>2.100246059545411</c:v>
                </c:pt>
                <c:pt idx="10">
                  <c:v>23.5486958932965</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5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1668A8"/>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4"/>
                <c:pt idx="0">
                  <c:v>Routine Cognitive Wellness</c:v>
                </c:pt>
                <c:pt idx="1">
                  <c:v>Preventive Cognitive Support for Senior Dogs</c:v>
                </c:pt>
                <c:pt idx="2">
                  <c:v>Support for Observable Age-Related Cognitive Changes</c:v>
                </c:pt>
                <c:pt idx="3">
                  <c:v>Veterinary-Guided Cognitive Dysfunction Support</c:v>
                </c:pt>
              </c:strCache>
            </c:strRef>
          </c:cat>
          <c:val>
            <c:numRef>
              <c:numCache>
                <c:formatCode>General</c:formatCode>
                <c:ptCount val="4"/>
                <c:pt idx="0">
                  <c:v>763.5276316877784</c:v>
                </c:pt>
                <c:pt idx="1">
                  <c:v>424.7774819033578</c:v>
                </c:pt>
                <c:pt idx="2">
                  <c:v>534.6739275054452</c:v>
                </c:pt>
                <c:pt idx="3">
                  <c:v>1010.049529417411</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333.2653788309826"/>
          <c:min val="0.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E3A5F"/>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907.3144017368126</c:v>
                </c:pt>
                <c:pt idx="1">
                  <c:v>552.2802562171584</c:v>
                </c:pt>
                <c:pt idx="2">
                  <c:v>297.8287318102046</c:v>
                </c:pt>
                <c:pt idx="3">
                  <c:v>336.52366930380146</c:v>
                </c:pt>
                <c:pt idx="4">
                  <c:v>639.0815114460153</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197.6550102925926"/>
          <c:min val="0.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Lbls>
            <c:dLbl>
              <c:idx val="0"/>
              <c:layout>
                <c:manualLayout>
                  <c:x val="0.0350"/>
                  <c:y val="0.0000"/>
                </c:manualLayout>
              </c:layout>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4"/>
                <c:pt idx="0">
                  <c:v>Capsules and Softgels</c:v>
                </c:pt>
                <c:pt idx="1">
                  <c:v>Tablets</c:v>
                </c:pt>
                <c:pt idx="2">
                  <c:v>Chewables</c:v>
                </c:pt>
                <c:pt idx="3">
                  <c:v>Gels and Pastes</c:v>
                </c:pt>
              </c:strCache>
            </c:strRef>
          </c:cat>
          <c:val>
            <c:numRef>
              <c:numCache>
                <c:formatCode>General</c:formatCode>
                <c:ptCount val="4"/>
                <c:pt idx="0">
                  <c:v>314.8960395273342</c:v>
                </c:pt>
                <c:pt idx="1">
                  <c:v>437.77868003885925</c:v>
                </c:pt>
                <c:pt idx="2">
                  <c:v>816.3157991374919</c:v>
                </c:pt>
                <c:pt idx="3">
                  <c:v>1164.0380518103066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5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SAM</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2768.299404</c:v>
                </c:pt>
                <c:pt idx="1">
                  <c:v>2488.4305254161864</c:v>
                </c:pt>
                <c:pt idx="2">
                  <c:v>1818.5885959387524</c:v>
                </c:pt>
                <c:pt idx="3">
                  <c:v>1165.090741584608</c:v>
                </c:pt>
                <c:pt idx="4">
                  <c:v>924.3399917170238</c:v>
                </c:pt>
              </c:numCache>
            </c:numRef>
          </c:val>
        </c:ser>
        <c:ser>
          <c:idx val="1"/>
          <c:order val="1"/>
          <c:tx>
            <c:strRef>
              <c:strCache>
                <c:ptCount val="1"/>
                <c:pt idx="0">
                  <c:v>SOM</c:v>
                </c:pt>
              </c:strCache>
            </c:strRef>
          </c:tx>
          <c:spPr>
            <a:solidFill>
              <a:srgbClr val="0E72AE"/>
            </a:solidFill>
            <a:ln>
              <a:noFill/>
            </a:ln>
          </c:spPr>
          <c:dLbls>
            <c:dLbl>
              <c:idx val="0"/>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907.3144017368126</c:v>
                </c:pt>
                <c:pt idx="1">
                  <c:v>552.2802562171584</c:v>
                </c:pt>
                <c:pt idx="2">
                  <c:v>297.8287318102046</c:v>
                </c:pt>
                <c:pt idx="3">
                  <c:v>336.52366930380146</c:v>
                </c:pt>
                <c:pt idx="4">
                  <c:v>639.0815114460153</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3543.42323712"/>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Market Signals Market Signals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Overview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Market Taxonomy Geographic Coverage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Market Taxonomy Market Segments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Market Taxonomy Company Coverage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Global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Global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Global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Global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Global Overview Country Outlook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Global Overview Country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Global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Global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Global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Global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By Region Global Senior Dog Cognitive Supplement – Regional Outlook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By Region Market Analysis By Region (1/2)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By Region Market Analysis By Region (2/2)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By Region Volume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By Region Value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By Region Market Trends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By Region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Form Type By Form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Form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Form Type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Form Type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Form Type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Form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Active Ingredient By Active Ingredient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Active Ingredient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Active Ingredient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Active Ingredient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Active Ingredient Market Value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Active Ingredient Market Value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Active Ingredient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End-use Application By End-use Application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End-use Application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End-use Application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End-use Application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End-use Application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Packaging Format By Packaging Format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Packaging Format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Packaging Format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Packaging Format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Packaging Format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Packaging Format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Sales Channel By Sales Channel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Sales Channel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Sales Channel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Sales Channel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Sales Channel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Sales Channel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Form Type × Active Ingredient Market Snapshot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Form Type × Active Ingredient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Form Type × Active Ingredient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End-use Application × Active Ingredient Market Snapshot</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End-use Application × Active Ingredient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End-use Application × Active Ingredient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Sales Channel × End-use Application Market Snapshot  (1/2)</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Sales Channel × End-use Application Market Snapshot  (2/2)</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Sales Channel × End-use Application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Sales Channel × End-use Application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North America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North America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North America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North America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North America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North America Overview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North America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North America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North America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North America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By Country North America Senior Dog Cognitive Supplement –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By Country Market Analysis By Country (1/2)</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By Country Market Analysis By Country (2/2)</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By Country Volume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By Country Value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By Country Market Trends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By Country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Form Type By Form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Form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Form Type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Form Type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Form Type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Form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Active Ingredient By Active Ingredient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Active Ingredient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Active Ingredient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Active Ingredient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Active Ingredient Market Value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Active Ingredient Market Value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Active Ingredient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End-use Application By End-use Application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End-use Application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End-use Application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End-use Application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End-use Application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Packaging Format By Packaging Format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Packaging Format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Packaging Format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Packaging Format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Packaging Format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Packaging Format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Sales Channel By Sales Channel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Sales Channel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Sales Channel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Sales Channel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Sales Channel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Sales Channel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Form Type × Active Ingredient Market Snapshot</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Form Type × Active Ingredient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Form Type × Active Ingredient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End-use Application × Active Ingredient Market Snapshot</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End-use Application × Active Ingredient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End-use Application × Active Ingredient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Sales Channel × End-use Application Market Snapshot  (1/2)</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Sales Channel × End-use Application Market Snapshot  (2/2)</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Sales Channel × End-use Application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Sales Channel × End-use Application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Country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Country Overview Key Segments (Value)</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Country Form Type Segmental</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Country Form Type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Country Active Ingredient Segmental</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Country Active Ingredient Table (Volume &amp; Value)  (1/3)</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Country Active Ingredient Table (Volume &amp; Value)  (2/3)</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Country Active Ingredient Table (Volume &amp; Value)  (3/3)</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Country End-use Application Segmental</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Country End-use Application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Country Packaging Format Segmental</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Country Packaging Format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Country Sales Channel Segmental</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Country Sales Channel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Pricing Product Pricing &amp; Regional Price Index Trends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Pricing Price Positioning &amp; Key Findings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Pricing Key Pricing Drivers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Pricing Factors Impacting Pricing</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Pricing Regional Price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Pricing Global Pricing Benchmarking</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Pricing Price Forecast &amp; Dynamics  (1/2)</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Pricing Price Forecast &amp; Dynamics  (2/2)</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Pricing Competitor Pricing Strategies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Supply Chain Analysis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Supply Chain Analysis Value Chain &amp; Stakeholder Mapping</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Supply Chain Analysis Operating Margin Analysis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Supply Chain Analysis Buyers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Dynamics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Market Dynamics Market Dynamics &amp; Forces Market Dynamics by Geography</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Market Dynamics Market Dynamics &amp; Forces Driving Factors Supply Side (1/2)</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Market Dynamics Market Dynamics &amp; Forces Driving Factors Demand Side (2/2)</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Market Dynamics Market Dynamics &amp; Forces Market Restraints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Market Dynamics Market Dynamics &amp; Forces Market Opportunities</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Market Dynamics Market Dynamics &amp; Forces Recent Developments &amp; Milestones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Market Dynamics Market Dynamics &amp; Forces Five Forces Analysis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Competition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Competitor Competitive Landscape Competitive Landscape at a Glance</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Competitor Competitive Landscape Segment Leadership Map</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Competitor Competitive Landscape Value Chain Positioning</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Competitor Competitive Landscape Player Landscape</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Competitor Competitive Landscape Corporate Scorecard</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Competitor Competitive Landscape Offering Scorecard</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Competitor Competitive Landscape Execution Scorecard</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Competitor Competitive Landscape Success Factors</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Competitor Competitive Landscape Strategic Activity Tracker</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Competitor Competitive Landscape Strategic Activity by Function</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Competitor Competitive Landscape Industry Structure Landscape  (1/2)</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Competitor Competitive Landscape Industry Structure Landscape  (2/2)</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Competitor Competitive Landscape Competitive Dashboard</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Competitor Market Share by Leading Players Advice for Vendors &amp; Suppliers</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Competitor Market Share by Leading Players Company Value Share</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Competitor Market Share by Leading Players Company Share by Product Type</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Competitor Market Share by Leading Players Company Share by Region</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Competitor Market Share by Leading Players Who Shaped Growth</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Competitor Company Profiles &amp; Strategic Benchmarking Standard Process Snapshot</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Competitor Company Profiles &amp; Strategic Benchmarking Standard Process Penetration &amp; Win</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Competitor Company Profiles &amp; Strategic Benchmarking Standard Process SWOT Analysis</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Competitor Company Profiles &amp; Strategic Benchmarking Standard Process Key Financials</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Competitor Company Profiles &amp; Strategic Benchmarking Standard Process Strategy Analysis</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Table of Contents  (1/8)</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Table of Contents  (2/8)</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Table of Contents  (3/8)</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Table of Contents  (4/8)</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Table of Contents  (5/8)</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Table of Contents  (6/8)</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Table of Contents  (7/8)</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Table of Contents  (8/8)</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List of Figures  (1/4)</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List of Figures  (2/4)</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List of Figures  (3/4)</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List of Figures  (4/4)</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List of Tables  (1/4)</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List of Tables  (2/4)</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List of Tables  (3/4)</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Senior Dog Cognitive Supplement Market List of Tables  (4/4)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9.jpg"/><Relationship Id="rId3" Type="http://schemas.openxmlformats.org/officeDocument/2006/relationships/image" Target="../media/image830.png"/><Relationship Id="rId4" Type="http://schemas.openxmlformats.org/officeDocument/2006/relationships/image" Target="../media/image831.png"/><Relationship Id="rId5" Type="http://schemas.openxmlformats.org/officeDocument/2006/relationships/image" Target="../media/image83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9.xml"/><Relationship Id="rId8" Type="http://schemas.openxmlformats.org/officeDocument/2006/relationships/slide" Target="slide28.xml"/><Relationship Id="rId9" Type="http://schemas.openxmlformats.org/officeDocument/2006/relationships/slide" Target="slide29.xml"/><Relationship Id="rId10" Type="http://schemas.openxmlformats.org/officeDocument/2006/relationships/slide" Target="slide40.xml"/><Relationship Id="rId11" Type="http://schemas.openxmlformats.org/officeDocument/2006/relationships/slide" Target="slide48.xml"/><Relationship Id="rId12" Type="http://schemas.openxmlformats.org/officeDocument/2006/relationships/slide" Target="slide84.xml"/><Relationship Id="rId13" Type="http://schemas.openxmlformats.org/officeDocument/2006/relationships/slide" Target="slide98.xml"/><Relationship Id="rId14" Type="http://schemas.openxmlformats.org/officeDocument/2006/relationships/slide" Target="slide99.xml"/><Relationship Id="rId15" Type="http://schemas.openxmlformats.org/officeDocument/2006/relationships/slide" Target="slide109.xml"/><Relationship Id="rId16" Type="http://schemas.openxmlformats.org/officeDocument/2006/relationships/slide" Target="slide117.xml"/><Relationship Id="rId17" Type="http://schemas.openxmlformats.org/officeDocument/2006/relationships/slide" Target="slide153.xml"/><Relationship Id="rId18" Type="http://schemas.openxmlformats.org/officeDocument/2006/relationships/slide" Target="slide167.xml"/><Relationship Id="rId19" Type="http://schemas.openxmlformats.org/officeDocument/2006/relationships/slide" Target="slide168.xml"/><Relationship Id="rId20" Type="http://schemas.openxmlformats.org/officeDocument/2006/relationships/slide" Target="slide172.xml"/><Relationship Id="rId21" Type="http://schemas.openxmlformats.org/officeDocument/2006/relationships/slide" Target="slide190.xml"/><Relationship Id="rId22" Type="http://schemas.openxmlformats.org/officeDocument/2006/relationships/slide" Target="slide191.xml"/><Relationship Id="rId23" Type="http://schemas.openxmlformats.org/officeDocument/2006/relationships/slide" Target="slide205.xml"/><Relationship Id="rId24" Type="http://schemas.openxmlformats.org/officeDocument/2006/relationships/slide" Target="slide209.xml"/><Relationship Id="rId25" Type="http://schemas.openxmlformats.org/officeDocument/2006/relationships/slide" Target="slide210.xml"/><Relationship Id="rId26" Type="http://schemas.openxmlformats.org/officeDocument/2006/relationships/slide" Target="slide218.xml"/><Relationship Id="rId27" Type="http://schemas.openxmlformats.org/officeDocument/2006/relationships/slide" Target="slide231.xml"/><Relationship Id="rId28" Type="http://schemas.openxmlformats.org/officeDocument/2006/relationships/slide" Target="slide219.xml"/><Relationship Id="rId29" Type="http://schemas.openxmlformats.org/officeDocument/2006/relationships/slide" Target="slide2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notesSlide" Target="../notesSlides/notesSlide7.xml"/><Relationship Id="rId6"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notesSlide" Target="../notesSlides/notesSlide9.xml"/><Relationship Id="rId6"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notesSlide" Target="../notesSlides/notesSlide10.xml"/><Relationship Id="rId6"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notesSlide" Target="../notesSlides/notesSlide11.xml"/><Relationship Id="rId6"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xml"/><Relationship Id="rId4" Type="http://schemas.openxmlformats.org/officeDocument/2006/relationships/notesSlide" Target="../notesSlides/notesSlide14.xml"/><Relationship Id="rId5"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xml"/><Relationship Id="rId4" Type="http://schemas.openxmlformats.org/officeDocument/2006/relationships/notesSlide" Target="../notesSlides/notesSlide16.xml"/><Relationship Id="rId5"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image" Target="../media/image66.png"/><Relationship Id="rId8" Type="http://schemas.openxmlformats.org/officeDocument/2006/relationships/image" Target="../media/image67.png"/><Relationship Id="rId9" Type="http://schemas.openxmlformats.org/officeDocument/2006/relationships/image" Target="../media/image68.png"/><Relationship Id="rId10" Type="http://schemas.openxmlformats.org/officeDocument/2006/relationships/image" Target="../media/image69.png"/><Relationship Id="rId11" Type="http://schemas.openxmlformats.org/officeDocument/2006/relationships/image" Target="../media/image70.png"/><Relationship Id="rId12" Type="http://schemas.openxmlformats.org/officeDocument/2006/relationships/image" Target="../media/image71.png"/><Relationship Id="rId13" Type="http://schemas.openxmlformats.org/officeDocument/2006/relationships/image" Target="../media/image72.png"/><Relationship Id="rId14" Type="http://schemas.openxmlformats.org/officeDocument/2006/relationships/image" Target="../media/image73.png"/><Relationship Id="rId15" Type="http://schemas.openxmlformats.org/officeDocument/2006/relationships/image" Target="../media/image74.png"/><Relationship Id="rId16" Type="http://schemas.openxmlformats.org/officeDocument/2006/relationships/image" Target="../media/image75.png"/><Relationship Id="rId17" Type="http://schemas.openxmlformats.org/officeDocument/2006/relationships/image" Target="../media/image76.png"/><Relationship Id="rId18" Type="http://schemas.openxmlformats.org/officeDocument/2006/relationships/image" Target="../media/image77.png"/><Relationship Id="rId19" Type="http://schemas.openxmlformats.org/officeDocument/2006/relationships/image" Target="../media/image78.png"/><Relationship Id="rId20" Type="http://schemas.openxmlformats.org/officeDocument/2006/relationships/image" Target="../media/image79.png"/><Relationship Id="rId21" Type="http://schemas.openxmlformats.org/officeDocument/2006/relationships/image" Target="../media/image80.png"/><Relationship Id="rId22"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xml"/><Relationship Id="rId4" Type="http://schemas.openxmlformats.org/officeDocument/2006/relationships/notesSlide" Target="../notesSlides/notesSlide18.xml"/><Relationship Id="rId5" Type="http://schemas.openxmlformats.org/officeDocument/2006/relationships/image" Target="../media/image2.png"/><Relationship Id="rId6" Type="http://schemas.openxmlformats.org/officeDocument/2006/relationships/image" Target="../media/image9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xml"/><Relationship Id="rId4" Type="http://schemas.openxmlformats.org/officeDocument/2006/relationships/notesSlide" Target="../notesSlides/notesSlide19.xml"/><Relationship Id="rId5" Type="http://schemas.openxmlformats.org/officeDocument/2006/relationships/image" Target="../media/image2.png"/><Relationship Id="rId6" Type="http://schemas.openxmlformats.org/officeDocument/2006/relationships/image" Target="../media/image104.png"/><Relationship Id="rId7" Type="http://schemas.openxmlformats.org/officeDocument/2006/relationships/image" Target="../media/image105.png"/><Relationship Id="rId8" Type="http://schemas.openxmlformats.org/officeDocument/2006/relationships/image" Target="../media/image10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notesSlide" Target="../notesSlides/notesSlide2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 Id="rId4" Type="http://schemas.openxmlformats.org/officeDocument/2006/relationships/image" Target="../media/image109.png"/><Relationship Id="rId5" Type="http://schemas.openxmlformats.org/officeDocument/2006/relationships/image" Target="../media/image110.png"/><Relationship Id="rId6" Type="http://schemas.openxmlformats.org/officeDocument/2006/relationships/image" Target="../media/image77.png"/><Relationship Id="rId7" Type="http://schemas.openxmlformats.org/officeDocument/2006/relationships/image" Target="../media/image111.png"/><Relationship Id="rId8" Type="http://schemas.openxmlformats.org/officeDocument/2006/relationships/image" Target="../media/image112.png"/><Relationship Id="rId9" Type="http://schemas.openxmlformats.org/officeDocument/2006/relationships/image" Target="../media/image92.png"/><Relationship Id="rId10" Type="http://schemas.openxmlformats.org/officeDocument/2006/relationships/image" Target="../media/image113.png"/><Relationship Id="rId11" Type="http://schemas.openxmlformats.org/officeDocument/2006/relationships/image" Target="../media/image114.png"/><Relationship Id="rId12" Type="http://schemas.openxmlformats.org/officeDocument/2006/relationships/image" Target="../media/image115.png"/><Relationship Id="rId13" Type="http://schemas.openxmlformats.org/officeDocument/2006/relationships/image" Target="../media/image116.png"/><Relationship Id="rId14" Type="http://schemas.openxmlformats.org/officeDocument/2006/relationships/image" Target="../media/image117.png"/><Relationship Id="rId15" Type="http://schemas.openxmlformats.org/officeDocument/2006/relationships/image" Target="../media/image118.png"/><Relationship Id="rId16" Type="http://schemas.openxmlformats.org/officeDocument/2006/relationships/image" Target="../media/image119.png"/><Relationship Id="rId17" Type="http://schemas.openxmlformats.org/officeDocument/2006/relationships/image" Target="../media/image120.png"/><Relationship Id="rId18" Type="http://schemas.openxmlformats.org/officeDocument/2006/relationships/image" Target="../media/image121.png"/><Relationship Id="rId19" Type="http://schemas.openxmlformats.org/officeDocument/2006/relationships/image" Target="../media/image122.png"/><Relationship Id="rId20" Type="http://schemas.openxmlformats.org/officeDocument/2006/relationships/image" Target="../media/image60.png"/><Relationship Id="rId21" Type="http://schemas.openxmlformats.org/officeDocument/2006/relationships/image" Target="../media/image123.png"/><Relationship Id="rId22"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xml"/><Relationship Id="rId4" Type="http://schemas.openxmlformats.org/officeDocument/2006/relationships/chart" Target="../charts/chart16.xml"/><Relationship Id="rId5" Type="http://schemas.openxmlformats.org/officeDocument/2006/relationships/notesSlide" Target="../notesSlides/notesSlide25.xml"/><Relationship Id="rId6"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xml"/><Relationship Id="rId4" Type="http://schemas.openxmlformats.org/officeDocument/2006/relationships/chart" Target="../charts/chart18.xml"/><Relationship Id="rId5" Type="http://schemas.openxmlformats.org/officeDocument/2006/relationships/chart" Target="../charts/chart19.xml"/><Relationship Id="rId6" Type="http://schemas.openxmlformats.org/officeDocument/2006/relationships/chart" Target="../charts/chart20.xml"/><Relationship Id="rId7" Type="http://schemas.openxmlformats.org/officeDocument/2006/relationships/notesSlide" Target="../notesSlides/notesSlide26.xml"/><Relationship Id="rId8"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1.xml"/><Relationship Id="rId4" Type="http://schemas.openxmlformats.org/officeDocument/2006/relationships/chart" Target="../charts/chart22.xml"/><Relationship Id="rId5" Type="http://schemas.openxmlformats.org/officeDocument/2006/relationships/notesSlide" Target="../notesSlides/notesSlide27.xml"/><Relationship Id="rId6"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 Id="rId4"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3.xml"/><Relationship Id="rId4" Type="http://schemas.openxmlformats.org/officeDocument/2006/relationships/notesSlide" Target="../notesSlides/notesSlide30.xml"/><Relationship Id="rId5"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77.png"/><Relationship Id="rId7" Type="http://schemas.openxmlformats.org/officeDocument/2006/relationships/image" Target="../media/image176.png"/><Relationship Id="rId8" Type="http://schemas.openxmlformats.org/officeDocument/2006/relationships/image" Target="../media/image177.png"/><Relationship Id="rId9" Type="http://schemas.openxmlformats.org/officeDocument/2006/relationships/image" Target="../media/image178.png"/><Relationship Id="rId10" Type="http://schemas.openxmlformats.org/officeDocument/2006/relationships/image" Target="../media/image179.png"/><Relationship Id="rId11" Type="http://schemas.openxmlformats.org/officeDocument/2006/relationships/image" Target="../media/image180.png"/><Relationship Id="rId12" Type="http://schemas.openxmlformats.org/officeDocument/2006/relationships/image" Target="../media/image181.png"/><Relationship Id="rId13" Type="http://schemas.openxmlformats.org/officeDocument/2006/relationships/image" Target="../media/image182.png"/><Relationship Id="rId14" Type="http://schemas.openxmlformats.org/officeDocument/2006/relationships/image" Target="../media/image92.png"/><Relationship Id="rId15" Type="http://schemas.openxmlformats.org/officeDocument/2006/relationships/image" Target="../media/image183.png"/><Relationship Id="rId16" Type="http://schemas.openxmlformats.org/officeDocument/2006/relationships/image" Target="../media/image184.png"/><Relationship Id="rId17" Type="http://schemas.openxmlformats.org/officeDocument/2006/relationships/image" Target="../media/image65.png"/><Relationship Id="rId18" Type="http://schemas.openxmlformats.org/officeDocument/2006/relationships/image" Target="../media/image185.png"/><Relationship Id="rId19" Type="http://schemas.openxmlformats.org/officeDocument/2006/relationships/image" Target="../media/image186.png"/><Relationship Id="rId20" Type="http://schemas.openxmlformats.org/officeDocument/2006/relationships/image" Target="../media/image187.png"/><Relationship Id="rId21"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4.xml"/><Relationship Id="rId4" Type="http://schemas.openxmlformats.org/officeDocument/2006/relationships/chart" Target="../charts/chart25.xml"/><Relationship Id="rId5" Type="http://schemas.openxmlformats.org/officeDocument/2006/relationships/notesSlide" Target="../notesSlides/notesSlide34.xml"/><Relationship Id="rId6"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6.xml"/><Relationship Id="rId4" Type="http://schemas.openxmlformats.org/officeDocument/2006/relationships/chart" Target="../charts/chart27.xml"/><Relationship Id="rId5" Type="http://schemas.openxmlformats.org/officeDocument/2006/relationships/chart" Target="../charts/chart28.xml"/><Relationship Id="rId6" Type="http://schemas.openxmlformats.org/officeDocument/2006/relationships/chart" Target="../charts/chart29.xml"/><Relationship Id="rId7" Type="http://schemas.openxmlformats.org/officeDocument/2006/relationships/notesSlide" Target="../notesSlides/notesSlide35.xml"/><Relationship Id="rId8"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0.xml"/><Relationship Id="rId4" Type="http://schemas.openxmlformats.org/officeDocument/2006/relationships/chart" Target="../charts/chart31.xml"/><Relationship Id="rId5" Type="http://schemas.openxmlformats.org/officeDocument/2006/relationships/notesSlide" Target="../notesSlides/notesSlide36.xml"/><Relationship Id="rId6"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 Id="rId4"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 Id="rId4"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2.xml"/><Relationship Id="rId4" Type="http://schemas.openxmlformats.org/officeDocument/2006/relationships/notesSlide" Target="../notesSlides/notesSlide42.xml"/><Relationship Id="rId5"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 Id="rId4" Type="http://schemas.openxmlformats.org/officeDocument/2006/relationships/image" Target="../media/image237.png"/><Relationship Id="rId5" Type="http://schemas.openxmlformats.org/officeDocument/2006/relationships/image" Target="../media/image238.png"/><Relationship Id="rId6" Type="http://schemas.openxmlformats.org/officeDocument/2006/relationships/image" Target="../media/image239.png"/><Relationship Id="rId7" Type="http://schemas.openxmlformats.org/officeDocument/2006/relationships/image" Target="../media/image240.png"/><Relationship Id="rId8" Type="http://schemas.openxmlformats.org/officeDocument/2006/relationships/image" Target="../media/image241.png"/><Relationship Id="rId9" Type="http://schemas.openxmlformats.org/officeDocument/2006/relationships/image" Target="../media/image242.png"/><Relationship Id="rId10" Type="http://schemas.openxmlformats.org/officeDocument/2006/relationships/image" Target="../media/image243.png"/><Relationship Id="rId11" Type="http://schemas.openxmlformats.org/officeDocument/2006/relationships/image" Target="../media/image244.png"/><Relationship Id="rId12" Type="http://schemas.openxmlformats.org/officeDocument/2006/relationships/image" Target="../media/image245.png"/><Relationship Id="rId13" Type="http://schemas.openxmlformats.org/officeDocument/2006/relationships/image" Target="../media/image246.png"/><Relationship Id="rId14" Type="http://schemas.openxmlformats.org/officeDocument/2006/relationships/image" Target="../media/image247.png"/><Relationship Id="rId15" Type="http://schemas.openxmlformats.org/officeDocument/2006/relationships/image" Target="../media/image248.png"/><Relationship Id="rId16"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3.xml"/><Relationship Id="rId4" Type="http://schemas.openxmlformats.org/officeDocument/2006/relationships/chart" Target="../charts/chart34.xml"/><Relationship Id="rId5" Type="http://schemas.openxmlformats.org/officeDocument/2006/relationships/notesSlide" Target="../notesSlides/notesSlide48.xml"/><Relationship Id="rId6" Type="http://schemas.openxmlformats.org/officeDocument/2006/relationships/image" Target="../media/image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5.xml"/><Relationship Id="rId4" Type="http://schemas.openxmlformats.org/officeDocument/2006/relationships/chart" Target="../charts/chart36.xml"/><Relationship Id="rId5" Type="http://schemas.openxmlformats.org/officeDocument/2006/relationships/chart" Target="../charts/chart37.xml"/><Relationship Id="rId6" Type="http://schemas.openxmlformats.org/officeDocument/2006/relationships/chart" Target="../charts/chart38.xml"/><Relationship Id="rId7" Type="http://schemas.openxmlformats.org/officeDocument/2006/relationships/notesSlide" Target="../notesSlides/notesSlide49.xml"/><Relationship Id="rId8" Type="http://schemas.openxmlformats.org/officeDocument/2006/relationships/image" Target="../media/image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1.xml"/><Relationship Id="rId4"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9.xml"/><Relationship Id="rId4" Type="http://schemas.openxmlformats.org/officeDocument/2006/relationships/notesSlide" Target="../notesSlides/notesSlide52.xml"/><Relationship Id="rId5" Type="http://schemas.openxmlformats.org/officeDocument/2006/relationships/image" Target="../media/image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xml"/><Relationship Id="rId4" Type="http://schemas.openxmlformats.org/officeDocument/2006/relationships/image" Target="../media/image285.png"/><Relationship Id="rId5" Type="http://schemas.openxmlformats.org/officeDocument/2006/relationships/image" Target="../media/image286.png"/><Relationship Id="rId6" Type="http://schemas.openxmlformats.org/officeDocument/2006/relationships/image" Target="../media/image287.png"/><Relationship Id="rId7" Type="http://schemas.openxmlformats.org/officeDocument/2006/relationships/image" Target="../media/image288.png"/><Relationship Id="rId8" Type="http://schemas.openxmlformats.org/officeDocument/2006/relationships/image" Target="../media/image289.png"/><Relationship Id="rId9" Type="http://schemas.openxmlformats.org/officeDocument/2006/relationships/image" Target="../media/image290.png"/><Relationship Id="rId10" Type="http://schemas.openxmlformats.org/officeDocument/2006/relationships/image" Target="../media/image291.png"/><Relationship Id="rId11" Type="http://schemas.openxmlformats.org/officeDocument/2006/relationships/image" Target="../media/image292.png"/><Relationship Id="rId12" Type="http://schemas.openxmlformats.org/officeDocument/2006/relationships/image" Target="../media/image71.png"/><Relationship Id="rId13" Type="http://schemas.openxmlformats.org/officeDocument/2006/relationships/image" Target="../media/image293.png"/><Relationship Id="rId14" Type="http://schemas.openxmlformats.org/officeDocument/2006/relationships/image" Target="../media/image294.png"/><Relationship Id="rId15" Type="http://schemas.openxmlformats.org/officeDocument/2006/relationships/image" Target="../media/image295.png"/><Relationship Id="rId16" Type="http://schemas.openxmlformats.org/officeDocument/2006/relationships/image" Target="../media/image296.png"/><Relationship Id="rId17" Type="http://schemas.openxmlformats.org/officeDocument/2006/relationships/image" Target="../media/image297.png"/><Relationship Id="rId18" Type="http://schemas.openxmlformats.org/officeDocument/2006/relationships/image" Target="../media/image239.png"/><Relationship Id="rId19" Type="http://schemas.openxmlformats.org/officeDocument/2006/relationships/image" Target="../media/image298.png"/><Relationship Id="rId20" Type="http://schemas.openxmlformats.org/officeDocument/2006/relationships/image" Target="../media/image299.png"/><Relationship Id="rId21" Type="http://schemas.openxmlformats.org/officeDocument/2006/relationships/image" Target="../media/image300.png"/><Relationship Id="rId22" Type="http://schemas.openxmlformats.org/officeDocument/2006/relationships/image" Target="../media/image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0.xml"/><Relationship Id="rId4" Type="http://schemas.openxmlformats.org/officeDocument/2006/relationships/chart" Target="../charts/chart41.xml"/><Relationship Id="rId5" Type="http://schemas.openxmlformats.org/officeDocument/2006/relationships/notesSlide" Target="../notesSlides/notesSlide56.xml"/><Relationship Id="rId6" Type="http://schemas.openxmlformats.org/officeDocument/2006/relationships/image" Target="../media/image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2.xml"/><Relationship Id="rId4" Type="http://schemas.openxmlformats.org/officeDocument/2006/relationships/chart" Target="../charts/chart43.xml"/><Relationship Id="rId5" Type="http://schemas.openxmlformats.org/officeDocument/2006/relationships/chart" Target="../charts/chart44.xml"/><Relationship Id="rId6" Type="http://schemas.openxmlformats.org/officeDocument/2006/relationships/chart" Target="../charts/chart45.xml"/><Relationship Id="rId7" Type="http://schemas.openxmlformats.org/officeDocument/2006/relationships/notesSlide" Target="../notesSlides/notesSlide57.xml"/><Relationship Id="rId8" Type="http://schemas.openxmlformats.org/officeDocument/2006/relationships/image" Target="../media/image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6.xml"/><Relationship Id="rId4" Type="http://schemas.openxmlformats.org/officeDocument/2006/relationships/chart" Target="../charts/chart47.xml"/><Relationship Id="rId5" Type="http://schemas.openxmlformats.org/officeDocument/2006/relationships/notesSlide" Target="../notesSlides/notesSlide58.xml"/><Relationship Id="rId6"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0.xml"/><Relationship Id="rId4"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8.xml"/><Relationship Id="rId4" Type="http://schemas.openxmlformats.org/officeDocument/2006/relationships/notesSlide" Target="../notesSlides/notesSlide61.xml"/><Relationship Id="rId5" Type="http://schemas.openxmlformats.org/officeDocument/2006/relationships/image" Target="../media/image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xml"/><Relationship Id="rId4" Type="http://schemas.openxmlformats.org/officeDocument/2006/relationships/image" Target="../media/image349.png"/><Relationship Id="rId5" Type="http://schemas.openxmlformats.org/officeDocument/2006/relationships/image" Target="../media/image350.png"/><Relationship Id="rId6" Type="http://schemas.openxmlformats.org/officeDocument/2006/relationships/image" Target="../media/image351.png"/><Relationship Id="rId7" Type="http://schemas.openxmlformats.org/officeDocument/2006/relationships/image" Target="../media/image352.png"/><Relationship Id="rId8" Type="http://schemas.openxmlformats.org/officeDocument/2006/relationships/image" Target="../media/image353.png"/><Relationship Id="rId9" Type="http://schemas.openxmlformats.org/officeDocument/2006/relationships/image" Target="../media/image354.png"/><Relationship Id="rId10" Type="http://schemas.openxmlformats.org/officeDocument/2006/relationships/image" Target="../media/image355.png"/><Relationship Id="rId11" Type="http://schemas.openxmlformats.org/officeDocument/2006/relationships/image" Target="../media/image356.png"/><Relationship Id="rId12" Type="http://schemas.openxmlformats.org/officeDocument/2006/relationships/image" Target="../media/image357.png"/><Relationship Id="rId13" Type="http://schemas.openxmlformats.org/officeDocument/2006/relationships/image" Target="../media/image358.png"/><Relationship Id="rId14" Type="http://schemas.openxmlformats.org/officeDocument/2006/relationships/image" Target="../media/image359.png"/><Relationship Id="rId15" Type="http://schemas.openxmlformats.org/officeDocument/2006/relationships/image" Target="../media/image360.png"/><Relationship Id="rId16" Type="http://schemas.openxmlformats.org/officeDocument/2006/relationships/image" Target="../media/image361.png"/><Relationship Id="rId17" Type="http://schemas.openxmlformats.org/officeDocument/2006/relationships/image" Target="../media/image362.png"/><Relationship Id="rId18" Type="http://schemas.openxmlformats.org/officeDocument/2006/relationships/image" Target="../media/image363.png"/><Relationship Id="rId19" Type="http://schemas.openxmlformats.org/officeDocument/2006/relationships/image" Target="../media/image364.png"/><Relationship Id="rId20" Type="http://schemas.openxmlformats.org/officeDocument/2006/relationships/image" Target="../media/image185.png"/><Relationship Id="rId21" Type="http://schemas.openxmlformats.org/officeDocument/2006/relationships/image" Target="../media/image365.png"/><Relationship Id="rId22"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9.xml"/><Relationship Id="rId4" Type="http://schemas.openxmlformats.org/officeDocument/2006/relationships/chart" Target="../charts/chart50.xml"/><Relationship Id="rId5" Type="http://schemas.openxmlformats.org/officeDocument/2006/relationships/notesSlide" Target="../notesSlides/notesSlide65.xml"/><Relationship Id="rId6" Type="http://schemas.openxmlformats.org/officeDocument/2006/relationships/image" Target="../media/image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1.xml"/><Relationship Id="rId4" Type="http://schemas.openxmlformats.org/officeDocument/2006/relationships/chart" Target="../charts/chart52.xml"/><Relationship Id="rId5" Type="http://schemas.openxmlformats.org/officeDocument/2006/relationships/chart" Target="../charts/chart53.xml"/><Relationship Id="rId6" Type="http://schemas.openxmlformats.org/officeDocument/2006/relationships/chart" Target="../charts/chart54.xml"/><Relationship Id="rId7" Type="http://schemas.openxmlformats.org/officeDocument/2006/relationships/notesSlide" Target="../notesSlides/notesSlide66.xml"/><Relationship Id="rId8" Type="http://schemas.openxmlformats.org/officeDocument/2006/relationships/image" Target="../media/image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5.xml"/><Relationship Id="rId4" Type="http://schemas.openxmlformats.org/officeDocument/2006/relationships/chart" Target="../charts/chart56.xml"/><Relationship Id="rId5" Type="http://schemas.openxmlformats.org/officeDocument/2006/relationships/notesSlide" Target="../notesSlides/notesSlide67.xml"/><Relationship Id="rId6" Type="http://schemas.openxmlformats.org/officeDocument/2006/relationships/image" Target="../media/image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9.xml"/><Relationship Id="rId4" Type="http://schemas.openxmlformats.org/officeDocument/2006/relationships/image" Target="../media/image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7.xml"/><Relationship Id="rId4" Type="http://schemas.openxmlformats.org/officeDocument/2006/relationships/notesSlide" Target="../notesSlides/notesSlide70.xml"/><Relationship Id="rId5" Type="http://schemas.openxmlformats.org/officeDocument/2006/relationships/image" Target="../media/image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3.xml"/><Relationship Id="rId4"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8.xml"/><Relationship Id="rId4" Type="http://schemas.openxmlformats.org/officeDocument/2006/relationships/notesSlide" Target="../notesSlides/notesSlide74.xml"/><Relationship Id="rId5" Type="http://schemas.openxmlformats.org/officeDocument/2006/relationships/image" Target="../media/image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 Id="rId4" Type="http://schemas.openxmlformats.org/officeDocument/2006/relationships/image" Target="../media/image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6.xml"/><Relationship Id="rId4" Type="http://schemas.openxmlformats.org/officeDocument/2006/relationships/image" Target="../media/image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9.xml"/><Relationship Id="rId4" Type="http://schemas.openxmlformats.org/officeDocument/2006/relationships/notesSlide" Target="../notesSlides/notesSlide77.xml"/><Relationship Id="rId5" Type="http://schemas.openxmlformats.org/officeDocument/2006/relationships/image" Target="../media/image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 Id="rId4" Type="http://schemas.openxmlformats.org/officeDocument/2006/relationships/image" Target="../media/image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 Id="rId4" Type="http://schemas.openxmlformats.org/officeDocument/2006/relationships/image" Target="../media/image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 Id="rId4" Type="http://schemas.openxmlformats.org/officeDocument/2006/relationships/image" Target="../media/image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0.xml"/><Relationship Id="rId4" Type="http://schemas.openxmlformats.org/officeDocument/2006/relationships/notesSlide" Target="../notesSlides/notesSlide81.xml"/><Relationship Id="rId5" Type="http://schemas.openxmlformats.org/officeDocument/2006/relationships/image" Target="../media/image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 Id="rId4" Type="http://schemas.openxmlformats.org/officeDocument/2006/relationships/image" Target="../media/image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1.xml"/><Relationship Id="rId4" Type="http://schemas.openxmlformats.org/officeDocument/2006/relationships/chart" Target="../charts/chart62.xml"/><Relationship Id="rId5" Type="http://schemas.openxmlformats.org/officeDocument/2006/relationships/notesSlide" Target="../notesSlides/notesSlide84.xml"/><Relationship Id="rId6" Type="http://schemas.openxmlformats.org/officeDocument/2006/relationships/image" Target="../media/image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5.xml"/><Relationship Id="rId4" Type="http://schemas.openxmlformats.org/officeDocument/2006/relationships/image" Target="../media/image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3.xml"/><Relationship Id="rId4" Type="http://schemas.openxmlformats.org/officeDocument/2006/relationships/chart" Target="../charts/chart64.xml"/><Relationship Id="rId5" Type="http://schemas.openxmlformats.org/officeDocument/2006/relationships/notesSlide" Target="../notesSlides/notesSlide86.xml"/><Relationship Id="rId6" Type="http://schemas.openxmlformats.org/officeDocument/2006/relationships/image" Target="../media/image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5.xml"/><Relationship Id="rId4" Type="http://schemas.openxmlformats.org/officeDocument/2006/relationships/chart" Target="../charts/chart66.xml"/><Relationship Id="rId5" Type="http://schemas.openxmlformats.org/officeDocument/2006/relationships/notesSlide" Target="../notesSlides/notesSlide87.xml"/><Relationship Id="rId6" Type="http://schemas.openxmlformats.org/officeDocument/2006/relationships/image" Target="../media/image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7.xml"/><Relationship Id="rId4" Type="http://schemas.openxmlformats.org/officeDocument/2006/relationships/chart" Target="../charts/chart68.xml"/><Relationship Id="rId5" Type="http://schemas.openxmlformats.org/officeDocument/2006/relationships/notesSlide" Target="../notesSlides/notesSlide88.xml"/><Relationship Id="rId6" Type="http://schemas.openxmlformats.org/officeDocument/2006/relationships/image" Target="../media/image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 Id="rId4" Type="http://schemas.openxmlformats.org/officeDocument/2006/relationships/image" Target="../media/image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9.xml"/><Relationship Id="rId4" Type="http://schemas.openxmlformats.org/officeDocument/2006/relationships/notesSlide" Target="../notesSlides/notesSlide90.xml"/><Relationship Id="rId5" Type="http://schemas.openxmlformats.org/officeDocument/2006/relationships/image" Target="../media/image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 Id="rId4" Type="http://schemas.openxmlformats.org/officeDocument/2006/relationships/image" Target="../media/image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0.xml"/><Relationship Id="rId4" Type="http://schemas.openxmlformats.org/officeDocument/2006/relationships/notesSlide" Target="../notesSlides/notesSlide92.xml"/><Relationship Id="rId5" Type="http://schemas.openxmlformats.org/officeDocument/2006/relationships/image" Target="../media/image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3.xml"/><Relationship Id="rId4" Type="http://schemas.openxmlformats.org/officeDocument/2006/relationships/image" Target="../media/image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1.xml"/><Relationship Id="rId4" Type="http://schemas.openxmlformats.org/officeDocument/2006/relationships/notesSlide" Target="../notesSlides/notesSlide94.xml"/><Relationship Id="rId5" Type="http://schemas.openxmlformats.org/officeDocument/2006/relationships/image" Target="../media/image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2.xml"/><Relationship Id="rId4" Type="http://schemas.openxmlformats.org/officeDocument/2006/relationships/notesSlide" Target="../notesSlides/notesSlide95.xml"/><Relationship Id="rId5" Type="http://schemas.openxmlformats.org/officeDocument/2006/relationships/image" Target="../media/image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6.xml"/><Relationship Id="rId4" Type="http://schemas.openxmlformats.org/officeDocument/2006/relationships/image" Target="../media/image2.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7.xml"/><Relationship Id="rId4" Type="http://schemas.openxmlformats.org/officeDocument/2006/relationships/image" Target="../media/image2.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3.xml"/><Relationship Id="rId4" Type="http://schemas.openxmlformats.org/officeDocument/2006/relationships/chart" Target="../charts/chart74.xml"/><Relationship Id="rId5" Type="http://schemas.openxmlformats.org/officeDocument/2006/relationships/notesSlide" Target="../notesSlides/notesSlide98.xml"/><Relationship Id="rId6" Type="http://schemas.openxmlformats.org/officeDocument/2006/relationships/image" Target="../media/image2.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9.xml"/><Relationship Id="rId4" Type="http://schemas.openxmlformats.org/officeDocument/2006/relationships/image" Target="../media/image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0.xml"/><Relationship Id="rId4" Type="http://schemas.openxmlformats.org/officeDocument/2006/relationships/image" Target="../media/image120.png"/><Relationship Id="rId5" Type="http://schemas.openxmlformats.org/officeDocument/2006/relationships/image" Target="../media/image530.png"/><Relationship Id="rId6" Type="http://schemas.openxmlformats.org/officeDocument/2006/relationships/image" Target="../media/image71.png"/><Relationship Id="rId7" Type="http://schemas.openxmlformats.org/officeDocument/2006/relationships/image" Target="../media/image531.png"/><Relationship Id="rId8" Type="http://schemas.openxmlformats.org/officeDocument/2006/relationships/image" Target="../media/image532.png"/><Relationship Id="rId9" Type="http://schemas.openxmlformats.org/officeDocument/2006/relationships/image" Target="../media/image118.png"/><Relationship Id="rId10" Type="http://schemas.openxmlformats.org/officeDocument/2006/relationships/image" Target="../media/image533.png"/><Relationship Id="rId11" Type="http://schemas.openxmlformats.org/officeDocument/2006/relationships/image" Target="../media/image534.png"/><Relationship Id="rId12" Type="http://schemas.openxmlformats.org/officeDocument/2006/relationships/image" Target="../media/image535.png"/><Relationship Id="rId13" Type="http://schemas.openxmlformats.org/officeDocument/2006/relationships/image" Target="../media/image536.png"/><Relationship Id="rId14" Type="http://schemas.openxmlformats.org/officeDocument/2006/relationships/image" Target="../media/image457.png"/><Relationship Id="rId15" Type="http://schemas.openxmlformats.org/officeDocument/2006/relationships/image" Target="../media/image537.png"/><Relationship Id="rId16" Type="http://schemas.openxmlformats.org/officeDocument/2006/relationships/image" Target="../media/image538.png"/><Relationship Id="rId17" Type="http://schemas.openxmlformats.org/officeDocument/2006/relationships/image" Target="../media/image456.png"/><Relationship Id="rId18" Type="http://schemas.openxmlformats.org/officeDocument/2006/relationships/image" Target="../media/image363.png"/><Relationship Id="rId19" Type="http://schemas.openxmlformats.org/officeDocument/2006/relationships/image" Target="../media/image539.png"/><Relationship Id="rId20" Type="http://schemas.openxmlformats.org/officeDocument/2006/relationships/image" Target="../media/image455.png"/><Relationship Id="rId21" Type="http://schemas.openxmlformats.org/officeDocument/2006/relationships/image" Target="../media/image540.png"/><Relationship Id="rId22" Type="http://schemas.openxmlformats.org/officeDocument/2006/relationships/image" Target="../media/image2.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5.xml"/><Relationship Id="rId4" Type="http://schemas.openxmlformats.org/officeDocument/2006/relationships/chart" Target="../charts/chart76.xml"/><Relationship Id="rId5" Type="http://schemas.openxmlformats.org/officeDocument/2006/relationships/notesSlide" Target="../notesSlides/notesSlide101.xml"/><Relationship Id="rId6" Type="http://schemas.openxmlformats.org/officeDocument/2006/relationships/image" Target="../media/image2.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7.xml"/><Relationship Id="rId4" Type="http://schemas.openxmlformats.org/officeDocument/2006/relationships/chart" Target="../charts/chart78.xml"/><Relationship Id="rId5" Type="http://schemas.openxmlformats.org/officeDocument/2006/relationships/chart" Target="../charts/chart79.xml"/><Relationship Id="rId6" Type="http://schemas.openxmlformats.org/officeDocument/2006/relationships/chart" Target="../charts/chart80.xml"/><Relationship Id="rId7" Type="http://schemas.openxmlformats.org/officeDocument/2006/relationships/notesSlide" Target="../notesSlides/notesSlide102.xml"/><Relationship Id="rId8" Type="http://schemas.openxmlformats.org/officeDocument/2006/relationships/image" Target="../media/image2.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1.xml"/><Relationship Id="rId4" Type="http://schemas.openxmlformats.org/officeDocument/2006/relationships/chart" Target="../charts/chart82.xml"/><Relationship Id="rId5" Type="http://schemas.openxmlformats.org/officeDocument/2006/relationships/notesSlide" Target="../notesSlides/notesSlide103.xml"/><Relationship Id="rId6" Type="http://schemas.openxmlformats.org/officeDocument/2006/relationships/image" Target="../media/image2.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5.xml"/><Relationship Id="rId4" Type="http://schemas.openxmlformats.org/officeDocument/2006/relationships/image" Target="../media/image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3.xml"/><Relationship Id="rId4" Type="http://schemas.openxmlformats.org/officeDocument/2006/relationships/notesSlide" Target="../notesSlides/notesSlide106.xml"/><Relationship Id="rId5" Type="http://schemas.openxmlformats.org/officeDocument/2006/relationships/image" Target="../media/image2.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9.xml"/><Relationship Id="rId4" Type="http://schemas.openxmlformats.org/officeDocument/2006/relationships/image" Target="../media/image571.png"/><Relationship Id="rId5" Type="http://schemas.openxmlformats.org/officeDocument/2006/relationships/image" Target="../media/image572.png"/><Relationship Id="rId6" Type="http://schemas.openxmlformats.org/officeDocument/2006/relationships/image" Target="../media/image71.png"/><Relationship Id="rId7" Type="http://schemas.openxmlformats.org/officeDocument/2006/relationships/image" Target="../media/image573.png"/><Relationship Id="rId8" Type="http://schemas.openxmlformats.org/officeDocument/2006/relationships/image" Target="../media/image574.png"/><Relationship Id="rId9" Type="http://schemas.openxmlformats.org/officeDocument/2006/relationships/image" Target="../media/image80.png"/><Relationship Id="rId10" Type="http://schemas.openxmlformats.org/officeDocument/2006/relationships/image" Target="../media/image575.png"/><Relationship Id="rId11" Type="http://schemas.openxmlformats.org/officeDocument/2006/relationships/image" Target="../media/image576.png"/><Relationship Id="rId12" Type="http://schemas.openxmlformats.org/officeDocument/2006/relationships/image" Target="../media/image577.png"/><Relationship Id="rId13" Type="http://schemas.openxmlformats.org/officeDocument/2006/relationships/image" Target="../media/image578.png"/><Relationship Id="rId14" Type="http://schemas.openxmlformats.org/officeDocument/2006/relationships/image" Target="../media/image579.png"/><Relationship Id="rId15" Type="http://schemas.openxmlformats.org/officeDocument/2006/relationships/image" Target="../media/image365.png"/><Relationship Id="rId16" Type="http://schemas.openxmlformats.org/officeDocument/2006/relationships/image" Target="../media/image580.png"/><Relationship Id="rId17" Type="http://schemas.openxmlformats.org/officeDocument/2006/relationships/image" Target="../media/image581.png"/><Relationship Id="rId18" Type="http://schemas.openxmlformats.org/officeDocument/2006/relationships/image" Target="../media/image582.png"/><Relationship Id="rId19" Type="http://schemas.openxmlformats.org/officeDocument/2006/relationships/image" Target="../media/image583.png"/><Relationship Id="rId20" Type="http://schemas.openxmlformats.org/officeDocument/2006/relationships/image" Target="../media/image584.png"/><Relationship Id="rId21" Type="http://schemas.openxmlformats.org/officeDocument/2006/relationships/image" Target="../media/image118.png"/><Relationship Id="rId22" Type="http://schemas.openxmlformats.org/officeDocument/2006/relationships/image" Target="../media/image2.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4.xml"/><Relationship Id="rId4" Type="http://schemas.openxmlformats.org/officeDocument/2006/relationships/chart" Target="../charts/chart85.xml"/><Relationship Id="rId5" Type="http://schemas.openxmlformats.org/officeDocument/2006/relationships/notesSlide" Target="../notesSlides/notesSlide110.xml"/><Relationship Id="rId6" Type="http://schemas.openxmlformats.org/officeDocument/2006/relationships/image" Target="../media/image2.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6.xml"/><Relationship Id="rId4" Type="http://schemas.openxmlformats.org/officeDocument/2006/relationships/chart" Target="../charts/chart87.xml"/><Relationship Id="rId5" Type="http://schemas.openxmlformats.org/officeDocument/2006/relationships/chart" Target="../charts/chart88.xml"/><Relationship Id="rId6" Type="http://schemas.openxmlformats.org/officeDocument/2006/relationships/chart" Target="../charts/chart89.xml"/><Relationship Id="rId7" Type="http://schemas.openxmlformats.org/officeDocument/2006/relationships/notesSlide" Target="../notesSlides/notesSlide111.xml"/><Relationship Id="rId8" Type="http://schemas.openxmlformats.org/officeDocument/2006/relationships/image" Target="../media/image2.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0.xml"/><Relationship Id="rId4" Type="http://schemas.openxmlformats.org/officeDocument/2006/relationships/chart" Target="../charts/chart91.xml"/><Relationship Id="rId5" Type="http://schemas.openxmlformats.org/officeDocument/2006/relationships/notesSlide" Target="../notesSlides/notesSlide112.xml"/><Relationship Id="rId6" Type="http://schemas.openxmlformats.org/officeDocument/2006/relationships/image" Target="../media/image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5.xml"/><Relationship Id="rId4" Type="http://schemas.openxmlformats.org/officeDocument/2006/relationships/image" Target="../media/image2.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6.xml"/><Relationship Id="rId4" Type="http://schemas.openxmlformats.org/officeDocument/2006/relationships/image" Target="../media/image2.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2.xml"/><Relationship Id="rId4" Type="http://schemas.openxmlformats.org/officeDocument/2006/relationships/notesSlide" Target="../notesSlides/notesSlide117.xml"/><Relationship Id="rId5" Type="http://schemas.openxmlformats.org/officeDocument/2006/relationships/image" Target="../media/image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2.xml"/><Relationship Id="rId4" Type="http://schemas.openxmlformats.org/officeDocument/2006/relationships/image" Target="../media/image613.png"/><Relationship Id="rId5" Type="http://schemas.openxmlformats.org/officeDocument/2006/relationships/image" Target="../media/image614.png"/><Relationship Id="rId6" Type="http://schemas.openxmlformats.org/officeDocument/2006/relationships/image" Target="../media/image540.png"/><Relationship Id="rId7" Type="http://schemas.openxmlformats.org/officeDocument/2006/relationships/image" Target="../media/image615.png"/><Relationship Id="rId8" Type="http://schemas.openxmlformats.org/officeDocument/2006/relationships/image" Target="../media/image616.png"/><Relationship Id="rId9" Type="http://schemas.openxmlformats.org/officeDocument/2006/relationships/image" Target="../media/image92.png"/><Relationship Id="rId10" Type="http://schemas.openxmlformats.org/officeDocument/2006/relationships/image" Target="../media/image617.png"/><Relationship Id="rId11" Type="http://schemas.openxmlformats.org/officeDocument/2006/relationships/image" Target="../media/image618.png"/><Relationship Id="rId12" Type="http://schemas.openxmlformats.org/officeDocument/2006/relationships/image" Target="../media/image619.png"/><Relationship Id="rId13" Type="http://schemas.openxmlformats.org/officeDocument/2006/relationships/image" Target="../media/image620.png"/><Relationship Id="rId14" Type="http://schemas.openxmlformats.org/officeDocument/2006/relationships/image" Target="../media/image621.png"/><Relationship Id="rId15" Type="http://schemas.openxmlformats.org/officeDocument/2006/relationships/image" Target="../media/image622.png"/><Relationship Id="rId16" Type="http://schemas.openxmlformats.org/officeDocument/2006/relationships/image" Target="../media/image2.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3.xml"/><Relationship Id="rId4" Type="http://schemas.openxmlformats.org/officeDocument/2006/relationships/chart" Target="../charts/chart94.xml"/><Relationship Id="rId5" Type="http://schemas.openxmlformats.org/officeDocument/2006/relationships/notesSlide" Target="../notesSlides/notesSlide123.xml"/><Relationship Id="rId6" Type="http://schemas.openxmlformats.org/officeDocument/2006/relationships/image" Target="../media/image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5.xml"/><Relationship Id="rId4" Type="http://schemas.openxmlformats.org/officeDocument/2006/relationships/chart" Target="../charts/chart96.xml"/><Relationship Id="rId5" Type="http://schemas.openxmlformats.org/officeDocument/2006/relationships/chart" Target="../charts/chart97.xml"/><Relationship Id="rId6" Type="http://schemas.openxmlformats.org/officeDocument/2006/relationships/chart" Target="../charts/chart98.xml"/><Relationship Id="rId7" Type="http://schemas.openxmlformats.org/officeDocument/2006/relationships/notesSlide" Target="../notesSlides/notesSlide124.xml"/><Relationship Id="rId8" Type="http://schemas.openxmlformats.org/officeDocument/2006/relationships/image" Target="../media/image2.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6.xml"/><Relationship Id="rId4" Type="http://schemas.openxmlformats.org/officeDocument/2006/relationships/image" Target="../media/image2.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9.xml"/><Relationship Id="rId4" Type="http://schemas.openxmlformats.org/officeDocument/2006/relationships/notesSlide" Target="../notesSlides/notesSlide127.xml"/><Relationship Id="rId5" Type="http://schemas.openxmlformats.org/officeDocument/2006/relationships/image" Target="../media/image2.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0.xml"/><Relationship Id="rId4" Type="http://schemas.openxmlformats.org/officeDocument/2006/relationships/image" Target="../media/image643.png"/><Relationship Id="rId5" Type="http://schemas.openxmlformats.org/officeDocument/2006/relationships/image" Target="../media/image644.png"/><Relationship Id="rId6" Type="http://schemas.openxmlformats.org/officeDocument/2006/relationships/image" Target="../media/image540.png"/><Relationship Id="rId7" Type="http://schemas.openxmlformats.org/officeDocument/2006/relationships/image" Target="../media/image645.png"/><Relationship Id="rId8" Type="http://schemas.openxmlformats.org/officeDocument/2006/relationships/image" Target="../media/image646.png"/><Relationship Id="rId9" Type="http://schemas.openxmlformats.org/officeDocument/2006/relationships/image" Target="../media/image647.png"/><Relationship Id="rId10" Type="http://schemas.openxmlformats.org/officeDocument/2006/relationships/image" Target="../media/image648.png"/><Relationship Id="rId11" Type="http://schemas.openxmlformats.org/officeDocument/2006/relationships/image" Target="../media/image649.png"/><Relationship Id="rId12" Type="http://schemas.openxmlformats.org/officeDocument/2006/relationships/image" Target="../media/image239.png"/><Relationship Id="rId13" Type="http://schemas.openxmlformats.org/officeDocument/2006/relationships/image" Target="../media/image650.png"/><Relationship Id="rId14" Type="http://schemas.openxmlformats.org/officeDocument/2006/relationships/image" Target="../media/image651.png"/><Relationship Id="rId15" Type="http://schemas.openxmlformats.org/officeDocument/2006/relationships/image" Target="../media/image652.png"/><Relationship Id="rId16" Type="http://schemas.openxmlformats.org/officeDocument/2006/relationships/image" Target="../media/image653.png"/><Relationship Id="rId17" Type="http://schemas.openxmlformats.org/officeDocument/2006/relationships/image" Target="../media/image654.png"/><Relationship Id="rId18" Type="http://schemas.openxmlformats.org/officeDocument/2006/relationships/image" Target="../media/image655.png"/><Relationship Id="rId19" Type="http://schemas.openxmlformats.org/officeDocument/2006/relationships/image" Target="../media/image656.png"/><Relationship Id="rId20" Type="http://schemas.openxmlformats.org/officeDocument/2006/relationships/image" Target="../media/image657.png"/><Relationship Id="rId21" Type="http://schemas.openxmlformats.org/officeDocument/2006/relationships/image" Target="../media/image658.png"/><Relationship Id="rId22" Type="http://schemas.openxmlformats.org/officeDocument/2006/relationships/image" Target="../media/image2.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0.xml"/><Relationship Id="rId4" Type="http://schemas.openxmlformats.org/officeDocument/2006/relationships/chart" Target="../charts/chart101.xml"/><Relationship Id="rId5" Type="http://schemas.openxmlformats.org/officeDocument/2006/relationships/notesSlide" Target="../notesSlides/notesSlide131.xml"/><Relationship Id="rId6" Type="http://schemas.openxmlformats.org/officeDocument/2006/relationships/image" Target="../media/image2.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2.xml"/><Relationship Id="rId4" Type="http://schemas.openxmlformats.org/officeDocument/2006/relationships/chart" Target="../charts/chart103.xml"/><Relationship Id="rId5" Type="http://schemas.openxmlformats.org/officeDocument/2006/relationships/chart" Target="../charts/chart104.xml"/><Relationship Id="rId6" Type="http://schemas.openxmlformats.org/officeDocument/2006/relationships/chart" Target="../charts/chart105.xml"/><Relationship Id="rId7" Type="http://schemas.openxmlformats.org/officeDocument/2006/relationships/notesSlide" Target="../notesSlides/notesSlide132.xml"/><Relationship Id="rId8" Type="http://schemas.openxmlformats.org/officeDocument/2006/relationships/image" Target="../media/image2.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6.xml"/><Relationship Id="rId4" Type="http://schemas.openxmlformats.org/officeDocument/2006/relationships/chart" Target="../charts/chart107.xml"/><Relationship Id="rId5" Type="http://schemas.openxmlformats.org/officeDocument/2006/relationships/notesSlide" Target="../notesSlides/notesSlide133.xml"/><Relationship Id="rId6" Type="http://schemas.openxmlformats.org/officeDocument/2006/relationships/image" Target="../media/image2.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5.xml"/><Relationship Id="rId4" Type="http://schemas.openxmlformats.org/officeDocument/2006/relationships/image" Target="../media/image2.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8.xml"/><Relationship Id="rId4" Type="http://schemas.openxmlformats.org/officeDocument/2006/relationships/notesSlide" Target="../notesSlides/notesSlide136.xml"/><Relationship Id="rId5" Type="http://schemas.openxmlformats.org/officeDocument/2006/relationships/image" Target="../media/image2.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9.xml"/><Relationship Id="rId4" Type="http://schemas.openxmlformats.org/officeDocument/2006/relationships/image" Target="../media/image689.png"/><Relationship Id="rId5" Type="http://schemas.openxmlformats.org/officeDocument/2006/relationships/image" Target="../media/image690.png"/><Relationship Id="rId6" Type="http://schemas.openxmlformats.org/officeDocument/2006/relationships/image" Target="../media/image365.png"/><Relationship Id="rId7" Type="http://schemas.openxmlformats.org/officeDocument/2006/relationships/image" Target="../media/image691.png"/><Relationship Id="rId8" Type="http://schemas.openxmlformats.org/officeDocument/2006/relationships/image" Target="../media/image692.png"/><Relationship Id="rId9" Type="http://schemas.openxmlformats.org/officeDocument/2006/relationships/image" Target="../media/image363.png"/><Relationship Id="rId10" Type="http://schemas.openxmlformats.org/officeDocument/2006/relationships/image" Target="../media/image693.png"/><Relationship Id="rId11" Type="http://schemas.openxmlformats.org/officeDocument/2006/relationships/image" Target="../media/image694.png"/><Relationship Id="rId12" Type="http://schemas.openxmlformats.org/officeDocument/2006/relationships/image" Target="../media/image695.png"/><Relationship Id="rId13" Type="http://schemas.openxmlformats.org/officeDocument/2006/relationships/image" Target="../media/image696.png"/><Relationship Id="rId14" Type="http://schemas.openxmlformats.org/officeDocument/2006/relationships/image" Target="../media/image697.png"/><Relationship Id="rId15" Type="http://schemas.openxmlformats.org/officeDocument/2006/relationships/image" Target="../media/image698.png"/><Relationship Id="rId16" Type="http://schemas.openxmlformats.org/officeDocument/2006/relationships/image" Target="../media/image699.png"/><Relationship Id="rId17" Type="http://schemas.openxmlformats.org/officeDocument/2006/relationships/image" Target="../media/image700.png"/><Relationship Id="rId18" Type="http://schemas.openxmlformats.org/officeDocument/2006/relationships/image" Target="../media/image701.png"/><Relationship Id="rId19" Type="http://schemas.openxmlformats.org/officeDocument/2006/relationships/image" Target="../media/image702.png"/><Relationship Id="rId20" Type="http://schemas.openxmlformats.org/officeDocument/2006/relationships/image" Target="../media/image703.png"/><Relationship Id="rId21" Type="http://schemas.openxmlformats.org/officeDocument/2006/relationships/image" Target="../media/image704.png"/><Relationship Id="rId22" Type="http://schemas.openxmlformats.org/officeDocument/2006/relationships/image" Target="../media/image2.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9.xml"/><Relationship Id="rId4" Type="http://schemas.openxmlformats.org/officeDocument/2006/relationships/chart" Target="../charts/chart110.xml"/><Relationship Id="rId5" Type="http://schemas.openxmlformats.org/officeDocument/2006/relationships/notesSlide" Target="../notesSlides/notesSlide140.xml"/><Relationship Id="rId6" Type="http://schemas.openxmlformats.org/officeDocument/2006/relationships/image" Target="../media/image2.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1.xml"/><Relationship Id="rId4" Type="http://schemas.openxmlformats.org/officeDocument/2006/relationships/chart" Target="../charts/chart112.xml"/><Relationship Id="rId5" Type="http://schemas.openxmlformats.org/officeDocument/2006/relationships/chart" Target="../charts/chart113.xml"/><Relationship Id="rId6" Type="http://schemas.openxmlformats.org/officeDocument/2006/relationships/chart" Target="../charts/chart114.xml"/><Relationship Id="rId7" Type="http://schemas.openxmlformats.org/officeDocument/2006/relationships/notesSlide" Target="../notesSlides/notesSlide141.xml"/><Relationship Id="rId8" Type="http://schemas.openxmlformats.org/officeDocument/2006/relationships/image" Target="../media/image2.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5.xml"/><Relationship Id="rId4" Type="http://schemas.openxmlformats.org/officeDocument/2006/relationships/chart" Target="../charts/chart116.xml"/><Relationship Id="rId5" Type="http://schemas.openxmlformats.org/officeDocument/2006/relationships/notesSlide" Target="../notesSlides/notesSlide142.xml"/><Relationship Id="rId6" Type="http://schemas.openxmlformats.org/officeDocument/2006/relationships/image" Target="../media/image2.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4.xml"/><Relationship Id="rId4" Type="http://schemas.openxmlformats.org/officeDocument/2006/relationships/image" Target="../media/image2.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7.xml"/><Relationship Id="rId4" Type="http://schemas.openxmlformats.org/officeDocument/2006/relationships/notesSlide" Target="../notesSlides/notesSlide145.xml"/><Relationship Id="rId5" Type="http://schemas.openxmlformats.org/officeDocument/2006/relationships/image" Target="../media/image2.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8.xml"/><Relationship Id="rId4" Type="http://schemas.openxmlformats.org/officeDocument/2006/relationships/image" Target="../media/image2.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8.xml"/><Relationship Id="rId4" Type="http://schemas.openxmlformats.org/officeDocument/2006/relationships/notesSlide" Target="../notesSlides/notesSlide149.xml"/><Relationship Id="rId5" Type="http://schemas.openxmlformats.org/officeDocument/2006/relationships/image" Target="../media/image2.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0.xml"/><Relationship Id="rId4" Type="http://schemas.openxmlformats.org/officeDocument/2006/relationships/image" Target="../media/image2.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1.xml"/><Relationship Id="rId4" Type="http://schemas.openxmlformats.org/officeDocument/2006/relationships/image" Target="../media/image2.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9.xml"/><Relationship Id="rId4" Type="http://schemas.openxmlformats.org/officeDocument/2006/relationships/notesSlide" Target="../notesSlides/notesSlide152.xml"/><Relationship Id="rId5" Type="http://schemas.openxmlformats.org/officeDocument/2006/relationships/image" Target="../media/image2.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3.xml"/><Relationship Id="rId4" Type="http://schemas.openxmlformats.org/officeDocument/2006/relationships/image" Target="../media/image2.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4.xml"/><Relationship Id="rId4" Type="http://schemas.openxmlformats.org/officeDocument/2006/relationships/image" Target="../media/image2.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5.xml"/><Relationship Id="rId4" Type="http://schemas.openxmlformats.org/officeDocument/2006/relationships/image" Target="../media/image2.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0.xml"/><Relationship Id="rId4" Type="http://schemas.openxmlformats.org/officeDocument/2006/relationships/notesSlide" Target="../notesSlides/notesSlide156.xml"/><Relationship Id="rId5" Type="http://schemas.openxmlformats.org/officeDocument/2006/relationships/image" Target="../media/image2.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7.xml"/><Relationship Id="rId4" Type="http://schemas.openxmlformats.org/officeDocument/2006/relationships/image" Target="../media/image2.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8.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1.xml"/><Relationship Id="rId4" Type="http://schemas.openxmlformats.org/officeDocument/2006/relationships/chart" Target="../charts/chart122.xml"/><Relationship Id="rId5" Type="http://schemas.openxmlformats.org/officeDocument/2006/relationships/chart" Target="../charts/chart123.xml"/><Relationship Id="rId6" Type="http://schemas.openxmlformats.org/officeDocument/2006/relationships/chart" Target="../charts/chart124.xml"/><Relationship Id="rId7" Type="http://schemas.openxmlformats.org/officeDocument/2006/relationships/notesSlide" Target="../notesSlides/notesSlide159.xml"/><Relationship Id="rId8" Type="http://schemas.openxmlformats.org/officeDocument/2006/relationships/image" Target="../media/image2.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5.xml"/><Relationship Id="rId4" Type="http://schemas.openxmlformats.org/officeDocument/2006/relationships/chart" Target="../charts/chart126.xml"/><Relationship Id="rId5" Type="http://schemas.openxmlformats.org/officeDocument/2006/relationships/chart" Target="../charts/chart127.xml"/><Relationship Id="rId6" Type="http://schemas.openxmlformats.org/officeDocument/2006/relationships/chart" Target="../charts/chart128.xml"/><Relationship Id="rId7" Type="http://schemas.openxmlformats.org/officeDocument/2006/relationships/notesSlide" Target="../notesSlides/notesSlide160.xml"/><Relationship Id="rId8" Type="http://schemas.openxmlformats.org/officeDocument/2006/relationships/image" Target="../media/image2.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9.xml"/><Relationship Id="rId4" Type="http://schemas.openxmlformats.org/officeDocument/2006/relationships/chart" Target="../charts/chart130.xml"/><Relationship Id="rId5" Type="http://schemas.openxmlformats.org/officeDocument/2006/relationships/chart" Target="../charts/chart131.xml"/><Relationship Id="rId6" Type="http://schemas.openxmlformats.org/officeDocument/2006/relationships/chart" Target="../charts/chart132.xml"/><Relationship Id="rId7" Type="http://schemas.openxmlformats.org/officeDocument/2006/relationships/chart" Target="../charts/chart133.xml"/><Relationship Id="rId8" Type="http://schemas.openxmlformats.org/officeDocument/2006/relationships/notesSlide" Target="../notesSlides/notesSlide161.xml"/><Relationship Id="rId9" Type="http://schemas.openxmlformats.org/officeDocument/2006/relationships/image" Target="../media/image2.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4.xml"/><Relationship Id="rId4" Type="http://schemas.openxmlformats.org/officeDocument/2006/relationships/chart" Target="../charts/chart135.xml"/><Relationship Id="rId5" Type="http://schemas.openxmlformats.org/officeDocument/2006/relationships/notesSlide" Target="../notesSlides/notesSlide162.xml"/><Relationship Id="rId6" Type="http://schemas.openxmlformats.org/officeDocument/2006/relationships/image" Target="../media/image2.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3.xml"/><Relationship Id="rId4" Type="http://schemas.openxmlformats.org/officeDocument/2006/relationships/image" Target="../media/image2.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6.xml"/><Relationship Id="rId4" Type="http://schemas.openxmlformats.org/officeDocument/2006/relationships/chart" Target="../charts/chart137.xml"/><Relationship Id="rId5" Type="http://schemas.openxmlformats.org/officeDocument/2006/relationships/notesSlide" Target="../notesSlides/notesSlide165.xml"/><Relationship Id="rId6" Type="http://schemas.openxmlformats.org/officeDocument/2006/relationships/image" Target="../media/image2.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6.xml"/><Relationship Id="rId4" Type="http://schemas.openxmlformats.org/officeDocument/2006/relationships/image" Target="../media/image2.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7.xml"/><Relationship Id="rId4" Type="http://schemas.openxmlformats.org/officeDocument/2006/relationships/image" Target="../media/image2.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8.xml"/><Relationship Id="rId4" Type="http://schemas.openxmlformats.org/officeDocument/2006/relationships/image" Target="../media/image2.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8.xml"/><Relationship Id="rId4" Type="http://schemas.openxmlformats.org/officeDocument/2006/relationships/chart" Target="../charts/chart139.xml"/><Relationship Id="rId5" Type="http://schemas.openxmlformats.org/officeDocument/2006/relationships/notesSlide" Target="../notesSlides/notesSlide172.xml"/><Relationship Id="rId6" Type="http://schemas.openxmlformats.org/officeDocument/2006/relationships/image" Target="../media/image2.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3.xml"/><Relationship Id="rId4" Type="http://schemas.openxmlformats.org/officeDocument/2006/relationships/image" Target="../media/image2.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0.xml"/><Relationship Id="rId4" Type="http://schemas.openxmlformats.org/officeDocument/2006/relationships/chart" Target="../charts/chart141.xml"/><Relationship Id="rId5" Type="http://schemas.openxmlformats.org/officeDocument/2006/relationships/notesSlide" Target="../notesSlides/notesSlide175.xml"/><Relationship Id="rId6" Type="http://schemas.openxmlformats.org/officeDocument/2006/relationships/image" Target="../media/image2.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6.xml"/><Relationship Id="rId4" Type="http://schemas.openxmlformats.org/officeDocument/2006/relationships/image" Target="../media/image2.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2.xml"/><Relationship Id="rId4" Type="http://schemas.openxmlformats.org/officeDocument/2006/relationships/chart" Target="../charts/chart143.xml"/><Relationship Id="rId5" Type="http://schemas.openxmlformats.org/officeDocument/2006/relationships/notesSlide" Target="../notesSlides/notesSlide178.xml"/><Relationship Id="rId6" Type="http://schemas.openxmlformats.org/officeDocument/2006/relationships/image" Target="../media/image2.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9.xml"/><Relationship Id="rId4" Type="http://schemas.openxmlformats.org/officeDocument/2006/relationships/image" Target="../media/image2.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2.xml"/><Relationship Id="rId4" Type="http://schemas.openxmlformats.org/officeDocument/2006/relationships/image" Target="../media/image2.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4.xml"/><Relationship Id="rId4" Type="http://schemas.openxmlformats.org/officeDocument/2006/relationships/chart" Target="../charts/chart145.xml"/><Relationship Id="rId5" Type="http://schemas.openxmlformats.org/officeDocument/2006/relationships/notesSlide" Target="../notesSlides/notesSlide183.xml"/><Relationship Id="rId6" Type="http://schemas.openxmlformats.org/officeDocument/2006/relationships/image" Target="../media/image2.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6.xml"/><Relationship Id="rId4" Type="http://schemas.openxmlformats.org/officeDocument/2006/relationships/notesSlide" Target="../notesSlides/notesSlide184.xml"/><Relationship Id="rId5" Type="http://schemas.openxmlformats.org/officeDocument/2006/relationships/image" Target="../media/image2.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7.xml"/><Relationship Id="rId4" Type="http://schemas.openxmlformats.org/officeDocument/2006/relationships/notesSlide" Target="../notesSlides/notesSlide185.xml"/><Relationship Id="rId5" Type="http://schemas.openxmlformats.org/officeDocument/2006/relationships/image" Target="../media/image2.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6.xml"/><Relationship Id="rId4" Type="http://schemas.openxmlformats.org/officeDocument/2006/relationships/image" Target="../media/image2.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7.xml"/><Relationship Id="rId4" Type="http://schemas.openxmlformats.org/officeDocument/2006/relationships/image" Target="../media/image2.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8.xml"/><Relationship Id="rId4" Type="http://schemas.openxmlformats.org/officeDocument/2006/relationships/image" Target="../media/image2.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9.xml"/><Relationship Id="rId4" Type="http://schemas.openxmlformats.org/officeDocument/2006/relationships/image" Target="../media/image2.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0.xml"/><Relationship Id="rId4" Type="http://schemas.openxmlformats.org/officeDocument/2006/relationships/image" Target="../media/image2.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1.xml"/><Relationship Id="rId4" Type="http://schemas.openxmlformats.org/officeDocument/2006/relationships/image" Target="../media/image2.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2.xml"/><Relationship Id="rId4" Type="http://schemas.openxmlformats.org/officeDocument/2006/relationships/image" Target="../media/image2.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3.xml"/><Relationship Id="rId4" Type="http://schemas.openxmlformats.org/officeDocument/2006/relationships/image" Target="../media/image2.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5.xml"/><Relationship Id="rId4" Type="http://schemas.openxmlformats.org/officeDocument/2006/relationships/image" Target="../media/image2.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6.xml"/><Relationship Id="rId4" Type="http://schemas.openxmlformats.org/officeDocument/2006/relationships/image" Target="../media/image2.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7.xml"/><Relationship Id="rId4" Type="http://schemas.openxmlformats.org/officeDocument/2006/relationships/image" Target="../media/image2.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8.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9.xml"/><Relationship Id="rId4" Type="http://schemas.openxmlformats.org/officeDocument/2006/relationships/image" Target="../media/image2.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0.xml"/><Relationship Id="rId4" Type="http://schemas.openxmlformats.org/officeDocument/2006/relationships/image" Target="../media/image2.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1.xml"/><Relationship Id="rId4" Type="http://schemas.openxmlformats.org/officeDocument/2006/relationships/image" Target="../media/image2.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2.xml"/><Relationship Id="rId4" Type="http://schemas.openxmlformats.org/officeDocument/2006/relationships/image" Target="../media/image2.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3.xml"/><Relationship Id="rId4" Type="http://schemas.openxmlformats.org/officeDocument/2006/relationships/image" Target="../media/image2.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4.xml"/><Relationship Id="rId4" Type="http://schemas.openxmlformats.org/officeDocument/2006/relationships/image" Target="../media/image2.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5.xml"/><Relationship Id="rId4" Type="http://schemas.openxmlformats.org/officeDocument/2006/relationships/image" Target="../media/image2.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6.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0.xml"/><Relationship Id="rId4" Type="http://schemas.openxmlformats.org/officeDocument/2006/relationships/image" Target="../media/image2.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8.xml"/><Relationship Id="rId4" Type="http://schemas.openxmlformats.org/officeDocument/2006/relationships/notesSlide" Target="../notesSlides/notesSlide221.xml"/><Relationship Id="rId5" Type="http://schemas.openxmlformats.org/officeDocument/2006/relationships/image" Target="../media/image2.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9.xml"/><Relationship Id="rId4" Type="http://schemas.openxmlformats.org/officeDocument/2006/relationships/chart" Target="../charts/chart150.xml"/><Relationship Id="rId5" Type="http://schemas.openxmlformats.org/officeDocument/2006/relationships/chart" Target="../charts/chart151.xml"/><Relationship Id="rId6" Type="http://schemas.openxmlformats.org/officeDocument/2006/relationships/notesSlide" Target="../notesSlides/notesSlide222.xml"/><Relationship Id="rId7" Type="http://schemas.openxmlformats.org/officeDocument/2006/relationships/image" Target="../media/image2.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2.xml"/><Relationship Id="rId4" Type="http://schemas.openxmlformats.org/officeDocument/2006/relationships/chart" Target="../charts/chart153.xml"/><Relationship Id="rId5" Type="http://schemas.openxmlformats.org/officeDocument/2006/relationships/chart" Target="../charts/chart154.xml"/><Relationship Id="rId6" Type="http://schemas.openxmlformats.org/officeDocument/2006/relationships/notesSlide" Target="../notesSlides/notesSlide223.xml"/><Relationship Id="rId7" Type="http://schemas.openxmlformats.org/officeDocument/2006/relationships/image" Target="../media/image2.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4.xml"/><Relationship Id="rId4" Type="http://schemas.openxmlformats.org/officeDocument/2006/relationships/image" Target="../media/image2.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5.xml"/><Relationship Id="rId4" Type="http://schemas.openxmlformats.org/officeDocument/2006/relationships/chart" Target="../charts/chart156.xml"/><Relationship Id="rId5" Type="http://schemas.openxmlformats.org/officeDocument/2006/relationships/chart" Target="../charts/chart157.xml"/><Relationship Id="rId6" Type="http://schemas.openxmlformats.org/officeDocument/2006/relationships/notesSlide" Target="../notesSlides/notesSlide225.xml"/><Relationship Id="rId7" Type="http://schemas.openxmlformats.org/officeDocument/2006/relationships/image" Target="../media/image2.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8.xml"/><Relationship Id="rId4" Type="http://schemas.openxmlformats.org/officeDocument/2006/relationships/notesSlide" Target="../notesSlides/notesSlide226.xml"/><Relationship Id="rId5" Type="http://schemas.openxmlformats.org/officeDocument/2006/relationships/image" Target="../media/image2.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7.xml"/><Relationship Id="rId4" Type="http://schemas.openxmlformats.org/officeDocument/2006/relationships/image" Target="../media/image2.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8.xml"/><Relationship Id="rId4" Type="http://schemas.openxmlformats.org/officeDocument/2006/relationships/image" Target="../media/image2.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9.xml"/><Relationship Id="rId4" Type="http://schemas.openxmlformats.org/officeDocument/2006/relationships/image" Target="../media/image2.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7.xml"/><Relationship Id="rId4" Type="http://schemas.openxmlformats.org/officeDocument/2006/relationships/image" Target="../media/image2.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8.xml"/><Relationship Id="rId4" Type="http://schemas.openxmlformats.org/officeDocument/2006/relationships/image" Target="../media/image2.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9.xml"/><Relationship Id="rId4" Type="http://schemas.openxmlformats.org/officeDocument/2006/relationships/image" Target="../media/image2.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0.xml"/><Relationship Id="rId4" Type="http://schemas.openxmlformats.org/officeDocument/2006/relationships/image" Target="../media/image2.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1.xml"/><Relationship Id="rId4" Type="http://schemas.openxmlformats.org/officeDocument/2006/relationships/image" Target="../media/image2.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2.xml"/><Relationship Id="rId4" Type="http://schemas.openxmlformats.org/officeDocument/2006/relationships/image" Target="../media/image2.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3.xml"/><Relationship Id="rId4" Type="http://schemas.openxmlformats.org/officeDocument/2006/relationships/image" Target="../media/image2.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4.xml"/><Relationship Id="rId4" Type="http://schemas.openxmlformats.org/officeDocument/2006/relationships/image" Target="../media/image2.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5.xml"/><Relationship Id="rId4" Type="http://schemas.openxmlformats.org/officeDocument/2006/relationships/image" Target="../media/image2.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6.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7.xml"/><Relationship Id="rId4" Type="http://schemas.openxmlformats.org/officeDocument/2006/relationships/image" Target="../media/image2.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8.xml"/><Relationship Id="rId4" Type="http://schemas.openxmlformats.org/officeDocument/2006/relationships/image" Target="../media/image2.pn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9.xml"/><Relationship Id="rId4" Type="http://schemas.openxmlformats.org/officeDocument/2006/relationships/image" Target="../media/image2.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3.png"/><Relationship Id="rId3" Type="http://schemas.openxmlformats.org/officeDocument/2006/relationships/image" Target="../media/image834.png"/><Relationship Id="rId4" Type="http://schemas.openxmlformats.org/officeDocument/2006/relationships/image" Target="../media/image835.png"/><Relationship Id="rId5" Type="http://schemas.openxmlformats.org/officeDocument/2006/relationships/image" Target="../media/image836.png"/><Relationship Id="rId6" Type="http://schemas.openxmlformats.org/officeDocument/2006/relationships/image" Target="../media/image837.png"/><Relationship Id="rId7" Type="http://schemas.openxmlformats.org/officeDocument/2006/relationships/image" Target="../media/image838.png"/><Relationship Id="rId8" Type="http://schemas.openxmlformats.org/officeDocument/2006/relationships/image" Target="../media/image83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Box 5"/>
          <p:cNvSpPr txBox="1"/>
          <p:nvPr userDrawn="1"/>
        </p:nvSpPr>
        <p:spPr>
          <a:xfrm>
            <a:off x="0" y="2"/>
            <a:ext cx="12192000" cy="6824625"/>
          </a:xfrm>
          <a:prstGeom prst="rect">
            <a:avLst/>
          </a:prstGeom>
          <a:solidFill>
            <a:srgbClr val="FFFFFF"/>
          </a:solidFill>
        </p:spPr>
        <p:txBody>
          <a:bodyPr wrap="square" rtlCol="0">
            <a:spAutoFit/>
          </a:bodyPr>
          <a:lstStyle/>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IN" sz="1902" dirty="0"/>
          </a:p>
        </p:txBody>
      </p:sp>
      <p:pic>
        <p:nvPicPr>
          <p:cNvPr id="4" name="Picture 7"/>
          <p:cNvPicPr>
            <a:picLocks noChangeAspect="1"/>
          </p:cNvPicPr>
          <p:nvPr userDrawn="1"/>
        </p:nvPicPr>
        <p:blipFill>
          <a:blip r:embed="rId2" cstate="print">
            <a:duotone>
              <a:srgbClr val="F8F8F8">
                <a:shade val="45000"/>
                <a:satMod val="135000"/>
              </a:srgbClr>
              <a:prstClr val="white"/>
            </a:duotone>
            <a:extLst>
              <a:ext uri="{28A0092B-C50C-407E-A947-70E740481C1C}">
                <a14:useLocalDpi xmlns:a14="http://schemas.microsoft.com/office/drawing/2010/main" val="0"/>
              </a:ext>
            </a:extLst>
          </a:blip>
          <a:stretch>
            <a:fillRect/>
          </a:stretch>
        </p:blipFill>
        <p:spPr>
          <a:xfrm>
            <a:off x="0" y="10056"/>
            <a:ext cx="12192000" cy="6847944"/>
          </a:xfrm>
          <a:prstGeom prst="rect">
            <a:avLst/>
          </a:prstGeom>
          <a:effectLst>
            <a:outerShdw blurRad="50800" dist="38100" dir="18900000" algn="bl" rotWithShape="0">
              <a:prstClr val="black">
                <a:alpha val="40000"/>
              </a:prstClr>
            </a:outerShdw>
          </a:effectLst>
        </p:spPr>
      </p:pic>
      <p:sp>
        <p:nvSpPr>
          <p:cNvPr id="5" name="Rectangle 34"/>
          <p:cNvSpPr/>
          <p:nvPr userDrawn="1"/>
        </p:nvSpPr>
        <p:spPr>
          <a:xfrm>
            <a:off x="743259" y="10058"/>
            <a:ext cx="5906925" cy="6858001"/>
          </a:xfrm>
          <a:prstGeom prst="rect">
            <a:avLst/>
          </a:prstGeom>
          <a:solidFill>
            <a:srgbClr val="0070C0">
              <a:alpha val="81000"/>
            </a:srgbClr>
          </a:solidFill>
          <a:ln>
            <a:noFill/>
          </a:ln>
          <a:effectLst>
            <a:outerShdw blurRad="63500" sx="102000" sy="102000" algn="ctr"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6" name="TextBox 9"/>
          <p:cNvSpPr txBox="1"/>
          <p:nvPr userDrawn="1"/>
        </p:nvSpPr>
        <p:spPr>
          <a:xfrm>
            <a:off x="829068" y="6616282"/>
            <a:ext cx="1984839" cy="230832"/>
          </a:xfrm>
          <a:prstGeom prst="rect">
            <a:avLst/>
          </a:prstGeom>
          <a:noFill/>
        </p:spPr>
        <p:txBody>
          <a:bodyPr wrap="none" rtlCol="0">
            <a:spAutoFit/>
          </a:bodyPr>
          <a:lstStyle/>
          <a:p>
            <a:r>
              <a:rPr lang="en-US" sz="900" dirty="0">
                <a:solidFill>
                  <a:srgbClr val="FFFFFF"/>
                </a:solidFill>
              </a:rPr>
              <a:t>Source@ Future Market Insights, 2026</a:t>
            </a:r>
            <a:endParaRPr lang="en-IN" sz="900" dirty="0">
              <a:solidFill>
                <a:srgbClr val="FFFFFF"/>
              </a:solidFill>
            </a:endParaRPr>
          </a:p>
        </p:txBody>
      </p:sp>
      <p:sp>
        <p:nvSpPr>
          <p:cNvPr id="7" name="Rectangle 11"/>
          <p:cNvSpPr/>
          <p:nvPr userDrawn="1"/>
        </p:nvSpPr>
        <p:spPr>
          <a:xfrm>
            <a:off x="371630" y="5918917"/>
            <a:ext cx="11448743" cy="584895"/>
          </a:xfrm>
          <a:prstGeom prst="rect">
            <a:avLst/>
          </a:prstGeom>
          <a:solidFill>
            <a:srgbClr val="FCD150"/>
          </a:solidFill>
          <a:ln>
            <a:noFill/>
          </a:ln>
          <a:effectLst>
            <a:outerShdw blurRad="50800" dist="38100" dir="18900000" algn="bl"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8" name="Rectangle 12"/>
          <p:cNvSpPr/>
          <p:nvPr userDrawn="1"/>
        </p:nvSpPr>
        <p:spPr>
          <a:xfrm>
            <a:off x="371630" y="6559883"/>
            <a:ext cx="11448743" cy="57528"/>
          </a:xfrm>
          <a:prstGeom prst="rect">
            <a:avLst/>
          </a:prstGeom>
          <a:solidFill>
            <a:srgbClr val="FFFFFF"/>
          </a:solidFill>
          <a:ln>
            <a:noFill/>
          </a:ln>
          <a:effectLst>
            <a:outerShdw blurRad="50800" dist="38100" dir="18900000" algn="bl"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9" name="Text Placeholder 4"/>
          <p:cNvSpPr txBox="1">
            <a:spLocks/>
          </p:cNvSpPr>
          <p:nvPr/>
        </p:nvSpPr>
        <p:spPr bwMode="gray">
          <a:xfrm>
            <a:off x="934546" y="262851"/>
            <a:ext cx="5623008" cy="3800000"/>
          </a:xfrm>
          <a:prstGeom prst="rect">
            <a:avLst/>
          </a:prstGeom>
        </p:spPr>
        <p:txBody>
          <a:bodyPr vert="horz" lIns="0" tIns="77372" rIns="77372" bIns="77372" rtlCol="0">
            <a:noAutofit/>
          </a:bodyPr>
          <a:lstStyle>
            <a:lvl1pPr marL="0" indent="0" algn="l" defTabSz="792505" rtl="0" eaLnBrk="1" latinLnBrk="0" hangingPunct="1">
              <a:lnSpc>
                <a:spcPct val="90000"/>
              </a:lnSpc>
              <a:spcBef>
                <a:spcPts val="867"/>
              </a:spcBef>
              <a:buFont typeface="Wingdings" panose="05000000000000000000" pitchFamily="2" charset="2"/>
              <a:buNone/>
              <a:defRPr sz="1800" kern="1200">
                <a:solidFill>
                  <a:srgbClr val="000000"/>
                </a:solidFill>
                <a:latin typeface="Calibri" panose="020F0502020204030204" pitchFamily="34" charset="0"/>
                <a:ea typeface="+mn-ea"/>
                <a:cs typeface="Calibri" panose="020F0502020204030204" pitchFamily="34" charset="0"/>
              </a:defRPr>
            </a:lvl1pPr>
            <a:lvl2pPr marL="457196" indent="0" algn="ctr" defTabSz="792505" rtl="0" eaLnBrk="1" latinLnBrk="0" hangingPunct="1">
              <a:lnSpc>
                <a:spcPct val="90000"/>
              </a:lnSpc>
              <a:spcBef>
                <a:spcPts val="433"/>
              </a:spcBef>
              <a:buSzPct val="80000"/>
              <a:buFont typeface="Wingdings" panose="05000000000000000000" pitchFamily="2" charset="2"/>
              <a:buNone/>
              <a:defRPr sz="2000" kern="1200">
                <a:solidFill>
                  <a:srgbClr val="000000"/>
                </a:solidFill>
                <a:latin typeface="+mn-lt"/>
                <a:ea typeface="+mn-ea"/>
                <a:cs typeface="+mn-cs"/>
              </a:defRPr>
            </a:lvl2pPr>
            <a:lvl3pPr marL="914391" indent="0" algn="ctr" defTabSz="792505" rtl="0" eaLnBrk="1" latinLnBrk="0" hangingPunct="1">
              <a:lnSpc>
                <a:spcPct val="90000"/>
              </a:lnSpc>
              <a:spcBef>
                <a:spcPts val="433"/>
              </a:spcBef>
              <a:buFont typeface="Wingdings" panose="05000000000000000000" pitchFamily="2" charset="2"/>
              <a:buNone/>
              <a:defRPr sz="1800" kern="1200">
                <a:solidFill>
                  <a:srgbClr val="000000"/>
                </a:solidFill>
                <a:latin typeface="+mn-lt"/>
                <a:ea typeface="+mn-ea"/>
                <a:cs typeface="+mn-cs"/>
              </a:defRPr>
            </a:lvl3pPr>
            <a:lvl4pPr marL="1371587" indent="0" algn="ctr" defTabSz="792505" rtl="0" eaLnBrk="1" latinLnBrk="0" hangingPunct="1">
              <a:lnSpc>
                <a:spcPct val="90000"/>
              </a:lnSpc>
              <a:spcBef>
                <a:spcPts val="433"/>
              </a:spcBef>
              <a:buSzPct val="80000"/>
              <a:buFont typeface="Wingdings" panose="05000000000000000000" pitchFamily="2" charset="2"/>
              <a:buNone/>
              <a:defRPr sz="1600" kern="1200">
                <a:solidFill>
                  <a:srgbClr val="000000"/>
                </a:solidFill>
                <a:latin typeface="+mn-lt"/>
                <a:ea typeface="+mn-ea"/>
                <a:cs typeface="+mn-cs"/>
              </a:defRPr>
            </a:lvl4pPr>
            <a:lvl5pPr marL="1828783"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5pPr>
            <a:lvl6pPr marL="2285978"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6pPr>
            <a:lvl7pPr marL="2743174"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7pPr>
            <a:lvl8pPr marL="3200370"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8pPr>
            <a:lvl9pPr marL="3657565"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9pPr>
          </a:lstStyle>
          <a:p>
            <a:pPr>
              <a:spcBef>
                <a:spcPts val="0"/>
              </a:spcBef>
            </a:pPr>
            <a:r>
              <a:rPr lang="en-US" sz="4800" dirty="0">
                <a:solidFill>
                  <a:srgbClr val="FFFFFF"/>
                </a:solidFill>
                <a:latin typeface="Bell MT" panose="02020503060305020303" pitchFamily="18" charset="0"/>
              </a:rPr>
              <a:t>Senior Dog Cognitive Supplement Market</a:t>
            </a:r>
            <a:endParaRPr lang="en-US" sz="1600" dirty="0">
              <a:solidFill>
                <a:srgbClr val="FFFFFF"/>
              </a:solidFill>
              <a:latin typeface="Bell MT" panose="02020503060305020303" pitchFamily="18" charset="0"/>
            </a:endParaRPr>
          </a:p>
        </p:txBody>
      </p:sp>
      <p:sp>
        <p:nvSpPr>
          <p:cNvPr id="9" name="Front Page Subtitle"/>
          <p:cNvSpPr txBox="1">
            <a:spLocks/>
          </p:cNvSpPr>
          <p:nvPr/>
        </p:nvSpPr>
        <p:spPr bwMode="gray">
          <a:xfrm>
            <a:off x="934546" y="4150000"/>
            <a:ext cx="5623008" cy="1650000"/>
          </a:xfrm>
          <a:prstGeom prst="rect">
            <a:avLst/>
          </a:prstGeom>
        </p:spPr>
        <p:txBody>
          <a:bodyPr vert="horz" lIns="0" tIns="77372" rIns="77372" bIns="77372" rtlCol="0" anchor="b">
            <a:noAutofit/>
          </a:bodyPr>
          <a:lstStyle>
            <a:lvl1pPr marL="0" indent="0" algn="l" defTabSz="792505" rtl="0" eaLnBrk="1" latinLnBrk="0" hangingPunct="1">
              <a:lnSpc>
                <a:spcPct val="90000"/>
              </a:lnSpc>
              <a:spcBef>
                <a:spcPts val="867"/>
              </a:spcBef>
              <a:buFont typeface="Wingdings" panose="05000000000000000000" pitchFamily="2" charset="2"/>
              <a:buNone/>
              <a:defRPr sz="1800" kern="1200">
                <a:solidFill>
                  <a:srgbClr val="000000"/>
                </a:solidFill>
                <a:latin typeface="Calibri" panose="020F0502020204030204" pitchFamily="34" charset="0"/>
                <a:ea typeface="+mn-ea"/>
                <a:cs typeface="Calibri" panose="020F0502020204030204" pitchFamily="34" charset="0"/>
              </a:defRPr>
            </a:lvl1pPr>
            <a:lvl2pPr marL="457196" indent="0" algn="ctr" defTabSz="792505" rtl="0" eaLnBrk="1" latinLnBrk="0" hangingPunct="1">
              <a:lnSpc>
                <a:spcPct val="90000"/>
              </a:lnSpc>
              <a:spcBef>
                <a:spcPts val="433"/>
              </a:spcBef>
              <a:buSzPct val="80000"/>
              <a:buFont typeface="Wingdings" panose="05000000000000000000" pitchFamily="2" charset="2"/>
              <a:buNone/>
              <a:defRPr sz="2000" kern="1200">
                <a:solidFill>
                  <a:srgbClr val="000000"/>
                </a:solidFill>
                <a:latin typeface="+mn-lt"/>
                <a:ea typeface="+mn-ea"/>
                <a:cs typeface="+mn-cs"/>
              </a:defRPr>
            </a:lvl2pPr>
            <a:lvl3pPr marL="914391" indent="0" algn="ctr" defTabSz="792505" rtl="0" eaLnBrk="1" latinLnBrk="0" hangingPunct="1">
              <a:lnSpc>
                <a:spcPct val="90000"/>
              </a:lnSpc>
              <a:spcBef>
                <a:spcPts val="433"/>
              </a:spcBef>
              <a:buFont typeface="Wingdings" panose="05000000000000000000" pitchFamily="2" charset="2"/>
              <a:buNone/>
              <a:defRPr sz="1800" kern="1200">
                <a:solidFill>
                  <a:srgbClr val="000000"/>
                </a:solidFill>
                <a:latin typeface="+mn-lt"/>
                <a:ea typeface="+mn-ea"/>
                <a:cs typeface="+mn-cs"/>
              </a:defRPr>
            </a:lvl3pPr>
            <a:lvl4pPr marL="1371587" indent="0" algn="ctr" defTabSz="792505" rtl="0" eaLnBrk="1" latinLnBrk="0" hangingPunct="1">
              <a:lnSpc>
                <a:spcPct val="90000"/>
              </a:lnSpc>
              <a:spcBef>
                <a:spcPts val="433"/>
              </a:spcBef>
              <a:buSzPct val="80000"/>
              <a:buFont typeface="Wingdings" panose="05000000000000000000" pitchFamily="2" charset="2"/>
              <a:buNone/>
              <a:defRPr sz="1600" kern="1200">
                <a:solidFill>
                  <a:srgbClr val="000000"/>
                </a:solidFill>
                <a:latin typeface="+mn-lt"/>
                <a:ea typeface="+mn-ea"/>
                <a:cs typeface="+mn-cs"/>
              </a:defRPr>
            </a:lvl4pPr>
            <a:lvl5pPr marL="1828783"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5pPr>
            <a:lvl6pPr marL="2285978"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6pPr>
            <a:lvl7pPr marL="2743174"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7pPr>
            <a:lvl8pPr marL="3200370"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8pPr>
            <a:lvl9pPr marL="3657565"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9pPr>
          </a:lstStyle>
          <a:p>
            <a:pPr>
              <a:spcBef>
                <a:spcPts val="0"/>
              </a:spcBef>
            </a:pPr>
            <a:r>
              <a:rPr lang="en-US" sz="2400" dirty="0">
                <a:solidFill>
                  <a:srgbClr val="FFFFFF"/>
                </a:solidFill>
                <a:latin typeface="Bell MT" panose="02020503060305020303" pitchFamily="18" charset="0"/>
              </a:rPr>
              <a:t>Global Industry Analysis 2021 – 2025 and Opportunity Assessment 2026 – 2036</a:t>
            </a:r>
          </a:p>
        </p:txBody>
      </p:sp>
      <p:grpSp>
        <p:nvGrpSpPr>
          <p:cNvPr id="10" name="Group 8"/>
          <p:cNvGrpSpPr/>
          <p:nvPr/>
        </p:nvGrpSpPr>
        <p:grpSpPr>
          <a:xfrm>
            <a:off x="9124182" y="262851"/>
            <a:ext cx="2864618" cy="709680"/>
            <a:chOff x="201497" y="6393289"/>
            <a:chExt cx="1281818" cy="338050"/>
          </a:xfrm>
        </p:grpSpPr>
        <p:pic>
          <p:nvPicPr>
            <p:cNvPr id="11"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1497" y="6393289"/>
              <a:ext cx="537551" cy="338050"/>
            </a:xfrm>
            <a:prstGeom prst="rect">
              <a:avLst/>
            </a:prstGeom>
          </p:spPr>
        </p:pic>
        <p:pic>
          <p:nvPicPr>
            <p:cNvPr id="12" name="Picture 7" descr="C:\Users\Nandini\Desktop\ESOMAR_corporate2020_RGB.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1199" y="6426912"/>
              <a:ext cx="722116" cy="270803"/>
            </a:xfrm>
            <a:prstGeom prst="rect">
              <a:avLst/>
            </a:prstGeom>
            <a:noFill/>
            <a:ln>
              <a:noFill/>
            </a:ln>
          </p:spPr>
        </p:pic>
      </p:grpSp>
      <p:sp>
        <p:nvSpPr>
          <p:cNvPr id="13" name="Rectangle 3"/>
          <p:cNvSpPr/>
          <p:nvPr/>
        </p:nvSpPr>
        <p:spPr>
          <a:xfrm>
            <a:off x="934546" y="6015689"/>
            <a:ext cx="2551724" cy="400110"/>
          </a:xfrm>
          <a:prstGeom prst="rect">
            <a:avLst/>
          </a:prstGeom>
        </p:spPr>
        <p:txBody>
          <a:bodyPr wrap="none">
            <a:spAutoFit/>
          </a:bodyPr>
          <a:lstStyle/>
          <a:p>
            <a:r>
              <a:rPr lang="en-US" sz="2000" b="1" dirty="0">
                <a:solidFill>
                  <a:srgbClr val="000000">
                    <a:lumMod val="85000"/>
                    <a:lumOff val="15000"/>
                  </a:srgbClr>
                </a:solidFill>
                <a:latin typeface="Bell MT" panose="02020503060305020303" pitchFamily="18" charset="0"/>
              </a:rPr>
              <a:t>Sample Report</a:t>
            </a:r>
            <a:r>
              <a:rPr lang="en-US" sz="1600" b="1" dirty="0">
                <a:solidFill>
                  <a:srgbClr val="000000">
                    <a:lumMod val="85000"/>
                    <a:lumOff val="15000"/>
                  </a:srgbClr>
                </a:solidFill>
                <a:latin typeface="Bell MT" panose="02020503060305020303" pitchFamily="18" charset="0"/>
              </a:rPr>
              <a:t>| </a:t>
            </a:r>
            <a:r>
              <a:rPr lang="en-US" sz="2000" b="1" dirty="0">
                <a:solidFill>
                  <a:srgbClr val="000000">
                    <a:lumMod val="85000"/>
                    <a:lumOff val="15000"/>
                  </a:srgbClr>
                </a:solidFill>
                <a:latin typeface="Bell MT" panose="02020503060305020303" pitchFamily="18" charset="0"/>
              </a:rPr>
              <a:t>2026</a:t>
            </a:r>
          </a:p>
        </p:txBody>
      </p:sp>
      <p:pic>
        <p:nvPicPr>
          <p:cNvPr id="14" name="Picture 2" descr="A logo on a black background&#10;&#10;AI-generated content may be incorrect.">
            <a:extLst>
              <a:ext uri="{FF2B5EF4-FFF2-40B4-BE49-F238E27FC236}">
                <a16:creationId xmlns:a16="http://schemas.microsoft.com/office/drawing/2014/main" id="{94959869-610E-9143-54C1-1302C085AC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98778" y="4755786"/>
            <a:ext cx="5493222" cy="116679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Agenda</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Storyline of the report by section · click a section card to jump to it</a:t>
            </a:r>
          </a:p>
        </p:txBody>
      </p:sp>
      <p:sp>
        <p:nvSpPr>
          <p:cNvPr id="10" name="Rounded Rectangle 9">
            <a:hlinkClick action="ppaction://hlinksldjump" r:id="rId3"/>
          </p:cNvPr>
          <p:cNvSpPr/>
          <p:nvPr/>
        </p:nvSpPr>
        <p:spPr>
          <a:xfrm>
            <a:off x="314325" y="1135037"/>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 Market Signals</a:t>
            </a:r>
          </a:p>
        </p:txBody>
      </p:sp>
      <p:sp>
        <p:nvSpPr>
          <p:cNvPr id="11" name="Rounded Rectangle 10">
            <a:hlinkClick action="ppaction://hlinksldjump" r:id="rId4"/>
          </p:cNvPr>
          <p:cNvSpPr/>
          <p:nvPr/>
        </p:nvSpPr>
        <p:spPr>
          <a:xfrm>
            <a:off x="142875" y="1494026"/>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Market Overview</a:t>
            </a:r>
          </a:p>
        </p:txBody>
      </p:sp>
      <p:sp>
        <p:nvSpPr>
          <p:cNvPr id="12" name="Rounded Rectangle 11">
            <a:hlinkClick action="ppaction://hlinksldjump" r:id="rId5"/>
          </p:cNvPr>
          <p:cNvSpPr/>
          <p:nvPr/>
        </p:nvSpPr>
        <p:spPr>
          <a:xfrm>
            <a:off x="314325" y="1868227"/>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2. Market Taxonomy</a:t>
            </a:r>
          </a:p>
        </p:txBody>
      </p:sp>
      <p:sp>
        <p:nvSpPr>
          <p:cNvPr id="13" name="Rounded Rectangle 12">
            <a:hlinkClick action="ppaction://hlinksldjump" r:id="rId6"/>
          </p:cNvPr>
          <p:cNvSpPr/>
          <p:nvPr/>
        </p:nvSpPr>
        <p:spPr>
          <a:xfrm>
            <a:off x="314325" y="2227216"/>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3. Table of Contents</a:t>
            </a:r>
          </a:p>
        </p:txBody>
      </p:sp>
      <p:sp>
        <p:nvSpPr>
          <p:cNvPr id="14" name="Rounded Rectangle 13">
            <a:hlinkClick action="ppaction://hlinksldjump" r:id="rId7"/>
          </p:cNvPr>
          <p:cNvSpPr/>
          <p:nvPr/>
        </p:nvSpPr>
        <p:spPr>
          <a:xfrm>
            <a:off x="314325" y="258620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4. List of Figures, List of Tables</a:t>
            </a:r>
          </a:p>
        </p:txBody>
      </p:sp>
      <p:sp>
        <p:nvSpPr>
          <p:cNvPr id="15" name="Rounded Rectangle 14">
            <a:hlinkClick action="ppaction://hlinksldjump" r:id="rId8"/>
          </p:cNvPr>
          <p:cNvSpPr/>
          <p:nvPr/>
        </p:nvSpPr>
        <p:spPr>
          <a:xfrm>
            <a:off x="142875" y="2945194"/>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Global Market Outlook</a:t>
            </a:r>
          </a:p>
        </p:txBody>
      </p:sp>
      <p:sp>
        <p:nvSpPr>
          <p:cNvPr id="16" name="Rounded Rectangle 15">
            <a:hlinkClick action="ppaction://hlinksldjump" r:id="rId9"/>
          </p:cNvPr>
          <p:cNvSpPr/>
          <p:nvPr/>
        </p:nvSpPr>
        <p:spPr>
          <a:xfrm>
            <a:off x="314325" y="331939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5. Senior Dog Cognitive Supplement Market Global Overview</a:t>
            </a:r>
          </a:p>
        </p:txBody>
      </p:sp>
      <p:sp>
        <p:nvSpPr>
          <p:cNvPr id="17" name="Rounded Rectangle 16">
            <a:hlinkClick action="ppaction://hlinksldjump" r:id="rId10"/>
          </p:cNvPr>
          <p:cNvSpPr/>
          <p:nvPr/>
        </p:nvSpPr>
        <p:spPr>
          <a:xfrm>
            <a:off x="314325" y="3678384"/>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6. Global Market Analysis By Region</a:t>
            </a:r>
          </a:p>
        </p:txBody>
      </p:sp>
      <p:sp>
        <p:nvSpPr>
          <p:cNvPr id="18" name="Rounded Rectangle 17">
            <a:hlinkClick action="ppaction://hlinksldjump" r:id="rId11"/>
          </p:cNvPr>
          <p:cNvSpPr/>
          <p:nvPr/>
        </p:nvSpPr>
        <p:spPr>
          <a:xfrm>
            <a:off x="314325" y="4037373"/>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7. Global Market Analysis By Segments</a:t>
            </a:r>
          </a:p>
        </p:txBody>
      </p:sp>
      <p:sp>
        <p:nvSpPr>
          <p:cNvPr id="19" name="Rounded Rectangle 18">
            <a:hlinkClick action="ppaction://hlinksldjump" r:id="rId12"/>
          </p:cNvPr>
          <p:cNvSpPr/>
          <p:nvPr/>
        </p:nvSpPr>
        <p:spPr>
          <a:xfrm>
            <a:off x="314325" y="4396362"/>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8. Cross-sectional Assessment</a:t>
            </a:r>
          </a:p>
        </p:txBody>
      </p:sp>
      <p:sp>
        <p:nvSpPr>
          <p:cNvPr id="20" name="Rounded Rectangle 19">
            <a:hlinkClick action="ppaction://hlinksldjump" r:id="rId13"/>
          </p:cNvPr>
          <p:cNvSpPr/>
          <p:nvPr/>
        </p:nvSpPr>
        <p:spPr>
          <a:xfrm>
            <a:off x="142875" y="4755351"/>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North America Market Outlook</a:t>
            </a:r>
          </a:p>
        </p:txBody>
      </p:sp>
      <p:sp>
        <p:nvSpPr>
          <p:cNvPr id="21" name="Rounded Rectangle 20">
            <a:hlinkClick action="ppaction://hlinksldjump" r:id="rId14"/>
          </p:cNvPr>
          <p:cNvSpPr/>
          <p:nvPr/>
        </p:nvSpPr>
        <p:spPr>
          <a:xfrm>
            <a:off x="314325" y="5129552"/>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9. North America Overview</a:t>
            </a:r>
          </a:p>
        </p:txBody>
      </p:sp>
      <p:sp>
        <p:nvSpPr>
          <p:cNvPr id="22" name="Rounded Rectangle 21">
            <a:hlinkClick action="ppaction://hlinksldjump" r:id="rId15"/>
          </p:cNvPr>
          <p:cNvSpPr/>
          <p:nvPr/>
        </p:nvSpPr>
        <p:spPr>
          <a:xfrm>
            <a:off x="314325" y="5488541"/>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10. North America Market Analysis By Country</a:t>
            </a:r>
          </a:p>
        </p:txBody>
      </p:sp>
      <p:sp>
        <p:nvSpPr>
          <p:cNvPr id="23" name="Rounded Rectangle 22">
            <a:hlinkClick action="ppaction://hlinksldjump" r:id="rId16"/>
          </p:cNvPr>
          <p:cNvSpPr/>
          <p:nvPr/>
        </p:nvSpPr>
        <p:spPr>
          <a:xfrm>
            <a:off x="314325" y="5847530"/>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11. North America Market Analysis By Segments</a:t>
            </a:r>
          </a:p>
        </p:txBody>
      </p:sp>
      <p:sp>
        <p:nvSpPr>
          <p:cNvPr id="24" name="Rounded Rectangle 23">
            <a:hlinkClick action="ppaction://hlinksldjump" r:id="rId17"/>
          </p:cNvPr>
          <p:cNvSpPr/>
          <p:nvPr/>
        </p:nvSpPr>
        <p:spPr>
          <a:xfrm>
            <a:off x="314325" y="6206519"/>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12. Cross-sectional Assessment</a:t>
            </a:r>
          </a:p>
        </p:txBody>
      </p:sp>
      <p:sp>
        <p:nvSpPr>
          <p:cNvPr id="25" name="Rounded Rectangle 24">
            <a:hlinkClick action="ppaction://hlinksldjump" r:id="rId18"/>
          </p:cNvPr>
          <p:cNvSpPr/>
          <p:nvPr/>
        </p:nvSpPr>
        <p:spPr>
          <a:xfrm>
            <a:off x="6219825" y="1135037"/>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Country Market Outlook</a:t>
            </a:r>
          </a:p>
        </p:txBody>
      </p:sp>
      <p:sp>
        <p:nvSpPr>
          <p:cNvPr id="26" name="Rounded Rectangle 25">
            <a:hlinkClick action="ppaction://hlinksldjump" r:id="rId19"/>
          </p:cNvPr>
          <p:cNvSpPr/>
          <p:nvPr/>
        </p:nvSpPr>
        <p:spPr>
          <a:xfrm>
            <a:off x="6391275" y="1509238"/>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13. Senior Dog Cognitive Supplement Market Overview (Volume &amp; Value)</a:t>
            </a:r>
          </a:p>
        </p:txBody>
      </p:sp>
      <p:sp>
        <p:nvSpPr>
          <p:cNvPr id="27" name="Rounded Rectangle 26">
            <a:hlinkClick action="ppaction://hlinksldjump" r:id="rId20"/>
          </p:cNvPr>
          <p:cNvSpPr/>
          <p:nvPr/>
        </p:nvSpPr>
        <p:spPr>
          <a:xfrm>
            <a:off x="6391275" y="1868227"/>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14. Segment Overview (Volume &amp; Value)</a:t>
            </a:r>
          </a:p>
        </p:txBody>
      </p:sp>
      <p:sp>
        <p:nvSpPr>
          <p:cNvPr id="28" name="Rounded Rectangle 27">
            <a:hlinkClick action="ppaction://hlinksldjump" r:id="rId21"/>
          </p:cNvPr>
          <p:cNvSpPr/>
          <p:nvPr/>
        </p:nvSpPr>
        <p:spPr>
          <a:xfrm>
            <a:off x="6219825" y="2227216"/>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Pricing Assessment</a:t>
            </a:r>
          </a:p>
        </p:txBody>
      </p:sp>
      <p:sp>
        <p:nvSpPr>
          <p:cNvPr id="29" name="Rounded Rectangle 28">
            <a:hlinkClick action="ppaction://hlinksldjump" r:id="rId22"/>
          </p:cNvPr>
          <p:cNvSpPr/>
          <p:nvPr/>
        </p:nvSpPr>
        <p:spPr>
          <a:xfrm>
            <a:off x="6391275" y="2601417"/>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15. Senior Dog Cognitive Supplement Market Pricing Analysis</a:t>
            </a:r>
          </a:p>
        </p:txBody>
      </p:sp>
      <p:sp>
        <p:nvSpPr>
          <p:cNvPr id="30" name="Rounded Rectangle 29">
            <a:hlinkClick action="ppaction://hlinksldjump" r:id="rId23"/>
          </p:cNvPr>
          <p:cNvSpPr/>
          <p:nvPr/>
        </p:nvSpPr>
        <p:spPr>
          <a:xfrm>
            <a:off x="6391275" y="2960406"/>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16. Supply Chain Analysis</a:t>
            </a:r>
          </a:p>
        </p:txBody>
      </p:sp>
      <p:sp>
        <p:nvSpPr>
          <p:cNvPr id="31" name="Rounded Rectangle 30">
            <a:hlinkClick action="ppaction://hlinksldjump" r:id="rId24"/>
          </p:cNvPr>
          <p:cNvSpPr/>
          <p:nvPr/>
        </p:nvSpPr>
        <p:spPr>
          <a:xfrm>
            <a:off x="6219825" y="3319395"/>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Market Dynamics</a:t>
            </a:r>
          </a:p>
        </p:txBody>
      </p:sp>
      <p:sp>
        <p:nvSpPr>
          <p:cNvPr id="32" name="Rounded Rectangle 31">
            <a:hlinkClick action="ppaction://hlinksldjump" r:id="rId25"/>
          </p:cNvPr>
          <p:cNvSpPr/>
          <p:nvPr/>
        </p:nvSpPr>
        <p:spPr>
          <a:xfrm>
            <a:off x="6391275" y="3693596"/>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17. Market Dynamics &amp; Forces</a:t>
            </a:r>
          </a:p>
        </p:txBody>
      </p:sp>
      <p:sp>
        <p:nvSpPr>
          <p:cNvPr id="33" name="Rounded Rectangle 32">
            <a:hlinkClick action="ppaction://hlinksldjump" r:id="rId26"/>
          </p:cNvPr>
          <p:cNvSpPr/>
          <p:nvPr/>
        </p:nvSpPr>
        <p:spPr>
          <a:xfrm>
            <a:off x="6219825" y="4052585"/>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Competition Assessment</a:t>
            </a:r>
          </a:p>
        </p:txBody>
      </p:sp>
      <p:sp>
        <p:nvSpPr>
          <p:cNvPr id="34" name="Rounded Rectangle 33">
            <a:hlinkClick action="ppaction://hlinksldjump" r:id="rId27"/>
          </p:cNvPr>
          <p:cNvSpPr/>
          <p:nvPr/>
        </p:nvSpPr>
        <p:spPr>
          <a:xfrm>
            <a:off x="6391275" y="5144764"/>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20. Competitive Landscape</a:t>
            </a:r>
          </a:p>
        </p:txBody>
      </p:sp>
      <p:sp>
        <p:nvSpPr>
          <p:cNvPr id="35" name="Rounded Rectangle 34">
            <a:hlinkClick action="ppaction://hlinksldjump" r:id="rId28"/>
          </p:cNvPr>
          <p:cNvSpPr/>
          <p:nvPr/>
        </p:nvSpPr>
        <p:spPr>
          <a:xfrm>
            <a:off x="6391275" y="4426786"/>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18. Market Share by Leading Players</a:t>
            </a:r>
          </a:p>
        </p:txBody>
      </p:sp>
      <p:sp>
        <p:nvSpPr>
          <p:cNvPr id="36" name="Rounded Rectangle 35">
            <a:hlinkClick action="ppaction://hlinksldjump" r:id="rId29"/>
          </p:cNvPr>
          <p:cNvSpPr/>
          <p:nvPr/>
        </p:nvSpPr>
        <p:spPr>
          <a:xfrm>
            <a:off x="6391275" y="478577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19. Company Profiles &amp; Strategic Benchmarking</a:t>
            </a:r>
          </a:p>
        </p:txBody>
      </p:sp>
      <p:sp>
        <p:nvSpPr>
          <p:cNvPr id="37" name="TextBox 3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489325"/>
            <a:ext cx="8572500" cy="514350"/>
          </a:xfrm>
          <a:prstGeom prst="rect">
            <a:avLst/>
          </a:prstGeom>
          <a:noFill/>
        </p:spPr>
        <p:txBody>
          <a:bodyPr wrap="square" lIns="0" rIns="0" tIns="0">
            <a:spAutoFit/>
          </a:bodyPr>
          <a:lstStyle/>
          <a:p>
            <a:r>
              <a:rPr sz="3000" b="1">
                <a:solidFill>
                  <a:srgbClr val="0B3C8C"/>
                </a:solidFill>
                <a:latin typeface="Calibri"/>
              </a:rPr>
              <a:t>Market Signals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Signals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Signals Reshaping Senior Dog Cognitive Supplement Demand</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Signals reshaping Senior Dog Cognitive Supplement demand, the evidence behind each and what it implies for the global market</a:t>
            </a:r>
          </a:p>
        </p:txBody>
      </p:sp>
      <p:graphicFrame>
        <p:nvGraphicFramePr>
          <p:cNvPr id="10" name="Table 9"/>
          <p:cNvGraphicFramePr>
            <a:graphicFrameLocks noGrp="1"/>
          </p:cNvGraphicFramePr>
          <p:nvPr/>
        </p:nvGraphicFramePr>
        <p:xfrm>
          <a:off x="142875" y="1062022"/>
          <a:ext cx="11906250" cy="5549125"/>
        </p:xfrm>
        <a:graphic>
          <a:graphicData uri="http://schemas.openxmlformats.org/drawingml/2006/table">
            <a:tbl>
              <a:tblPr>
                <a:tableStyleId>{5C22544A-7EE6-4342-B048-85BDC9FD1C3A}</a:tableStyleId>
              </a:tblPr>
              <a:tblGrid>
                <a:gridCol w="3571875"/>
                <a:gridCol w="5000625"/>
                <a:gridCol w="3333750"/>
              </a:tblGrid>
              <a:tr h="346820">
                <a:tc>
                  <a:txBody>
                    <a:bodyPr wrap="square"/>
                    <a:lstStyle/>
                    <a:p>
                      <a:pPr algn="l"/>
                      <a:r>
                        <a:rPr sz="1100" b="1">
                          <a:solidFill>
                            <a:srgbClr val="0B2E4A"/>
                          </a:solidFill>
                          <a:latin typeface="Calibri"/>
                        </a:rPr>
                        <a:t>QUESTIONS WE'RE HEARING</a:t>
                      </a:r>
                    </a:p>
                  </a:txBody>
                  <a:tcPr marL="70000" marR="70000" marT="45000" marB="45000" anchor="ctr">
                    <a:solidFill>
                      <a:srgbClr val="EAF1F8"/>
                    </a:solidFill>
                  </a:tcPr>
                </a:tc>
                <a:tc>
                  <a:txBody>
                    <a:bodyPr wrap="square"/>
                    <a:lstStyle/>
                    <a:p>
                      <a:pPr algn="l"/>
                      <a:r>
                        <a:rPr sz="1100" b="1">
                          <a:solidFill>
                            <a:srgbClr val="0B2E4A"/>
                          </a:solidFill>
                          <a:latin typeface="Calibri"/>
                        </a:rPr>
                        <a:t>WHAT WE'RE OBSERVING</a:t>
                      </a:r>
                    </a:p>
                  </a:txBody>
                  <a:tcPr marL="70000" marR="70000" marT="45000" marB="45000" anchor="ctr">
                    <a:solidFill>
                      <a:srgbClr val="EAF1F8"/>
                    </a:solidFill>
                  </a:tcPr>
                </a:tc>
                <a:tc>
                  <a:txBody>
                    <a:bodyPr wrap="square"/>
                    <a:lstStyle/>
                    <a:p>
                      <a:pPr algn="l"/>
                      <a:r>
                        <a:rPr sz="1100" b="1">
                          <a:solidFill>
                            <a:srgbClr val="0B2E4A"/>
                          </a:solidFill>
                          <a:latin typeface="Calibri"/>
                        </a:rPr>
                        <a:t>SELECT DATA POINTS</a:t>
                      </a:r>
                    </a:p>
                  </a:txBody>
                  <a:tcPr marL="70000" marR="70000" marT="45000" marB="45000" anchor="ctr">
                    <a:solidFill>
                      <a:srgbClr val="EAF1F8"/>
                    </a:solidFill>
                  </a:tcPr>
                </a:tc>
              </a:tr>
              <a:tr h="1040461">
                <a:tc>
                  <a:txBody>
                    <a:bodyPr wrap="square"/>
                    <a:lstStyle/>
                    <a:p>
                      <a:pPr algn="l"/>
                      <a:r>
                        <a:rPr sz="1100" b="1">
                          <a:solidFill>
                            <a:srgbClr val="0B2E4A"/>
                          </a:solidFill>
                          <a:latin typeface="Calibri"/>
                        </a:rPr>
                        <a:t>How fast is Senior Dog Cognitive Supplement demand set to grow through 2036?</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a:t> </a:t>
                      </a:r>
                    </a:p>
                  </a:txBody>
                  <a:tcPr marL="70000" marR="70000" marT="45000" marB="45000" anchor="ctr">
                    <a:solidFill>
                      <a:srgbClr val="FFFFFF"/>
                    </a:solidFill>
                  </a:tcPr>
                </a:tc>
              </a:tr>
              <a:tr h="1040461">
                <a:tc>
                  <a:txBody>
                    <a:bodyPr wrap="square"/>
                    <a:lstStyle/>
                    <a:p>
                      <a:pPr algn="l"/>
                      <a:r>
                        <a:rPr sz="1100" b="1">
                          <a:solidFill>
                            <a:srgbClr val="0B2E4A"/>
                          </a:solidFill>
                          <a:latin typeface="Calibri"/>
                        </a:rPr>
                        <a:t>Which form type categories are buyers prioritising?</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B2E4A"/>
                          </a:solidFill>
                          <a:latin typeface="Calibri"/>
                        </a:rPr>
                        <a:t>Where is incremental demand concentrating?</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r h="1040461">
                <a:tc>
                  <a:txBody>
                    <a:bodyPr wrap="square"/>
                    <a:lstStyle/>
                    <a:p>
                      <a:pPr algn="l"/>
                      <a:r>
                        <a:rPr sz="1100" b="1">
                          <a:solidFill>
                            <a:srgbClr val="0B2E4A"/>
                          </a:solidFill>
                          <a:latin typeface="Calibri"/>
                        </a:rPr>
                        <a:t>Which regions will drive the next wave of Senior Dog Cognitive Supplement demand?</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B2E4A"/>
                          </a:solidFill>
                          <a:latin typeface="Calibri"/>
                        </a:rPr>
                        <a:t>Where should suppliers focus investment?</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2" name="TextBox 11"/>
          <p:cNvSpPr txBox="1"/>
          <p:nvPr/>
        </p:nvSpPr>
        <p:spPr>
          <a:xfrm>
            <a:off x="3784750" y="1761432"/>
            <a:ext cx="1689844" cy="186689"/>
          </a:xfrm>
          <a:prstGeom prst="rect">
            <a:avLst/>
          </a:prstGeom>
          <a:noFill/>
        </p:spPr>
        <p:txBody>
          <a:bodyPr wrap="none" lIns="0" rIns="0" tIns="0" bIns="0">
            <a:spAutoFit/>
          </a:bodyPr>
          <a:lstStyle/>
          <a:p>
            <a:r>
              <a:rPr sz="1100" b="0">
                <a:solidFill>
                  <a:srgbClr val="2E2E2E"/>
                </a:solidFill>
                <a:latin typeface="Calibri"/>
              </a:rPr>
              <a:t>Global demand expands at a</a:t>
            </a:r>
          </a:p>
        </p:txBody>
      </p:sp>
      <p:pic>
        <p:nvPicPr>
          <p:cNvPr id="13" name="Picture 12" descr="lock.png"/>
          <p:cNvPicPr>
            <a:picLocks noChangeAspect="1"/>
          </p:cNvPicPr>
          <p:nvPr/>
        </p:nvPicPr>
        <p:blipFill>
          <a:blip r:embed="rId4"/>
          <a:stretch>
            <a:fillRect/>
          </a:stretch>
        </p:blipFill>
        <p:spPr>
          <a:xfrm>
            <a:off x="5422645" y="1751653"/>
            <a:ext cx="128699" cy="187198"/>
          </a:xfrm>
          <a:prstGeom prst="rect">
            <a:avLst/>
          </a:prstGeom>
        </p:spPr>
      </p:pic>
      <p:sp>
        <p:nvSpPr>
          <p:cNvPr id="14" name="TextBox 13"/>
          <p:cNvSpPr txBox="1"/>
          <p:nvPr/>
        </p:nvSpPr>
        <p:spPr>
          <a:xfrm>
            <a:off x="5590141" y="1761432"/>
            <a:ext cx="2708109" cy="186689"/>
          </a:xfrm>
          <a:prstGeom prst="rect">
            <a:avLst/>
          </a:prstGeom>
          <a:noFill/>
        </p:spPr>
        <p:txBody>
          <a:bodyPr wrap="none" lIns="0" rIns="0" tIns="0" bIns="0">
            <a:spAutoFit/>
          </a:bodyPr>
          <a:lstStyle/>
          <a:p>
            <a:r>
              <a:rPr sz="1100" b="0">
                <a:solidFill>
                  <a:srgbClr val="2E2E2E"/>
                </a:solidFill>
                <a:latin typeface="Calibri"/>
              </a:rPr>
              <a:t>forecast CAGR (2026–2036), accelerating from</a:t>
            </a:r>
          </a:p>
        </p:txBody>
      </p:sp>
      <p:pic>
        <p:nvPicPr>
          <p:cNvPr id="15" name="Picture 14" descr="lock.png"/>
          <p:cNvPicPr>
            <a:picLocks noChangeAspect="1"/>
          </p:cNvPicPr>
          <p:nvPr/>
        </p:nvPicPr>
        <p:blipFill>
          <a:blip r:embed="rId4"/>
          <a:stretch>
            <a:fillRect/>
          </a:stretch>
        </p:blipFill>
        <p:spPr>
          <a:xfrm>
            <a:off x="8246302" y="1751653"/>
            <a:ext cx="128699" cy="187198"/>
          </a:xfrm>
          <a:prstGeom prst="rect">
            <a:avLst/>
          </a:prstGeom>
        </p:spPr>
      </p:pic>
      <p:sp>
        <p:nvSpPr>
          <p:cNvPr id="16" name="TextBox 15"/>
          <p:cNvSpPr txBox="1"/>
          <p:nvPr/>
        </p:nvSpPr>
        <p:spPr>
          <a:xfrm>
            <a:off x="3784750" y="1929072"/>
            <a:ext cx="1137865" cy="186689"/>
          </a:xfrm>
          <a:prstGeom prst="rect">
            <a:avLst/>
          </a:prstGeom>
          <a:noFill/>
        </p:spPr>
        <p:txBody>
          <a:bodyPr wrap="none" lIns="0" rIns="0" tIns="0" bIns="0">
            <a:spAutoFit/>
          </a:bodyPr>
          <a:lstStyle/>
          <a:p>
            <a:r>
              <a:rPr sz="1100" b="0">
                <a:solidFill>
                  <a:srgbClr val="2E2E2E"/>
                </a:solidFill>
                <a:latin typeface="Calibri"/>
              </a:rPr>
              <a:t>across 2021–2025.</a:t>
            </a:r>
          </a:p>
        </p:txBody>
      </p:sp>
      <p:pic>
        <p:nvPicPr>
          <p:cNvPr id="17" name="Picture 16" descr="lock.png"/>
          <p:cNvPicPr>
            <a:picLocks noChangeAspect="1"/>
          </p:cNvPicPr>
          <p:nvPr/>
        </p:nvPicPr>
        <p:blipFill>
          <a:blip r:embed="rId4"/>
          <a:stretch>
            <a:fillRect/>
          </a:stretch>
        </p:blipFill>
        <p:spPr>
          <a:xfrm>
            <a:off x="10214228" y="1689042"/>
            <a:ext cx="330041" cy="480060"/>
          </a:xfrm>
          <a:prstGeom prst="rect">
            <a:avLst/>
          </a:prstGeom>
        </p:spPr>
      </p:pic>
      <p:sp>
        <p:nvSpPr>
          <p:cNvPr id="18" name="TextBox 17"/>
          <p:cNvSpPr txBox="1"/>
          <p:nvPr/>
        </p:nvSpPr>
        <p:spPr>
          <a:xfrm>
            <a:off x="3784750" y="2801893"/>
            <a:ext cx="2446158" cy="186689"/>
          </a:xfrm>
          <a:prstGeom prst="rect">
            <a:avLst/>
          </a:prstGeom>
          <a:noFill/>
        </p:spPr>
        <p:txBody>
          <a:bodyPr wrap="none" lIns="0" rIns="0" tIns="0" bIns="0">
            <a:spAutoFit/>
          </a:bodyPr>
          <a:lstStyle/>
          <a:p>
            <a:r>
              <a:rPr sz="1100" b="0">
                <a:solidFill>
                  <a:srgbClr val="2E2E2E"/>
                </a:solidFill>
                <a:latin typeface="Calibri"/>
              </a:rPr>
              <a:t>Capsules and Softgels leads Form Type, at</a:t>
            </a:r>
          </a:p>
        </p:txBody>
      </p:sp>
      <p:pic>
        <p:nvPicPr>
          <p:cNvPr id="19" name="Picture 18" descr="lock.png"/>
          <p:cNvPicPr>
            <a:picLocks noChangeAspect="1"/>
          </p:cNvPicPr>
          <p:nvPr/>
        </p:nvPicPr>
        <p:blipFill>
          <a:blip r:embed="rId4"/>
          <a:stretch>
            <a:fillRect/>
          </a:stretch>
        </p:blipFill>
        <p:spPr>
          <a:xfrm>
            <a:off x="6178960" y="2792114"/>
            <a:ext cx="128699" cy="187198"/>
          </a:xfrm>
          <a:prstGeom prst="rect">
            <a:avLst/>
          </a:prstGeom>
        </p:spPr>
      </p:pic>
      <p:sp>
        <p:nvSpPr>
          <p:cNvPr id="20" name="TextBox 19"/>
          <p:cNvSpPr txBox="1"/>
          <p:nvPr/>
        </p:nvSpPr>
        <p:spPr>
          <a:xfrm>
            <a:off x="6346456" y="2801893"/>
            <a:ext cx="1854100" cy="186689"/>
          </a:xfrm>
          <a:prstGeom prst="rect">
            <a:avLst/>
          </a:prstGeom>
          <a:noFill/>
        </p:spPr>
        <p:txBody>
          <a:bodyPr wrap="none" lIns="0" rIns="0" tIns="0" bIns="0">
            <a:spAutoFit/>
          </a:bodyPr>
          <a:lstStyle/>
          <a:p>
            <a:r>
              <a:rPr sz="1100" b="0">
                <a:solidFill>
                  <a:srgbClr val="2E2E2E"/>
                </a:solidFill>
                <a:latin typeface="Calibri"/>
              </a:rPr>
              <a:t>of 2036 value, within a mix of 6</a:t>
            </a:r>
          </a:p>
        </p:txBody>
      </p:sp>
      <p:sp>
        <p:nvSpPr>
          <p:cNvPr id="21" name="TextBox 20"/>
          <p:cNvSpPr txBox="1"/>
          <p:nvPr/>
        </p:nvSpPr>
        <p:spPr>
          <a:xfrm>
            <a:off x="3784750" y="2969533"/>
            <a:ext cx="1158602" cy="186689"/>
          </a:xfrm>
          <a:prstGeom prst="rect">
            <a:avLst/>
          </a:prstGeom>
          <a:noFill/>
        </p:spPr>
        <p:txBody>
          <a:bodyPr wrap="none" lIns="0" rIns="0" tIns="0" bIns="0">
            <a:spAutoFit/>
          </a:bodyPr>
          <a:lstStyle/>
          <a:p>
            <a:r>
              <a:rPr sz="1100" b="0">
                <a:solidFill>
                  <a:srgbClr val="2E2E2E"/>
                </a:solidFill>
                <a:latin typeface="Calibri"/>
              </a:rPr>
              <a:t>tracked categories.</a:t>
            </a:r>
          </a:p>
        </p:txBody>
      </p:sp>
      <p:sp>
        <p:nvSpPr>
          <p:cNvPr id="22" name="TextBox 21"/>
          <p:cNvSpPr txBox="1"/>
          <p:nvPr/>
        </p:nvSpPr>
        <p:spPr>
          <a:xfrm>
            <a:off x="8785375" y="2885713"/>
            <a:ext cx="1705942" cy="186689"/>
          </a:xfrm>
          <a:prstGeom prst="rect">
            <a:avLst/>
          </a:prstGeom>
          <a:noFill/>
        </p:spPr>
        <p:txBody>
          <a:bodyPr wrap="none" lIns="0" rIns="0" tIns="0" bIns="0">
            <a:spAutoFit/>
          </a:bodyPr>
          <a:lstStyle/>
          <a:p>
            <a:r>
              <a:rPr sz="1100" b="0">
                <a:solidFill>
                  <a:srgbClr val="2E2E2E"/>
                </a:solidFill>
                <a:latin typeface="Calibri"/>
              </a:rPr>
              <a:t>Lead: Capsules and Softgels ·</a:t>
            </a:r>
          </a:p>
        </p:txBody>
      </p:sp>
      <p:pic>
        <p:nvPicPr>
          <p:cNvPr id="23" name="Picture 22" descr="lock.png"/>
          <p:cNvPicPr>
            <a:picLocks noChangeAspect="1"/>
          </p:cNvPicPr>
          <p:nvPr/>
        </p:nvPicPr>
        <p:blipFill>
          <a:blip r:embed="rId4"/>
          <a:stretch>
            <a:fillRect/>
          </a:stretch>
        </p:blipFill>
        <p:spPr>
          <a:xfrm>
            <a:off x="10439368" y="2875934"/>
            <a:ext cx="128699" cy="187198"/>
          </a:xfrm>
          <a:prstGeom prst="rect">
            <a:avLst/>
          </a:prstGeom>
        </p:spPr>
      </p:pic>
      <p:sp>
        <p:nvSpPr>
          <p:cNvPr id="24" name="TextBox 23"/>
          <p:cNvSpPr txBox="1"/>
          <p:nvPr/>
        </p:nvSpPr>
        <p:spPr>
          <a:xfrm>
            <a:off x="10606864" y="2885713"/>
            <a:ext cx="789433" cy="186689"/>
          </a:xfrm>
          <a:prstGeom prst="rect">
            <a:avLst/>
          </a:prstGeom>
          <a:noFill/>
        </p:spPr>
        <p:txBody>
          <a:bodyPr wrap="none" lIns="0" rIns="0" tIns="0" bIns="0">
            <a:spAutoFit/>
          </a:bodyPr>
          <a:lstStyle/>
          <a:p>
            <a:r>
              <a:rPr sz="1100" b="0">
                <a:solidFill>
                  <a:srgbClr val="2E2E2E"/>
                </a:solidFill>
                <a:latin typeface="Calibri"/>
              </a:rPr>
              <a:t>share (2036)</a:t>
            </a:r>
          </a:p>
        </p:txBody>
      </p:sp>
      <p:sp>
        <p:nvSpPr>
          <p:cNvPr id="25" name="TextBox 24"/>
          <p:cNvSpPr txBox="1"/>
          <p:nvPr/>
        </p:nvSpPr>
        <p:spPr>
          <a:xfrm>
            <a:off x="3784750" y="3842354"/>
            <a:ext cx="4558059" cy="186689"/>
          </a:xfrm>
          <a:prstGeom prst="rect">
            <a:avLst/>
          </a:prstGeom>
          <a:noFill/>
        </p:spPr>
        <p:txBody>
          <a:bodyPr wrap="none" lIns="0" rIns="0" tIns="0" bIns="0">
            <a:spAutoFit/>
          </a:bodyPr>
          <a:lstStyle/>
          <a:p>
            <a:r>
              <a:rPr sz="1100" b="0">
                <a:solidFill>
                  <a:srgbClr val="2E2E2E"/>
                </a:solidFill>
                <a:latin typeface="Calibri"/>
              </a:rPr>
              <a:t>Veterinary-Guided Cognitive Dysfunction Support is the fastest-growing part of</a:t>
            </a:r>
          </a:p>
        </p:txBody>
      </p:sp>
      <p:sp>
        <p:nvSpPr>
          <p:cNvPr id="26" name="TextBox 25"/>
          <p:cNvSpPr txBox="1"/>
          <p:nvPr/>
        </p:nvSpPr>
        <p:spPr>
          <a:xfrm>
            <a:off x="3784750" y="4009994"/>
            <a:ext cx="1486296" cy="186689"/>
          </a:xfrm>
          <a:prstGeom prst="rect">
            <a:avLst/>
          </a:prstGeom>
          <a:noFill/>
        </p:spPr>
        <p:txBody>
          <a:bodyPr wrap="none" lIns="0" rIns="0" tIns="0" bIns="0">
            <a:spAutoFit/>
          </a:bodyPr>
          <a:lstStyle/>
          <a:p>
            <a:r>
              <a:rPr sz="1100" b="0">
                <a:solidFill>
                  <a:srgbClr val="2E2E2E"/>
                </a:solidFill>
                <a:latin typeface="Calibri"/>
              </a:rPr>
              <a:t>End-use Application, at a</a:t>
            </a:r>
          </a:p>
        </p:txBody>
      </p:sp>
      <p:pic>
        <p:nvPicPr>
          <p:cNvPr id="27" name="Picture 26" descr="lock.png"/>
          <p:cNvPicPr>
            <a:picLocks noChangeAspect="1"/>
          </p:cNvPicPr>
          <p:nvPr/>
        </p:nvPicPr>
        <p:blipFill>
          <a:blip r:embed="rId4"/>
          <a:stretch>
            <a:fillRect/>
          </a:stretch>
        </p:blipFill>
        <p:spPr>
          <a:xfrm>
            <a:off x="5219098" y="4000215"/>
            <a:ext cx="128699" cy="187198"/>
          </a:xfrm>
          <a:prstGeom prst="rect">
            <a:avLst/>
          </a:prstGeom>
        </p:spPr>
      </p:pic>
      <p:sp>
        <p:nvSpPr>
          <p:cNvPr id="28" name="TextBox 27"/>
          <p:cNvSpPr txBox="1"/>
          <p:nvPr/>
        </p:nvSpPr>
        <p:spPr>
          <a:xfrm>
            <a:off x="5386594" y="4009994"/>
            <a:ext cx="2537031" cy="186689"/>
          </a:xfrm>
          <a:prstGeom prst="rect">
            <a:avLst/>
          </a:prstGeom>
          <a:noFill/>
        </p:spPr>
        <p:txBody>
          <a:bodyPr wrap="none" lIns="0" rIns="0" tIns="0" bIns="0">
            <a:spAutoFit/>
          </a:bodyPr>
          <a:lstStyle/>
          <a:p>
            <a:r>
              <a:rPr sz="1100" b="0">
                <a:solidFill>
                  <a:srgbClr val="2E2E2E"/>
                </a:solidFill>
                <a:latin typeface="Calibri"/>
              </a:rPr>
              <a:t>forecast CAGR outpacing the wider market.</a:t>
            </a:r>
          </a:p>
        </p:txBody>
      </p:sp>
      <p:sp>
        <p:nvSpPr>
          <p:cNvPr id="29" name="TextBox 28"/>
          <p:cNvSpPr txBox="1"/>
          <p:nvPr/>
        </p:nvSpPr>
        <p:spPr>
          <a:xfrm>
            <a:off x="8785375" y="3842354"/>
            <a:ext cx="2873687" cy="186689"/>
          </a:xfrm>
          <a:prstGeom prst="rect">
            <a:avLst/>
          </a:prstGeom>
          <a:noFill/>
        </p:spPr>
        <p:txBody>
          <a:bodyPr wrap="none" lIns="0" rIns="0" tIns="0" bIns="0">
            <a:spAutoFit/>
          </a:bodyPr>
          <a:lstStyle/>
          <a:p>
            <a:r>
              <a:rPr sz="1100" b="0">
                <a:solidFill>
                  <a:srgbClr val="2E2E2E"/>
                </a:solidFill>
                <a:latin typeface="Calibri"/>
              </a:rPr>
              <a:t>Fastest: Veterinary-Guided Cognitive Dysfunction</a:t>
            </a:r>
          </a:p>
        </p:txBody>
      </p:sp>
      <p:sp>
        <p:nvSpPr>
          <p:cNvPr id="30" name="TextBox 29"/>
          <p:cNvSpPr txBox="1"/>
          <p:nvPr/>
        </p:nvSpPr>
        <p:spPr>
          <a:xfrm>
            <a:off x="8785375" y="4009994"/>
            <a:ext cx="596800" cy="186689"/>
          </a:xfrm>
          <a:prstGeom prst="rect">
            <a:avLst/>
          </a:prstGeom>
          <a:noFill/>
        </p:spPr>
        <p:txBody>
          <a:bodyPr wrap="none" lIns="0" rIns="0" tIns="0" bIns="0">
            <a:spAutoFit/>
          </a:bodyPr>
          <a:lstStyle/>
          <a:p>
            <a:r>
              <a:rPr sz="1100" b="0">
                <a:solidFill>
                  <a:srgbClr val="2E2E2E"/>
                </a:solidFill>
                <a:latin typeface="Calibri"/>
              </a:rPr>
              <a:t>Support ·</a:t>
            </a:r>
          </a:p>
        </p:txBody>
      </p:sp>
      <p:pic>
        <p:nvPicPr>
          <p:cNvPr id="31" name="Picture 30" descr="lock.png"/>
          <p:cNvPicPr>
            <a:picLocks noChangeAspect="1"/>
          </p:cNvPicPr>
          <p:nvPr/>
        </p:nvPicPr>
        <p:blipFill>
          <a:blip r:embed="rId4"/>
          <a:stretch>
            <a:fillRect/>
          </a:stretch>
        </p:blipFill>
        <p:spPr>
          <a:xfrm>
            <a:off x="9330227" y="4000215"/>
            <a:ext cx="128699" cy="187198"/>
          </a:xfrm>
          <a:prstGeom prst="rect">
            <a:avLst/>
          </a:prstGeom>
        </p:spPr>
      </p:pic>
      <p:sp>
        <p:nvSpPr>
          <p:cNvPr id="32" name="TextBox 31"/>
          <p:cNvSpPr txBox="1"/>
          <p:nvPr/>
        </p:nvSpPr>
        <p:spPr>
          <a:xfrm>
            <a:off x="9497723" y="4009994"/>
            <a:ext cx="502377" cy="186689"/>
          </a:xfrm>
          <a:prstGeom prst="rect">
            <a:avLst/>
          </a:prstGeom>
          <a:noFill/>
        </p:spPr>
        <p:txBody>
          <a:bodyPr wrap="none" lIns="0" rIns="0" tIns="0" bIns="0">
            <a:spAutoFit/>
          </a:bodyPr>
          <a:lstStyle/>
          <a:p>
            <a:r>
              <a:rPr sz="1100" b="0">
                <a:solidFill>
                  <a:srgbClr val="2E2E2E"/>
                </a:solidFill>
                <a:latin typeface="Calibri"/>
              </a:rPr>
              <a:t>F-CAGR</a:t>
            </a:r>
          </a:p>
        </p:txBody>
      </p:sp>
      <p:sp>
        <p:nvSpPr>
          <p:cNvPr id="33" name="TextBox 32"/>
          <p:cNvSpPr txBox="1"/>
          <p:nvPr/>
        </p:nvSpPr>
        <p:spPr>
          <a:xfrm>
            <a:off x="3784750" y="4882815"/>
            <a:ext cx="2673474" cy="186689"/>
          </a:xfrm>
          <a:prstGeom prst="rect">
            <a:avLst/>
          </a:prstGeom>
          <a:noFill/>
        </p:spPr>
        <p:txBody>
          <a:bodyPr wrap="none" lIns="0" rIns="0" tIns="0" bIns="0">
            <a:spAutoFit/>
          </a:bodyPr>
          <a:lstStyle/>
          <a:p>
            <a:r>
              <a:rPr sz="1100" b="0">
                <a:solidFill>
                  <a:srgbClr val="2E2E2E"/>
                </a:solidFill>
                <a:latin typeface="Calibri"/>
              </a:rPr>
              <a:t>North America is the largest regional market (</a:t>
            </a:r>
          </a:p>
        </p:txBody>
      </p:sp>
      <p:pic>
        <p:nvPicPr>
          <p:cNvPr id="34" name="Picture 33" descr="lock.png"/>
          <p:cNvPicPr>
            <a:picLocks noChangeAspect="1"/>
          </p:cNvPicPr>
          <p:nvPr/>
        </p:nvPicPr>
        <p:blipFill>
          <a:blip r:embed="rId4"/>
          <a:stretch>
            <a:fillRect/>
          </a:stretch>
        </p:blipFill>
        <p:spPr>
          <a:xfrm>
            <a:off x="6406275" y="4873036"/>
            <a:ext cx="128699" cy="187198"/>
          </a:xfrm>
          <a:prstGeom prst="rect">
            <a:avLst/>
          </a:prstGeom>
        </p:spPr>
      </p:pic>
      <p:sp>
        <p:nvSpPr>
          <p:cNvPr id="35" name="TextBox 34"/>
          <p:cNvSpPr txBox="1"/>
          <p:nvPr/>
        </p:nvSpPr>
        <p:spPr>
          <a:xfrm>
            <a:off x="6573771" y="4882815"/>
            <a:ext cx="2016720" cy="186689"/>
          </a:xfrm>
          <a:prstGeom prst="rect">
            <a:avLst/>
          </a:prstGeom>
          <a:noFill/>
        </p:spPr>
        <p:txBody>
          <a:bodyPr wrap="none" lIns="0" rIns="0" tIns="0" bIns="0">
            <a:spAutoFit/>
          </a:bodyPr>
          <a:lstStyle/>
          <a:p>
            <a:r>
              <a:rPr sz="1100" b="0">
                <a:solidFill>
                  <a:srgbClr val="2E2E2E"/>
                </a:solidFill>
                <a:latin typeface="Calibri"/>
              </a:rPr>
              <a:t>of 2036 value), while South Asia &amp;</a:t>
            </a:r>
          </a:p>
        </p:txBody>
      </p:sp>
      <p:sp>
        <p:nvSpPr>
          <p:cNvPr id="36" name="TextBox 35"/>
          <p:cNvSpPr txBox="1"/>
          <p:nvPr/>
        </p:nvSpPr>
        <p:spPr>
          <a:xfrm>
            <a:off x="3784750" y="5050455"/>
            <a:ext cx="1374154" cy="186689"/>
          </a:xfrm>
          <a:prstGeom prst="rect">
            <a:avLst/>
          </a:prstGeom>
          <a:noFill/>
        </p:spPr>
        <p:txBody>
          <a:bodyPr wrap="none" lIns="0" rIns="0" tIns="0" bIns="0">
            <a:spAutoFit/>
          </a:bodyPr>
          <a:lstStyle/>
          <a:p>
            <a:r>
              <a:rPr sz="1100" b="0">
                <a:solidFill>
                  <a:srgbClr val="2E2E2E"/>
                </a:solidFill>
                <a:latin typeface="Calibri"/>
              </a:rPr>
              <a:t>Pacific grows fastest at</a:t>
            </a:r>
          </a:p>
        </p:txBody>
      </p:sp>
      <p:pic>
        <p:nvPicPr>
          <p:cNvPr id="37" name="Picture 36" descr="lock.png"/>
          <p:cNvPicPr>
            <a:picLocks noChangeAspect="1"/>
          </p:cNvPicPr>
          <p:nvPr/>
        </p:nvPicPr>
        <p:blipFill>
          <a:blip r:embed="rId4"/>
          <a:stretch>
            <a:fillRect/>
          </a:stretch>
        </p:blipFill>
        <p:spPr>
          <a:xfrm>
            <a:off x="5106956" y="5040676"/>
            <a:ext cx="128699" cy="187198"/>
          </a:xfrm>
          <a:prstGeom prst="rect">
            <a:avLst/>
          </a:prstGeom>
        </p:spPr>
      </p:pic>
      <p:sp>
        <p:nvSpPr>
          <p:cNvPr id="38" name="TextBox 37"/>
          <p:cNvSpPr txBox="1"/>
          <p:nvPr/>
        </p:nvSpPr>
        <p:spPr>
          <a:xfrm>
            <a:off x="5274452" y="505045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39" name="TextBox 38"/>
          <p:cNvSpPr txBox="1"/>
          <p:nvPr/>
        </p:nvSpPr>
        <p:spPr>
          <a:xfrm>
            <a:off x="8785375" y="4882815"/>
            <a:ext cx="1464195" cy="186689"/>
          </a:xfrm>
          <a:prstGeom prst="rect">
            <a:avLst/>
          </a:prstGeom>
          <a:noFill/>
        </p:spPr>
        <p:txBody>
          <a:bodyPr wrap="none" lIns="0" rIns="0" tIns="0" bIns="0">
            <a:spAutoFit/>
          </a:bodyPr>
          <a:lstStyle/>
          <a:p>
            <a:r>
              <a:rPr sz="1100" b="0">
                <a:solidFill>
                  <a:srgbClr val="2E2E2E"/>
                </a:solidFill>
                <a:latin typeface="Calibri"/>
              </a:rPr>
              <a:t>Largest: North America (</a:t>
            </a:r>
          </a:p>
        </p:txBody>
      </p:sp>
      <p:pic>
        <p:nvPicPr>
          <p:cNvPr id="40" name="Picture 39" descr="lock.png"/>
          <p:cNvPicPr>
            <a:picLocks noChangeAspect="1"/>
          </p:cNvPicPr>
          <p:nvPr/>
        </p:nvPicPr>
        <p:blipFill>
          <a:blip r:embed="rId4"/>
          <a:stretch>
            <a:fillRect/>
          </a:stretch>
        </p:blipFill>
        <p:spPr>
          <a:xfrm>
            <a:off x="10197622" y="4873036"/>
            <a:ext cx="128699" cy="187198"/>
          </a:xfrm>
          <a:prstGeom prst="rect">
            <a:avLst/>
          </a:prstGeom>
        </p:spPr>
      </p:pic>
      <p:sp>
        <p:nvSpPr>
          <p:cNvPr id="41" name="TextBox 40"/>
          <p:cNvSpPr txBox="1"/>
          <p:nvPr/>
        </p:nvSpPr>
        <p:spPr>
          <a:xfrm>
            <a:off x="10365118" y="4882815"/>
            <a:ext cx="1413931" cy="186689"/>
          </a:xfrm>
          <a:prstGeom prst="rect">
            <a:avLst/>
          </a:prstGeom>
          <a:noFill/>
        </p:spPr>
        <p:txBody>
          <a:bodyPr wrap="none" lIns="0" rIns="0" tIns="0" bIns="0">
            <a:spAutoFit/>
          </a:bodyPr>
          <a:lstStyle/>
          <a:p>
            <a:r>
              <a:rPr sz="1100" b="0">
                <a:solidFill>
                  <a:srgbClr val="2E2E2E"/>
                </a:solidFill>
                <a:latin typeface="Calibri"/>
              </a:rPr>
              <a:t>) · Fastest: South Asia &amp;</a:t>
            </a:r>
          </a:p>
        </p:txBody>
      </p:sp>
      <p:sp>
        <p:nvSpPr>
          <p:cNvPr id="42" name="TextBox 41"/>
          <p:cNvSpPr txBox="1"/>
          <p:nvPr/>
        </p:nvSpPr>
        <p:spPr>
          <a:xfrm>
            <a:off x="8785375" y="5050455"/>
            <a:ext cx="514672" cy="186689"/>
          </a:xfrm>
          <a:prstGeom prst="rect">
            <a:avLst/>
          </a:prstGeom>
          <a:noFill/>
        </p:spPr>
        <p:txBody>
          <a:bodyPr wrap="none" lIns="0" rIns="0" tIns="0" bIns="0">
            <a:spAutoFit/>
          </a:bodyPr>
          <a:lstStyle/>
          <a:p>
            <a:r>
              <a:rPr sz="1100" b="0">
                <a:solidFill>
                  <a:srgbClr val="2E2E2E"/>
                </a:solidFill>
                <a:latin typeface="Calibri"/>
              </a:rPr>
              <a:t>Pacific (</a:t>
            </a:r>
          </a:p>
        </p:txBody>
      </p:sp>
      <p:pic>
        <p:nvPicPr>
          <p:cNvPr id="43" name="Picture 42" descr="lock.png"/>
          <p:cNvPicPr>
            <a:picLocks noChangeAspect="1"/>
          </p:cNvPicPr>
          <p:nvPr/>
        </p:nvPicPr>
        <p:blipFill>
          <a:blip r:embed="rId4"/>
          <a:stretch>
            <a:fillRect/>
          </a:stretch>
        </p:blipFill>
        <p:spPr>
          <a:xfrm>
            <a:off x="9248099" y="5040676"/>
            <a:ext cx="128699" cy="187198"/>
          </a:xfrm>
          <a:prstGeom prst="rect">
            <a:avLst/>
          </a:prstGeom>
        </p:spPr>
      </p:pic>
      <p:sp>
        <p:nvSpPr>
          <p:cNvPr id="44" name="TextBox 43"/>
          <p:cNvSpPr txBox="1"/>
          <p:nvPr/>
        </p:nvSpPr>
        <p:spPr>
          <a:xfrm>
            <a:off x="9415594" y="5050455"/>
            <a:ext cx="118491" cy="186689"/>
          </a:xfrm>
          <a:prstGeom prst="rect">
            <a:avLst/>
          </a:prstGeom>
          <a:noFill/>
        </p:spPr>
        <p:txBody>
          <a:bodyPr wrap="none" lIns="0" rIns="0" tIns="0" bIns="0">
            <a:spAutoFit/>
          </a:bodyPr>
          <a:lstStyle/>
          <a:p>
            <a:r>
              <a:rPr sz="1100" b="0">
                <a:solidFill>
                  <a:srgbClr val="2E2E2E"/>
                </a:solidFill>
                <a:latin typeface="Calibri"/>
              </a:rPr>
              <a:t>)</a:t>
            </a:r>
          </a:p>
        </p:txBody>
      </p:sp>
      <p:sp>
        <p:nvSpPr>
          <p:cNvPr id="45" name="TextBox 44"/>
          <p:cNvSpPr txBox="1"/>
          <p:nvPr/>
        </p:nvSpPr>
        <p:spPr>
          <a:xfrm>
            <a:off x="3784750" y="5923276"/>
            <a:ext cx="945777" cy="186689"/>
          </a:xfrm>
          <a:prstGeom prst="rect">
            <a:avLst/>
          </a:prstGeom>
          <a:noFill/>
        </p:spPr>
        <p:txBody>
          <a:bodyPr wrap="none" lIns="0" rIns="0" tIns="0" bIns="0">
            <a:spAutoFit/>
          </a:bodyPr>
          <a:lstStyle/>
          <a:p>
            <a:r>
              <a:rPr sz="1100" b="0">
                <a:solidFill>
                  <a:srgbClr val="2E2E2E"/>
                </a:solidFill>
                <a:latin typeface="Calibri"/>
              </a:rPr>
              <a:t>An incremental</a:t>
            </a:r>
          </a:p>
        </p:txBody>
      </p:sp>
      <p:pic>
        <p:nvPicPr>
          <p:cNvPr id="46" name="Picture 45" descr="lock.png"/>
          <p:cNvPicPr>
            <a:picLocks noChangeAspect="1"/>
          </p:cNvPicPr>
          <p:nvPr/>
        </p:nvPicPr>
        <p:blipFill>
          <a:blip r:embed="rId4"/>
          <a:stretch>
            <a:fillRect/>
          </a:stretch>
        </p:blipFill>
        <p:spPr>
          <a:xfrm>
            <a:off x="4678579" y="5913497"/>
            <a:ext cx="128699" cy="187198"/>
          </a:xfrm>
          <a:prstGeom prst="rect">
            <a:avLst/>
          </a:prstGeom>
        </p:spPr>
      </p:pic>
      <p:sp>
        <p:nvSpPr>
          <p:cNvPr id="47" name="TextBox 46"/>
          <p:cNvSpPr txBox="1"/>
          <p:nvPr/>
        </p:nvSpPr>
        <p:spPr>
          <a:xfrm>
            <a:off x="4846075" y="5923276"/>
            <a:ext cx="3125043" cy="186689"/>
          </a:xfrm>
          <a:prstGeom prst="rect">
            <a:avLst/>
          </a:prstGeom>
          <a:noFill/>
        </p:spPr>
        <p:txBody>
          <a:bodyPr wrap="none" lIns="0" rIns="0" tIns="0" bIns="0">
            <a:spAutoFit/>
          </a:bodyPr>
          <a:lstStyle/>
          <a:p>
            <a:r>
              <a:rPr sz="1100" b="0">
                <a:solidFill>
                  <a:srgbClr val="2E2E2E"/>
                </a:solidFill>
                <a:latin typeface="Calibri"/>
              </a:rPr>
              <a:t>US$ Mn of demand is added between 2026 and 2036,</a:t>
            </a:r>
          </a:p>
        </p:txBody>
      </p:sp>
      <p:sp>
        <p:nvSpPr>
          <p:cNvPr id="48" name="TextBox 47"/>
          <p:cNvSpPr txBox="1"/>
          <p:nvPr/>
        </p:nvSpPr>
        <p:spPr>
          <a:xfrm>
            <a:off x="3784750" y="6090916"/>
            <a:ext cx="3324497" cy="186689"/>
          </a:xfrm>
          <a:prstGeom prst="rect">
            <a:avLst/>
          </a:prstGeom>
          <a:noFill/>
        </p:spPr>
        <p:txBody>
          <a:bodyPr wrap="none" lIns="0" rIns="0" tIns="0" bIns="0">
            <a:spAutoFit/>
          </a:bodyPr>
          <a:lstStyle/>
          <a:p>
            <a:r>
              <a:rPr sz="1100" b="0">
                <a:solidFill>
                  <a:srgbClr val="2E2E2E"/>
                </a:solidFill>
                <a:latin typeface="Calibri"/>
              </a:rPr>
              <a:t>front-loaded in the leading categories and regions above.</a:t>
            </a:r>
          </a:p>
        </p:txBody>
      </p:sp>
      <p:sp>
        <p:nvSpPr>
          <p:cNvPr id="49" name="TextBox 48"/>
          <p:cNvSpPr txBox="1"/>
          <p:nvPr/>
        </p:nvSpPr>
        <p:spPr>
          <a:xfrm>
            <a:off x="8785375" y="6007096"/>
            <a:ext cx="857919" cy="186689"/>
          </a:xfrm>
          <a:prstGeom prst="rect">
            <a:avLst/>
          </a:prstGeom>
          <a:noFill/>
        </p:spPr>
        <p:txBody>
          <a:bodyPr wrap="none" lIns="0" rIns="0" tIns="0" bIns="0">
            <a:spAutoFit/>
          </a:bodyPr>
          <a:lstStyle/>
          <a:p>
            <a:r>
              <a:rPr sz="1100" b="0">
                <a:solidFill>
                  <a:srgbClr val="2E2E2E"/>
                </a:solidFill>
                <a:latin typeface="Calibri"/>
              </a:rPr>
              <a:t>$ opportunity</a:t>
            </a:r>
          </a:p>
        </p:txBody>
      </p:sp>
      <p:pic>
        <p:nvPicPr>
          <p:cNvPr id="50" name="Picture 49" descr="lock.png"/>
          <p:cNvPicPr>
            <a:picLocks noChangeAspect="1"/>
          </p:cNvPicPr>
          <p:nvPr/>
        </p:nvPicPr>
        <p:blipFill>
          <a:blip r:embed="rId4"/>
          <a:stretch>
            <a:fillRect/>
          </a:stretch>
        </p:blipFill>
        <p:spPr>
          <a:xfrm>
            <a:off x="9591346" y="5997317"/>
            <a:ext cx="128699" cy="187198"/>
          </a:xfrm>
          <a:prstGeom prst="rect">
            <a:avLst/>
          </a:prstGeom>
        </p:spPr>
      </p:pic>
      <p:sp>
        <p:nvSpPr>
          <p:cNvPr id="51" name="TextBox 50"/>
          <p:cNvSpPr txBox="1"/>
          <p:nvPr/>
        </p:nvSpPr>
        <p:spPr>
          <a:xfrm>
            <a:off x="9758842" y="6007096"/>
            <a:ext cx="1345778" cy="186689"/>
          </a:xfrm>
          <a:prstGeom prst="rect">
            <a:avLst/>
          </a:prstGeom>
          <a:noFill/>
        </p:spPr>
        <p:txBody>
          <a:bodyPr wrap="none" lIns="0" rIns="0" tIns="0" bIns="0">
            <a:spAutoFit/>
          </a:bodyPr>
          <a:lstStyle/>
          <a:p>
            <a:r>
              <a:rPr sz="1100" b="0">
                <a:solidFill>
                  <a:srgbClr val="2E2E2E"/>
                </a:solidFill>
                <a:latin typeface="Calibri"/>
              </a:rPr>
              <a:t>US$ Mn (2026–2036) ·</a:t>
            </a:r>
          </a:p>
        </p:txBody>
      </p:sp>
      <p:pic>
        <p:nvPicPr>
          <p:cNvPr id="52" name="Picture 51" descr="lock.png"/>
          <p:cNvPicPr>
            <a:picLocks noChangeAspect="1"/>
          </p:cNvPicPr>
          <p:nvPr/>
        </p:nvPicPr>
        <p:blipFill>
          <a:blip r:embed="rId4"/>
          <a:stretch>
            <a:fillRect/>
          </a:stretch>
        </p:blipFill>
        <p:spPr>
          <a:xfrm>
            <a:off x="11052672" y="5997317"/>
            <a:ext cx="128699" cy="187198"/>
          </a:xfrm>
          <a:prstGeom prst="rect">
            <a:avLst/>
          </a:prstGeom>
        </p:spPr>
      </p:pic>
      <p:sp>
        <p:nvSpPr>
          <p:cNvPr id="53" name="TextBox 52"/>
          <p:cNvSpPr txBox="1"/>
          <p:nvPr/>
        </p:nvSpPr>
        <p:spPr>
          <a:xfrm>
            <a:off x="11220167" y="6007096"/>
            <a:ext cx="528315" cy="186689"/>
          </a:xfrm>
          <a:prstGeom prst="rect">
            <a:avLst/>
          </a:prstGeom>
          <a:noFill/>
        </p:spPr>
        <p:txBody>
          <a:bodyPr wrap="none" lIns="0" rIns="0" tIns="0" bIns="0">
            <a:spAutoFit/>
          </a:bodyPr>
          <a:lstStyle/>
          <a:p>
            <a:r>
              <a:rPr sz="1100" b="0">
                <a:solidFill>
                  <a:srgbClr val="2E2E2E"/>
                </a:solidFill>
                <a:latin typeface="Calibri"/>
              </a:rPr>
              <a:t>by 2031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Senior Dog Cognitive Supplement Market</a:t>
            </a:r>
          </a:p>
        </p:txBody>
      </p:sp>
      <p:sp>
        <p:nvSpPr>
          <p:cNvPr id="6" name="FMI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Market Overview</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Taxonomy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Table of Contents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List of Figures, List of Tables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Market Taxonomy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Geographic Coverage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Segments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Coverage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Regions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Geographic scope of the study: the global market broken into 6 regions and the countries assessed under each</a:t>
            </a:r>
          </a:p>
        </p:txBody>
      </p:sp>
      <p:cxnSp>
        <p:nvCxnSpPr>
          <p:cNvPr id="10" name="Connector 9"/>
          <p:cNvCxnSpPr/>
          <p:nvPr/>
        </p:nvCxnSpPr>
        <p:spPr>
          <a:xfrm>
            <a:off x="6096000" y="1682648"/>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85850" y="1846931"/>
            <a:ext cx="10010775" cy="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85850"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086100"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86350"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096125"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096375"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096625"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52525"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2525"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152775"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152775"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152775" y="310643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153025"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153025" y="2750489"/>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153025" y="309730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53025" y="3453257"/>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153025" y="3800077"/>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153025" y="4146897"/>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153025" y="4493717"/>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153025" y="4849664"/>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153025" y="5196485"/>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153025" y="5543305"/>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153025" y="589012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153025" y="6246072"/>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162800"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162800"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162800" y="310643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163050"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163050"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163050" y="310643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163050" y="346238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163050" y="3818331"/>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163050" y="4174278"/>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163050" y="453022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163050" y="488617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163050" y="524211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1163300"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163300"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163300" y="310643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1163300" y="346238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1163300" y="3818331"/>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1163300" y="4174278"/>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1163300" y="453022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4524375" y="1080276"/>
            <a:ext cx="3143250" cy="602372"/>
          </a:xfrm>
          <a:prstGeom prst="roundRect">
            <a:avLst>
              <a:gd name="adj" fmla="val 10606"/>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500" b="1">
                <a:solidFill>
                  <a:srgbClr val="FFFFFF"/>
                </a:solidFill>
                <a:latin typeface="Calibri"/>
              </a:rPr>
              <a:t>Senior Dog Cognitive Supplement Market</a:t>
            </a:r>
          </a:p>
        </p:txBody>
      </p:sp>
      <p:sp>
        <p:nvSpPr>
          <p:cNvPr id="55" name="Rounded Rectangle 54"/>
          <p:cNvSpPr/>
          <p:nvPr/>
        </p:nvSpPr>
        <p:spPr>
          <a:xfrm>
            <a:off x="142875"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North America</a:t>
            </a:r>
          </a:p>
        </p:txBody>
      </p:sp>
      <p:sp>
        <p:nvSpPr>
          <p:cNvPr id="56" name="Rounded Rectangle 55"/>
          <p:cNvSpPr/>
          <p:nvPr/>
        </p:nvSpPr>
        <p:spPr>
          <a:xfrm>
            <a:off x="276225"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U.S.</a:t>
            </a:r>
          </a:p>
        </p:txBody>
      </p:sp>
      <p:sp>
        <p:nvSpPr>
          <p:cNvPr id="57" name="Rounded Rectangle 56"/>
          <p:cNvSpPr/>
          <p:nvPr/>
        </p:nvSpPr>
        <p:spPr>
          <a:xfrm>
            <a:off x="276225"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Canada</a:t>
            </a:r>
          </a:p>
        </p:txBody>
      </p:sp>
      <p:sp>
        <p:nvSpPr>
          <p:cNvPr id="58" name="Rounded Rectangle 57"/>
          <p:cNvSpPr/>
          <p:nvPr/>
        </p:nvSpPr>
        <p:spPr>
          <a:xfrm>
            <a:off x="2143125"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Latin America</a:t>
            </a:r>
          </a:p>
        </p:txBody>
      </p:sp>
      <p:sp>
        <p:nvSpPr>
          <p:cNvPr id="59" name="Rounded Rectangle 58"/>
          <p:cNvSpPr/>
          <p:nvPr/>
        </p:nvSpPr>
        <p:spPr>
          <a:xfrm>
            <a:off x="2276475"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Brazil</a:t>
            </a:r>
          </a:p>
        </p:txBody>
      </p:sp>
      <p:sp>
        <p:nvSpPr>
          <p:cNvPr id="60" name="Rounded Rectangle 59"/>
          <p:cNvSpPr/>
          <p:nvPr/>
        </p:nvSpPr>
        <p:spPr>
          <a:xfrm>
            <a:off x="2276475"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Mexico</a:t>
            </a:r>
          </a:p>
        </p:txBody>
      </p:sp>
      <p:sp>
        <p:nvSpPr>
          <p:cNvPr id="61" name="Rounded Rectangle 60"/>
          <p:cNvSpPr/>
          <p:nvPr/>
        </p:nvSpPr>
        <p:spPr>
          <a:xfrm>
            <a:off x="2276475" y="3179451"/>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LATAM</a:t>
            </a:r>
          </a:p>
        </p:txBody>
      </p:sp>
      <p:sp>
        <p:nvSpPr>
          <p:cNvPr id="62" name="Rounded Rectangle 61"/>
          <p:cNvSpPr/>
          <p:nvPr/>
        </p:nvSpPr>
        <p:spPr>
          <a:xfrm>
            <a:off x="4143375"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Europe</a:t>
            </a:r>
          </a:p>
        </p:txBody>
      </p:sp>
      <p:sp>
        <p:nvSpPr>
          <p:cNvPr id="63" name="Rounded Rectangle 62"/>
          <p:cNvSpPr/>
          <p:nvPr/>
        </p:nvSpPr>
        <p:spPr>
          <a:xfrm>
            <a:off x="4276725"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Germany</a:t>
            </a:r>
          </a:p>
        </p:txBody>
      </p:sp>
      <p:sp>
        <p:nvSpPr>
          <p:cNvPr id="64" name="Rounded Rectangle 63"/>
          <p:cNvSpPr/>
          <p:nvPr/>
        </p:nvSpPr>
        <p:spPr>
          <a:xfrm>
            <a:off x="4276725" y="281437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U.K.</a:t>
            </a:r>
          </a:p>
        </p:txBody>
      </p:sp>
      <p:sp>
        <p:nvSpPr>
          <p:cNvPr id="65" name="Rounded Rectangle 64"/>
          <p:cNvSpPr/>
          <p:nvPr/>
        </p:nvSpPr>
        <p:spPr>
          <a:xfrm>
            <a:off x="4276725" y="317032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France</a:t>
            </a:r>
          </a:p>
        </p:txBody>
      </p:sp>
      <p:sp>
        <p:nvSpPr>
          <p:cNvPr id="66" name="Rounded Rectangle 65"/>
          <p:cNvSpPr/>
          <p:nvPr/>
        </p:nvSpPr>
        <p:spPr>
          <a:xfrm>
            <a:off x="4276725" y="351714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Italy</a:t>
            </a:r>
          </a:p>
        </p:txBody>
      </p:sp>
      <p:sp>
        <p:nvSpPr>
          <p:cNvPr id="67" name="Rounded Rectangle 66"/>
          <p:cNvSpPr/>
          <p:nvPr/>
        </p:nvSpPr>
        <p:spPr>
          <a:xfrm>
            <a:off x="4276725" y="386396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Spain</a:t>
            </a:r>
          </a:p>
        </p:txBody>
      </p:sp>
      <p:sp>
        <p:nvSpPr>
          <p:cNvPr id="68" name="Rounded Rectangle 67"/>
          <p:cNvSpPr/>
          <p:nvPr/>
        </p:nvSpPr>
        <p:spPr>
          <a:xfrm>
            <a:off x="4276725" y="421078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Belgium</a:t>
            </a:r>
          </a:p>
        </p:txBody>
      </p:sp>
      <p:sp>
        <p:nvSpPr>
          <p:cNvPr id="69" name="Rounded Rectangle 68"/>
          <p:cNvSpPr/>
          <p:nvPr/>
        </p:nvSpPr>
        <p:spPr>
          <a:xfrm>
            <a:off x="4276725" y="4566732"/>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Netherlands</a:t>
            </a:r>
          </a:p>
        </p:txBody>
      </p:sp>
      <p:sp>
        <p:nvSpPr>
          <p:cNvPr id="70" name="Rounded Rectangle 69"/>
          <p:cNvSpPr/>
          <p:nvPr/>
        </p:nvSpPr>
        <p:spPr>
          <a:xfrm>
            <a:off x="4276725" y="4913552"/>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Nordic</a:t>
            </a:r>
          </a:p>
        </p:txBody>
      </p:sp>
      <p:sp>
        <p:nvSpPr>
          <p:cNvPr id="71" name="Rounded Rectangle 70"/>
          <p:cNvSpPr/>
          <p:nvPr/>
        </p:nvSpPr>
        <p:spPr>
          <a:xfrm>
            <a:off x="4276725" y="5260373"/>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Russia</a:t>
            </a:r>
          </a:p>
        </p:txBody>
      </p:sp>
      <p:sp>
        <p:nvSpPr>
          <p:cNvPr id="72" name="Rounded Rectangle 71"/>
          <p:cNvSpPr/>
          <p:nvPr/>
        </p:nvSpPr>
        <p:spPr>
          <a:xfrm>
            <a:off x="4276725" y="5607193"/>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Poland</a:t>
            </a:r>
          </a:p>
        </p:txBody>
      </p:sp>
      <p:sp>
        <p:nvSpPr>
          <p:cNvPr id="73" name="Rounded Rectangle 72"/>
          <p:cNvSpPr/>
          <p:nvPr/>
        </p:nvSpPr>
        <p:spPr>
          <a:xfrm>
            <a:off x="4276725" y="5963140"/>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Switzerland</a:t>
            </a:r>
          </a:p>
        </p:txBody>
      </p:sp>
      <p:sp>
        <p:nvSpPr>
          <p:cNvPr id="74" name="Rounded Rectangle 73"/>
          <p:cNvSpPr/>
          <p:nvPr/>
        </p:nvSpPr>
        <p:spPr>
          <a:xfrm>
            <a:off x="4276725" y="6309960"/>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Europe</a:t>
            </a:r>
          </a:p>
        </p:txBody>
      </p:sp>
      <p:sp>
        <p:nvSpPr>
          <p:cNvPr id="75" name="Rounded Rectangle 74"/>
          <p:cNvSpPr/>
          <p:nvPr/>
        </p:nvSpPr>
        <p:spPr>
          <a:xfrm>
            <a:off x="6153150"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East Asia</a:t>
            </a:r>
          </a:p>
        </p:txBody>
      </p:sp>
      <p:sp>
        <p:nvSpPr>
          <p:cNvPr id="76" name="Rounded Rectangle 75"/>
          <p:cNvSpPr/>
          <p:nvPr/>
        </p:nvSpPr>
        <p:spPr>
          <a:xfrm>
            <a:off x="6286500"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China</a:t>
            </a:r>
          </a:p>
        </p:txBody>
      </p:sp>
      <p:sp>
        <p:nvSpPr>
          <p:cNvPr id="77" name="Rounded Rectangle 76"/>
          <p:cNvSpPr/>
          <p:nvPr/>
        </p:nvSpPr>
        <p:spPr>
          <a:xfrm>
            <a:off x="6286500"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Japan</a:t>
            </a:r>
          </a:p>
        </p:txBody>
      </p:sp>
      <p:sp>
        <p:nvSpPr>
          <p:cNvPr id="78" name="Rounded Rectangle 77"/>
          <p:cNvSpPr/>
          <p:nvPr/>
        </p:nvSpPr>
        <p:spPr>
          <a:xfrm>
            <a:off x="6286500" y="3179451"/>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South Korea</a:t>
            </a:r>
          </a:p>
        </p:txBody>
      </p:sp>
      <p:sp>
        <p:nvSpPr>
          <p:cNvPr id="79" name="Rounded Rectangle 78"/>
          <p:cNvSpPr/>
          <p:nvPr/>
        </p:nvSpPr>
        <p:spPr>
          <a:xfrm>
            <a:off x="8153400"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South Asia &amp; Pacific</a:t>
            </a:r>
          </a:p>
        </p:txBody>
      </p:sp>
      <p:sp>
        <p:nvSpPr>
          <p:cNvPr id="80" name="Rounded Rectangle 79"/>
          <p:cNvSpPr/>
          <p:nvPr/>
        </p:nvSpPr>
        <p:spPr>
          <a:xfrm>
            <a:off x="8286750"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India</a:t>
            </a:r>
          </a:p>
        </p:txBody>
      </p:sp>
      <p:sp>
        <p:nvSpPr>
          <p:cNvPr id="81" name="Rounded Rectangle 80"/>
          <p:cNvSpPr/>
          <p:nvPr/>
        </p:nvSpPr>
        <p:spPr>
          <a:xfrm>
            <a:off x="8286750"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Thailand</a:t>
            </a:r>
          </a:p>
        </p:txBody>
      </p:sp>
      <p:sp>
        <p:nvSpPr>
          <p:cNvPr id="82" name="Rounded Rectangle 81"/>
          <p:cNvSpPr/>
          <p:nvPr/>
        </p:nvSpPr>
        <p:spPr>
          <a:xfrm>
            <a:off x="8286750" y="3179451"/>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Malaysia</a:t>
            </a:r>
          </a:p>
        </p:txBody>
      </p:sp>
      <p:sp>
        <p:nvSpPr>
          <p:cNvPr id="83" name="Rounded Rectangle 82"/>
          <p:cNvSpPr/>
          <p:nvPr/>
        </p:nvSpPr>
        <p:spPr>
          <a:xfrm>
            <a:off x="8286750" y="3535398"/>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Indonesia</a:t>
            </a:r>
          </a:p>
        </p:txBody>
      </p:sp>
      <p:sp>
        <p:nvSpPr>
          <p:cNvPr id="84" name="Rounded Rectangle 83"/>
          <p:cNvSpPr/>
          <p:nvPr/>
        </p:nvSpPr>
        <p:spPr>
          <a:xfrm>
            <a:off x="8286750" y="389134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Philippines</a:t>
            </a:r>
          </a:p>
        </p:txBody>
      </p:sp>
      <p:sp>
        <p:nvSpPr>
          <p:cNvPr id="85" name="Rounded Rectangle 84"/>
          <p:cNvSpPr/>
          <p:nvPr/>
        </p:nvSpPr>
        <p:spPr>
          <a:xfrm>
            <a:off x="8286750" y="4247292"/>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Singapore</a:t>
            </a:r>
          </a:p>
        </p:txBody>
      </p:sp>
      <p:sp>
        <p:nvSpPr>
          <p:cNvPr id="86" name="Rounded Rectangle 85"/>
          <p:cNvSpPr/>
          <p:nvPr/>
        </p:nvSpPr>
        <p:spPr>
          <a:xfrm>
            <a:off x="8286750" y="4603240"/>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Australia</a:t>
            </a:r>
          </a:p>
        </p:txBody>
      </p:sp>
      <p:sp>
        <p:nvSpPr>
          <p:cNvPr id="87" name="Rounded Rectangle 86"/>
          <p:cNvSpPr/>
          <p:nvPr/>
        </p:nvSpPr>
        <p:spPr>
          <a:xfrm>
            <a:off x="8286750" y="495918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New Zealand</a:t>
            </a:r>
          </a:p>
        </p:txBody>
      </p:sp>
      <p:sp>
        <p:nvSpPr>
          <p:cNvPr id="88" name="Rounded Rectangle 87"/>
          <p:cNvSpPr/>
          <p:nvPr/>
        </p:nvSpPr>
        <p:spPr>
          <a:xfrm>
            <a:off x="8286750" y="531513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South East Asia</a:t>
            </a:r>
          </a:p>
        </p:txBody>
      </p:sp>
      <p:sp>
        <p:nvSpPr>
          <p:cNvPr id="89" name="Rounded Rectangle 88"/>
          <p:cNvSpPr/>
          <p:nvPr/>
        </p:nvSpPr>
        <p:spPr>
          <a:xfrm>
            <a:off x="10153650"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Middle East &amp; Africa</a:t>
            </a:r>
          </a:p>
        </p:txBody>
      </p:sp>
      <p:sp>
        <p:nvSpPr>
          <p:cNvPr id="90" name="Rounded Rectangle 89"/>
          <p:cNvSpPr/>
          <p:nvPr/>
        </p:nvSpPr>
        <p:spPr>
          <a:xfrm>
            <a:off x="10287000"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UAE</a:t>
            </a:r>
          </a:p>
        </p:txBody>
      </p:sp>
      <p:sp>
        <p:nvSpPr>
          <p:cNvPr id="91" name="Rounded Rectangle 90"/>
          <p:cNvSpPr/>
          <p:nvPr/>
        </p:nvSpPr>
        <p:spPr>
          <a:xfrm>
            <a:off x="10287000"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Saudi Arabia</a:t>
            </a:r>
          </a:p>
        </p:txBody>
      </p:sp>
      <p:sp>
        <p:nvSpPr>
          <p:cNvPr id="92" name="Rounded Rectangle 91"/>
          <p:cNvSpPr/>
          <p:nvPr/>
        </p:nvSpPr>
        <p:spPr>
          <a:xfrm>
            <a:off x="10287000" y="3179451"/>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Turkey</a:t>
            </a:r>
          </a:p>
        </p:txBody>
      </p:sp>
      <p:sp>
        <p:nvSpPr>
          <p:cNvPr id="93" name="Rounded Rectangle 92"/>
          <p:cNvSpPr/>
          <p:nvPr/>
        </p:nvSpPr>
        <p:spPr>
          <a:xfrm>
            <a:off x="10287000" y="3535398"/>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Israel</a:t>
            </a:r>
          </a:p>
        </p:txBody>
      </p:sp>
      <p:sp>
        <p:nvSpPr>
          <p:cNvPr id="94" name="Rounded Rectangle 93"/>
          <p:cNvSpPr/>
          <p:nvPr/>
        </p:nvSpPr>
        <p:spPr>
          <a:xfrm>
            <a:off x="10287000" y="389134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GCC</a:t>
            </a:r>
          </a:p>
        </p:txBody>
      </p:sp>
      <p:sp>
        <p:nvSpPr>
          <p:cNvPr id="95" name="Rounded Rectangle 94"/>
          <p:cNvSpPr/>
          <p:nvPr/>
        </p:nvSpPr>
        <p:spPr>
          <a:xfrm>
            <a:off x="10287000" y="4247292"/>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South Africa</a:t>
            </a:r>
          </a:p>
        </p:txBody>
      </p:sp>
      <p:sp>
        <p:nvSpPr>
          <p:cNvPr id="96" name="Rounded Rectangle 95"/>
          <p:cNvSpPr/>
          <p:nvPr/>
        </p:nvSpPr>
        <p:spPr>
          <a:xfrm>
            <a:off x="10287000" y="4603240"/>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MEA</a:t>
            </a:r>
          </a:p>
        </p:txBody>
      </p:sp>
      <p:sp>
        <p:nvSpPr>
          <p:cNvPr id="97" name="TextBox 9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Segments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Segmentation framework of the study: 5 axes and the sub-segments sized under each</a:t>
            </a:r>
          </a:p>
        </p:txBody>
      </p:sp>
      <p:sp>
        <p:nvSpPr>
          <p:cNvPr id="10" name="Rectangle 9"/>
          <p:cNvSpPr/>
          <p:nvPr/>
        </p:nvSpPr>
        <p:spPr>
          <a:xfrm>
            <a:off x="142875" y="1028700"/>
            <a:ext cx="2876550" cy="12915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8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90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Form Type</a:t>
            </a:r>
          </a:p>
        </p:txBody>
      </p:sp>
      <p:sp>
        <p:nvSpPr>
          <p:cNvPr id="13" name="TextBox 12"/>
          <p:cNvSpPr txBox="1"/>
          <p:nvPr/>
        </p:nvSpPr>
        <p:spPr>
          <a:xfrm>
            <a:off x="2000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 name="TextBox 13"/>
          <p:cNvSpPr txBox="1"/>
          <p:nvPr/>
        </p:nvSpPr>
        <p:spPr>
          <a:xfrm>
            <a:off x="3905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Chewables</a:t>
            </a:r>
          </a:p>
        </p:txBody>
      </p:sp>
      <p:cxnSp>
        <p:nvCxnSpPr>
          <p:cNvPr id="15" name="Connector 14"/>
          <p:cNvCxnSpPr/>
          <p:nvPr/>
        </p:nvCxnSpPr>
        <p:spPr>
          <a:xfrm>
            <a:off x="1524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000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 name="TextBox 16"/>
          <p:cNvSpPr txBox="1"/>
          <p:nvPr/>
        </p:nvSpPr>
        <p:spPr>
          <a:xfrm>
            <a:off x="3905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Tablets</a:t>
            </a:r>
          </a:p>
        </p:txBody>
      </p:sp>
      <p:cxnSp>
        <p:nvCxnSpPr>
          <p:cNvPr id="18" name="Connector 17"/>
          <p:cNvCxnSpPr/>
          <p:nvPr/>
        </p:nvCxnSpPr>
        <p:spPr>
          <a:xfrm>
            <a:off x="1524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000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 name="TextBox 19"/>
          <p:cNvSpPr txBox="1"/>
          <p:nvPr/>
        </p:nvSpPr>
        <p:spPr>
          <a:xfrm>
            <a:off x="3905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Capsules and Softgels</a:t>
            </a:r>
          </a:p>
        </p:txBody>
      </p:sp>
      <p:cxnSp>
        <p:nvCxnSpPr>
          <p:cNvPr id="21" name="Connector 20"/>
          <p:cNvCxnSpPr/>
          <p:nvPr/>
        </p:nvCxnSpPr>
        <p:spPr>
          <a:xfrm>
            <a:off x="1524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000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 name="TextBox 22"/>
          <p:cNvSpPr txBox="1"/>
          <p:nvPr/>
        </p:nvSpPr>
        <p:spPr>
          <a:xfrm>
            <a:off x="390525" y="17887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Powders and Granules</a:t>
            </a:r>
          </a:p>
        </p:txBody>
      </p:sp>
      <p:cxnSp>
        <p:nvCxnSpPr>
          <p:cNvPr id="24" name="Connector 23"/>
          <p:cNvCxnSpPr/>
          <p:nvPr/>
        </p:nvCxnSpPr>
        <p:spPr>
          <a:xfrm>
            <a:off x="1524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0002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390525" y="196596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Liquids</a:t>
            </a:r>
          </a:p>
        </p:txBody>
      </p:sp>
      <p:cxnSp>
        <p:nvCxnSpPr>
          <p:cNvPr id="27" name="Connector 26"/>
          <p:cNvCxnSpPr/>
          <p:nvPr/>
        </p:nvCxnSpPr>
        <p:spPr>
          <a:xfrm>
            <a:off x="1524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0002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 name="TextBox 28"/>
          <p:cNvSpPr txBox="1"/>
          <p:nvPr/>
        </p:nvSpPr>
        <p:spPr>
          <a:xfrm>
            <a:off x="390525" y="214312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Gels and Pastes</a:t>
            </a:r>
          </a:p>
        </p:txBody>
      </p:sp>
      <p:sp>
        <p:nvSpPr>
          <p:cNvPr id="30" name="Rectangle 29"/>
          <p:cNvSpPr/>
          <p:nvPr/>
        </p:nvSpPr>
        <p:spPr>
          <a:xfrm>
            <a:off x="142875" y="2434590"/>
            <a:ext cx="2876550" cy="12915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42875" y="243459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075" y="243459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Sales Channel</a:t>
            </a:r>
          </a:p>
        </p:txBody>
      </p:sp>
      <p:sp>
        <p:nvSpPr>
          <p:cNvPr id="33" name="TextBox 32"/>
          <p:cNvSpPr txBox="1"/>
          <p:nvPr/>
        </p:nvSpPr>
        <p:spPr>
          <a:xfrm>
            <a:off x="200025" y="26631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4" name="TextBox 33"/>
          <p:cNvSpPr txBox="1"/>
          <p:nvPr/>
        </p:nvSpPr>
        <p:spPr>
          <a:xfrm>
            <a:off x="390525" y="266319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Veterinary Channels</a:t>
            </a:r>
          </a:p>
        </p:txBody>
      </p:sp>
      <p:cxnSp>
        <p:nvCxnSpPr>
          <p:cNvPr id="35" name="Connector 34"/>
          <p:cNvCxnSpPr/>
          <p:nvPr/>
        </p:nvCxnSpPr>
        <p:spPr>
          <a:xfrm>
            <a:off x="152400" y="28403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00025" y="28403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7" name="TextBox 36"/>
          <p:cNvSpPr txBox="1"/>
          <p:nvPr/>
        </p:nvSpPr>
        <p:spPr>
          <a:xfrm>
            <a:off x="390525" y="284035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Specialist Pet Retail</a:t>
            </a:r>
          </a:p>
        </p:txBody>
      </p:sp>
      <p:cxnSp>
        <p:nvCxnSpPr>
          <p:cNvPr id="38" name="Connector 37"/>
          <p:cNvCxnSpPr/>
          <p:nvPr/>
        </p:nvCxnSpPr>
        <p:spPr>
          <a:xfrm>
            <a:off x="152400" y="30175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00025" y="30175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0" name="TextBox 39"/>
          <p:cNvSpPr txBox="1"/>
          <p:nvPr/>
        </p:nvSpPr>
        <p:spPr>
          <a:xfrm>
            <a:off x="390525" y="301752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General Retail</a:t>
            </a:r>
          </a:p>
        </p:txBody>
      </p:sp>
      <p:cxnSp>
        <p:nvCxnSpPr>
          <p:cNvPr id="41" name="Connector 40"/>
          <p:cNvCxnSpPr/>
          <p:nvPr/>
        </p:nvCxnSpPr>
        <p:spPr>
          <a:xfrm>
            <a:off x="152400" y="31946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200025" y="31946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3" name="TextBox 42"/>
          <p:cNvSpPr txBox="1"/>
          <p:nvPr/>
        </p:nvSpPr>
        <p:spPr>
          <a:xfrm>
            <a:off x="390525" y="319468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Brand-Owned E-commerce</a:t>
            </a:r>
          </a:p>
        </p:txBody>
      </p:sp>
      <p:cxnSp>
        <p:nvCxnSpPr>
          <p:cNvPr id="44" name="Connector 43"/>
          <p:cNvCxnSpPr/>
          <p:nvPr/>
        </p:nvCxnSpPr>
        <p:spPr>
          <a:xfrm>
            <a:off x="152400" y="33718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200025" y="33718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6" name="TextBox 45"/>
          <p:cNvSpPr txBox="1"/>
          <p:nvPr/>
        </p:nvSpPr>
        <p:spPr>
          <a:xfrm>
            <a:off x="390525" y="337185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Third-Party E-commerce</a:t>
            </a:r>
          </a:p>
        </p:txBody>
      </p:sp>
      <p:cxnSp>
        <p:nvCxnSpPr>
          <p:cNvPr id="47" name="Connector 46"/>
          <p:cNvCxnSpPr/>
          <p:nvPr/>
        </p:nvCxnSpPr>
        <p:spPr>
          <a:xfrm>
            <a:off x="152400" y="35490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00025" y="35490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9" name="TextBox 48"/>
          <p:cNvSpPr txBox="1"/>
          <p:nvPr/>
        </p:nvSpPr>
        <p:spPr>
          <a:xfrm>
            <a:off x="390525" y="354901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Direct Sales</a:t>
            </a:r>
          </a:p>
        </p:txBody>
      </p:sp>
      <p:sp>
        <p:nvSpPr>
          <p:cNvPr id="50" name="Rectangle 49"/>
          <p:cNvSpPr/>
          <p:nvPr/>
        </p:nvSpPr>
        <p:spPr>
          <a:xfrm>
            <a:off x="3152775" y="1028700"/>
            <a:ext cx="2876550" cy="48348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1527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2289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Active Ingredient</a:t>
            </a:r>
          </a:p>
        </p:txBody>
      </p:sp>
      <p:sp>
        <p:nvSpPr>
          <p:cNvPr id="53" name="TextBox 52"/>
          <p:cNvSpPr txBox="1"/>
          <p:nvPr/>
        </p:nvSpPr>
        <p:spPr>
          <a:xfrm>
            <a:off x="32099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4" name="TextBox 53"/>
          <p:cNvSpPr txBox="1"/>
          <p:nvPr/>
        </p:nvSpPr>
        <p:spPr>
          <a:xfrm>
            <a:off x="34004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Omega-3 Fatty Acids</a:t>
            </a:r>
          </a:p>
        </p:txBody>
      </p:sp>
      <p:cxnSp>
        <p:nvCxnSpPr>
          <p:cNvPr id="55" name="Connector 54"/>
          <p:cNvCxnSpPr/>
          <p:nvPr/>
        </p:nvCxnSpPr>
        <p:spPr>
          <a:xfrm>
            <a:off x="31623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33813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7" name="TextBox 56"/>
          <p:cNvSpPr txBox="1"/>
          <p:nvPr/>
        </p:nvSpPr>
        <p:spPr>
          <a:xfrm>
            <a:off x="3571875" y="14344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DHA</a:t>
            </a:r>
          </a:p>
        </p:txBody>
      </p:sp>
      <p:cxnSp>
        <p:nvCxnSpPr>
          <p:cNvPr id="58" name="Connector 57"/>
          <p:cNvCxnSpPr/>
          <p:nvPr/>
        </p:nvCxnSpPr>
        <p:spPr>
          <a:xfrm>
            <a:off x="31623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33813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0" name="TextBox 59"/>
          <p:cNvSpPr txBox="1"/>
          <p:nvPr/>
        </p:nvSpPr>
        <p:spPr>
          <a:xfrm>
            <a:off x="3571875" y="16116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EPA</a:t>
            </a:r>
          </a:p>
        </p:txBody>
      </p:sp>
      <p:cxnSp>
        <p:nvCxnSpPr>
          <p:cNvPr id="61" name="Connector 60"/>
          <p:cNvCxnSpPr/>
          <p:nvPr/>
        </p:nvCxnSpPr>
        <p:spPr>
          <a:xfrm>
            <a:off x="31623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338137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3" name="TextBox 62"/>
          <p:cNvSpPr txBox="1"/>
          <p:nvPr/>
        </p:nvSpPr>
        <p:spPr>
          <a:xfrm>
            <a:off x="3571875" y="17887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DHA–EPA Combinations</a:t>
            </a:r>
          </a:p>
        </p:txBody>
      </p:sp>
      <p:cxnSp>
        <p:nvCxnSpPr>
          <p:cNvPr id="64" name="Connector 63"/>
          <p:cNvCxnSpPr/>
          <p:nvPr/>
        </p:nvCxnSpPr>
        <p:spPr>
          <a:xfrm>
            <a:off x="31623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320992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6" name="TextBox 65"/>
          <p:cNvSpPr txBox="1"/>
          <p:nvPr/>
        </p:nvSpPr>
        <p:spPr>
          <a:xfrm>
            <a:off x="3400425" y="196596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Antioxidant Ingredients</a:t>
            </a:r>
          </a:p>
        </p:txBody>
      </p:sp>
      <p:cxnSp>
        <p:nvCxnSpPr>
          <p:cNvPr id="67" name="Connector 66"/>
          <p:cNvCxnSpPr/>
          <p:nvPr/>
        </p:nvCxnSpPr>
        <p:spPr>
          <a:xfrm>
            <a:off x="31623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338137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9" name="TextBox 68"/>
          <p:cNvSpPr txBox="1"/>
          <p:nvPr/>
        </p:nvSpPr>
        <p:spPr>
          <a:xfrm>
            <a:off x="3571875" y="214312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Vitamin E</a:t>
            </a:r>
          </a:p>
        </p:txBody>
      </p:sp>
      <p:cxnSp>
        <p:nvCxnSpPr>
          <p:cNvPr id="70" name="Connector 69"/>
          <p:cNvCxnSpPr/>
          <p:nvPr/>
        </p:nvCxnSpPr>
        <p:spPr>
          <a:xfrm>
            <a:off x="31623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338137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2" name="TextBox 71"/>
          <p:cNvSpPr txBox="1"/>
          <p:nvPr/>
        </p:nvSpPr>
        <p:spPr>
          <a:xfrm>
            <a:off x="3571875" y="232029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Vitamin C</a:t>
            </a:r>
          </a:p>
        </p:txBody>
      </p:sp>
      <p:cxnSp>
        <p:nvCxnSpPr>
          <p:cNvPr id="73" name="Connector 72"/>
          <p:cNvCxnSpPr/>
          <p:nvPr/>
        </p:nvCxnSpPr>
        <p:spPr>
          <a:xfrm>
            <a:off x="3162300" y="24974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3381375" y="24974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5" name="TextBox 74"/>
          <p:cNvSpPr txBox="1"/>
          <p:nvPr/>
        </p:nvSpPr>
        <p:spPr>
          <a:xfrm>
            <a:off x="3571875" y="249745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Selenium</a:t>
            </a:r>
          </a:p>
        </p:txBody>
      </p:sp>
      <p:cxnSp>
        <p:nvCxnSpPr>
          <p:cNvPr id="76" name="Connector 75"/>
          <p:cNvCxnSpPr/>
          <p:nvPr/>
        </p:nvCxnSpPr>
        <p:spPr>
          <a:xfrm>
            <a:off x="3162300" y="26746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3381375" y="26746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8" name="TextBox 77"/>
          <p:cNvSpPr txBox="1"/>
          <p:nvPr/>
        </p:nvSpPr>
        <p:spPr>
          <a:xfrm>
            <a:off x="3571875" y="26746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Antioxidants</a:t>
            </a:r>
          </a:p>
        </p:txBody>
      </p:sp>
      <p:cxnSp>
        <p:nvCxnSpPr>
          <p:cNvPr id="79" name="Connector 78"/>
          <p:cNvCxnSpPr/>
          <p:nvPr/>
        </p:nvCxnSpPr>
        <p:spPr>
          <a:xfrm>
            <a:off x="3162300" y="28517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3209925" y="28517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1" name="TextBox 80"/>
          <p:cNvSpPr txBox="1"/>
          <p:nvPr/>
        </p:nvSpPr>
        <p:spPr>
          <a:xfrm>
            <a:off x="3400425" y="285178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Neurofunctional Nutrients</a:t>
            </a:r>
          </a:p>
        </p:txBody>
      </p:sp>
      <p:cxnSp>
        <p:nvCxnSpPr>
          <p:cNvPr id="82" name="Connector 81"/>
          <p:cNvCxnSpPr/>
          <p:nvPr/>
        </p:nvCxnSpPr>
        <p:spPr>
          <a:xfrm>
            <a:off x="3162300" y="30289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3381375" y="30289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4" name="TextBox 83"/>
          <p:cNvSpPr txBox="1"/>
          <p:nvPr/>
        </p:nvSpPr>
        <p:spPr>
          <a:xfrm>
            <a:off x="3571875" y="302895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Phosphatidylserine</a:t>
            </a:r>
          </a:p>
        </p:txBody>
      </p:sp>
      <p:cxnSp>
        <p:nvCxnSpPr>
          <p:cNvPr id="85" name="Connector 84"/>
          <p:cNvCxnSpPr/>
          <p:nvPr/>
        </p:nvCxnSpPr>
        <p:spPr>
          <a:xfrm>
            <a:off x="3162300" y="32061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3381375" y="32061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7" name="TextBox 86"/>
          <p:cNvSpPr txBox="1"/>
          <p:nvPr/>
        </p:nvSpPr>
        <p:spPr>
          <a:xfrm>
            <a:off x="3571875" y="320611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B Vitamins</a:t>
            </a:r>
          </a:p>
        </p:txBody>
      </p:sp>
      <p:cxnSp>
        <p:nvCxnSpPr>
          <p:cNvPr id="88" name="Connector 87"/>
          <p:cNvCxnSpPr/>
          <p:nvPr/>
        </p:nvCxnSpPr>
        <p:spPr>
          <a:xfrm>
            <a:off x="3162300" y="338328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3381375" y="33832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0" name="TextBox 89"/>
          <p:cNvSpPr txBox="1"/>
          <p:nvPr/>
        </p:nvSpPr>
        <p:spPr>
          <a:xfrm>
            <a:off x="3571875" y="338328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Choline-Related Ingredients</a:t>
            </a:r>
          </a:p>
        </p:txBody>
      </p:sp>
      <p:cxnSp>
        <p:nvCxnSpPr>
          <p:cNvPr id="91" name="Connector 90"/>
          <p:cNvCxnSpPr/>
          <p:nvPr/>
        </p:nvCxnSpPr>
        <p:spPr>
          <a:xfrm>
            <a:off x="3162300" y="356044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3209925" y="35604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3" name="TextBox 92"/>
          <p:cNvSpPr txBox="1"/>
          <p:nvPr/>
        </p:nvSpPr>
        <p:spPr>
          <a:xfrm>
            <a:off x="3400425" y="356044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Cellular Energy Support Ingredients</a:t>
            </a:r>
          </a:p>
        </p:txBody>
      </p:sp>
      <p:cxnSp>
        <p:nvCxnSpPr>
          <p:cNvPr id="94" name="Connector 93"/>
          <p:cNvCxnSpPr/>
          <p:nvPr/>
        </p:nvCxnSpPr>
        <p:spPr>
          <a:xfrm>
            <a:off x="3162300" y="373761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3381375" y="373761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6" name="TextBox 95"/>
          <p:cNvSpPr txBox="1"/>
          <p:nvPr/>
        </p:nvSpPr>
        <p:spPr>
          <a:xfrm>
            <a:off x="3571875" y="373761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L-Carnitine</a:t>
            </a:r>
          </a:p>
        </p:txBody>
      </p:sp>
      <p:cxnSp>
        <p:nvCxnSpPr>
          <p:cNvPr id="97" name="Connector 96"/>
          <p:cNvCxnSpPr/>
          <p:nvPr/>
        </p:nvCxnSpPr>
        <p:spPr>
          <a:xfrm>
            <a:off x="3162300" y="391477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3381375" y="391477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9" name="TextBox 98"/>
          <p:cNvSpPr txBox="1"/>
          <p:nvPr/>
        </p:nvSpPr>
        <p:spPr>
          <a:xfrm>
            <a:off x="3571875" y="391477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Acetyl-L-Carnitine</a:t>
            </a:r>
          </a:p>
        </p:txBody>
      </p:sp>
      <p:cxnSp>
        <p:nvCxnSpPr>
          <p:cNvPr id="100" name="Connector 99"/>
          <p:cNvCxnSpPr/>
          <p:nvPr/>
        </p:nvCxnSpPr>
        <p:spPr>
          <a:xfrm>
            <a:off x="3162300" y="409194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3381375" y="409194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2" name="TextBox 101"/>
          <p:cNvSpPr txBox="1"/>
          <p:nvPr/>
        </p:nvSpPr>
        <p:spPr>
          <a:xfrm>
            <a:off x="3571875" y="409194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Coenzyme Q10</a:t>
            </a:r>
          </a:p>
        </p:txBody>
      </p:sp>
      <p:cxnSp>
        <p:nvCxnSpPr>
          <p:cNvPr id="103" name="Connector 102"/>
          <p:cNvCxnSpPr/>
          <p:nvPr/>
        </p:nvCxnSpPr>
        <p:spPr>
          <a:xfrm>
            <a:off x="3162300" y="426910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3381375" y="426910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5" name="TextBox 104"/>
          <p:cNvSpPr txBox="1"/>
          <p:nvPr/>
        </p:nvSpPr>
        <p:spPr>
          <a:xfrm>
            <a:off x="3571875" y="426910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Alpha-Lipoic Acid</a:t>
            </a:r>
          </a:p>
        </p:txBody>
      </p:sp>
      <p:cxnSp>
        <p:nvCxnSpPr>
          <p:cNvPr id="106" name="Connector 105"/>
          <p:cNvCxnSpPr/>
          <p:nvPr/>
        </p:nvCxnSpPr>
        <p:spPr>
          <a:xfrm>
            <a:off x="3162300" y="444627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3209925" y="444627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8" name="TextBox 107"/>
          <p:cNvSpPr txBox="1"/>
          <p:nvPr/>
        </p:nvSpPr>
        <p:spPr>
          <a:xfrm>
            <a:off x="3400425" y="444627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Botanical Ingredients</a:t>
            </a:r>
          </a:p>
        </p:txBody>
      </p:sp>
      <p:cxnSp>
        <p:nvCxnSpPr>
          <p:cNvPr id="109" name="Connector 108"/>
          <p:cNvCxnSpPr/>
          <p:nvPr/>
        </p:nvCxnSpPr>
        <p:spPr>
          <a:xfrm>
            <a:off x="3162300" y="462343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3381375" y="462343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1" name="TextBox 110"/>
          <p:cNvSpPr txBox="1"/>
          <p:nvPr/>
        </p:nvSpPr>
        <p:spPr>
          <a:xfrm>
            <a:off x="3571875" y="462343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Ginkgo Biloba</a:t>
            </a:r>
          </a:p>
        </p:txBody>
      </p:sp>
      <p:cxnSp>
        <p:nvCxnSpPr>
          <p:cNvPr id="112" name="Connector 111"/>
          <p:cNvCxnSpPr/>
          <p:nvPr/>
        </p:nvCxnSpPr>
        <p:spPr>
          <a:xfrm>
            <a:off x="3162300" y="480060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3381375" y="48006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4" name="TextBox 113"/>
          <p:cNvSpPr txBox="1"/>
          <p:nvPr/>
        </p:nvSpPr>
        <p:spPr>
          <a:xfrm>
            <a:off x="3571875" y="480060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Resveratrol</a:t>
            </a:r>
          </a:p>
        </p:txBody>
      </p:sp>
      <p:cxnSp>
        <p:nvCxnSpPr>
          <p:cNvPr id="115" name="Connector 114"/>
          <p:cNvCxnSpPr/>
          <p:nvPr/>
        </p:nvCxnSpPr>
        <p:spPr>
          <a:xfrm>
            <a:off x="3162300" y="49777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3381375" y="49777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7" name="TextBox 116"/>
          <p:cNvSpPr txBox="1"/>
          <p:nvPr/>
        </p:nvSpPr>
        <p:spPr>
          <a:xfrm>
            <a:off x="3571875" y="49777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Cognitive-Support Botanicals</a:t>
            </a:r>
          </a:p>
        </p:txBody>
      </p:sp>
      <p:cxnSp>
        <p:nvCxnSpPr>
          <p:cNvPr id="118" name="Connector 117"/>
          <p:cNvCxnSpPr/>
          <p:nvPr/>
        </p:nvCxnSpPr>
        <p:spPr>
          <a:xfrm>
            <a:off x="3162300" y="51549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3209925" y="51549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0" name="TextBox 119"/>
          <p:cNvSpPr txBox="1"/>
          <p:nvPr/>
        </p:nvSpPr>
        <p:spPr>
          <a:xfrm>
            <a:off x="3400425" y="515493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Microbiome-Targeted Ingredients</a:t>
            </a:r>
          </a:p>
        </p:txBody>
      </p:sp>
      <p:cxnSp>
        <p:nvCxnSpPr>
          <p:cNvPr id="121" name="Connector 120"/>
          <p:cNvCxnSpPr/>
          <p:nvPr/>
        </p:nvCxnSpPr>
        <p:spPr>
          <a:xfrm>
            <a:off x="3162300" y="53320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3381375" y="53320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3" name="TextBox 122"/>
          <p:cNvSpPr txBox="1"/>
          <p:nvPr/>
        </p:nvSpPr>
        <p:spPr>
          <a:xfrm>
            <a:off x="3571875" y="53320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Prebiotics</a:t>
            </a:r>
          </a:p>
        </p:txBody>
      </p:sp>
      <p:cxnSp>
        <p:nvCxnSpPr>
          <p:cNvPr id="124" name="Connector 123"/>
          <p:cNvCxnSpPr/>
          <p:nvPr/>
        </p:nvCxnSpPr>
        <p:spPr>
          <a:xfrm>
            <a:off x="3162300" y="55092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3381375" y="55092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6" name="TextBox 125"/>
          <p:cNvSpPr txBox="1"/>
          <p:nvPr/>
        </p:nvSpPr>
        <p:spPr>
          <a:xfrm>
            <a:off x="3571875" y="550926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Probiotics</a:t>
            </a:r>
          </a:p>
        </p:txBody>
      </p:sp>
      <p:cxnSp>
        <p:nvCxnSpPr>
          <p:cNvPr id="127" name="Connector 126"/>
          <p:cNvCxnSpPr/>
          <p:nvPr/>
        </p:nvCxnSpPr>
        <p:spPr>
          <a:xfrm>
            <a:off x="3162300" y="56864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3381375" y="56864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9" name="TextBox 128"/>
          <p:cNvSpPr txBox="1"/>
          <p:nvPr/>
        </p:nvSpPr>
        <p:spPr>
          <a:xfrm>
            <a:off x="3571875" y="568642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Postbiotics</a:t>
            </a:r>
          </a:p>
        </p:txBody>
      </p:sp>
      <p:sp>
        <p:nvSpPr>
          <p:cNvPr id="130" name="Rectangle 129"/>
          <p:cNvSpPr/>
          <p:nvPr/>
        </p:nvSpPr>
        <p:spPr>
          <a:xfrm>
            <a:off x="6162675" y="1028700"/>
            <a:ext cx="2876550" cy="146875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61626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62388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End-use Application</a:t>
            </a:r>
          </a:p>
        </p:txBody>
      </p:sp>
      <p:sp>
        <p:nvSpPr>
          <p:cNvPr id="133" name="TextBox 132"/>
          <p:cNvSpPr txBox="1"/>
          <p:nvPr/>
        </p:nvSpPr>
        <p:spPr>
          <a:xfrm>
            <a:off x="62198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4" name="TextBox 133"/>
          <p:cNvSpPr txBox="1"/>
          <p:nvPr/>
        </p:nvSpPr>
        <p:spPr>
          <a:xfrm>
            <a:off x="64103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Routine Cognitive Wellness</a:t>
            </a:r>
          </a:p>
        </p:txBody>
      </p:sp>
      <p:cxnSp>
        <p:nvCxnSpPr>
          <p:cNvPr id="135" name="Connector 134"/>
          <p:cNvCxnSpPr/>
          <p:nvPr/>
        </p:nvCxnSpPr>
        <p:spPr>
          <a:xfrm>
            <a:off x="61722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62198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7" name="TextBox 136"/>
          <p:cNvSpPr txBox="1"/>
          <p:nvPr/>
        </p:nvSpPr>
        <p:spPr>
          <a:xfrm>
            <a:off x="6410325" y="1434465"/>
            <a:ext cx="259080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Preventive Cognitive Support for Senior Dogs</a:t>
            </a:r>
          </a:p>
        </p:txBody>
      </p:sp>
      <p:cxnSp>
        <p:nvCxnSpPr>
          <p:cNvPr id="138" name="Connector 137"/>
          <p:cNvCxnSpPr/>
          <p:nvPr/>
        </p:nvCxnSpPr>
        <p:spPr>
          <a:xfrm>
            <a:off x="61722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62198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0" name="TextBox 139"/>
          <p:cNvSpPr txBox="1"/>
          <p:nvPr/>
        </p:nvSpPr>
        <p:spPr>
          <a:xfrm>
            <a:off x="6410325" y="1788795"/>
            <a:ext cx="259080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Support for Observable Age-Related Cognitive Changes</a:t>
            </a:r>
          </a:p>
        </p:txBody>
      </p:sp>
      <p:cxnSp>
        <p:nvCxnSpPr>
          <p:cNvPr id="141" name="Connector 140"/>
          <p:cNvCxnSpPr/>
          <p:nvPr/>
        </p:nvCxnSpPr>
        <p:spPr>
          <a:xfrm>
            <a:off x="61722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621982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3" name="TextBox 142"/>
          <p:cNvSpPr txBox="1"/>
          <p:nvPr/>
        </p:nvSpPr>
        <p:spPr>
          <a:xfrm>
            <a:off x="6410325" y="2143125"/>
            <a:ext cx="259080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Veterinary-Guided Cognitive Dysfunction Support</a:t>
            </a:r>
          </a:p>
        </p:txBody>
      </p:sp>
      <p:sp>
        <p:nvSpPr>
          <p:cNvPr id="144" name="Rectangle 143"/>
          <p:cNvSpPr/>
          <p:nvPr/>
        </p:nvSpPr>
        <p:spPr>
          <a:xfrm>
            <a:off x="9172575" y="1028700"/>
            <a:ext cx="2876550" cy="12915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91725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92487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Packaging Format</a:t>
            </a:r>
          </a:p>
        </p:txBody>
      </p:sp>
      <p:sp>
        <p:nvSpPr>
          <p:cNvPr id="147" name="TextBox 146"/>
          <p:cNvSpPr txBox="1"/>
          <p:nvPr/>
        </p:nvSpPr>
        <p:spPr>
          <a:xfrm>
            <a:off x="92297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8" name="TextBox 147"/>
          <p:cNvSpPr txBox="1"/>
          <p:nvPr/>
        </p:nvSpPr>
        <p:spPr>
          <a:xfrm>
            <a:off x="94202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Bottles</a:t>
            </a:r>
          </a:p>
        </p:txBody>
      </p:sp>
      <p:cxnSp>
        <p:nvCxnSpPr>
          <p:cNvPr id="149" name="Connector 148"/>
          <p:cNvCxnSpPr/>
          <p:nvPr/>
        </p:nvCxnSpPr>
        <p:spPr>
          <a:xfrm>
            <a:off x="91821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0" name="TextBox 149"/>
          <p:cNvSpPr txBox="1"/>
          <p:nvPr/>
        </p:nvSpPr>
        <p:spPr>
          <a:xfrm>
            <a:off x="92297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1" name="TextBox 150"/>
          <p:cNvSpPr txBox="1"/>
          <p:nvPr/>
        </p:nvSpPr>
        <p:spPr>
          <a:xfrm>
            <a:off x="94202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Jars and Tubs</a:t>
            </a:r>
          </a:p>
        </p:txBody>
      </p:sp>
      <p:cxnSp>
        <p:nvCxnSpPr>
          <p:cNvPr id="152" name="Connector 151"/>
          <p:cNvCxnSpPr/>
          <p:nvPr/>
        </p:nvCxnSpPr>
        <p:spPr>
          <a:xfrm>
            <a:off x="91821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3" name="TextBox 152"/>
          <p:cNvSpPr txBox="1"/>
          <p:nvPr/>
        </p:nvSpPr>
        <p:spPr>
          <a:xfrm>
            <a:off x="92297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4" name="TextBox 153"/>
          <p:cNvSpPr txBox="1"/>
          <p:nvPr/>
        </p:nvSpPr>
        <p:spPr>
          <a:xfrm>
            <a:off x="94202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Pouches</a:t>
            </a:r>
          </a:p>
        </p:txBody>
      </p:sp>
      <p:cxnSp>
        <p:nvCxnSpPr>
          <p:cNvPr id="155" name="Connector 154"/>
          <p:cNvCxnSpPr/>
          <p:nvPr/>
        </p:nvCxnSpPr>
        <p:spPr>
          <a:xfrm>
            <a:off x="91821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6" name="TextBox 155"/>
          <p:cNvSpPr txBox="1"/>
          <p:nvPr/>
        </p:nvSpPr>
        <p:spPr>
          <a:xfrm>
            <a:off x="92297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7" name="TextBox 156"/>
          <p:cNvSpPr txBox="1"/>
          <p:nvPr/>
        </p:nvSpPr>
        <p:spPr>
          <a:xfrm>
            <a:off x="9420225" y="17887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Sachets</a:t>
            </a:r>
          </a:p>
        </p:txBody>
      </p:sp>
      <p:cxnSp>
        <p:nvCxnSpPr>
          <p:cNvPr id="158" name="Connector 157"/>
          <p:cNvCxnSpPr/>
          <p:nvPr/>
        </p:nvCxnSpPr>
        <p:spPr>
          <a:xfrm>
            <a:off x="91821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922972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60" name="TextBox 159"/>
          <p:cNvSpPr txBox="1"/>
          <p:nvPr/>
        </p:nvSpPr>
        <p:spPr>
          <a:xfrm>
            <a:off x="9420225" y="196596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Blister Packs</a:t>
            </a:r>
          </a:p>
        </p:txBody>
      </p:sp>
      <p:cxnSp>
        <p:nvCxnSpPr>
          <p:cNvPr id="161" name="Connector 160"/>
          <p:cNvCxnSpPr/>
          <p:nvPr/>
        </p:nvCxnSpPr>
        <p:spPr>
          <a:xfrm>
            <a:off x="91821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2" name="TextBox 161"/>
          <p:cNvSpPr txBox="1"/>
          <p:nvPr/>
        </p:nvSpPr>
        <p:spPr>
          <a:xfrm>
            <a:off x="922972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63" name="TextBox 162"/>
          <p:cNvSpPr txBox="1"/>
          <p:nvPr/>
        </p:nvSpPr>
        <p:spPr>
          <a:xfrm>
            <a:off x="9420225" y="214312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Canisters</a:t>
            </a:r>
          </a:p>
        </p:txBody>
      </p:sp>
      <p:sp>
        <p:nvSpPr>
          <p:cNvPr id="164" name="TextBox 16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Company Coverage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Companies profiled and benchmarked across the competition assessment</a:t>
            </a:r>
          </a:p>
        </p:txBody>
      </p:sp>
      <p:sp>
        <p:nvSpPr>
          <p:cNvPr id="10" name="TextBox 9"/>
          <p:cNvSpPr txBox="1"/>
          <p:nvPr/>
        </p:nvSpPr>
        <p:spPr>
          <a:xfrm>
            <a:off x="142875" y="1007261"/>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Companies covered in this study of the Senior Dog Cognitive Supplement Market profiled and benchmarked in the Competition Assessment section.</a:t>
            </a:r>
          </a:p>
        </p:txBody>
      </p:sp>
      <p:sp>
        <p:nvSpPr>
          <p:cNvPr id="11" name="Rectangle 10"/>
          <p:cNvSpPr/>
          <p:nvPr/>
        </p:nvSpPr>
        <p:spPr>
          <a:xfrm>
            <a:off x="142875" y="1554872"/>
            <a:ext cx="5857875" cy="4654693"/>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42875" y="1554872"/>
            <a:ext cx="5857875" cy="273805"/>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2875" y="1618760"/>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14" name="TextBox 13"/>
          <p:cNvSpPr txBox="1"/>
          <p:nvPr/>
        </p:nvSpPr>
        <p:spPr>
          <a:xfrm>
            <a:off x="333375" y="1828677"/>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5" name="TextBox 14"/>
          <p:cNvSpPr txBox="1"/>
          <p:nvPr/>
        </p:nvSpPr>
        <p:spPr>
          <a:xfrm>
            <a:off x="581025" y="1828677"/>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Standard Process</a:t>
            </a:r>
          </a:p>
        </p:txBody>
      </p:sp>
      <p:sp>
        <p:nvSpPr>
          <p:cNvPr id="16" name="Rectangle 15"/>
          <p:cNvSpPr/>
          <p:nvPr/>
        </p:nvSpPr>
        <p:spPr>
          <a:xfrm>
            <a:off x="152400" y="2120737"/>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52400" y="212073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33375" y="2120737"/>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9" name="TextBox 18"/>
          <p:cNvSpPr txBox="1"/>
          <p:nvPr/>
        </p:nvSpPr>
        <p:spPr>
          <a:xfrm>
            <a:off x="581025" y="2120737"/>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VetriScience</a:t>
            </a:r>
          </a:p>
        </p:txBody>
      </p:sp>
      <p:cxnSp>
        <p:nvCxnSpPr>
          <p:cNvPr id="20" name="Connector 19"/>
          <p:cNvCxnSpPr/>
          <p:nvPr/>
        </p:nvCxnSpPr>
        <p:spPr>
          <a:xfrm>
            <a:off x="152400" y="2412796"/>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33375" y="2412796"/>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2" name="TextBox 21"/>
          <p:cNvSpPr txBox="1"/>
          <p:nvPr/>
        </p:nvSpPr>
        <p:spPr>
          <a:xfrm>
            <a:off x="581025" y="2412796"/>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Dr. Fossum's</a:t>
            </a:r>
          </a:p>
        </p:txBody>
      </p:sp>
      <p:sp>
        <p:nvSpPr>
          <p:cNvPr id="23" name="Rectangle 22"/>
          <p:cNvSpPr/>
          <p:nvPr/>
        </p:nvSpPr>
        <p:spPr>
          <a:xfrm>
            <a:off x="152400" y="2704855"/>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152400" y="270485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33375" y="2704855"/>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6" name="TextBox 25"/>
          <p:cNvSpPr txBox="1"/>
          <p:nvPr/>
        </p:nvSpPr>
        <p:spPr>
          <a:xfrm>
            <a:off x="581025" y="2704855"/>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Nestlé Purina PetCare</a:t>
            </a:r>
          </a:p>
        </p:txBody>
      </p:sp>
      <p:cxnSp>
        <p:nvCxnSpPr>
          <p:cNvPr id="27" name="Connector 26"/>
          <p:cNvCxnSpPr/>
          <p:nvPr/>
        </p:nvCxnSpPr>
        <p:spPr>
          <a:xfrm>
            <a:off x="152400" y="2996914"/>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33375" y="2996914"/>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9" name="TextBox 28"/>
          <p:cNvSpPr txBox="1"/>
          <p:nvPr/>
        </p:nvSpPr>
        <p:spPr>
          <a:xfrm>
            <a:off x="581025" y="2996914"/>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PetHeal</a:t>
            </a:r>
          </a:p>
        </p:txBody>
      </p:sp>
      <p:sp>
        <p:nvSpPr>
          <p:cNvPr id="30" name="Rectangle 29"/>
          <p:cNvSpPr/>
          <p:nvPr/>
        </p:nvSpPr>
        <p:spPr>
          <a:xfrm>
            <a:off x="152400" y="3288973"/>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152400" y="328897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33375" y="3288973"/>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3" name="TextBox 32"/>
          <p:cNvSpPr txBox="1"/>
          <p:nvPr/>
        </p:nvSpPr>
        <p:spPr>
          <a:xfrm>
            <a:off x="581025" y="3288973"/>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Senior Dogs Club</a:t>
            </a:r>
          </a:p>
        </p:txBody>
      </p:sp>
      <p:cxnSp>
        <p:nvCxnSpPr>
          <p:cNvPr id="34" name="Connector 33"/>
          <p:cNvCxnSpPr/>
          <p:nvPr/>
        </p:nvCxnSpPr>
        <p:spPr>
          <a:xfrm>
            <a:off x="152400" y="3581032"/>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33375" y="3581032"/>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6" name="TextBox 35"/>
          <p:cNvSpPr txBox="1"/>
          <p:nvPr/>
        </p:nvSpPr>
        <p:spPr>
          <a:xfrm>
            <a:off x="581025" y="3581032"/>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VISYO Corporation</a:t>
            </a:r>
          </a:p>
        </p:txBody>
      </p:sp>
      <p:sp>
        <p:nvSpPr>
          <p:cNvPr id="37" name="Rectangle 36"/>
          <p:cNvSpPr/>
          <p:nvPr/>
        </p:nvSpPr>
        <p:spPr>
          <a:xfrm>
            <a:off x="152400" y="3873092"/>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152400" y="3873092"/>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33375" y="3873092"/>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0" name="TextBox 39"/>
          <p:cNvSpPr txBox="1"/>
          <p:nvPr/>
        </p:nvSpPr>
        <p:spPr>
          <a:xfrm>
            <a:off x="581025" y="3873092"/>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NaturVet</a:t>
            </a:r>
          </a:p>
        </p:txBody>
      </p:sp>
      <p:cxnSp>
        <p:nvCxnSpPr>
          <p:cNvPr id="41" name="Connector 40"/>
          <p:cNvCxnSpPr/>
          <p:nvPr/>
        </p:nvCxnSpPr>
        <p:spPr>
          <a:xfrm>
            <a:off x="152400" y="416515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33375" y="4165151"/>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3" name="TextBox 42"/>
          <p:cNvSpPr txBox="1"/>
          <p:nvPr/>
        </p:nvSpPr>
        <p:spPr>
          <a:xfrm>
            <a:off x="581025" y="4165151"/>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Zesty Paws</a:t>
            </a:r>
          </a:p>
        </p:txBody>
      </p:sp>
      <p:sp>
        <p:nvSpPr>
          <p:cNvPr id="44" name="Rectangle 43"/>
          <p:cNvSpPr/>
          <p:nvPr/>
        </p:nvSpPr>
        <p:spPr>
          <a:xfrm>
            <a:off x="152400" y="4457210"/>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152400" y="4457210"/>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333375" y="4457210"/>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7" name="TextBox 46"/>
          <p:cNvSpPr txBox="1"/>
          <p:nvPr/>
        </p:nvSpPr>
        <p:spPr>
          <a:xfrm>
            <a:off x="581025" y="4457210"/>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Ark Naturals</a:t>
            </a:r>
          </a:p>
        </p:txBody>
      </p:sp>
      <p:cxnSp>
        <p:nvCxnSpPr>
          <p:cNvPr id="48" name="Connector 47"/>
          <p:cNvCxnSpPr/>
          <p:nvPr/>
        </p:nvCxnSpPr>
        <p:spPr>
          <a:xfrm>
            <a:off x="152400" y="474926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333375" y="4749269"/>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0" name="TextBox 49"/>
          <p:cNvSpPr txBox="1"/>
          <p:nvPr/>
        </p:nvSpPr>
        <p:spPr>
          <a:xfrm>
            <a:off x="581025" y="4749269"/>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Protexin</a:t>
            </a:r>
          </a:p>
        </p:txBody>
      </p:sp>
      <p:sp>
        <p:nvSpPr>
          <p:cNvPr id="51" name="Rectangle 50"/>
          <p:cNvSpPr/>
          <p:nvPr/>
        </p:nvSpPr>
        <p:spPr>
          <a:xfrm>
            <a:off x="152400" y="5041328"/>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a:off x="152400" y="5041328"/>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333375" y="5041328"/>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4" name="TextBox 53"/>
          <p:cNvSpPr txBox="1"/>
          <p:nvPr/>
        </p:nvSpPr>
        <p:spPr>
          <a:xfrm>
            <a:off x="581025" y="5041328"/>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Ceva Animal Health</a:t>
            </a:r>
          </a:p>
        </p:txBody>
      </p:sp>
      <p:cxnSp>
        <p:nvCxnSpPr>
          <p:cNvPr id="55" name="Connector 54"/>
          <p:cNvCxnSpPr/>
          <p:nvPr/>
        </p:nvCxnSpPr>
        <p:spPr>
          <a:xfrm>
            <a:off x="152400" y="533338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333375" y="5333387"/>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7" name="TextBox 56"/>
          <p:cNvSpPr txBox="1"/>
          <p:nvPr/>
        </p:nvSpPr>
        <p:spPr>
          <a:xfrm>
            <a:off x="581025" y="5333387"/>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VetPlus</a:t>
            </a:r>
          </a:p>
        </p:txBody>
      </p:sp>
      <p:sp>
        <p:nvSpPr>
          <p:cNvPr id="58" name="Rectangle 57"/>
          <p:cNvSpPr/>
          <p:nvPr/>
        </p:nvSpPr>
        <p:spPr>
          <a:xfrm>
            <a:off x="152400" y="5625447"/>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Connector 58"/>
          <p:cNvCxnSpPr/>
          <p:nvPr/>
        </p:nvCxnSpPr>
        <p:spPr>
          <a:xfrm>
            <a:off x="152400" y="562544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333375" y="5625447"/>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1" name="TextBox 60"/>
          <p:cNvSpPr txBox="1"/>
          <p:nvPr/>
        </p:nvSpPr>
        <p:spPr>
          <a:xfrm>
            <a:off x="581025" y="5625447"/>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Dorwest Herbs</a:t>
            </a:r>
          </a:p>
        </p:txBody>
      </p:sp>
      <p:cxnSp>
        <p:nvCxnSpPr>
          <p:cNvPr id="62" name="Connector 61"/>
          <p:cNvCxnSpPr/>
          <p:nvPr/>
        </p:nvCxnSpPr>
        <p:spPr>
          <a:xfrm>
            <a:off x="152400" y="5917506"/>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333375" y="5917506"/>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4" name="TextBox 63"/>
          <p:cNvSpPr txBox="1"/>
          <p:nvPr/>
        </p:nvSpPr>
        <p:spPr>
          <a:xfrm>
            <a:off x="581025" y="5917506"/>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Virbac</a:t>
            </a:r>
          </a:p>
        </p:txBody>
      </p:sp>
      <p:sp>
        <p:nvSpPr>
          <p:cNvPr id="65" name="Rectangle 64"/>
          <p:cNvSpPr/>
          <p:nvPr/>
        </p:nvSpPr>
        <p:spPr>
          <a:xfrm>
            <a:off x="6191250" y="1554872"/>
            <a:ext cx="5857875" cy="4654693"/>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191250" y="1554872"/>
            <a:ext cx="5857875" cy="273805"/>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191250" y="1618760"/>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68" name="TextBox 67"/>
          <p:cNvSpPr txBox="1"/>
          <p:nvPr/>
        </p:nvSpPr>
        <p:spPr>
          <a:xfrm>
            <a:off x="6381750" y="1828677"/>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9" name="TextBox 68"/>
          <p:cNvSpPr txBox="1"/>
          <p:nvPr/>
        </p:nvSpPr>
        <p:spPr>
          <a:xfrm>
            <a:off x="6629400" y="1828677"/>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Dechra Pharmaceuticals</a:t>
            </a:r>
          </a:p>
        </p:txBody>
      </p:sp>
      <p:sp>
        <p:nvSpPr>
          <p:cNvPr id="70" name="Rectangle 69"/>
          <p:cNvSpPr/>
          <p:nvPr/>
        </p:nvSpPr>
        <p:spPr>
          <a:xfrm>
            <a:off x="6200775" y="2120737"/>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Connector 70"/>
          <p:cNvCxnSpPr/>
          <p:nvPr/>
        </p:nvCxnSpPr>
        <p:spPr>
          <a:xfrm>
            <a:off x="6200775" y="212073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6381750" y="2120737"/>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73" name="TextBox 72"/>
          <p:cNvSpPr txBox="1"/>
          <p:nvPr/>
        </p:nvSpPr>
        <p:spPr>
          <a:xfrm>
            <a:off x="6629400" y="2120737"/>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Beaphar</a:t>
            </a:r>
          </a:p>
        </p:txBody>
      </p:sp>
      <p:cxnSp>
        <p:nvCxnSpPr>
          <p:cNvPr id="74" name="Connector 73"/>
          <p:cNvCxnSpPr/>
          <p:nvPr/>
        </p:nvCxnSpPr>
        <p:spPr>
          <a:xfrm>
            <a:off x="6200775" y="2412796"/>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381750" y="2412796"/>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76" name="TextBox 75"/>
          <p:cNvSpPr txBox="1"/>
          <p:nvPr/>
        </p:nvSpPr>
        <p:spPr>
          <a:xfrm>
            <a:off x="6629400" y="2412796"/>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Laboratoire Biové</a:t>
            </a:r>
          </a:p>
        </p:txBody>
      </p:sp>
      <p:sp>
        <p:nvSpPr>
          <p:cNvPr id="77" name="Rectangle 76"/>
          <p:cNvSpPr/>
          <p:nvPr/>
        </p:nvSpPr>
        <p:spPr>
          <a:xfrm>
            <a:off x="6200775" y="2704855"/>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8" name="Connector 77"/>
          <p:cNvCxnSpPr/>
          <p:nvPr/>
        </p:nvCxnSpPr>
        <p:spPr>
          <a:xfrm>
            <a:off x="6200775" y="270485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381750" y="2704855"/>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80" name="TextBox 79"/>
          <p:cNvSpPr txBox="1"/>
          <p:nvPr/>
        </p:nvSpPr>
        <p:spPr>
          <a:xfrm>
            <a:off x="6629400" y="2704855"/>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Laboratoire Biogance</a:t>
            </a:r>
          </a:p>
        </p:txBody>
      </p:sp>
      <p:cxnSp>
        <p:nvCxnSpPr>
          <p:cNvPr id="81" name="Connector 80"/>
          <p:cNvCxnSpPr/>
          <p:nvPr/>
        </p:nvCxnSpPr>
        <p:spPr>
          <a:xfrm>
            <a:off x="6200775" y="2996914"/>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6381750" y="2996914"/>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83" name="TextBox 82"/>
          <p:cNvSpPr txBox="1"/>
          <p:nvPr/>
        </p:nvSpPr>
        <p:spPr>
          <a:xfrm>
            <a:off x="6629400" y="2996914"/>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Anibio</a:t>
            </a:r>
          </a:p>
        </p:txBody>
      </p:sp>
      <p:sp>
        <p:nvSpPr>
          <p:cNvPr id="84" name="Rectangle 83"/>
          <p:cNvSpPr/>
          <p:nvPr/>
        </p:nvSpPr>
        <p:spPr>
          <a:xfrm>
            <a:off x="6200775" y="3288973"/>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5" name="Connector 84"/>
          <p:cNvCxnSpPr/>
          <p:nvPr/>
        </p:nvCxnSpPr>
        <p:spPr>
          <a:xfrm>
            <a:off x="6200775" y="328897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6381750" y="3288973"/>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87" name="TextBox 86"/>
          <p:cNvSpPr txBox="1"/>
          <p:nvPr/>
        </p:nvSpPr>
        <p:spPr>
          <a:xfrm>
            <a:off x="6629400" y="3288973"/>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TRIZA</a:t>
            </a:r>
          </a:p>
        </p:txBody>
      </p:sp>
      <p:cxnSp>
        <p:nvCxnSpPr>
          <p:cNvPr id="88" name="Connector 87"/>
          <p:cNvCxnSpPr/>
          <p:nvPr/>
        </p:nvCxnSpPr>
        <p:spPr>
          <a:xfrm>
            <a:off x="6200775" y="3581032"/>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6381750" y="3581032"/>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90" name="TextBox 89"/>
          <p:cNvSpPr txBox="1"/>
          <p:nvPr/>
        </p:nvSpPr>
        <p:spPr>
          <a:xfrm>
            <a:off x="6629400" y="3581032"/>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MIND UP Corp.</a:t>
            </a:r>
          </a:p>
        </p:txBody>
      </p:sp>
      <p:sp>
        <p:nvSpPr>
          <p:cNvPr id="91" name="Rectangle 90"/>
          <p:cNvSpPr/>
          <p:nvPr/>
        </p:nvSpPr>
        <p:spPr>
          <a:xfrm>
            <a:off x="6200775" y="3873092"/>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2" name="Connector 91"/>
          <p:cNvCxnSpPr/>
          <p:nvPr/>
        </p:nvCxnSpPr>
        <p:spPr>
          <a:xfrm>
            <a:off x="6200775" y="3873092"/>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6381750" y="3873092"/>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94" name="TextBox 93"/>
          <p:cNvSpPr txBox="1"/>
          <p:nvPr/>
        </p:nvSpPr>
        <p:spPr>
          <a:xfrm>
            <a:off x="6629400" y="3873092"/>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Theymatter</a:t>
            </a:r>
          </a:p>
        </p:txBody>
      </p:sp>
      <p:cxnSp>
        <p:nvCxnSpPr>
          <p:cNvPr id="95" name="Connector 94"/>
          <p:cNvCxnSpPr/>
          <p:nvPr/>
        </p:nvCxnSpPr>
        <p:spPr>
          <a:xfrm>
            <a:off x="6200775" y="416515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6381750" y="4165151"/>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97" name="TextBox 96"/>
          <p:cNvSpPr txBox="1"/>
          <p:nvPr/>
        </p:nvSpPr>
        <p:spPr>
          <a:xfrm>
            <a:off x="6629400" y="4165151"/>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DHC Corporation</a:t>
            </a:r>
          </a:p>
        </p:txBody>
      </p:sp>
      <p:sp>
        <p:nvSpPr>
          <p:cNvPr id="98" name="Rectangle 97"/>
          <p:cNvSpPr/>
          <p:nvPr/>
        </p:nvSpPr>
        <p:spPr>
          <a:xfrm>
            <a:off x="6200775" y="4457210"/>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9" name="Connector 98"/>
          <p:cNvCxnSpPr/>
          <p:nvPr/>
        </p:nvCxnSpPr>
        <p:spPr>
          <a:xfrm>
            <a:off x="6200775" y="4457210"/>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6381750" y="4457210"/>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01" name="TextBox 100"/>
          <p:cNvSpPr txBox="1"/>
          <p:nvPr/>
        </p:nvSpPr>
        <p:spPr>
          <a:xfrm>
            <a:off x="6629400" y="4457210"/>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DoggyMan H.A. Co., Ltd.</a:t>
            </a:r>
          </a:p>
        </p:txBody>
      </p:sp>
      <p:cxnSp>
        <p:nvCxnSpPr>
          <p:cNvPr id="102" name="Connector 101"/>
          <p:cNvCxnSpPr/>
          <p:nvPr/>
        </p:nvCxnSpPr>
        <p:spPr>
          <a:xfrm>
            <a:off x="6200775" y="474926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6381750" y="4749269"/>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04" name="TextBox 103"/>
          <p:cNvSpPr txBox="1"/>
          <p:nvPr/>
        </p:nvSpPr>
        <p:spPr>
          <a:xfrm>
            <a:off x="6629400" y="4749269"/>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Petline Corporation</a:t>
            </a:r>
          </a:p>
        </p:txBody>
      </p:sp>
      <p:sp>
        <p:nvSpPr>
          <p:cNvPr id="105" name="Rectangle 104"/>
          <p:cNvSpPr/>
          <p:nvPr/>
        </p:nvSpPr>
        <p:spPr>
          <a:xfrm>
            <a:off x="6200775" y="5041328"/>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6" name="Connector 105"/>
          <p:cNvCxnSpPr/>
          <p:nvPr/>
        </p:nvCxnSpPr>
        <p:spPr>
          <a:xfrm>
            <a:off x="6200775" y="5041328"/>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6381750" y="5041328"/>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08" name="TextBox 107"/>
          <p:cNvSpPr txBox="1"/>
          <p:nvPr/>
        </p:nvSpPr>
        <p:spPr>
          <a:xfrm>
            <a:off x="6629400" y="5041328"/>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Inaba Petfood Co., Ltd.</a:t>
            </a:r>
          </a:p>
        </p:txBody>
      </p:sp>
      <p:cxnSp>
        <p:nvCxnSpPr>
          <p:cNvPr id="109" name="Connector 108"/>
          <p:cNvCxnSpPr/>
          <p:nvPr/>
        </p:nvCxnSpPr>
        <p:spPr>
          <a:xfrm>
            <a:off x="6200775" y="533338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6381750" y="5333387"/>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11" name="TextBox 110"/>
          <p:cNvSpPr txBox="1"/>
          <p:nvPr/>
        </p:nvSpPr>
        <p:spPr>
          <a:xfrm>
            <a:off x="6629400" y="5333387"/>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Drools</a:t>
            </a:r>
          </a:p>
        </p:txBody>
      </p:sp>
      <p:sp>
        <p:nvSpPr>
          <p:cNvPr id="112" name="Rectangle 111"/>
          <p:cNvSpPr/>
          <p:nvPr/>
        </p:nvSpPr>
        <p:spPr>
          <a:xfrm>
            <a:off x="6200775" y="5625447"/>
            <a:ext cx="5838825" cy="29205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3" name="Connector 112"/>
          <p:cNvCxnSpPr/>
          <p:nvPr/>
        </p:nvCxnSpPr>
        <p:spPr>
          <a:xfrm>
            <a:off x="6200775" y="562544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6381750" y="5625447"/>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15" name="TextBox 114"/>
          <p:cNvSpPr txBox="1"/>
          <p:nvPr/>
        </p:nvSpPr>
        <p:spPr>
          <a:xfrm>
            <a:off x="6629400" y="5625447"/>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Himalaya Wellness Company</a:t>
            </a:r>
          </a:p>
        </p:txBody>
      </p:sp>
      <p:cxnSp>
        <p:nvCxnSpPr>
          <p:cNvPr id="116" name="Connector 115"/>
          <p:cNvCxnSpPr/>
          <p:nvPr/>
        </p:nvCxnSpPr>
        <p:spPr>
          <a:xfrm>
            <a:off x="6200775" y="5917506"/>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6381750" y="5917506"/>
            <a:ext cx="190500" cy="292059"/>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18" name="TextBox 117"/>
          <p:cNvSpPr txBox="1"/>
          <p:nvPr/>
        </p:nvSpPr>
        <p:spPr>
          <a:xfrm>
            <a:off x="6629400" y="5917506"/>
            <a:ext cx="5324475" cy="292059"/>
          </a:xfrm>
          <a:prstGeom prst="rect">
            <a:avLst/>
          </a:prstGeom>
          <a:noFill/>
        </p:spPr>
        <p:txBody>
          <a:bodyPr wrap="square" lIns="28575" rIns="28575" tIns="9525" bIns="9525" anchor="ctr">
            <a:spAutoFit/>
          </a:bodyPr>
          <a:lstStyle/>
          <a:p>
            <a:pPr algn="l"/>
            <a:r>
              <a:rPr sz="1100" b="0">
                <a:solidFill>
                  <a:srgbClr val="2E2E2E"/>
                </a:solidFill>
                <a:latin typeface="Calibri"/>
              </a:rPr>
              <a:t>Nippon Zenyaku Kogyo</a:t>
            </a:r>
          </a:p>
        </p:txBody>
      </p:sp>
      <p:sp>
        <p:nvSpPr>
          <p:cNvPr id="119" name="TextBox 118"/>
          <p:cNvSpPr txBox="1"/>
          <p:nvPr/>
        </p:nvSpPr>
        <p:spPr>
          <a:xfrm>
            <a:off x="142875" y="6337341"/>
            <a:ext cx="11906250" cy="182537"/>
          </a:xfrm>
          <a:prstGeom prst="rect">
            <a:avLst/>
          </a:prstGeom>
          <a:noFill/>
        </p:spPr>
        <p:txBody>
          <a:bodyPr wrap="square" lIns="28575" rIns="28575" tIns="9525" bIns="9525" anchor="ctr">
            <a:spAutoFit/>
          </a:bodyPr>
          <a:lstStyle/>
          <a:p>
            <a:pPr algn="l"/>
            <a:r>
              <a:rPr sz="1100" b="1">
                <a:solidFill>
                  <a:srgbClr val="B06A2C"/>
                </a:solidFill>
                <a:latin typeface="Calibri"/>
              </a:rPr>
              <a:t>Note: the list of companies is indicative and can be customised on request.</a:t>
            </a:r>
          </a:p>
        </p:txBody>
      </p:sp>
      <p:sp>
        <p:nvSpPr>
          <p:cNvPr id="120" name="TextBox 1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489325"/>
            <a:ext cx="8572500" cy="514350"/>
          </a:xfrm>
          <a:prstGeom prst="rect">
            <a:avLst/>
          </a:prstGeom>
          <a:noFill/>
        </p:spPr>
        <p:txBody>
          <a:bodyPr wrap="square" lIns="0" rIns="0" tIns="0">
            <a:spAutoFit/>
          </a:bodyPr>
          <a:lstStyle/>
          <a:p>
            <a:r>
              <a:rPr sz="3000" b="1">
                <a:solidFill>
                  <a:srgbClr val="0B3C8C"/>
                </a:solidFill>
                <a:latin typeface="Calibri"/>
              </a:rPr>
              <a:t>Table of Contents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The full contents of this study, as delivered</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(1/8)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Executive Summary</a:t>
                      </a:r>
                      <a:endParaRPr sz="1100"/>
                    </a:p>
                  </a:txBody>
                  <a:tcPr marL="17145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Global Market Snapshot</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Key Demand Trends</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Key Supply Trends</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Technology Roadmap</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Analyst Takeaways &amp; Recommendations</a:t>
                      </a:r>
                      <a:endParaRPr sz="1100"/>
                    </a:p>
                  </a:txBody>
                  <a:tcPr marL="685800" marR="9525" marT="9525" marB="0" anchor="ctr"/>
                </a:tc>
              </a:tr>
              <a:tr h="175260">
                <a:tc>
                  <a:txBody>
                    <a:bodyPr wrap="square"/>
                    <a:lstStyle/>
                    <a:p>
                      <a:pPr algn="l"/>
                      <a:r>
                        <a:rPr sz="1100" b="1" i="0">
                          <a:solidFill>
                            <a:srgbClr val="000000"/>
                          </a:solidFill>
                          <a:latin typeface="Calibri"/>
                        </a:rPr>
                        <a:t>1.</a:t>
                      </a:r>
                      <a:r>
                        <a:rPr sz="700" b="1" i="0">
                          <a:solidFill>
                            <a:srgbClr val="000000"/>
                          </a:solidFill>
                          <a:latin typeface="Times New Roman"/>
                        </a:rPr>
                        <a:t>       </a:t>
                      </a:r>
                      <a:r>
                        <a:rPr sz="1100" b="1" i="0">
                          <a:solidFill>
                            <a:srgbClr val="000000"/>
                          </a:solidFill>
                          <a:latin typeface="Calibri"/>
                        </a:rPr>
                        <a:t>Market Overview</a:t>
                      </a:r>
                      <a:endParaRPr sz="1100"/>
                    </a:p>
                  </a:txBody>
                  <a:tcPr marL="171450" marR="9525" marT="9525" marB="0" anchor="ctr"/>
                </a:tc>
              </a:tr>
              <a:tr h="175260">
                <a:tc>
                  <a:txBody>
                    <a:bodyPr wrap="square"/>
                    <a:lstStyle/>
                    <a:p>
                      <a:pPr algn="l"/>
                      <a:r>
                        <a:rPr sz="1100" b="0" i="0">
                          <a:solidFill>
                            <a:srgbClr val="0070C0"/>
                          </a:solidFill>
                          <a:latin typeface="Calibri"/>
                        </a:rPr>
                        <a:t>1.1.</a:t>
                      </a:r>
                      <a:r>
                        <a:rPr sz="700" b="0" i="0">
                          <a:solidFill>
                            <a:srgbClr val="0070C0"/>
                          </a:solidFill>
                          <a:latin typeface="Times New Roman"/>
                        </a:rPr>
                        <a:t>    </a:t>
                      </a:r>
                      <a:r>
                        <a:rPr sz="1100" b="0" i="0">
                          <a:solidFill>
                            <a:srgbClr val="0070C0"/>
                          </a:solidFill>
                          <a:latin typeface="Calibri"/>
                        </a:rPr>
                        <a:t>Market Coverage / Taxonomy</a:t>
                      </a:r>
                      <a:endParaRPr sz="1100"/>
                    </a:p>
                  </a:txBody>
                  <a:tcPr marL="428625" marR="9525" marT="9525" marB="0" anchor="ctr"/>
                </a:tc>
              </a:tr>
              <a:tr h="175260">
                <a:tc>
                  <a:txBody>
                    <a:bodyPr wrap="square"/>
                    <a:lstStyle/>
                    <a:p>
                      <a:pPr algn="l"/>
                      <a:r>
                        <a:rPr sz="1100" b="0" i="0">
                          <a:solidFill>
                            <a:srgbClr val="0070C0"/>
                          </a:solidFill>
                          <a:latin typeface="Calibri"/>
                        </a:rPr>
                        <a:t>1.2.</a:t>
                      </a:r>
                      <a:r>
                        <a:rPr sz="700" b="0" i="0">
                          <a:solidFill>
                            <a:srgbClr val="0070C0"/>
                          </a:solidFill>
                          <a:latin typeface="Times New Roman"/>
                        </a:rPr>
                        <a:t>    </a:t>
                      </a:r>
                      <a:r>
                        <a:rPr sz="1100" b="0" i="0">
                          <a:solidFill>
                            <a:srgbClr val="0070C0"/>
                          </a:solidFill>
                          <a:latin typeface="Calibri"/>
                        </a:rPr>
                        <a:t>Market Definition By Segments Covered</a:t>
                      </a:r>
                      <a:endParaRPr sz="1100"/>
                    </a:p>
                  </a:txBody>
                  <a:tcPr marL="428625" marR="9525" marT="9525" marB="0" anchor="ctr"/>
                </a:tc>
              </a:tr>
              <a:tr h="175260">
                <a:tc>
                  <a:txBody>
                    <a:bodyPr wrap="square"/>
                    <a:lstStyle/>
                    <a:p>
                      <a:pPr algn="l"/>
                      <a:r>
                        <a:rPr sz="1100" b="0" i="0">
                          <a:solidFill>
                            <a:srgbClr val="0070C0"/>
                          </a:solidFill>
                          <a:latin typeface="Calibri"/>
                        </a:rPr>
                        <a:t>1.3.</a:t>
                      </a:r>
                      <a:r>
                        <a:rPr sz="700" b="0" i="0">
                          <a:solidFill>
                            <a:srgbClr val="0070C0"/>
                          </a:solidFill>
                          <a:latin typeface="Times New Roman"/>
                        </a:rPr>
                        <a:t>    </a:t>
                      </a:r>
                      <a:r>
                        <a:rPr sz="1100" b="0" i="0">
                          <a:solidFill>
                            <a:srgbClr val="0070C0"/>
                          </a:solidFill>
                          <a:latin typeface="Calibri"/>
                        </a:rPr>
                        <a:t>Regional Macro Economic Indicators</a:t>
                      </a:r>
                      <a:endParaRPr sz="1100"/>
                    </a:p>
                  </a:txBody>
                  <a:tcPr marL="428625" marR="9525" marT="9525" marB="0" anchor="ctr"/>
                </a:tc>
              </a:tr>
              <a:tr h="175260">
                <a:tc>
                  <a:txBody>
                    <a:bodyPr wrap="square"/>
                    <a:lstStyle/>
                    <a:p>
                      <a:pPr algn="l"/>
                      <a:r>
                        <a:rPr sz="1100" b="0" i="0">
                          <a:solidFill>
                            <a:srgbClr val="000000"/>
                          </a:solidFill>
                          <a:latin typeface="Calibri"/>
                        </a:rPr>
                        <a:t>1.3.1.</a:t>
                      </a:r>
                      <a:r>
                        <a:rPr sz="700" b="0" i="0">
                          <a:solidFill>
                            <a:srgbClr val="000000"/>
                          </a:solidFill>
                          <a:latin typeface="Times New Roman"/>
                        </a:rPr>
                        <a:t>   </a:t>
                      </a:r>
                      <a:r>
                        <a:rPr sz="1100" b="0" i="0">
                          <a:solidFill>
                            <a:srgbClr val="000000"/>
                          </a:solidFill>
                          <a:latin typeface="Calibri"/>
                        </a:rPr>
                        <a:t>Disposable Income Growth (%)</a:t>
                      </a:r>
                      <a:endParaRPr sz="1100"/>
                    </a:p>
                  </a:txBody>
                  <a:tcPr marL="771525" marR="9525" marT="9525" marB="0" anchor="ctr"/>
                </a:tc>
              </a:tr>
              <a:tr h="175260">
                <a:tc>
                  <a:txBody>
                    <a:bodyPr wrap="square"/>
                    <a:lstStyle/>
                    <a:p>
                      <a:pPr algn="l"/>
                      <a:r>
                        <a:rPr sz="1100" b="0" i="0">
                          <a:solidFill>
                            <a:srgbClr val="000000"/>
                          </a:solidFill>
                          <a:latin typeface="Calibri"/>
                        </a:rPr>
                        <a:t>1.3.2.</a:t>
                      </a:r>
                      <a:r>
                        <a:rPr sz="700" b="0" i="0">
                          <a:solidFill>
                            <a:srgbClr val="000000"/>
                          </a:solidFill>
                          <a:latin typeface="Times New Roman"/>
                        </a:rPr>
                        <a:t>   </a:t>
                      </a:r>
                      <a:r>
                        <a:rPr sz="1100" b="0" i="0">
                          <a:solidFill>
                            <a:srgbClr val="000000"/>
                          </a:solidFill>
                          <a:latin typeface="Calibri"/>
                        </a:rPr>
                        <a:t>Consumer Price Inflation (%)</a:t>
                      </a:r>
                      <a:endParaRPr sz="1100"/>
                    </a:p>
                  </a:txBody>
                  <a:tcPr marL="771525" marR="9525" marT="9525" marB="0" anchor="ctr"/>
                </a:tc>
              </a:tr>
              <a:tr h="175260">
                <a:tc>
                  <a:txBody>
                    <a:bodyPr wrap="square"/>
                    <a:lstStyle/>
                    <a:p>
                      <a:pPr algn="l"/>
                      <a:r>
                        <a:rPr sz="1100" b="0" i="0">
                          <a:solidFill>
                            <a:srgbClr val="000000"/>
                          </a:solidFill>
                          <a:latin typeface="Calibri"/>
                        </a:rPr>
                        <a:t>1.3.3.</a:t>
                      </a:r>
                      <a:r>
                        <a:rPr sz="700" b="0" i="0">
                          <a:solidFill>
                            <a:srgbClr val="000000"/>
                          </a:solidFill>
                          <a:latin typeface="Times New Roman"/>
                        </a:rPr>
                        <a:t>   </a:t>
                      </a:r>
                      <a:r>
                        <a:rPr sz="1100" b="0" i="0">
                          <a:solidFill>
                            <a:srgbClr val="000000"/>
                          </a:solidFill>
                          <a:latin typeface="Calibri"/>
                        </a:rPr>
                        <a:t>Veterinary Healthcare Expenditure Growth (%)</a:t>
                      </a:r>
                      <a:endParaRPr sz="1100"/>
                    </a:p>
                  </a:txBody>
                  <a:tcPr marL="771525" marR="9525" marT="9525" marB="0" anchor="ctr"/>
                </a:tc>
              </a:tr>
              <a:tr h="175260">
                <a:tc>
                  <a:txBody>
                    <a:bodyPr wrap="square"/>
                    <a:lstStyle/>
                    <a:p>
                      <a:pPr algn="l"/>
                      <a:r>
                        <a:rPr sz="1100" b="0" i="0">
                          <a:solidFill>
                            <a:srgbClr val="000000"/>
                          </a:solidFill>
                          <a:latin typeface="Calibri"/>
                        </a:rPr>
                        <a:t>1.3.4.</a:t>
                      </a:r>
                      <a:r>
                        <a:rPr sz="700" b="0" i="0">
                          <a:solidFill>
                            <a:srgbClr val="000000"/>
                          </a:solidFill>
                          <a:latin typeface="Times New Roman"/>
                        </a:rPr>
                        <a:t>   </a:t>
                      </a:r>
                      <a:r>
                        <a:rPr sz="1100" b="0" i="0">
                          <a:solidFill>
                            <a:srgbClr val="000000"/>
                          </a:solidFill>
                          <a:latin typeface="Calibri"/>
                        </a:rPr>
                        <a:t>Pet Insurance Penetration (%)</a:t>
                      </a:r>
                      <a:endParaRPr sz="1100"/>
                    </a:p>
                  </a:txBody>
                  <a:tcPr marL="771525" marR="9525" marT="9525" marB="0" anchor="ctr"/>
                </a:tc>
              </a:tr>
              <a:tr h="175260">
                <a:tc>
                  <a:txBody>
                    <a:bodyPr wrap="square"/>
                    <a:lstStyle/>
                    <a:p>
                      <a:pPr algn="l"/>
                      <a:r>
                        <a:rPr sz="1100" b="0" i="0">
                          <a:solidFill>
                            <a:srgbClr val="000000"/>
                          </a:solidFill>
                          <a:latin typeface="Calibri"/>
                        </a:rPr>
                        <a:t>1.3.5.</a:t>
                      </a:r>
                      <a:r>
                        <a:rPr sz="700" b="0" i="0">
                          <a:solidFill>
                            <a:srgbClr val="000000"/>
                          </a:solidFill>
                          <a:latin typeface="Times New Roman"/>
                        </a:rPr>
                        <a:t>   </a:t>
                      </a:r>
                      <a:r>
                        <a:rPr sz="1100" b="0" i="0">
                          <a:solidFill>
                            <a:srgbClr val="000000"/>
                          </a:solidFill>
                          <a:latin typeface="Calibri"/>
                        </a:rPr>
                        <a:t>E-commerce Retail Sales Growth (%)</a:t>
                      </a:r>
                      <a:endParaRPr sz="1100"/>
                    </a:p>
                  </a:txBody>
                  <a:tcPr marL="771525" marR="9525" marT="9525" marB="0" anchor="ctr"/>
                </a:tc>
              </a:tr>
              <a:tr h="175260">
                <a:tc>
                  <a:txBody>
                    <a:bodyPr wrap="square"/>
                    <a:lstStyle/>
                    <a:p>
                      <a:pPr algn="l"/>
                      <a:r>
                        <a:rPr sz="1100" b="0" i="0">
                          <a:solidFill>
                            <a:srgbClr val="0070C0"/>
                          </a:solidFill>
                          <a:latin typeface="Calibri"/>
                        </a:rPr>
                        <a:t>1.4.</a:t>
                      </a:r>
                      <a:r>
                        <a:rPr sz="700" b="0" i="0">
                          <a:solidFill>
                            <a:srgbClr val="0070C0"/>
                          </a:solidFill>
                          <a:latin typeface="Times New Roman"/>
                        </a:rPr>
                        <a:t>    </a:t>
                      </a:r>
                      <a:r>
                        <a:rPr sz="1100" b="0" i="0">
                          <a:solidFill>
                            <a:srgbClr val="0070C0"/>
                          </a:solidFill>
                          <a:latin typeface="Calibri"/>
                        </a:rPr>
                        <a:t>Regional Micro Economic Indicators</a:t>
                      </a:r>
                      <a:endParaRPr sz="1100"/>
                    </a:p>
                  </a:txBody>
                  <a:tcPr marL="428625" marR="9525" marT="9525" marB="0" anchor="ctr"/>
                </a:tc>
              </a:tr>
              <a:tr h="175260">
                <a:tc>
                  <a:txBody>
                    <a:bodyPr wrap="square"/>
                    <a:lstStyle/>
                    <a:p>
                      <a:pPr algn="l"/>
                      <a:r>
                        <a:rPr sz="1100" b="0" i="0">
                          <a:solidFill>
                            <a:srgbClr val="000000"/>
                          </a:solidFill>
                          <a:latin typeface="Calibri"/>
                        </a:rPr>
                        <a:t>1.4.1.</a:t>
                      </a:r>
                      <a:r>
                        <a:rPr sz="700" b="0" i="0">
                          <a:solidFill>
                            <a:srgbClr val="000000"/>
                          </a:solidFill>
                          <a:latin typeface="Times New Roman"/>
                        </a:rPr>
                        <a:t>   </a:t>
                      </a:r>
                      <a:r>
                        <a:rPr sz="1100" b="0" i="0">
                          <a:solidFill>
                            <a:srgbClr val="000000"/>
                          </a:solidFill>
                          <a:latin typeface="Calibri"/>
                        </a:rPr>
                        <a:t>Senior Dog Supplement Adoption Rate (%)</a:t>
                      </a:r>
                      <a:endParaRPr sz="1100"/>
                    </a:p>
                  </a:txBody>
                  <a:tcPr marL="771525" marR="9525" marT="9525" marB="0" anchor="ctr"/>
                </a:tc>
              </a:tr>
              <a:tr h="175260">
                <a:tc>
                  <a:txBody>
                    <a:bodyPr wrap="square"/>
                    <a:lstStyle/>
                    <a:p>
                      <a:pPr algn="l"/>
                      <a:r>
                        <a:rPr sz="1100" b="0" i="0">
                          <a:solidFill>
                            <a:srgbClr val="000000"/>
                          </a:solidFill>
                          <a:latin typeface="Calibri"/>
                        </a:rPr>
                        <a:t>1.4.2.</a:t>
                      </a:r>
                      <a:r>
                        <a:rPr sz="700" b="0" i="0">
                          <a:solidFill>
                            <a:srgbClr val="000000"/>
                          </a:solidFill>
                          <a:latin typeface="Times New Roman"/>
                        </a:rPr>
                        <a:t>   </a:t>
                      </a:r>
                      <a:r>
                        <a:rPr sz="1100" b="0" i="0">
                          <a:solidFill>
                            <a:srgbClr val="000000"/>
                          </a:solidFill>
                          <a:latin typeface="Calibri"/>
                        </a:rPr>
                        <a:t>Average Annual Spending on Senior Dog Supplements</a:t>
                      </a:r>
                      <a:endParaRPr sz="1100"/>
                    </a:p>
                  </a:txBody>
                  <a:tcPr marL="771525" marR="9525" marT="9525" marB="0" anchor="ctr"/>
                </a:tc>
              </a:tr>
              <a:tr h="175260">
                <a:tc>
                  <a:txBody>
                    <a:bodyPr wrap="square"/>
                    <a:lstStyle/>
                    <a:p>
                      <a:pPr algn="l"/>
                      <a:r>
                        <a:rPr sz="1100" b="0" i="0">
                          <a:solidFill>
                            <a:srgbClr val="000000"/>
                          </a:solidFill>
                          <a:latin typeface="Calibri"/>
                        </a:rPr>
                        <a:t>1.4.3.</a:t>
                      </a:r>
                      <a:r>
                        <a:rPr sz="700" b="0" i="0">
                          <a:solidFill>
                            <a:srgbClr val="000000"/>
                          </a:solidFill>
                          <a:latin typeface="Times New Roman"/>
                        </a:rPr>
                        <a:t>   </a:t>
                      </a:r>
                      <a:r>
                        <a:rPr sz="1100" b="0" i="0">
                          <a:solidFill>
                            <a:srgbClr val="000000"/>
                          </a:solidFill>
                          <a:latin typeface="Calibri"/>
                        </a:rPr>
                        <a:t>Veterinary Recommendation Rate (%)</a:t>
                      </a:r>
                      <a:endParaRPr sz="1100"/>
                    </a:p>
                  </a:txBody>
                  <a:tcPr marL="771525" marR="9525" marT="9525" marB="0" anchor="ctr"/>
                </a:tc>
              </a:tr>
              <a:tr h="175260">
                <a:tc>
                  <a:txBody>
                    <a:bodyPr wrap="square"/>
                    <a:lstStyle/>
                    <a:p>
                      <a:pPr algn="l"/>
                      <a:r>
                        <a:rPr sz="1100" b="0" i="0">
                          <a:solidFill>
                            <a:srgbClr val="000000"/>
                          </a:solidFill>
                          <a:latin typeface="Calibri"/>
                        </a:rPr>
                        <a:t>1.4.4.</a:t>
                      </a:r>
                      <a:r>
                        <a:rPr sz="700" b="0" i="0">
                          <a:solidFill>
                            <a:srgbClr val="000000"/>
                          </a:solidFill>
                          <a:latin typeface="Times New Roman"/>
                        </a:rPr>
                        <a:t>   </a:t>
                      </a:r>
                      <a:r>
                        <a:rPr sz="1100" b="0" i="0">
                          <a:solidFill>
                            <a:srgbClr val="000000"/>
                          </a:solidFill>
                          <a:latin typeface="Calibri"/>
                        </a:rPr>
                        <a:t>Repeat Purchase Rate (%)</a:t>
                      </a:r>
                      <a:endParaRPr sz="1100"/>
                    </a:p>
                  </a:txBody>
                  <a:tcPr marL="771525" marR="9525" marT="9525" marB="0" anchor="ctr"/>
                </a:tc>
              </a:tr>
              <a:tr h="175260">
                <a:tc>
                  <a:txBody>
                    <a:bodyPr wrap="square"/>
                    <a:lstStyle/>
                    <a:p>
                      <a:pPr algn="l"/>
                      <a:r>
                        <a:rPr sz="1100" b="0" i="0">
                          <a:solidFill>
                            <a:srgbClr val="000000"/>
                          </a:solidFill>
                          <a:latin typeface="Calibri"/>
                        </a:rPr>
                        <a:t>1.4.5.</a:t>
                      </a:r>
                      <a:r>
                        <a:rPr sz="700" b="0" i="0">
                          <a:solidFill>
                            <a:srgbClr val="000000"/>
                          </a:solidFill>
                          <a:latin typeface="Times New Roman"/>
                        </a:rPr>
                        <a:t>   </a:t>
                      </a:r>
                      <a:r>
                        <a:rPr sz="1100" b="0" i="0">
                          <a:solidFill>
                            <a:srgbClr val="000000"/>
                          </a:solidFill>
                          <a:latin typeface="Calibri"/>
                        </a:rPr>
                        <a:t>Average Selling Price per Supplement SKU</a:t>
                      </a:r>
                      <a:endParaRPr sz="1100"/>
                    </a:p>
                  </a:txBody>
                  <a:tcPr marL="771525" marR="9525" marT="9525" marB="0" anchor="ctr"/>
                </a:tc>
              </a:tr>
              <a:tr h="175260">
                <a:tc>
                  <a:txBody>
                    <a:bodyPr wrap="square"/>
                    <a:lstStyle/>
                    <a:p>
                      <a:pPr algn="l"/>
                      <a:r>
                        <a:rPr sz="1100" b="1" i="0">
                          <a:solidFill>
                            <a:srgbClr val="000000"/>
                          </a:solidFill>
                          <a:latin typeface="Calibri"/>
                        </a:rPr>
                        <a:t>Section 1: Global Market Outlook</a:t>
                      </a:r>
                      <a:endParaRPr sz="1100"/>
                    </a:p>
                  </a:txBody>
                  <a:tcPr marL="9525" marR="9525" marT="9525" marB="0" anchor="ctr"/>
                </a:tc>
              </a:tr>
              <a:tr h="175260">
                <a:tc>
                  <a:txBody>
                    <a:bodyPr wrap="square"/>
                    <a:lstStyle/>
                    <a:p>
                      <a:pPr algn="l"/>
                      <a:r>
                        <a:rPr sz="1100" b="1" i="0">
                          <a:solidFill>
                            <a:srgbClr val="000000"/>
                          </a:solidFill>
                          <a:latin typeface="Calibri"/>
                        </a:rPr>
                        <a:t>2.</a:t>
                      </a:r>
                      <a:r>
                        <a:rPr sz="700" b="1" i="0">
                          <a:solidFill>
                            <a:srgbClr val="000000"/>
                          </a:solidFill>
                          <a:latin typeface="Times New Roman"/>
                        </a:rPr>
                        <a:t>       </a:t>
                      </a:r>
                      <a:r>
                        <a:rPr sz="1100" b="1" i="0">
                          <a:solidFill>
                            <a:srgbClr val="000000"/>
                          </a:solidFill>
                          <a:latin typeface="Calibri"/>
                        </a:rPr>
                        <a:t>Global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2.1.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2.2.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2.3.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2.4.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1" i="0">
                          <a:solidFill>
                            <a:srgbClr val="000000"/>
                          </a:solidFill>
                          <a:latin typeface="Calibri"/>
                        </a:rPr>
                        <a:t>3.</a:t>
                      </a:r>
                      <a:r>
                        <a:rPr sz="700" b="1" i="0">
                          <a:solidFill>
                            <a:srgbClr val="000000"/>
                          </a:solidFill>
                          <a:latin typeface="Times New Roman"/>
                        </a:rPr>
                        <a:t>       </a:t>
                      </a:r>
                      <a:r>
                        <a:rPr sz="1100" b="1" i="0">
                          <a:solidFill>
                            <a:srgbClr val="000000"/>
                          </a:solidFill>
                          <a:latin typeface="Calibri"/>
                        </a:rPr>
                        <a:t>Global Market (Value- Volume) Analysis 2021-2036, By Form Type</a:t>
                      </a:r>
                      <a:endParaRPr sz="1100"/>
                    </a:p>
                  </a:txBody>
                  <a:tcPr marL="171450" marR="9525" marT="9525" marB="0" anchor="ctr"/>
                </a:tc>
              </a:tr>
              <a:tr h="175260">
                <a:tc>
                  <a:txBody>
                    <a:bodyPr wrap="square"/>
                    <a:lstStyle/>
                    <a:p>
                      <a:pPr algn="l"/>
                      <a:r>
                        <a:rPr sz="1100" b="0" i="0">
                          <a:solidFill>
                            <a:srgbClr val="0070C0"/>
                          </a:solidFill>
                          <a:latin typeface="Calibri"/>
                        </a:rPr>
                        <a:t>3.1.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3.2.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3.3.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3.4.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3.5.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3.5.1.</a:t>
                      </a:r>
                      <a:r>
                        <a:rPr sz="700" b="0" i="0">
                          <a:solidFill>
                            <a:srgbClr val="000000"/>
                          </a:solidFill>
                          <a:latin typeface="Times New Roman"/>
                        </a:rPr>
                        <a:t>   </a:t>
                      </a:r>
                      <a:r>
                        <a:rPr sz="1100" b="0" i="0">
                          <a:solidFill>
                            <a:srgbClr val="000000"/>
                          </a:solidFill>
                          <a:latin typeface="Calibri"/>
                        </a:rPr>
                        <a:t>Chewables</a:t>
                      </a:r>
                      <a:endParaRPr sz="1100"/>
                    </a:p>
                  </a:txBody>
                  <a:tcPr marL="771525" marR="9525" marT="9525" marB="0" anchor="ctr"/>
                </a:tc>
              </a:tr>
              <a:tr h="175260">
                <a:tc>
                  <a:txBody>
                    <a:bodyPr wrap="square"/>
                    <a:lstStyle/>
                    <a:p>
                      <a:pPr algn="l"/>
                      <a:r>
                        <a:rPr sz="1100" b="0" i="0">
                          <a:solidFill>
                            <a:srgbClr val="000000"/>
                          </a:solidFill>
                          <a:latin typeface="Calibri"/>
                        </a:rPr>
                        <a:t>3.5.2.</a:t>
                      </a:r>
                      <a:r>
                        <a:rPr sz="700" b="0" i="0">
                          <a:solidFill>
                            <a:srgbClr val="000000"/>
                          </a:solidFill>
                          <a:latin typeface="Times New Roman"/>
                        </a:rPr>
                        <a:t>   </a:t>
                      </a:r>
                      <a:r>
                        <a:rPr sz="1100" b="0" i="0">
                          <a:solidFill>
                            <a:srgbClr val="000000"/>
                          </a:solidFill>
                          <a:latin typeface="Calibri"/>
                        </a:rPr>
                        <a:t>Tablets</a:t>
                      </a:r>
                      <a:endParaRPr sz="1100"/>
                    </a:p>
                  </a:txBody>
                  <a:tcPr marL="771525" marR="9525" marT="9525" marB="0" anchor="ctr"/>
                </a:tc>
              </a:tr>
              <a:tr h="175260">
                <a:tc>
                  <a:txBody>
                    <a:bodyPr wrap="square"/>
                    <a:lstStyle/>
                    <a:p>
                      <a:pPr algn="l"/>
                      <a:r>
                        <a:rPr sz="1100" b="0" i="0">
                          <a:solidFill>
                            <a:srgbClr val="000000"/>
                          </a:solidFill>
                          <a:latin typeface="Calibri"/>
                        </a:rPr>
                        <a:t>3.5.3.</a:t>
                      </a:r>
                      <a:r>
                        <a:rPr sz="700" b="0" i="0">
                          <a:solidFill>
                            <a:srgbClr val="000000"/>
                          </a:solidFill>
                          <a:latin typeface="Times New Roman"/>
                        </a:rPr>
                        <a:t>   </a:t>
                      </a:r>
                      <a:r>
                        <a:rPr sz="1100" b="0" i="0">
                          <a:solidFill>
                            <a:srgbClr val="000000"/>
                          </a:solidFill>
                          <a:latin typeface="Calibri"/>
                        </a:rPr>
                        <a:t>Capsules and Softgels</a:t>
                      </a:r>
                      <a:endParaRPr sz="1100"/>
                    </a:p>
                  </a:txBody>
                  <a:tcPr marL="771525" marR="9525" marT="9525" marB="0" anchor="ctr"/>
                </a:tc>
              </a:tr>
              <a:tr h="175260">
                <a:tc>
                  <a:txBody>
                    <a:bodyPr wrap="square"/>
                    <a:lstStyle/>
                    <a:p>
                      <a:pPr algn="l"/>
                      <a:r>
                        <a:rPr sz="1100" b="0" i="0">
                          <a:solidFill>
                            <a:srgbClr val="000000"/>
                          </a:solidFill>
                          <a:latin typeface="Calibri"/>
                        </a:rPr>
                        <a:t>3.5.4.</a:t>
                      </a:r>
                      <a:r>
                        <a:rPr sz="700" b="0" i="0">
                          <a:solidFill>
                            <a:srgbClr val="000000"/>
                          </a:solidFill>
                          <a:latin typeface="Times New Roman"/>
                        </a:rPr>
                        <a:t>   </a:t>
                      </a:r>
                      <a:r>
                        <a:rPr sz="1100" b="0" i="0">
                          <a:solidFill>
                            <a:srgbClr val="000000"/>
                          </a:solidFill>
                          <a:latin typeface="Calibri"/>
                        </a:rPr>
                        <a:t>Powders and Granules</a:t>
                      </a:r>
                      <a:endParaRPr sz="1100"/>
                    </a:p>
                  </a:txBody>
                  <a:tcPr marL="771525" marR="9525" marT="9525" marB="0" anchor="ctr"/>
                </a:tc>
              </a:tr>
              <a:tr h="175260">
                <a:tc>
                  <a:txBody>
                    <a:bodyPr wrap="square"/>
                    <a:lstStyle/>
                    <a:p>
                      <a:pPr algn="l"/>
                      <a:r>
                        <a:rPr sz="1100" b="0" i="0">
                          <a:solidFill>
                            <a:srgbClr val="000000"/>
                          </a:solidFill>
                          <a:latin typeface="Calibri"/>
                        </a:rPr>
                        <a:t>3.5.5.</a:t>
                      </a:r>
                      <a:r>
                        <a:rPr sz="700" b="0" i="0">
                          <a:solidFill>
                            <a:srgbClr val="000000"/>
                          </a:solidFill>
                          <a:latin typeface="Times New Roman"/>
                        </a:rPr>
                        <a:t>   </a:t>
                      </a:r>
                      <a:r>
                        <a:rPr sz="1100" b="0" i="0">
                          <a:solidFill>
                            <a:srgbClr val="000000"/>
                          </a:solidFill>
                          <a:latin typeface="Calibri"/>
                        </a:rPr>
                        <a:t>Liquids</a:t>
                      </a:r>
                      <a:endParaRPr sz="1100"/>
                    </a:p>
                  </a:txBody>
                  <a:tcPr marL="771525" marR="9525" marT="9525" marB="0" anchor="ctr"/>
                </a:tc>
              </a:tr>
              <a:tr h="175260">
                <a:tc>
                  <a:txBody>
                    <a:bodyPr wrap="square"/>
                    <a:lstStyle/>
                    <a:p>
                      <a:pPr algn="l"/>
                      <a:r>
                        <a:rPr sz="1100" b="0" i="0">
                          <a:solidFill>
                            <a:srgbClr val="000000"/>
                          </a:solidFill>
                          <a:latin typeface="Calibri"/>
                        </a:rPr>
                        <a:t>3.5.6.</a:t>
                      </a:r>
                      <a:r>
                        <a:rPr sz="700" b="0" i="0">
                          <a:solidFill>
                            <a:srgbClr val="000000"/>
                          </a:solidFill>
                          <a:latin typeface="Times New Roman"/>
                        </a:rPr>
                        <a:t>   </a:t>
                      </a:r>
                      <a:r>
                        <a:rPr sz="1100" b="0" i="0">
                          <a:solidFill>
                            <a:srgbClr val="000000"/>
                          </a:solidFill>
                          <a:latin typeface="Calibri"/>
                        </a:rPr>
                        <a:t>Gels and Pastes</a:t>
                      </a:r>
                      <a:endParaRPr sz="1100"/>
                    </a:p>
                  </a:txBody>
                  <a:tcPr marL="771525" marR="9525" marT="9525" marB="0" anchor="ctr"/>
                </a:tc>
              </a:tr>
              <a:tr h="175260">
                <a:tc>
                  <a:txBody>
                    <a:bodyPr wrap="square"/>
                    <a:lstStyle/>
                    <a:p>
                      <a:pPr algn="l"/>
                      <a:r>
                        <a:rPr sz="1100" b="1" i="0">
                          <a:solidFill>
                            <a:srgbClr val="000000"/>
                          </a:solidFill>
                          <a:latin typeface="Calibri"/>
                        </a:rPr>
                        <a:t>4.</a:t>
                      </a:r>
                      <a:r>
                        <a:rPr sz="700" b="1" i="0">
                          <a:solidFill>
                            <a:srgbClr val="000000"/>
                          </a:solidFill>
                          <a:latin typeface="Times New Roman"/>
                        </a:rPr>
                        <a:t>       </a:t>
                      </a:r>
                      <a:r>
                        <a:rPr sz="1100" b="1" i="0">
                          <a:solidFill>
                            <a:srgbClr val="000000"/>
                          </a:solidFill>
                          <a:latin typeface="Calibri"/>
                        </a:rPr>
                        <a:t>Global Market (Value- Volume) Analysis 2021–2036, By Active Ingredient</a:t>
                      </a:r>
                      <a:endParaRPr sz="1100"/>
                    </a:p>
                  </a:txBody>
                  <a:tcPr marL="171450" marR="9525" marT="9525" marB="0" anchor="ctr"/>
                </a:tc>
              </a:tr>
              <a:tr h="175260">
                <a:tc>
                  <a:txBody>
                    <a:bodyPr wrap="square"/>
                    <a:lstStyle/>
                    <a:p>
                      <a:pPr algn="l"/>
                      <a:r>
                        <a:rPr sz="1100" b="0" i="0">
                          <a:solidFill>
                            <a:srgbClr val="0070C0"/>
                          </a:solidFill>
                          <a:latin typeface="Calibri"/>
                        </a:rPr>
                        <a:t>4.1.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4.2.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4.3.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4.4.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4.5.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4.5.1.</a:t>
                      </a:r>
                      <a:r>
                        <a:rPr sz="700" b="0" i="0">
                          <a:solidFill>
                            <a:srgbClr val="000000"/>
                          </a:solidFill>
                          <a:latin typeface="Times New Roman"/>
                        </a:rPr>
                        <a:t>   </a:t>
                      </a:r>
                      <a:r>
                        <a:rPr sz="1100" b="0" i="0">
                          <a:solidFill>
                            <a:srgbClr val="000000"/>
                          </a:solidFill>
                          <a:latin typeface="Calibri"/>
                        </a:rPr>
                        <a:t>Omega-3 Fatty Acids</a:t>
                      </a:r>
                      <a:endParaRPr sz="1100"/>
                    </a:p>
                  </a:txBody>
                  <a:tcPr marL="771525" marR="9525" marT="9525" marB="0" anchor="ctr"/>
                </a:tc>
              </a:tr>
              <a:tr h="175260">
                <a:tc>
                  <a:txBody>
                    <a:bodyPr wrap="square"/>
                    <a:lstStyle/>
                    <a:p>
                      <a:pPr algn="l"/>
                      <a:r>
                        <a:rPr sz="1100" b="0" i="1">
                          <a:solidFill>
                            <a:srgbClr val="000000"/>
                          </a:solidFill>
                          <a:latin typeface="Calibri"/>
                        </a:rPr>
                        <a:t>4.5.1.1.</a:t>
                      </a:r>
                      <a:r>
                        <a:rPr sz="700" b="0" i="1">
                          <a:solidFill>
                            <a:srgbClr val="000000"/>
                          </a:solidFill>
                          <a:latin typeface="Times New Roman"/>
                        </a:rPr>
                        <a:t>    </a:t>
                      </a:r>
                      <a:r>
                        <a:rPr sz="1100" b="0" i="1">
                          <a:solidFill>
                            <a:srgbClr val="000000"/>
                          </a:solidFill>
                          <a:latin typeface="Calibri"/>
                        </a:rPr>
                        <a:t>DHA</a:t>
                      </a:r>
                      <a:endParaRPr sz="1100"/>
                    </a:p>
                  </a:txBody>
                  <a:tcPr marL="1028700" marR="9525" marT="9525" marB="0" anchor="ctr"/>
                </a:tc>
              </a:tr>
              <a:tr h="175260">
                <a:tc>
                  <a:txBody>
                    <a:bodyPr wrap="square"/>
                    <a:lstStyle/>
                    <a:p>
                      <a:pPr algn="l"/>
                      <a:r>
                        <a:rPr sz="1100" b="0" i="1">
                          <a:solidFill>
                            <a:srgbClr val="000000"/>
                          </a:solidFill>
                          <a:latin typeface="Calibri"/>
                        </a:rPr>
                        <a:t>4.5.1.2.</a:t>
                      </a:r>
                      <a:r>
                        <a:rPr sz="700" b="0" i="1">
                          <a:solidFill>
                            <a:srgbClr val="000000"/>
                          </a:solidFill>
                          <a:latin typeface="Times New Roman"/>
                        </a:rPr>
                        <a:t>    </a:t>
                      </a:r>
                      <a:r>
                        <a:rPr sz="1100" b="0" i="1">
                          <a:solidFill>
                            <a:srgbClr val="000000"/>
                          </a:solidFill>
                          <a:latin typeface="Calibri"/>
                        </a:rPr>
                        <a:t>EPA</a:t>
                      </a:r>
                      <a:endParaRPr sz="1100"/>
                    </a:p>
                  </a:txBody>
                  <a:tcPr marL="1028700" marR="9525" marT="9525" marB="0" anchor="ctr"/>
                </a:tc>
              </a:tr>
              <a:tr h="175260">
                <a:tc>
                  <a:txBody>
                    <a:bodyPr wrap="square"/>
                    <a:lstStyle/>
                    <a:p>
                      <a:pPr algn="l"/>
                      <a:r>
                        <a:rPr sz="1100" b="0" i="1">
                          <a:solidFill>
                            <a:srgbClr val="000000"/>
                          </a:solidFill>
                          <a:latin typeface="Calibri"/>
                        </a:rPr>
                        <a:t>4.5.1.3.</a:t>
                      </a:r>
                      <a:r>
                        <a:rPr sz="700" b="0" i="1">
                          <a:solidFill>
                            <a:srgbClr val="000000"/>
                          </a:solidFill>
                          <a:latin typeface="Times New Roman"/>
                        </a:rPr>
                        <a:t>    </a:t>
                      </a:r>
                      <a:r>
                        <a:rPr sz="1100" b="0" i="1">
                          <a:solidFill>
                            <a:srgbClr val="000000"/>
                          </a:solidFill>
                          <a:latin typeface="Calibri"/>
                        </a:rPr>
                        <a:t>DHA–EPA Combinations</a:t>
                      </a:r>
                      <a:endParaRPr sz="1100"/>
                    </a:p>
                  </a:txBody>
                  <a:tcPr marL="1028700" marR="9525" marT="9525" marB="0" anchor="ctr"/>
                </a:tc>
              </a:tr>
              <a:tr h="175260">
                <a:tc>
                  <a:txBody>
                    <a:bodyPr wrap="square"/>
                    <a:lstStyle/>
                    <a:p>
                      <a:pPr algn="l"/>
                      <a:r>
                        <a:rPr sz="1100" b="0" i="0">
                          <a:solidFill>
                            <a:srgbClr val="000000"/>
                          </a:solidFill>
                          <a:latin typeface="Calibri"/>
                        </a:rPr>
                        <a:t>4.5.2.</a:t>
                      </a:r>
                      <a:r>
                        <a:rPr sz="700" b="0" i="0">
                          <a:solidFill>
                            <a:srgbClr val="000000"/>
                          </a:solidFill>
                          <a:latin typeface="Times New Roman"/>
                        </a:rPr>
                        <a:t>   </a:t>
                      </a:r>
                      <a:r>
                        <a:rPr sz="1100" b="0" i="0">
                          <a:solidFill>
                            <a:srgbClr val="000000"/>
                          </a:solidFill>
                          <a:latin typeface="Calibri"/>
                        </a:rPr>
                        <a:t>Antioxidant Ingredients</a:t>
                      </a:r>
                      <a:endParaRPr sz="1100"/>
                    </a:p>
                  </a:txBody>
                  <a:tcPr marL="771525" marR="9525" marT="9525" marB="0" anchor="ctr"/>
                </a:tc>
              </a:tr>
              <a:tr h="175260">
                <a:tc>
                  <a:txBody>
                    <a:bodyPr wrap="square"/>
                    <a:lstStyle/>
                    <a:p>
                      <a:pPr algn="l"/>
                      <a:r>
                        <a:rPr sz="1100" b="0" i="1">
                          <a:solidFill>
                            <a:srgbClr val="000000"/>
                          </a:solidFill>
                          <a:latin typeface="Calibri"/>
                        </a:rPr>
                        <a:t>4.5.2.1.</a:t>
                      </a:r>
                      <a:r>
                        <a:rPr sz="700" b="0" i="1">
                          <a:solidFill>
                            <a:srgbClr val="000000"/>
                          </a:solidFill>
                          <a:latin typeface="Times New Roman"/>
                        </a:rPr>
                        <a:t>    </a:t>
                      </a:r>
                      <a:r>
                        <a:rPr sz="1100" b="0" i="1">
                          <a:solidFill>
                            <a:srgbClr val="000000"/>
                          </a:solidFill>
                          <a:latin typeface="Calibri"/>
                        </a:rPr>
                        <a:t>Vitamin E</a:t>
                      </a:r>
                      <a:endParaRPr sz="1100"/>
                    </a:p>
                  </a:txBody>
                  <a:tcPr marL="1028700" marR="9525" marT="9525" marB="0" anchor="ctr"/>
                </a:tc>
              </a:tr>
              <a:tr h="175260">
                <a:tc>
                  <a:txBody>
                    <a:bodyPr wrap="square"/>
                    <a:lstStyle/>
                    <a:p>
                      <a:pPr algn="l"/>
                      <a:r>
                        <a:rPr sz="1100" b="0" i="1">
                          <a:solidFill>
                            <a:srgbClr val="000000"/>
                          </a:solidFill>
                          <a:latin typeface="Calibri"/>
                        </a:rPr>
                        <a:t>4.5.2.2.</a:t>
                      </a:r>
                      <a:r>
                        <a:rPr sz="700" b="0" i="1">
                          <a:solidFill>
                            <a:srgbClr val="000000"/>
                          </a:solidFill>
                          <a:latin typeface="Times New Roman"/>
                        </a:rPr>
                        <a:t>    </a:t>
                      </a:r>
                      <a:r>
                        <a:rPr sz="1100" b="0" i="1">
                          <a:solidFill>
                            <a:srgbClr val="000000"/>
                          </a:solidFill>
                          <a:latin typeface="Calibri"/>
                        </a:rPr>
                        <a:t>Vitamin C</a:t>
                      </a:r>
                      <a:endParaRPr sz="1100"/>
                    </a:p>
                  </a:txBody>
                  <a:tcPr marL="1028700" marR="9525" marT="9525" marB="0" anchor="ctr"/>
                </a:tc>
              </a:tr>
              <a:tr h="175260">
                <a:tc>
                  <a:txBody>
                    <a:bodyPr wrap="square"/>
                    <a:lstStyle/>
                    <a:p>
                      <a:pPr algn="l"/>
                      <a:r>
                        <a:rPr sz="1100" b="0" i="1">
                          <a:solidFill>
                            <a:srgbClr val="000000"/>
                          </a:solidFill>
                          <a:latin typeface="Calibri"/>
                        </a:rPr>
                        <a:t>4.5.2.3.</a:t>
                      </a:r>
                      <a:r>
                        <a:rPr sz="700" b="0" i="1">
                          <a:solidFill>
                            <a:srgbClr val="000000"/>
                          </a:solidFill>
                          <a:latin typeface="Times New Roman"/>
                        </a:rPr>
                        <a:t>    </a:t>
                      </a:r>
                      <a:r>
                        <a:rPr sz="1100" b="0" i="1">
                          <a:solidFill>
                            <a:srgbClr val="000000"/>
                          </a:solidFill>
                          <a:latin typeface="Calibri"/>
                        </a:rPr>
                        <a:t>Selenium</a:t>
                      </a:r>
                      <a:endParaRPr sz="1100"/>
                    </a:p>
                  </a:txBody>
                  <a:tcPr marL="1028700" marR="9525" marT="9525" marB="0" anchor="ctr"/>
                </a:tc>
              </a:tr>
              <a:tr h="175260">
                <a:tc>
                  <a:txBody>
                    <a:bodyPr wrap="square"/>
                    <a:lstStyle/>
                    <a:p>
                      <a:pPr algn="l"/>
                      <a:r>
                        <a:rPr sz="1100" b="0" i="1">
                          <a:solidFill>
                            <a:srgbClr val="000000"/>
                          </a:solidFill>
                          <a:latin typeface="Calibri"/>
                        </a:rPr>
                        <a:t>4.5.2.4.</a:t>
                      </a:r>
                      <a:r>
                        <a:rPr sz="700" b="0" i="1">
                          <a:solidFill>
                            <a:srgbClr val="000000"/>
                          </a:solidFill>
                          <a:latin typeface="Times New Roman"/>
                        </a:rPr>
                        <a:t>    </a:t>
                      </a:r>
                      <a:r>
                        <a:rPr sz="1100" b="0" i="1">
                          <a:solidFill>
                            <a:srgbClr val="000000"/>
                          </a:solidFill>
                          <a:latin typeface="Calibri"/>
                        </a:rPr>
                        <a:t>Other Antioxidants</a:t>
                      </a:r>
                      <a:endParaRPr sz="1100"/>
                    </a:p>
                  </a:txBody>
                  <a:tcPr marL="1028700" marR="9525" marT="9525" marB="0" anchor="ctr"/>
                </a:tc>
              </a:tr>
              <a:tr h="175260">
                <a:tc>
                  <a:txBody>
                    <a:bodyPr wrap="square"/>
                    <a:lstStyle/>
                    <a:p>
                      <a:pPr algn="l"/>
                      <a:r>
                        <a:rPr sz="1100" b="0" i="0">
                          <a:solidFill>
                            <a:srgbClr val="000000"/>
                          </a:solidFill>
                          <a:latin typeface="Calibri"/>
                        </a:rPr>
                        <a:t>4.5.3.</a:t>
                      </a:r>
                      <a:r>
                        <a:rPr sz="700" b="0" i="0">
                          <a:solidFill>
                            <a:srgbClr val="000000"/>
                          </a:solidFill>
                          <a:latin typeface="Times New Roman"/>
                        </a:rPr>
                        <a:t>   </a:t>
                      </a:r>
                      <a:r>
                        <a:rPr sz="1100" b="0" i="0">
                          <a:solidFill>
                            <a:srgbClr val="000000"/>
                          </a:solidFill>
                          <a:latin typeface="Calibri"/>
                        </a:rPr>
                        <a:t>Neurofunctional Nutrients</a:t>
                      </a:r>
                      <a:endParaRPr sz="1100"/>
                    </a:p>
                  </a:txBody>
                  <a:tcPr marL="771525" marR="9525" marT="9525" marB="0" anchor="ctr"/>
                </a:tc>
              </a:tr>
              <a:tr h="175260">
                <a:tc>
                  <a:txBody>
                    <a:bodyPr wrap="square"/>
                    <a:lstStyle/>
                    <a:p>
                      <a:pPr algn="l"/>
                      <a:r>
                        <a:rPr sz="1100" b="0" i="1">
                          <a:solidFill>
                            <a:srgbClr val="000000"/>
                          </a:solidFill>
                          <a:latin typeface="Calibri"/>
                        </a:rPr>
                        <a:t>4.5.3.1.</a:t>
                      </a:r>
                      <a:r>
                        <a:rPr sz="700" b="0" i="1">
                          <a:solidFill>
                            <a:srgbClr val="000000"/>
                          </a:solidFill>
                          <a:latin typeface="Times New Roman"/>
                        </a:rPr>
                        <a:t>    </a:t>
                      </a:r>
                      <a:r>
                        <a:rPr sz="1100" b="0" i="1">
                          <a:solidFill>
                            <a:srgbClr val="000000"/>
                          </a:solidFill>
                          <a:latin typeface="Calibri"/>
                        </a:rPr>
                        <a:t>Phosphatidylserine</a:t>
                      </a:r>
                      <a:endParaRPr sz="1100"/>
                    </a:p>
                  </a:txBody>
                  <a:tcPr marL="1028700" marR="9525" marT="9525" marB="0" anchor="ctr"/>
                </a:tc>
              </a:tr>
              <a:tr h="175260">
                <a:tc>
                  <a:txBody>
                    <a:bodyPr wrap="square"/>
                    <a:lstStyle/>
                    <a:p>
                      <a:pPr algn="l"/>
                      <a:r>
                        <a:rPr sz="1100" b="0" i="1">
                          <a:solidFill>
                            <a:srgbClr val="000000"/>
                          </a:solidFill>
                          <a:latin typeface="Calibri"/>
                        </a:rPr>
                        <a:t>4.5.3.2.</a:t>
                      </a:r>
                      <a:r>
                        <a:rPr sz="700" b="0" i="1">
                          <a:solidFill>
                            <a:srgbClr val="000000"/>
                          </a:solidFill>
                          <a:latin typeface="Times New Roman"/>
                        </a:rPr>
                        <a:t>    </a:t>
                      </a:r>
                      <a:r>
                        <a:rPr sz="1100" b="0" i="1">
                          <a:solidFill>
                            <a:srgbClr val="000000"/>
                          </a:solidFill>
                          <a:latin typeface="Calibri"/>
                        </a:rPr>
                        <a:t>B Vitamins</a:t>
                      </a:r>
                      <a:endParaRPr sz="1100"/>
                    </a:p>
                  </a:txBody>
                  <a:tcPr marL="1028700" marR="9525" marT="9525" marB="0" anchor="ctr"/>
                </a:tc>
              </a:tr>
              <a:tr h="175260">
                <a:tc>
                  <a:txBody>
                    <a:bodyPr wrap="square"/>
                    <a:lstStyle/>
                    <a:p>
                      <a:pPr algn="l"/>
                      <a:r>
                        <a:rPr sz="1100" b="0" i="1">
                          <a:solidFill>
                            <a:srgbClr val="000000"/>
                          </a:solidFill>
                          <a:latin typeface="Calibri"/>
                        </a:rPr>
                        <a:t>4.5.3.3.</a:t>
                      </a:r>
                      <a:r>
                        <a:rPr sz="700" b="0" i="1">
                          <a:solidFill>
                            <a:srgbClr val="000000"/>
                          </a:solidFill>
                          <a:latin typeface="Times New Roman"/>
                        </a:rPr>
                        <a:t>    </a:t>
                      </a:r>
                      <a:r>
                        <a:rPr sz="1100" b="0" i="1">
                          <a:solidFill>
                            <a:srgbClr val="000000"/>
                          </a:solidFill>
                          <a:latin typeface="Calibri"/>
                        </a:rPr>
                        <a:t>Choline-Related Ingredients</a:t>
                      </a:r>
                      <a:endParaRPr sz="1100"/>
                    </a:p>
                  </a:txBody>
                  <a:tcPr marL="1028700" marR="9525" marT="9525" marB="0" anchor="ctr"/>
                </a:tc>
              </a:tr>
              <a:tr h="175260">
                <a:tc>
                  <a:txBody>
                    <a:bodyPr wrap="square"/>
                    <a:lstStyle/>
                    <a:p>
                      <a:pPr algn="l"/>
                      <a:r>
                        <a:rPr sz="1100" b="0" i="0">
                          <a:solidFill>
                            <a:srgbClr val="000000"/>
                          </a:solidFill>
                          <a:latin typeface="Calibri"/>
                        </a:rPr>
                        <a:t>4.5.4.</a:t>
                      </a:r>
                      <a:r>
                        <a:rPr sz="700" b="0" i="0">
                          <a:solidFill>
                            <a:srgbClr val="000000"/>
                          </a:solidFill>
                          <a:latin typeface="Times New Roman"/>
                        </a:rPr>
                        <a:t>   </a:t>
                      </a:r>
                      <a:r>
                        <a:rPr sz="1100" b="0" i="0">
                          <a:solidFill>
                            <a:srgbClr val="000000"/>
                          </a:solidFill>
                          <a:latin typeface="Calibri"/>
                        </a:rPr>
                        <a:t>Cellular Energy Support Ingredients</a:t>
                      </a:r>
                      <a:endParaRPr sz="1100"/>
                    </a:p>
                  </a:txBody>
                  <a:tcPr marL="771525" marR="9525" marT="9525" marB="0" anchor="ctr"/>
                </a:tc>
              </a:tr>
              <a:tr h="175260">
                <a:tc>
                  <a:txBody>
                    <a:bodyPr wrap="square"/>
                    <a:lstStyle/>
                    <a:p>
                      <a:pPr algn="l"/>
                      <a:r>
                        <a:rPr sz="1100" b="0" i="1">
                          <a:solidFill>
                            <a:srgbClr val="000000"/>
                          </a:solidFill>
                          <a:latin typeface="Calibri"/>
                        </a:rPr>
                        <a:t>4.5.4.1.</a:t>
                      </a:r>
                      <a:r>
                        <a:rPr sz="700" b="0" i="1">
                          <a:solidFill>
                            <a:srgbClr val="000000"/>
                          </a:solidFill>
                          <a:latin typeface="Times New Roman"/>
                        </a:rPr>
                        <a:t>    </a:t>
                      </a:r>
                      <a:r>
                        <a:rPr sz="1100" b="0" i="1">
                          <a:solidFill>
                            <a:srgbClr val="000000"/>
                          </a:solidFill>
                          <a:latin typeface="Calibri"/>
                        </a:rPr>
                        <a:t>L-Carnitine</a:t>
                      </a:r>
                      <a:endParaRPr sz="1100"/>
                    </a:p>
                  </a:txBody>
                  <a:tcPr marL="1028700"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(2/8)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4.5.4.2.</a:t>
                      </a:r>
                      <a:r>
                        <a:rPr sz="700" b="0" i="1">
                          <a:solidFill>
                            <a:srgbClr val="000000"/>
                          </a:solidFill>
                          <a:latin typeface="Times New Roman"/>
                        </a:rPr>
                        <a:t>    </a:t>
                      </a:r>
                      <a:r>
                        <a:rPr sz="1100" b="0" i="1">
                          <a:solidFill>
                            <a:srgbClr val="000000"/>
                          </a:solidFill>
                          <a:latin typeface="Calibri"/>
                        </a:rPr>
                        <a:t>Acetyl-L-Carnitine</a:t>
                      </a:r>
                      <a:endParaRPr sz="1100"/>
                    </a:p>
                  </a:txBody>
                  <a:tcPr marL="1028700" marR="9525" marT="9525" marB="0" anchor="ctr"/>
                </a:tc>
              </a:tr>
              <a:tr h="175260">
                <a:tc>
                  <a:txBody>
                    <a:bodyPr wrap="square"/>
                    <a:lstStyle/>
                    <a:p>
                      <a:pPr algn="l"/>
                      <a:r>
                        <a:rPr sz="1100" b="0" i="1">
                          <a:solidFill>
                            <a:srgbClr val="000000"/>
                          </a:solidFill>
                          <a:latin typeface="Calibri"/>
                        </a:rPr>
                        <a:t>4.5.4.3.</a:t>
                      </a:r>
                      <a:r>
                        <a:rPr sz="700" b="0" i="1">
                          <a:solidFill>
                            <a:srgbClr val="000000"/>
                          </a:solidFill>
                          <a:latin typeface="Times New Roman"/>
                        </a:rPr>
                        <a:t>    </a:t>
                      </a:r>
                      <a:r>
                        <a:rPr sz="1100" b="0" i="1">
                          <a:solidFill>
                            <a:srgbClr val="000000"/>
                          </a:solidFill>
                          <a:latin typeface="Calibri"/>
                        </a:rPr>
                        <a:t>Coenzyme Q10</a:t>
                      </a:r>
                      <a:endParaRPr sz="1100"/>
                    </a:p>
                  </a:txBody>
                  <a:tcPr marL="1028700" marR="9525" marT="9525" marB="0" anchor="ctr"/>
                </a:tc>
              </a:tr>
              <a:tr h="175260">
                <a:tc>
                  <a:txBody>
                    <a:bodyPr wrap="square"/>
                    <a:lstStyle/>
                    <a:p>
                      <a:pPr algn="l"/>
                      <a:r>
                        <a:rPr sz="1100" b="0" i="1">
                          <a:solidFill>
                            <a:srgbClr val="000000"/>
                          </a:solidFill>
                          <a:latin typeface="Calibri"/>
                        </a:rPr>
                        <a:t>4.5.4.4.</a:t>
                      </a:r>
                      <a:r>
                        <a:rPr sz="700" b="0" i="1">
                          <a:solidFill>
                            <a:srgbClr val="000000"/>
                          </a:solidFill>
                          <a:latin typeface="Times New Roman"/>
                        </a:rPr>
                        <a:t>    </a:t>
                      </a:r>
                      <a:r>
                        <a:rPr sz="1100" b="0" i="1">
                          <a:solidFill>
                            <a:srgbClr val="000000"/>
                          </a:solidFill>
                          <a:latin typeface="Calibri"/>
                        </a:rPr>
                        <a:t>Alpha-Lipoic Acid</a:t>
                      </a:r>
                      <a:endParaRPr sz="1100"/>
                    </a:p>
                  </a:txBody>
                  <a:tcPr marL="1028700" marR="9525" marT="9525" marB="0" anchor="ctr"/>
                </a:tc>
              </a:tr>
              <a:tr h="175260">
                <a:tc>
                  <a:txBody>
                    <a:bodyPr wrap="square"/>
                    <a:lstStyle/>
                    <a:p>
                      <a:pPr algn="l"/>
                      <a:r>
                        <a:rPr sz="1100" b="0" i="0">
                          <a:solidFill>
                            <a:srgbClr val="000000"/>
                          </a:solidFill>
                          <a:latin typeface="Calibri"/>
                        </a:rPr>
                        <a:t>4.5.5.</a:t>
                      </a:r>
                      <a:r>
                        <a:rPr sz="700" b="0" i="0">
                          <a:solidFill>
                            <a:srgbClr val="000000"/>
                          </a:solidFill>
                          <a:latin typeface="Times New Roman"/>
                        </a:rPr>
                        <a:t>   </a:t>
                      </a:r>
                      <a:r>
                        <a:rPr sz="1100" b="0" i="0">
                          <a:solidFill>
                            <a:srgbClr val="000000"/>
                          </a:solidFill>
                          <a:latin typeface="Calibri"/>
                        </a:rPr>
                        <a:t>Botanical Ingredients</a:t>
                      </a:r>
                      <a:endParaRPr sz="1100"/>
                    </a:p>
                  </a:txBody>
                  <a:tcPr marL="771525" marR="9525" marT="9525" marB="0" anchor="ctr"/>
                </a:tc>
              </a:tr>
              <a:tr h="175260">
                <a:tc>
                  <a:txBody>
                    <a:bodyPr wrap="square"/>
                    <a:lstStyle/>
                    <a:p>
                      <a:pPr algn="l"/>
                      <a:r>
                        <a:rPr sz="1100" b="0" i="1">
                          <a:solidFill>
                            <a:srgbClr val="000000"/>
                          </a:solidFill>
                          <a:latin typeface="Calibri"/>
                        </a:rPr>
                        <a:t>4.5.5.1.</a:t>
                      </a:r>
                      <a:r>
                        <a:rPr sz="700" b="0" i="1">
                          <a:solidFill>
                            <a:srgbClr val="000000"/>
                          </a:solidFill>
                          <a:latin typeface="Times New Roman"/>
                        </a:rPr>
                        <a:t>    </a:t>
                      </a:r>
                      <a:r>
                        <a:rPr sz="1100" b="0" i="1">
                          <a:solidFill>
                            <a:srgbClr val="000000"/>
                          </a:solidFill>
                          <a:latin typeface="Calibri"/>
                        </a:rPr>
                        <a:t>Ginkgo Biloba</a:t>
                      </a:r>
                      <a:endParaRPr sz="1100"/>
                    </a:p>
                  </a:txBody>
                  <a:tcPr marL="1028700" marR="9525" marT="9525" marB="0" anchor="ctr"/>
                </a:tc>
              </a:tr>
              <a:tr h="175260">
                <a:tc>
                  <a:txBody>
                    <a:bodyPr wrap="square"/>
                    <a:lstStyle/>
                    <a:p>
                      <a:pPr algn="l"/>
                      <a:r>
                        <a:rPr sz="1100" b="0" i="1">
                          <a:solidFill>
                            <a:srgbClr val="000000"/>
                          </a:solidFill>
                          <a:latin typeface="Calibri"/>
                        </a:rPr>
                        <a:t>4.5.5.2.</a:t>
                      </a:r>
                      <a:r>
                        <a:rPr sz="700" b="0" i="1">
                          <a:solidFill>
                            <a:srgbClr val="000000"/>
                          </a:solidFill>
                          <a:latin typeface="Times New Roman"/>
                        </a:rPr>
                        <a:t>    </a:t>
                      </a:r>
                      <a:r>
                        <a:rPr sz="1100" b="0" i="1">
                          <a:solidFill>
                            <a:srgbClr val="000000"/>
                          </a:solidFill>
                          <a:latin typeface="Calibri"/>
                        </a:rPr>
                        <a:t>Resveratrol</a:t>
                      </a:r>
                      <a:endParaRPr sz="1100"/>
                    </a:p>
                  </a:txBody>
                  <a:tcPr marL="1028700" marR="9525" marT="9525" marB="0" anchor="ctr"/>
                </a:tc>
              </a:tr>
              <a:tr h="175260">
                <a:tc>
                  <a:txBody>
                    <a:bodyPr wrap="square"/>
                    <a:lstStyle/>
                    <a:p>
                      <a:pPr algn="l"/>
                      <a:r>
                        <a:rPr sz="1100" b="0" i="1">
                          <a:solidFill>
                            <a:srgbClr val="000000"/>
                          </a:solidFill>
                          <a:latin typeface="Calibri"/>
                        </a:rPr>
                        <a:t>4.5.5.3.</a:t>
                      </a:r>
                      <a:r>
                        <a:rPr sz="700" b="0" i="1">
                          <a:solidFill>
                            <a:srgbClr val="000000"/>
                          </a:solidFill>
                          <a:latin typeface="Times New Roman"/>
                        </a:rPr>
                        <a:t>    </a:t>
                      </a:r>
                      <a:r>
                        <a:rPr sz="1100" b="0" i="1">
                          <a:solidFill>
                            <a:srgbClr val="000000"/>
                          </a:solidFill>
                          <a:latin typeface="Calibri"/>
                        </a:rPr>
                        <a:t>Other Cognitive-Support Botanicals</a:t>
                      </a:r>
                      <a:endParaRPr sz="1100"/>
                    </a:p>
                  </a:txBody>
                  <a:tcPr marL="1028700" marR="9525" marT="9525" marB="0" anchor="ctr"/>
                </a:tc>
              </a:tr>
              <a:tr h="175260">
                <a:tc>
                  <a:txBody>
                    <a:bodyPr wrap="square"/>
                    <a:lstStyle/>
                    <a:p>
                      <a:pPr algn="l"/>
                      <a:r>
                        <a:rPr sz="1100" b="0" i="0">
                          <a:solidFill>
                            <a:srgbClr val="000000"/>
                          </a:solidFill>
                          <a:latin typeface="Calibri"/>
                        </a:rPr>
                        <a:t>4.5.6.</a:t>
                      </a:r>
                      <a:r>
                        <a:rPr sz="700" b="0" i="0">
                          <a:solidFill>
                            <a:srgbClr val="000000"/>
                          </a:solidFill>
                          <a:latin typeface="Times New Roman"/>
                        </a:rPr>
                        <a:t>   </a:t>
                      </a:r>
                      <a:r>
                        <a:rPr sz="1100" b="0" i="0">
                          <a:solidFill>
                            <a:srgbClr val="000000"/>
                          </a:solidFill>
                          <a:latin typeface="Calibri"/>
                        </a:rPr>
                        <a:t>Microbiome-Targeted Ingredients</a:t>
                      </a:r>
                      <a:endParaRPr sz="1100"/>
                    </a:p>
                  </a:txBody>
                  <a:tcPr marL="771525" marR="9525" marT="9525" marB="0" anchor="ctr"/>
                </a:tc>
              </a:tr>
              <a:tr h="175260">
                <a:tc>
                  <a:txBody>
                    <a:bodyPr wrap="square"/>
                    <a:lstStyle/>
                    <a:p>
                      <a:pPr algn="l"/>
                      <a:r>
                        <a:rPr sz="1100" b="0" i="1">
                          <a:solidFill>
                            <a:srgbClr val="000000"/>
                          </a:solidFill>
                          <a:latin typeface="Calibri"/>
                        </a:rPr>
                        <a:t>4.5.6.1.</a:t>
                      </a:r>
                      <a:r>
                        <a:rPr sz="700" b="0" i="1">
                          <a:solidFill>
                            <a:srgbClr val="000000"/>
                          </a:solidFill>
                          <a:latin typeface="Times New Roman"/>
                        </a:rPr>
                        <a:t>    </a:t>
                      </a:r>
                      <a:r>
                        <a:rPr sz="1100" b="0" i="1">
                          <a:solidFill>
                            <a:srgbClr val="000000"/>
                          </a:solidFill>
                          <a:latin typeface="Calibri"/>
                        </a:rPr>
                        <a:t>Prebiotics</a:t>
                      </a:r>
                      <a:endParaRPr sz="1100"/>
                    </a:p>
                  </a:txBody>
                  <a:tcPr marL="1028700" marR="9525" marT="9525" marB="0" anchor="ctr"/>
                </a:tc>
              </a:tr>
              <a:tr h="175260">
                <a:tc>
                  <a:txBody>
                    <a:bodyPr wrap="square"/>
                    <a:lstStyle/>
                    <a:p>
                      <a:pPr algn="l"/>
                      <a:r>
                        <a:rPr sz="1100" b="0" i="1">
                          <a:solidFill>
                            <a:srgbClr val="000000"/>
                          </a:solidFill>
                          <a:latin typeface="Calibri"/>
                        </a:rPr>
                        <a:t>4.5.6.2.</a:t>
                      </a:r>
                      <a:r>
                        <a:rPr sz="700" b="0" i="1">
                          <a:solidFill>
                            <a:srgbClr val="000000"/>
                          </a:solidFill>
                          <a:latin typeface="Times New Roman"/>
                        </a:rPr>
                        <a:t>    </a:t>
                      </a:r>
                      <a:r>
                        <a:rPr sz="1100" b="0" i="1">
                          <a:solidFill>
                            <a:srgbClr val="000000"/>
                          </a:solidFill>
                          <a:latin typeface="Calibri"/>
                        </a:rPr>
                        <a:t>Probiotics</a:t>
                      </a:r>
                      <a:endParaRPr sz="1100"/>
                    </a:p>
                  </a:txBody>
                  <a:tcPr marL="1028700" marR="9525" marT="9525" marB="0" anchor="ctr"/>
                </a:tc>
              </a:tr>
              <a:tr h="175260">
                <a:tc>
                  <a:txBody>
                    <a:bodyPr wrap="square"/>
                    <a:lstStyle/>
                    <a:p>
                      <a:pPr algn="l"/>
                      <a:r>
                        <a:rPr sz="1100" b="0" i="1">
                          <a:solidFill>
                            <a:srgbClr val="000000"/>
                          </a:solidFill>
                          <a:latin typeface="Calibri"/>
                        </a:rPr>
                        <a:t>4.5.6.3.</a:t>
                      </a:r>
                      <a:r>
                        <a:rPr sz="700" b="0" i="1">
                          <a:solidFill>
                            <a:srgbClr val="000000"/>
                          </a:solidFill>
                          <a:latin typeface="Times New Roman"/>
                        </a:rPr>
                        <a:t>    </a:t>
                      </a:r>
                      <a:r>
                        <a:rPr sz="1100" b="0" i="1">
                          <a:solidFill>
                            <a:srgbClr val="000000"/>
                          </a:solidFill>
                          <a:latin typeface="Calibri"/>
                        </a:rPr>
                        <a:t>Postbiotics</a:t>
                      </a:r>
                      <a:endParaRPr sz="1100"/>
                    </a:p>
                  </a:txBody>
                  <a:tcPr marL="1028700" marR="9525" marT="9525" marB="0" anchor="ctr"/>
                </a:tc>
              </a:tr>
              <a:tr h="175260">
                <a:tc>
                  <a:txBody>
                    <a:bodyPr wrap="square"/>
                    <a:lstStyle/>
                    <a:p>
                      <a:pPr algn="l"/>
                      <a:r>
                        <a:rPr sz="1100" b="1" i="0">
                          <a:solidFill>
                            <a:srgbClr val="000000"/>
                          </a:solidFill>
                          <a:latin typeface="Calibri"/>
                        </a:rPr>
                        <a:t>5.</a:t>
                      </a:r>
                      <a:r>
                        <a:rPr sz="700" b="1" i="0">
                          <a:solidFill>
                            <a:srgbClr val="000000"/>
                          </a:solidFill>
                          <a:latin typeface="Times New Roman"/>
                        </a:rPr>
                        <a:t>       </a:t>
                      </a:r>
                      <a:r>
                        <a:rPr sz="1100" b="1" i="0">
                          <a:solidFill>
                            <a:srgbClr val="000000"/>
                          </a:solidFill>
                          <a:latin typeface="Calibri"/>
                        </a:rPr>
                        <a:t>Global Market (Value- Volume) Analysis 2021–2036, By End-use Application</a:t>
                      </a:r>
                      <a:endParaRPr sz="1100"/>
                    </a:p>
                  </a:txBody>
                  <a:tcPr marL="171450" marR="9525" marT="9525" marB="0" anchor="ctr"/>
                </a:tc>
              </a:tr>
              <a:tr h="175260">
                <a:tc>
                  <a:txBody>
                    <a:bodyPr wrap="square"/>
                    <a:lstStyle/>
                    <a:p>
                      <a:pPr algn="l"/>
                      <a:r>
                        <a:rPr sz="1100" b="0" i="0">
                          <a:solidFill>
                            <a:srgbClr val="0070C0"/>
                          </a:solidFill>
                          <a:latin typeface="Calibri"/>
                        </a:rPr>
                        <a:t>5.1.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5.2.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5.3.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5.4.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5.5.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5.5.1.</a:t>
                      </a:r>
                      <a:r>
                        <a:rPr sz="700" b="0" i="0">
                          <a:solidFill>
                            <a:srgbClr val="000000"/>
                          </a:solidFill>
                          <a:latin typeface="Times New Roman"/>
                        </a:rPr>
                        <a:t>   </a:t>
                      </a:r>
                      <a:r>
                        <a:rPr sz="1100" b="0" i="0">
                          <a:solidFill>
                            <a:srgbClr val="000000"/>
                          </a:solidFill>
                          <a:latin typeface="Calibri"/>
                        </a:rPr>
                        <a:t>Routine Cognitive Wellness</a:t>
                      </a:r>
                      <a:endParaRPr sz="1100"/>
                    </a:p>
                  </a:txBody>
                  <a:tcPr marL="771525" marR="9525" marT="9525" marB="0" anchor="ctr"/>
                </a:tc>
              </a:tr>
              <a:tr h="175260">
                <a:tc>
                  <a:txBody>
                    <a:bodyPr wrap="square"/>
                    <a:lstStyle/>
                    <a:p>
                      <a:pPr algn="l"/>
                      <a:r>
                        <a:rPr sz="1100" b="0" i="0">
                          <a:solidFill>
                            <a:srgbClr val="000000"/>
                          </a:solidFill>
                          <a:latin typeface="Calibri"/>
                        </a:rPr>
                        <a:t>5.5.2.</a:t>
                      </a:r>
                      <a:r>
                        <a:rPr sz="700" b="0" i="0">
                          <a:solidFill>
                            <a:srgbClr val="000000"/>
                          </a:solidFill>
                          <a:latin typeface="Times New Roman"/>
                        </a:rPr>
                        <a:t>   </a:t>
                      </a:r>
                      <a:r>
                        <a:rPr sz="1100" b="0" i="0">
                          <a:solidFill>
                            <a:srgbClr val="000000"/>
                          </a:solidFill>
                          <a:latin typeface="Calibri"/>
                        </a:rPr>
                        <a:t>Preventive Cognitive Support for Senior Dogs</a:t>
                      </a:r>
                      <a:endParaRPr sz="1100"/>
                    </a:p>
                  </a:txBody>
                  <a:tcPr marL="771525" marR="9525" marT="9525" marB="0" anchor="ctr"/>
                </a:tc>
              </a:tr>
              <a:tr h="175260">
                <a:tc>
                  <a:txBody>
                    <a:bodyPr wrap="square"/>
                    <a:lstStyle/>
                    <a:p>
                      <a:pPr algn="l"/>
                      <a:r>
                        <a:rPr sz="1100" b="0" i="0">
                          <a:solidFill>
                            <a:srgbClr val="000000"/>
                          </a:solidFill>
                          <a:latin typeface="Calibri"/>
                        </a:rPr>
                        <a:t>5.5.3.</a:t>
                      </a:r>
                      <a:r>
                        <a:rPr sz="700" b="0" i="0">
                          <a:solidFill>
                            <a:srgbClr val="000000"/>
                          </a:solidFill>
                          <a:latin typeface="Times New Roman"/>
                        </a:rPr>
                        <a:t>   </a:t>
                      </a:r>
                      <a:r>
                        <a:rPr sz="1100" b="0" i="0">
                          <a:solidFill>
                            <a:srgbClr val="000000"/>
                          </a:solidFill>
                          <a:latin typeface="Calibri"/>
                        </a:rPr>
                        <a:t>Support for Observable Age-Related Cognitive Changes</a:t>
                      </a:r>
                      <a:endParaRPr sz="1100"/>
                    </a:p>
                  </a:txBody>
                  <a:tcPr marL="771525" marR="9525" marT="9525" marB="0" anchor="ctr"/>
                </a:tc>
              </a:tr>
              <a:tr h="175260">
                <a:tc>
                  <a:txBody>
                    <a:bodyPr wrap="square"/>
                    <a:lstStyle/>
                    <a:p>
                      <a:pPr algn="l"/>
                      <a:r>
                        <a:rPr sz="1100" b="0" i="0">
                          <a:solidFill>
                            <a:srgbClr val="000000"/>
                          </a:solidFill>
                          <a:latin typeface="Calibri"/>
                        </a:rPr>
                        <a:t>5.5.4.</a:t>
                      </a:r>
                      <a:r>
                        <a:rPr sz="700" b="0" i="0">
                          <a:solidFill>
                            <a:srgbClr val="000000"/>
                          </a:solidFill>
                          <a:latin typeface="Times New Roman"/>
                        </a:rPr>
                        <a:t>   </a:t>
                      </a:r>
                      <a:r>
                        <a:rPr sz="1100" b="0" i="0">
                          <a:solidFill>
                            <a:srgbClr val="000000"/>
                          </a:solidFill>
                          <a:latin typeface="Calibri"/>
                        </a:rPr>
                        <a:t>Veterinary-Guided Cognitive Dysfunction Support</a:t>
                      </a:r>
                      <a:endParaRPr sz="1100"/>
                    </a:p>
                  </a:txBody>
                  <a:tcPr marL="771525" marR="9525" marT="9525" marB="0" anchor="ctr"/>
                </a:tc>
              </a:tr>
              <a:tr h="175260">
                <a:tc>
                  <a:txBody>
                    <a:bodyPr wrap="square"/>
                    <a:lstStyle/>
                    <a:p>
                      <a:pPr algn="l"/>
                      <a:r>
                        <a:rPr sz="1100" b="1" i="0">
                          <a:solidFill>
                            <a:srgbClr val="000000"/>
                          </a:solidFill>
                          <a:latin typeface="Calibri"/>
                        </a:rPr>
                        <a:t>6.</a:t>
                      </a:r>
                      <a:r>
                        <a:rPr sz="700" b="1" i="0">
                          <a:solidFill>
                            <a:srgbClr val="000000"/>
                          </a:solidFill>
                          <a:latin typeface="Times New Roman"/>
                        </a:rPr>
                        <a:t>       </a:t>
                      </a:r>
                      <a:r>
                        <a:rPr sz="1100" b="1" i="0">
                          <a:solidFill>
                            <a:srgbClr val="000000"/>
                          </a:solidFill>
                          <a:latin typeface="Calibri"/>
                        </a:rPr>
                        <a:t>Global Market (Value- Volume) Analysis 2021–2036, By Packaging Format</a:t>
                      </a:r>
                      <a:endParaRPr sz="1100"/>
                    </a:p>
                  </a:txBody>
                  <a:tcPr marL="171450" marR="9525" marT="9525" marB="0" anchor="ctr"/>
                </a:tc>
              </a:tr>
              <a:tr h="175260">
                <a:tc>
                  <a:txBody>
                    <a:bodyPr wrap="square"/>
                    <a:lstStyle/>
                    <a:p>
                      <a:pPr algn="l"/>
                      <a:r>
                        <a:rPr sz="1100" b="0" i="0">
                          <a:solidFill>
                            <a:srgbClr val="0070C0"/>
                          </a:solidFill>
                          <a:latin typeface="Calibri"/>
                        </a:rPr>
                        <a:t>6.1.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6.2.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6.3.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6.4.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6.5.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6.5.1.</a:t>
                      </a:r>
                      <a:r>
                        <a:rPr sz="700" b="0" i="0">
                          <a:solidFill>
                            <a:srgbClr val="000000"/>
                          </a:solidFill>
                          <a:latin typeface="Times New Roman"/>
                        </a:rPr>
                        <a:t>   </a:t>
                      </a:r>
                      <a:r>
                        <a:rPr sz="1100" b="0" i="0">
                          <a:solidFill>
                            <a:srgbClr val="000000"/>
                          </a:solidFill>
                          <a:latin typeface="Calibri"/>
                        </a:rPr>
                        <a:t>Bottles</a:t>
                      </a:r>
                      <a:endParaRPr sz="1100"/>
                    </a:p>
                  </a:txBody>
                  <a:tcPr marL="771525" marR="9525" marT="9525" marB="0" anchor="ctr"/>
                </a:tc>
              </a:tr>
              <a:tr h="175260">
                <a:tc>
                  <a:txBody>
                    <a:bodyPr wrap="square"/>
                    <a:lstStyle/>
                    <a:p>
                      <a:pPr algn="l"/>
                      <a:r>
                        <a:rPr sz="1100" b="0" i="0">
                          <a:solidFill>
                            <a:srgbClr val="000000"/>
                          </a:solidFill>
                          <a:latin typeface="Calibri"/>
                        </a:rPr>
                        <a:t>6.5.2.</a:t>
                      </a:r>
                      <a:r>
                        <a:rPr sz="700" b="0" i="0">
                          <a:solidFill>
                            <a:srgbClr val="000000"/>
                          </a:solidFill>
                          <a:latin typeface="Times New Roman"/>
                        </a:rPr>
                        <a:t>   </a:t>
                      </a:r>
                      <a:r>
                        <a:rPr sz="1100" b="0" i="0">
                          <a:solidFill>
                            <a:srgbClr val="000000"/>
                          </a:solidFill>
                          <a:latin typeface="Calibri"/>
                        </a:rPr>
                        <a:t>Jars and Tubs</a:t>
                      </a:r>
                      <a:endParaRPr sz="1100"/>
                    </a:p>
                  </a:txBody>
                  <a:tcPr marL="771525" marR="9525" marT="9525" marB="0" anchor="ctr"/>
                </a:tc>
              </a:tr>
              <a:tr h="175260">
                <a:tc>
                  <a:txBody>
                    <a:bodyPr wrap="square"/>
                    <a:lstStyle/>
                    <a:p>
                      <a:pPr algn="l"/>
                      <a:r>
                        <a:rPr sz="1100" b="0" i="0">
                          <a:solidFill>
                            <a:srgbClr val="000000"/>
                          </a:solidFill>
                          <a:latin typeface="Calibri"/>
                        </a:rPr>
                        <a:t>6.5.3.</a:t>
                      </a:r>
                      <a:r>
                        <a:rPr sz="700" b="0" i="0">
                          <a:solidFill>
                            <a:srgbClr val="000000"/>
                          </a:solidFill>
                          <a:latin typeface="Times New Roman"/>
                        </a:rPr>
                        <a:t>   </a:t>
                      </a:r>
                      <a:r>
                        <a:rPr sz="1100" b="0" i="0">
                          <a:solidFill>
                            <a:srgbClr val="000000"/>
                          </a:solidFill>
                          <a:latin typeface="Calibri"/>
                        </a:rPr>
                        <a:t>Pouches</a:t>
                      </a:r>
                      <a:endParaRPr sz="1100"/>
                    </a:p>
                  </a:txBody>
                  <a:tcPr marL="771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6.5.4.</a:t>
                      </a:r>
                      <a:r>
                        <a:rPr sz="700" b="0" i="0">
                          <a:solidFill>
                            <a:srgbClr val="000000"/>
                          </a:solidFill>
                          <a:latin typeface="Times New Roman"/>
                        </a:rPr>
                        <a:t>   </a:t>
                      </a:r>
                      <a:r>
                        <a:rPr sz="1100" b="0" i="0">
                          <a:solidFill>
                            <a:srgbClr val="000000"/>
                          </a:solidFill>
                          <a:latin typeface="Calibri"/>
                        </a:rPr>
                        <a:t>Sachets</a:t>
                      </a:r>
                      <a:endParaRPr sz="1100"/>
                    </a:p>
                  </a:txBody>
                  <a:tcPr marL="771525" marR="9525" marT="9525" marB="0" anchor="ctr"/>
                </a:tc>
              </a:tr>
              <a:tr h="175260">
                <a:tc>
                  <a:txBody>
                    <a:bodyPr wrap="square"/>
                    <a:lstStyle/>
                    <a:p>
                      <a:pPr algn="l"/>
                      <a:r>
                        <a:rPr sz="1100" b="0" i="0">
                          <a:solidFill>
                            <a:srgbClr val="000000"/>
                          </a:solidFill>
                          <a:latin typeface="Calibri"/>
                        </a:rPr>
                        <a:t>6.5.5.</a:t>
                      </a:r>
                      <a:r>
                        <a:rPr sz="700" b="0" i="0">
                          <a:solidFill>
                            <a:srgbClr val="000000"/>
                          </a:solidFill>
                          <a:latin typeface="Times New Roman"/>
                        </a:rPr>
                        <a:t>   </a:t>
                      </a:r>
                      <a:r>
                        <a:rPr sz="1100" b="0" i="0">
                          <a:solidFill>
                            <a:srgbClr val="000000"/>
                          </a:solidFill>
                          <a:latin typeface="Calibri"/>
                        </a:rPr>
                        <a:t>Blister Packs</a:t>
                      </a:r>
                      <a:endParaRPr sz="1100"/>
                    </a:p>
                  </a:txBody>
                  <a:tcPr marL="771525" marR="9525" marT="9525" marB="0" anchor="ctr"/>
                </a:tc>
              </a:tr>
              <a:tr h="175260">
                <a:tc>
                  <a:txBody>
                    <a:bodyPr wrap="square"/>
                    <a:lstStyle/>
                    <a:p>
                      <a:pPr algn="l"/>
                      <a:r>
                        <a:rPr sz="1100" b="0" i="0">
                          <a:solidFill>
                            <a:srgbClr val="000000"/>
                          </a:solidFill>
                          <a:latin typeface="Calibri"/>
                        </a:rPr>
                        <a:t>6.5.6.</a:t>
                      </a:r>
                      <a:r>
                        <a:rPr sz="700" b="0" i="0">
                          <a:solidFill>
                            <a:srgbClr val="000000"/>
                          </a:solidFill>
                          <a:latin typeface="Times New Roman"/>
                        </a:rPr>
                        <a:t>   </a:t>
                      </a:r>
                      <a:r>
                        <a:rPr sz="1100" b="0" i="0">
                          <a:solidFill>
                            <a:srgbClr val="000000"/>
                          </a:solidFill>
                          <a:latin typeface="Calibri"/>
                        </a:rPr>
                        <a:t>Canisters</a:t>
                      </a:r>
                      <a:endParaRPr sz="1100"/>
                    </a:p>
                  </a:txBody>
                  <a:tcPr marL="771525" marR="9525" marT="9525" marB="0" anchor="ctr"/>
                </a:tc>
              </a:tr>
              <a:tr h="175260">
                <a:tc>
                  <a:txBody>
                    <a:bodyPr wrap="square"/>
                    <a:lstStyle/>
                    <a:p>
                      <a:pPr algn="l"/>
                      <a:r>
                        <a:rPr sz="1100" b="1" i="0">
                          <a:solidFill>
                            <a:srgbClr val="000000"/>
                          </a:solidFill>
                          <a:latin typeface="Calibri"/>
                        </a:rPr>
                        <a:t>7.</a:t>
                      </a:r>
                      <a:r>
                        <a:rPr sz="700" b="1" i="0">
                          <a:solidFill>
                            <a:srgbClr val="000000"/>
                          </a:solidFill>
                          <a:latin typeface="Times New Roman"/>
                        </a:rPr>
                        <a:t>       </a:t>
                      </a:r>
                      <a:r>
                        <a:rPr sz="1100" b="1" i="0">
                          <a:solidFill>
                            <a:srgbClr val="000000"/>
                          </a:solidFill>
                          <a:latin typeface="Calibri"/>
                        </a:rPr>
                        <a:t>Global Market (Value- Volume) Analysis 2021–2036, By Sales Channel</a:t>
                      </a:r>
                      <a:endParaRPr sz="1100"/>
                    </a:p>
                  </a:txBody>
                  <a:tcPr marL="171450" marR="9525" marT="9525" marB="0" anchor="ctr"/>
                </a:tc>
              </a:tr>
              <a:tr h="175260">
                <a:tc>
                  <a:txBody>
                    <a:bodyPr wrap="square"/>
                    <a:lstStyle/>
                    <a:p>
                      <a:pPr algn="l"/>
                      <a:r>
                        <a:rPr sz="1100" b="0" i="0">
                          <a:solidFill>
                            <a:srgbClr val="0070C0"/>
                          </a:solidFill>
                          <a:latin typeface="Calibri"/>
                        </a:rPr>
                        <a:t>7.1.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7.2.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7.3.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7.4.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7.5.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7.5.1.</a:t>
                      </a:r>
                      <a:r>
                        <a:rPr sz="700" b="0" i="0">
                          <a:solidFill>
                            <a:srgbClr val="000000"/>
                          </a:solidFill>
                          <a:latin typeface="Times New Roman"/>
                        </a:rPr>
                        <a:t>   </a:t>
                      </a:r>
                      <a:r>
                        <a:rPr sz="1100" b="0" i="0">
                          <a:solidFill>
                            <a:srgbClr val="000000"/>
                          </a:solidFill>
                          <a:latin typeface="Calibri"/>
                        </a:rPr>
                        <a:t>Veterinary Channels</a:t>
                      </a:r>
                      <a:endParaRPr sz="1100"/>
                    </a:p>
                  </a:txBody>
                  <a:tcPr marL="771525" marR="9525" marT="9525" marB="0" anchor="ctr"/>
                </a:tc>
              </a:tr>
              <a:tr h="175260">
                <a:tc>
                  <a:txBody>
                    <a:bodyPr wrap="square"/>
                    <a:lstStyle/>
                    <a:p>
                      <a:pPr algn="l"/>
                      <a:r>
                        <a:rPr sz="1100" b="0" i="0">
                          <a:solidFill>
                            <a:srgbClr val="000000"/>
                          </a:solidFill>
                          <a:latin typeface="Calibri"/>
                        </a:rPr>
                        <a:t>7.5.2.</a:t>
                      </a:r>
                      <a:r>
                        <a:rPr sz="700" b="0" i="0">
                          <a:solidFill>
                            <a:srgbClr val="000000"/>
                          </a:solidFill>
                          <a:latin typeface="Times New Roman"/>
                        </a:rPr>
                        <a:t>   </a:t>
                      </a:r>
                      <a:r>
                        <a:rPr sz="1100" b="0" i="0">
                          <a:solidFill>
                            <a:srgbClr val="000000"/>
                          </a:solidFill>
                          <a:latin typeface="Calibri"/>
                        </a:rPr>
                        <a:t>Specialist Pet Retail</a:t>
                      </a:r>
                      <a:endParaRPr sz="1100"/>
                    </a:p>
                  </a:txBody>
                  <a:tcPr marL="771525" marR="9525" marT="9525" marB="0" anchor="ctr"/>
                </a:tc>
              </a:tr>
              <a:tr h="175260">
                <a:tc>
                  <a:txBody>
                    <a:bodyPr wrap="square"/>
                    <a:lstStyle/>
                    <a:p>
                      <a:pPr algn="l"/>
                      <a:r>
                        <a:rPr sz="1100" b="0" i="0">
                          <a:solidFill>
                            <a:srgbClr val="000000"/>
                          </a:solidFill>
                          <a:latin typeface="Calibri"/>
                        </a:rPr>
                        <a:t>7.5.3.</a:t>
                      </a:r>
                      <a:r>
                        <a:rPr sz="700" b="0" i="0">
                          <a:solidFill>
                            <a:srgbClr val="000000"/>
                          </a:solidFill>
                          <a:latin typeface="Times New Roman"/>
                        </a:rPr>
                        <a:t>   </a:t>
                      </a:r>
                      <a:r>
                        <a:rPr sz="1100" b="0" i="0">
                          <a:solidFill>
                            <a:srgbClr val="000000"/>
                          </a:solidFill>
                          <a:latin typeface="Calibri"/>
                        </a:rPr>
                        <a:t>General Retail</a:t>
                      </a:r>
                      <a:endParaRPr sz="1100"/>
                    </a:p>
                  </a:txBody>
                  <a:tcPr marL="771525" marR="9525" marT="9525" marB="0" anchor="ctr"/>
                </a:tc>
              </a:tr>
              <a:tr h="175260">
                <a:tc>
                  <a:txBody>
                    <a:bodyPr wrap="square"/>
                    <a:lstStyle/>
                    <a:p>
                      <a:pPr algn="l"/>
                      <a:r>
                        <a:rPr sz="1100" b="0" i="0">
                          <a:solidFill>
                            <a:srgbClr val="000000"/>
                          </a:solidFill>
                          <a:latin typeface="Calibri"/>
                        </a:rPr>
                        <a:t>7.5.4.</a:t>
                      </a:r>
                      <a:r>
                        <a:rPr sz="700" b="0" i="0">
                          <a:solidFill>
                            <a:srgbClr val="000000"/>
                          </a:solidFill>
                          <a:latin typeface="Times New Roman"/>
                        </a:rPr>
                        <a:t>   </a:t>
                      </a:r>
                      <a:r>
                        <a:rPr sz="1100" b="0" i="0">
                          <a:solidFill>
                            <a:srgbClr val="000000"/>
                          </a:solidFill>
                          <a:latin typeface="Calibri"/>
                        </a:rPr>
                        <a:t>Brand-Owned E-commerce</a:t>
                      </a:r>
                      <a:endParaRPr sz="1100"/>
                    </a:p>
                  </a:txBody>
                  <a:tcPr marL="771525" marR="9525" marT="9525" marB="0" anchor="ctr"/>
                </a:tc>
              </a:tr>
              <a:tr h="175260">
                <a:tc>
                  <a:txBody>
                    <a:bodyPr wrap="square"/>
                    <a:lstStyle/>
                    <a:p>
                      <a:pPr algn="l"/>
                      <a:r>
                        <a:rPr sz="1100" b="0" i="0">
                          <a:solidFill>
                            <a:srgbClr val="000000"/>
                          </a:solidFill>
                          <a:latin typeface="Calibri"/>
                        </a:rPr>
                        <a:t>7.5.5.</a:t>
                      </a:r>
                      <a:r>
                        <a:rPr sz="700" b="0" i="0">
                          <a:solidFill>
                            <a:srgbClr val="000000"/>
                          </a:solidFill>
                          <a:latin typeface="Times New Roman"/>
                        </a:rPr>
                        <a:t>   </a:t>
                      </a:r>
                      <a:r>
                        <a:rPr sz="1100" b="0" i="0">
                          <a:solidFill>
                            <a:srgbClr val="000000"/>
                          </a:solidFill>
                          <a:latin typeface="Calibri"/>
                        </a:rPr>
                        <a:t>Third-Party E-commerce</a:t>
                      </a:r>
                      <a:endParaRPr sz="1100"/>
                    </a:p>
                  </a:txBody>
                  <a:tcPr marL="771525" marR="9525" marT="9525" marB="0" anchor="ctr"/>
                </a:tc>
              </a:tr>
              <a:tr h="175260">
                <a:tc>
                  <a:txBody>
                    <a:bodyPr wrap="square"/>
                    <a:lstStyle/>
                    <a:p>
                      <a:pPr algn="l"/>
                      <a:r>
                        <a:rPr sz="1100" b="0" i="0">
                          <a:solidFill>
                            <a:srgbClr val="000000"/>
                          </a:solidFill>
                          <a:latin typeface="Calibri"/>
                        </a:rPr>
                        <a:t>7.5.6.</a:t>
                      </a:r>
                      <a:r>
                        <a:rPr sz="700" b="0" i="0">
                          <a:solidFill>
                            <a:srgbClr val="000000"/>
                          </a:solidFill>
                          <a:latin typeface="Times New Roman"/>
                        </a:rPr>
                        <a:t>   </a:t>
                      </a:r>
                      <a:r>
                        <a:rPr sz="1100" b="0" i="0">
                          <a:solidFill>
                            <a:srgbClr val="000000"/>
                          </a:solidFill>
                          <a:latin typeface="Calibri"/>
                        </a:rPr>
                        <a:t>Other Direct Sales</a:t>
                      </a:r>
                      <a:endParaRPr sz="1100"/>
                    </a:p>
                  </a:txBody>
                  <a:tcPr marL="771525" marR="9525" marT="9525" marB="0" anchor="ctr"/>
                </a:tc>
              </a:tr>
              <a:tr h="175260">
                <a:tc>
                  <a:txBody>
                    <a:bodyPr wrap="square"/>
                    <a:lstStyle/>
                    <a:p>
                      <a:pPr algn="l"/>
                      <a:r>
                        <a:rPr sz="1100" b="1" i="0">
                          <a:solidFill>
                            <a:srgbClr val="000000"/>
                          </a:solidFill>
                          <a:latin typeface="Calibri"/>
                        </a:rPr>
                        <a:t>8.</a:t>
                      </a:r>
                      <a:r>
                        <a:rPr sz="700" b="1" i="0">
                          <a:solidFill>
                            <a:srgbClr val="000000"/>
                          </a:solidFill>
                          <a:latin typeface="Times New Roman"/>
                        </a:rPr>
                        <a:t>       </a:t>
                      </a:r>
                      <a:r>
                        <a:rPr sz="1100" b="1" i="0">
                          <a:solidFill>
                            <a:srgbClr val="000000"/>
                          </a:solidFill>
                          <a:latin typeface="Calibri"/>
                        </a:rPr>
                        <a:t>Global Market (Value- Volume) Analysis 2021–2036, by Region</a:t>
                      </a:r>
                      <a:endParaRPr sz="1100"/>
                    </a:p>
                  </a:txBody>
                  <a:tcPr marL="171450" marR="9525" marT="9525" marB="0" anchor="ctr"/>
                </a:tc>
              </a:tr>
              <a:tr h="175260">
                <a:tc>
                  <a:txBody>
                    <a:bodyPr wrap="square"/>
                    <a:lstStyle/>
                    <a:p>
                      <a:pPr algn="l"/>
                      <a:r>
                        <a:rPr sz="1100" b="0" i="0">
                          <a:solidFill>
                            <a:srgbClr val="0070C0"/>
                          </a:solidFill>
                          <a:latin typeface="Calibri"/>
                        </a:rPr>
                        <a:t>8.1.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8.2.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8.3.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8.4.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8.5.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8.5.1.</a:t>
                      </a:r>
                      <a:r>
                        <a:rPr sz="700" b="0" i="0">
                          <a:solidFill>
                            <a:srgbClr val="000000"/>
                          </a:solidFill>
                          <a:latin typeface="Times New Roman"/>
                        </a:rPr>
                        <a:t>   </a:t>
                      </a:r>
                      <a:r>
                        <a:rPr sz="1100" b="0" i="0">
                          <a:solidFill>
                            <a:srgbClr val="000000"/>
                          </a:solidFill>
                          <a:latin typeface="Calibri"/>
                        </a:rPr>
                        <a:t>North America</a:t>
                      </a:r>
                      <a:endParaRPr sz="1100"/>
                    </a:p>
                  </a:txBody>
                  <a:tcPr marL="771525" marR="9525" marT="9525" marB="0" anchor="ctr"/>
                </a:tc>
              </a:tr>
              <a:tr h="175260">
                <a:tc>
                  <a:txBody>
                    <a:bodyPr wrap="square"/>
                    <a:lstStyle/>
                    <a:p>
                      <a:pPr algn="l"/>
                      <a:r>
                        <a:rPr sz="1100" b="0" i="1">
                          <a:solidFill>
                            <a:srgbClr val="000000"/>
                          </a:solidFill>
                          <a:latin typeface="Calibri"/>
                        </a:rPr>
                        <a:t>8.5.1.1.</a:t>
                      </a:r>
                      <a:r>
                        <a:rPr sz="700" b="0" i="1">
                          <a:solidFill>
                            <a:srgbClr val="000000"/>
                          </a:solidFill>
                          <a:latin typeface="Times New Roman"/>
                        </a:rPr>
                        <a:t>    </a:t>
                      </a:r>
                      <a:r>
                        <a:rPr sz="1100" b="0" i="1">
                          <a:solidFill>
                            <a:srgbClr val="000000"/>
                          </a:solidFill>
                          <a:latin typeface="Calibri"/>
                        </a:rPr>
                        <a:t>U.S.</a:t>
                      </a:r>
                      <a:endParaRPr sz="1100"/>
                    </a:p>
                  </a:txBody>
                  <a:tcPr marL="1028700" marR="9525" marT="9525" marB="0" anchor="ctr"/>
                </a:tc>
              </a:tr>
              <a:tr h="175260">
                <a:tc>
                  <a:txBody>
                    <a:bodyPr wrap="square"/>
                    <a:lstStyle/>
                    <a:p>
                      <a:pPr algn="l"/>
                      <a:r>
                        <a:rPr sz="1100" b="0" i="1">
                          <a:solidFill>
                            <a:srgbClr val="000000"/>
                          </a:solidFill>
                          <a:latin typeface="Calibri"/>
                        </a:rPr>
                        <a:t>8.5.1.2.</a:t>
                      </a:r>
                      <a:r>
                        <a:rPr sz="700" b="0" i="1">
                          <a:solidFill>
                            <a:srgbClr val="000000"/>
                          </a:solidFill>
                          <a:latin typeface="Times New Roman"/>
                        </a:rPr>
                        <a:t>    </a:t>
                      </a:r>
                      <a:r>
                        <a:rPr sz="1100" b="0" i="1">
                          <a:solidFill>
                            <a:srgbClr val="000000"/>
                          </a:solidFill>
                          <a:latin typeface="Calibri"/>
                        </a:rPr>
                        <a:t>Canada</a:t>
                      </a:r>
                      <a:endParaRPr sz="1100"/>
                    </a:p>
                  </a:txBody>
                  <a:tcPr marL="1028700" marR="9525" marT="9525" marB="0" anchor="ctr"/>
                </a:tc>
              </a:tr>
              <a:tr h="175260">
                <a:tc>
                  <a:txBody>
                    <a:bodyPr wrap="square"/>
                    <a:lstStyle/>
                    <a:p>
                      <a:pPr algn="l"/>
                      <a:r>
                        <a:rPr sz="1100" b="0" i="0">
                          <a:solidFill>
                            <a:srgbClr val="000000"/>
                          </a:solidFill>
                          <a:latin typeface="Calibri"/>
                        </a:rPr>
                        <a:t>8.5.2.</a:t>
                      </a:r>
                      <a:r>
                        <a:rPr sz="700" b="0" i="0">
                          <a:solidFill>
                            <a:srgbClr val="000000"/>
                          </a:solidFill>
                          <a:latin typeface="Times New Roman"/>
                        </a:rPr>
                        <a:t>   </a:t>
                      </a:r>
                      <a:r>
                        <a:rPr sz="1100" b="0" i="0">
                          <a:solidFill>
                            <a:srgbClr val="000000"/>
                          </a:solidFill>
                          <a:latin typeface="Calibri"/>
                        </a:rPr>
                        <a:t>Latin America</a:t>
                      </a:r>
                      <a:endParaRPr sz="1100"/>
                    </a:p>
                  </a:txBody>
                  <a:tcPr marL="771525" marR="9525" marT="9525" marB="0" anchor="ctr"/>
                </a:tc>
              </a:tr>
              <a:tr h="175260">
                <a:tc>
                  <a:txBody>
                    <a:bodyPr wrap="square"/>
                    <a:lstStyle/>
                    <a:p>
                      <a:pPr algn="l"/>
                      <a:r>
                        <a:rPr sz="1100" b="0" i="1">
                          <a:solidFill>
                            <a:srgbClr val="000000"/>
                          </a:solidFill>
                          <a:latin typeface="Calibri"/>
                        </a:rPr>
                        <a:t>8.5.2.1.</a:t>
                      </a:r>
                      <a:r>
                        <a:rPr sz="700" b="0" i="1">
                          <a:solidFill>
                            <a:srgbClr val="000000"/>
                          </a:solidFill>
                          <a:latin typeface="Times New Roman"/>
                        </a:rPr>
                        <a:t>    </a:t>
                      </a:r>
                      <a:r>
                        <a:rPr sz="1100" b="0" i="1">
                          <a:solidFill>
                            <a:srgbClr val="000000"/>
                          </a:solidFill>
                          <a:latin typeface="Calibri"/>
                        </a:rPr>
                        <a:t>Brazil</a:t>
                      </a:r>
                      <a:endParaRPr sz="1100"/>
                    </a:p>
                  </a:txBody>
                  <a:tcPr marL="1028700" marR="9525" marT="9525" marB="0" anchor="ctr"/>
                </a:tc>
              </a:tr>
              <a:tr h="175260">
                <a:tc>
                  <a:txBody>
                    <a:bodyPr wrap="square"/>
                    <a:lstStyle/>
                    <a:p>
                      <a:pPr algn="l"/>
                      <a:r>
                        <a:rPr sz="1100" b="0" i="1">
                          <a:solidFill>
                            <a:srgbClr val="000000"/>
                          </a:solidFill>
                          <a:latin typeface="Calibri"/>
                        </a:rPr>
                        <a:t>8.5.2.2.</a:t>
                      </a:r>
                      <a:r>
                        <a:rPr sz="700" b="0" i="1">
                          <a:solidFill>
                            <a:srgbClr val="000000"/>
                          </a:solidFill>
                          <a:latin typeface="Times New Roman"/>
                        </a:rPr>
                        <a:t>    </a:t>
                      </a:r>
                      <a:r>
                        <a:rPr sz="1100" b="0" i="1">
                          <a:solidFill>
                            <a:srgbClr val="000000"/>
                          </a:solidFill>
                          <a:latin typeface="Calibri"/>
                        </a:rPr>
                        <a:t>Mexico</a:t>
                      </a:r>
                      <a:endParaRPr sz="1100"/>
                    </a:p>
                  </a:txBody>
                  <a:tcPr marL="1028700" marR="9525" marT="9525" marB="0" anchor="ctr"/>
                </a:tc>
              </a:tr>
              <a:tr h="175260">
                <a:tc>
                  <a:txBody>
                    <a:bodyPr wrap="square"/>
                    <a:lstStyle/>
                    <a:p>
                      <a:pPr algn="l"/>
                      <a:r>
                        <a:rPr sz="1100" b="0" i="1">
                          <a:solidFill>
                            <a:srgbClr val="000000"/>
                          </a:solidFill>
                          <a:latin typeface="Calibri"/>
                        </a:rPr>
                        <a:t>8.5.2.3.</a:t>
                      </a:r>
                      <a:r>
                        <a:rPr sz="700" b="0" i="1">
                          <a:solidFill>
                            <a:srgbClr val="000000"/>
                          </a:solidFill>
                          <a:latin typeface="Times New Roman"/>
                        </a:rPr>
                        <a:t>    </a:t>
                      </a:r>
                      <a:r>
                        <a:rPr sz="1100" b="0" i="1">
                          <a:solidFill>
                            <a:srgbClr val="000000"/>
                          </a:solidFill>
                          <a:latin typeface="Calibri"/>
                        </a:rPr>
                        <a:t>Rest of LATAM</a:t>
                      </a:r>
                      <a:endParaRPr sz="1100"/>
                    </a:p>
                  </a:txBody>
                  <a:tcPr marL="1028700" marR="9525" marT="9525" marB="0" anchor="ctr"/>
                </a:tc>
              </a:tr>
              <a:tr h="175260">
                <a:tc>
                  <a:txBody>
                    <a:bodyPr wrap="square"/>
                    <a:lstStyle/>
                    <a:p>
                      <a:pPr algn="l"/>
                      <a:r>
                        <a:rPr sz="1100" b="0" i="0">
                          <a:solidFill>
                            <a:srgbClr val="000000"/>
                          </a:solidFill>
                          <a:latin typeface="Calibri"/>
                        </a:rPr>
                        <a:t>8.5.3.</a:t>
                      </a:r>
                      <a:r>
                        <a:rPr sz="700" b="0" i="0">
                          <a:solidFill>
                            <a:srgbClr val="000000"/>
                          </a:solidFill>
                          <a:latin typeface="Times New Roman"/>
                        </a:rPr>
                        <a:t>   </a:t>
                      </a:r>
                      <a:r>
                        <a:rPr sz="1100" b="0" i="0">
                          <a:solidFill>
                            <a:srgbClr val="000000"/>
                          </a:solidFill>
                          <a:latin typeface="Calibri"/>
                        </a:rPr>
                        <a:t>East Asia</a:t>
                      </a:r>
                      <a:endParaRPr sz="1100"/>
                    </a:p>
                  </a:txBody>
                  <a:tcPr marL="771525" marR="9525" marT="9525" marB="0" anchor="ctr"/>
                </a:tc>
              </a:tr>
              <a:tr h="175260">
                <a:tc>
                  <a:txBody>
                    <a:bodyPr wrap="square"/>
                    <a:lstStyle/>
                    <a:p>
                      <a:pPr algn="l"/>
                      <a:r>
                        <a:rPr sz="1100" b="0" i="1">
                          <a:solidFill>
                            <a:srgbClr val="000000"/>
                          </a:solidFill>
                          <a:latin typeface="Calibri"/>
                        </a:rPr>
                        <a:t>8.5.3.1.</a:t>
                      </a:r>
                      <a:r>
                        <a:rPr sz="700" b="0" i="1">
                          <a:solidFill>
                            <a:srgbClr val="000000"/>
                          </a:solidFill>
                          <a:latin typeface="Times New Roman"/>
                        </a:rPr>
                        <a:t>    </a:t>
                      </a:r>
                      <a:r>
                        <a:rPr sz="1100" b="0" i="1">
                          <a:solidFill>
                            <a:srgbClr val="000000"/>
                          </a:solidFill>
                          <a:latin typeface="Calibri"/>
                        </a:rPr>
                        <a:t>China</a:t>
                      </a:r>
                      <a:endParaRPr sz="1100"/>
                    </a:p>
                  </a:txBody>
                  <a:tcPr marL="1028700"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(3/8)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8.5.3.2.</a:t>
                      </a:r>
                      <a:r>
                        <a:rPr sz="700" b="0" i="1">
                          <a:solidFill>
                            <a:srgbClr val="000000"/>
                          </a:solidFill>
                          <a:latin typeface="Times New Roman"/>
                        </a:rPr>
                        <a:t>    </a:t>
                      </a:r>
                      <a:r>
                        <a:rPr sz="1100" b="0" i="1">
                          <a:solidFill>
                            <a:srgbClr val="000000"/>
                          </a:solidFill>
                          <a:latin typeface="Calibri"/>
                        </a:rPr>
                        <a:t>Japan</a:t>
                      </a:r>
                      <a:endParaRPr sz="1100"/>
                    </a:p>
                  </a:txBody>
                  <a:tcPr marL="1028700" marR="9525" marT="9525" marB="0" anchor="ctr"/>
                </a:tc>
              </a:tr>
              <a:tr h="175260">
                <a:tc>
                  <a:txBody>
                    <a:bodyPr wrap="square"/>
                    <a:lstStyle/>
                    <a:p>
                      <a:pPr algn="l"/>
                      <a:r>
                        <a:rPr sz="1100" b="0" i="1">
                          <a:solidFill>
                            <a:srgbClr val="000000"/>
                          </a:solidFill>
                          <a:latin typeface="Calibri"/>
                        </a:rPr>
                        <a:t>8.5.3.3.</a:t>
                      </a:r>
                      <a:r>
                        <a:rPr sz="700" b="0" i="1">
                          <a:solidFill>
                            <a:srgbClr val="000000"/>
                          </a:solidFill>
                          <a:latin typeface="Times New Roman"/>
                        </a:rPr>
                        <a:t>    </a:t>
                      </a:r>
                      <a:r>
                        <a:rPr sz="1100" b="0" i="1">
                          <a:solidFill>
                            <a:srgbClr val="000000"/>
                          </a:solidFill>
                          <a:latin typeface="Calibri"/>
                        </a:rPr>
                        <a:t>S Korea</a:t>
                      </a:r>
                      <a:endParaRPr sz="1100"/>
                    </a:p>
                  </a:txBody>
                  <a:tcPr marL="1028700" marR="9525" marT="9525" marB="0" anchor="ctr"/>
                </a:tc>
              </a:tr>
              <a:tr h="175260">
                <a:tc>
                  <a:txBody>
                    <a:bodyPr wrap="square"/>
                    <a:lstStyle/>
                    <a:p>
                      <a:pPr algn="l"/>
                      <a:r>
                        <a:rPr sz="1100" b="0" i="0">
                          <a:solidFill>
                            <a:srgbClr val="000000"/>
                          </a:solidFill>
                          <a:latin typeface="Calibri"/>
                        </a:rPr>
                        <a:t>8.5.4.</a:t>
                      </a:r>
                      <a:r>
                        <a:rPr sz="700" b="0" i="0">
                          <a:solidFill>
                            <a:srgbClr val="000000"/>
                          </a:solidFill>
                          <a:latin typeface="Times New Roman"/>
                        </a:rPr>
                        <a:t>   </a:t>
                      </a:r>
                      <a:r>
                        <a:rPr sz="1100" b="0" i="0">
                          <a:solidFill>
                            <a:srgbClr val="000000"/>
                          </a:solidFill>
                          <a:latin typeface="Calibri"/>
                        </a:rPr>
                        <a:t>South Asia &amp; Pacific</a:t>
                      </a:r>
                      <a:endParaRPr sz="1100"/>
                    </a:p>
                  </a:txBody>
                  <a:tcPr marL="771525" marR="9525" marT="9525" marB="0" anchor="ctr"/>
                </a:tc>
              </a:tr>
              <a:tr h="175260">
                <a:tc>
                  <a:txBody>
                    <a:bodyPr wrap="square"/>
                    <a:lstStyle/>
                    <a:p>
                      <a:pPr algn="l"/>
                      <a:r>
                        <a:rPr sz="1100" b="0" i="1">
                          <a:solidFill>
                            <a:srgbClr val="000000"/>
                          </a:solidFill>
                          <a:latin typeface="Calibri"/>
                        </a:rPr>
                        <a:t>8.5.4.1.</a:t>
                      </a:r>
                      <a:r>
                        <a:rPr sz="700" b="0" i="1">
                          <a:solidFill>
                            <a:srgbClr val="000000"/>
                          </a:solidFill>
                          <a:latin typeface="Times New Roman"/>
                        </a:rPr>
                        <a:t>    </a:t>
                      </a:r>
                      <a:r>
                        <a:rPr sz="1100" b="0" i="1">
                          <a:solidFill>
                            <a:srgbClr val="000000"/>
                          </a:solidFill>
                          <a:latin typeface="Calibri"/>
                        </a:rPr>
                        <a:t>India</a:t>
                      </a:r>
                      <a:endParaRPr sz="1100"/>
                    </a:p>
                  </a:txBody>
                  <a:tcPr marL="1028700" marR="9525" marT="9525" marB="0" anchor="ctr"/>
                </a:tc>
              </a:tr>
              <a:tr h="175260">
                <a:tc>
                  <a:txBody>
                    <a:bodyPr wrap="square"/>
                    <a:lstStyle/>
                    <a:p>
                      <a:pPr algn="l"/>
                      <a:r>
                        <a:rPr sz="1100" b="0" i="1">
                          <a:solidFill>
                            <a:srgbClr val="000000"/>
                          </a:solidFill>
                          <a:latin typeface="Calibri"/>
                        </a:rPr>
                        <a:t>8.5.4.2.</a:t>
                      </a:r>
                      <a:r>
                        <a:rPr sz="700" b="0" i="1">
                          <a:solidFill>
                            <a:srgbClr val="000000"/>
                          </a:solidFill>
                          <a:latin typeface="Times New Roman"/>
                        </a:rPr>
                        <a:t>    </a:t>
                      </a:r>
                      <a:r>
                        <a:rPr sz="1100" b="0" i="1">
                          <a:solidFill>
                            <a:srgbClr val="000000"/>
                          </a:solidFill>
                          <a:latin typeface="Calibri"/>
                        </a:rPr>
                        <a:t>Thailand</a:t>
                      </a:r>
                      <a:endParaRPr sz="1100"/>
                    </a:p>
                  </a:txBody>
                  <a:tcPr marL="1028700" marR="9525" marT="9525" marB="0" anchor="ctr"/>
                </a:tc>
              </a:tr>
              <a:tr h="175260">
                <a:tc>
                  <a:txBody>
                    <a:bodyPr wrap="square"/>
                    <a:lstStyle/>
                    <a:p>
                      <a:pPr algn="l"/>
                      <a:r>
                        <a:rPr sz="1100" b="0" i="1">
                          <a:solidFill>
                            <a:srgbClr val="000000"/>
                          </a:solidFill>
                          <a:latin typeface="Calibri"/>
                        </a:rPr>
                        <a:t>8.5.4.3.</a:t>
                      </a:r>
                      <a:r>
                        <a:rPr sz="700" b="0" i="1">
                          <a:solidFill>
                            <a:srgbClr val="000000"/>
                          </a:solidFill>
                          <a:latin typeface="Times New Roman"/>
                        </a:rPr>
                        <a:t>    </a:t>
                      </a:r>
                      <a:r>
                        <a:rPr sz="1100" b="0" i="1">
                          <a:solidFill>
                            <a:srgbClr val="000000"/>
                          </a:solidFill>
                          <a:latin typeface="Calibri"/>
                        </a:rPr>
                        <a:t>Malaysia</a:t>
                      </a:r>
                      <a:endParaRPr sz="1100"/>
                    </a:p>
                  </a:txBody>
                  <a:tcPr marL="1028700" marR="9525" marT="9525" marB="0" anchor="ctr"/>
                </a:tc>
              </a:tr>
              <a:tr h="175260">
                <a:tc>
                  <a:txBody>
                    <a:bodyPr wrap="square"/>
                    <a:lstStyle/>
                    <a:p>
                      <a:pPr algn="l"/>
                      <a:r>
                        <a:rPr sz="1100" b="0" i="1">
                          <a:solidFill>
                            <a:srgbClr val="000000"/>
                          </a:solidFill>
                          <a:latin typeface="Calibri"/>
                        </a:rPr>
                        <a:t>8.5.4.4.</a:t>
                      </a:r>
                      <a:r>
                        <a:rPr sz="700" b="0" i="1">
                          <a:solidFill>
                            <a:srgbClr val="000000"/>
                          </a:solidFill>
                          <a:latin typeface="Times New Roman"/>
                        </a:rPr>
                        <a:t>    </a:t>
                      </a:r>
                      <a:r>
                        <a:rPr sz="1100" b="0" i="1">
                          <a:solidFill>
                            <a:srgbClr val="000000"/>
                          </a:solidFill>
                          <a:latin typeface="Calibri"/>
                        </a:rPr>
                        <a:t>Indonesia</a:t>
                      </a:r>
                      <a:endParaRPr sz="1100"/>
                    </a:p>
                  </a:txBody>
                  <a:tcPr marL="1028700" marR="9525" marT="9525" marB="0" anchor="ctr"/>
                </a:tc>
              </a:tr>
              <a:tr h="175260">
                <a:tc>
                  <a:txBody>
                    <a:bodyPr wrap="square"/>
                    <a:lstStyle/>
                    <a:p>
                      <a:pPr algn="l"/>
                      <a:r>
                        <a:rPr sz="1100" b="0" i="1">
                          <a:solidFill>
                            <a:srgbClr val="000000"/>
                          </a:solidFill>
                          <a:latin typeface="Calibri"/>
                        </a:rPr>
                        <a:t>8.5.4.5.</a:t>
                      </a:r>
                      <a:r>
                        <a:rPr sz="700" b="0" i="1">
                          <a:solidFill>
                            <a:srgbClr val="000000"/>
                          </a:solidFill>
                          <a:latin typeface="Times New Roman"/>
                        </a:rPr>
                        <a:t>    </a:t>
                      </a:r>
                      <a:r>
                        <a:rPr sz="1100" b="0" i="1">
                          <a:solidFill>
                            <a:srgbClr val="000000"/>
                          </a:solidFill>
                          <a:latin typeface="Calibri"/>
                        </a:rPr>
                        <a:t>Philippines</a:t>
                      </a:r>
                      <a:endParaRPr sz="1100"/>
                    </a:p>
                  </a:txBody>
                  <a:tcPr marL="1028700" marR="9525" marT="9525" marB="0" anchor="ctr"/>
                </a:tc>
              </a:tr>
              <a:tr h="175260">
                <a:tc>
                  <a:txBody>
                    <a:bodyPr wrap="square"/>
                    <a:lstStyle/>
                    <a:p>
                      <a:pPr algn="l"/>
                      <a:r>
                        <a:rPr sz="1100" b="0" i="1">
                          <a:solidFill>
                            <a:srgbClr val="000000"/>
                          </a:solidFill>
                          <a:latin typeface="Calibri"/>
                        </a:rPr>
                        <a:t>8.5.4.6.</a:t>
                      </a:r>
                      <a:r>
                        <a:rPr sz="700" b="0" i="1">
                          <a:solidFill>
                            <a:srgbClr val="000000"/>
                          </a:solidFill>
                          <a:latin typeface="Times New Roman"/>
                        </a:rPr>
                        <a:t>    </a:t>
                      </a:r>
                      <a:r>
                        <a:rPr sz="1100" b="0" i="1">
                          <a:solidFill>
                            <a:srgbClr val="000000"/>
                          </a:solidFill>
                          <a:latin typeface="Calibri"/>
                        </a:rPr>
                        <a:t>Singapore</a:t>
                      </a:r>
                      <a:endParaRPr sz="1100"/>
                    </a:p>
                  </a:txBody>
                  <a:tcPr marL="1028700" marR="9525" marT="9525" marB="0" anchor="ctr"/>
                </a:tc>
              </a:tr>
              <a:tr h="175260">
                <a:tc>
                  <a:txBody>
                    <a:bodyPr wrap="square"/>
                    <a:lstStyle/>
                    <a:p>
                      <a:pPr algn="l"/>
                      <a:r>
                        <a:rPr sz="1100" b="0" i="1">
                          <a:solidFill>
                            <a:srgbClr val="000000"/>
                          </a:solidFill>
                          <a:latin typeface="Calibri"/>
                        </a:rPr>
                        <a:t>8.5.4.7.</a:t>
                      </a:r>
                      <a:r>
                        <a:rPr sz="700" b="0" i="1">
                          <a:solidFill>
                            <a:srgbClr val="000000"/>
                          </a:solidFill>
                          <a:latin typeface="Times New Roman"/>
                        </a:rPr>
                        <a:t>    </a:t>
                      </a:r>
                      <a:r>
                        <a:rPr sz="1100" b="0" i="1">
                          <a:solidFill>
                            <a:srgbClr val="000000"/>
                          </a:solidFill>
                          <a:latin typeface="Calibri"/>
                        </a:rPr>
                        <a:t>Australia</a:t>
                      </a:r>
                      <a:endParaRPr sz="1100"/>
                    </a:p>
                  </a:txBody>
                  <a:tcPr marL="1028700" marR="9525" marT="9525" marB="0" anchor="ctr"/>
                </a:tc>
              </a:tr>
              <a:tr h="175260">
                <a:tc>
                  <a:txBody>
                    <a:bodyPr wrap="square"/>
                    <a:lstStyle/>
                    <a:p>
                      <a:pPr algn="l"/>
                      <a:r>
                        <a:rPr sz="1100" b="0" i="1">
                          <a:solidFill>
                            <a:srgbClr val="000000"/>
                          </a:solidFill>
                          <a:latin typeface="Calibri"/>
                        </a:rPr>
                        <a:t>8.5.4.8.</a:t>
                      </a:r>
                      <a:r>
                        <a:rPr sz="700" b="0" i="1">
                          <a:solidFill>
                            <a:srgbClr val="000000"/>
                          </a:solidFill>
                          <a:latin typeface="Times New Roman"/>
                        </a:rPr>
                        <a:t>    </a:t>
                      </a:r>
                      <a:r>
                        <a:rPr sz="1100" b="0" i="1">
                          <a:solidFill>
                            <a:srgbClr val="000000"/>
                          </a:solidFill>
                          <a:latin typeface="Calibri"/>
                        </a:rPr>
                        <a:t>New Zealand</a:t>
                      </a:r>
                      <a:endParaRPr sz="1100"/>
                    </a:p>
                  </a:txBody>
                  <a:tcPr marL="1028700" marR="9525" marT="9525" marB="0" anchor="ctr"/>
                </a:tc>
              </a:tr>
              <a:tr h="175260">
                <a:tc>
                  <a:txBody>
                    <a:bodyPr wrap="square"/>
                    <a:lstStyle/>
                    <a:p>
                      <a:pPr algn="l"/>
                      <a:r>
                        <a:rPr sz="1100" b="0" i="1">
                          <a:solidFill>
                            <a:srgbClr val="000000"/>
                          </a:solidFill>
                          <a:latin typeface="Calibri"/>
                        </a:rPr>
                        <a:t>8.5.4.9.</a:t>
                      </a:r>
                      <a:r>
                        <a:rPr sz="700" b="0" i="1">
                          <a:solidFill>
                            <a:srgbClr val="000000"/>
                          </a:solidFill>
                          <a:latin typeface="Times New Roman"/>
                        </a:rPr>
                        <a:t>    </a:t>
                      </a:r>
                      <a:r>
                        <a:rPr sz="1100" b="0" i="1">
                          <a:solidFill>
                            <a:srgbClr val="000000"/>
                          </a:solidFill>
                          <a:latin typeface="Calibri"/>
                        </a:rPr>
                        <a:t>Rest of South East Asia</a:t>
                      </a:r>
                      <a:endParaRPr sz="1100"/>
                    </a:p>
                  </a:txBody>
                  <a:tcPr marL="1028700" marR="9525" marT="9525" marB="0" anchor="ctr"/>
                </a:tc>
              </a:tr>
              <a:tr h="175260">
                <a:tc>
                  <a:txBody>
                    <a:bodyPr wrap="square"/>
                    <a:lstStyle/>
                    <a:p>
                      <a:pPr algn="l"/>
                      <a:r>
                        <a:rPr sz="1100" b="0" i="0">
                          <a:solidFill>
                            <a:srgbClr val="000000"/>
                          </a:solidFill>
                          <a:latin typeface="Calibri"/>
                        </a:rPr>
                        <a:t>8.5.5.</a:t>
                      </a:r>
                      <a:r>
                        <a:rPr sz="700" b="0" i="0">
                          <a:solidFill>
                            <a:srgbClr val="000000"/>
                          </a:solidFill>
                          <a:latin typeface="Times New Roman"/>
                        </a:rPr>
                        <a:t>   </a:t>
                      </a:r>
                      <a:r>
                        <a:rPr sz="1100" b="0" i="0">
                          <a:solidFill>
                            <a:srgbClr val="000000"/>
                          </a:solidFill>
                          <a:latin typeface="Calibri"/>
                        </a:rPr>
                        <a:t>Europe</a:t>
                      </a:r>
                      <a:endParaRPr sz="1100"/>
                    </a:p>
                  </a:txBody>
                  <a:tcPr marL="771525" marR="9525" marT="9525" marB="0" anchor="ctr"/>
                </a:tc>
              </a:tr>
              <a:tr h="175260">
                <a:tc>
                  <a:txBody>
                    <a:bodyPr wrap="square"/>
                    <a:lstStyle/>
                    <a:p>
                      <a:pPr algn="l"/>
                      <a:r>
                        <a:rPr sz="1100" b="0" i="1">
                          <a:solidFill>
                            <a:srgbClr val="000000"/>
                          </a:solidFill>
                          <a:latin typeface="Calibri"/>
                        </a:rPr>
                        <a:t>8.5.5.1.</a:t>
                      </a:r>
                      <a:r>
                        <a:rPr sz="700" b="0" i="1">
                          <a:solidFill>
                            <a:srgbClr val="000000"/>
                          </a:solidFill>
                          <a:latin typeface="Times New Roman"/>
                        </a:rPr>
                        <a:t>    </a:t>
                      </a:r>
                      <a:r>
                        <a:rPr sz="1100" b="0" i="1">
                          <a:solidFill>
                            <a:srgbClr val="000000"/>
                          </a:solidFill>
                          <a:latin typeface="Calibri"/>
                        </a:rPr>
                        <a:t>Germany</a:t>
                      </a:r>
                      <a:endParaRPr sz="1100"/>
                    </a:p>
                  </a:txBody>
                  <a:tcPr marL="1028700" marR="9525" marT="9525" marB="0" anchor="ctr"/>
                </a:tc>
              </a:tr>
              <a:tr h="175260">
                <a:tc>
                  <a:txBody>
                    <a:bodyPr wrap="square"/>
                    <a:lstStyle/>
                    <a:p>
                      <a:pPr algn="l"/>
                      <a:r>
                        <a:rPr sz="1100" b="0" i="1">
                          <a:solidFill>
                            <a:srgbClr val="000000"/>
                          </a:solidFill>
                          <a:latin typeface="Calibri"/>
                        </a:rPr>
                        <a:t>8.5.5.2.</a:t>
                      </a:r>
                      <a:r>
                        <a:rPr sz="700" b="0" i="1">
                          <a:solidFill>
                            <a:srgbClr val="000000"/>
                          </a:solidFill>
                          <a:latin typeface="Times New Roman"/>
                        </a:rPr>
                        <a:t>    </a:t>
                      </a:r>
                      <a:r>
                        <a:rPr sz="1100" b="0" i="1">
                          <a:solidFill>
                            <a:srgbClr val="000000"/>
                          </a:solidFill>
                          <a:latin typeface="Calibri"/>
                        </a:rPr>
                        <a:t>U.K.</a:t>
                      </a:r>
                      <a:endParaRPr sz="1100"/>
                    </a:p>
                  </a:txBody>
                  <a:tcPr marL="1028700" marR="9525" marT="9525" marB="0" anchor="ctr"/>
                </a:tc>
              </a:tr>
              <a:tr h="175260">
                <a:tc>
                  <a:txBody>
                    <a:bodyPr wrap="square"/>
                    <a:lstStyle/>
                    <a:p>
                      <a:pPr algn="l"/>
                      <a:r>
                        <a:rPr sz="1100" b="0" i="1">
                          <a:solidFill>
                            <a:srgbClr val="000000"/>
                          </a:solidFill>
                          <a:latin typeface="Calibri"/>
                        </a:rPr>
                        <a:t>8.5.5.3.</a:t>
                      </a:r>
                      <a:r>
                        <a:rPr sz="700" b="0" i="1">
                          <a:solidFill>
                            <a:srgbClr val="000000"/>
                          </a:solidFill>
                          <a:latin typeface="Times New Roman"/>
                        </a:rPr>
                        <a:t>    </a:t>
                      </a:r>
                      <a:r>
                        <a:rPr sz="1100" b="0" i="1">
                          <a:solidFill>
                            <a:srgbClr val="000000"/>
                          </a:solidFill>
                          <a:latin typeface="Calibri"/>
                        </a:rPr>
                        <a:t>France</a:t>
                      </a:r>
                      <a:endParaRPr sz="1100"/>
                    </a:p>
                  </a:txBody>
                  <a:tcPr marL="1028700" marR="9525" marT="9525" marB="0" anchor="ctr"/>
                </a:tc>
              </a:tr>
              <a:tr h="175260">
                <a:tc>
                  <a:txBody>
                    <a:bodyPr wrap="square"/>
                    <a:lstStyle/>
                    <a:p>
                      <a:pPr algn="l"/>
                      <a:r>
                        <a:rPr sz="1100" b="0" i="1">
                          <a:solidFill>
                            <a:srgbClr val="000000"/>
                          </a:solidFill>
                          <a:latin typeface="Calibri"/>
                        </a:rPr>
                        <a:t>8.5.5.4.</a:t>
                      </a:r>
                      <a:r>
                        <a:rPr sz="700" b="0" i="1">
                          <a:solidFill>
                            <a:srgbClr val="000000"/>
                          </a:solidFill>
                          <a:latin typeface="Times New Roman"/>
                        </a:rPr>
                        <a:t>    </a:t>
                      </a:r>
                      <a:r>
                        <a:rPr sz="1100" b="0" i="1">
                          <a:solidFill>
                            <a:srgbClr val="000000"/>
                          </a:solidFill>
                          <a:latin typeface="Calibri"/>
                        </a:rPr>
                        <a:t>Italy</a:t>
                      </a:r>
                      <a:endParaRPr sz="1100"/>
                    </a:p>
                  </a:txBody>
                  <a:tcPr marL="1028700" marR="9525" marT="9525" marB="0" anchor="ctr"/>
                </a:tc>
              </a:tr>
              <a:tr h="175260">
                <a:tc>
                  <a:txBody>
                    <a:bodyPr wrap="square"/>
                    <a:lstStyle/>
                    <a:p>
                      <a:pPr algn="l"/>
                      <a:r>
                        <a:rPr sz="1100" b="0" i="1">
                          <a:solidFill>
                            <a:srgbClr val="000000"/>
                          </a:solidFill>
                          <a:latin typeface="Calibri"/>
                        </a:rPr>
                        <a:t>8.5.5.5.</a:t>
                      </a:r>
                      <a:r>
                        <a:rPr sz="700" b="0" i="1">
                          <a:solidFill>
                            <a:srgbClr val="000000"/>
                          </a:solidFill>
                          <a:latin typeface="Times New Roman"/>
                        </a:rPr>
                        <a:t>    </a:t>
                      </a:r>
                      <a:r>
                        <a:rPr sz="1100" b="0" i="1">
                          <a:solidFill>
                            <a:srgbClr val="000000"/>
                          </a:solidFill>
                          <a:latin typeface="Calibri"/>
                        </a:rPr>
                        <a:t>Spain</a:t>
                      </a:r>
                      <a:endParaRPr sz="1100"/>
                    </a:p>
                  </a:txBody>
                  <a:tcPr marL="1028700" marR="9525" marT="9525" marB="0" anchor="ctr"/>
                </a:tc>
              </a:tr>
              <a:tr h="175260">
                <a:tc>
                  <a:txBody>
                    <a:bodyPr wrap="square"/>
                    <a:lstStyle/>
                    <a:p>
                      <a:pPr algn="l"/>
                      <a:r>
                        <a:rPr sz="1100" b="0" i="1">
                          <a:solidFill>
                            <a:srgbClr val="000000"/>
                          </a:solidFill>
                          <a:latin typeface="Calibri"/>
                        </a:rPr>
                        <a:t>8.5.5.6.</a:t>
                      </a:r>
                      <a:r>
                        <a:rPr sz="700" b="0" i="1">
                          <a:solidFill>
                            <a:srgbClr val="000000"/>
                          </a:solidFill>
                          <a:latin typeface="Times New Roman"/>
                        </a:rPr>
                        <a:t>    </a:t>
                      </a:r>
                      <a:r>
                        <a:rPr sz="1100" b="0" i="1">
                          <a:solidFill>
                            <a:srgbClr val="000000"/>
                          </a:solidFill>
                          <a:latin typeface="Calibri"/>
                        </a:rPr>
                        <a:t>Belgium</a:t>
                      </a:r>
                      <a:endParaRPr sz="1100"/>
                    </a:p>
                  </a:txBody>
                  <a:tcPr marL="1028700" marR="9525" marT="9525" marB="0" anchor="ctr"/>
                </a:tc>
              </a:tr>
              <a:tr h="175260">
                <a:tc>
                  <a:txBody>
                    <a:bodyPr wrap="square"/>
                    <a:lstStyle/>
                    <a:p>
                      <a:pPr algn="l"/>
                      <a:r>
                        <a:rPr sz="1100" b="0" i="1">
                          <a:solidFill>
                            <a:srgbClr val="000000"/>
                          </a:solidFill>
                          <a:latin typeface="Calibri"/>
                        </a:rPr>
                        <a:t>8.5.5.7.</a:t>
                      </a:r>
                      <a:r>
                        <a:rPr sz="700" b="0" i="1">
                          <a:solidFill>
                            <a:srgbClr val="000000"/>
                          </a:solidFill>
                          <a:latin typeface="Times New Roman"/>
                        </a:rPr>
                        <a:t>    </a:t>
                      </a:r>
                      <a:r>
                        <a:rPr sz="1100" b="0" i="1">
                          <a:solidFill>
                            <a:srgbClr val="000000"/>
                          </a:solidFill>
                          <a:latin typeface="Calibri"/>
                        </a:rPr>
                        <a:t>Netherlands</a:t>
                      </a:r>
                      <a:endParaRPr sz="1100"/>
                    </a:p>
                  </a:txBody>
                  <a:tcPr marL="1028700" marR="9525" marT="9525" marB="0" anchor="ctr"/>
                </a:tc>
              </a:tr>
              <a:tr h="175260">
                <a:tc>
                  <a:txBody>
                    <a:bodyPr wrap="square"/>
                    <a:lstStyle/>
                    <a:p>
                      <a:pPr algn="l"/>
                      <a:r>
                        <a:rPr sz="1100" b="0" i="1">
                          <a:solidFill>
                            <a:srgbClr val="000000"/>
                          </a:solidFill>
                          <a:latin typeface="Calibri"/>
                        </a:rPr>
                        <a:t>8.5.5.8.</a:t>
                      </a:r>
                      <a:r>
                        <a:rPr sz="700" b="0" i="1">
                          <a:solidFill>
                            <a:srgbClr val="000000"/>
                          </a:solidFill>
                          <a:latin typeface="Times New Roman"/>
                        </a:rPr>
                        <a:t>    </a:t>
                      </a:r>
                      <a:r>
                        <a:rPr sz="1100" b="0" i="1">
                          <a:solidFill>
                            <a:srgbClr val="000000"/>
                          </a:solidFill>
                          <a:latin typeface="Calibri"/>
                        </a:rPr>
                        <a:t>Nordic</a:t>
                      </a:r>
                      <a:endParaRPr sz="1100"/>
                    </a:p>
                  </a:txBody>
                  <a:tcPr marL="1028700" marR="9525" marT="9525" marB="0" anchor="ctr"/>
                </a:tc>
              </a:tr>
              <a:tr h="175260">
                <a:tc>
                  <a:txBody>
                    <a:bodyPr wrap="square"/>
                    <a:lstStyle/>
                    <a:p>
                      <a:pPr algn="l"/>
                      <a:r>
                        <a:rPr sz="1100" b="0" i="1">
                          <a:solidFill>
                            <a:srgbClr val="000000"/>
                          </a:solidFill>
                          <a:latin typeface="Calibri"/>
                        </a:rPr>
                        <a:t>8.5.5.9.</a:t>
                      </a:r>
                      <a:r>
                        <a:rPr sz="700" b="0" i="1">
                          <a:solidFill>
                            <a:srgbClr val="000000"/>
                          </a:solidFill>
                          <a:latin typeface="Times New Roman"/>
                        </a:rPr>
                        <a:t>    </a:t>
                      </a:r>
                      <a:r>
                        <a:rPr sz="1100" b="0" i="1">
                          <a:solidFill>
                            <a:srgbClr val="000000"/>
                          </a:solidFill>
                          <a:latin typeface="Calibri"/>
                        </a:rPr>
                        <a:t>Russia</a:t>
                      </a:r>
                      <a:endParaRPr sz="1100"/>
                    </a:p>
                  </a:txBody>
                  <a:tcPr marL="1028700" marR="9525" marT="9525" marB="0" anchor="ctr"/>
                </a:tc>
              </a:tr>
              <a:tr h="175260">
                <a:tc>
                  <a:txBody>
                    <a:bodyPr wrap="square"/>
                    <a:lstStyle/>
                    <a:p>
                      <a:pPr algn="l"/>
                      <a:r>
                        <a:rPr sz="1100" b="0" i="1">
                          <a:solidFill>
                            <a:srgbClr val="000000"/>
                          </a:solidFill>
                          <a:latin typeface="Calibri"/>
                        </a:rPr>
                        <a:t>8.5.5.10.</a:t>
                      </a:r>
                      <a:r>
                        <a:rPr sz="700" b="0" i="1">
                          <a:solidFill>
                            <a:srgbClr val="000000"/>
                          </a:solidFill>
                          <a:latin typeface="Times New Roman"/>
                        </a:rPr>
                        <a:t> </a:t>
                      </a:r>
                      <a:r>
                        <a:rPr sz="1100" b="0" i="1">
                          <a:solidFill>
                            <a:srgbClr val="000000"/>
                          </a:solidFill>
                          <a:latin typeface="Calibri"/>
                        </a:rPr>
                        <a:t>Poland</a:t>
                      </a:r>
                      <a:endParaRPr sz="1100"/>
                    </a:p>
                  </a:txBody>
                  <a:tcPr marL="1028700" marR="9525" marT="9525" marB="0" anchor="ctr"/>
                </a:tc>
              </a:tr>
              <a:tr h="175260">
                <a:tc>
                  <a:txBody>
                    <a:bodyPr wrap="square"/>
                    <a:lstStyle/>
                    <a:p>
                      <a:pPr algn="l"/>
                      <a:r>
                        <a:rPr sz="1100" b="0" i="1">
                          <a:solidFill>
                            <a:srgbClr val="000000"/>
                          </a:solidFill>
                          <a:latin typeface="Calibri"/>
                        </a:rPr>
                        <a:t>8.5.5.11.</a:t>
                      </a:r>
                      <a:r>
                        <a:rPr sz="700" b="0" i="1">
                          <a:solidFill>
                            <a:srgbClr val="000000"/>
                          </a:solidFill>
                          <a:latin typeface="Times New Roman"/>
                        </a:rPr>
                        <a:t> </a:t>
                      </a:r>
                      <a:r>
                        <a:rPr sz="1100" b="0" i="1">
                          <a:solidFill>
                            <a:srgbClr val="000000"/>
                          </a:solidFill>
                          <a:latin typeface="Calibri"/>
                        </a:rPr>
                        <a:t>Switzerland</a:t>
                      </a:r>
                      <a:endParaRPr sz="1100"/>
                    </a:p>
                  </a:txBody>
                  <a:tcPr marL="1028700" marR="9525" marT="9525" marB="0" anchor="ctr"/>
                </a:tc>
              </a:tr>
              <a:tr h="175260">
                <a:tc>
                  <a:txBody>
                    <a:bodyPr wrap="square"/>
                    <a:lstStyle/>
                    <a:p>
                      <a:pPr algn="l"/>
                      <a:r>
                        <a:rPr sz="1100" b="0" i="1">
                          <a:solidFill>
                            <a:srgbClr val="000000"/>
                          </a:solidFill>
                          <a:latin typeface="Calibri"/>
                        </a:rPr>
                        <a:t>8.5.5.12.</a:t>
                      </a:r>
                      <a:r>
                        <a:rPr sz="700" b="0" i="1">
                          <a:solidFill>
                            <a:srgbClr val="000000"/>
                          </a:solidFill>
                          <a:latin typeface="Times New Roman"/>
                        </a:rPr>
                        <a:t> </a:t>
                      </a:r>
                      <a:r>
                        <a:rPr sz="1100" b="0" i="1">
                          <a:solidFill>
                            <a:srgbClr val="000000"/>
                          </a:solidFill>
                          <a:latin typeface="Calibri"/>
                        </a:rPr>
                        <a:t>Rest of Europe</a:t>
                      </a:r>
                      <a:endParaRPr sz="1100"/>
                    </a:p>
                  </a:txBody>
                  <a:tcPr marL="1028700" marR="9525" marT="9525" marB="0" anchor="ctr"/>
                </a:tc>
              </a:tr>
              <a:tr h="175260">
                <a:tc>
                  <a:txBody>
                    <a:bodyPr wrap="square"/>
                    <a:lstStyle/>
                    <a:p>
                      <a:pPr algn="l"/>
                      <a:r>
                        <a:rPr sz="1100" b="0" i="0">
                          <a:solidFill>
                            <a:srgbClr val="000000"/>
                          </a:solidFill>
                          <a:latin typeface="Calibri"/>
                        </a:rPr>
                        <a:t>8.5.6.</a:t>
                      </a:r>
                      <a:r>
                        <a:rPr sz="700" b="0" i="0">
                          <a:solidFill>
                            <a:srgbClr val="000000"/>
                          </a:solidFill>
                          <a:latin typeface="Times New Roman"/>
                        </a:rPr>
                        <a:t>   </a:t>
                      </a:r>
                      <a:r>
                        <a:rPr sz="1100" b="0" i="0">
                          <a:solidFill>
                            <a:srgbClr val="000000"/>
                          </a:solidFill>
                          <a:latin typeface="Calibri"/>
                        </a:rPr>
                        <a:t>Middle East &amp; Africa</a:t>
                      </a:r>
                      <a:endParaRPr sz="1100"/>
                    </a:p>
                  </a:txBody>
                  <a:tcPr marL="771525" marR="9525" marT="9525" marB="0" anchor="ctr"/>
                </a:tc>
              </a:tr>
              <a:tr h="175260">
                <a:tc>
                  <a:txBody>
                    <a:bodyPr wrap="square"/>
                    <a:lstStyle/>
                    <a:p>
                      <a:pPr algn="l"/>
                      <a:r>
                        <a:rPr sz="1100" b="0" i="1">
                          <a:solidFill>
                            <a:srgbClr val="000000"/>
                          </a:solidFill>
                          <a:latin typeface="Calibri"/>
                        </a:rPr>
                        <a:t>8.5.6.1.</a:t>
                      </a:r>
                      <a:r>
                        <a:rPr sz="700" b="0" i="1">
                          <a:solidFill>
                            <a:srgbClr val="000000"/>
                          </a:solidFill>
                          <a:latin typeface="Times New Roman"/>
                        </a:rPr>
                        <a:t>    </a:t>
                      </a:r>
                      <a:r>
                        <a:rPr sz="1100" b="0" i="1">
                          <a:solidFill>
                            <a:srgbClr val="000000"/>
                          </a:solidFill>
                          <a:latin typeface="Calibri"/>
                        </a:rPr>
                        <a:t>UAE</a:t>
                      </a:r>
                      <a:endParaRPr sz="1100"/>
                    </a:p>
                  </a:txBody>
                  <a:tcPr marL="1028700" marR="9525" marT="9525" marB="0" anchor="ctr"/>
                </a:tc>
              </a:tr>
              <a:tr h="175260">
                <a:tc>
                  <a:txBody>
                    <a:bodyPr wrap="square"/>
                    <a:lstStyle/>
                    <a:p>
                      <a:pPr algn="l"/>
                      <a:r>
                        <a:rPr sz="1100" b="0" i="1">
                          <a:solidFill>
                            <a:srgbClr val="000000"/>
                          </a:solidFill>
                          <a:latin typeface="Calibri"/>
                        </a:rPr>
                        <a:t>8.5.6.2.</a:t>
                      </a:r>
                      <a:r>
                        <a:rPr sz="700" b="0" i="1">
                          <a:solidFill>
                            <a:srgbClr val="000000"/>
                          </a:solidFill>
                          <a:latin typeface="Times New Roman"/>
                        </a:rPr>
                        <a:t>    </a:t>
                      </a:r>
                      <a:r>
                        <a:rPr sz="1100" b="0" i="1">
                          <a:solidFill>
                            <a:srgbClr val="000000"/>
                          </a:solidFill>
                          <a:latin typeface="Calibri"/>
                        </a:rPr>
                        <a:t>Saudi Arabia</a:t>
                      </a:r>
                      <a:endParaRPr sz="1100"/>
                    </a:p>
                  </a:txBody>
                  <a:tcPr marL="1028700" marR="9525" marT="9525" marB="0" anchor="ctr"/>
                </a:tc>
              </a:tr>
              <a:tr h="175260">
                <a:tc>
                  <a:txBody>
                    <a:bodyPr wrap="square"/>
                    <a:lstStyle/>
                    <a:p>
                      <a:pPr algn="l"/>
                      <a:r>
                        <a:rPr sz="1100" b="0" i="1">
                          <a:solidFill>
                            <a:srgbClr val="000000"/>
                          </a:solidFill>
                          <a:latin typeface="Calibri"/>
                        </a:rPr>
                        <a:t>8.5.6.3.</a:t>
                      </a:r>
                      <a:r>
                        <a:rPr sz="700" b="0" i="1">
                          <a:solidFill>
                            <a:srgbClr val="000000"/>
                          </a:solidFill>
                          <a:latin typeface="Times New Roman"/>
                        </a:rPr>
                        <a:t>    </a:t>
                      </a:r>
                      <a:r>
                        <a:rPr sz="1100" b="0" i="1">
                          <a:solidFill>
                            <a:srgbClr val="000000"/>
                          </a:solidFill>
                          <a:latin typeface="Calibri"/>
                        </a:rPr>
                        <a:t>Turkey</a:t>
                      </a:r>
                      <a:endParaRPr sz="1100"/>
                    </a:p>
                  </a:txBody>
                  <a:tcPr marL="1028700" marR="9525" marT="9525" marB="0" anchor="ctr"/>
                </a:tc>
              </a:tr>
              <a:tr h="175260">
                <a:tc>
                  <a:txBody>
                    <a:bodyPr wrap="square"/>
                    <a:lstStyle/>
                    <a:p>
                      <a:pPr algn="l"/>
                      <a:r>
                        <a:rPr sz="1100" b="0" i="1">
                          <a:solidFill>
                            <a:srgbClr val="000000"/>
                          </a:solidFill>
                          <a:latin typeface="Calibri"/>
                        </a:rPr>
                        <a:t>8.5.6.4.</a:t>
                      </a:r>
                      <a:r>
                        <a:rPr sz="700" b="0" i="1">
                          <a:solidFill>
                            <a:srgbClr val="000000"/>
                          </a:solidFill>
                          <a:latin typeface="Times New Roman"/>
                        </a:rPr>
                        <a:t>    </a:t>
                      </a:r>
                      <a:r>
                        <a:rPr sz="1100" b="0" i="1">
                          <a:solidFill>
                            <a:srgbClr val="000000"/>
                          </a:solidFill>
                          <a:latin typeface="Calibri"/>
                        </a:rPr>
                        <a:t>Israel</a:t>
                      </a:r>
                      <a:endParaRPr sz="1100"/>
                    </a:p>
                  </a:txBody>
                  <a:tcPr marL="1028700"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8.5.6.5.</a:t>
                      </a:r>
                      <a:r>
                        <a:rPr sz="700" b="0" i="1">
                          <a:solidFill>
                            <a:srgbClr val="000000"/>
                          </a:solidFill>
                          <a:latin typeface="Times New Roman"/>
                        </a:rPr>
                        <a:t>    </a:t>
                      </a:r>
                      <a:r>
                        <a:rPr sz="1100" b="0" i="1">
                          <a:solidFill>
                            <a:srgbClr val="000000"/>
                          </a:solidFill>
                          <a:latin typeface="Calibri"/>
                        </a:rPr>
                        <a:t>Rest of GCC</a:t>
                      </a:r>
                      <a:endParaRPr sz="1100"/>
                    </a:p>
                  </a:txBody>
                  <a:tcPr marL="1028700" marR="9525" marT="9525" marB="0" anchor="ctr"/>
                </a:tc>
              </a:tr>
              <a:tr h="175260">
                <a:tc>
                  <a:txBody>
                    <a:bodyPr wrap="square"/>
                    <a:lstStyle/>
                    <a:p>
                      <a:pPr algn="l"/>
                      <a:r>
                        <a:rPr sz="1100" b="0" i="1">
                          <a:solidFill>
                            <a:srgbClr val="000000"/>
                          </a:solidFill>
                          <a:latin typeface="Calibri"/>
                        </a:rPr>
                        <a:t>8.5.6.6.</a:t>
                      </a:r>
                      <a:r>
                        <a:rPr sz="700" b="0" i="1">
                          <a:solidFill>
                            <a:srgbClr val="000000"/>
                          </a:solidFill>
                          <a:latin typeface="Times New Roman"/>
                        </a:rPr>
                        <a:t>    </a:t>
                      </a:r>
                      <a:r>
                        <a:rPr sz="1100" b="0" i="1">
                          <a:solidFill>
                            <a:srgbClr val="000000"/>
                          </a:solidFill>
                          <a:latin typeface="Calibri"/>
                        </a:rPr>
                        <a:t>South Africa</a:t>
                      </a:r>
                      <a:endParaRPr sz="1100"/>
                    </a:p>
                  </a:txBody>
                  <a:tcPr marL="1028700" marR="9525" marT="9525" marB="0" anchor="ctr"/>
                </a:tc>
              </a:tr>
              <a:tr h="175260">
                <a:tc>
                  <a:txBody>
                    <a:bodyPr wrap="square"/>
                    <a:lstStyle/>
                    <a:p>
                      <a:pPr algn="l"/>
                      <a:r>
                        <a:rPr sz="1100" b="0" i="1">
                          <a:solidFill>
                            <a:srgbClr val="000000"/>
                          </a:solidFill>
                          <a:latin typeface="Calibri"/>
                        </a:rPr>
                        <a:t>8.5.6.7.</a:t>
                      </a:r>
                      <a:r>
                        <a:rPr sz="700" b="0" i="1">
                          <a:solidFill>
                            <a:srgbClr val="000000"/>
                          </a:solidFill>
                          <a:latin typeface="Times New Roman"/>
                        </a:rPr>
                        <a:t>    </a:t>
                      </a:r>
                      <a:r>
                        <a:rPr sz="1100" b="0" i="1">
                          <a:solidFill>
                            <a:srgbClr val="000000"/>
                          </a:solidFill>
                          <a:latin typeface="Calibri"/>
                        </a:rPr>
                        <a:t>Rest of MEA</a:t>
                      </a:r>
                      <a:endParaRPr sz="1100"/>
                    </a:p>
                  </a:txBody>
                  <a:tcPr marL="1028700" marR="9525" marT="9525" marB="0" anchor="ctr"/>
                </a:tc>
              </a:tr>
              <a:tr h="175260">
                <a:tc>
                  <a:txBody>
                    <a:bodyPr wrap="square"/>
                    <a:lstStyle/>
                    <a:p>
                      <a:pPr algn="l"/>
                      <a:r>
                        <a:rPr sz="1100" b="0" i="1">
                          <a:solidFill>
                            <a:srgbClr val="EE0000"/>
                          </a:solidFill>
                          <a:latin typeface="Calibri"/>
                        </a:rPr>
                        <a:t>Note: Value &amp; Volume (US$ Mn / MT) for all segments will be provided for each region/ Country</a:t>
                      </a:r>
                      <a:endParaRPr sz="1100"/>
                    </a:p>
                  </a:txBody>
                  <a:tcPr marL="9525" marR="9525" marT="9525" marB="0" anchor="ctr"/>
                </a:tc>
              </a:tr>
              <a:tr h="175260">
                <a:tc>
                  <a:txBody>
                    <a:bodyPr wrap="square"/>
                    <a:lstStyle/>
                    <a:p>
                      <a:pPr algn="l"/>
                      <a:r>
                        <a:rPr sz="1100" b="1" i="0">
                          <a:solidFill>
                            <a:srgbClr val="000000"/>
                          </a:solidFill>
                          <a:latin typeface="Calibri"/>
                        </a:rPr>
                        <a:t>9.</a:t>
                      </a:r>
                      <a:r>
                        <a:rPr sz="700" b="1" i="0">
                          <a:solidFill>
                            <a:srgbClr val="000000"/>
                          </a:solidFill>
                          <a:latin typeface="Times New Roman"/>
                        </a:rPr>
                        <a:t>       </a:t>
                      </a:r>
                      <a:r>
                        <a:rPr sz="1100" b="1" i="0">
                          <a:solidFill>
                            <a:srgbClr val="000000"/>
                          </a:solidFill>
                          <a:latin typeface="Calibri"/>
                        </a:rPr>
                        <a:t>Cross-sectional Assessment</a:t>
                      </a:r>
                      <a:endParaRPr sz="1100"/>
                    </a:p>
                  </a:txBody>
                  <a:tcPr marL="171450" marR="9525" marT="9525" marB="0" anchor="ctr"/>
                </a:tc>
              </a:tr>
              <a:tr h="175260">
                <a:tc>
                  <a:txBody>
                    <a:bodyPr wrap="square"/>
                    <a:lstStyle/>
                    <a:p>
                      <a:pPr algn="l"/>
                      <a:r>
                        <a:rPr sz="1100" b="0" i="0">
                          <a:solidFill>
                            <a:srgbClr val="0070C0"/>
                          </a:solidFill>
                          <a:latin typeface="Calibri"/>
                        </a:rPr>
                        <a:t>9.1.</a:t>
                      </a:r>
                      <a:r>
                        <a:rPr sz="700" b="0" i="0">
                          <a:solidFill>
                            <a:srgbClr val="0070C0"/>
                          </a:solidFill>
                          <a:latin typeface="Times New Roman"/>
                        </a:rPr>
                        <a:t>    </a:t>
                      </a:r>
                      <a:r>
                        <a:rPr sz="1100" b="0" i="0">
                          <a:solidFill>
                            <a:srgbClr val="0070C0"/>
                          </a:solidFill>
                          <a:latin typeface="Calibri"/>
                        </a:rPr>
                        <a:t>Form Type × Active Ingredient</a:t>
                      </a:r>
                      <a:endParaRPr sz="1100"/>
                    </a:p>
                  </a:txBody>
                  <a:tcPr marL="428625" marR="9525" marT="9525" marB="0" anchor="ctr"/>
                </a:tc>
              </a:tr>
              <a:tr h="175260">
                <a:tc>
                  <a:txBody>
                    <a:bodyPr wrap="square"/>
                    <a:lstStyle/>
                    <a:p>
                      <a:pPr algn="l"/>
                      <a:r>
                        <a:rPr sz="1100" b="0" i="0">
                          <a:solidFill>
                            <a:srgbClr val="0070C0"/>
                          </a:solidFill>
                          <a:latin typeface="Calibri"/>
                        </a:rPr>
                        <a:t>9.2.</a:t>
                      </a:r>
                      <a:r>
                        <a:rPr sz="700" b="0" i="0">
                          <a:solidFill>
                            <a:srgbClr val="0070C0"/>
                          </a:solidFill>
                          <a:latin typeface="Times New Roman"/>
                        </a:rPr>
                        <a:t>    </a:t>
                      </a:r>
                      <a:r>
                        <a:rPr sz="1100" b="0" i="0">
                          <a:solidFill>
                            <a:srgbClr val="0070C0"/>
                          </a:solidFill>
                          <a:latin typeface="Calibri"/>
                        </a:rPr>
                        <a:t>End-use Application × Active Ingredient</a:t>
                      </a:r>
                      <a:endParaRPr sz="1100"/>
                    </a:p>
                  </a:txBody>
                  <a:tcPr marL="428625" marR="9525" marT="9525" marB="0" anchor="ctr"/>
                </a:tc>
              </a:tr>
              <a:tr h="175260">
                <a:tc>
                  <a:txBody>
                    <a:bodyPr wrap="square"/>
                    <a:lstStyle/>
                    <a:p>
                      <a:pPr algn="l"/>
                      <a:r>
                        <a:rPr sz="1100" b="0" i="0">
                          <a:solidFill>
                            <a:srgbClr val="0070C0"/>
                          </a:solidFill>
                          <a:latin typeface="Calibri"/>
                        </a:rPr>
                        <a:t>9.3.</a:t>
                      </a:r>
                      <a:r>
                        <a:rPr sz="700" b="0" i="0">
                          <a:solidFill>
                            <a:srgbClr val="0070C0"/>
                          </a:solidFill>
                          <a:latin typeface="Times New Roman"/>
                        </a:rPr>
                        <a:t>    </a:t>
                      </a:r>
                      <a:r>
                        <a:rPr sz="1100" b="0" i="0">
                          <a:solidFill>
                            <a:srgbClr val="0070C0"/>
                          </a:solidFill>
                          <a:latin typeface="Calibri"/>
                        </a:rPr>
                        <a:t>Sales Channel × End-use Application</a:t>
                      </a:r>
                      <a:endParaRPr sz="1100"/>
                    </a:p>
                  </a:txBody>
                  <a:tcPr marL="428625" marR="9525" marT="9525" marB="0" anchor="ctr"/>
                </a:tc>
              </a:tr>
              <a:tr h="175260">
                <a:tc>
                  <a:txBody>
                    <a:bodyPr wrap="square"/>
                    <a:lstStyle/>
                    <a:p>
                      <a:pPr algn="l"/>
                      <a:r>
                        <a:rPr sz="1100" b="0" i="1">
                          <a:solidFill>
                            <a:srgbClr val="EE0000"/>
                          </a:solidFill>
                          <a:latin typeface="Calibri"/>
                        </a:rPr>
                        <a:t>Note: Cross Sectional Assessment shall be provided on custom request</a:t>
                      </a:r>
                      <a:endParaRPr sz="1100"/>
                    </a:p>
                  </a:txBody>
                  <a:tcPr marL="9525" marR="9525" marT="9525" marB="0" anchor="ctr"/>
                </a:tc>
              </a:tr>
              <a:tr h="175260">
                <a:tc>
                  <a:txBody>
                    <a:bodyPr wrap="square"/>
                    <a:lstStyle/>
                    <a:p>
                      <a:pPr algn="l"/>
                      <a:r>
                        <a:rPr sz="1100" b="1" i="0">
                          <a:solidFill>
                            <a:srgbClr val="000000"/>
                          </a:solidFill>
                          <a:latin typeface="Calibri"/>
                        </a:rPr>
                        <a:t>Section 2: Regional and Country Market Outlook</a:t>
                      </a:r>
                      <a:endParaRPr sz="1100"/>
                    </a:p>
                  </a:txBody>
                  <a:tcPr marL="9525" marR="9525" marT="9525" marB="0" anchor="ctr"/>
                </a:tc>
              </a:tr>
              <a:tr h="175260">
                <a:tc>
                  <a:txBody>
                    <a:bodyPr wrap="square"/>
                    <a:lstStyle/>
                    <a:p>
                      <a:pPr algn="l"/>
                      <a:r>
                        <a:rPr sz="1100" b="1" i="0">
                          <a:solidFill>
                            <a:srgbClr val="000000"/>
                          </a:solidFill>
                          <a:latin typeface="Calibri"/>
                        </a:rPr>
                        <a:t>10.</a:t>
                      </a:r>
                      <a:r>
                        <a:rPr sz="700" b="1" i="0">
                          <a:solidFill>
                            <a:srgbClr val="000000"/>
                          </a:solidFill>
                          <a:latin typeface="Times New Roman"/>
                        </a:rPr>
                        <a:t>    </a:t>
                      </a:r>
                      <a:r>
                        <a:rPr sz="1100" b="1" i="0">
                          <a:solidFill>
                            <a:srgbClr val="000000"/>
                          </a:solidFill>
                          <a:latin typeface="Calibri"/>
                        </a:rPr>
                        <a:t>North America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10.1.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10.2.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10.3.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10.4.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10.4.1.</a:t>
                      </a:r>
                      <a:r>
                        <a:rPr sz="700" b="0" i="0">
                          <a:solidFill>
                            <a:srgbClr val="000000"/>
                          </a:solidFill>
                          <a:latin typeface="Times New Roman"/>
                        </a:rPr>
                        <a:t> </a:t>
                      </a:r>
                      <a:r>
                        <a:rPr sz="1100" b="0" i="0">
                          <a:solidFill>
                            <a:srgbClr val="000000"/>
                          </a:solidFill>
                          <a:latin typeface="Calibri"/>
                        </a:rPr>
                        <a:t>By Form Type</a:t>
                      </a:r>
                      <a:endParaRPr sz="1100"/>
                    </a:p>
                  </a:txBody>
                  <a:tcPr marL="771525" marR="9525" marT="9525" marB="0" anchor="ctr"/>
                </a:tc>
              </a:tr>
              <a:tr h="175260">
                <a:tc>
                  <a:txBody>
                    <a:bodyPr wrap="square"/>
                    <a:lstStyle/>
                    <a:p>
                      <a:pPr algn="l"/>
                      <a:r>
                        <a:rPr sz="1100" b="0" i="0">
                          <a:solidFill>
                            <a:srgbClr val="000000"/>
                          </a:solidFill>
                          <a:latin typeface="Calibri"/>
                        </a:rPr>
                        <a:t>10.4.2.</a:t>
                      </a:r>
                      <a:r>
                        <a:rPr sz="700" b="0" i="0">
                          <a:solidFill>
                            <a:srgbClr val="000000"/>
                          </a:solidFill>
                          <a:latin typeface="Times New Roman"/>
                        </a:rPr>
                        <a:t> </a:t>
                      </a:r>
                      <a:r>
                        <a:rPr sz="1100" b="0" i="0">
                          <a:solidFill>
                            <a:srgbClr val="000000"/>
                          </a:solidFill>
                          <a:latin typeface="Calibri"/>
                        </a:rPr>
                        <a:t>By Active Ingredient</a:t>
                      </a:r>
                      <a:endParaRPr sz="1100"/>
                    </a:p>
                  </a:txBody>
                  <a:tcPr marL="771525" marR="9525" marT="9525" marB="0" anchor="ctr"/>
                </a:tc>
              </a:tr>
              <a:tr h="175260">
                <a:tc>
                  <a:txBody>
                    <a:bodyPr wrap="square"/>
                    <a:lstStyle/>
                    <a:p>
                      <a:pPr algn="l"/>
                      <a:r>
                        <a:rPr sz="1100" b="0" i="0">
                          <a:solidFill>
                            <a:srgbClr val="000000"/>
                          </a:solidFill>
                          <a:latin typeface="Calibri"/>
                        </a:rPr>
                        <a:t>10.4.3.</a:t>
                      </a:r>
                      <a:r>
                        <a:rPr sz="700" b="0" i="0">
                          <a:solidFill>
                            <a:srgbClr val="000000"/>
                          </a:solidFill>
                          <a:latin typeface="Times New Roman"/>
                        </a:rPr>
                        <a:t> </a:t>
                      </a:r>
                      <a:r>
                        <a:rPr sz="1100" b="0" i="0">
                          <a:solidFill>
                            <a:srgbClr val="000000"/>
                          </a:solidFill>
                          <a:latin typeface="Calibri"/>
                        </a:rPr>
                        <a:t>By End-use Application</a:t>
                      </a:r>
                      <a:endParaRPr sz="1100"/>
                    </a:p>
                  </a:txBody>
                  <a:tcPr marL="771525" marR="9525" marT="9525" marB="0" anchor="ctr"/>
                </a:tc>
              </a:tr>
              <a:tr h="175260">
                <a:tc>
                  <a:txBody>
                    <a:bodyPr wrap="square"/>
                    <a:lstStyle/>
                    <a:p>
                      <a:pPr algn="l"/>
                      <a:r>
                        <a:rPr sz="1100" b="0" i="0">
                          <a:solidFill>
                            <a:srgbClr val="000000"/>
                          </a:solidFill>
                          <a:latin typeface="Calibri"/>
                        </a:rPr>
                        <a:t>10.4.4.</a:t>
                      </a:r>
                      <a:r>
                        <a:rPr sz="700" b="0" i="0">
                          <a:solidFill>
                            <a:srgbClr val="000000"/>
                          </a:solidFill>
                          <a:latin typeface="Times New Roman"/>
                        </a:rPr>
                        <a:t> </a:t>
                      </a:r>
                      <a:r>
                        <a:rPr sz="1100" b="0" i="0">
                          <a:solidFill>
                            <a:srgbClr val="000000"/>
                          </a:solidFill>
                          <a:latin typeface="Calibri"/>
                        </a:rPr>
                        <a:t>By Packaging Format</a:t>
                      </a:r>
                      <a:endParaRPr sz="1100"/>
                    </a:p>
                  </a:txBody>
                  <a:tcPr marL="771525" marR="9525" marT="9525" marB="0" anchor="ctr"/>
                </a:tc>
              </a:tr>
              <a:tr h="175260">
                <a:tc>
                  <a:txBody>
                    <a:bodyPr wrap="square"/>
                    <a:lstStyle/>
                    <a:p>
                      <a:pPr algn="l"/>
                      <a:r>
                        <a:rPr sz="1100" b="0" i="0">
                          <a:solidFill>
                            <a:srgbClr val="000000"/>
                          </a:solidFill>
                          <a:latin typeface="Calibri"/>
                        </a:rPr>
                        <a:t>10.4.5.</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tr>
              <a:tr h="175260">
                <a:tc>
                  <a:txBody>
                    <a:bodyPr wrap="square"/>
                    <a:lstStyle/>
                    <a:p>
                      <a:pPr algn="l"/>
                      <a:r>
                        <a:rPr sz="1100" b="0" i="0">
                          <a:solidFill>
                            <a:srgbClr val="000000"/>
                          </a:solidFill>
                          <a:latin typeface="Calibri"/>
                        </a:rPr>
                        <a:t>10.4.6.</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11.</a:t>
                      </a:r>
                      <a:r>
                        <a:rPr sz="700" b="1" i="0">
                          <a:solidFill>
                            <a:srgbClr val="000000"/>
                          </a:solidFill>
                          <a:latin typeface="Times New Roman"/>
                        </a:rPr>
                        <a:t>    </a:t>
                      </a:r>
                      <a:r>
                        <a:rPr sz="1100" b="1" i="0">
                          <a:solidFill>
                            <a:srgbClr val="000000"/>
                          </a:solidFill>
                          <a:latin typeface="Calibri"/>
                        </a:rPr>
                        <a:t>Latin America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11.1.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11.2.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11.3.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11.4.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11.4.1.</a:t>
                      </a:r>
                      <a:r>
                        <a:rPr sz="700" b="0" i="0">
                          <a:solidFill>
                            <a:srgbClr val="000000"/>
                          </a:solidFill>
                          <a:latin typeface="Times New Roman"/>
                        </a:rPr>
                        <a:t> </a:t>
                      </a:r>
                      <a:r>
                        <a:rPr sz="1100" b="0" i="0">
                          <a:solidFill>
                            <a:srgbClr val="000000"/>
                          </a:solidFill>
                          <a:latin typeface="Calibri"/>
                        </a:rPr>
                        <a:t>By Form Type</a:t>
                      </a:r>
                      <a:endParaRPr sz="1100"/>
                    </a:p>
                  </a:txBody>
                  <a:tcPr marL="771525" marR="9525" marT="9525" marB="0" anchor="ctr"/>
                </a:tc>
              </a:tr>
              <a:tr h="175260">
                <a:tc>
                  <a:txBody>
                    <a:bodyPr wrap="square"/>
                    <a:lstStyle/>
                    <a:p>
                      <a:pPr algn="l"/>
                      <a:r>
                        <a:rPr sz="1100" b="0" i="0">
                          <a:solidFill>
                            <a:srgbClr val="000000"/>
                          </a:solidFill>
                          <a:latin typeface="Calibri"/>
                        </a:rPr>
                        <a:t>11.4.2.</a:t>
                      </a:r>
                      <a:r>
                        <a:rPr sz="700" b="0" i="0">
                          <a:solidFill>
                            <a:srgbClr val="000000"/>
                          </a:solidFill>
                          <a:latin typeface="Times New Roman"/>
                        </a:rPr>
                        <a:t> </a:t>
                      </a:r>
                      <a:r>
                        <a:rPr sz="1100" b="0" i="0">
                          <a:solidFill>
                            <a:srgbClr val="000000"/>
                          </a:solidFill>
                          <a:latin typeface="Calibri"/>
                        </a:rPr>
                        <a:t>By Active Ingredient</a:t>
                      </a:r>
                      <a:endParaRPr sz="1100"/>
                    </a:p>
                  </a:txBody>
                  <a:tcPr marL="771525" marR="9525" marT="9525" marB="0" anchor="ctr"/>
                </a:tc>
              </a:tr>
              <a:tr h="175260">
                <a:tc>
                  <a:txBody>
                    <a:bodyPr wrap="square"/>
                    <a:lstStyle/>
                    <a:p>
                      <a:pPr algn="l"/>
                      <a:r>
                        <a:rPr sz="1100" b="0" i="0">
                          <a:solidFill>
                            <a:srgbClr val="000000"/>
                          </a:solidFill>
                          <a:latin typeface="Calibri"/>
                        </a:rPr>
                        <a:t>11.4.3.</a:t>
                      </a:r>
                      <a:r>
                        <a:rPr sz="700" b="0" i="0">
                          <a:solidFill>
                            <a:srgbClr val="000000"/>
                          </a:solidFill>
                          <a:latin typeface="Times New Roman"/>
                        </a:rPr>
                        <a:t> </a:t>
                      </a:r>
                      <a:r>
                        <a:rPr sz="1100" b="0" i="0">
                          <a:solidFill>
                            <a:srgbClr val="000000"/>
                          </a:solidFill>
                          <a:latin typeface="Calibri"/>
                        </a:rPr>
                        <a:t>By End-use Application</a:t>
                      </a:r>
                      <a:endParaRPr sz="1100"/>
                    </a:p>
                  </a:txBody>
                  <a:tcPr marL="771525" marR="9525" marT="9525" marB="0" anchor="ctr"/>
                </a:tc>
              </a:tr>
              <a:tr h="175260">
                <a:tc>
                  <a:txBody>
                    <a:bodyPr wrap="square"/>
                    <a:lstStyle/>
                    <a:p>
                      <a:pPr algn="l"/>
                      <a:r>
                        <a:rPr sz="1100" b="0" i="0">
                          <a:solidFill>
                            <a:srgbClr val="000000"/>
                          </a:solidFill>
                          <a:latin typeface="Calibri"/>
                        </a:rPr>
                        <a:t>11.4.4.</a:t>
                      </a:r>
                      <a:r>
                        <a:rPr sz="700" b="0" i="0">
                          <a:solidFill>
                            <a:srgbClr val="000000"/>
                          </a:solidFill>
                          <a:latin typeface="Times New Roman"/>
                        </a:rPr>
                        <a:t> </a:t>
                      </a:r>
                      <a:r>
                        <a:rPr sz="1100" b="0" i="0">
                          <a:solidFill>
                            <a:srgbClr val="000000"/>
                          </a:solidFill>
                          <a:latin typeface="Calibri"/>
                        </a:rPr>
                        <a:t>By Packaging Format</a:t>
                      </a:r>
                      <a:endParaRPr sz="1100"/>
                    </a:p>
                  </a:txBody>
                  <a:tcPr marL="771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(4/8)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11.4.5.</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tr>
              <a:tr h="175260">
                <a:tc>
                  <a:txBody>
                    <a:bodyPr wrap="square"/>
                    <a:lstStyle/>
                    <a:p>
                      <a:pPr algn="l"/>
                      <a:r>
                        <a:rPr sz="1100" b="0" i="0">
                          <a:solidFill>
                            <a:srgbClr val="000000"/>
                          </a:solidFill>
                          <a:latin typeface="Calibri"/>
                        </a:rPr>
                        <a:t>11.4.6.</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12.</a:t>
                      </a:r>
                      <a:r>
                        <a:rPr sz="700" b="1" i="0">
                          <a:solidFill>
                            <a:srgbClr val="000000"/>
                          </a:solidFill>
                          <a:latin typeface="Times New Roman"/>
                        </a:rPr>
                        <a:t>    </a:t>
                      </a:r>
                      <a:r>
                        <a:rPr sz="1100" b="1" i="0">
                          <a:solidFill>
                            <a:srgbClr val="000000"/>
                          </a:solidFill>
                          <a:latin typeface="Calibri"/>
                        </a:rPr>
                        <a:t>Europe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12.1.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12.2.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12.3.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12.4.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12.4.1.</a:t>
                      </a:r>
                      <a:r>
                        <a:rPr sz="700" b="0" i="0">
                          <a:solidFill>
                            <a:srgbClr val="000000"/>
                          </a:solidFill>
                          <a:latin typeface="Times New Roman"/>
                        </a:rPr>
                        <a:t> </a:t>
                      </a:r>
                      <a:r>
                        <a:rPr sz="1100" b="0" i="0">
                          <a:solidFill>
                            <a:srgbClr val="000000"/>
                          </a:solidFill>
                          <a:latin typeface="Calibri"/>
                        </a:rPr>
                        <a:t>By Form Type</a:t>
                      </a:r>
                      <a:endParaRPr sz="1100"/>
                    </a:p>
                  </a:txBody>
                  <a:tcPr marL="771525" marR="9525" marT="9525" marB="0" anchor="ctr"/>
                </a:tc>
              </a:tr>
              <a:tr h="175260">
                <a:tc>
                  <a:txBody>
                    <a:bodyPr wrap="square"/>
                    <a:lstStyle/>
                    <a:p>
                      <a:pPr algn="l"/>
                      <a:r>
                        <a:rPr sz="1100" b="0" i="0">
                          <a:solidFill>
                            <a:srgbClr val="000000"/>
                          </a:solidFill>
                          <a:latin typeface="Calibri"/>
                        </a:rPr>
                        <a:t>12.4.2.</a:t>
                      </a:r>
                      <a:r>
                        <a:rPr sz="700" b="0" i="0">
                          <a:solidFill>
                            <a:srgbClr val="000000"/>
                          </a:solidFill>
                          <a:latin typeface="Times New Roman"/>
                        </a:rPr>
                        <a:t> </a:t>
                      </a:r>
                      <a:r>
                        <a:rPr sz="1100" b="0" i="0">
                          <a:solidFill>
                            <a:srgbClr val="000000"/>
                          </a:solidFill>
                          <a:latin typeface="Calibri"/>
                        </a:rPr>
                        <a:t>By Active Ingredient</a:t>
                      </a:r>
                      <a:endParaRPr sz="1100"/>
                    </a:p>
                  </a:txBody>
                  <a:tcPr marL="771525" marR="9525" marT="9525" marB="0" anchor="ctr"/>
                </a:tc>
              </a:tr>
              <a:tr h="175260">
                <a:tc>
                  <a:txBody>
                    <a:bodyPr wrap="square"/>
                    <a:lstStyle/>
                    <a:p>
                      <a:pPr algn="l"/>
                      <a:r>
                        <a:rPr sz="1100" b="0" i="0">
                          <a:solidFill>
                            <a:srgbClr val="000000"/>
                          </a:solidFill>
                          <a:latin typeface="Calibri"/>
                        </a:rPr>
                        <a:t>12.4.3.</a:t>
                      </a:r>
                      <a:r>
                        <a:rPr sz="700" b="0" i="0">
                          <a:solidFill>
                            <a:srgbClr val="000000"/>
                          </a:solidFill>
                          <a:latin typeface="Times New Roman"/>
                        </a:rPr>
                        <a:t> </a:t>
                      </a:r>
                      <a:r>
                        <a:rPr sz="1100" b="0" i="0">
                          <a:solidFill>
                            <a:srgbClr val="000000"/>
                          </a:solidFill>
                          <a:latin typeface="Calibri"/>
                        </a:rPr>
                        <a:t>By End-use Application</a:t>
                      </a:r>
                      <a:endParaRPr sz="1100"/>
                    </a:p>
                  </a:txBody>
                  <a:tcPr marL="771525" marR="9525" marT="9525" marB="0" anchor="ctr"/>
                </a:tc>
              </a:tr>
              <a:tr h="175260">
                <a:tc>
                  <a:txBody>
                    <a:bodyPr wrap="square"/>
                    <a:lstStyle/>
                    <a:p>
                      <a:pPr algn="l"/>
                      <a:r>
                        <a:rPr sz="1100" b="0" i="0">
                          <a:solidFill>
                            <a:srgbClr val="000000"/>
                          </a:solidFill>
                          <a:latin typeface="Calibri"/>
                        </a:rPr>
                        <a:t>12.4.4.</a:t>
                      </a:r>
                      <a:r>
                        <a:rPr sz="700" b="0" i="0">
                          <a:solidFill>
                            <a:srgbClr val="000000"/>
                          </a:solidFill>
                          <a:latin typeface="Times New Roman"/>
                        </a:rPr>
                        <a:t> </a:t>
                      </a:r>
                      <a:r>
                        <a:rPr sz="1100" b="0" i="0">
                          <a:solidFill>
                            <a:srgbClr val="000000"/>
                          </a:solidFill>
                          <a:latin typeface="Calibri"/>
                        </a:rPr>
                        <a:t>By Packaging Format</a:t>
                      </a:r>
                      <a:endParaRPr sz="1100"/>
                    </a:p>
                  </a:txBody>
                  <a:tcPr marL="771525" marR="9525" marT="9525" marB="0" anchor="ctr"/>
                </a:tc>
              </a:tr>
              <a:tr h="175260">
                <a:tc>
                  <a:txBody>
                    <a:bodyPr wrap="square"/>
                    <a:lstStyle/>
                    <a:p>
                      <a:pPr algn="l"/>
                      <a:r>
                        <a:rPr sz="1100" b="0" i="0">
                          <a:solidFill>
                            <a:srgbClr val="000000"/>
                          </a:solidFill>
                          <a:latin typeface="Calibri"/>
                        </a:rPr>
                        <a:t>12.4.5.</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tr>
              <a:tr h="175260">
                <a:tc>
                  <a:txBody>
                    <a:bodyPr wrap="square"/>
                    <a:lstStyle/>
                    <a:p>
                      <a:pPr algn="l"/>
                      <a:r>
                        <a:rPr sz="1100" b="0" i="0">
                          <a:solidFill>
                            <a:srgbClr val="000000"/>
                          </a:solidFill>
                          <a:latin typeface="Calibri"/>
                        </a:rPr>
                        <a:t>12.4.6.</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13.</a:t>
                      </a:r>
                      <a:r>
                        <a:rPr sz="700" b="1" i="0">
                          <a:solidFill>
                            <a:srgbClr val="000000"/>
                          </a:solidFill>
                          <a:latin typeface="Times New Roman"/>
                        </a:rPr>
                        <a:t>    </a:t>
                      </a:r>
                      <a:r>
                        <a:rPr sz="1100" b="1" i="0">
                          <a:solidFill>
                            <a:srgbClr val="000000"/>
                          </a:solidFill>
                          <a:latin typeface="Calibri"/>
                        </a:rPr>
                        <a:t>East Asia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13.1.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13.2.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13.3.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13.4.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13.4.1.</a:t>
                      </a:r>
                      <a:r>
                        <a:rPr sz="700" b="0" i="0">
                          <a:solidFill>
                            <a:srgbClr val="000000"/>
                          </a:solidFill>
                          <a:latin typeface="Times New Roman"/>
                        </a:rPr>
                        <a:t> </a:t>
                      </a:r>
                      <a:r>
                        <a:rPr sz="1100" b="0" i="0">
                          <a:solidFill>
                            <a:srgbClr val="000000"/>
                          </a:solidFill>
                          <a:latin typeface="Calibri"/>
                        </a:rPr>
                        <a:t>By Form Type</a:t>
                      </a:r>
                      <a:endParaRPr sz="1100"/>
                    </a:p>
                  </a:txBody>
                  <a:tcPr marL="771525" marR="9525" marT="9525" marB="0" anchor="ctr"/>
                </a:tc>
              </a:tr>
              <a:tr h="175260">
                <a:tc>
                  <a:txBody>
                    <a:bodyPr wrap="square"/>
                    <a:lstStyle/>
                    <a:p>
                      <a:pPr algn="l"/>
                      <a:r>
                        <a:rPr sz="1100" b="0" i="0">
                          <a:solidFill>
                            <a:srgbClr val="000000"/>
                          </a:solidFill>
                          <a:latin typeface="Calibri"/>
                        </a:rPr>
                        <a:t>13.4.2.</a:t>
                      </a:r>
                      <a:r>
                        <a:rPr sz="700" b="0" i="0">
                          <a:solidFill>
                            <a:srgbClr val="000000"/>
                          </a:solidFill>
                          <a:latin typeface="Times New Roman"/>
                        </a:rPr>
                        <a:t> </a:t>
                      </a:r>
                      <a:r>
                        <a:rPr sz="1100" b="0" i="0">
                          <a:solidFill>
                            <a:srgbClr val="000000"/>
                          </a:solidFill>
                          <a:latin typeface="Calibri"/>
                        </a:rPr>
                        <a:t>By Active Ingredient</a:t>
                      </a:r>
                      <a:endParaRPr sz="1100"/>
                    </a:p>
                  </a:txBody>
                  <a:tcPr marL="771525" marR="9525" marT="9525" marB="0" anchor="ctr"/>
                </a:tc>
              </a:tr>
              <a:tr h="175260">
                <a:tc>
                  <a:txBody>
                    <a:bodyPr wrap="square"/>
                    <a:lstStyle/>
                    <a:p>
                      <a:pPr algn="l"/>
                      <a:r>
                        <a:rPr sz="1100" b="0" i="0">
                          <a:solidFill>
                            <a:srgbClr val="000000"/>
                          </a:solidFill>
                          <a:latin typeface="Calibri"/>
                        </a:rPr>
                        <a:t>13.4.3.</a:t>
                      </a:r>
                      <a:r>
                        <a:rPr sz="700" b="0" i="0">
                          <a:solidFill>
                            <a:srgbClr val="000000"/>
                          </a:solidFill>
                          <a:latin typeface="Times New Roman"/>
                        </a:rPr>
                        <a:t> </a:t>
                      </a:r>
                      <a:r>
                        <a:rPr sz="1100" b="0" i="0">
                          <a:solidFill>
                            <a:srgbClr val="000000"/>
                          </a:solidFill>
                          <a:latin typeface="Calibri"/>
                        </a:rPr>
                        <a:t>By End-use Application</a:t>
                      </a:r>
                      <a:endParaRPr sz="1100"/>
                    </a:p>
                  </a:txBody>
                  <a:tcPr marL="771525" marR="9525" marT="9525" marB="0" anchor="ctr"/>
                </a:tc>
              </a:tr>
              <a:tr h="175260">
                <a:tc>
                  <a:txBody>
                    <a:bodyPr wrap="square"/>
                    <a:lstStyle/>
                    <a:p>
                      <a:pPr algn="l"/>
                      <a:r>
                        <a:rPr sz="1100" b="0" i="0">
                          <a:solidFill>
                            <a:srgbClr val="000000"/>
                          </a:solidFill>
                          <a:latin typeface="Calibri"/>
                        </a:rPr>
                        <a:t>13.4.4.</a:t>
                      </a:r>
                      <a:r>
                        <a:rPr sz="700" b="0" i="0">
                          <a:solidFill>
                            <a:srgbClr val="000000"/>
                          </a:solidFill>
                          <a:latin typeface="Times New Roman"/>
                        </a:rPr>
                        <a:t> </a:t>
                      </a:r>
                      <a:r>
                        <a:rPr sz="1100" b="0" i="0">
                          <a:solidFill>
                            <a:srgbClr val="000000"/>
                          </a:solidFill>
                          <a:latin typeface="Calibri"/>
                        </a:rPr>
                        <a:t>By Packaging Format</a:t>
                      </a:r>
                      <a:endParaRPr sz="1100"/>
                    </a:p>
                  </a:txBody>
                  <a:tcPr marL="771525" marR="9525" marT="9525" marB="0" anchor="ctr"/>
                </a:tc>
              </a:tr>
              <a:tr h="175260">
                <a:tc>
                  <a:txBody>
                    <a:bodyPr wrap="square"/>
                    <a:lstStyle/>
                    <a:p>
                      <a:pPr algn="l"/>
                      <a:r>
                        <a:rPr sz="1100" b="0" i="0">
                          <a:solidFill>
                            <a:srgbClr val="000000"/>
                          </a:solidFill>
                          <a:latin typeface="Calibri"/>
                        </a:rPr>
                        <a:t>13.4.5.</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tr>
              <a:tr h="175260">
                <a:tc>
                  <a:txBody>
                    <a:bodyPr wrap="square"/>
                    <a:lstStyle/>
                    <a:p>
                      <a:pPr algn="l"/>
                      <a:r>
                        <a:rPr sz="1100" b="0" i="0">
                          <a:solidFill>
                            <a:srgbClr val="000000"/>
                          </a:solidFill>
                          <a:latin typeface="Calibri"/>
                        </a:rPr>
                        <a:t>13.4.6.</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14.</a:t>
                      </a:r>
                      <a:r>
                        <a:rPr sz="700" b="1" i="0">
                          <a:solidFill>
                            <a:srgbClr val="000000"/>
                          </a:solidFill>
                          <a:latin typeface="Times New Roman"/>
                        </a:rPr>
                        <a:t>    </a:t>
                      </a:r>
                      <a:r>
                        <a:rPr sz="1100" b="1" i="0">
                          <a:solidFill>
                            <a:srgbClr val="000000"/>
                          </a:solidFill>
                          <a:latin typeface="Calibri"/>
                        </a:rPr>
                        <a:t>South Asia &amp; Pacific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14.1.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14.2.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14.3.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14.4.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14.4.1.</a:t>
                      </a:r>
                      <a:r>
                        <a:rPr sz="700" b="0" i="0">
                          <a:solidFill>
                            <a:srgbClr val="000000"/>
                          </a:solidFill>
                          <a:latin typeface="Times New Roman"/>
                        </a:rPr>
                        <a:t> </a:t>
                      </a:r>
                      <a:r>
                        <a:rPr sz="1100" b="0" i="0">
                          <a:solidFill>
                            <a:srgbClr val="000000"/>
                          </a:solidFill>
                          <a:latin typeface="Calibri"/>
                        </a:rPr>
                        <a:t>By Form Type</a:t>
                      </a:r>
                      <a:endParaRPr sz="1100"/>
                    </a:p>
                  </a:txBody>
                  <a:tcPr marL="771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14.4.2.</a:t>
                      </a:r>
                      <a:r>
                        <a:rPr sz="700" b="0" i="0">
                          <a:solidFill>
                            <a:srgbClr val="000000"/>
                          </a:solidFill>
                          <a:latin typeface="Times New Roman"/>
                        </a:rPr>
                        <a:t> </a:t>
                      </a:r>
                      <a:r>
                        <a:rPr sz="1100" b="0" i="0">
                          <a:solidFill>
                            <a:srgbClr val="000000"/>
                          </a:solidFill>
                          <a:latin typeface="Calibri"/>
                        </a:rPr>
                        <a:t>By Active Ingredient</a:t>
                      </a:r>
                      <a:endParaRPr sz="1100"/>
                    </a:p>
                  </a:txBody>
                  <a:tcPr marL="771525" marR="9525" marT="9525" marB="0" anchor="ctr"/>
                </a:tc>
              </a:tr>
              <a:tr h="175260">
                <a:tc>
                  <a:txBody>
                    <a:bodyPr wrap="square"/>
                    <a:lstStyle/>
                    <a:p>
                      <a:pPr algn="l"/>
                      <a:r>
                        <a:rPr sz="1100" b="0" i="0">
                          <a:solidFill>
                            <a:srgbClr val="000000"/>
                          </a:solidFill>
                          <a:latin typeface="Calibri"/>
                        </a:rPr>
                        <a:t>14.4.3.</a:t>
                      </a:r>
                      <a:r>
                        <a:rPr sz="700" b="0" i="0">
                          <a:solidFill>
                            <a:srgbClr val="000000"/>
                          </a:solidFill>
                          <a:latin typeface="Times New Roman"/>
                        </a:rPr>
                        <a:t> </a:t>
                      </a:r>
                      <a:r>
                        <a:rPr sz="1100" b="0" i="0">
                          <a:solidFill>
                            <a:srgbClr val="000000"/>
                          </a:solidFill>
                          <a:latin typeface="Calibri"/>
                        </a:rPr>
                        <a:t>By End-use Application</a:t>
                      </a:r>
                      <a:endParaRPr sz="1100"/>
                    </a:p>
                  </a:txBody>
                  <a:tcPr marL="771525" marR="9525" marT="9525" marB="0" anchor="ctr"/>
                </a:tc>
              </a:tr>
              <a:tr h="175260">
                <a:tc>
                  <a:txBody>
                    <a:bodyPr wrap="square"/>
                    <a:lstStyle/>
                    <a:p>
                      <a:pPr algn="l"/>
                      <a:r>
                        <a:rPr sz="1100" b="0" i="0">
                          <a:solidFill>
                            <a:srgbClr val="000000"/>
                          </a:solidFill>
                          <a:latin typeface="Calibri"/>
                        </a:rPr>
                        <a:t>14.4.4.</a:t>
                      </a:r>
                      <a:r>
                        <a:rPr sz="700" b="0" i="0">
                          <a:solidFill>
                            <a:srgbClr val="000000"/>
                          </a:solidFill>
                          <a:latin typeface="Times New Roman"/>
                        </a:rPr>
                        <a:t> </a:t>
                      </a:r>
                      <a:r>
                        <a:rPr sz="1100" b="0" i="0">
                          <a:solidFill>
                            <a:srgbClr val="000000"/>
                          </a:solidFill>
                          <a:latin typeface="Calibri"/>
                        </a:rPr>
                        <a:t>By Packaging Format</a:t>
                      </a:r>
                      <a:endParaRPr sz="1100"/>
                    </a:p>
                  </a:txBody>
                  <a:tcPr marL="771525" marR="9525" marT="9525" marB="0" anchor="ctr"/>
                </a:tc>
              </a:tr>
              <a:tr h="175260">
                <a:tc>
                  <a:txBody>
                    <a:bodyPr wrap="square"/>
                    <a:lstStyle/>
                    <a:p>
                      <a:pPr algn="l"/>
                      <a:r>
                        <a:rPr sz="1100" b="0" i="0">
                          <a:solidFill>
                            <a:srgbClr val="000000"/>
                          </a:solidFill>
                          <a:latin typeface="Calibri"/>
                        </a:rPr>
                        <a:t>14.4.5.</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tr>
              <a:tr h="175260">
                <a:tc>
                  <a:txBody>
                    <a:bodyPr wrap="square"/>
                    <a:lstStyle/>
                    <a:p>
                      <a:pPr algn="l"/>
                      <a:r>
                        <a:rPr sz="1100" b="0" i="0">
                          <a:solidFill>
                            <a:srgbClr val="000000"/>
                          </a:solidFill>
                          <a:latin typeface="Calibri"/>
                        </a:rPr>
                        <a:t>14.4.6.</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15.</a:t>
                      </a:r>
                      <a:r>
                        <a:rPr sz="700" b="1" i="0">
                          <a:solidFill>
                            <a:srgbClr val="000000"/>
                          </a:solidFill>
                          <a:latin typeface="Times New Roman"/>
                        </a:rPr>
                        <a:t>    </a:t>
                      </a:r>
                      <a:r>
                        <a:rPr sz="1100" b="1" i="0">
                          <a:solidFill>
                            <a:srgbClr val="000000"/>
                          </a:solidFill>
                          <a:latin typeface="Calibri"/>
                        </a:rPr>
                        <a:t>Middle East &amp; Africa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15.1.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15.2.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15.3.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15.4.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15.4.1.</a:t>
                      </a:r>
                      <a:r>
                        <a:rPr sz="700" b="0" i="0">
                          <a:solidFill>
                            <a:srgbClr val="000000"/>
                          </a:solidFill>
                          <a:latin typeface="Times New Roman"/>
                        </a:rPr>
                        <a:t> </a:t>
                      </a:r>
                      <a:r>
                        <a:rPr sz="1100" b="0" i="0">
                          <a:solidFill>
                            <a:srgbClr val="000000"/>
                          </a:solidFill>
                          <a:latin typeface="Calibri"/>
                        </a:rPr>
                        <a:t>By Form Type</a:t>
                      </a:r>
                      <a:endParaRPr sz="1100"/>
                    </a:p>
                  </a:txBody>
                  <a:tcPr marL="771525" marR="9525" marT="9525" marB="0" anchor="ctr"/>
                </a:tc>
              </a:tr>
              <a:tr h="175260">
                <a:tc>
                  <a:txBody>
                    <a:bodyPr wrap="square"/>
                    <a:lstStyle/>
                    <a:p>
                      <a:pPr algn="l"/>
                      <a:r>
                        <a:rPr sz="1100" b="0" i="0">
                          <a:solidFill>
                            <a:srgbClr val="000000"/>
                          </a:solidFill>
                          <a:latin typeface="Calibri"/>
                        </a:rPr>
                        <a:t>15.4.2.</a:t>
                      </a:r>
                      <a:r>
                        <a:rPr sz="700" b="0" i="0">
                          <a:solidFill>
                            <a:srgbClr val="000000"/>
                          </a:solidFill>
                          <a:latin typeface="Times New Roman"/>
                        </a:rPr>
                        <a:t> </a:t>
                      </a:r>
                      <a:r>
                        <a:rPr sz="1100" b="0" i="0">
                          <a:solidFill>
                            <a:srgbClr val="000000"/>
                          </a:solidFill>
                          <a:latin typeface="Calibri"/>
                        </a:rPr>
                        <a:t>By Active Ingredient</a:t>
                      </a:r>
                      <a:endParaRPr sz="1100"/>
                    </a:p>
                  </a:txBody>
                  <a:tcPr marL="771525" marR="9525" marT="9525" marB="0" anchor="ctr"/>
                </a:tc>
              </a:tr>
              <a:tr h="175260">
                <a:tc>
                  <a:txBody>
                    <a:bodyPr wrap="square"/>
                    <a:lstStyle/>
                    <a:p>
                      <a:pPr algn="l"/>
                      <a:r>
                        <a:rPr sz="1100" b="0" i="0">
                          <a:solidFill>
                            <a:srgbClr val="000000"/>
                          </a:solidFill>
                          <a:latin typeface="Calibri"/>
                        </a:rPr>
                        <a:t>15.4.3.</a:t>
                      </a:r>
                      <a:r>
                        <a:rPr sz="700" b="0" i="0">
                          <a:solidFill>
                            <a:srgbClr val="000000"/>
                          </a:solidFill>
                          <a:latin typeface="Times New Roman"/>
                        </a:rPr>
                        <a:t> </a:t>
                      </a:r>
                      <a:r>
                        <a:rPr sz="1100" b="0" i="0">
                          <a:solidFill>
                            <a:srgbClr val="000000"/>
                          </a:solidFill>
                          <a:latin typeface="Calibri"/>
                        </a:rPr>
                        <a:t>By End-use Application</a:t>
                      </a:r>
                      <a:endParaRPr sz="1100"/>
                    </a:p>
                  </a:txBody>
                  <a:tcPr marL="771525" marR="9525" marT="9525" marB="0" anchor="ctr"/>
                </a:tc>
              </a:tr>
              <a:tr h="175260">
                <a:tc>
                  <a:txBody>
                    <a:bodyPr wrap="square"/>
                    <a:lstStyle/>
                    <a:p>
                      <a:pPr algn="l"/>
                      <a:r>
                        <a:rPr sz="1100" b="0" i="0">
                          <a:solidFill>
                            <a:srgbClr val="000000"/>
                          </a:solidFill>
                          <a:latin typeface="Calibri"/>
                        </a:rPr>
                        <a:t>15.4.4.</a:t>
                      </a:r>
                      <a:r>
                        <a:rPr sz="700" b="0" i="0">
                          <a:solidFill>
                            <a:srgbClr val="000000"/>
                          </a:solidFill>
                          <a:latin typeface="Times New Roman"/>
                        </a:rPr>
                        <a:t> </a:t>
                      </a:r>
                      <a:r>
                        <a:rPr sz="1100" b="0" i="0">
                          <a:solidFill>
                            <a:srgbClr val="000000"/>
                          </a:solidFill>
                          <a:latin typeface="Calibri"/>
                        </a:rPr>
                        <a:t>By Packaging Format</a:t>
                      </a:r>
                      <a:endParaRPr sz="1100"/>
                    </a:p>
                  </a:txBody>
                  <a:tcPr marL="771525" marR="9525" marT="9525" marB="0" anchor="ctr"/>
                </a:tc>
              </a:tr>
              <a:tr h="175260">
                <a:tc>
                  <a:txBody>
                    <a:bodyPr wrap="square"/>
                    <a:lstStyle/>
                    <a:p>
                      <a:pPr algn="l"/>
                      <a:r>
                        <a:rPr sz="1100" b="0" i="0">
                          <a:solidFill>
                            <a:srgbClr val="000000"/>
                          </a:solidFill>
                          <a:latin typeface="Calibri"/>
                        </a:rPr>
                        <a:t>15.4.5.</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tr>
              <a:tr h="175260">
                <a:tc>
                  <a:txBody>
                    <a:bodyPr wrap="square"/>
                    <a:lstStyle/>
                    <a:p>
                      <a:pPr algn="l"/>
                      <a:r>
                        <a:rPr sz="1100" b="0" i="0">
                          <a:solidFill>
                            <a:srgbClr val="000000"/>
                          </a:solidFill>
                          <a:latin typeface="Calibri"/>
                        </a:rPr>
                        <a:t>15.4.6.</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Section 3: Pricing Assessment</a:t>
                      </a:r>
                      <a:endParaRPr sz="1100"/>
                    </a:p>
                  </a:txBody>
                  <a:tcPr marL="9525" marR="9525" marT="9525" marB="0" anchor="ctr"/>
                </a:tc>
              </a:tr>
              <a:tr h="175260">
                <a:tc>
                  <a:txBody>
                    <a:bodyPr wrap="square"/>
                    <a:lstStyle/>
                    <a:p>
                      <a:pPr algn="l"/>
                      <a:r>
                        <a:rPr sz="1100" b="1" i="0">
                          <a:solidFill>
                            <a:srgbClr val="000000"/>
                          </a:solidFill>
                          <a:latin typeface="Calibri"/>
                        </a:rPr>
                        <a:t>16.</a:t>
                      </a:r>
                      <a:r>
                        <a:rPr sz="700" b="1" i="0">
                          <a:solidFill>
                            <a:srgbClr val="000000"/>
                          </a:solidFill>
                          <a:latin typeface="Times New Roman"/>
                        </a:rPr>
                        <a:t>    </a:t>
                      </a:r>
                      <a:r>
                        <a:rPr sz="1100" b="1" i="0">
                          <a:solidFill>
                            <a:srgbClr val="000000"/>
                          </a:solidFill>
                          <a:latin typeface="Calibri"/>
                        </a:rPr>
                        <a:t>Global Pricing Analysis</a:t>
                      </a:r>
                      <a:endParaRPr sz="1100"/>
                    </a:p>
                  </a:txBody>
                  <a:tcPr marL="171450" marR="9525" marT="9525" marB="0" anchor="ctr"/>
                </a:tc>
              </a:tr>
              <a:tr h="175260">
                <a:tc>
                  <a:txBody>
                    <a:bodyPr wrap="square"/>
                    <a:lstStyle/>
                    <a:p>
                      <a:pPr algn="l"/>
                      <a:r>
                        <a:rPr sz="1100" b="0" i="0">
                          <a:solidFill>
                            <a:srgbClr val="0070C0"/>
                          </a:solidFill>
                          <a:latin typeface="Calibri"/>
                        </a:rPr>
                        <a:t>16.1.</a:t>
                      </a:r>
                      <a:r>
                        <a:rPr sz="700" b="0" i="0">
                          <a:solidFill>
                            <a:srgbClr val="0070C0"/>
                          </a:solidFill>
                          <a:latin typeface="Times New Roman"/>
                        </a:rPr>
                        <a:t>  </a:t>
                      </a:r>
                      <a:r>
                        <a:rPr sz="1100" b="0" i="0">
                          <a:solidFill>
                            <a:srgbClr val="0070C0"/>
                          </a:solidFill>
                          <a:latin typeface="Calibri"/>
                        </a:rPr>
                        <a:t>Regional Price Assessment</a:t>
                      </a:r>
                      <a:endParaRPr sz="1100"/>
                    </a:p>
                  </a:txBody>
                  <a:tcPr marL="428625" marR="9525" marT="9525" marB="0" anchor="ctr"/>
                </a:tc>
              </a:tr>
              <a:tr h="175260">
                <a:tc>
                  <a:txBody>
                    <a:bodyPr wrap="square"/>
                    <a:lstStyle/>
                    <a:p>
                      <a:pPr algn="l"/>
                      <a:r>
                        <a:rPr sz="1100" b="0" i="0">
                          <a:solidFill>
                            <a:srgbClr val="000000"/>
                          </a:solidFill>
                          <a:latin typeface="Calibri"/>
                        </a:rPr>
                        <a:t>16.1.1.</a:t>
                      </a:r>
                      <a:r>
                        <a:rPr sz="700" b="0" i="0">
                          <a:solidFill>
                            <a:srgbClr val="000000"/>
                          </a:solidFill>
                          <a:latin typeface="Times New Roman"/>
                        </a:rPr>
                        <a:t> </a:t>
                      </a:r>
                      <a:r>
                        <a:rPr sz="1100" b="0" i="0">
                          <a:solidFill>
                            <a:srgbClr val="000000"/>
                          </a:solidFill>
                          <a:latin typeface="Calibri"/>
                        </a:rPr>
                        <a:t>Manufacturer Level Pricing</a:t>
                      </a:r>
                      <a:endParaRPr sz="1100"/>
                    </a:p>
                  </a:txBody>
                  <a:tcPr marL="771525" marR="9525" marT="9525" marB="0" anchor="ctr"/>
                </a:tc>
              </a:tr>
              <a:tr h="175260">
                <a:tc>
                  <a:txBody>
                    <a:bodyPr wrap="square"/>
                    <a:lstStyle/>
                    <a:p>
                      <a:pPr algn="l"/>
                      <a:r>
                        <a:rPr sz="1100" b="0" i="0">
                          <a:solidFill>
                            <a:srgbClr val="000000"/>
                          </a:solidFill>
                          <a:latin typeface="Calibri"/>
                        </a:rPr>
                        <a:t>16.1.2.</a:t>
                      </a:r>
                      <a:r>
                        <a:rPr sz="700" b="0" i="0">
                          <a:solidFill>
                            <a:srgbClr val="000000"/>
                          </a:solidFill>
                          <a:latin typeface="Times New Roman"/>
                        </a:rPr>
                        <a:t> </a:t>
                      </a:r>
                      <a:r>
                        <a:rPr sz="1100" b="0" i="0">
                          <a:solidFill>
                            <a:srgbClr val="000000"/>
                          </a:solidFill>
                          <a:latin typeface="Calibri"/>
                        </a:rPr>
                        <a:t>Distributor Level Pricing</a:t>
                      </a:r>
                      <a:endParaRPr sz="1100"/>
                    </a:p>
                  </a:txBody>
                  <a:tcPr marL="771525" marR="9525" marT="9525" marB="0" anchor="ctr"/>
                </a:tc>
              </a:tr>
              <a:tr h="175260">
                <a:tc>
                  <a:txBody>
                    <a:bodyPr wrap="square"/>
                    <a:lstStyle/>
                    <a:p>
                      <a:pPr algn="l"/>
                      <a:r>
                        <a:rPr sz="1100" b="0" i="0">
                          <a:solidFill>
                            <a:srgbClr val="000000"/>
                          </a:solidFill>
                          <a:latin typeface="Calibri"/>
                        </a:rPr>
                        <a:t>16.1.3.</a:t>
                      </a:r>
                      <a:r>
                        <a:rPr sz="700" b="0" i="0">
                          <a:solidFill>
                            <a:srgbClr val="000000"/>
                          </a:solidFill>
                          <a:latin typeface="Times New Roman"/>
                        </a:rPr>
                        <a:t> </a:t>
                      </a:r>
                      <a:r>
                        <a:rPr sz="1100" b="0" i="0">
                          <a:solidFill>
                            <a:srgbClr val="000000"/>
                          </a:solidFill>
                          <a:latin typeface="Calibri"/>
                        </a:rPr>
                        <a:t>Retail Pricing (where applicable)</a:t>
                      </a:r>
                      <a:endParaRPr sz="1100"/>
                    </a:p>
                  </a:txBody>
                  <a:tcPr marL="771525" marR="9525" marT="9525" marB="0" anchor="ctr"/>
                </a:tc>
              </a:tr>
              <a:tr h="175260">
                <a:tc>
                  <a:txBody>
                    <a:bodyPr wrap="square"/>
                    <a:lstStyle/>
                    <a:p>
                      <a:pPr algn="l"/>
                      <a:r>
                        <a:rPr sz="1100" b="0" i="0">
                          <a:solidFill>
                            <a:srgbClr val="0070C0"/>
                          </a:solidFill>
                          <a:latin typeface="Calibri"/>
                        </a:rPr>
                        <a:t>16.2.</a:t>
                      </a:r>
                      <a:r>
                        <a:rPr sz="700" b="0" i="0">
                          <a:solidFill>
                            <a:srgbClr val="0070C0"/>
                          </a:solidFill>
                          <a:latin typeface="Times New Roman"/>
                        </a:rPr>
                        <a:t>  </a:t>
                      </a:r>
                      <a:r>
                        <a:rPr sz="1100" b="0" i="0">
                          <a:solidFill>
                            <a:srgbClr val="0070C0"/>
                          </a:solidFill>
                          <a:latin typeface="Calibri"/>
                        </a:rPr>
                        <a:t>Segment-wise Price Comparison (Form Type vs Active Ingredient)</a:t>
                      </a:r>
                      <a:endParaRPr sz="1100"/>
                    </a:p>
                  </a:txBody>
                  <a:tcPr marL="428625" marR="9525" marT="9525" marB="0" anchor="ctr"/>
                </a:tc>
              </a:tr>
              <a:tr h="175260">
                <a:tc>
                  <a:txBody>
                    <a:bodyPr wrap="square"/>
                    <a:lstStyle/>
                    <a:p>
                      <a:pPr algn="l"/>
                      <a:r>
                        <a:rPr sz="1100" b="0" i="0">
                          <a:solidFill>
                            <a:srgbClr val="0070C0"/>
                          </a:solidFill>
                          <a:latin typeface="Calibri"/>
                        </a:rPr>
                        <a:t>16.3.</a:t>
                      </a:r>
                      <a:r>
                        <a:rPr sz="700" b="0" i="0">
                          <a:solidFill>
                            <a:srgbClr val="0070C0"/>
                          </a:solidFill>
                          <a:latin typeface="Times New Roman"/>
                        </a:rPr>
                        <a:t>  </a:t>
                      </a:r>
                      <a:r>
                        <a:rPr sz="1100" b="0" i="0">
                          <a:solidFill>
                            <a:srgbClr val="0070C0"/>
                          </a:solidFill>
                          <a:latin typeface="Calibri"/>
                        </a:rPr>
                        <a:t>Country-wise Price Comparison (Functionality)</a:t>
                      </a:r>
                      <a:endParaRPr sz="1100"/>
                    </a:p>
                  </a:txBody>
                  <a:tcPr marL="428625" marR="9525" marT="9525" marB="0" anchor="ctr"/>
                </a:tc>
              </a:tr>
              <a:tr h="175260">
                <a:tc>
                  <a:txBody>
                    <a:bodyPr wrap="square"/>
                    <a:lstStyle/>
                    <a:p>
                      <a:pPr algn="l"/>
                      <a:r>
                        <a:rPr sz="1100" b="0" i="0">
                          <a:solidFill>
                            <a:srgbClr val="0070C0"/>
                          </a:solidFill>
                          <a:latin typeface="Calibri"/>
                        </a:rPr>
                        <a:t>16.4.</a:t>
                      </a:r>
                      <a:r>
                        <a:rPr sz="700" b="0" i="0">
                          <a:solidFill>
                            <a:srgbClr val="0070C0"/>
                          </a:solidFill>
                          <a:latin typeface="Times New Roman"/>
                        </a:rPr>
                        <a:t>  </a:t>
                      </a:r>
                      <a:r>
                        <a:rPr sz="1100" b="0" i="0">
                          <a:solidFill>
                            <a:srgbClr val="0070C0"/>
                          </a:solidFill>
                          <a:latin typeface="Calibri"/>
                        </a:rPr>
                        <a:t>Price Forecast till 2036</a:t>
                      </a:r>
                      <a:endParaRPr sz="1100"/>
                    </a:p>
                  </a:txBody>
                  <a:tcPr marL="428625" marR="9525" marT="9525" marB="0" anchor="ctr"/>
                </a:tc>
              </a:tr>
              <a:tr h="175260">
                <a:tc>
                  <a:txBody>
                    <a:bodyPr wrap="square"/>
                    <a:lstStyle/>
                    <a:p>
                      <a:pPr algn="l"/>
                      <a:r>
                        <a:rPr sz="1100" b="0" i="0">
                          <a:solidFill>
                            <a:srgbClr val="0070C0"/>
                          </a:solidFill>
                          <a:latin typeface="Calibri"/>
                        </a:rPr>
                        <a:t>16.5.</a:t>
                      </a:r>
                      <a:r>
                        <a:rPr sz="700" b="0" i="0">
                          <a:solidFill>
                            <a:srgbClr val="0070C0"/>
                          </a:solidFill>
                          <a:latin typeface="Times New Roman"/>
                        </a:rPr>
                        <a:t>  </a:t>
                      </a:r>
                      <a:r>
                        <a:rPr sz="1100" b="0" i="0">
                          <a:solidFill>
                            <a:srgbClr val="0070C0"/>
                          </a:solidFill>
                          <a:latin typeface="Calibri"/>
                        </a:rPr>
                        <a:t>Factors Impacting Pricing</a:t>
                      </a:r>
                      <a:endParaRPr sz="1100"/>
                    </a:p>
                  </a:txBody>
                  <a:tcPr marL="428625" marR="9525" marT="9525" marB="0" anchor="ctr"/>
                </a:tc>
              </a:tr>
              <a:tr h="175260">
                <a:tc>
                  <a:txBody>
                    <a:bodyPr wrap="square"/>
                    <a:lstStyle/>
                    <a:p>
                      <a:pPr algn="l"/>
                      <a:r>
                        <a:rPr sz="1100" b="0" i="0">
                          <a:solidFill>
                            <a:srgbClr val="0070C0"/>
                          </a:solidFill>
                          <a:latin typeface="Calibri"/>
                        </a:rPr>
                        <a:t>16.6.</a:t>
                      </a:r>
                      <a:r>
                        <a:rPr sz="700" b="0" i="0">
                          <a:solidFill>
                            <a:srgbClr val="0070C0"/>
                          </a:solidFill>
                          <a:latin typeface="Times New Roman"/>
                        </a:rPr>
                        <a:t>  </a:t>
                      </a:r>
                      <a:r>
                        <a:rPr sz="1100" b="0" i="0">
                          <a:solidFill>
                            <a:srgbClr val="0070C0"/>
                          </a:solidFill>
                          <a:latin typeface="Calibri"/>
                        </a:rPr>
                        <a:t>Competitor Pricing Strategies</a:t>
                      </a:r>
                      <a:endParaRPr sz="1100"/>
                    </a:p>
                  </a:txBody>
                  <a:tcPr marL="428625" marR="9525" marT="9525" marB="0" anchor="ctr"/>
                </a:tc>
              </a:tr>
              <a:tr h="175260">
                <a:tc>
                  <a:txBody>
                    <a:bodyPr wrap="square"/>
                    <a:lstStyle/>
                    <a:p>
                      <a:pPr algn="l"/>
                      <a:r>
                        <a:rPr sz="1100" b="1" i="0">
                          <a:solidFill>
                            <a:srgbClr val="000000"/>
                          </a:solidFill>
                          <a:latin typeface="Calibri"/>
                        </a:rPr>
                        <a:t>Section 4: Market Dynamics</a:t>
                      </a:r>
                      <a:endParaRPr sz="1100"/>
                    </a:p>
                  </a:txBody>
                  <a:tcPr marL="9525" marR="9525" marT="9525" marB="0" anchor="ctr"/>
                </a:tc>
              </a:tr>
              <a:tr h="175260">
                <a:tc>
                  <a:txBody>
                    <a:bodyPr wrap="square"/>
                    <a:lstStyle/>
                    <a:p>
                      <a:pPr algn="l"/>
                      <a:r>
                        <a:rPr sz="1100" b="1" i="0">
                          <a:solidFill>
                            <a:srgbClr val="000000"/>
                          </a:solidFill>
                          <a:latin typeface="Calibri"/>
                        </a:rPr>
                        <a:t>17.</a:t>
                      </a:r>
                      <a:r>
                        <a:rPr sz="700" b="1" i="0">
                          <a:solidFill>
                            <a:srgbClr val="000000"/>
                          </a:solidFill>
                          <a:latin typeface="Times New Roman"/>
                        </a:rPr>
                        <a:t>    </a:t>
                      </a:r>
                      <a:r>
                        <a:rPr sz="1100" b="1" i="0">
                          <a:solidFill>
                            <a:srgbClr val="000000"/>
                          </a:solidFill>
                          <a:latin typeface="Calibri"/>
                        </a:rPr>
                        <a:t>Innovation Tracker</a:t>
                      </a:r>
                      <a:endParaRPr sz="1100"/>
                    </a:p>
                  </a:txBody>
                  <a:tcPr marL="171450" marR="9525" marT="9525" marB="0" anchor="ctr"/>
                </a:tc>
              </a:tr>
              <a:tr h="175260">
                <a:tc>
                  <a:txBody>
                    <a:bodyPr wrap="square"/>
                    <a:lstStyle/>
                    <a:p>
                      <a:pPr algn="l"/>
                      <a:r>
                        <a:rPr sz="1100" b="0" i="0">
                          <a:solidFill>
                            <a:srgbClr val="0070C0"/>
                          </a:solidFill>
                          <a:latin typeface="Calibri"/>
                        </a:rPr>
                        <a:t>17.1.</a:t>
                      </a:r>
                      <a:r>
                        <a:rPr sz="700" b="0" i="0">
                          <a:solidFill>
                            <a:srgbClr val="0070C0"/>
                          </a:solidFill>
                          <a:latin typeface="Times New Roman"/>
                        </a:rPr>
                        <a:t>  </a:t>
                      </a:r>
                      <a:r>
                        <a:rPr sz="1100" b="0" i="0">
                          <a:solidFill>
                            <a:srgbClr val="0070C0"/>
                          </a:solidFill>
                          <a:latin typeface="Calibri"/>
                        </a:rPr>
                        <a:t>Major Deals and Strategic Alliance</a:t>
                      </a:r>
                      <a:endParaRPr sz="1100"/>
                    </a:p>
                  </a:txBody>
                  <a:tcPr marL="4286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(5/8)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17.1.1.</a:t>
                      </a:r>
                      <a:r>
                        <a:rPr sz="700" b="0" i="0">
                          <a:solidFill>
                            <a:srgbClr val="000000"/>
                          </a:solidFill>
                          <a:latin typeface="Times New Roman"/>
                        </a:rPr>
                        <a:t> </a:t>
                      </a:r>
                      <a:r>
                        <a:rPr sz="1100" b="0" i="0">
                          <a:solidFill>
                            <a:srgbClr val="000000"/>
                          </a:solidFill>
                          <a:latin typeface="Calibri"/>
                        </a:rPr>
                        <a:t>Joint Ventures, M&amp;A, Licensing &amp; Partnerships</a:t>
                      </a:r>
                      <a:endParaRPr sz="1100"/>
                    </a:p>
                  </a:txBody>
                  <a:tcPr marL="771525" marR="9525" marT="9525" marB="0" anchor="ctr"/>
                </a:tc>
              </a:tr>
              <a:tr h="175260">
                <a:tc>
                  <a:txBody>
                    <a:bodyPr wrap="square"/>
                    <a:lstStyle/>
                    <a:p>
                      <a:pPr algn="l"/>
                      <a:r>
                        <a:rPr sz="1100" b="0" i="0">
                          <a:solidFill>
                            <a:srgbClr val="000000"/>
                          </a:solidFill>
                          <a:latin typeface="Calibri"/>
                        </a:rPr>
                        <a:t>17.1.2.</a:t>
                      </a:r>
                      <a:r>
                        <a:rPr sz="700" b="0" i="0">
                          <a:solidFill>
                            <a:srgbClr val="000000"/>
                          </a:solidFill>
                          <a:latin typeface="Times New Roman"/>
                        </a:rPr>
                        <a:t> </a:t>
                      </a:r>
                      <a:r>
                        <a:rPr sz="1100" b="0" i="0">
                          <a:solidFill>
                            <a:srgbClr val="000000"/>
                          </a:solidFill>
                          <a:latin typeface="Calibri"/>
                        </a:rPr>
                        <a:t>Technology Collaboration</a:t>
                      </a:r>
                      <a:endParaRPr sz="1100"/>
                    </a:p>
                  </a:txBody>
                  <a:tcPr marL="771525" marR="9525" marT="9525" marB="0" anchor="ctr"/>
                </a:tc>
              </a:tr>
              <a:tr h="175260">
                <a:tc>
                  <a:txBody>
                    <a:bodyPr wrap="square"/>
                    <a:lstStyle/>
                    <a:p>
                      <a:pPr algn="l"/>
                      <a:r>
                        <a:rPr sz="1100" b="0" i="0">
                          <a:solidFill>
                            <a:srgbClr val="000000"/>
                          </a:solidFill>
                          <a:latin typeface="Calibri"/>
                        </a:rPr>
                        <a:t>17.1.3.</a:t>
                      </a:r>
                      <a:r>
                        <a:rPr sz="700" b="0" i="0">
                          <a:solidFill>
                            <a:srgbClr val="000000"/>
                          </a:solidFill>
                          <a:latin typeface="Times New Roman"/>
                        </a:rPr>
                        <a:t> </a:t>
                      </a:r>
                      <a:r>
                        <a:rPr sz="1100" b="0" i="0">
                          <a:solidFill>
                            <a:srgbClr val="000000"/>
                          </a:solidFill>
                          <a:latin typeface="Calibri"/>
                        </a:rPr>
                        <a:t>Strategic Divestments/ Investments</a:t>
                      </a:r>
                      <a:endParaRPr sz="1100"/>
                    </a:p>
                  </a:txBody>
                  <a:tcPr marL="771525" marR="9525" marT="9525" marB="0" anchor="ctr"/>
                </a:tc>
              </a:tr>
              <a:tr h="175260">
                <a:tc>
                  <a:txBody>
                    <a:bodyPr wrap="square"/>
                    <a:lstStyle/>
                    <a:p>
                      <a:pPr algn="l"/>
                      <a:r>
                        <a:rPr sz="1100" b="0" i="0">
                          <a:solidFill>
                            <a:srgbClr val="0070C0"/>
                          </a:solidFill>
                          <a:latin typeface="Calibri"/>
                        </a:rPr>
                        <a:t>17.2.</a:t>
                      </a:r>
                      <a:r>
                        <a:rPr sz="700" b="0" i="0">
                          <a:solidFill>
                            <a:srgbClr val="0070C0"/>
                          </a:solidFill>
                          <a:latin typeface="Times New Roman"/>
                        </a:rPr>
                        <a:t>  </a:t>
                      </a:r>
                      <a:r>
                        <a:rPr sz="1100" b="0" i="0">
                          <a:solidFill>
                            <a:srgbClr val="0070C0"/>
                          </a:solidFill>
                          <a:latin typeface="Calibri"/>
                        </a:rPr>
                        <a:t>Product Launches &amp; Development</a:t>
                      </a:r>
                      <a:endParaRPr sz="1100"/>
                    </a:p>
                  </a:txBody>
                  <a:tcPr marL="428625" marR="9525" marT="9525" marB="0" anchor="ctr"/>
                </a:tc>
              </a:tr>
              <a:tr h="175260">
                <a:tc>
                  <a:txBody>
                    <a:bodyPr wrap="square"/>
                    <a:lstStyle/>
                    <a:p>
                      <a:pPr algn="l"/>
                      <a:r>
                        <a:rPr sz="1100" b="1" i="0">
                          <a:solidFill>
                            <a:srgbClr val="000000"/>
                          </a:solidFill>
                          <a:latin typeface="Calibri"/>
                        </a:rPr>
                        <a:t>18.</a:t>
                      </a:r>
                      <a:r>
                        <a:rPr sz="700" b="1" i="0">
                          <a:solidFill>
                            <a:srgbClr val="000000"/>
                          </a:solidFill>
                          <a:latin typeface="Times New Roman"/>
                        </a:rPr>
                        <a:t>    </a:t>
                      </a:r>
                      <a:r>
                        <a:rPr sz="1100" b="1" i="0">
                          <a:solidFill>
                            <a:srgbClr val="000000"/>
                          </a:solidFill>
                          <a:latin typeface="Calibri"/>
                        </a:rPr>
                        <a:t>Stakeholder Perspectives – Manufacturer, Customer &amp; Distributor Insights</a:t>
                      </a:r>
                      <a:endParaRPr sz="1100"/>
                    </a:p>
                  </a:txBody>
                  <a:tcPr marL="171450" marR="9525" marT="9525" marB="0" anchor="ctr"/>
                </a:tc>
              </a:tr>
              <a:tr h="175260">
                <a:tc>
                  <a:txBody>
                    <a:bodyPr wrap="square"/>
                    <a:lstStyle/>
                    <a:p>
                      <a:pPr algn="l"/>
                      <a:r>
                        <a:rPr sz="1100" b="0" i="0">
                          <a:solidFill>
                            <a:srgbClr val="0070C0"/>
                          </a:solidFill>
                          <a:latin typeface="Calibri"/>
                        </a:rPr>
                        <a:t>18.1.</a:t>
                      </a:r>
                      <a:r>
                        <a:rPr sz="700" b="0" i="0">
                          <a:solidFill>
                            <a:srgbClr val="0070C0"/>
                          </a:solidFill>
                          <a:latin typeface="Times New Roman"/>
                        </a:rPr>
                        <a:t>  </a:t>
                      </a:r>
                      <a:r>
                        <a:rPr sz="1100" b="0" i="0">
                          <a:solidFill>
                            <a:srgbClr val="0070C0"/>
                          </a:solidFill>
                          <a:latin typeface="Calibri"/>
                        </a:rPr>
                        <a:t>Stakeholder Insights</a:t>
                      </a:r>
                      <a:endParaRPr sz="1100"/>
                    </a:p>
                  </a:txBody>
                  <a:tcPr marL="428625" marR="9525" marT="9525" marB="0" anchor="ctr"/>
                </a:tc>
              </a:tr>
              <a:tr h="175260">
                <a:tc>
                  <a:txBody>
                    <a:bodyPr wrap="square"/>
                    <a:lstStyle/>
                    <a:p>
                      <a:pPr algn="l"/>
                      <a:r>
                        <a:rPr sz="1100" b="0" i="0">
                          <a:solidFill>
                            <a:srgbClr val="000000"/>
                          </a:solidFill>
                          <a:latin typeface="Calibri"/>
                        </a:rPr>
                        <a:t>18.1.1.</a:t>
                      </a:r>
                      <a:r>
                        <a:rPr sz="700" b="0" i="0">
                          <a:solidFill>
                            <a:srgbClr val="000000"/>
                          </a:solidFill>
                          <a:latin typeface="Times New Roman"/>
                        </a:rPr>
                        <a:t> </a:t>
                      </a:r>
                      <a:r>
                        <a:rPr sz="1100" b="0" i="0">
                          <a:solidFill>
                            <a:srgbClr val="000000"/>
                          </a:solidFill>
                          <a:latin typeface="Calibri"/>
                        </a:rPr>
                        <a:t>Manufacturers</a:t>
                      </a:r>
                      <a:endParaRPr sz="1100"/>
                    </a:p>
                  </a:txBody>
                  <a:tcPr marL="771525" marR="9525" marT="9525" marB="0" anchor="ctr"/>
                </a:tc>
              </a:tr>
              <a:tr h="175260">
                <a:tc>
                  <a:txBody>
                    <a:bodyPr wrap="square"/>
                    <a:lstStyle/>
                    <a:p>
                      <a:pPr algn="l"/>
                      <a:r>
                        <a:rPr sz="1100" b="0" i="0">
                          <a:solidFill>
                            <a:srgbClr val="000000"/>
                          </a:solidFill>
                          <a:latin typeface="Calibri"/>
                        </a:rPr>
                        <a:t>18.1.2.</a:t>
                      </a:r>
                      <a:r>
                        <a:rPr sz="700" b="0" i="0">
                          <a:solidFill>
                            <a:srgbClr val="000000"/>
                          </a:solidFill>
                          <a:latin typeface="Times New Roman"/>
                        </a:rPr>
                        <a:t> </a:t>
                      </a:r>
                      <a:r>
                        <a:rPr sz="1100" b="0" i="0">
                          <a:solidFill>
                            <a:srgbClr val="000000"/>
                          </a:solidFill>
                          <a:latin typeface="Calibri"/>
                        </a:rPr>
                        <a:t>Customers</a:t>
                      </a:r>
                      <a:endParaRPr sz="1100"/>
                    </a:p>
                  </a:txBody>
                  <a:tcPr marL="771525" marR="9525" marT="9525" marB="0" anchor="ctr"/>
                </a:tc>
              </a:tr>
              <a:tr h="175260">
                <a:tc>
                  <a:txBody>
                    <a:bodyPr wrap="square"/>
                    <a:lstStyle/>
                    <a:p>
                      <a:pPr algn="l"/>
                      <a:r>
                        <a:rPr sz="1100" b="0" i="0">
                          <a:solidFill>
                            <a:srgbClr val="000000"/>
                          </a:solidFill>
                          <a:latin typeface="Calibri"/>
                        </a:rPr>
                        <a:t>18.1.3.</a:t>
                      </a:r>
                      <a:r>
                        <a:rPr sz="700" b="0" i="0">
                          <a:solidFill>
                            <a:srgbClr val="000000"/>
                          </a:solidFill>
                          <a:latin typeface="Times New Roman"/>
                        </a:rPr>
                        <a:t> </a:t>
                      </a:r>
                      <a:r>
                        <a:rPr sz="1100" b="0" i="0">
                          <a:solidFill>
                            <a:srgbClr val="000000"/>
                          </a:solidFill>
                          <a:latin typeface="Calibri"/>
                        </a:rPr>
                        <a:t>Distributors</a:t>
                      </a:r>
                      <a:endParaRPr sz="1100"/>
                    </a:p>
                  </a:txBody>
                  <a:tcPr marL="771525" marR="9525" marT="9525" marB="0" anchor="ctr"/>
                </a:tc>
              </a:tr>
              <a:tr h="175260">
                <a:tc>
                  <a:txBody>
                    <a:bodyPr wrap="square"/>
                    <a:lstStyle/>
                    <a:p>
                      <a:pPr algn="l"/>
                      <a:r>
                        <a:rPr sz="1100" b="0" i="0">
                          <a:solidFill>
                            <a:srgbClr val="0070C0"/>
                          </a:solidFill>
                          <a:latin typeface="Calibri"/>
                        </a:rPr>
                        <a:t>18.2.</a:t>
                      </a:r>
                      <a:r>
                        <a:rPr sz="700" b="0" i="0">
                          <a:solidFill>
                            <a:srgbClr val="0070C0"/>
                          </a:solidFill>
                          <a:latin typeface="Times New Roman"/>
                        </a:rPr>
                        <a:t>  </a:t>
                      </a:r>
                      <a:r>
                        <a:rPr sz="1100" b="0" i="0">
                          <a:solidFill>
                            <a:srgbClr val="0070C0"/>
                          </a:solidFill>
                          <a:latin typeface="Calibri"/>
                        </a:rPr>
                        <a:t>Country- Level Market Drivers</a:t>
                      </a:r>
                      <a:endParaRPr sz="1100"/>
                    </a:p>
                  </a:txBody>
                  <a:tcPr marL="428625" marR="9525" marT="9525" marB="0" anchor="ctr"/>
                </a:tc>
              </a:tr>
              <a:tr h="175260">
                <a:tc>
                  <a:txBody>
                    <a:bodyPr wrap="square"/>
                    <a:lstStyle/>
                    <a:p>
                      <a:pPr algn="l"/>
                      <a:r>
                        <a:rPr sz="1100" b="0" i="0">
                          <a:solidFill>
                            <a:srgbClr val="000000"/>
                          </a:solidFill>
                          <a:latin typeface="Calibri"/>
                        </a:rPr>
                        <a:t>18.2.1.</a:t>
                      </a:r>
                      <a:r>
                        <a:rPr sz="700" b="0" i="0">
                          <a:solidFill>
                            <a:srgbClr val="000000"/>
                          </a:solidFill>
                          <a:latin typeface="Times New Roman"/>
                        </a:rPr>
                        <a:t> </a:t>
                      </a:r>
                      <a:r>
                        <a:rPr sz="1100" b="0" i="0">
                          <a:solidFill>
                            <a:srgbClr val="000000"/>
                          </a:solidFill>
                          <a:latin typeface="Calibri"/>
                        </a:rPr>
                        <a:t>Supply Side Drivers</a:t>
                      </a:r>
                      <a:endParaRPr sz="1100"/>
                    </a:p>
                  </a:txBody>
                  <a:tcPr marL="771525" marR="9525" marT="9525" marB="0" anchor="ctr"/>
                </a:tc>
              </a:tr>
              <a:tr h="175260">
                <a:tc>
                  <a:txBody>
                    <a:bodyPr wrap="square"/>
                    <a:lstStyle/>
                    <a:p>
                      <a:pPr algn="l"/>
                      <a:r>
                        <a:rPr sz="1100" b="0" i="0">
                          <a:solidFill>
                            <a:srgbClr val="000000"/>
                          </a:solidFill>
                          <a:latin typeface="Calibri"/>
                        </a:rPr>
                        <a:t>18.2.2.</a:t>
                      </a:r>
                      <a:r>
                        <a:rPr sz="700" b="0" i="0">
                          <a:solidFill>
                            <a:srgbClr val="000000"/>
                          </a:solidFill>
                          <a:latin typeface="Times New Roman"/>
                        </a:rPr>
                        <a:t> </a:t>
                      </a:r>
                      <a:r>
                        <a:rPr sz="1100" b="0" i="0">
                          <a:solidFill>
                            <a:srgbClr val="000000"/>
                          </a:solidFill>
                          <a:latin typeface="Calibri"/>
                        </a:rPr>
                        <a:t>Demand Side drivers</a:t>
                      </a:r>
                      <a:endParaRPr sz="1100"/>
                    </a:p>
                  </a:txBody>
                  <a:tcPr marL="771525" marR="9525" marT="9525" marB="0" anchor="ctr"/>
                </a:tc>
              </a:tr>
              <a:tr h="175260">
                <a:tc>
                  <a:txBody>
                    <a:bodyPr wrap="square"/>
                    <a:lstStyle/>
                    <a:p>
                      <a:pPr algn="l"/>
                      <a:r>
                        <a:rPr sz="1100" b="0" i="0">
                          <a:solidFill>
                            <a:srgbClr val="000000"/>
                          </a:solidFill>
                          <a:latin typeface="Calibri"/>
                        </a:rPr>
                        <a:t>18.2.3.</a:t>
                      </a:r>
                      <a:r>
                        <a:rPr sz="700" b="0" i="0">
                          <a:solidFill>
                            <a:srgbClr val="000000"/>
                          </a:solidFill>
                          <a:latin typeface="Times New Roman"/>
                        </a:rPr>
                        <a:t> </a:t>
                      </a:r>
                      <a:r>
                        <a:rPr sz="1100" b="0" i="0">
                          <a:solidFill>
                            <a:srgbClr val="000000"/>
                          </a:solidFill>
                          <a:latin typeface="Calibri"/>
                        </a:rPr>
                        <a:t>Economic Side Drivers</a:t>
                      </a:r>
                      <a:endParaRPr sz="1100"/>
                    </a:p>
                  </a:txBody>
                  <a:tcPr marL="771525" marR="9525" marT="9525" marB="0" anchor="ctr"/>
                </a:tc>
              </a:tr>
              <a:tr h="175260">
                <a:tc>
                  <a:txBody>
                    <a:bodyPr wrap="square"/>
                    <a:lstStyle/>
                    <a:p>
                      <a:pPr algn="l"/>
                      <a:r>
                        <a:rPr sz="1100" b="0" i="0">
                          <a:solidFill>
                            <a:srgbClr val="0070C0"/>
                          </a:solidFill>
                          <a:latin typeface="Calibri"/>
                        </a:rPr>
                        <a:t>18.3.</a:t>
                      </a:r>
                      <a:r>
                        <a:rPr sz="700" b="0" i="0">
                          <a:solidFill>
                            <a:srgbClr val="0070C0"/>
                          </a:solidFill>
                          <a:latin typeface="Times New Roman"/>
                        </a:rPr>
                        <a:t>  </a:t>
                      </a:r>
                      <a:r>
                        <a:rPr sz="1100" b="0" i="0">
                          <a:solidFill>
                            <a:srgbClr val="0070C0"/>
                          </a:solidFill>
                          <a:latin typeface="Calibri"/>
                        </a:rPr>
                        <a:t>Country Level Restraints</a:t>
                      </a:r>
                      <a:endParaRPr sz="1100"/>
                    </a:p>
                  </a:txBody>
                  <a:tcPr marL="428625" marR="9525" marT="9525" marB="0" anchor="ctr"/>
                </a:tc>
              </a:tr>
              <a:tr h="175260">
                <a:tc>
                  <a:txBody>
                    <a:bodyPr wrap="square"/>
                    <a:lstStyle/>
                    <a:p>
                      <a:pPr algn="l"/>
                      <a:r>
                        <a:rPr sz="1100" b="0" i="0">
                          <a:solidFill>
                            <a:srgbClr val="0070C0"/>
                          </a:solidFill>
                          <a:latin typeface="Calibri"/>
                        </a:rPr>
                        <a:t>18.4.</a:t>
                      </a:r>
                      <a:r>
                        <a:rPr sz="700" b="0" i="0">
                          <a:solidFill>
                            <a:srgbClr val="0070C0"/>
                          </a:solidFill>
                          <a:latin typeface="Times New Roman"/>
                        </a:rPr>
                        <a:t>  </a:t>
                      </a:r>
                      <a:r>
                        <a:rPr sz="1100" b="0" i="0">
                          <a:solidFill>
                            <a:srgbClr val="0070C0"/>
                          </a:solidFill>
                          <a:latin typeface="Calibri"/>
                        </a:rPr>
                        <a:t>Country Level Opportunity</a:t>
                      </a:r>
                      <a:endParaRPr sz="1100"/>
                    </a:p>
                  </a:txBody>
                  <a:tcPr marL="428625" marR="9525" marT="9525" marB="0" anchor="ctr"/>
                </a:tc>
              </a:tr>
              <a:tr h="175260">
                <a:tc>
                  <a:txBody>
                    <a:bodyPr wrap="square"/>
                    <a:lstStyle/>
                    <a:p>
                      <a:pPr algn="l"/>
                      <a:r>
                        <a:rPr sz="1100" b="0" i="0">
                          <a:solidFill>
                            <a:srgbClr val="0070C0"/>
                          </a:solidFill>
                          <a:latin typeface="Calibri"/>
                        </a:rPr>
                        <a:t>18.5.</a:t>
                      </a:r>
                      <a:r>
                        <a:rPr sz="700" b="0" i="0">
                          <a:solidFill>
                            <a:srgbClr val="0070C0"/>
                          </a:solidFill>
                          <a:latin typeface="Times New Roman"/>
                        </a:rPr>
                        <a:t>  </a:t>
                      </a:r>
                      <a:r>
                        <a:rPr sz="1100" b="0" i="0">
                          <a:solidFill>
                            <a:srgbClr val="0070C0"/>
                          </a:solidFill>
                          <a:latin typeface="Calibri"/>
                        </a:rPr>
                        <a:t>Country Level Market Trends</a:t>
                      </a:r>
                      <a:endParaRPr sz="1100"/>
                    </a:p>
                  </a:txBody>
                  <a:tcPr marL="428625" marR="9525" marT="9525" marB="0" anchor="ctr"/>
                </a:tc>
              </a:tr>
              <a:tr h="175260">
                <a:tc>
                  <a:txBody>
                    <a:bodyPr wrap="square"/>
                    <a:lstStyle/>
                    <a:p>
                      <a:pPr algn="l"/>
                      <a:r>
                        <a:rPr sz="1100" b="0" i="0">
                          <a:solidFill>
                            <a:srgbClr val="0070C0"/>
                          </a:solidFill>
                          <a:latin typeface="Calibri"/>
                        </a:rPr>
                        <a:t>18.6.</a:t>
                      </a:r>
                      <a:r>
                        <a:rPr sz="700" b="0" i="0">
                          <a:solidFill>
                            <a:srgbClr val="0070C0"/>
                          </a:solidFill>
                          <a:latin typeface="Times New Roman"/>
                        </a:rPr>
                        <a:t>  </a:t>
                      </a:r>
                      <a:r>
                        <a:rPr sz="1100" b="0" i="0">
                          <a:solidFill>
                            <a:srgbClr val="0070C0"/>
                          </a:solidFill>
                          <a:latin typeface="Calibri"/>
                        </a:rPr>
                        <a:t>Forecast Factors – Top 20 Drivers by Relevance &amp; Impact</a:t>
                      </a:r>
                      <a:endParaRPr sz="1100"/>
                    </a:p>
                  </a:txBody>
                  <a:tcPr marL="428625" marR="9525" marT="9525" marB="0" anchor="ctr"/>
                </a:tc>
              </a:tr>
              <a:tr h="175260">
                <a:tc>
                  <a:txBody>
                    <a:bodyPr wrap="square"/>
                    <a:lstStyle/>
                    <a:p>
                      <a:pPr algn="l"/>
                      <a:r>
                        <a:rPr sz="1100" b="0" i="0">
                          <a:solidFill>
                            <a:srgbClr val="0070C0"/>
                          </a:solidFill>
                          <a:latin typeface="Calibri"/>
                        </a:rPr>
                        <a:t>18.7.</a:t>
                      </a:r>
                      <a:r>
                        <a:rPr sz="700" b="0" i="0">
                          <a:solidFill>
                            <a:srgbClr val="0070C0"/>
                          </a:solidFill>
                          <a:latin typeface="Times New Roman"/>
                        </a:rPr>
                        <a:t>  </a:t>
                      </a:r>
                      <a:r>
                        <a:rPr sz="1100" b="0" i="0">
                          <a:solidFill>
                            <a:srgbClr val="0070C0"/>
                          </a:solidFill>
                          <a:latin typeface="Calibri"/>
                        </a:rPr>
                        <a:t>PESTEL Analysis</a:t>
                      </a:r>
                      <a:endParaRPr sz="1100"/>
                    </a:p>
                  </a:txBody>
                  <a:tcPr marL="428625" marR="9525" marT="9525" marB="0" anchor="ctr"/>
                </a:tc>
              </a:tr>
              <a:tr h="175260">
                <a:tc>
                  <a:txBody>
                    <a:bodyPr wrap="square"/>
                    <a:lstStyle/>
                    <a:p>
                      <a:pPr algn="l"/>
                      <a:r>
                        <a:rPr sz="1100" b="0" i="0">
                          <a:solidFill>
                            <a:srgbClr val="0070C0"/>
                          </a:solidFill>
                          <a:latin typeface="Calibri"/>
                        </a:rPr>
                        <a:t>18.8.</a:t>
                      </a:r>
                      <a:r>
                        <a:rPr sz="700" b="0" i="0">
                          <a:solidFill>
                            <a:srgbClr val="0070C0"/>
                          </a:solidFill>
                          <a:latin typeface="Times New Roman"/>
                        </a:rPr>
                        <a:t>  </a:t>
                      </a:r>
                      <a:r>
                        <a:rPr sz="1100" b="0" i="0">
                          <a:solidFill>
                            <a:srgbClr val="0070C0"/>
                          </a:solidFill>
                          <a:latin typeface="Calibri"/>
                        </a:rPr>
                        <a:t>Porter’s Analysis</a:t>
                      </a:r>
                      <a:endParaRPr sz="1100"/>
                    </a:p>
                  </a:txBody>
                  <a:tcPr marL="428625" marR="9525" marT="9525" marB="0" anchor="ctr"/>
                </a:tc>
              </a:tr>
              <a:tr h="175260">
                <a:tc>
                  <a:txBody>
                    <a:bodyPr wrap="square"/>
                    <a:lstStyle/>
                    <a:p>
                      <a:pPr algn="l"/>
                      <a:r>
                        <a:rPr sz="1100" b="1" i="0">
                          <a:solidFill>
                            <a:srgbClr val="000000"/>
                          </a:solidFill>
                          <a:latin typeface="Calibri"/>
                        </a:rPr>
                        <a:t>19.</a:t>
                      </a:r>
                      <a:r>
                        <a:rPr sz="700" b="1" i="0">
                          <a:solidFill>
                            <a:srgbClr val="000000"/>
                          </a:solidFill>
                          <a:latin typeface="Times New Roman"/>
                        </a:rPr>
                        <a:t>    </a:t>
                      </a:r>
                      <a:r>
                        <a:rPr sz="1100" b="1" i="0">
                          <a:solidFill>
                            <a:srgbClr val="000000"/>
                          </a:solidFill>
                          <a:latin typeface="Calibri"/>
                        </a:rPr>
                        <a:t>Regulations</a:t>
                      </a:r>
                      <a:endParaRPr sz="1100"/>
                    </a:p>
                  </a:txBody>
                  <a:tcPr marL="171450" marR="9525" marT="9525" marB="0" anchor="ctr"/>
                </a:tc>
              </a:tr>
              <a:tr h="175260">
                <a:tc>
                  <a:txBody>
                    <a:bodyPr wrap="square"/>
                    <a:lstStyle/>
                    <a:p>
                      <a:pPr algn="l"/>
                      <a:r>
                        <a:rPr sz="1100" b="0" i="0">
                          <a:solidFill>
                            <a:srgbClr val="0070C0"/>
                          </a:solidFill>
                          <a:latin typeface="Calibri"/>
                        </a:rPr>
                        <a:t>19.1.</a:t>
                      </a:r>
                      <a:r>
                        <a:rPr sz="700" b="0" i="0">
                          <a:solidFill>
                            <a:srgbClr val="0070C0"/>
                          </a:solidFill>
                          <a:latin typeface="Times New Roman"/>
                        </a:rPr>
                        <a:t>  </a:t>
                      </a:r>
                      <a:r>
                        <a:rPr sz="1100" b="0" i="0">
                          <a:solidFill>
                            <a:srgbClr val="0070C0"/>
                          </a:solidFill>
                          <a:latin typeface="Calibri"/>
                        </a:rPr>
                        <a:t>Certifications and Certifying Agency Overview</a:t>
                      </a:r>
                      <a:endParaRPr sz="1100"/>
                    </a:p>
                  </a:txBody>
                  <a:tcPr marL="428625" marR="9525" marT="9525" marB="0" anchor="ctr"/>
                </a:tc>
              </a:tr>
              <a:tr h="175260">
                <a:tc>
                  <a:txBody>
                    <a:bodyPr wrap="square"/>
                    <a:lstStyle/>
                    <a:p>
                      <a:pPr algn="l"/>
                      <a:r>
                        <a:rPr sz="1100" b="0" i="0">
                          <a:solidFill>
                            <a:srgbClr val="0070C0"/>
                          </a:solidFill>
                          <a:latin typeface="Calibri"/>
                        </a:rPr>
                        <a:t>19.2.</a:t>
                      </a:r>
                      <a:r>
                        <a:rPr sz="700" b="0" i="0">
                          <a:solidFill>
                            <a:srgbClr val="0070C0"/>
                          </a:solidFill>
                          <a:latin typeface="Times New Roman"/>
                        </a:rPr>
                        <a:t>  </a:t>
                      </a:r>
                      <a:r>
                        <a:rPr sz="1100" b="0" i="0">
                          <a:solidFill>
                            <a:srgbClr val="0070C0"/>
                          </a:solidFill>
                          <a:latin typeface="Calibri"/>
                        </a:rPr>
                        <a:t>Import/Export Policies</a:t>
                      </a:r>
                      <a:endParaRPr sz="1100"/>
                    </a:p>
                  </a:txBody>
                  <a:tcPr marL="428625" marR="9525" marT="9525" marB="0" anchor="ctr"/>
                </a:tc>
              </a:tr>
              <a:tr h="175260">
                <a:tc>
                  <a:txBody>
                    <a:bodyPr wrap="square"/>
                    <a:lstStyle/>
                    <a:p>
                      <a:pPr algn="l"/>
                      <a:r>
                        <a:rPr sz="1100" b="0" i="0">
                          <a:solidFill>
                            <a:srgbClr val="0070C0"/>
                          </a:solidFill>
                          <a:latin typeface="Calibri"/>
                        </a:rPr>
                        <a:t>19.3.</a:t>
                      </a:r>
                      <a:r>
                        <a:rPr sz="700" b="0" i="0">
                          <a:solidFill>
                            <a:srgbClr val="0070C0"/>
                          </a:solidFill>
                          <a:latin typeface="Times New Roman"/>
                        </a:rPr>
                        <a:t>  </a:t>
                      </a:r>
                      <a:r>
                        <a:rPr sz="1100" b="0" i="0">
                          <a:solidFill>
                            <a:srgbClr val="0070C0"/>
                          </a:solidFill>
                          <a:latin typeface="Calibri"/>
                        </a:rPr>
                        <a:t>Formula Requirements</a:t>
                      </a:r>
                      <a:endParaRPr sz="1100"/>
                    </a:p>
                  </a:txBody>
                  <a:tcPr marL="428625" marR="9525" marT="9525" marB="0" anchor="ctr"/>
                </a:tc>
              </a:tr>
              <a:tr h="175260">
                <a:tc>
                  <a:txBody>
                    <a:bodyPr wrap="square"/>
                    <a:lstStyle/>
                    <a:p>
                      <a:pPr algn="l"/>
                      <a:r>
                        <a:rPr sz="1100" b="0" i="0">
                          <a:solidFill>
                            <a:srgbClr val="0070C0"/>
                          </a:solidFill>
                          <a:latin typeface="Calibri"/>
                        </a:rPr>
                        <a:t>19.4.</a:t>
                      </a:r>
                      <a:r>
                        <a:rPr sz="700" b="0" i="0">
                          <a:solidFill>
                            <a:srgbClr val="0070C0"/>
                          </a:solidFill>
                          <a:latin typeface="Times New Roman"/>
                        </a:rPr>
                        <a:t>  </a:t>
                      </a:r>
                      <a:r>
                        <a:rPr sz="1100" b="0" i="0">
                          <a:solidFill>
                            <a:srgbClr val="0070C0"/>
                          </a:solidFill>
                          <a:latin typeface="Calibri"/>
                        </a:rPr>
                        <a:t>Standards as per institutions</a:t>
                      </a:r>
                      <a:endParaRPr sz="1100"/>
                    </a:p>
                  </a:txBody>
                  <a:tcPr marL="428625" marR="9525" marT="9525" marB="0" anchor="ctr"/>
                </a:tc>
              </a:tr>
              <a:tr h="175260">
                <a:tc>
                  <a:txBody>
                    <a:bodyPr wrap="square"/>
                    <a:lstStyle/>
                    <a:p>
                      <a:pPr algn="l"/>
                      <a:r>
                        <a:rPr sz="1100" b="0" i="0">
                          <a:solidFill>
                            <a:srgbClr val="000000"/>
                          </a:solidFill>
                          <a:latin typeface="Calibri"/>
                        </a:rPr>
                        <a:t>19.4.1.</a:t>
                      </a:r>
                      <a:r>
                        <a:rPr sz="700" b="0" i="0">
                          <a:solidFill>
                            <a:srgbClr val="000000"/>
                          </a:solidFill>
                          <a:latin typeface="Times New Roman"/>
                        </a:rPr>
                        <a:t> </a:t>
                      </a:r>
                      <a:r>
                        <a:rPr sz="1100" b="0" i="0">
                          <a:solidFill>
                            <a:srgbClr val="000000"/>
                          </a:solidFill>
                          <a:latin typeface="Calibri"/>
                        </a:rPr>
                        <a:t>FDA</a:t>
                      </a:r>
                      <a:endParaRPr sz="1100"/>
                    </a:p>
                  </a:txBody>
                  <a:tcPr marL="771525" marR="9525" marT="9525" marB="0" anchor="ctr"/>
                </a:tc>
              </a:tr>
              <a:tr h="175260">
                <a:tc>
                  <a:txBody>
                    <a:bodyPr wrap="square"/>
                    <a:lstStyle/>
                    <a:p>
                      <a:pPr algn="l"/>
                      <a:r>
                        <a:rPr sz="1100" b="0" i="0">
                          <a:solidFill>
                            <a:srgbClr val="000000"/>
                          </a:solidFill>
                          <a:latin typeface="Calibri"/>
                        </a:rPr>
                        <a:t>19.4.2.</a:t>
                      </a:r>
                      <a:r>
                        <a:rPr sz="700" b="0" i="0">
                          <a:solidFill>
                            <a:srgbClr val="000000"/>
                          </a:solidFill>
                          <a:latin typeface="Times New Roman"/>
                        </a:rPr>
                        <a:t> </a:t>
                      </a:r>
                      <a:r>
                        <a:rPr sz="1100" b="0" i="0">
                          <a:solidFill>
                            <a:srgbClr val="000000"/>
                          </a:solidFill>
                          <a:latin typeface="Calibri"/>
                        </a:rPr>
                        <a:t>USDA</a:t>
                      </a:r>
                      <a:endParaRPr sz="1100"/>
                    </a:p>
                  </a:txBody>
                  <a:tcPr marL="771525" marR="9525" marT="9525" marB="0" anchor="ctr"/>
                </a:tc>
              </a:tr>
              <a:tr h="175260">
                <a:tc>
                  <a:txBody>
                    <a:bodyPr wrap="square"/>
                    <a:lstStyle/>
                    <a:p>
                      <a:pPr algn="l"/>
                      <a:r>
                        <a:rPr sz="1100" b="0" i="0">
                          <a:solidFill>
                            <a:srgbClr val="000000"/>
                          </a:solidFill>
                          <a:latin typeface="Calibri"/>
                        </a:rPr>
                        <a:t>19.4.3.</a:t>
                      </a:r>
                      <a:r>
                        <a:rPr sz="700" b="0" i="0">
                          <a:solidFill>
                            <a:srgbClr val="000000"/>
                          </a:solidFill>
                          <a:latin typeface="Times New Roman"/>
                        </a:rPr>
                        <a:t> </a:t>
                      </a:r>
                      <a:r>
                        <a:rPr sz="1100" b="0" i="0">
                          <a:solidFill>
                            <a:srgbClr val="000000"/>
                          </a:solidFill>
                          <a:latin typeface="Calibri"/>
                        </a:rPr>
                        <a:t>FSSAI</a:t>
                      </a:r>
                      <a:endParaRPr sz="1100"/>
                    </a:p>
                  </a:txBody>
                  <a:tcPr marL="771525" marR="9525" marT="9525" marB="0" anchor="ctr"/>
                </a:tc>
              </a:tr>
              <a:tr h="175260">
                <a:tc>
                  <a:txBody>
                    <a:bodyPr wrap="square"/>
                    <a:lstStyle/>
                    <a:p>
                      <a:pPr algn="l"/>
                      <a:r>
                        <a:rPr sz="1100" b="0" i="0">
                          <a:solidFill>
                            <a:srgbClr val="000000"/>
                          </a:solidFill>
                          <a:latin typeface="Calibri"/>
                        </a:rPr>
                        <a:t>19.4.4.</a:t>
                      </a:r>
                      <a:r>
                        <a:rPr sz="700" b="0" i="0">
                          <a:solidFill>
                            <a:srgbClr val="000000"/>
                          </a:solidFill>
                          <a:latin typeface="Times New Roman"/>
                        </a:rPr>
                        <a:t> </a:t>
                      </a:r>
                      <a:r>
                        <a:rPr sz="1100" b="0" i="0">
                          <a:solidFill>
                            <a:srgbClr val="000000"/>
                          </a:solidFill>
                          <a:latin typeface="Calibri"/>
                        </a:rPr>
                        <a:t>EU Commissions</a:t>
                      </a:r>
                      <a:endParaRPr sz="1100"/>
                    </a:p>
                  </a:txBody>
                  <a:tcPr marL="771525" marR="9525" marT="9525" marB="0" anchor="ctr"/>
                </a:tc>
              </a:tr>
              <a:tr h="175260">
                <a:tc>
                  <a:txBody>
                    <a:bodyPr wrap="square"/>
                    <a:lstStyle/>
                    <a:p>
                      <a:pPr algn="l"/>
                      <a:r>
                        <a:rPr sz="1100" b="1" i="0">
                          <a:solidFill>
                            <a:srgbClr val="000000"/>
                          </a:solidFill>
                          <a:latin typeface="Calibri"/>
                        </a:rPr>
                        <a:t>Section 5: Production and Trade Outlook</a:t>
                      </a:r>
                      <a:endParaRPr sz="1100"/>
                    </a:p>
                  </a:txBody>
                  <a:tcPr marL="9525" marR="9525" marT="9525" marB="0" anchor="ctr"/>
                </a:tc>
              </a:tr>
              <a:tr h="175260">
                <a:tc>
                  <a:txBody>
                    <a:bodyPr wrap="square"/>
                    <a:lstStyle/>
                    <a:p>
                      <a:pPr algn="l"/>
                      <a:r>
                        <a:rPr sz="1100" b="1" i="0">
                          <a:solidFill>
                            <a:srgbClr val="000000"/>
                          </a:solidFill>
                          <a:latin typeface="Calibri"/>
                        </a:rPr>
                        <a:t>20.</a:t>
                      </a:r>
                      <a:r>
                        <a:rPr sz="700" b="1" i="0">
                          <a:solidFill>
                            <a:srgbClr val="000000"/>
                          </a:solidFill>
                          <a:latin typeface="Times New Roman"/>
                        </a:rPr>
                        <a:t>    </a:t>
                      </a:r>
                      <a:r>
                        <a:rPr sz="1100" b="1" i="0">
                          <a:solidFill>
                            <a:srgbClr val="000000"/>
                          </a:solidFill>
                          <a:latin typeface="Calibri"/>
                        </a:rPr>
                        <a:t>Global Market- Production and Trade Analysis</a:t>
                      </a:r>
                      <a:endParaRPr sz="1100"/>
                    </a:p>
                  </a:txBody>
                  <a:tcPr marL="171450"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20.1.</a:t>
                      </a:r>
                      <a:r>
                        <a:rPr sz="700" b="0" i="0">
                          <a:solidFill>
                            <a:srgbClr val="0070C0"/>
                          </a:solidFill>
                          <a:latin typeface="Times New Roman"/>
                        </a:rPr>
                        <a:t>  </a:t>
                      </a:r>
                      <a:r>
                        <a:rPr sz="1100" b="0" i="0">
                          <a:solidFill>
                            <a:srgbClr val="0070C0"/>
                          </a:solidFill>
                          <a:latin typeface="Calibri"/>
                        </a:rPr>
                        <a:t>Production Landscape by Key Country</a:t>
                      </a:r>
                      <a:endParaRPr sz="1100"/>
                    </a:p>
                  </a:txBody>
                  <a:tcPr marL="428625" marR="9525" marT="9525" marB="0" anchor="ctr"/>
                </a:tc>
              </a:tr>
              <a:tr h="175260">
                <a:tc>
                  <a:txBody>
                    <a:bodyPr wrap="square"/>
                    <a:lstStyle/>
                    <a:p>
                      <a:pPr algn="l"/>
                      <a:r>
                        <a:rPr sz="1100" b="0" i="0">
                          <a:solidFill>
                            <a:srgbClr val="0070C0"/>
                          </a:solidFill>
                          <a:latin typeface="Calibri"/>
                        </a:rPr>
                        <a:t>20.2.</a:t>
                      </a:r>
                      <a:r>
                        <a:rPr sz="700" b="0" i="0">
                          <a:solidFill>
                            <a:srgbClr val="0070C0"/>
                          </a:solidFill>
                          <a:latin typeface="Times New Roman"/>
                        </a:rPr>
                        <a:t>  </a:t>
                      </a:r>
                      <a:r>
                        <a:rPr sz="1100" b="0" i="0">
                          <a:solidFill>
                            <a:srgbClr val="0070C0"/>
                          </a:solidFill>
                          <a:latin typeface="Calibri"/>
                        </a:rPr>
                        <a:t>Key Exporting and Importing Countries</a:t>
                      </a:r>
                      <a:endParaRPr sz="1100"/>
                    </a:p>
                  </a:txBody>
                  <a:tcPr marL="428625" marR="9525" marT="9525" marB="0" anchor="ctr"/>
                </a:tc>
              </a:tr>
              <a:tr h="175260">
                <a:tc>
                  <a:txBody>
                    <a:bodyPr wrap="square"/>
                    <a:lstStyle/>
                    <a:p>
                      <a:pPr algn="l"/>
                      <a:r>
                        <a:rPr sz="1100" b="0" i="0">
                          <a:solidFill>
                            <a:srgbClr val="0070C0"/>
                          </a:solidFill>
                          <a:latin typeface="Calibri"/>
                        </a:rPr>
                        <a:t>20.3.</a:t>
                      </a:r>
                      <a:r>
                        <a:rPr sz="700" b="0" i="0">
                          <a:solidFill>
                            <a:srgbClr val="0070C0"/>
                          </a:solidFill>
                          <a:latin typeface="Times New Roman"/>
                        </a:rPr>
                        <a:t>  </a:t>
                      </a:r>
                      <a:r>
                        <a:rPr sz="1100" b="0" i="0">
                          <a:solidFill>
                            <a:srgbClr val="0070C0"/>
                          </a:solidFill>
                          <a:latin typeface="Calibri"/>
                        </a:rPr>
                        <a:t>Trade Flow Analysis of Cognitive Supplements and Key Ingredients</a:t>
                      </a:r>
                      <a:endParaRPr sz="1100"/>
                    </a:p>
                  </a:txBody>
                  <a:tcPr marL="428625" marR="9525" marT="9525" marB="0" anchor="ctr"/>
                </a:tc>
              </a:tr>
              <a:tr h="175260">
                <a:tc>
                  <a:txBody>
                    <a:bodyPr wrap="square"/>
                    <a:lstStyle/>
                    <a:p>
                      <a:pPr algn="l"/>
                      <a:r>
                        <a:rPr sz="1100" b="0" i="0">
                          <a:solidFill>
                            <a:srgbClr val="0070C0"/>
                          </a:solidFill>
                          <a:latin typeface="Calibri"/>
                        </a:rPr>
                        <a:t>20.4.</a:t>
                      </a:r>
                      <a:r>
                        <a:rPr sz="700" b="0" i="0">
                          <a:solidFill>
                            <a:srgbClr val="0070C0"/>
                          </a:solidFill>
                          <a:latin typeface="Times New Roman"/>
                        </a:rPr>
                        <a:t>  </a:t>
                      </a:r>
                      <a:r>
                        <a:rPr sz="1100" b="0" i="0">
                          <a:solidFill>
                            <a:srgbClr val="0070C0"/>
                          </a:solidFill>
                          <a:latin typeface="Calibri"/>
                        </a:rPr>
                        <a:t>Global Supply Chain and Sourcing Assessment</a:t>
                      </a:r>
                      <a:endParaRPr sz="1100"/>
                    </a:p>
                  </a:txBody>
                  <a:tcPr marL="428625" marR="9525" marT="9525" marB="0" anchor="ctr"/>
                </a:tc>
              </a:tr>
              <a:tr h="175260">
                <a:tc>
                  <a:txBody>
                    <a:bodyPr wrap="square"/>
                    <a:lstStyle/>
                    <a:p>
                      <a:pPr algn="l"/>
                      <a:r>
                        <a:rPr sz="1100" b="1" i="0">
                          <a:solidFill>
                            <a:srgbClr val="000000"/>
                          </a:solidFill>
                          <a:latin typeface="Calibri"/>
                        </a:rPr>
                        <a:t>21.</a:t>
                      </a:r>
                      <a:r>
                        <a:rPr sz="700" b="1" i="0">
                          <a:solidFill>
                            <a:srgbClr val="000000"/>
                          </a:solidFill>
                          <a:latin typeface="Times New Roman"/>
                        </a:rPr>
                        <a:t>    </a:t>
                      </a:r>
                      <a:r>
                        <a:rPr sz="1100" b="1" i="0">
                          <a:solidFill>
                            <a:srgbClr val="000000"/>
                          </a:solidFill>
                          <a:latin typeface="Calibri"/>
                        </a:rPr>
                        <a:t>Value Chain Analysis</a:t>
                      </a:r>
                      <a:endParaRPr sz="1100"/>
                    </a:p>
                  </a:txBody>
                  <a:tcPr marL="171450" marR="9525" marT="9525" marB="0" anchor="ctr"/>
                </a:tc>
              </a:tr>
              <a:tr h="175260">
                <a:tc>
                  <a:txBody>
                    <a:bodyPr wrap="square"/>
                    <a:lstStyle/>
                    <a:p>
                      <a:pPr algn="l"/>
                      <a:r>
                        <a:rPr sz="1100" b="0" i="0">
                          <a:solidFill>
                            <a:srgbClr val="0070C0"/>
                          </a:solidFill>
                          <a:latin typeface="Calibri"/>
                        </a:rPr>
                        <a:t>21.1.</a:t>
                      </a:r>
                      <a:r>
                        <a:rPr sz="700" b="0" i="0">
                          <a:solidFill>
                            <a:srgbClr val="0070C0"/>
                          </a:solidFill>
                          <a:latin typeface="Times New Roman"/>
                        </a:rPr>
                        <a:t>  </a:t>
                      </a:r>
                      <a:r>
                        <a:rPr sz="1100" b="0" i="0">
                          <a:solidFill>
                            <a:srgbClr val="0070C0"/>
                          </a:solidFill>
                          <a:latin typeface="Calibri"/>
                        </a:rPr>
                        <a:t>Industry-Wide Operating Margin</a:t>
                      </a:r>
                      <a:endParaRPr sz="1100"/>
                    </a:p>
                  </a:txBody>
                  <a:tcPr marL="428625" marR="9525" marT="9525" marB="0" anchor="ctr"/>
                </a:tc>
              </a:tr>
              <a:tr h="175260">
                <a:tc>
                  <a:txBody>
                    <a:bodyPr wrap="square"/>
                    <a:lstStyle/>
                    <a:p>
                      <a:pPr algn="l"/>
                      <a:r>
                        <a:rPr sz="1100" b="0" i="0">
                          <a:solidFill>
                            <a:srgbClr val="000000"/>
                          </a:solidFill>
                          <a:latin typeface="Calibri"/>
                        </a:rPr>
                        <a:t>21.1.1.</a:t>
                      </a:r>
                      <a:r>
                        <a:rPr sz="700" b="0" i="0">
                          <a:solidFill>
                            <a:srgbClr val="000000"/>
                          </a:solidFill>
                          <a:latin typeface="Times New Roman"/>
                        </a:rPr>
                        <a:t> </a:t>
                      </a:r>
                      <a:r>
                        <a:rPr sz="1100" b="0" i="0">
                          <a:solidFill>
                            <a:srgbClr val="000000"/>
                          </a:solidFill>
                          <a:latin typeface="Calibri"/>
                        </a:rPr>
                        <a:t>Operating margins at each node of supply chain</a:t>
                      </a:r>
                      <a:endParaRPr sz="1100"/>
                    </a:p>
                  </a:txBody>
                  <a:tcPr marL="771525" marR="9525" marT="9525" marB="0" anchor="ctr"/>
                </a:tc>
              </a:tr>
              <a:tr h="175260">
                <a:tc>
                  <a:txBody>
                    <a:bodyPr wrap="square"/>
                    <a:lstStyle/>
                    <a:p>
                      <a:pPr algn="l"/>
                      <a:r>
                        <a:rPr sz="1100" b="0" i="0">
                          <a:solidFill>
                            <a:srgbClr val="000000"/>
                          </a:solidFill>
                          <a:latin typeface="Calibri"/>
                        </a:rPr>
                        <a:t>21.1.2.</a:t>
                      </a:r>
                      <a:r>
                        <a:rPr sz="700" b="0" i="0">
                          <a:solidFill>
                            <a:srgbClr val="000000"/>
                          </a:solidFill>
                          <a:latin typeface="Times New Roman"/>
                        </a:rPr>
                        <a:t> </a:t>
                      </a:r>
                      <a:r>
                        <a:rPr sz="1100" b="0" i="0">
                          <a:solidFill>
                            <a:srgbClr val="000000"/>
                          </a:solidFill>
                          <a:latin typeface="Calibri"/>
                        </a:rPr>
                        <a:t>Operating margins Comparison to Parent/Associated Market</a:t>
                      </a:r>
                      <a:endParaRPr sz="1100"/>
                    </a:p>
                  </a:txBody>
                  <a:tcPr marL="771525" marR="9525" marT="9525" marB="0" anchor="ctr"/>
                </a:tc>
              </a:tr>
              <a:tr h="175260">
                <a:tc>
                  <a:txBody>
                    <a:bodyPr wrap="square"/>
                    <a:lstStyle/>
                    <a:p>
                      <a:pPr algn="l"/>
                      <a:r>
                        <a:rPr sz="1100" b="0" i="0">
                          <a:solidFill>
                            <a:srgbClr val="0070C0"/>
                          </a:solidFill>
                          <a:latin typeface="Calibri"/>
                        </a:rPr>
                        <a:t>21.2.</a:t>
                      </a:r>
                      <a:r>
                        <a:rPr sz="700" b="0" i="0">
                          <a:solidFill>
                            <a:srgbClr val="0070C0"/>
                          </a:solidFill>
                          <a:latin typeface="Times New Roman"/>
                        </a:rPr>
                        <a:t>  </a:t>
                      </a:r>
                      <a:r>
                        <a:rPr sz="1100" b="0" i="0">
                          <a:solidFill>
                            <a:srgbClr val="0070C0"/>
                          </a:solidFill>
                          <a:latin typeface="Calibri"/>
                        </a:rPr>
                        <a:t>Margin Optimization Strategies</a:t>
                      </a:r>
                      <a:endParaRPr sz="1100"/>
                    </a:p>
                  </a:txBody>
                  <a:tcPr marL="428625" marR="9525" marT="9525" marB="0" anchor="ctr"/>
                </a:tc>
              </a:tr>
              <a:tr h="175260">
                <a:tc>
                  <a:txBody>
                    <a:bodyPr wrap="square"/>
                    <a:lstStyle/>
                    <a:p>
                      <a:pPr algn="l"/>
                      <a:r>
                        <a:rPr sz="1100" b="0" i="0">
                          <a:solidFill>
                            <a:srgbClr val="0070C0"/>
                          </a:solidFill>
                          <a:latin typeface="Calibri"/>
                        </a:rPr>
                        <a:t>21.3.</a:t>
                      </a:r>
                      <a:r>
                        <a:rPr sz="700" b="0" i="0">
                          <a:solidFill>
                            <a:srgbClr val="0070C0"/>
                          </a:solidFill>
                          <a:latin typeface="Times New Roman"/>
                        </a:rPr>
                        <a:t>  </a:t>
                      </a:r>
                      <a:r>
                        <a:rPr sz="1100" b="0" i="0">
                          <a:solidFill>
                            <a:srgbClr val="0070C0"/>
                          </a:solidFill>
                          <a:latin typeface="Calibri"/>
                        </a:rPr>
                        <a:t>List of Active Market Participants</a:t>
                      </a:r>
                      <a:endParaRPr sz="1100"/>
                    </a:p>
                  </a:txBody>
                  <a:tcPr marL="428625" marR="9525" marT="9525" marB="0" anchor="ctr"/>
                </a:tc>
              </a:tr>
              <a:tr h="175260">
                <a:tc>
                  <a:txBody>
                    <a:bodyPr wrap="square"/>
                    <a:lstStyle/>
                    <a:p>
                      <a:pPr algn="l"/>
                      <a:r>
                        <a:rPr sz="1100" b="0" i="0">
                          <a:solidFill>
                            <a:srgbClr val="000000"/>
                          </a:solidFill>
                          <a:latin typeface="Calibri"/>
                        </a:rPr>
                        <a:t>21.3.1.</a:t>
                      </a:r>
                      <a:r>
                        <a:rPr sz="700" b="0" i="0">
                          <a:solidFill>
                            <a:srgbClr val="000000"/>
                          </a:solidFill>
                          <a:latin typeface="Times New Roman"/>
                        </a:rPr>
                        <a:t> </a:t>
                      </a:r>
                      <a:r>
                        <a:rPr sz="1100" b="0" i="0">
                          <a:solidFill>
                            <a:srgbClr val="000000"/>
                          </a:solidFill>
                          <a:latin typeface="Calibri"/>
                        </a:rPr>
                        <a:t>Product Manufacturers/ Key Brands</a:t>
                      </a:r>
                      <a:endParaRPr sz="1100"/>
                    </a:p>
                  </a:txBody>
                  <a:tcPr marL="771525" marR="9525" marT="9525" marB="0" anchor="ctr"/>
                </a:tc>
              </a:tr>
              <a:tr h="175260">
                <a:tc>
                  <a:txBody>
                    <a:bodyPr wrap="square"/>
                    <a:lstStyle/>
                    <a:p>
                      <a:pPr algn="l"/>
                      <a:r>
                        <a:rPr sz="1100" b="0" i="0">
                          <a:solidFill>
                            <a:srgbClr val="000000"/>
                          </a:solidFill>
                          <a:latin typeface="Calibri"/>
                        </a:rPr>
                        <a:t>21.3.2.</a:t>
                      </a:r>
                      <a:r>
                        <a:rPr sz="700" b="0" i="0">
                          <a:solidFill>
                            <a:srgbClr val="000000"/>
                          </a:solidFill>
                          <a:latin typeface="Times New Roman"/>
                        </a:rPr>
                        <a:t> </a:t>
                      </a:r>
                      <a:r>
                        <a:rPr sz="1100" b="0" i="0">
                          <a:solidFill>
                            <a:srgbClr val="000000"/>
                          </a:solidFill>
                          <a:latin typeface="Calibri"/>
                        </a:rPr>
                        <a:t>Distributors/Suppliers</a:t>
                      </a:r>
                      <a:endParaRPr sz="1100"/>
                    </a:p>
                  </a:txBody>
                  <a:tcPr marL="771525" marR="9525" marT="9525" marB="0" anchor="ctr"/>
                </a:tc>
              </a:tr>
              <a:tr h="175260">
                <a:tc>
                  <a:txBody>
                    <a:bodyPr wrap="square"/>
                    <a:lstStyle/>
                    <a:p>
                      <a:pPr algn="l"/>
                      <a:r>
                        <a:rPr sz="1100" b="0" i="0">
                          <a:solidFill>
                            <a:srgbClr val="000000"/>
                          </a:solidFill>
                          <a:latin typeface="Calibri"/>
                        </a:rPr>
                        <a:t>21.3.3.</a:t>
                      </a:r>
                      <a:r>
                        <a:rPr sz="700" b="0" i="0">
                          <a:solidFill>
                            <a:srgbClr val="000000"/>
                          </a:solidFill>
                          <a:latin typeface="Times New Roman"/>
                        </a:rPr>
                        <a:t> </a:t>
                      </a:r>
                      <a:r>
                        <a:rPr sz="1100" b="0" i="0">
                          <a:solidFill>
                            <a:srgbClr val="000000"/>
                          </a:solidFill>
                          <a:latin typeface="Calibri"/>
                        </a:rPr>
                        <a:t>End Users</a:t>
                      </a:r>
                      <a:endParaRPr sz="1100"/>
                    </a:p>
                  </a:txBody>
                  <a:tcPr marL="771525" marR="9525" marT="9525" marB="0" anchor="ctr"/>
                </a:tc>
              </a:tr>
              <a:tr h="350520">
                <a:tc>
                  <a:txBody>
                    <a:bodyPr wrap="square"/>
                    <a:lstStyle/>
                    <a:p>
                      <a:pPr algn="l"/>
                      <a:r>
                        <a:rPr sz="1100" b="0" i="1">
                          <a:solidFill>
                            <a:srgbClr val="FF0000"/>
                          </a:solidFill>
                          <a:latin typeface="Calibri"/>
                        </a:rPr>
                        <a:t>Note: The section lists 20-30 active market participants. For a comprehensive list, please contact the respective sales personnel</a:t>
                      </a:r>
                      <a:endParaRPr sz="1100"/>
                    </a:p>
                  </a:txBody>
                  <a:tcPr marL="9525" marR="9525" marT="9525" marB="0" anchor="ctr"/>
                </a:tc>
              </a:tr>
              <a:tr h="175260">
                <a:tc>
                  <a:txBody>
                    <a:bodyPr wrap="square"/>
                    <a:lstStyle/>
                    <a:p>
                      <a:pPr algn="l"/>
                      <a:r>
                        <a:rPr sz="1100" b="1" i="0">
                          <a:solidFill>
                            <a:srgbClr val="000000"/>
                          </a:solidFill>
                          <a:latin typeface="Calibri"/>
                        </a:rPr>
                        <a:t>Section 6: Veterinary Influence, Consumer Purchase Behaviour and Scientific Claims Assessment</a:t>
                      </a:r>
                      <a:endParaRPr sz="1100"/>
                    </a:p>
                  </a:txBody>
                  <a:tcPr marL="9525" marR="9525" marT="9525" marB="0" anchor="ctr"/>
                </a:tc>
              </a:tr>
              <a:tr h="175260">
                <a:tc>
                  <a:txBody>
                    <a:bodyPr wrap="square"/>
                    <a:lstStyle/>
                    <a:p>
                      <a:pPr algn="l"/>
                      <a:r>
                        <a:rPr sz="1100" b="1" i="0">
                          <a:solidFill>
                            <a:srgbClr val="000000"/>
                          </a:solidFill>
                          <a:latin typeface="Calibri"/>
                        </a:rPr>
                        <a:t>22.</a:t>
                      </a:r>
                      <a:r>
                        <a:rPr sz="700" b="1" i="0">
                          <a:solidFill>
                            <a:srgbClr val="000000"/>
                          </a:solidFill>
                          <a:latin typeface="Times New Roman"/>
                        </a:rPr>
                        <a:t>    </a:t>
                      </a:r>
                      <a:r>
                        <a:rPr sz="1100" b="1" i="0">
                          <a:solidFill>
                            <a:srgbClr val="000000"/>
                          </a:solidFill>
                          <a:latin typeface="Calibri"/>
                        </a:rPr>
                        <a:t>Cognitive Supplement Functionality and Benefit-wise Demand Analysis</a:t>
                      </a:r>
                      <a:endParaRPr sz="1100"/>
                    </a:p>
                  </a:txBody>
                  <a:tcPr marL="171450" marR="9525" marT="9525" marB="0" anchor="ctr"/>
                </a:tc>
              </a:tr>
              <a:tr h="350520">
                <a:tc>
                  <a:txBody>
                    <a:bodyPr wrap="square"/>
                    <a:lstStyle/>
                    <a:p>
                      <a:pPr algn="l"/>
                      <a:r>
                        <a:rPr sz="1100" b="0" i="0">
                          <a:solidFill>
                            <a:srgbClr val="0070C0"/>
                          </a:solidFill>
                          <a:latin typeface="Calibri"/>
                        </a:rPr>
                        <a:t>22.1.</a:t>
                      </a:r>
                      <a:r>
                        <a:rPr sz="700" b="0" i="0">
                          <a:solidFill>
                            <a:srgbClr val="0070C0"/>
                          </a:solidFill>
                          <a:latin typeface="Times New Roman"/>
                        </a:rPr>
                        <a:t>  </a:t>
                      </a:r>
                      <a:r>
                        <a:rPr sz="1100" b="0" i="0">
                          <a:solidFill>
                            <a:srgbClr val="0070C0"/>
                          </a:solidFill>
                          <a:latin typeface="Calibri"/>
                        </a:rPr>
                        <a:t>Memory and Learning Support Claim Penetration, Consumer Preference and Purchase Intent (%)</a:t>
                      </a:r>
                      <a:endParaRPr sz="1100"/>
                    </a:p>
                  </a:txBody>
                  <a:tcPr marL="428625" marR="9525" marT="9525" marB="0" anchor="ctr"/>
                </a:tc>
              </a:tr>
              <a:tr h="175260">
                <a:tc>
                  <a:txBody>
                    <a:bodyPr wrap="square"/>
                    <a:lstStyle/>
                    <a:p>
                      <a:pPr algn="l"/>
                      <a:r>
                        <a:rPr sz="1100" b="0" i="0">
                          <a:solidFill>
                            <a:srgbClr val="0070C0"/>
                          </a:solidFill>
                          <a:latin typeface="Calibri"/>
                        </a:rPr>
                        <a:t>22.2.</a:t>
                      </a:r>
                      <a:r>
                        <a:rPr sz="700" b="0" i="0">
                          <a:solidFill>
                            <a:srgbClr val="0070C0"/>
                          </a:solidFill>
                          <a:latin typeface="Times New Roman"/>
                        </a:rPr>
                        <a:t>  </a:t>
                      </a:r>
                      <a:r>
                        <a:rPr sz="1100" b="0" i="0">
                          <a:solidFill>
                            <a:srgbClr val="0070C0"/>
                          </a:solidFill>
                          <a:latin typeface="Calibri"/>
                        </a:rPr>
                        <a:t>Mental Alertness and Awareness Support Claim Adoption and Willingness to Pay (%)</a:t>
                      </a:r>
                      <a:endParaRPr sz="1100"/>
                    </a:p>
                  </a:txBody>
                  <a:tcPr marL="428625" marR="9525" marT="9525" marB="0" anchor="ctr"/>
                </a:tc>
              </a:tr>
              <a:tr h="175260">
                <a:tc>
                  <a:txBody>
                    <a:bodyPr wrap="square"/>
                    <a:lstStyle/>
                    <a:p>
                      <a:pPr algn="l"/>
                      <a:r>
                        <a:rPr sz="1100" b="0" i="0">
                          <a:solidFill>
                            <a:srgbClr val="0070C0"/>
                          </a:solidFill>
                          <a:latin typeface="Calibri"/>
                        </a:rPr>
                        <a:t>22.3.</a:t>
                      </a:r>
                      <a:r>
                        <a:rPr sz="700" b="0" i="0">
                          <a:solidFill>
                            <a:srgbClr val="0070C0"/>
                          </a:solidFill>
                          <a:latin typeface="Times New Roman"/>
                        </a:rPr>
                        <a:t>  </a:t>
                      </a:r>
                      <a:r>
                        <a:rPr sz="1100" b="0" i="0">
                          <a:solidFill>
                            <a:srgbClr val="0070C0"/>
                          </a:solidFill>
                          <a:latin typeface="Calibri"/>
                        </a:rPr>
                        <a:t>Antioxidant and Neuronal Protection Benefit Awareness and Purchase Preference (%)</a:t>
                      </a:r>
                      <a:endParaRPr sz="1100"/>
                    </a:p>
                  </a:txBody>
                  <a:tcPr marL="428625" marR="9525" marT="9525" marB="0" anchor="ctr"/>
                </a:tc>
              </a:tr>
              <a:tr h="175260">
                <a:tc>
                  <a:txBody>
                    <a:bodyPr wrap="square"/>
                    <a:lstStyle/>
                    <a:p>
                      <a:pPr algn="l"/>
                      <a:r>
                        <a:rPr sz="1100" b="0" i="0">
                          <a:solidFill>
                            <a:srgbClr val="0070C0"/>
                          </a:solidFill>
                          <a:latin typeface="Calibri"/>
                        </a:rPr>
                        <a:t>22.4.</a:t>
                      </a:r>
                      <a:r>
                        <a:rPr sz="700" b="0" i="0">
                          <a:solidFill>
                            <a:srgbClr val="0070C0"/>
                          </a:solidFill>
                          <a:latin typeface="Times New Roman"/>
                        </a:rPr>
                        <a:t>  </a:t>
                      </a:r>
                      <a:r>
                        <a:rPr sz="1100" b="0" i="0">
                          <a:solidFill>
                            <a:srgbClr val="0070C0"/>
                          </a:solidFill>
                          <a:latin typeface="Calibri"/>
                        </a:rPr>
                        <a:t>Brain Energy Metabolism Support Claim Acceptance and Premium Price Potential (%)</a:t>
                      </a:r>
                      <a:endParaRPr sz="1100"/>
                    </a:p>
                  </a:txBody>
                  <a:tcPr marL="428625" marR="9525" marT="9525" marB="0" anchor="ctr"/>
                </a:tc>
              </a:tr>
              <a:tr h="175260">
                <a:tc>
                  <a:txBody>
                    <a:bodyPr wrap="square"/>
                    <a:lstStyle/>
                    <a:p>
                      <a:pPr algn="l"/>
                      <a:r>
                        <a:rPr sz="1100" b="0" i="0">
                          <a:solidFill>
                            <a:srgbClr val="0070C0"/>
                          </a:solidFill>
                          <a:latin typeface="Calibri"/>
                        </a:rPr>
                        <a:t>22.5.</a:t>
                      </a:r>
                      <a:r>
                        <a:rPr sz="700" b="0" i="0">
                          <a:solidFill>
                            <a:srgbClr val="0070C0"/>
                          </a:solidFill>
                          <a:latin typeface="Times New Roman"/>
                        </a:rPr>
                        <a:t>  </a:t>
                      </a:r>
                      <a:r>
                        <a:rPr sz="1100" b="0" i="0">
                          <a:solidFill>
                            <a:srgbClr val="0070C0"/>
                          </a:solidFill>
                          <a:latin typeface="Calibri"/>
                        </a:rPr>
                        <a:t>Gut–Brain Health Support Awareness, Perceived Relevance and Adoption Intent (%)</a:t>
                      </a:r>
                      <a:endParaRPr sz="1100"/>
                    </a:p>
                  </a:txBody>
                  <a:tcPr marL="428625" marR="9525" marT="9525" marB="0" anchor="ctr"/>
                </a:tc>
              </a:tr>
              <a:tr h="350520">
                <a:tc>
                  <a:txBody>
                    <a:bodyPr wrap="square"/>
                    <a:lstStyle/>
                    <a:p>
                      <a:pPr algn="l"/>
                      <a:r>
                        <a:rPr sz="1100" b="0" i="0">
                          <a:solidFill>
                            <a:srgbClr val="0070C0"/>
                          </a:solidFill>
                          <a:latin typeface="Calibri"/>
                        </a:rPr>
                        <a:t>22.6.</a:t>
                      </a:r>
                      <a:r>
                        <a:rPr sz="700" b="0" i="0">
                          <a:solidFill>
                            <a:srgbClr val="0070C0"/>
                          </a:solidFill>
                          <a:latin typeface="Times New Roman"/>
                        </a:rPr>
                        <a:t>  </a:t>
                      </a:r>
                      <a:r>
                        <a:rPr sz="1100" b="0" i="0">
                          <a:solidFill>
                            <a:srgbClr val="0070C0"/>
                          </a:solidFill>
                          <a:latin typeface="Calibri"/>
                        </a:rPr>
                        <a:t>Behavioural Stability and Sleep–Wake Support Need Prevalence and Purchase Intent (%)</a:t>
                      </a:r>
                      <a:endParaRPr sz="1100"/>
                    </a:p>
                  </a:txBody>
                  <a:tcPr marL="428625" marR="9525" marT="9525" marB="0" anchor="ctr"/>
                </a:tc>
              </a:tr>
              <a:tr h="350520">
                <a:tc>
                  <a:txBody>
                    <a:bodyPr wrap="square"/>
                    <a:lstStyle/>
                    <a:p>
                      <a:pPr algn="l"/>
                      <a:r>
                        <a:rPr sz="1100" b="0" i="0">
                          <a:solidFill>
                            <a:srgbClr val="0070C0"/>
                          </a:solidFill>
                          <a:latin typeface="Calibri"/>
                        </a:rPr>
                        <a:t>22.7.</a:t>
                      </a:r>
                      <a:r>
                        <a:rPr sz="700" b="0" i="0">
                          <a:solidFill>
                            <a:srgbClr val="0070C0"/>
                          </a:solidFill>
                          <a:latin typeface="Times New Roman"/>
                        </a:rPr>
                        <a:t>  </a:t>
                      </a:r>
                      <a:r>
                        <a:rPr sz="1100" b="0" i="0">
                          <a:solidFill>
                            <a:srgbClr val="0070C0"/>
                          </a:solidFill>
                          <a:latin typeface="Calibri"/>
                        </a:rPr>
                        <a:t>Anxiety, Disorientation and Cognitive Decline Support Needs and Supplement Adoption (%)</a:t>
                      </a:r>
                      <a:endParaRPr sz="1100"/>
                    </a:p>
                  </a:txBody>
                  <a:tcPr marL="428625" marR="9525" marT="9525" marB="0" anchor="ctr"/>
                </a:tc>
              </a:tr>
              <a:tr h="350520">
                <a:tc>
                  <a:txBody>
                    <a:bodyPr wrap="square"/>
                    <a:lstStyle/>
                    <a:p>
                      <a:pPr algn="l"/>
                      <a:r>
                        <a:rPr sz="1100" b="0" i="0">
                          <a:solidFill>
                            <a:srgbClr val="0070C0"/>
                          </a:solidFill>
                          <a:latin typeface="Calibri"/>
                        </a:rPr>
                        <a:t>22.8.</a:t>
                      </a:r>
                      <a:r>
                        <a:rPr sz="700" b="0" i="0">
                          <a:solidFill>
                            <a:srgbClr val="0070C0"/>
                          </a:solidFill>
                          <a:latin typeface="Times New Roman"/>
                        </a:rPr>
                        <a:t>  </a:t>
                      </a:r>
                      <a:r>
                        <a:rPr sz="1100" b="0" i="0">
                          <a:solidFill>
                            <a:srgbClr val="0070C0"/>
                          </a:solidFill>
                          <a:latin typeface="Calibri"/>
                        </a:rPr>
                        <a:t>Multi-functional Cognitive Benefit Preference, Claim Credibility and Repeat Purchase Intent (%)</a:t>
                      </a:r>
                      <a:endParaRPr sz="1100"/>
                    </a:p>
                  </a:txBody>
                  <a:tcPr marL="428625" marR="9525" marT="9525" marB="0" anchor="ctr"/>
                </a:tc>
              </a:tr>
              <a:tr h="175260">
                <a:tc>
                  <a:txBody>
                    <a:bodyPr wrap="square"/>
                    <a:lstStyle/>
                    <a:p>
                      <a:pPr algn="l"/>
                      <a:r>
                        <a:rPr sz="1100" b="1" i="0">
                          <a:solidFill>
                            <a:srgbClr val="000000"/>
                          </a:solidFill>
                          <a:latin typeface="Calibri"/>
                        </a:rPr>
                        <a:t>23.</a:t>
                      </a:r>
                      <a:r>
                        <a:rPr sz="700" b="1" i="0">
                          <a:solidFill>
                            <a:srgbClr val="000000"/>
                          </a:solidFill>
                          <a:latin typeface="Times New Roman"/>
                        </a:rPr>
                        <a:t>    </a:t>
                      </a:r>
                      <a:r>
                        <a:rPr sz="1100" b="1" i="0">
                          <a:solidFill>
                            <a:srgbClr val="000000"/>
                          </a:solidFill>
                          <a:latin typeface="Calibri"/>
                        </a:rPr>
                        <a:t>Veterinary Recommendation and Pet-owner Purchase Journey Analysis</a:t>
                      </a:r>
                      <a:endParaRPr sz="1100"/>
                    </a:p>
                  </a:txBody>
                  <a:tcPr marL="171450"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(6/8)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350520">
                <a:tc>
                  <a:txBody>
                    <a:bodyPr wrap="square"/>
                    <a:lstStyle/>
                    <a:p>
                      <a:pPr algn="l"/>
                      <a:r>
                        <a:rPr sz="1100" b="0" i="0">
                          <a:solidFill>
                            <a:srgbClr val="0070C0"/>
                          </a:solidFill>
                          <a:latin typeface="Calibri"/>
                        </a:rPr>
                        <a:t>23.1.</a:t>
                      </a:r>
                      <a:r>
                        <a:rPr sz="700" b="0" i="0">
                          <a:solidFill>
                            <a:srgbClr val="0070C0"/>
                          </a:solidFill>
                          <a:latin typeface="Times New Roman"/>
                        </a:rPr>
                        <a:t>  </a:t>
                      </a:r>
                      <a:r>
                        <a:rPr sz="1100" b="0" i="0">
                          <a:solidFill>
                            <a:srgbClr val="0070C0"/>
                          </a:solidFill>
                          <a:latin typeface="Calibri"/>
                        </a:rPr>
                        <a:t>Veterinary Recommendation Rates for Cognitive Health Supplements by Senior Dog Age Group and Cognitive Symptom</a:t>
                      </a:r>
                      <a:endParaRPr sz="1100"/>
                    </a:p>
                  </a:txBody>
                  <a:tcPr marL="428625" marR="9525" marT="9525" marB="0" anchor="ctr"/>
                </a:tc>
              </a:tr>
              <a:tr h="350520">
                <a:tc>
                  <a:txBody>
                    <a:bodyPr wrap="square"/>
                    <a:lstStyle/>
                    <a:p>
                      <a:pPr algn="l"/>
                      <a:r>
                        <a:rPr sz="1100" b="0" i="0">
                          <a:solidFill>
                            <a:srgbClr val="0070C0"/>
                          </a:solidFill>
                          <a:latin typeface="Calibri"/>
                        </a:rPr>
                        <a:t>23.2.</a:t>
                      </a:r>
                      <a:r>
                        <a:rPr sz="700" b="0" i="0">
                          <a:solidFill>
                            <a:srgbClr val="0070C0"/>
                          </a:solidFill>
                          <a:latin typeface="Times New Roman"/>
                        </a:rPr>
                        <a:t>  </a:t>
                      </a:r>
                      <a:r>
                        <a:rPr sz="1100" b="0" i="0">
                          <a:solidFill>
                            <a:srgbClr val="0070C0"/>
                          </a:solidFill>
                          <a:latin typeface="Calibri"/>
                        </a:rPr>
                        <a:t>Pet-owner Purchase Conversion Rates by Recommendation Source, Including Veterinarians, Online Reviews and Pet-specialty Retailers</a:t>
                      </a:r>
                      <a:endParaRPr sz="1100"/>
                    </a:p>
                  </a:txBody>
                  <a:tcPr marL="428625" marR="9525" marT="9525" marB="0" anchor="ctr"/>
                </a:tc>
              </a:tr>
              <a:tr h="350520">
                <a:tc>
                  <a:txBody>
                    <a:bodyPr wrap="square"/>
                    <a:lstStyle/>
                    <a:p>
                      <a:pPr algn="l"/>
                      <a:r>
                        <a:rPr sz="1100" b="0" i="0">
                          <a:solidFill>
                            <a:srgbClr val="0070C0"/>
                          </a:solidFill>
                          <a:latin typeface="Calibri"/>
                        </a:rPr>
                        <a:t>23.3.</a:t>
                      </a:r>
                      <a:r>
                        <a:rPr sz="700" b="0" i="0">
                          <a:solidFill>
                            <a:srgbClr val="0070C0"/>
                          </a:solidFill>
                          <a:latin typeface="Times New Roman"/>
                        </a:rPr>
                        <a:t>  </a:t>
                      </a:r>
                      <a:r>
                        <a:rPr sz="1100" b="0" i="0">
                          <a:solidFill>
                            <a:srgbClr val="0070C0"/>
                          </a:solidFill>
                          <a:latin typeface="Calibri"/>
                        </a:rPr>
                        <a:t>Purchase Decision Drivers by Ingredient Credibility, Expected Efficacy, Price and Brand Trust</a:t>
                      </a:r>
                      <a:endParaRPr sz="1100"/>
                    </a:p>
                  </a:txBody>
                  <a:tcPr marL="428625" marR="9525" marT="9525" marB="0" anchor="ctr"/>
                </a:tc>
              </a:tr>
              <a:tr h="350520">
                <a:tc>
                  <a:txBody>
                    <a:bodyPr wrap="square"/>
                    <a:lstStyle/>
                    <a:p>
                      <a:pPr algn="l"/>
                      <a:r>
                        <a:rPr sz="1100" b="0" i="0">
                          <a:solidFill>
                            <a:srgbClr val="0070C0"/>
                          </a:solidFill>
                          <a:latin typeface="Calibri"/>
                        </a:rPr>
                        <a:t>23.4.</a:t>
                      </a:r>
                      <a:r>
                        <a:rPr sz="700" b="0" i="0">
                          <a:solidFill>
                            <a:srgbClr val="0070C0"/>
                          </a:solidFill>
                          <a:latin typeface="Times New Roman"/>
                        </a:rPr>
                        <a:t>  </a:t>
                      </a:r>
                      <a:r>
                        <a:rPr sz="1100" b="0" i="0">
                          <a:solidFill>
                            <a:srgbClr val="0070C0"/>
                          </a:solidFill>
                          <a:latin typeface="Calibri"/>
                        </a:rPr>
                        <a:t>Purchase Frequency and Repeat Purchase Rates by Veterinary-recommended and Self-selected Supplement Users</a:t>
                      </a:r>
                      <a:endParaRPr sz="1100"/>
                    </a:p>
                  </a:txBody>
                  <a:tcPr marL="428625" marR="9525" marT="9525" marB="0" anchor="ctr"/>
                </a:tc>
              </a:tr>
              <a:tr h="350520">
                <a:tc>
                  <a:txBody>
                    <a:bodyPr wrap="square"/>
                    <a:lstStyle/>
                    <a:p>
                      <a:pPr algn="l"/>
                      <a:r>
                        <a:rPr sz="1100" b="0" i="0">
                          <a:solidFill>
                            <a:srgbClr val="0070C0"/>
                          </a:solidFill>
                          <a:latin typeface="Calibri"/>
                        </a:rPr>
                        <a:t>23.5.</a:t>
                      </a:r>
                      <a:r>
                        <a:rPr sz="700" b="0" i="0">
                          <a:solidFill>
                            <a:srgbClr val="0070C0"/>
                          </a:solidFill>
                          <a:latin typeface="Times New Roman"/>
                        </a:rPr>
                        <a:t>  </a:t>
                      </a:r>
                      <a:r>
                        <a:rPr sz="1100" b="0" i="0">
                          <a:solidFill>
                            <a:srgbClr val="0070C0"/>
                          </a:solidFill>
                          <a:latin typeface="Calibri"/>
                        </a:rPr>
                        <a:t>Purchase Journey Conversion by Awareness Source, Product Research, Brand Consideration and Final Purchase Channel</a:t>
                      </a:r>
                      <a:endParaRPr sz="1100"/>
                    </a:p>
                  </a:txBody>
                  <a:tcPr marL="428625" marR="9525" marT="9525" marB="0" anchor="ctr"/>
                </a:tc>
              </a:tr>
              <a:tr h="350520">
                <a:tc>
                  <a:txBody>
                    <a:bodyPr wrap="square"/>
                    <a:lstStyle/>
                    <a:p>
                      <a:pPr algn="l"/>
                      <a:r>
                        <a:rPr sz="1100" b="0" i="0">
                          <a:solidFill>
                            <a:srgbClr val="0070C0"/>
                          </a:solidFill>
                          <a:latin typeface="Calibri"/>
                        </a:rPr>
                        <a:t>23.6.</a:t>
                      </a:r>
                      <a:r>
                        <a:rPr sz="700" b="0" i="0">
                          <a:solidFill>
                            <a:srgbClr val="0070C0"/>
                          </a:solidFill>
                          <a:latin typeface="Times New Roman"/>
                        </a:rPr>
                        <a:t>  </a:t>
                      </a:r>
                      <a:r>
                        <a:rPr sz="1100" b="0" i="0">
                          <a:solidFill>
                            <a:srgbClr val="0070C0"/>
                          </a:solidFill>
                          <a:latin typeface="Calibri"/>
                        </a:rPr>
                        <a:t>Brand Preference and Switching Rates by Veterinary Endorsement, Product Performance and Pet-owner Satisfaction</a:t>
                      </a:r>
                      <a:endParaRPr sz="1100"/>
                    </a:p>
                  </a:txBody>
                  <a:tcPr marL="428625" marR="9525" marT="9525" marB="0" anchor="ctr"/>
                </a:tc>
              </a:tr>
              <a:tr h="350520">
                <a:tc>
                  <a:txBody>
                    <a:bodyPr wrap="square"/>
                    <a:lstStyle/>
                    <a:p>
                      <a:pPr algn="l"/>
                      <a:r>
                        <a:rPr sz="1100" b="0" i="0">
                          <a:solidFill>
                            <a:srgbClr val="0070C0"/>
                          </a:solidFill>
                          <a:latin typeface="Calibri"/>
                        </a:rPr>
                        <a:t>23.7.</a:t>
                      </a:r>
                      <a:r>
                        <a:rPr sz="700" b="0" i="0">
                          <a:solidFill>
                            <a:srgbClr val="0070C0"/>
                          </a:solidFill>
                          <a:latin typeface="Times New Roman"/>
                        </a:rPr>
                        <a:t>  </a:t>
                      </a:r>
                      <a:r>
                        <a:rPr sz="1100" b="0" i="0">
                          <a:solidFill>
                            <a:srgbClr val="0070C0"/>
                          </a:solidFill>
                          <a:latin typeface="Calibri"/>
                        </a:rPr>
                        <a:t>Retail Channel Preference and Purchase Share across Veterinary Clinics, Pet-specialty Stores and E-commerce Platforms</a:t>
                      </a:r>
                      <a:endParaRPr sz="1100"/>
                    </a:p>
                  </a:txBody>
                  <a:tcPr marL="428625" marR="9525" marT="9525" marB="0" anchor="ctr"/>
                </a:tc>
              </a:tr>
              <a:tr h="350520">
                <a:tc>
                  <a:txBody>
                    <a:bodyPr wrap="square"/>
                    <a:lstStyle/>
                    <a:p>
                      <a:pPr algn="l"/>
                      <a:r>
                        <a:rPr sz="1100" b="0" i="0">
                          <a:solidFill>
                            <a:srgbClr val="0070C0"/>
                          </a:solidFill>
                          <a:latin typeface="Calibri"/>
                        </a:rPr>
                        <a:t>23.8.</a:t>
                      </a:r>
                      <a:r>
                        <a:rPr sz="700" b="0" i="0">
                          <a:solidFill>
                            <a:srgbClr val="0070C0"/>
                          </a:solidFill>
                          <a:latin typeface="Times New Roman"/>
                        </a:rPr>
                        <a:t>  </a:t>
                      </a:r>
                      <a:r>
                        <a:rPr sz="1100" b="0" i="0">
                          <a:solidFill>
                            <a:srgbClr val="0070C0"/>
                          </a:solidFill>
                          <a:latin typeface="Calibri"/>
                        </a:rPr>
                        <a:t>Purchase Barriers by Price Sensitivity, Evidence Awareness, Perceived Efficacy and Administration Challenges</a:t>
                      </a:r>
                      <a:endParaRPr sz="1100"/>
                    </a:p>
                  </a:txBody>
                  <a:tcPr marL="428625" marR="9525" marT="9525" marB="0" anchor="ctr"/>
                </a:tc>
              </a:tr>
              <a:tr h="175260">
                <a:tc>
                  <a:txBody>
                    <a:bodyPr wrap="square"/>
                    <a:lstStyle/>
                    <a:p>
                      <a:pPr algn="l"/>
                      <a:r>
                        <a:rPr sz="1100" b="1" i="0">
                          <a:solidFill>
                            <a:srgbClr val="000000"/>
                          </a:solidFill>
                          <a:latin typeface="Calibri"/>
                        </a:rPr>
                        <a:t>24.</a:t>
                      </a:r>
                      <a:r>
                        <a:rPr sz="700" b="1" i="0">
                          <a:solidFill>
                            <a:srgbClr val="000000"/>
                          </a:solidFill>
                          <a:latin typeface="Times New Roman"/>
                        </a:rPr>
                        <a:t>    </a:t>
                      </a:r>
                      <a:r>
                        <a:rPr sz="1100" b="1" i="0">
                          <a:solidFill>
                            <a:srgbClr val="000000"/>
                          </a:solidFill>
                          <a:latin typeface="Calibri"/>
                        </a:rPr>
                        <a:t>Cognitive Health Claims and Scientific Evidence Benchmarking</a:t>
                      </a:r>
                      <a:endParaRPr sz="1100"/>
                    </a:p>
                  </a:txBody>
                  <a:tcPr marL="171450" marR="9525" marT="9525" marB="0" anchor="ctr"/>
                </a:tc>
              </a:tr>
              <a:tr h="350520">
                <a:tc>
                  <a:txBody>
                    <a:bodyPr wrap="square"/>
                    <a:lstStyle/>
                    <a:p>
                      <a:pPr algn="l"/>
                      <a:r>
                        <a:rPr sz="1100" b="0" i="0">
                          <a:solidFill>
                            <a:srgbClr val="0070C0"/>
                          </a:solidFill>
                          <a:latin typeface="Calibri"/>
                        </a:rPr>
                        <a:t>24.1.</a:t>
                      </a:r>
                      <a:r>
                        <a:rPr sz="700" b="0" i="0">
                          <a:solidFill>
                            <a:srgbClr val="0070C0"/>
                          </a:solidFill>
                          <a:latin typeface="Times New Roman"/>
                        </a:rPr>
                        <a:t>  </a:t>
                      </a:r>
                      <a:r>
                        <a:rPr sz="1100" b="0" i="0">
                          <a:solidFill>
                            <a:srgbClr val="0070C0"/>
                          </a:solidFill>
                          <a:latin typeface="Calibri"/>
                        </a:rPr>
                        <a:t>Cognitive Health Claims by Brand, SKU, Active Ingredient and Target Senior Dog Age Group</a:t>
                      </a:r>
                      <a:endParaRPr sz="1100"/>
                    </a:p>
                  </a:txBody>
                  <a:tcPr marL="428625" marR="9525" marT="9525" marB="0" anchor="ctr"/>
                </a:tc>
              </a:tr>
              <a:tr h="350520">
                <a:tc>
                  <a:txBody>
                    <a:bodyPr wrap="square"/>
                    <a:lstStyle/>
                    <a:p>
                      <a:pPr algn="l"/>
                      <a:r>
                        <a:rPr sz="1100" b="0" i="0">
                          <a:solidFill>
                            <a:srgbClr val="0070C0"/>
                          </a:solidFill>
                          <a:latin typeface="Calibri"/>
                        </a:rPr>
                        <a:t>24.2.</a:t>
                      </a:r>
                      <a:r>
                        <a:rPr sz="700" b="0" i="0">
                          <a:solidFill>
                            <a:srgbClr val="0070C0"/>
                          </a:solidFill>
                          <a:latin typeface="Times New Roman"/>
                        </a:rPr>
                        <a:t>  </a:t>
                      </a:r>
                      <a:r>
                        <a:rPr sz="1100" b="0" i="0">
                          <a:solidFill>
                            <a:srgbClr val="0070C0"/>
                          </a:solidFill>
                          <a:latin typeface="Calibri"/>
                        </a:rPr>
                        <a:t>Active Ingredient Concentration and Inclusion Rates across Products Claiming Memory, Alertness and Cognitive Support</a:t>
                      </a:r>
                      <a:endParaRPr sz="1100"/>
                    </a:p>
                  </a:txBody>
                  <a:tcPr marL="428625" marR="9525" marT="9525" marB="0" anchor="ctr"/>
                </a:tc>
              </a:tr>
              <a:tr h="350520">
                <a:tc>
                  <a:txBody>
                    <a:bodyPr wrap="square"/>
                    <a:lstStyle/>
                    <a:p>
                      <a:pPr algn="l"/>
                      <a:r>
                        <a:rPr sz="1100" b="0" i="0">
                          <a:solidFill>
                            <a:srgbClr val="0070C0"/>
                          </a:solidFill>
                          <a:latin typeface="Calibri"/>
                        </a:rPr>
                        <a:t>24.3.</a:t>
                      </a:r>
                      <a:r>
                        <a:rPr sz="700" b="0" i="0">
                          <a:solidFill>
                            <a:srgbClr val="0070C0"/>
                          </a:solidFill>
                          <a:latin typeface="Times New Roman"/>
                        </a:rPr>
                        <a:t>  </a:t>
                      </a:r>
                      <a:r>
                        <a:rPr sz="1100" b="0" i="0">
                          <a:solidFill>
                            <a:srgbClr val="0070C0"/>
                          </a:solidFill>
                          <a:latin typeface="Calibri"/>
                        </a:rPr>
                        <a:t>Published Clinical Study Coverage by Ingredient, Dosage, Study Design and Cognitive Outcome Measure</a:t>
                      </a:r>
                      <a:endParaRPr sz="1100"/>
                    </a:p>
                  </a:txBody>
                  <a:tcPr marL="428625" marR="9525" marT="9525" marB="0" anchor="ctr"/>
                </a:tc>
              </a:tr>
              <a:tr h="350520">
                <a:tc>
                  <a:txBody>
                    <a:bodyPr wrap="square"/>
                    <a:lstStyle/>
                    <a:p>
                      <a:pPr algn="l"/>
                      <a:r>
                        <a:rPr sz="1100" b="0" i="0">
                          <a:solidFill>
                            <a:srgbClr val="0070C0"/>
                          </a:solidFill>
                          <a:latin typeface="Calibri"/>
                        </a:rPr>
                        <a:t>24.4.</a:t>
                      </a:r>
                      <a:r>
                        <a:rPr sz="700" b="0" i="0">
                          <a:solidFill>
                            <a:srgbClr val="0070C0"/>
                          </a:solidFill>
                          <a:latin typeface="Times New Roman"/>
                        </a:rPr>
                        <a:t>  </a:t>
                      </a:r>
                      <a:r>
                        <a:rPr sz="1100" b="0" i="0">
                          <a:solidFill>
                            <a:srgbClr val="0070C0"/>
                          </a:solidFill>
                          <a:latin typeface="Calibri"/>
                        </a:rPr>
                        <a:t>Scientific Evidence Strength by Ingredient Combination, Cognitive Benefit and Target Dog Population</a:t>
                      </a:r>
                      <a:endParaRPr sz="1100"/>
                    </a:p>
                  </a:txBody>
                  <a:tcPr marL="428625" marR="9525" marT="9525" marB="0" anchor="ctr"/>
                </a:tc>
              </a:tr>
              <a:tr h="350520">
                <a:tc>
                  <a:txBody>
                    <a:bodyPr wrap="square"/>
                    <a:lstStyle/>
                    <a:p>
                      <a:pPr algn="l"/>
                      <a:r>
                        <a:rPr sz="1100" b="0" i="0">
                          <a:solidFill>
                            <a:srgbClr val="0070C0"/>
                          </a:solidFill>
                          <a:latin typeface="Calibri"/>
                        </a:rPr>
                        <a:t>24.5.</a:t>
                      </a:r>
                      <a:r>
                        <a:rPr sz="700" b="0" i="0">
                          <a:solidFill>
                            <a:srgbClr val="0070C0"/>
                          </a:solidFill>
                          <a:latin typeface="Times New Roman"/>
                        </a:rPr>
                        <a:t>  </a:t>
                      </a:r>
                      <a:r>
                        <a:rPr sz="1100" b="0" i="0">
                          <a:solidFill>
                            <a:srgbClr val="0070C0"/>
                          </a:solidFill>
                          <a:latin typeface="Calibri"/>
                        </a:rPr>
                        <a:t>Claim Prevalence by Benefit Type, Including Memory Support, Behavioral Stability, Alertness and Healthy Aging</a:t>
                      </a:r>
                      <a:endParaRPr sz="1100"/>
                    </a:p>
                  </a:txBody>
                  <a:tcPr marL="428625" marR="9525" marT="9525" marB="0" anchor="ctr"/>
                </a:tc>
              </a:tr>
              <a:tr h="350520">
                <a:tc>
                  <a:txBody>
                    <a:bodyPr wrap="square"/>
                    <a:lstStyle/>
                    <a:p>
                      <a:pPr algn="l"/>
                      <a:r>
                        <a:rPr sz="1100" b="0" i="0">
                          <a:solidFill>
                            <a:srgbClr val="0070C0"/>
                          </a:solidFill>
                          <a:latin typeface="Calibri"/>
                        </a:rPr>
                        <a:t>24.6.</a:t>
                      </a:r>
                      <a:r>
                        <a:rPr sz="700" b="0" i="0">
                          <a:solidFill>
                            <a:srgbClr val="0070C0"/>
                          </a:solidFill>
                          <a:latin typeface="Times New Roman"/>
                        </a:rPr>
                        <a:t>  </a:t>
                      </a:r>
                      <a:r>
                        <a:rPr sz="1100" b="0" i="0">
                          <a:solidFill>
                            <a:srgbClr val="0070C0"/>
                          </a:solidFill>
                          <a:latin typeface="Calibri"/>
                        </a:rPr>
                        <a:t>Product Differentiation by Clinically Studied Ingredients, Published Evidence and Evidence-backed Formulation Combinations</a:t>
                      </a:r>
                      <a:endParaRPr sz="1100"/>
                    </a:p>
                  </a:txBody>
                  <a:tcPr marL="428625" marR="9525" marT="9525" marB="0" anchor="ctr"/>
                </a:tc>
              </a:tr>
              <a:tr h="175260">
                <a:tc>
                  <a:txBody>
                    <a:bodyPr wrap="square"/>
                    <a:lstStyle/>
                    <a:p>
                      <a:pPr algn="l"/>
                      <a:endParaRPr sz="110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350520">
                <a:tc>
                  <a:txBody>
                    <a:bodyPr wrap="square"/>
                    <a:lstStyle/>
                    <a:p>
                      <a:pPr algn="l"/>
                      <a:r>
                        <a:rPr sz="1100" b="0" i="0">
                          <a:solidFill>
                            <a:srgbClr val="0070C0"/>
                          </a:solidFill>
                          <a:latin typeface="Calibri"/>
                        </a:rPr>
                        <a:t>24.7.</a:t>
                      </a:r>
                      <a:r>
                        <a:rPr sz="700" b="0" i="0">
                          <a:solidFill>
                            <a:srgbClr val="0070C0"/>
                          </a:solidFill>
                          <a:latin typeface="Times New Roman"/>
                        </a:rPr>
                        <a:t>  </a:t>
                      </a:r>
                      <a:r>
                        <a:rPr sz="1100" b="0" i="0">
                          <a:solidFill>
                            <a:srgbClr val="0070C0"/>
                          </a:solidFill>
                          <a:latin typeface="Calibri"/>
                        </a:rPr>
                        <a:t>Cognitive Health Claim Language by Brand, Product Format, Target Need-State and Evidence Level</a:t>
                      </a:r>
                      <a:endParaRPr sz="1100"/>
                    </a:p>
                  </a:txBody>
                  <a:tcPr marL="428625" marR="9525" marT="9525" marB="0" anchor="ctr"/>
                </a:tc>
              </a:tr>
              <a:tr h="350520">
                <a:tc>
                  <a:txBody>
                    <a:bodyPr wrap="square"/>
                    <a:lstStyle/>
                    <a:p>
                      <a:pPr algn="l"/>
                      <a:r>
                        <a:rPr sz="1100" b="0" i="0">
                          <a:solidFill>
                            <a:srgbClr val="0070C0"/>
                          </a:solidFill>
                          <a:latin typeface="Calibri"/>
                        </a:rPr>
                        <a:t>24.8.</a:t>
                      </a:r>
                      <a:r>
                        <a:rPr sz="700" b="0" i="0">
                          <a:solidFill>
                            <a:srgbClr val="0070C0"/>
                          </a:solidFill>
                          <a:latin typeface="Times New Roman"/>
                        </a:rPr>
                        <a:t>  </a:t>
                      </a:r>
                      <a:r>
                        <a:rPr sz="1100" b="0" i="0">
                          <a:solidFill>
                            <a:srgbClr val="0070C0"/>
                          </a:solidFill>
                          <a:latin typeface="Calibri"/>
                        </a:rPr>
                        <a:t>Claim Substantiation Gaps by Ingredient, Cognitive Benefit, Clinical Evidence Availability and Target Market</a:t>
                      </a:r>
                      <a:endParaRPr sz="1100"/>
                    </a:p>
                  </a:txBody>
                  <a:tcPr marL="428625" marR="9525" marT="9525" marB="0" anchor="ctr"/>
                </a:tc>
              </a:tr>
              <a:tr h="175260">
                <a:tc>
                  <a:txBody>
                    <a:bodyPr wrap="square"/>
                    <a:lstStyle/>
                    <a:p>
                      <a:pPr algn="l"/>
                      <a:r>
                        <a:rPr sz="1100" b="1" i="0">
                          <a:solidFill>
                            <a:srgbClr val="000000"/>
                          </a:solidFill>
                          <a:latin typeface="Calibri"/>
                        </a:rPr>
                        <a:t>25.</a:t>
                      </a:r>
                      <a:r>
                        <a:rPr sz="700" b="1" i="0">
                          <a:solidFill>
                            <a:srgbClr val="000000"/>
                          </a:solidFill>
                          <a:latin typeface="Times New Roman"/>
                        </a:rPr>
                        <a:t>    </a:t>
                      </a:r>
                      <a:r>
                        <a:rPr sz="1100" b="1" i="0">
                          <a:solidFill>
                            <a:srgbClr val="000000"/>
                          </a:solidFill>
                          <a:latin typeface="Calibri"/>
                        </a:rPr>
                        <a:t>Shift Toward Science-Backed &amp; Clinically Validated Ingredients</a:t>
                      </a:r>
                      <a:endParaRPr sz="1100"/>
                    </a:p>
                  </a:txBody>
                  <a:tcPr marL="171450" marR="9525" marT="9525" marB="0" anchor="ctr"/>
                </a:tc>
              </a:tr>
              <a:tr h="175260">
                <a:tc>
                  <a:txBody>
                    <a:bodyPr wrap="square"/>
                    <a:lstStyle/>
                    <a:p>
                      <a:pPr algn="l"/>
                      <a:r>
                        <a:rPr sz="1100" b="0" i="0">
                          <a:solidFill>
                            <a:srgbClr val="0070C0"/>
                          </a:solidFill>
                          <a:latin typeface="Calibri"/>
                        </a:rPr>
                        <a:t>25.1.</a:t>
                      </a:r>
                      <a:r>
                        <a:rPr sz="700" b="0" i="0">
                          <a:solidFill>
                            <a:srgbClr val="0070C0"/>
                          </a:solidFill>
                          <a:latin typeface="Times New Roman"/>
                        </a:rPr>
                        <a:t>  </a:t>
                      </a:r>
                      <a:r>
                        <a:rPr sz="1100" b="0" i="0">
                          <a:solidFill>
                            <a:srgbClr val="0070C0"/>
                          </a:solidFill>
                          <a:latin typeface="Calibri"/>
                        </a:rPr>
                        <a:t>What new ingredients are global manufacturers prioritizing?</a:t>
                      </a:r>
                      <a:endParaRPr sz="1100"/>
                    </a:p>
                  </a:txBody>
                  <a:tcPr marL="428625" marR="9525" marT="9525" marB="0" anchor="ctr"/>
                </a:tc>
              </a:tr>
              <a:tr h="350520">
                <a:tc>
                  <a:txBody>
                    <a:bodyPr wrap="square"/>
                    <a:lstStyle/>
                    <a:p>
                      <a:pPr algn="l"/>
                      <a:r>
                        <a:rPr sz="1100" b="0" i="0">
                          <a:solidFill>
                            <a:srgbClr val="0070C0"/>
                          </a:solidFill>
                          <a:latin typeface="Calibri"/>
                        </a:rPr>
                        <a:t>25.2.</a:t>
                      </a:r>
                      <a:r>
                        <a:rPr sz="700" b="0" i="0">
                          <a:solidFill>
                            <a:srgbClr val="0070C0"/>
                          </a:solidFill>
                          <a:latin typeface="Times New Roman"/>
                        </a:rPr>
                        <a:t>  </a:t>
                      </a:r>
                      <a:r>
                        <a:rPr sz="1100" b="0" i="0">
                          <a:solidFill>
                            <a:srgbClr val="0070C0"/>
                          </a:solidFill>
                          <a:latin typeface="Calibri"/>
                        </a:rPr>
                        <a:t>How quickly are clinically validated and functional ingredients replacing basic formulations?</a:t>
                      </a:r>
                      <a:endParaRPr sz="1100"/>
                    </a:p>
                  </a:txBody>
                  <a:tcPr marL="428625" marR="9525" marT="9525" marB="0" anchor="ctr"/>
                </a:tc>
              </a:tr>
              <a:tr h="175260">
                <a:tc>
                  <a:txBody>
                    <a:bodyPr wrap="square"/>
                    <a:lstStyle/>
                    <a:p>
                      <a:pPr algn="l"/>
                      <a:r>
                        <a:rPr sz="1100" b="0" i="0">
                          <a:solidFill>
                            <a:srgbClr val="0070C0"/>
                          </a:solidFill>
                          <a:latin typeface="Calibri"/>
                        </a:rPr>
                        <a:t>25.3.</a:t>
                      </a:r>
                      <a:r>
                        <a:rPr sz="700" b="0" i="0">
                          <a:solidFill>
                            <a:srgbClr val="0070C0"/>
                          </a:solidFill>
                          <a:latin typeface="Times New Roman"/>
                        </a:rPr>
                        <a:t>  </a:t>
                      </a:r>
                      <a:r>
                        <a:rPr sz="1100" b="0" i="0">
                          <a:solidFill>
                            <a:srgbClr val="0070C0"/>
                          </a:solidFill>
                          <a:latin typeface="Calibri"/>
                        </a:rPr>
                        <a:t>Are manufacturers shifting from single-ingredient to multi-benefit formulations?</a:t>
                      </a:r>
                      <a:endParaRPr sz="1100"/>
                    </a:p>
                  </a:txBody>
                  <a:tcPr marL="428625" marR="9525" marT="9525" marB="0" anchor="ctr"/>
                </a:tc>
              </a:tr>
              <a:tr h="175260">
                <a:tc>
                  <a:txBody>
                    <a:bodyPr wrap="square"/>
                    <a:lstStyle/>
                    <a:p>
                      <a:pPr algn="l"/>
                      <a:r>
                        <a:rPr sz="1100" b="0" i="0">
                          <a:solidFill>
                            <a:srgbClr val="0070C0"/>
                          </a:solidFill>
                          <a:latin typeface="Calibri"/>
                        </a:rPr>
                        <a:t>25.4.</a:t>
                      </a:r>
                      <a:r>
                        <a:rPr sz="700" b="0" i="0">
                          <a:solidFill>
                            <a:srgbClr val="0070C0"/>
                          </a:solidFill>
                          <a:latin typeface="Times New Roman"/>
                        </a:rPr>
                        <a:t>  </a:t>
                      </a:r>
                      <a:r>
                        <a:rPr sz="1100" b="0" i="0">
                          <a:solidFill>
                            <a:srgbClr val="0070C0"/>
                          </a:solidFill>
                          <a:latin typeface="Calibri"/>
                        </a:rPr>
                        <a:t>Which ingredient categories are gaining importance?</a:t>
                      </a:r>
                      <a:endParaRPr sz="1100"/>
                    </a:p>
                  </a:txBody>
                  <a:tcPr marL="428625" marR="9525" marT="9525" marB="0" anchor="ctr"/>
                </a:tc>
              </a:tr>
              <a:tr h="350520">
                <a:tc>
                  <a:txBody>
                    <a:bodyPr wrap="square"/>
                    <a:lstStyle/>
                    <a:p>
                      <a:pPr algn="l"/>
                      <a:r>
                        <a:rPr sz="1100" b="0" i="0">
                          <a:solidFill>
                            <a:srgbClr val="0070C0"/>
                          </a:solidFill>
                          <a:latin typeface="Calibri"/>
                        </a:rPr>
                        <a:t>25.5.</a:t>
                      </a:r>
                      <a:r>
                        <a:rPr sz="700" b="0" i="0">
                          <a:solidFill>
                            <a:srgbClr val="0070C0"/>
                          </a:solidFill>
                          <a:latin typeface="Times New Roman"/>
                        </a:rPr>
                        <a:t>  </a:t>
                      </a:r>
                      <a:r>
                        <a:rPr sz="1100" b="0" i="0">
                          <a:solidFill>
                            <a:srgbClr val="0070C0"/>
                          </a:solidFill>
                          <a:latin typeface="Calibri"/>
                        </a:rPr>
                        <a:t>How are delivery technologies (encapsulation, fermentation, stability-enhancing formats) influencing product development?</a:t>
                      </a:r>
                      <a:endParaRPr sz="1100"/>
                    </a:p>
                  </a:txBody>
                  <a:tcPr marL="428625" marR="9525" marT="9525" marB="0" anchor="ctr"/>
                </a:tc>
              </a:tr>
              <a:tr h="175260">
                <a:tc>
                  <a:txBody>
                    <a:bodyPr wrap="square"/>
                    <a:lstStyle/>
                    <a:p>
                      <a:pPr algn="l"/>
                      <a:r>
                        <a:rPr sz="1100" b="0" i="0">
                          <a:solidFill>
                            <a:srgbClr val="0070C0"/>
                          </a:solidFill>
                          <a:latin typeface="Calibri"/>
                        </a:rPr>
                        <a:t>25.6.</a:t>
                      </a:r>
                      <a:r>
                        <a:rPr sz="700" b="0" i="0">
                          <a:solidFill>
                            <a:srgbClr val="0070C0"/>
                          </a:solidFill>
                          <a:latin typeface="Times New Roman"/>
                        </a:rPr>
                        <a:t>  </a:t>
                      </a:r>
                      <a:r>
                        <a:rPr sz="1100" b="0" i="0">
                          <a:solidFill>
                            <a:srgbClr val="0070C0"/>
                          </a:solidFill>
                          <a:latin typeface="Calibri"/>
                        </a:rPr>
                        <a:t>How fast are EMEA and India shifting from basic to premium and functional variants?</a:t>
                      </a:r>
                      <a:endParaRPr sz="1100"/>
                    </a:p>
                  </a:txBody>
                  <a:tcPr marL="428625" marR="9525" marT="9525" marB="0" anchor="ctr"/>
                </a:tc>
              </a:tr>
              <a:tr h="350520">
                <a:tc>
                  <a:txBody>
                    <a:bodyPr wrap="square"/>
                    <a:lstStyle/>
                    <a:p>
                      <a:pPr algn="l"/>
                      <a:r>
                        <a:rPr sz="1100" b="0" i="0">
                          <a:solidFill>
                            <a:srgbClr val="0070C0"/>
                          </a:solidFill>
                          <a:latin typeface="Calibri"/>
                        </a:rPr>
                        <a:t>25.7.</a:t>
                      </a:r>
                      <a:r>
                        <a:rPr sz="700" b="0" i="0">
                          <a:solidFill>
                            <a:srgbClr val="0070C0"/>
                          </a:solidFill>
                          <a:latin typeface="Times New Roman"/>
                        </a:rPr>
                        <a:t>  </a:t>
                      </a:r>
                      <a:r>
                        <a:rPr sz="1100" b="0" i="0">
                          <a:solidFill>
                            <a:srgbClr val="0070C0"/>
                          </a:solidFill>
                          <a:latin typeface="Calibri"/>
                        </a:rPr>
                        <a:t>Which ingredients are prioritized due to pharmacy (human) and veterinary (pet) influence?</a:t>
                      </a:r>
                      <a:endParaRPr sz="1100"/>
                    </a:p>
                  </a:txBody>
                  <a:tcPr marL="428625" marR="9525" marT="9525" marB="0" anchor="ctr"/>
                </a:tc>
              </a:tr>
              <a:tr h="350520">
                <a:tc>
                  <a:txBody>
                    <a:bodyPr wrap="square"/>
                    <a:lstStyle/>
                    <a:p>
                      <a:pPr algn="l"/>
                      <a:r>
                        <a:rPr sz="1100" b="0" i="0">
                          <a:solidFill>
                            <a:srgbClr val="0070C0"/>
                          </a:solidFill>
                          <a:latin typeface="Calibri"/>
                        </a:rPr>
                        <a:t>25.8.</a:t>
                      </a:r>
                      <a:r>
                        <a:rPr sz="700" b="0" i="0">
                          <a:solidFill>
                            <a:srgbClr val="0070C0"/>
                          </a:solidFill>
                          <a:latin typeface="Times New Roman"/>
                        </a:rPr>
                        <a:t>  </a:t>
                      </a:r>
                      <a:r>
                        <a:rPr sz="1100" b="0" i="0">
                          <a:solidFill>
                            <a:srgbClr val="0070C0"/>
                          </a:solidFill>
                          <a:latin typeface="Calibri"/>
                        </a:rPr>
                        <a:t>Where do EMEA and Indian manufacturers remain conservative compared to global peers?</a:t>
                      </a:r>
                      <a:endParaRPr sz="1100"/>
                    </a:p>
                  </a:txBody>
                  <a:tcPr marL="428625" marR="9525" marT="9525" marB="0" anchor="ctr"/>
                </a:tc>
              </a:tr>
              <a:tr h="175260">
                <a:tc>
                  <a:txBody>
                    <a:bodyPr wrap="square"/>
                    <a:lstStyle/>
                    <a:p>
                      <a:pPr algn="l"/>
                      <a:r>
                        <a:rPr sz="1100" b="1" i="0">
                          <a:solidFill>
                            <a:srgbClr val="000000"/>
                          </a:solidFill>
                          <a:latin typeface="Calibri"/>
                        </a:rPr>
                        <a:t>Section 7: Competition Assessment</a:t>
                      </a:r>
                      <a:endParaRPr sz="1100"/>
                    </a:p>
                  </a:txBody>
                  <a:tcPr marL="9525" marR="9525" marT="9525" marB="0" anchor="ctr"/>
                </a:tc>
              </a:tr>
              <a:tr h="175260">
                <a:tc>
                  <a:txBody>
                    <a:bodyPr wrap="square"/>
                    <a:lstStyle/>
                    <a:p>
                      <a:pPr algn="l"/>
                      <a:r>
                        <a:rPr sz="1100" b="1" i="0">
                          <a:solidFill>
                            <a:srgbClr val="000000"/>
                          </a:solidFill>
                          <a:latin typeface="Calibri"/>
                        </a:rPr>
                        <a:t>26.</a:t>
                      </a:r>
                      <a:r>
                        <a:rPr sz="700" b="1" i="0">
                          <a:solidFill>
                            <a:srgbClr val="000000"/>
                          </a:solidFill>
                          <a:latin typeface="Times New Roman"/>
                        </a:rPr>
                        <a:t>    </a:t>
                      </a:r>
                      <a:r>
                        <a:rPr sz="1100" b="1" i="0">
                          <a:solidFill>
                            <a:srgbClr val="000000"/>
                          </a:solidFill>
                          <a:latin typeface="Calibri"/>
                        </a:rPr>
                        <a:t>Competition at a Glance- a Dashboard View</a:t>
                      </a:r>
                      <a:endParaRPr sz="1100"/>
                    </a:p>
                  </a:txBody>
                  <a:tcPr marL="171450" marR="9525" marT="9525" marB="0" anchor="ctr"/>
                </a:tc>
              </a:tr>
              <a:tr h="175260">
                <a:tc>
                  <a:txBody>
                    <a:bodyPr wrap="square"/>
                    <a:lstStyle/>
                    <a:p>
                      <a:pPr algn="l"/>
                      <a:r>
                        <a:rPr sz="1100" b="1" i="0">
                          <a:solidFill>
                            <a:srgbClr val="000000"/>
                          </a:solidFill>
                          <a:latin typeface="Calibri"/>
                        </a:rPr>
                        <a:t>27.</a:t>
                      </a:r>
                      <a:r>
                        <a:rPr sz="700" b="1" i="0">
                          <a:solidFill>
                            <a:srgbClr val="000000"/>
                          </a:solidFill>
                          <a:latin typeface="Times New Roman"/>
                        </a:rPr>
                        <a:t>    </a:t>
                      </a:r>
                      <a:r>
                        <a:rPr sz="1100" b="1" i="0">
                          <a:solidFill>
                            <a:srgbClr val="000000"/>
                          </a:solidFill>
                          <a:latin typeface="Calibri"/>
                        </a:rPr>
                        <a:t>Company Share (%) Analysis, 2023, 2025, 2026</a:t>
                      </a:r>
                      <a:endParaRPr sz="1100"/>
                    </a:p>
                  </a:txBody>
                  <a:tcPr marL="171450" marR="9525" marT="9525" marB="0" anchor="ctr"/>
                </a:tc>
              </a:tr>
              <a:tr h="175260">
                <a:tc>
                  <a:txBody>
                    <a:bodyPr wrap="square"/>
                    <a:lstStyle/>
                    <a:p>
                      <a:pPr algn="l"/>
                      <a:r>
                        <a:rPr sz="1100" b="0" i="0">
                          <a:solidFill>
                            <a:srgbClr val="0070C0"/>
                          </a:solidFill>
                          <a:latin typeface="Calibri"/>
                        </a:rPr>
                        <a:t>27.1.</a:t>
                      </a:r>
                      <a:r>
                        <a:rPr sz="700" b="0" i="0">
                          <a:solidFill>
                            <a:srgbClr val="0070C0"/>
                          </a:solidFill>
                          <a:latin typeface="Times New Roman"/>
                        </a:rPr>
                        <a:t>  </a:t>
                      </a:r>
                      <a:r>
                        <a:rPr sz="1100" b="0" i="0">
                          <a:solidFill>
                            <a:srgbClr val="0070C0"/>
                          </a:solidFill>
                          <a:latin typeface="Calibri"/>
                        </a:rPr>
                        <a:t>By Region</a:t>
                      </a:r>
                      <a:endParaRPr sz="1100"/>
                    </a:p>
                  </a:txBody>
                  <a:tcPr marL="428625" marR="9525" marT="9525" marB="0" anchor="ctr"/>
                </a:tc>
              </a:tr>
              <a:tr h="175260">
                <a:tc>
                  <a:txBody>
                    <a:bodyPr wrap="square"/>
                    <a:lstStyle/>
                    <a:p>
                      <a:pPr algn="l"/>
                      <a:r>
                        <a:rPr sz="1100" b="0" i="0">
                          <a:solidFill>
                            <a:srgbClr val="0070C0"/>
                          </a:solidFill>
                          <a:latin typeface="Calibri"/>
                        </a:rPr>
                        <a:t>27.2.</a:t>
                      </a:r>
                      <a:r>
                        <a:rPr sz="700" b="0" i="0">
                          <a:solidFill>
                            <a:srgbClr val="0070C0"/>
                          </a:solidFill>
                          <a:latin typeface="Times New Roman"/>
                        </a:rPr>
                        <a:t>  </a:t>
                      </a:r>
                      <a:r>
                        <a:rPr sz="1100" b="0" i="0">
                          <a:solidFill>
                            <a:srgbClr val="0070C0"/>
                          </a:solidFill>
                          <a:latin typeface="Calibri"/>
                        </a:rPr>
                        <a:t>By Product Type</a:t>
                      </a:r>
                      <a:endParaRPr sz="1100"/>
                    </a:p>
                  </a:txBody>
                  <a:tcPr marL="428625" marR="9525" marT="9525" marB="0" anchor="ctr"/>
                </a:tc>
              </a:tr>
              <a:tr h="175260">
                <a:tc>
                  <a:txBody>
                    <a:bodyPr wrap="square"/>
                    <a:lstStyle/>
                    <a:p>
                      <a:pPr algn="l"/>
                      <a:r>
                        <a:rPr sz="1100" b="0" i="0">
                          <a:solidFill>
                            <a:srgbClr val="0070C0"/>
                          </a:solidFill>
                          <a:latin typeface="Calibri"/>
                        </a:rPr>
                        <a:t>27.3.</a:t>
                      </a:r>
                      <a:r>
                        <a:rPr sz="700" b="0" i="0">
                          <a:solidFill>
                            <a:srgbClr val="0070C0"/>
                          </a:solidFill>
                          <a:latin typeface="Times New Roman"/>
                        </a:rPr>
                        <a:t>  </a:t>
                      </a:r>
                      <a:r>
                        <a:rPr sz="1100" b="0" i="0">
                          <a:solidFill>
                            <a:srgbClr val="0070C0"/>
                          </a:solidFill>
                          <a:latin typeface="Calibri"/>
                        </a:rPr>
                        <a:t>By End Use Application/ Sales Channel</a:t>
                      </a:r>
                      <a:endParaRPr sz="1100"/>
                    </a:p>
                  </a:txBody>
                  <a:tcPr marL="428625" marR="9525" marT="9525" marB="0" anchor="ctr"/>
                </a:tc>
              </a:tr>
              <a:tr h="175260">
                <a:tc>
                  <a:txBody>
                    <a:bodyPr wrap="square"/>
                    <a:lstStyle/>
                    <a:p>
                      <a:pPr algn="l"/>
                      <a:r>
                        <a:rPr sz="1100" b="1" i="0">
                          <a:solidFill>
                            <a:srgbClr val="000000"/>
                          </a:solidFill>
                          <a:latin typeface="Calibri"/>
                        </a:rPr>
                        <a:t>28.</a:t>
                      </a:r>
                      <a:r>
                        <a:rPr sz="700" b="1" i="0">
                          <a:solidFill>
                            <a:srgbClr val="000000"/>
                          </a:solidFill>
                          <a:latin typeface="Times New Roman"/>
                        </a:rPr>
                        <a:t>    </a:t>
                      </a:r>
                      <a:r>
                        <a:rPr sz="1100" b="1" i="0">
                          <a:solidFill>
                            <a:srgbClr val="000000"/>
                          </a:solidFill>
                          <a:latin typeface="Calibri"/>
                        </a:rPr>
                        <a:t>Company Share Breakdown (2026)</a:t>
                      </a:r>
                      <a:endParaRPr sz="1100"/>
                    </a:p>
                  </a:txBody>
                  <a:tcPr marL="171450" marR="9525" marT="9525" marB="0" anchor="ctr"/>
                </a:tc>
              </a:tr>
              <a:tr h="175260">
                <a:tc>
                  <a:txBody>
                    <a:bodyPr wrap="square"/>
                    <a:lstStyle/>
                    <a:p>
                      <a:pPr algn="l"/>
                      <a:r>
                        <a:rPr sz="1100" b="0" i="0">
                          <a:solidFill>
                            <a:srgbClr val="0070C0"/>
                          </a:solidFill>
                          <a:latin typeface="Calibri"/>
                        </a:rPr>
                        <a:t>28.1.</a:t>
                      </a:r>
                      <a:r>
                        <a:rPr sz="700" b="0" i="0">
                          <a:solidFill>
                            <a:srgbClr val="0070C0"/>
                          </a:solidFill>
                          <a:latin typeface="Times New Roman"/>
                        </a:rPr>
                        <a:t>  </a:t>
                      </a:r>
                      <a:r>
                        <a:rPr sz="1100" b="0" i="0">
                          <a:solidFill>
                            <a:srgbClr val="0070C0"/>
                          </a:solidFill>
                          <a:latin typeface="Calibri"/>
                        </a:rPr>
                        <a:t>Top Players (Tier 1)</a:t>
                      </a:r>
                      <a:endParaRPr sz="1100"/>
                    </a:p>
                  </a:txBody>
                  <a:tcPr marL="428625" marR="9525" marT="9525" marB="0" anchor="ctr"/>
                </a:tc>
              </a:tr>
              <a:tr h="175260">
                <a:tc>
                  <a:txBody>
                    <a:bodyPr wrap="square"/>
                    <a:lstStyle/>
                    <a:p>
                      <a:pPr algn="l"/>
                      <a:r>
                        <a:rPr sz="1100" b="0" i="0">
                          <a:solidFill>
                            <a:srgbClr val="0070C0"/>
                          </a:solidFill>
                          <a:latin typeface="Calibri"/>
                        </a:rPr>
                        <a:t>28.2.</a:t>
                      </a:r>
                      <a:r>
                        <a:rPr sz="700" b="0" i="0">
                          <a:solidFill>
                            <a:srgbClr val="0070C0"/>
                          </a:solidFill>
                          <a:latin typeface="Times New Roman"/>
                        </a:rPr>
                        <a:t>  </a:t>
                      </a:r>
                      <a:r>
                        <a:rPr sz="1100" b="0" i="0">
                          <a:solidFill>
                            <a:srgbClr val="0070C0"/>
                          </a:solidFill>
                          <a:latin typeface="Calibri"/>
                        </a:rPr>
                        <a:t>Mid-Sized Players (Tier 2)</a:t>
                      </a:r>
                      <a:endParaRPr sz="1100"/>
                    </a:p>
                  </a:txBody>
                  <a:tcPr marL="428625" marR="9525" marT="9525" marB="0" anchor="ctr"/>
                </a:tc>
              </a:tr>
              <a:tr h="175260">
                <a:tc>
                  <a:txBody>
                    <a:bodyPr wrap="square"/>
                    <a:lstStyle/>
                    <a:p>
                      <a:pPr algn="l"/>
                      <a:r>
                        <a:rPr sz="1100" b="0" i="0">
                          <a:solidFill>
                            <a:srgbClr val="0070C0"/>
                          </a:solidFill>
                          <a:latin typeface="Calibri"/>
                        </a:rPr>
                        <a:t>28.3.</a:t>
                      </a:r>
                      <a:r>
                        <a:rPr sz="700" b="0" i="0">
                          <a:solidFill>
                            <a:srgbClr val="0070C0"/>
                          </a:solidFill>
                          <a:latin typeface="Times New Roman"/>
                        </a:rPr>
                        <a:t>  </a:t>
                      </a:r>
                      <a:r>
                        <a:rPr sz="1100" b="0" i="0">
                          <a:solidFill>
                            <a:srgbClr val="0070C0"/>
                          </a:solidFill>
                          <a:latin typeface="Calibri"/>
                        </a:rPr>
                        <a:t>Emerging/Local Players (Tier 3)</a:t>
                      </a:r>
                      <a:endParaRPr sz="1100"/>
                    </a:p>
                  </a:txBody>
                  <a:tcPr marL="428625" marR="9525" marT="9525" marB="0" anchor="ctr"/>
                </a:tc>
              </a:tr>
              <a:tr h="175260">
                <a:tc>
                  <a:txBody>
                    <a:bodyPr wrap="square"/>
                    <a:lstStyle/>
                    <a:p>
                      <a:pPr algn="l"/>
                      <a:r>
                        <a:rPr sz="1100" b="1" i="0">
                          <a:solidFill>
                            <a:srgbClr val="000000"/>
                          </a:solidFill>
                          <a:latin typeface="Calibri"/>
                        </a:rPr>
                        <a:t>29.</a:t>
                      </a:r>
                      <a:r>
                        <a:rPr sz="700" b="1" i="0">
                          <a:solidFill>
                            <a:srgbClr val="000000"/>
                          </a:solidFill>
                          <a:latin typeface="Times New Roman"/>
                        </a:rPr>
                        <a:t>    </a:t>
                      </a:r>
                      <a:r>
                        <a:rPr sz="1100" b="1" i="0">
                          <a:solidFill>
                            <a:srgbClr val="000000"/>
                          </a:solidFill>
                          <a:latin typeface="Calibri"/>
                        </a:rPr>
                        <a:t>Company Profile- American-based</a:t>
                      </a:r>
                      <a:endParaRPr sz="1100"/>
                    </a:p>
                  </a:txBody>
                  <a:tcPr marL="171450" marR="9525" marT="9525" marB="0" anchor="ctr"/>
                </a:tc>
              </a:tr>
              <a:tr h="175260">
                <a:tc>
                  <a:txBody>
                    <a:bodyPr wrap="square"/>
                    <a:lstStyle/>
                    <a:p>
                      <a:pPr algn="l"/>
                      <a:r>
                        <a:rPr sz="1100" b="0" i="0">
                          <a:solidFill>
                            <a:srgbClr val="0070C0"/>
                          </a:solidFill>
                          <a:latin typeface="Calibri"/>
                        </a:rPr>
                        <a:t>29.1.</a:t>
                      </a:r>
                      <a:r>
                        <a:rPr sz="700" b="0" i="0">
                          <a:solidFill>
                            <a:srgbClr val="0070C0"/>
                          </a:solidFill>
                          <a:latin typeface="Times New Roman"/>
                        </a:rPr>
                        <a:t>  </a:t>
                      </a:r>
                      <a:r>
                        <a:rPr sz="1100" b="0" i="0">
                          <a:solidFill>
                            <a:srgbClr val="0070C0"/>
                          </a:solidFill>
                          <a:latin typeface="Calibri"/>
                        </a:rPr>
                        <a:t>Standard Process</a:t>
                      </a:r>
                      <a:endParaRPr sz="1100"/>
                    </a:p>
                  </a:txBody>
                  <a:tcPr marL="428625" marR="9525" marT="9525" marB="0" anchor="ctr"/>
                </a:tc>
              </a:tr>
              <a:tr h="175260">
                <a:tc>
                  <a:txBody>
                    <a:bodyPr wrap="square"/>
                    <a:lstStyle/>
                    <a:p>
                      <a:pPr algn="l"/>
                      <a:r>
                        <a:rPr sz="1100" b="0" i="0">
                          <a:solidFill>
                            <a:srgbClr val="000000"/>
                          </a:solidFill>
                          <a:latin typeface="Calibri"/>
                        </a:rPr>
                        <a:t>29.1.1.</a:t>
                      </a:r>
                      <a:r>
                        <a:rPr sz="700" b="0" i="0">
                          <a:solidFill>
                            <a:srgbClr val="000000"/>
                          </a:solidFill>
                          <a:latin typeface="Times New Roman"/>
                        </a:rPr>
                        <a:t> </a:t>
                      </a:r>
                      <a:r>
                        <a:rPr sz="1100" b="0" i="0">
                          <a:solidFill>
                            <a:srgbClr val="000000"/>
                          </a:solidFill>
                          <a:latin typeface="Calibri"/>
                        </a:rPr>
                        <a:t>Product Portfolio</a:t>
                      </a:r>
                      <a:endParaRPr sz="1100"/>
                    </a:p>
                  </a:txBody>
                  <a:tcPr marL="771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(7/8)</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29.1.2.</a:t>
                      </a:r>
                      <a:r>
                        <a:rPr sz="700" b="0" i="0">
                          <a:solidFill>
                            <a:srgbClr val="000000"/>
                          </a:solidFill>
                          <a:latin typeface="Times New Roman"/>
                        </a:rPr>
                        <a:t> </a:t>
                      </a:r>
                      <a:r>
                        <a:rPr sz="1100" b="0" i="0">
                          <a:solidFill>
                            <a:srgbClr val="000000"/>
                          </a:solidFill>
                          <a:latin typeface="Calibri"/>
                        </a:rPr>
                        <a:t>Apparent Production Capacity / Manufacturing Footprint</a:t>
                      </a:r>
                      <a:endParaRPr sz="1100"/>
                    </a:p>
                  </a:txBody>
                  <a:tcPr marL="771525" marR="9525" marT="9525" marB="0" anchor="ctr"/>
                </a:tc>
              </a:tr>
              <a:tr h="175260">
                <a:tc>
                  <a:txBody>
                    <a:bodyPr wrap="square"/>
                    <a:lstStyle/>
                    <a:p>
                      <a:pPr algn="l"/>
                      <a:r>
                        <a:rPr sz="1100" b="0" i="0">
                          <a:solidFill>
                            <a:srgbClr val="000000"/>
                          </a:solidFill>
                          <a:latin typeface="Calibri"/>
                        </a:rPr>
                        <a:t>29.1.3.</a:t>
                      </a:r>
                      <a:r>
                        <a:rPr sz="700" b="0" i="0">
                          <a:solidFill>
                            <a:srgbClr val="000000"/>
                          </a:solidFill>
                          <a:latin typeface="Times New Roman"/>
                        </a:rPr>
                        <a:t> </a:t>
                      </a:r>
                      <a:r>
                        <a:rPr sz="1100" b="0" i="0">
                          <a:solidFill>
                            <a:srgbClr val="000000"/>
                          </a:solidFill>
                          <a:latin typeface="Calibri"/>
                        </a:rPr>
                        <a:t>Pricing Analysis (USD Per Unit) By Product Type</a:t>
                      </a:r>
                      <a:endParaRPr sz="1100"/>
                    </a:p>
                  </a:txBody>
                  <a:tcPr marL="771525" marR="9525" marT="9525" marB="0" anchor="ctr"/>
                </a:tc>
              </a:tr>
              <a:tr h="175260">
                <a:tc>
                  <a:txBody>
                    <a:bodyPr wrap="square"/>
                    <a:lstStyle/>
                    <a:p>
                      <a:pPr algn="l"/>
                      <a:r>
                        <a:rPr sz="1100" b="0" i="0">
                          <a:solidFill>
                            <a:srgbClr val="000000"/>
                          </a:solidFill>
                          <a:latin typeface="Calibri"/>
                        </a:rPr>
                        <a:t>29.1.4.</a:t>
                      </a:r>
                      <a:r>
                        <a:rPr sz="700" b="0" i="0">
                          <a:solidFill>
                            <a:srgbClr val="000000"/>
                          </a:solidFill>
                          <a:latin typeface="Times New Roman"/>
                        </a:rPr>
                        <a:t> </a:t>
                      </a:r>
                      <a:r>
                        <a:rPr sz="1100" b="0" i="0">
                          <a:solidFill>
                            <a:srgbClr val="000000"/>
                          </a:solidFill>
                          <a:latin typeface="Calibri"/>
                        </a:rPr>
                        <a:t>Revenue (USD Mn) and Market Share by Market Segments</a:t>
                      </a:r>
                      <a:endParaRPr sz="1100"/>
                    </a:p>
                  </a:txBody>
                  <a:tcPr marL="771525" marR="9525" marT="9525" marB="0" anchor="ctr"/>
                </a:tc>
              </a:tr>
              <a:tr h="175260">
                <a:tc>
                  <a:txBody>
                    <a:bodyPr wrap="square"/>
                    <a:lstStyle/>
                    <a:p>
                      <a:pPr algn="l"/>
                      <a:r>
                        <a:rPr sz="1100" b="0" i="1">
                          <a:solidFill>
                            <a:srgbClr val="000000"/>
                          </a:solidFill>
                          <a:latin typeface="Calibri"/>
                        </a:rPr>
                        <a:t>29.1.4.1.</a:t>
                      </a:r>
                      <a:r>
                        <a:rPr sz="700" b="0" i="1">
                          <a:solidFill>
                            <a:srgbClr val="000000"/>
                          </a:solidFill>
                          <a:latin typeface="Times New Roman"/>
                        </a:rPr>
                        <a:t> </a:t>
                      </a:r>
                      <a:r>
                        <a:rPr sz="1100" b="0" i="1">
                          <a:solidFill>
                            <a:srgbClr val="000000"/>
                          </a:solidFill>
                          <a:latin typeface="Calibri"/>
                        </a:rPr>
                        <a:t>Product Sales</a:t>
                      </a:r>
                      <a:endParaRPr sz="1100"/>
                    </a:p>
                  </a:txBody>
                  <a:tcPr marL="1028700" marR="9525" marT="9525" marB="0" anchor="ctr"/>
                </a:tc>
              </a:tr>
              <a:tr h="175260">
                <a:tc>
                  <a:txBody>
                    <a:bodyPr wrap="square"/>
                    <a:lstStyle/>
                    <a:p>
                      <a:pPr algn="l"/>
                      <a:r>
                        <a:rPr sz="1100" b="0" i="1">
                          <a:solidFill>
                            <a:srgbClr val="000000"/>
                          </a:solidFill>
                          <a:latin typeface="Calibri"/>
                        </a:rPr>
                        <a:t>29.1.4.2.</a:t>
                      </a:r>
                      <a:r>
                        <a:rPr sz="700" b="0" i="1">
                          <a:solidFill>
                            <a:srgbClr val="000000"/>
                          </a:solidFill>
                          <a:latin typeface="Times New Roman"/>
                        </a:rPr>
                        <a:t> </a:t>
                      </a:r>
                      <a:r>
                        <a:rPr sz="1100" b="0" i="1">
                          <a:solidFill>
                            <a:srgbClr val="000000"/>
                          </a:solidFill>
                          <a:latin typeface="Calibri"/>
                        </a:rPr>
                        <a:t>Channel Sales</a:t>
                      </a:r>
                      <a:endParaRPr sz="1100"/>
                    </a:p>
                  </a:txBody>
                  <a:tcPr marL="1028700" marR="9525" marT="9525" marB="0" anchor="ctr"/>
                </a:tc>
              </a:tr>
              <a:tr h="175260">
                <a:tc>
                  <a:txBody>
                    <a:bodyPr wrap="square"/>
                    <a:lstStyle/>
                    <a:p>
                      <a:pPr algn="l"/>
                      <a:r>
                        <a:rPr sz="1100" b="0" i="1">
                          <a:solidFill>
                            <a:srgbClr val="000000"/>
                          </a:solidFill>
                          <a:latin typeface="Calibri"/>
                        </a:rPr>
                        <a:t>29.1.4.3.</a:t>
                      </a:r>
                      <a:r>
                        <a:rPr sz="700" b="0" i="1">
                          <a:solidFill>
                            <a:srgbClr val="000000"/>
                          </a:solidFill>
                          <a:latin typeface="Times New Roman"/>
                        </a:rPr>
                        <a:t> </a:t>
                      </a:r>
                      <a:r>
                        <a:rPr sz="1100" b="0" i="1">
                          <a:solidFill>
                            <a:srgbClr val="000000"/>
                          </a:solidFill>
                          <a:latin typeface="Calibri"/>
                        </a:rPr>
                        <a:t>Regional Sales</a:t>
                      </a:r>
                      <a:endParaRPr sz="1100"/>
                    </a:p>
                  </a:txBody>
                  <a:tcPr marL="1028700" marR="9525" marT="9525" marB="0" anchor="ctr"/>
                </a:tc>
              </a:tr>
              <a:tr h="175260">
                <a:tc>
                  <a:txBody>
                    <a:bodyPr wrap="square"/>
                    <a:lstStyle/>
                    <a:p>
                      <a:pPr algn="l"/>
                      <a:r>
                        <a:rPr sz="1100" b="0" i="0">
                          <a:solidFill>
                            <a:srgbClr val="000000"/>
                          </a:solidFill>
                          <a:latin typeface="Calibri"/>
                        </a:rPr>
                        <a:t>29.1.5.</a:t>
                      </a:r>
                      <a:r>
                        <a:rPr sz="700" b="0" i="0">
                          <a:solidFill>
                            <a:srgbClr val="000000"/>
                          </a:solidFill>
                          <a:latin typeface="Times New Roman"/>
                        </a:rPr>
                        <a:t> </a:t>
                      </a:r>
                      <a:r>
                        <a:rPr sz="1100" b="0" i="0">
                          <a:solidFill>
                            <a:srgbClr val="000000"/>
                          </a:solidFill>
                          <a:latin typeface="Calibri"/>
                        </a:rPr>
                        <a:t>Sales Footprint</a:t>
                      </a:r>
                      <a:endParaRPr sz="1100"/>
                    </a:p>
                  </a:txBody>
                  <a:tcPr marL="771525" marR="9525" marT="9525" marB="0" anchor="ctr"/>
                </a:tc>
              </a:tr>
              <a:tr h="175260">
                <a:tc>
                  <a:txBody>
                    <a:bodyPr wrap="square"/>
                    <a:lstStyle/>
                    <a:p>
                      <a:pPr algn="l"/>
                      <a:r>
                        <a:rPr sz="1100" b="0" i="0">
                          <a:solidFill>
                            <a:srgbClr val="000000"/>
                          </a:solidFill>
                          <a:latin typeface="Calibri"/>
                        </a:rPr>
                        <a:t>29.1.6.</a:t>
                      </a:r>
                      <a:r>
                        <a:rPr sz="700" b="0" i="0">
                          <a:solidFill>
                            <a:srgbClr val="000000"/>
                          </a:solidFill>
                          <a:latin typeface="Times New Roman"/>
                        </a:rPr>
                        <a:t> </a:t>
                      </a:r>
                      <a:r>
                        <a:rPr sz="1100" b="0" i="0">
                          <a:solidFill>
                            <a:srgbClr val="000000"/>
                          </a:solidFill>
                          <a:latin typeface="Calibri"/>
                        </a:rPr>
                        <a:t>Strategy Overview</a:t>
                      </a:r>
                      <a:endParaRPr sz="1100"/>
                    </a:p>
                  </a:txBody>
                  <a:tcPr marL="771525" marR="9525" marT="9525" marB="0" anchor="ctr"/>
                </a:tc>
              </a:tr>
              <a:tr h="175260">
                <a:tc>
                  <a:txBody>
                    <a:bodyPr wrap="square"/>
                    <a:lstStyle/>
                    <a:p>
                      <a:pPr algn="l"/>
                      <a:r>
                        <a:rPr sz="1100" b="0" i="1">
                          <a:solidFill>
                            <a:srgbClr val="000000"/>
                          </a:solidFill>
                          <a:latin typeface="Calibri"/>
                        </a:rPr>
                        <a:t>29.1.6.1.</a:t>
                      </a:r>
                      <a:r>
                        <a:rPr sz="700" b="0" i="1">
                          <a:solidFill>
                            <a:srgbClr val="000000"/>
                          </a:solidFill>
                          <a:latin typeface="Times New Roman"/>
                        </a:rPr>
                        <a:t> </a:t>
                      </a:r>
                      <a:r>
                        <a:rPr sz="1100" b="0" i="1">
                          <a:solidFill>
                            <a:srgbClr val="000000"/>
                          </a:solidFill>
                          <a:latin typeface="Calibri"/>
                        </a:rPr>
                        <a:t>Marketing Strategy</a:t>
                      </a:r>
                      <a:endParaRPr sz="1100"/>
                    </a:p>
                  </a:txBody>
                  <a:tcPr marL="1028700" marR="9525" marT="9525" marB="0" anchor="ctr"/>
                </a:tc>
              </a:tr>
              <a:tr h="175260">
                <a:tc>
                  <a:txBody>
                    <a:bodyPr wrap="square"/>
                    <a:lstStyle/>
                    <a:p>
                      <a:pPr algn="l"/>
                      <a:r>
                        <a:rPr sz="1100" b="0" i="1">
                          <a:solidFill>
                            <a:srgbClr val="000000"/>
                          </a:solidFill>
                          <a:latin typeface="Calibri"/>
                        </a:rPr>
                        <a:t>29.1.6.2.</a:t>
                      </a:r>
                      <a:r>
                        <a:rPr sz="700" b="0" i="1">
                          <a:solidFill>
                            <a:srgbClr val="000000"/>
                          </a:solidFill>
                          <a:latin typeface="Times New Roman"/>
                        </a:rPr>
                        <a:t> </a:t>
                      </a:r>
                      <a:r>
                        <a:rPr sz="1100" b="0" i="1">
                          <a:solidFill>
                            <a:srgbClr val="000000"/>
                          </a:solidFill>
                          <a:latin typeface="Calibri"/>
                        </a:rPr>
                        <a:t>Product Strategy</a:t>
                      </a:r>
                      <a:endParaRPr sz="1100"/>
                    </a:p>
                  </a:txBody>
                  <a:tcPr marL="1028700" marR="9525" marT="9525" marB="0" anchor="ctr"/>
                </a:tc>
              </a:tr>
              <a:tr h="175260">
                <a:tc>
                  <a:txBody>
                    <a:bodyPr wrap="square"/>
                    <a:lstStyle/>
                    <a:p>
                      <a:pPr algn="l"/>
                      <a:r>
                        <a:rPr sz="1100" b="0" i="1">
                          <a:solidFill>
                            <a:srgbClr val="000000"/>
                          </a:solidFill>
                          <a:latin typeface="Calibri"/>
                        </a:rPr>
                        <a:t>29.1.6.3.</a:t>
                      </a:r>
                      <a:r>
                        <a:rPr sz="700" b="0" i="1">
                          <a:solidFill>
                            <a:srgbClr val="000000"/>
                          </a:solidFill>
                          <a:latin typeface="Times New Roman"/>
                        </a:rPr>
                        <a:t> </a:t>
                      </a:r>
                      <a:r>
                        <a:rPr sz="1100" b="0" i="1">
                          <a:solidFill>
                            <a:srgbClr val="000000"/>
                          </a:solidFill>
                          <a:latin typeface="Calibri"/>
                        </a:rPr>
                        <a:t>Channel Strategy</a:t>
                      </a:r>
                      <a:endParaRPr sz="1100"/>
                    </a:p>
                  </a:txBody>
                  <a:tcPr marL="1028700" marR="9525" marT="9525" marB="0" anchor="ctr"/>
                </a:tc>
              </a:tr>
              <a:tr h="175260">
                <a:tc>
                  <a:txBody>
                    <a:bodyPr wrap="square"/>
                    <a:lstStyle/>
                    <a:p>
                      <a:pPr algn="l"/>
                      <a:r>
                        <a:rPr sz="1100" b="0" i="1">
                          <a:solidFill>
                            <a:srgbClr val="000000"/>
                          </a:solidFill>
                          <a:latin typeface="Calibri"/>
                        </a:rPr>
                        <a:t>29.1.6.4.</a:t>
                      </a:r>
                      <a:r>
                        <a:rPr sz="700" b="0" i="1">
                          <a:solidFill>
                            <a:srgbClr val="000000"/>
                          </a:solidFill>
                          <a:latin typeface="Times New Roman"/>
                        </a:rPr>
                        <a:t> </a:t>
                      </a:r>
                      <a:r>
                        <a:rPr sz="1100" b="0" i="1">
                          <a:solidFill>
                            <a:srgbClr val="000000"/>
                          </a:solidFill>
                          <a:latin typeface="Calibri"/>
                        </a:rPr>
                        <a:t>Pricing Strategy</a:t>
                      </a:r>
                      <a:endParaRPr sz="1100"/>
                    </a:p>
                  </a:txBody>
                  <a:tcPr marL="1028700" marR="9525" marT="9525" marB="0" anchor="ctr"/>
                </a:tc>
              </a:tr>
              <a:tr h="175260">
                <a:tc>
                  <a:txBody>
                    <a:bodyPr wrap="square"/>
                    <a:lstStyle/>
                    <a:p>
                      <a:pPr algn="l"/>
                      <a:r>
                        <a:rPr sz="1100" b="0" i="0">
                          <a:solidFill>
                            <a:srgbClr val="000000"/>
                          </a:solidFill>
                          <a:latin typeface="Calibri"/>
                        </a:rPr>
                        <a:t>29.1.7.</a:t>
                      </a:r>
                      <a:r>
                        <a:rPr sz="700" b="0" i="0">
                          <a:solidFill>
                            <a:srgbClr val="000000"/>
                          </a:solidFill>
                          <a:latin typeface="Times New Roman"/>
                        </a:rPr>
                        <a:t> </a:t>
                      </a:r>
                      <a:r>
                        <a:rPr sz="1100" b="0" i="0">
                          <a:solidFill>
                            <a:srgbClr val="000000"/>
                          </a:solidFill>
                          <a:latin typeface="Calibri"/>
                        </a:rPr>
                        <a:t>SWOT</a:t>
                      </a:r>
                      <a:endParaRPr sz="1100"/>
                    </a:p>
                  </a:txBody>
                  <a:tcPr marL="771525" marR="9525" marT="9525" marB="0" anchor="ctr"/>
                </a:tc>
              </a:tr>
              <a:tr h="175260">
                <a:tc>
                  <a:txBody>
                    <a:bodyPr wrap="square"/>
                    <a:lstStyle/>
                    <a:p>
                      <a:pPr algn="l"/>
                      <a:r>
                        <a:rPr sz="1100" b="0" i="0">
                          <a:solidFill>
                            <a:srgbClr val="000000"/>
                          </a:solidFill>
                          <a:latin typeface="Calibri"/>
                        </a:rPr>
                        <a:t>29.1.8.</a:t>
                      </a:r>
                      <a:r>
                        <a:rPr sz="700" b="0" i="0">
                          <a:solidFill>
                            <a:srgbClr val="000000"/>
                          </a:solidFill>
                          <a:latin typeface="Times New Roman"/>
                        </a:rPr>
                        <a:t> </a:t>
                      </a:r>
                      <a:r>
                        <a:rPr sz="1100" b="0" i="0">
                          <a:solidFill>
                            <a:srgbClr val="000000"/>
                          </a:solidFill>
                          <a:latin typeface="Calibri"/>
                        </a:rPr>
                        <a:t>Analyst Comment</a:t>
                      </a:r>
                      <a:endParaRPr sz="1100"/>
                    </a:p>
                  </a:txBody>
                  <a:tcPr marL="771525" marR="9525" marT="9525" marB="0" anchor="ctr"/>
                </a:tc>
              </a:tr>
              <a:tr h="175260">
                <a:tc>
                  <a:txBody>
                    <a:bodyPr wrap="square"/>
                    <a:lstStyle/>
                    <a:p>
                      <a:pPr algn="l"/>
                      <a:r>
                        <a:rPr sz="1100" b="0" i="1">
                          <a:solidFill>
                            <a:srgbClr val="EE0000"/>
                          </a:solidFill>
                          <a:latin typeface="Calibri"/>
                        </a:rPr>
                        <a:t>Note: All companies shall be indicated in similar manner</a:t>
                      </a:r>
                      <a:endParaRPr sz="1100"/>
                    </a:p>
                  </a:txBody>
                  <a:tcPr marL="9525" marR="9525" marT="9525" marB="0" anchor="ctr"/>
                </a:tc>
              </a:tr>
              <a:tr h="175260">
                <a:tc>
                  <a:txBody>
                    <a:bodyPr wrap="square"/>
                    <a:lstStyle/>
                    <a:p>
                      <a:pPr algn="l"/>
                      <a:r>
                        <a:rPr sz="1100" b="0" i="0">
                          <a:solidFill>
                            <a:srgbClr val="0070C0"/>
                          </a:solidFill>
                          <a:latin typeface="Calibri"/>
                        </a:rPr>
                        <a:t>29.2.</a:t>
                      </a:r>
                      <a:r>
                        <a:rPr sz="700" b="0" i="0">
                          <a:solidFill>
                            <a:srgbClr val="0070C0"/>
                          </a:solidFill>
                          <a:latin typeface="Times New Roman"/>
                        </a:rPr>
                        <a:t>  </a:t>
                      </a:r>
                      <a:r>
                        <a:rPr sz="1100" b="0" i="0">
                          <a:solidFill>
                            <a:srgbClr val="0070C0"/>
                          </a:solidFill>
                          <a:latin typeface="Calibri"/>
                        </a:rPr>
                        <a:t>VetriScience</a:t>
                      </a:r>
                      <a:endParaRPr sz="1100"/>
                    </a:p>
                  </a:txBody>
                  <a:tcPr marL="428625" marR="9525" marT="9525" marB="0" anchor="ctr"/>
                </a:tc>
              </a:tr>
              <a:tr h="175260">
                <a:tc>
                  <a:txBody>
                    <a:bodyPr wrap="square"/>
                    <a:lstStyle/>
                    <a:p>
                      <a:pPr algn="l"/>
                      <a:r>
                        <a:rPr sz="1100" b="0" i="0">
                          <a:solidFill>
                            <a:srgbClr val="0070C0"/>
                          </a:solidFill>
                          <a:latin typeface="Calibri"/>
                        </a:rPr>
                        <a:t>29.3.</a:t>
                      </a:r>
                      <a:r>
                        <a:rPr sz="700" b="0" i="0">
                          <a:solidFill>
                            <a:srgbClr val="0070C0"/>
                          </a:solidFill>
                          <a:latin typeface="Times New Roman"/>
                        </a:rPr>
                        <a:t>  </a:t>
                      </a:r>
                      <a:r>
                        <a:rPr sz="1100" b="0" i="0">
                          <a:solidFill>
                            <a:srgbClr val="0070C0"/>
                          </a:solidFill>
                          <a:latin typeface="Calibri"/>
                        </a:rPr>
                        <a:t>Dr. Fossum's</a:t>
                      </a:r>
                      <a:endParaRPr sz="1100"/>
                    </a:p>
                  </a:txBody>
                  <a:tcPr marL="428625" marR="9525" marT="9525" marB="0" anchor="ctr"/>
                </a:tc>
              </a:tr>
              <a:tr h="175260">
                <a:tc>
                  <a:txBody>
                    <a:bodyPr wrap="square"/>
                    <a:lstStyle/>
                    <a:p>
                      <a:pPr algn="l"/>
                      <a:r>
                        <a:rPr sz="1100" b="0" i="0">
                          <a:solidFill>
                            <a:srgbClr val="0070C0"/>
                          </a:solidFill>
                          <a:latin typeface="Calibri"/>
                        </a:rPr>
                        <a:t>29.4.</a:t>
                      </a:r>
                      <a:r>
                        <a:rPr sz="700" b="0" i="0">
                          <a:solidFill>
                            <a:srgbClr val="0070C0"/>
                          </a:solidFill>
                          <a:latin typeface="Times New Roman"/>
                        </a:rPr>
                        <a:t>  </a:t>
                      </a:r>
                      <a:r>
                        <a:rPr sz="1100" b="0" i="0">
                          <a:solidFill>
                            <a:srgbClr val="0070C0"/>
                          </a:solidFill>
                          <a:latin typeface="Calibri"/>
                        </a:rPr>
                        <a:t>Nestlé Purina PetCare</a:t>
                      </a:r>
                      <a:endParaRPr sz="1100"/>
                    </a:p>
                  </a:txBody>
                  <a:tcPr marL="428625" marR="9525" marT="9525" marB="0" anchor="ctr"/>
                </a:tc>
              </a:tr>
              <a:tr h="175260">
                <a:tc>
                  <a:txBody>
                    <a:bodyPr wrap="square"/>
                    <a:lstStyle/>
                    <a:p>
                      <a:pPr algn="l"/>
                      <a:r>
                        <a:rPr sz="1100" b="0" i="0">
                          <a:solidFill>
                            <a:srgbClr val="0070C0"/>
                          </a:solidFill>
                          <a:latin typeface="Calibri"/>
                        </a:rPr>
                        <a:t>29.5.</a:t>
                      </a:r>
                      <a:r>
                        <a:rPr sz="700" b="0" i="0">
                          <a:solidFill>
                            <a:srgbClr val="0070C0"/>
                          </a:solidFill>
                          <a:latin typeface="Times New Roman"/>
                        </a:rPr>
                        <a:t>  </a:t>
                      </a:r>
                      <a:r>
                        <a:rPr sz="1100" b="0" i="0">
                          <a:solidFill>
                            <a:srgbClr val="0070C0"/>
                          </a:solidFill>
                          <a:latin typeface="Calibri"/>
                        </a:rPr>
                        <a:t>PetHeal</a:t>
                      </a:r>
                      <a:endParaRPr sz="1100"/>
                    </a:p>
                  </a:txBody>
                  <a:tcPr marL="428625" marR="9525" marT="9525" marB="0" anchor="ctr"/>
                </a:tc>
              </a:tr>
              <a:tr h="175260">
                <a:tc>
                  <a:txBody>
                    <a:bodyPr wrap="square"/>
                    <a:lstStyle/>
                    <a:p>
                      <a:pPr algn="l"/>
                      <a:r>
                        <a:rPr sz="1100" b="0" i="0">
                          <a:solidFill>
                            <a:srgbClr val="0070C0"/>
                          </a:solidFill>
                          <a:latin typeface="Calibri"/>
                        </a:rPr>
                        <a:t>29.6.</a:t>
                      </a:r>
                      <a:r>
                        <a:rPr sz="700" b="0" i="0">
                          <a:solidFill>
                            <a:srgbClr val="0070C0"/>
                          </a:solidFill>
                          <a:latin typeface="Times New Roman"/>
                        </a:rPr>
                        <a:t>  </a:t>
                      </a:r>
                      <a:r>
                        <a:rPr sz="1100" b="0" i="0">
                          <a:solidFill>
                            <a:srgbClr val="0070C0"/>
                          </a:solidFill>
                          <a:latin typeface="Calibri"/>
                        </a:rPr>
                        <a:t>Senior Dogs Club</a:t>
                      </a:r>
                      <a:endParaRPr sz="1100"/>
                    </a:p>
                  </a:txBody>
                  <a:tcPr marL="428625" marR="9525" marT="9525" marB="0" anchor="ctr"/>
                </a:tc>
              </a:tr>
              <a:tr h="175260">
                <a:tc>
                  <a:txBody>
                    <a:bodyPr wrap="square"/>
                    <a:lstStyle/>
                    <a:p>
                      <a:pPr algn="l"/>
                      <a:r>
                        <a:rPr sz="1100" b="0" i="0">
                          <a:solidFill>
                            <a:srgbClr val="0070C0"/>
                          </a:solidFill>
                          <a:latin typeface="Calibri"/>
                        </a:rPr>
                        <a:t>29.7.</a:t>
                      </a:r>
                      <a:r>
                        <a:rPr sz="700" b="0" i="0">
                          <a:solidFill>
                            <a:srgbClr val="0070C0"/>
                          </a:solidFill>
                          <a:latin typeface="Times New Roman"/>
                        </a:rPr>
                        <a:t>  </a:t>
                      </a:r>
                      <a:r>
                        <a:rPr sz="1100" b="0" i="0">
                          <a:solidFill>
                            <a:srgbClr val="0070C0"/>
                          </a:solidFill>
                          <a:latin typeface="Calibri"/>
                        </a:rPr>
                        <a:t>VISYO Corporation</a:t>
                      </a:r>
                      <a:endParaRPr sz="1100"/>
                    </a:p>
                  </a:txBody>
                  <a:tcPr marL="428625" marR="9525" marT="9525" marB="0" anchor="ctr"/>
                </a:tc>
              </a:tr>
              <a:tr h="175260">
                <a:tc>
                  <a:txBody>
                    <a:bodyPr wrap="square"/>
                    <a:lstStyle/>
                    <a:p>
                      <a:pPr algn="l"/>
                      <a:r>
                        <a:rPr sz="1100" b="0" i="0">
                          <a:solidFill>
                            <a:srgbClr val="0070C0"/>
                          </a:solidFill>
                          <a:latin typeface="Calibri"/>
                        </a:rPr>
                        <a:t>29.8.</a:t>
                      </a:r>
                      <a:r>
                        <a:rPr sz="700" b="0" i="0">
                          <a:solidFill>
                            <a:srgbClr val="0070C0"/>
                          </a:solidFill>
                          <a:latin typeface="Times New Roman"/>
                        </a:rPr>
                        <a:t>  </a:t>
                      </a:r>
                      <a:r>
                        <a:rPr sz="1100" b="0" i="0">
                          <a:solidFill>
                            <a:srgbClr val="0070C0"/>
                          </a:solidFill>
                          <a:latin typeface="Calibri"/>
                        </a:rPr>
                        <a:t>NaturVet</a:t>
                      </a:r>
                      <a:endParaRPr sz="1100"/>
                    </a:p>
                  </a:txBody>
                  <a:tcPr marL="428625" marR="9525" marT="9525" marB="0" anchor="ctr"/>
                </a:tc>
              </a:tr>
              <a:tr h="175260">
                <a:tc>
                  <a:txBody>
                    <a:bodyPr wrap="square"/>
                    <a:lstStyle/>
                    <a:p>
                      <a:pPr algn="l"/>
                      <a:r>
                        <a:rPr sz="1100" b="0" i="0">
                          <a:solidFill>
                            <a:srgbClr val="0070C0"/>
                          </a:solidFill>
                          <a:latin typeface="Calibri"/>
                        </a:rPr>
                        <a:t>29.9.</a:t>
                      </a:r>
                      <a:r>
                        <a:rPr sz="700" b="0" i="0">
                          <a:solidFill>
                            <a:srgbClr val="0070C0"/>
                          </a:solidFill>
                          <a:latin typeface="Times New Roman"/>
                        </a:rPr>
                        <a:t>  </a:t>
                      </a:r>
                      <a:r>
                        <a:rPr sz="1100" b="0" i="0">
                          <a:solidFill>
                            <a:srgbClr val="0070C0"/>
                          </a:solidFill>
                          <a:latin typeface="Calibri"/>
                        </a:rPr>
                        <a:t>Zesty Paws</a:t>
                      </a:r>
                      <a:endParaRPr sz="1100"/>
                    </a:p>
                  </a:txBody>
                  <a:tcPr marL="428625" marR="9525" marT="9525" marB="0" anchor="ctr"/>
                </a:tc>
              </a:tr>
              <a:tr h="175260">
                <a:tc>
                  <a:txBody>
                    <a:bodyPr wrap="square"/>
                    <a:lstStyle/>
                    <a:p>
                      <a:pPr algn="l"/>
                      <a:r>
                        <a:rPr sz="1100" b="0" i="0">
                          <a:solidFill>
                            <a:srgbClr val="0070C0"/>
                          </a:solidFill>
                          <a:latin typeface="Calibri"/>
                        </a:rPr>
                        <a:t>29.10.</a:t>
                      </a:r>
                      <a:r>
                        <a:rPr sz="700" b="0" i="0">
                          <a:solidFill>
                            <a:srgbClr val="0070C0"/>
                          </a:solidFill>
                          <a:latin typeface="Times New Roman"/>
                        </a:rPr>
                        <a:t> </a:t>
                      </a:r>
                      <a:r>
                        <a:rPr sz="1100" b="0" i="0">
                          <a:solidFill>
                            <a:srgbClr val="0070C0"/>
                          </a:solidFill>
                          <a:latin typeface="Calibri"/>
                        </a:rPr>
                        <a:t>Ark Naturals</a:t>
                      </a:r>
                      <a:endParaRPr sz="1100"/>
                    </a:p>
                  </a:txBody>
                  <a:tcPr marL="428625" marR="9525" marT="9525" marB="0" anchor="ctr"/>
                </a:tc>
              </a:tr>
              <a:tr h="175260">
                <a:tc>
                  <a:txBody>
                    <a:bodyPr wrap="square"/>
                    <a:lstStyle/>
                    <a:p>
                      <a:pPr algn="l"/>
                      <a:r>
                        <a:rPr sz="1100" b="0" i="0">
                          <a:solidFill>
                            <a:srgbClr val="0070C0"/>
                          </a:solidFill>
                          <a:latin typeface="Calibri"/>
                        </a:rPr>
                        <a:t>29.11.</a:t>
                      </a:r>
                      <a:r>
                        <a:rPr sz="700" b="0" i="0">
                          <a:solidFill>
                            <a:srgbClr val="0070C0"/>
                          </a:solidFill>
                          <a:latin typeface="Times New Roman"/>
                        </a:rPr>
                        <a:t> </a:t>
                      </a:r>
                      <a:r>
                        <a:rPr sz="1100" b="0" i="0">
                          <a:solidFill>
                            <a:srgbClr val="0070C0"/>
                          </a:solidFill>
                          <a:latin typeface="Calibri"/>
                        </a:rPr>
                        <a:t>Others on request</a:t>
                      </a:r>
                      <a:endParaRPr sz="1100"/>
                    </a:p>
                  </a:txBody>
                  <a:tcPr marL="428625" marR="9525" marT="9525" marB="0" anchor="ctr"/>
                </a:tc>
              </a:tr>
              <a:tr h="175260">
                <a:tc>
                  <a:txBody>
                    <a:bodyPr wrap="square"/>
                    <a:lstStyle/>
                    <a:p>
                      <a:pPr algn="l"/>
                      <a:r>
                        <a:rPr sz="1100" b="1" i="0">
                          <a:solidFill>
                            <a:srgbClr val="000000"/>
                          </a:solidFill>
                          <a:latin typeface="Calibri"/>
                        </a:rPr>
                        <a:t>30.</a:t>
                      </a:r>
                      <a:r>
                        <a:rPr sz="700" b="1" i="0">
                          <a:solidFill>
                            <a:srgbClr val="000000"/>
                          </a:solidFill>
                          <a:latin typeface="Times New Roman"/>
                        </a:rPr>
                        <a:t>    </a:t>
                      </a:r>
                      <a:r>
                        <a:rPr sz="1100" b="1" i="0">
                          <a:solidFill>
                            <a:srgbClr val="000000"/>
                          </a:solidFill>
                          <a:latin typeface="Calibri"/>
                        </a:rPr>
                        <a:t>Company Profile- Europe based</a:t>
                      </a:r>
                      <a:endParaRPr sz="1100"/>
                    </a:p>
                  </a:txBody>
                  <a:tcPr marL="171450" marR="9525" marT="9525" marB="0" anchor="ctr"/>
                </a:tc>
              </a:tr>
              <a:tr h="175260">
                <a:tc>
                  <a:txBody>
                    <a:bodyPr wrap="square"/>
                    <a:lstStyle/>
                    <a:p>
                      <a:pPr algn="l"/>
                      <a:r>
                        <a:rPr sz="1100" b="0" i="0">
                          <a:solidFill>
                            <a:srgbClr val="0070C0"/>
                          </a:solidFill>
                          <a:latin typeface="Calibri"/>
                        </a:rPr>
                        <a:t>30.1.</a:t>
                      </a:r>
                      <a:r>
                        <a:rPr sz="700" b="0" i="0">
                          <a:solidFill>
                            <a:srgbClr val="0070C0"/>
                          </a:solidFill>
                          <a:latin typeface="Times New Roman"/>
                        </a:rPr>
                        <a:t>  </a:t>
                      </a:r>
                      <a:r>
                        <a:rPr sz="1100" b="0" i="0">
                          <a:solidFill>
                            <a:srgbClr val="0070C0"/>
                          </a:solidFill>
                          <a:latin typeface="Calibri"/>
                        </a:rPr>
                        <a:t>Protexin</a:t>
                      </a:r>
                      <a:endParaRPr sz="1100"/>
                    </a:p>
                  </a:txBody>
                  <a:tcPr marL="428625" marR="9525" marT="9525" marB="0" anchor="ctr"/>
                </a:tc>
              </a:tr>
              <a:tr h="175260">
                <a:tc>
                  <a:txBody>
                    <a:bodyPr wrap="square"/>
                    <a:lstStyle/>
                    <a:p>
                      <a:pPr algn="l"/>
                      <a:r>
                        <a:rPr sz="1100" b="0" i="0">
                          <a:solidFill>
                            <a:srgbClr val="0070C0"/>
                          </a:solidFill>
                          <a:latin typeface="Calibri"/>
                        </a:rPr>
                        <a:t>30.2.</a:t>
                      </a:r>
                      <a:r>
                        <a:rPr sz="700" b="0" i="0">
                          <a:solidFill>
                            <a:srgbClr val="0070C0"/>
                          </a:solidFill>
                          <a:latin typeface="Times New Roman"/>
                        </a:rPr>
                        <a:t>  </a:t>
                      </a:r>
                      <a:r>
                        <a:rPr sz="1100" b="0" i="0">
                          <a:solidFill>
                            <a:srgbClr val="0070C0"/>
                          </a:solidFill>
                          <a:latin typeface="Calibri"/>
                        </a:rPr>
                        <a:t>Ceva Animal Health</a:t>
                      </a:r>
                      <a:endParaRPr sz="1100"/>
                    </a:p>
                  </a:txBody>
                  <a:tcPr marL="428625" marR="9525" marT="9525" marB="0" anchor="ctr"/>
                </a:tc>
              </a:tr>
              <a:tr h="175260">
                <a:tc>
                  <a:txBody>
                    <a:bodyPr wrap="square"/>
                    <a:lstStyle/>
                    <a:p>
                      <a:pPr algn="l"/>
                      <a:r>
                        <a:rPr sz="1100" b="0" i="0">
                          <a:solidFill>
                            <a:srgbClr val="0070C0"/>
                          </a:solidFill>
                          <a:latin typeface="Calibri"/>
                        </a:rPr>
                        <a:t>30.3.</a:t>
                      </a:r>
                      <a:r>
                        <a:rPr sz="700" b="0" i="0">
                          <a:solidFill>
                            <a:srgbClr val="0070C0"/>
                          </a:solidFill>
                          <a:latin typeface="Times New Roman"/>
                        </a:rPr>
                        <a:t>  </a:t>
                      </a:r>
                      <a:r>
                        <a:rPr sz="1100" b="0" i="0">
                          <a:solidFill>
                            <a:srgbClr val="0070C0"/>
                          </a:solidFill>
                          <a:latin typeface="Calibri"/>
                        </a:rPr>
                        <a:t>VetPlus</a:t>
                      </a:r>
                      <a:endParaRPr sz="1100"/>
                    </a:p>
                  </a:txBody>
                  <a:tcPr marL="428625" marR="9525" marT="9525" marB="0" anchor="ctr"/>
                </a:tc>
              </a:tr>
              <a:tr h="175260">
                <a:tc>
                  <a:txBody>
                    <a:bodyPr wrap="square"/>
                    <a:lstStyle/>
                    <a:p>
                      <a:pPr algn="l"/>
                      <a:r>
                        <a:rPr sz="1100" b="0" i="0">
                          <a:solidFill>
                            <a:srgbClr val="0070C0"/>
                          </a:solidFill>
                          <a:latin typeface="Calibri"/>
                        </a:rPr>
                        <a:t>30.4.</a:t>
                      </a:r>
                      <a:r>
                        <a:rPr sz="700" b="0" i="0">
                          <a:solidFill>
                            <a:srgbClr val="0070C0"/>
                          </a:solidFill>
                          <a:latin typeface="Times New Roman"/>
                        </a:rPr>
                        <a:t>  </a:t>
                      </a:r>
                      <a:r>
                        <a:rPr sz="1100" b="0" i="0">
                          <a:solidFill>
                            <a:srgbClr val="0070C0"/>
                          </a:solidFill>
                          <a:latin typeface="Calibri"/>
                        </a:rPr>
                        <a:t>Dorwest Herbs</a:t>
                      </a:r>
                      <a:endParaRPr sz="1100"/>
                    </a:p>
                  </a:txBody>
                  <a:tcPr marL="4286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30.5.</a:t>
                      </a:r>
                      <a:r>
                        <a:rPr sz="700" b="0" i="0">
                          <a:solidFill>
                            <a:srgbClr val="0070C0"/>
                          </a:solidFill>
                          <a:latin typeface="Times New Roman"/>
                        </a:rPr>
                        <a:t>  </a:t>
                      </a:r>
                      <a:r>
                        <a:rPr sz="1100" b="0" i="0">
                          <a:solidFill>
                            <a:srgbClr val="0070C0"/>
                          </a:solidFill>
                          <a:latin typeface="Calibri"/>
                        </a:rPr>
                        <a:t>Virbac</a:t>
                      </a:r>
                      <a:endParaRPr sz="1100"/>
                    </a:p>
                  </a:txBody>
                  <a:tcPr marL="428625" marR="9525" marT="9525" marB="0" anchor="ctr"/>
                </a:tc>
              </a:tr>
              <a:tr h="175260">
                <a:tc>
                  <a:txBody>
                    <a:bodyPr wrap="square"/>
                    <a:lstStyle/>
                    <a:p>
                      <a:pPr algn="l"/>
                      <a:r>
                        <a:rPr sz="1100" b="0" i="0">
                          <a:solidFill>
                            <a:srgbClr val="0070C0"/>
                          </a:solidFill>
                          <a:latin typeface="Calibri"/>
                        </a:rPr>
                        <a:t>30.6.</a:t>
                      </a:r>
                      <a:r>
                        <a:rPr sz="700" b="0" i="0">
                          <a:solidFill>
                            <a:srgbClr val="0070C0"/>
                          </a:solidFill>
                          <a:latin typeface="Times New Roman"/>
                        </a:rPr>
                        <a:t>  </a:t>
                      </a:r>
                      <a:r>
                        <a:rPr sz="1100" b="0" i="0">
                          <a:solidFill>
                            <a:srgbClr val="0070C0"/>
                          </a:solidFill>
                          <a:latin typeface="Calibri"/>
                        </a:rPr>
                        <a:t>Dechra Pharmaceuticals</a:t>
                      </a:r>
                      <a:endParaRPr sz="1100"/>
                    </a:p>
                  </a:txBody>
                  <a:tcPr marL="428625" marR="9525" marT="9525" marB="0" anchor="ctr"/>
                </a:tc>
              </a:tr>
              <a:tr h="175260">
                <a:tc>
                  <a:txBody>
                    <a:bodyPr wrap="square"/>
                    <a:lstStyle/>
                    <a:p>
                      <a:pPr algn="l"/>
                      <a:r>
                        <a:rPr sz="1100" b="0" i="0">
                          <a:solidFill>
                            <a:srgbClr val="0070C0"/>
                          </a:solidFill>
                          <a:latin typeface="Calibri"/>
                        </a:rPr>
                        <a:t>30.7.</a:t>
                      </a:r>
                      <a:r>
                        <a:rPr sz="700" b="0" i="0">
                          <a:solidFill>
                            <a:srgbClr val="0070C0"/>
                          </a:solidFill>
                          <a:latin typeface="Times New Roman"/>
                        </a:rPr>
                        <a:t>  </a:t>
                      </a:r>
                      <a:r>
                        <a:rPr sz="1100" b="0" i="0">
                          <a:solidFill>
                            <a:srgbClr val="0070C0"/>
                          </a:solidFill>
                          <a:latin typeface="Calibri"/>
                        </a:rPr>
                        <a:t>Beaphar</a:t>
                      </a:r>
                      <a:endParaRPr sz="1100"/>
                    </a:p>
                  </a:txBody>
                  <a:tcPr marL="428625" marR="9525" marT="9525" marB="0" anchor="ctr"/>
                </a:tc>
              </a:tr>
              <a:tr h="175260">
                <a:tc>
                  <a:txBody>
                    <a:bodyPr wrap="square"/>
                    <a:lstStyle/>
                    <a:p>
                      <a:pPr algn="l"/>
                      <a:r>
                        <a:rPr sz="1100" b="0" i="0">
                          <a:solidFill>
                            <a:srgbClr val="0070C0"/>
                          </a:solidFill>
                          <a:latin typeface="Calibri"/>
                        </a:rPr>
                        <a:t>30.8.</a:t>
                      </a:r>
                      <a:r>
                        <a:rPr sz="700" b="0" i="0">
                          <a:solidFill>
                            <a:srgbClr val="0070C0"/>
                          </a:solidFill>
                          <a:latin typeface="Times New Roman"/>
                        </a:rPr>
                        <a:t>  </a:t>
                      </a:r>
                      <a:r>
                        <a:rPr sz="1100" b="0" i="0">
                          <a:solidFill>
                            <a:srgbClr val="0070C0"/>
                          </a:solidFill>
                          <a:latin typeface="Calibri"/>
                        </a:rPr>
                        <a:t>Laboratoire Biové</a:t>
                      </a:r>
                      <a:endParaRPr sz="1100"/>
                    </a:p>
                  </a:txBody>
                  <a:tcPr marL="428625" marR="9525" marT="9525" marB="0" anchor="ctr"/>
                </a:tc>
              </a:tr>
              <a:tr h="175260">
                <a:tc>
                  <a:txBody>
                    <a:bodyPr wrap="square"/>
                    <a:lstStyle/>
                    <a:p>
                      <a:pPr algn="l"/>
                      <a:r>
                        <a:rPr sz="1100" b="0" i="0">
                          <a:solidFill>
                            <a:srgbClr val="0070C0"/>
                          </a:solidFill>
                          <a:latin typeface="Calibri"/>
                        </a:rPr>
                        <a:t>30.9.</a:t>
                      </a:r>
                      <a:r>
                        <a:rPr sz="700" b="0" i="0">
                          <a:solidFill>
                            <a:srgbClr val="0070C0"/>
                          </a:solidFill>
                          <a:latin typeface="Times New Roman"/>
                        </a:rPr>
                        <a:t>  </a:t>
                      </a:r>
                      <a:r>
                        <a:rPr sz="1100" b="0" i="0">
                          <a:solidFill>
                            <a:srgbClr val="0070C0"/>
                          </a:solidFill>
                          <a:latin typeface="Calibri"/>
                        </a:rPr>
                        <a:t>Laboratoire Biogance</a:t>
                      </a:r>
                      <a:endParaRPr sz="1100"/>
                    </a:p>
                  </a:txBody>
                  <a:tcPr marL="428625" marR="9525" marT="9525" marB="0" anchor="ctr"/>
                </a:tc>
              </a:tr>
              <a:tr h="175260">
                <a:tc>
                  <a:txBody>
                    <a:bodyPr wrap="square"/>
                    <a:lstStyle/>
                    <a:p>
                      <a:pPr algn="l"/>
                      <a:r>
                        <a:rPr sz="1100" b="0" i="0">
                          <a:solidFill>
                            <a:srgbClr val="0070C0"/>
                          </a:solidFill>
                          <a:latin typeface="Calibri"/>
                        </a:rPr>
                        <a:t>30.10.</a:t>
                      </a:r>
                      <a:r>
                        <a:rPr sz="700" b="0" i="0">
                          <a:solidFill>
                            <a:srgbClr val="0070C0"/>
                          </a:solidFill>
                          <a:latin typeface="Times New Roman"/>
                        </a:rPr>
                        <a:t> </a:t>
                      </a:r>
                      <a:r>
                        <a:rPr sz="1100" b="0" i="0">
                          <a:solidFill>
                            <a:srgbClr val="0070C0"/>
                          </a:solidFill>
                          <a:latin typeface="Calibri"/>
                        </a:rPr>
                        <a:t>Anibio</a:t>
                      </a:r>
                      <a:endParaRPr sz="1100"/>
                    </a:p>
                  </a:txBody>
                  <a:tcPr marL="428625" marR="9525" marT="9525" marB="0" anchor="ctr"/>
                </a:tc>
              </a:tr>
              <a:tr h="175260">
                <a:tc>
                  <a:txBody>
                    <a:bodyPr wrap="square"/>
                    <a:lstStyle/>
                    <a:p>
                      <a:pPr algn="l"/>
                      <a:r>
                        <a:rPr sz="1100" b="0" i="0">
                          <a:solidFill>
                            <a:srgbClr val="0070C0"/>
                          </a:solidFill>
                          <a:latin typeface="Calibri"/>
                        </a:rPr>
                        <a:t>30.11.</a:t>
                      </a:r>
                      <a:r>
                        <a:rPr sz="700" b="0" i="0">
                          <a:solidFill>
                            <a:srgbClr val="0070C0"/>
                          </a:solidFill>
                          <a:latin typeface="Times New Roman"/>
                        </a:rPr>
                        <a:t> </a:t>
                      </a:r>
                      <a:r>
                        <a:rPr sz="1100" b="0" i="0">
                          <a:solidFill>
                            <a:srgbClr val="0070C0"/>
                          </a:solidFill>
                          <a:latin typeface="Calibri"/>
                        </a:rPr>
                        <a:t>Others on request</a:t>
                      </a:r>
                      <a:endParaRPr sz="1100"/>
                    </a:p>
                  </a:txBody>
                  <a:tcPr marL="428625" marR="9525" marT="9525" marB="0" anchor="ctr"/>
                </a:tc>
              </a:tr>
              <a:tr h="175260">
                <a:tc>
                  <a:txBody>
                    <a:bodyPr wrap="square"/>
                    <a:lstStyle/>
                    <a:p>
                      <a:pPr algn="l"/>
                      <a:r>
                        <a:rPr sz="1100" b="1" i="0">
                          <a:solidFill>
                            <a:srgbClr val="000000"/>
                          </a:solidFill>
                          <a:latin typeface="Calibri"/>
                        </a:rPr>
                        <a:t>31.</a:t>
                      </a:r>
                      <a:r>
                        <a:rPr sz="700" b="1" i="0">
                          <a:solidFill>
                            <a:srgbClr val="000000"/>
                          </a:solidFill>
                          <a:latin typeface="Times New Roman"/>
                        </a:rPr>
                        <a:t>    </a:t>
                      </a:r>
                      <a:r>
                        <a:rPr sz="1100" b="1" i="0">
                          <a:solidFill>
                            <a:srgbClr val="000000"/>
                          </a:solidFill>
                          <a:latin typeface="Calibri"/>
                        </a:rPr>
                        <a:t>Company Profile- Asia-based</a:t>
                      </a:r>
                      <a:endParaRPr sz="1100"/>
                    </a:p>
                  </a:txBody>
                  <a:tcPr marL="171450" marR="9525" marT="9525" marB="0" anchor="ctr"/>
                </a:tc>
              </a:tr>
              <a:tr h="175260">
                <a:tc>
                  <a:txBody>
                    <a:bodyPr wrap="square"/>
                    <a:lstStyle/>
                    <a:p>
                      <a:pPr algn="l"/>
                      <a:r>
                        <a:rPr sz="1100" b="0" i="0">
                          <a:solidFill>
                            <a:srgbClr val="0070C0"/>
                          </a:solidFill>
                          <a:latin typeface="Calibri"/>
                        </a:rPr>
                        <a:t>31.1.</a:t>
                      </a:r>
                      <a:r>
                        <a:rPr sz="700" b="0" i="0">
                          <a:solidFill>
                            <a:srgbClr val="0070C0"/>
                          </a:solidFill>
                          <a:latin typeface="Times New Roman"/>
                        </a:rPr>
                        <a:t>  </a:t>
                      </a:r>
                      <a:r>
                        <a:rPr sz="1100" b="0" i="0">
                          <a:solidFill>
                            <a:srgbClr val="0070C0"/>
                          </a:solidFill>
                          <a:latin typeface="Calibri"/>
                        </a:rPr>
                        <a:t>TRIZA</a:t>
                      </a:r>
                      <a:endParaRPr sz="1100"/>
                    </a:p>
                  </a:txBody>
                  <a:tcPr marL="428625" marR="9525" marT="9525" marB="0" anchor="ctr"/>
                </a:tc>
              </a:tr>
              <a:tr h="175260">
                <a:tc>
                  <a:txBody>
                    <a:bodyPr wrap="square"/>
                    <a:lstStyle/>
                    <a:p>
                      <a:pPr algn="l"/>
                      <a:r>
                        <a:rPr sz="1100" b="0" i="0">
                          <a:solidFill>
                            <a:srgbClr val="0070C0"/>
                          </a:solidFill>
                          <a:latin typeface="Calibri"/>
                        </a:rPr>
                        <a:t>31.2.</a:t>
                      </a:r>
                      <a:r>
                        <a:rPr sz="700" b="0" i="0">
                          <a:solidFill>
                            <a:srgbClr val="0070C0"/>
                          </a:solidFill>
                          <a:latin typeface="Times New Roman"/>
                        </a:rPr>
                        <a:t>  </a:t>
                      </a:r>
                      <a:r>
                        <a:rPr sz="1100" b="0" i="0">
                          <a:solidFill>
                            <a:srgbClr val="0070C0"/>
                          </a:solidFill>
                          <a:latin typeface="Calibri"/>
                        </a:rPr>
                        <a:t>MIND UP Corp.</a:t>
                      </a:r>
                      <a:endParaRPr sz="1100"/>
                    </a:p>
                  </a:txBody>
                  <a:tcPr marL="428625" marR="9525" marT="9525" marB="0" anchor="ctr"/>
                </a:tc>
              </a:tr>
              <a:tr h="175260">
                <a:tc>
                  <a:txBody>
                    <a:bodyPr wrap="square"/>
                    <a:lstStyle/>
                    <a:p>
                      <a:pPr algn="l"/>
                      <a:r>
                        <a:rPr sz="1100" b="0" i="0">
                          <a:solidFill>
                            <a:srgbClr val="0070C0"/>
                          </a:solidFill>
                          <a:latin typeface="Calibri"/>
                        </a:rPr>
                        <a:t>31.3.</a:t>
                      </a:r>
                      <a:r>
                        <a:rPr sz="700" b="0" i="0">
                          <a:solidFill>
                            <a:srgbClr val="0070C0"/>
                          </a:solidFill>
                          <a:latin typeface="Times New Roman"/>
                        </a:rPr>
                        <a:t>  </a:t>
                      </a:r>
                      <a:r>
                        <a:rPr sz="1100" b="0" i="0">
                          <a:solidFill>
                            <a:srgbClr val="0070C0"/>
                          </a:solidFill>
                          <a:latin typeface="Calibri"/>
                        </a:rPr>
                        <a:t>Theymatter</a:t>
                      </a:r>
                      <a:endParaRPr sz="1100"/>
                    </a:p>
                  </a:txBody>
                  <a:tcPr marL="428625" marR="9525" marT="9525" marB="0" anchor="ctr"/>
                </a:tc>
              </a:tr>
              <a:tr h="175260">
                <a:tc>
                  <a:txBody>
                    <a:bodyPr wrap="square"/>
                    <a:lstStyle/>
                    <a:p>
                      <a:pPr algn="l"/>
                      <a:r>
                        <a:rPr sz="1100" b="0" i="0">
                          <a:solidFill>
                            <a:srgbClr val="0070C0"/>
                          </a:solidFill>
                          <a:latin typeface="Calibri"/>
                        </a:rPr>
                        <a:t>31.4.</a:t>
                      </a:r>
                      <a:r>
                        <a:rPr sz="700" b="0" i="0">
                          <a:solidFill>
                            <a:srgbClr val="0070C0"/>
                          </a:solidFill>
                          <a:latin typeface="Times New Roman"/>
                        </a:rPr>
                        <a:t>  </a:t>
                      </a:r>
                      <a:r>
                        <a:rPr sz="1100" b="0" i="0">
                          <a:solidFill>
                            <a:srgbClr val="0070C0"/>
                          </a:solidFill>
                          <a:latin typeface="Calibri"/>
                        </a:rPr>
                        <a:t>DHC Corporation</a:t>
                      </a:r>
                      <a:endParaRPr sz="1100"/>
                    </a:p>
                  </a:txBody>
                  <a:tcPr marL="428625" marR="9525" marT="9525" marB="0" anchor="ctr"/>
                </a:tc>
              </a:tr>
              <a:tr h="175260">
                <a:tc>
                  <a:txBody>
                    <a:bodyPr wrap="square"/>
                    <a:lstStyle/>
                    <a:p>
                      <a:pPr algn="l"/>
                      <a:r>
                        <a:rPr sz="1100" b="0" i="0">
                          <a:solidFill>
                            <a:srgbClr val="0070C0"/>
                          </a:solidFill>
                          <a:latin typeface="Calibri"/>
                        </a:rPr>
                        <a:t>31.5.</a:t>
                      </a:r>
                      <a:r>
                        <a:rPr sz="700" b="0" i="0">
                          <a:solidFill>
                            <a:srgbClr val="0070C0"/>
                          </a:solidFill>
                          <a:latin typeface="Times New Roman"/>
                        </a:rPr>
                        <a:t>  </a:t>
                      </a:r>
                      <a:r>
                        <a:rPr sz="1100" b="0" i="0">
                          <a:solidFill>
                            <a:srgbClr val="0070C0"/>
                          </a:solidFill>
                          <a:latin typeface="Calibri"/>
                        </a:rPr>
                        <a:t>DoggyMan H.A. Co., Ltd.</a:t>
                      </a:r>
                      <a:endParaRPr sz="1100"/>
                    </a:p>
                  </a:txBody>
                  <a:tcPr marL="428625" marR="9525" marT="9525" marB="0" anchor="ctr"/>
                </a:tc>
              </a:tr>
              <a:tr h="175260">
                <a:tc>
                  <a:txBody>
                    <a:bodyPr wrap="square"/>
                    <a:lstStyle/>
                    <a:p>
                      <a:pPr algn="l"/>
                      <a:r>
                        <a:rPr sz="1100" b="0" i="0">
                          <a:solidFill>
                            <a:srgbClr val="0070C0"/>
                          </a:solidFill>
                          <a:latin typeface="Calibri"/>
                        </a:rPr>
                        <a:t>31.6.</a:t>
                      </a:r>
                      <a:r>
                        <a:rPr sz="700" b="0" i="0">
                          <a:solidFill>
                            <a:srgbClr val="0070C0"/>
                          </a:solidFill>
                          <a:latin typeface="Times New Roman"/>
                        </a:rPr>
                        <a:t>  </a:t>
                      </a:r>
                      <a:r>
                        <a:rPr sz="1100" b="0" i="0">
                          <a:solidFill>
                            <a:srgbClr val="0070C0"/>
                          </a:solidFill>
                          <a:latin typeface="Calibri"/>
                        </a:rPr>
                        <a:t>Petline Corporation</a:t>
                      </a:r>
                      <a:endParaRPr sz="1100"/>
                    </a:p>
                  </a:txBody>
                  <a:tcPr marL="428625" marR="9525" marT="9525" marB="0" anchor="ctr"/>
                </a:tc>
              </a:tr>
              <a:tr h="175260">
                <a:tc>
                  <a:txBody>
                    <a:bodyPr wrap="square"/>
                    <a:lstStyle/>
                    <a:p>
                      <a:pPr algn="l"/>
                      <a:r>
                        <a:rPr sz="1100" b="0" i="0">
                          <a:solidFill>
                            <a:srgbClr val="0070C0"/>
                          </a:solidFill>
                          <a:latin typeface="Calibri"/>
                        </a:rPr>
                        <a:t>31.7.</a:t>
                      </a:r>
                      <a:r>
                        <a:rPr sz="700" b="0" i="0">
                          <a:solidFill>
                            <a:srgbClr val="0070C0"/>
                          </a:solidFill>
                          <a:latin typeface="Times New Roman"/>
                        </a:rPr>
                        <a:t>  </a:t>
                      </a:r>
                      <a:r>
                        <a:rPr sz="1100" b="0" i="0">
                          <a:solidFill>
                            <a:srgbClr val="0070C0"/>
                          </a:solidFill>
                          <a:latin typeface="Calibri"/>
                        </a:rPr>
                        <a:t>Inaba Petfood Co., Ltd.</a:t>
                      </a:r>
                      <a:endParaRPr sz="1100"/>
                    </a:p>
                  </a:txBody>
                  <a:tcPr marL="428625" marR="9525" marT="9525" marB="0" anchor="ctr"/>
                </a:tc>
              </a:tr>
              <a:tr h="175260">
                <a:tc>
                  <a:txBody>
                    <a:bodyPr wrap="square"/>
                    <a:lstStyle/>
                    <a:p>
                      <a:pPr algn="l"/>
                      <a:r>
                        <a:rPr sz="1100" b="0" i="0">
                          <a:solidFill>
                            <a:srgbClr val="0070C0"/>
                          </a:solidFill>
                          <a:latin typeface="Calibri"/>
                        </a:rPr>
                        <a:t>31.8.</a:t>
                      </a:r>
                      <a:r>
                        <a:rPr sz="700" b="0" i="0">
                          <a:solidFill>
                            <a:srgbClr val="0070C0"/>
                          </a:solidFill>
                          <a:latin typeface="Times New Roman"/>
                        </a:rPr>
                        <a:t>  </a:t>
                      </a:r>
                      <a:r>
                        <a:rPr sz="1100" b="0" i="0">
                          <a:solidFill>
                            <a:srgbClr val="0070C0"/>
                          </a:solidFill>
                          <a:latin typeface="Calibri"/>
                        </a:rPr>
                        <a:t>Drools</a:t>
                      </a:r>
                      <a:endParaRPr sz="1100"/>
                    </a:p>
                  </a:txBody>
                  <a:tcPr marL="428625" marR="9525" marT="9525" marB="0" anchor="ctr"/>
                </a:tc>
              </a:tr>
              <a:tr h="175260">
                <a:tc>
                  <a:txBody>
                    <a:bodyPr wrap="square"/>
                    <a:lstStyle/>
                    <a:p>
                      <a:pPr algn="l"/>
                      <a:r>
                        <a:rPr sz="1100" b="0" i="0">
                          <a:solidFill>
                            <a:srgbClr val="0070C0"/>
                          </a:solidFill>
                          <a:latin typeface="Calibri"/>
                        </a:rPr>
                        <a:t>31.9.</a:t>
                      </a:r>
                      <a:r>
                        <a:rPr sz="700" b="0" i="0">
                          <a:solidFill>
                            <a:srgbClr val="0070C0"/>
                          </a:solidFill>
                          <a:latin typeface="Times New Roman"/>
                        </a:rPr>
                        <a:t>  </a:t>
                      </a:r>
                      <a:r>
                        <a:rPr sz="1100" b="0" i="0">
                          <a:solidFill>
                            <a:srgbClr val="0070C0"/>
                          </a:solidFill>
                          <a:latin typeface="Calibri"/>
                        </a:rPr>
                        <a:t>Himalaya Wellness Company</a:t>
                      </a:r>
                      <a:endParaRPr sz="1100"/>
                    </a:p>
                  </a:txBody>
                  <a:tcPr marL="428625" marR="9525" marT="9525" marB="0" anchor="ctr"/>
                </a:tc>
              </a:tr>
              <a:tr h="175260">
                <a:tc>
                  <a:txBody>
                    <a:bodyPr wrap="square"/>
                    <a:lstStyle/>
                    <a:p>
                      <a:pPr algn="l"/>
                      <a:r>
                        <a:rPr sz="1100" b="0" i="0">
                          <a:solidFill>
                            <a:srgbClr val="0070C0"/>
                          </a:solidFill>
                          <a:latin typeface="Calibri"/>
                        </a:rPr>
                        <a:t>31.10.</a:t>
                      </a:r>
                      <a:r>
                        <a:rPr sz="700" b="0" i="0">
                          <a:solidFill>
                            <a:srgbClr val="0070C0"/>
                          </a:solidFill>
                          <a:latin typeface="Times New Roman"/>
                        </a:rPr>
                        <a:t> </a:t>
                      </a:r>
                      <a:r>
                        <a:rPr sz="1100" b="0" i="0">
                          <a:solidFill>
                            <a:srgbClr val="0070C0"/>
                          </a:solidFill>
                          <a:latin typeface="Calibri"/>
                        </a:rPr>
                        <a:t>Nippon Zenyaku Kogyo</a:t>
                      </a:r>
                      <a:endParaRPr sz="1100"/>
                    </a:p>
                  </a:txBody>
                  <a:tcPr marL="428625" marR="9525" marT="9525" marB="0" anchor="ctr"/>
                </a:tc>
              </a:tr>
              <a:tr h="175260">
                <a:tc>
                  <a:txBody>
                    <a:bodyPr wrap="square"/>
                    <a:lstStyle/>
                    <a:p>
                      <a:pPr algn="l"/>
                      <a:r>
                        <a:rPr sz="1100" b="0" i="0">
                          <a:solidFill>
                            <a:srgbClr val="0070C0"/>
                          </a:solidFill>
                          <a:latin typeface="Calibri"/>
                        </a:rPr>
                        <a:t>31.11.</a:t>
                      </a:r>
                      <a:r>
                        <a:rPr sz="700" b="0" i="0">
                          <a:solidFill>
                            <a:srgbClr val="0070C0"/>
                          </a:solidFill>
                          <a:latin typeface="Times New Roman"/>
                        </a:rPr>
                        <a:t> </a:t>
                      </a:r>
                      <a:r>
                        <a:rPr sz="1100" b="0" i="0">
                          <a:solidFill>
                            <a:srgbClr val="0070C0"/>
                          </a:solidFill>
                          <a:latin typeface="Calibri"/>
                        </a:rPr>
                        <a:t>Others on request</a:t>
                      </a:r>
                      <a:endParaRPr sz="1100"/>
                    </a:p>
                  </a:txBody>
                  <a:tcPr marL="428625" marR="9525" marT="9525" marB="0" anchor="ctr"/>
                </a:tc>
              </a:tr>
              <a:tr h="175260">
                <a:tc>
                  <a:txBody>
                    <a:bodyPr wrap="square"/>
                    <a:lstStyle/>
                    <a:p>
                      <a:pPr algn="l"/>
                      <a:r>
                        <a:rPr sz="1100" b="1" i="0">
                          <a:solidFill>
                            <a:srgbClr val="000000"/>
                          </a:solidFill>
                          <a:latin typeface="Calibri"/>
                        </a:rPr>
                        <a:t>32.</a:t>
                      </a:r>
                      <a:r>
                        <a:rPr sz="700" b="1" i="0">
                          <a:solidFill>
                            <a:srgbClr val="000000"/>
                          </a:solidFill>
                          <a:latin typeface="Times New Roman"/>
                        </a:rPr>
                        <a:t>    </a:t>
                      </a:r>
                      <a:r>
                        <a:rPr sz="1100" b="1" i="0">
                          <a:solidFill>
                            <a:srgbClr val="000000"/>
                          </a:solidFill>
                          <a:latin typeface="Calibri"/>
                        </a:rPr>
                        <a:t>Innovation Acceptance and Cognitive Wellness White-space Analysis</a:t>
                      </a:r>
                      <a:endParaRPr sz="1100"/>
                    </a:p>
                  </a:txBody>
                  <a:tcPr marL="171450" marR="9525" marT="9525" marB="0" anchor="ctr"/>
                </a:tc>
              </a:tr>
              <a:tr h="175260">
                <a:tc>
                  <a:txBody>
                    <a:bodyPr wrap="square"/>
                    <a:lstStyle/>
                    <a:p>
                      <a:pPr algn="l"/>
                      <a:r>
                        <a:rPr sz="1100" b="0" i="0">
                          <a:solidFill>
                            <a:srgbClr val="0070C0"/>
                          </a:solidFill>
                          <a:latin typeface="Calibri"/>
                        </a:rPr>
                        <a:t>32.1.</a:t>
                      </a:r>
                      <a:r>
                        <a:rPr sz="700" b="0" i="0">
                          <a:solidFill>
                            <a:srgbClr val="0070C0"/>
                          </a:solidFill>
                          <a:latin typeface="Times New Roman"/>
                        </a:rPr>
                        <a:t>  </a:t>
                      </a:r>
                      <a:r>
                        <a:rPr sz="1100" b="0" i="0">
                          <a:solidFill>
                            <a:srgbClr val="0070C0"/>
                          </a:solidFill>
                          <a:latin typeface="Calibri"/>
                        </a:rPr>
                        <a:t>Senior Dog Cognitive Wellness Needs by Age Group (7–9, 10–12, 13+ Years)</a:t>
                      </a:r>
                      <a:endParaRPr sz="1100"/>
                    </a:p>
                  </a:txBody>
                  <a:tcPr marL="428625" marR="9525" marT="9525" marB="0" anchor="ctr"/>
                </a:tc>
              </a:tr>
              <a:tr h="175260">
                <a:tc>
                  <a:txBody>
                    <a:bodyPr wrap="square"/>
                    <a:lstStyle/>
                    <a:p>
                      <a:pPr algn="l"/>
                      <a:r>
                        <a:rPr sz="1100" b="0" i="0">
                          <a:solidFill>
                            <a:srgbClr val="0070C0"/>
                          </a:solidFill>
                          <a:latin typeface="Calibri"/>
                        </a:rPr>
                        <a:t>32.2.</a:t>
                      </a:r>
                      <a:r>
                        <a:rPr sz="700" b="0" i="0">
                          <a:solidFill>
                            <a:srgbClr val="0070C0"/>
                          </a:solidFill>
                          <a:latin typeface="Times New Roman"/>
                        </a:rPr>
                        <a:t>  </a:t>
                      </a:r>
                      <a:r>
                        <a:rPr sz="1100" b="0" i="0">
                          <a:solidFill>
                            <a:srgbClr val="0070C0"/>
                          </a:solidFill>
                          <a:latin typeface="Calibri"/>
                        </a:rPr>
                        <a:t>Cognitive Symptom Prevalence and Supplement Adoption Rate</a:t>
                      </a:r>
                      <a:endParaRPr sz="1100"/>
                    </a:p>
                  </a:txBody>
                  <a:tcPr marL="428625" marR="9525" marT="9525" marB="0" anchor="ctr"/>
                </a:tc>
              </a:tr>
              <a:tr h="175260">
                <a:tc>
                  <a:txBody>
                    <a:bodyPr wrap="square"/>
                    <a:lstStyle/>
                    <a:p>
                      <a:pPr algn="l"/>
                      <a:r>
                        <a:rPr sz="1100" b="0" i="0">
                          <a:solidFill>
                            <a:srgbClr val="0070C0"/>
                          </a:solidFill>
                          <a:latin typeface="Calibri"/>
                        </a:rPr>
                        <a:t>32.3.</a:t>
                      </a:r>
                      <a:r>
                        <a:rPr sz="700" b="0" i="0">
                          <a:solidFill>
                            <a:srgbClr val="0070C0"/>
                          </a:solidFill>
                          <a:latin typeface="Times New Roman"/>
                        </a:rPr>
                        <a:t>  </a:t>
                      </a:r>
                      <a:r>
                        <a:rPr sz="1100" b="0" i="0">
                          <a:solidFill>
                            <a:srgbClr val="0070C0"/>
                          </a:solidFill>
                          <a:latin typeface="Calibri"/>
                        </a:rPr>
                        <a:t>Active Ingredient Combination and Pet-owner Purchase Preference</a:t>
                      </a:r>
                      <a:endParaRPr sz="1100"/>
                    </a:p>
                  </a:txBody>
                  <a:tcPr marL="428625" marR="9525" marT="9525" marB="0" anchor="ctr"/>
                </a:tc>
              </a:tr>
              <a:tr h="175260">
                <a:tc>
                  <a:txBody>
                    <a:bodyPr wrap="square"/>
                    <a:lstStyle/>
                    <a:p>
                      <a:pPr algn="l"/>
                      <a:r>
                        <a:rPr sz="1100" b="0" i="0">
                          <a:solidFill>
                            <a:srgbClr val="0070C0"/>
                          </a:solidFill>
                          <a:latin typeface="Calibri"/>
                        </a:rPr>
                        <a:t>32.4.</a:t>
                      </a:r>
                      <a:r>
                        <a:rPr sz="700" b="0" i="0">
                          <a:solidFill>
                            <a:srgbClr val="0070C0"/>
                          </a:solidFill>
                          <a:latin typeface="Times New Roman"/>
                        </a:rPr>
                        <a:t>  </a:t>
                      </a:r>
                      <a:r>
                        <a:rPr sz="1100" b="0" i="0">
                          <a:solidFill>
                            <a:srgbClr val="0070C0"/>
                          </a:solidFill>
                          <a:latin typeface="Calibri"/>
                        </a:rPr>
                        <a:t>Novel Formulation Concept and Purchase Intent (%)</a:t>
                      </a:r>
                      <a:endParaRPr sz="1100"/>
                    </a:p>
                  </a:txBody>
                  <a:tcPr marL="428625" marR="9525" marT="9525" marB="0" anchor="ctr"/>
                </a:tc>
              </a:tr>
              <a:tr h="175260">
                <a:tc>
                  <a:txBody>
                    <a:bodyPr wrap="square"/>
                    <a:lstStyle/>
                    <a:p>
                      <a:pPr algn="l"/>
                      <a:r>
                        <a:rPr sz="1100" b="0" i="0">
                          <a:solidFill>
                            <a:srgbClr val="0070C0"/>
                          </a:solidFill>
                          <a:latin typeface="Calibri"/>
                        </a:rPr>
                        <a:t>32.5.</a:t>
                      </a:r>
                      <a:r>
                        <a:rPr sz="700" b="0" i="0">
                          <a:solidFill>
                            <a:srgbClr val="0070C0"/>
                          </a:solidFill>
                          <a:latin typeface="Times New Roman"/>
                        </a:rPr>
                        <a:t>  </a:t>
                      </a:r>
                      <a:r>
                        <a:rPr sz="1100" b="0" i="0">
                          <a:solidFill>
                            <a:srgbClr val="0070C0"/>
                          </a:solidFill>
                          <a:latin typeface="Calibri"/>
                        </a:rPr>
                        <a:t>Cognitive Health Claim Preference, Consumer Trust and Willingness to Pay</a:t>
                      </a:r>
                      <a:endParaRPr sz="1100"/>
                    </a:p>
                  </a:txBody>
                  <a:tcPr marL="428625" marR="9525" marT="9525" marB="0" anchor="ctr"/>
                </a:tc>
              </a:tr>
              <a:tr h="175260">
                <a:tc>
                  <a:txBody>
                    <a:bodyPr wrap="square"/>
                    <a:lstStyle/>
                    <a:p>
                      <a:pPr algn="l"/>
                      <a:r>
                        <a:rPr sz="1100" b="0" i="0">
                          <a:solidFill>
                            <a:srgbClr val="0070C0"/>
                          </a:solidFill>
                          <a:latin typeface="Calibri"/>
                        </a:rPr>
                        <a:t>32.6.</a:t>
                      </a:r>
                      <a:r>
                        <a:rPr sz="700" b="0" i="0">
                          <a:solidFill>
                            <a:srgbClr val="0070C0"/>
                          </a:solidFill>
                          <a:latin typeface="Times New Roman"/>
                        </a:rPr>
                        <a:t>  </a:t>
                      </a:r>
                      <a:r>
                        <a:rPr sz="1100" b="0" i="0">
                          <a:solidFill>
                            <a:srgbClr val="0070C0"/>
                          </a:solidFill>
                          <a:latin typeface="Calibri"/>
                        </a:rPr>
                        <a:t>Supplement Format Preference, Palatability and Repeat Purchase Rate (%)</a:t>
                      </a:r>
                      <a:endParaRPr sz="1100"/>
                    </a:p>
                  </a:txBody>
                  <a:tcPr marL="428625" marR="9525" marT="9525" marB="0" anchor="ctr"/>
                </a:tc>
              </a:tr>
              <a:tr h="175260">
                <a:tc>
                  <a:txBody>
                    <a:bodyPr wrap="square"/>
                    <a:lstStyle/>
                    <a:p>
                      <a:pPr algn="l"/>
                      <a:r>
                        <a:rPr sz="1100" b="0" i="0">
                          <a:solidFill>
                            <a:srgbClr val="0070C0"/>
                          </a:solidFill>
                          <a:latin typeface="Calibri"/>
                        </a:rPr>
                        <a:t>32.7.</a:t>
                      </a:r>
                      <a:r>
                        <a:rPr sz="700" b="0" i="0">
                          <a:solidFill>
                            <a:srgbClr val="0070C0"/>
                          </a:solidFill>
                          <a:latin typeface="Times New Roman"/>
                        </a:rPr>
                        <a:t>  </a:t>
                      </a:r>
                      <a:r>
                        <a:rPr sz="1100" b="0" i="0">
                          <a:solidFill>
                            <a:srgbClr val="0070C0"/>
                          </a:solidFill>
                          <a:latin typeface="Calibri"/>
                        </a:rPr>
                        <a:t>Unmet Cognitive Wellness Needs and Current Product Coverage (%)</a:t>
                      </a:r>
                      <a:endParaRPr sz="1100"/>
                    </a:p>
                  </a:txBody>
                  <a:tcPr marL="428625" marR="9525" marT="9525" marB="0" anchor="ctr"/>
                </a:tc>
              </a:tr>
              <a:tr h="350520">
                <a:tc>
                  <a:txBody>
                    <a:bodyPr wrap="square"/>
                    <a:lstStyle/>
                    <a:p>
                      <a:pPr algn="l"/>
                      <a:r>
                        <a:rPr sz="1100" b="0" i="0">
                          <a:solidFill>
                            <a:srgbClr val="0070C0"/>
                          </a:solidFill>
                          <a:latin typeface="Calibri"/>
                        </a:rPr>
                        <a:t>32.8.</a:t>
                      </a:r>
                      <a:r>
                        <a:rPr sz="700" b="0" i="0">
                          <a:solidFill>
                            <a:srgbClr val="0070C0"/>
                          </a:solidFill>
                          <a:latin typeface="Times New Roman"/>
                        </a:rPr>
                        <a:t>  </a:t>
                      </a:r>
                      <a:r>
                        <a:rPr sz="1100" b="0" i="0">
                          <a:solidFill>
                            <a:srgbClr val="0070C0"/>
                          </a:solidFill>
                          <a:latin typeface="Calibri"/>
                        </a:rPr>
                        <a:t>Innovation Concept, Premium Price Acceptance and Incremental Revenue Opportunity</a:t>
                      </a:r>
                      <a:endParaRPr sz="1100"/>
                    </a:p>
                  </a:txBody>
                  <a:tcPr marL="428625" marR="9525" marT="9525" marB="0" anchor="ctr"/>
                </a:tc>
              </a:tr>
              <a:tr h="175260">
                <a:tc>
                  <a:txBody>
                    <a:bodyPr wrap="square"/>
                    <a:lstStyle/>
                    <a:p>
                      <a:pPr algn="l"/>
                      <a:r>
                        <a:rPr sz="1100" b="1" i="0">
                          <a:solidFill>
                            <a:srgbClr val="000000"/>
                          </a:solidFill>
                          <a:latin typeface="Calibri"/>
                        </a:rPr>
                        <a:t>33.</a:t>
                      </a:r>
                      <a:r>
                        <a:rPr sz="700" b="1" i="0">
                          <a:solidFill>
                            <a:srgbClr val="000000"/>
                          </a:solidFill>
                          <a:latin typeface="Times New Roman"/>
                        </a:rPr>
                        <a:t>    </a:t>
                      </a:r>
                      <a:r>
                        <a:rPr sz="1100" b="1" i="0">
                          <a:solidFill>
                            <a:srgbClr val="000000"/>
                          </a:solidFill>
                          <a:latin typeface="Calibri"/>
                        </a:rPr>
                        <a:t>Assumptions and Acronyms Used</a:t>
                      </a:r>
                      <a:endParaRPr sz="1100"/>
                    </a:p>
                  </a:txBody>
                  <a:tcPr marL="171450"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(8/8)</a:t>
            </a:r>
          </a:p>
        </p:txBody>
      </p:sp>
      <p:graphicFrame>
        <p:nvGraphicFramePr>
          <p:cNvPr id="9" name="FMI Contents Table"/>
          <p:cNvGraphicFramePr>
            <a:graphicFrameLocks noGrp="1"/>
          </p:cNvGraphicFramePr>
          <p:nvPr/>
        </p:nvGraphicFramePr>
        <p:xfrm>
          <a:off x="142875" y="981075"/>
          <a:ext cx="5876925" cy="17526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Calibri"/>
                        </a:rPr>
                        <a:t>34.</a:t>
                      </a:r>
                      <a:r>
                        <a:rPr sz="700" b="1" i="0">
                          <a:solidFill>
                            <a:srgbClr val="000000"/>
                          </a:solidFill>
                          <a:latin typeface="Times New Roman"/>
                        </a:rPr>
                        <a:t>    </a:t>
                      </a:r>
                      <a:r>
                        <a:rPr sz="1100" b="1" i="0">
                          <a:solidFill>
                            <a:srgbClr val="000000"/>
                          </a:solidFill>
                          <a:latin typeface="Calibri"/>
                        </a:rPr>
                        <a:t>Research Methodology</a:t>
                      </a:r>
                      <a:endParaRPr sz="1100"/>
                    </a:p>
                  </a:txBody>
                  <a:tcPr marL="171450" marR="9525" marT="9525" marB="0" anchor="ctr"/>
                </a:tc>
              </a:tr>
            </a:tbl>
          </a:graphicData>
        </a:graphic>
      </p:graphicFrame>
      <p:sp>
        <p:nvSpPr>
          <p:cNvPr id="10" name="TextBox 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94957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292475"/>
            <a:ext cx="8572500" cy="514350"/>
          </a:xfrm>
          <a:prstGeom prst="rect">
            <a:avLst/>
          </a:prstGeom>
          <a:noFill/>
        </p:spPr>
        <p:txBody>
          <a:bodyPr wrap="square" lIns="0" rIns="0" tIns="0">
            <a:spAutoFit/>
          </a:bodyPr>
          <a:lstStyle/>
          <a:p>
            <a:r>
              <a:rPr sz="3000" b="1">
                <a:solidFill>
                  <a:srgbClr val="0B3C8C"/>
                </a:solidFill>
                <a:latin typeface="Calibri"/>
              </a:rPr>
              <a:t>List of Figures, List of Tables</a:t>
            </a:r>
          </a:p>
        </p:txBody>
      </p:sp>
      <p:sp>
        <p:nvSpPr>
          <p:cNvPr id="11" name="TextBox 10"/>
          <p:cNvSpPr txBox="1"/>
          <p:nvPr/>
        </p:nvSpPr>
        <p:spPr>
          <a:xfrm>
            <a:off x="914400" y="3978275"/>
            <a:ext cx="8458200" cy="8826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figure in the full study, by analysis block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table in the full study, by analysis block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(1/4)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 Global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2: Global Market Value Snapshot,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3: Global Market Taxonomy by Segment, 2026</a:t>
                      </a:r>
                      <a:endParaRPr sz="1050"/>
                    </a:p>
                  </a:txBody>
                  <a:tcPr marL="9525" marR="9525" marT="9525" marB="0" anchor="ctr"/>
                </a:tc>
              </a:tr>
              <a:tr h="169606">
                <a:tc>
                  <a:txBody>
                    <a:bodyPr wrap="square"/>
                    <a:lstStyle/>
                    <a:p>
                      <a:pPr algn="l"/>
                      <a:r>
                        <a:rPr sz="1050" b="0" i="0">
                          <a:solidFill>
                            <a:srgbClr val="000000"/>
                          </a:solidFill>
                          <a:latin typeface="Calibri"/>
                        </a:rPr>
                        <a:t>Figure 4: Global Market Share by Form Type, %, 2026</a:t>
                      </a:r>
                      <a:endParaRPr sz="1050"/>
                    </a:p>
                  </a:txBody>
                  <a:tcPr marL="9525" marR="9525" marT="9525" marB="0" anchor="ctr"/>
                </a:tc>
              </a:tr>
              <a:tr h="169606">
                <a:tc>
                  <a:txBody>
                    <a:bodyPr wrap="square"/>
                    <a:lstStyle/>
                    <a:p>
                      <a:pPr algn="l"/>
                      <a:r>
                        <a:rPr sz="1050" b="0" i="0">
                          <a:solidFill>
                            <a:srgbClr val="000000"/>
                          </a:solidFill>
                          <a:latin typeface="Calibri"/>
                        </a:rPr>
                        <a:t>Figure 5: Global Market Share by Active Ingredient, %, 2026</a:t>
                      </a:r>
                      <a:endParaRPr sz="1050"/>
                    </a:p>
                  </a:txBody>
                  <a:tcPr marL="9525" marR="9525" marT="9525" marB="0" anchor="ctr"/>
                </a:tc>
              </a:tr>
              <a:tr h="169606">
                <a:tc>
                  <a:txBody>
                    <a:bodyPr wrap="square"/>
                    <a:lstStyle/>
                    <a:p>
                      <a:pPr algn="l"/>
                      <a:r>
                        <a:rPr sz="1050" b="0" i="0">
                          <a:solidFill>
                            <a:srgbClr val="000000"/>
                          </a:solidFill>
                          <a:latin typeface="Calibri"/>
                        </a:rPr>
                        <a:t>Figure 6: Global Market Share by End-use Application, %, 2026</a:t>
                      </a:r>
                      <a:endParaRPr sz="1050"/>
                    </a:p>
                  </a:txBody>
                  <a:tcPr marL="9525" marR="9525" marT="9525" marB="0" anchor="ctr"/>
                </a:tc>
              </a:tr>
              <a:tr h="169606">
                <a:tc>
                  <a:txBody>
                    <a:bodyPr wrap="square"/>
                    <a:lstStyle/>
                    <a:p>
                      <a:pPr algn="l"/>
                      <a:r>
                        <a:rPr sz="1050" b="0" i="0">
                          <a:solidFill>
                            <a:srgbClr val="000000"/>
                          </a:solidFill>
                          <a:latin typeface="Calibri"/>
                        </a:rPr>
                        <a:t>Figure 7: Global Market Share by Packaging Format, %, 2026</a:t>
                      </a:r>
                      <a:endParaRPr sz="1050"/>
                    </a:p>
                  </a:txBody>
                  <a:tcPr marL="9525" marR="9525" marT="9525" marB="0" anchor="ctr"/>
                </a:tc>
              </a:tr>
              <a:tr h="169606">
                <a:tc>
                  <a:txBody>
                    <a:bodyPr wrap="square"/>
                    <a:lstStyle/>
                    <a:p>
                      <a:pPr algn="l"/>
                      <a:r>
                        <a:rPr sz="1050" b="0" i="0">
                          <a:solidFill>
                            <a:srgbClr val="000000"/>
                          </a:solidFill>
                          <a:latin typeface="Calibri"/>
                        </a:rPr>
                        <a:t>Figure 8: Global Market Share by Sales Channel, %, 2026</a:t>
                      </a:r>
                      <a:endParaRPr sz="1050"/>
                    </a:p>
                  </a:txBody>
                  <a:tcPr marL="9525" marR="9525" marT="9525" marB="0" anchor="ctr"/>
                </a:tc>
              </a:tr>
              <a:tr h="169606">
                <a:tc>
                  <a:txBody>
                    <a:bodyPr wrap="square"/>
                    <a:lstStyle/>
                    <a:p>
                      <a:pPr algn="l"/>
                      <a:r>
                        <a:rPr sz="1050" b="0" i="0">
                          <a:solidFill>
                            <a:srgbClr val="000000"/>
                          </a:solidFill>
                          <a:latin typeface="Calibri"/>
                        </a:rPr>
                        <a:t>Figure 9: Global Market Share by Region, %, 2026</a:t>
                      </a:r>
                      <a:endParaRPr sz="1050"/>
                    </a:p>
                  </a:txBody>
                  <a:tcPr marL="9525" marR="9525" marT="9525" marB="0" anchor="ctr"/>
                </a:tc>
              </a:tr>
              <a:tr h="169606">
                <a:tc>
                  <a:txBody>
                    <a:bodyPr wrap="square"/>
                    <a:lstStyle/>
                    <a:p>
                      <a:pPr algn="l"/>
                      <a:r>
                        <a:rPr sz="1050" b="0" i="0">
                          <a:solidFill>
                            <a:srgbClr val="000000"/>
                          </a:solidFill>
                          <a:latin typeface="Calibri"/>
                        </a:rPr>
                        <a:t>Figure 10: Global Market Incremental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11: Global Market Historical Value, US$ Mn, 2021–2025</a:t>
                      </a:r>
                      <a:endParaRPr sz="1050"/>
                    </a:p>
                  </a:txBody>
                  <a:tcPr marL="9525" marR="9525" marT="9525" marB="0" anchor="ctr"/>
                </a:tc>
              </a:tr>
              <a:tr h="169606">
                <a:tc>
                  <a:txBody>
                    <a:bodyPr wrap="square"/>
                    <a:lstStyle/>
                    <a:p>
                      <a:pPr algn="l"/>
                      <a:r>
                        <a:rPr sz="1050" b="0" i="0">
                          <a:solidFill>
                            <a:srgbClr val="000000"/>
                          </a:solidFill>
                          <a:latin typeface="Calibri"/>
                        </a:rPr>
                        <a:t>Figure 12: Global Market Forecast Value, US$ Mn, 2026–2036</a:t>
                      </a:r>
                      <a:endParaRPr sz="1050"/>
                    </a:p>
                  </a:txBody>
                  <a:tcPr marL="9525" marR="9525" marT="9525" marB="0" anchor="ctr"/>
                </a:tc>
              </a:tr>
              <a:tr h="169606">
                <a:tc>
                  <a:txBody>
                    <a:bodyPr wrap="square"/>
                    <a:lstStyle/>
                    <a:p>
                      <a:pPr algn="l"/>
                      <a:r>
                        <a:rPr sz="1050" b="0" i="0">
                          <a:solidFill>
                            <a:srgbClr val="000000"/>
                          </a:solidFill>
                          <a:latin typeface="Calibri"/>
                        </a:rPr>
                        <a:t>Figure 13: Global Market YoY Growth, %, 2021–2036</a:t>
                      </a:r>
                      <a:endParaRPr sz="1050"/>
                    </a:p>
                  </a:txBody>
                  <a:tcPr marL="9525" marR="9525" marT="9525" marB="0" anchor="ctr"/>
                </a:tc>
              </a:tr>
              <a:tr h="169606">
                <a:tc>
                  <a:txBody>
                    <a:bodyPr wrap="square"/>
                    <a:lstStyle/>
                    <a:p>
                      <a:pPr algn="l"/>
                      <a:r>
                        <a:rPr sz="1050" b="0" i="0">
                          <a:solidFill>
                            <a:srgbClr val="000000"/>
                          </a:solidFill>
                          <a:latin typeface="Calibri"/>
                        </a:rPr>
                        <a:t>Figure 14: Global Market Volume and YoY Growth, MT and %, 2021–2036</a:t>
                      </a:r>
                      <a:endParaRPr sz="1050"/>
                    </a:p>
                  </a:txBody>
                  <a:tcPr marL="9525" marR="9525" marT="9525" marB="0" anchor="ctr"/>
                </a:tc>
              </a:tr>
              <a:tr h="169606">
                <a:tc>
                  <a:txBody>
                    <a:bodyPr wrap="square"/>
                    <a:lstStyle/>
                    <a:p>
                      <a:pPr algn="l"/>
                      <a:r>
                        <a:rPr sz="1050" b="0" i="0">
                          <a:solidFill>
                            <a:srgbClr val="000000"/>
                          </a:solidFill>
                          <a:latin typeface="Calibri"/>
                        </a:rPr>
                        <a:t>Figure 15: Global Market Volume vs Value CAGR Comparison, %, 2026–2036</a:t>
                      </a:r>
                      <a:endParaRPr sz="1050"/>
                    </a:p>
                  </a:txBody>
                  <a:tcPr marL="9525" marR="9525" marT="9525" marB="0" anchor="ctr"/>
                </a:tc>
              </a:tr>
              <a:tr h="169606">
                <a:tc>
                  <a:txBody>
                    <a:bodyPr wrap="square"/>
                    <a:lstStyle/>
                    <a:p>
                      <a:pPr algn="l"/>
                      <a:r>
                        <a:rPr sz="1050" b="0" i="0">
                          <a:solidFill>
                            <a:srgbClr val="000000"/>
                          </a:solidFill>
                          <a:latin typeface="Calibri"/>
                        </a:rPr>
                        <a:t>Figure 16: Global Market Average Selling Price, US$/MT, 2021–2036</a:t>
                      </a:r>
                      <a:endParaRPr sz="1050"/>
                    </a:p>
                  </a:txBody>
                  <a:tcPr marL="9525" marR="9525" marT="9525" marB="0" anchor="ctr"/>
                </a:tc>
              </a:tr>
              <a:tr h="169606">
                <a:tc>
                  <a:txBody>
                    <a:bodyPr wrap="square"/>
                    <a:lstStyle/>
                    <a:p>
                      <a:pPr algn="l"/>
                      <a:r>
                        <a:rPr sz="1050" b="0" i="0">
                          <a:solidFill>
                            <a:srgbClr val="000000"/>
                          </a:solidFill>
                          <a:latin typeface="Calibri"/>
                        </a:rPr>
                        <a:t>Figure 17: Global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18: Global Market Incremental Opportunity by Year, US$ Mn, 2026–2036</a:t>
                      </a:r>
                      <a:endParaRPr sz="1050"/>
                    </a:p>
                  </a:txBody>
                  <a:tcPr marL="9525" marR="9525" marT="9525" marB="0" anchor="ctr"/>
                </a:tc>
              </a:tr>
              <a:tr h="169606">
                <a:tc>
                  <a:txBody>
                    <a:bodyPr wrap="square"/>
                    <a:lstStyle/>
                    <a:p>
                      <a:pPr algn="l"/>
                      <a:r>
                        <a:rPr sz="1050" b="0" i="0">
                          <a:solidFill>
                            <a:srgbClr val="000000"/>
                          </a:solidFill>
                          <a:latin typeface="Calibri"/>
                        </a:rPr>
                        <a:t>Figure 19: Global Market Historical vs Forecast CAGR, %, 2021–2036</a:t>
                      </a:r>
                      <a:endParaRPr sz="1050"/>
                    </a:p>
                  </a:txBody>
                  <a:tcPr marL="9525" marR="9525" marT="9525" marB="0" anchor="ctr"/>
                </a:tc>
              </a:tr>
              <a:tr h="169606">
                <a:tc>
                  <a:txBody>
                    <a:bodyPr wrap="square"/>
                    <a:lstStyle/>
                    <a:p>
                      <a:pPr algn="l"/>
                      <a:r>
                        <a:rPr sz="1050" b="0" i="0">
                          <a:solidFill>
                            <a:srgbClr val="000000"/>
                          </a:solidFill>
                          <a:latin typeface="Calibri"/>
                        </a:rPr>
                        <a:t>Figure 20: Global Market Value by Scenario (Optimistic, Likely, Pessimistic), US$ Mn, 2026–2036</a:t>
                      </a:r>
                      <a:endParaRPr sz="1050"/>
                    </a:p>
                  </a:txBody>
                  <a:tcPr marL="9525" marR="9525" marT="9525" marB="0" anchor="ctr"/>
                </a:tc>
              </a:tr>
              <a:tr h="169606">
                <a:tc>
                  <a:txBody>
                    <a:bodyPr wrap="square"/>
                    <a:lstStyle/>
                    <a:p>
                      <a:pPr algn="l"/>
                      <a:r>
                        <a:rPr sz="1050" b="0" i="0">
                          <a:solidFill>
                            <a:srgbClr val="000000"/>
                          </a:solidFill>
                          <a:latin typeface="Calibri"/>
                        </a:rPr>
                        <a:t>Figure 21: Global Market Size Evolution Index, 2025=100, 2021–2036</a:t>
                      </a:r>
                      <a:endParaRPr sz="1050"/>
                    </a:p>
                  </a:txBody>
                  <a:tcPr marL="9525" marR="9525" marT="9525" marB="0" anchor="ctr"/>
                </a:tc>
              </a:tr>
              <a:tr h="169606">
                <a:tc>
                  <a:txBody>
                    <a:bodyPr wrap="square"/>
                    <a:lstStyle/>
                    <a:p>
                      <a:pPr algn="l"/>
                      <a:r>
                        <a:rPr sz="1050" b="0" i="0">
                          <a:solidFill>
                            <a:srgbClr val="000000"/>
                          </a:solidFill>
                          <a:latin typeface="Calibri"/>
                        </a:rPr>
                        <a:t>Figure 22: Global Market Value by Form Type, US$ Mn, 2021–2036</a:t>
                      </a:r>
                      <a:endParaRPr sz="1050"/>
                    </a:p>
                  </a:txBody>
                  <a:tcPr marL="9525" marR="9525" marT="9525" marB="0" anchor="ctr"/>
                </a:tc>
              </a:tr>
              <a:tr h="169606">
                <a:tc>
                  <a:txBody>
                    <a:bodyPr wrap="square"/>
                    <a:lstStyle/>
                    <a:p>
                      <a:pPr algn="l"/>
                      <a:r>
                        <a:rPr sz="1050" b="0" i="0">
                          <a:solidFill>
                            <a:srgbClr val="000000"/>
                          </a:solidFill>
                          <a:latin typeface="Calibri"/>
                        </a:rPr>
                        <a:t>Figure 23: Global Market Value by Active Ingredient, US$ Mn, 2021–2036</a:t>
                      </a:r>
                      <a:endParaRPr sz="1050"/>
                    </a:p>
                  </a:txBody>
                  <a:tcPr marL="9525" marR="9525" marT="9525" marB="0" anchor="ctr"/>
                </a:tc>
              </a:tr>
              <a:tr h="169606">
                <a:tc>
                  <a:txBody>
                    <a:bodyPr wrap="square"/>
                    <a:lstStyle/>
                    <a:p>
                      <a:pPr algn="l"/>
                      <a:r>
                        <a:rPr sz="1050" b="0" i="0">
                          <a:solidFill>
                            <a:srgbClr val="000000"/>
                          </a:solidFill>
                          <a:latin typeface="Calibri"/>
                        </a:rPr>
                        <a:t>Figure 24: Global Market Value by End-use Application, US$ Mn, 2021–2036</a:t>
                      </a:r>
                      <a:endParaRPr sz="1050"/>
                    </a:p>
                  </a:txBody>
                  <a:tcPr marL="9525" marR="9525" marT="9525" marB="0" anchor="ctr"/>
                </a:tc>
              </a:tr>
              <a:tr h="169606">
                <a:tc>
                  <a:txBody>
                    <a:bodyPr wrap="square"/>
                    <a:lstStyle/>
                    <a:p>
                      <a:pPr algn="l"/>
                      <a:r>
                        <a:rPr sz="1050" b="0" i="0">
                          <a:solidFill>
                            <a:srgbClr val="000000"/>
                          </a:solidFill>
                          <a:latin typeface="Calibri"/>
                        </a:rPr>
                        <a:t>Figure 25: Global Market Value by Packaging Format, US$ Mn, 2021–2036</a:t>
                      </a:r>
                      <a:endParaRPr sz="1050"/>
                    </a:p>
                  </a:txBody>
                  <a:tcPr marL="9525" marR="9525" marT="9525" marB="0" anchor="ctr"/>
                </a:tc>
              </a:tr>
              <a:tr h="169606">
                <a:tc>
                  <a:txBody>
                    <a:bodyPr wrap="square"/>
                    <a:lstStyle/>
                    <a:p>
                      <a:pPr algn="l"/>
                      <a:r>
                        <a:rPr sz="1050" b="0" i="0">
                          <a:solidFill>
                            <a:srgbClr val="000000"/>
                          </a:solidFill>
                          <a:latin typeface="Calibri"/>
                        </a:rPr>
                        <a:t>Figure 26: Global Market Value by Sales Channel, US$ Mn, 2021–2036</a:t>
                      </a:r>
                      <a:endParaRPr sz="1050"/>
                    </a:p>
                  </a:txBody>
                  <a:tcPr marL="9525" marR="9525" marT="9525" marB="0" anchor="ctr"/>
                </a:tc>
              </a:tr>
              <a:tr h="169606">
                <a:tc>
                  <a:txBody>
                    <a:bodyPr wrap="square"/>
                    <a:lstStyle/>
                    <a:p>
                      <a:pPr algn="l"/>
                      <a:r>
                        <a:rPr sz="1050" b="0" i="0">
                          <a:solidFill>
                            <a:srgbClr val="000000"/>
                          </a:solidFill>
                          <a:latin typeface="Calibri"/>
                        </a:rPr>
                        <a:t>Figure 27: Global Market Share by Form Type, %, 2026 and 2036</a:t>
                      </a:r>
                      <a:endParaRPr sz="1050"/>
                    </a:p>
                  </a:txBody>
                  <a:tcPr marL="9525" marR="9525" marT="9525" marB="0" anchor="ctr"/>
                </a:tc>
              </a:tr>
              <a:tr h="169606">
                <a:tc>
                  <a:txBody>
                    <a:bodyPr wrap="square"/>
                    <a:lstStyle/>
                    <a:p>
                      <a:pPr algn="l"/>
                      <a:r>
                        <a:rPr sz="1050" b="0" i="0">
                          <a:solidFill>
                            <a:srgbClr val="000000"/>
                          </a:solidFill>
                          <a:latin typeface="Calibri"/>
                        </a:rPr>
                        <a:t>Figure 28: Global Market Share by Active Ingredient, %, 2026 and 2036</a:t>
                      </a:r>
                      <a:endParaRPr sz="1050"/>
                    </a:p>
                  </a:txBody>
                  <a:tcPr marL="9525" marR="9525" marT="9525" marB="0" anchor="ctr"/>
                </a:tc>
              </a:tr>
              <a:tr h="169606">
                <a:tc>
                  <a:txBody>
                    <a:bodyPr wrap="square"/>
                    <a:lstStyle/>
                    <a:p>
                      <a:pPr algn="l"/>
                      <a:r>
                        <a:rPr sz="1050" b="0" i="0">
                          <a:solidFill>
                            <a:srgbClr val="000000"/>
                          </a:solidFill>
                          <a:latin typeface="Calibri"/>
                        </a:rPr>
                        <a:t>Figure 29: Global Market Share by End-use Application, %, 2026 and 2036</a:t>
                      </a:r>
                      <a:endParaRPr sz="1050"/>
                    </a:p>
                  </a:txBody>
                  <a:tcPr marL="9525" marR="9525" marT="9525" marB="0" anchor="ctr"/>
                </a:tc>
              </a:tr>
              <a:tr h="169606">
                <a:tc>
                  <a:txBody>
                    <a:bodyPr wrap="square"/>
                    <a:lstStyle/>
                    <a:p>
                      <a:pPr algn="l"/>
                      <a:r>
                        <a:rPr sz="1050" b="0" i="0">
                          <a:solidFill>
                            <a:srgbClr val="000000"/>
                          </a:solidFill>
                          <a:latin typeface="Calibri"/>
                        </a:rPr>
                        <a:t>Figure 30: Global Market Share by Packaging Format, %, 2026 and 2036</a:t>
                      </a:r>
                      <a:endParaRPr sz="1050"/>
                    </a:p>
                  </a:txBody>
                  <a:tcPr marL="9525" marR="9525" marT="9525" marB="0" anchor="ctr"/>
                </a:tc>
              </a:tr>
              <a:tr h="169606">
                <a:tc>
                  <a:txBody>
                    <a:bodyPr wrap="square"/>
                    <a:lstStyle/>
                    <a:p>
                      <a:pPr algn="l"/>
                      <a:r>
                        <a:rPr sz="1050" b="0" i="0">
                          <a:solidFill>
                            <a:srgbClr val="000000"/>
                          </a:solidFill>
                          <a:latin typeface="Calibri"/>
                        </a:rPr>
                        <a:t>Figure 31: Global Market Share by Sales Channel, %, 2026 and 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32: Global Market Absolute $ Opportunity by Form Type, US$ Mn, 2026–2036</a:t>
                      </a:r>
                      <a:endParaRPr sz="1050"/>
                    </a:p>
                  </a:txBody>
                  <a:tcPr marL="9525" marR="9525" marT="9525" marB="0" anchor="ctr"/>
                </a:tc>
              </a:tr>
              <a:tr h="169606">
                <a:tc>
                  <a:txBody>
                    <a:bodyPr wrap="square"/>
                    <a:lstStyle/>
                    <a:p>
                      <a:pPr algn="l"/>
                      <a:r>
                        <a:rPr sz="1050" b="0" i="0">
                          <a:solidFill>
                            <a:srgbClr val="000000"/>
                          </a:solidFill>
                          <a:latin typeface="Calibri"/>
                        </a:rPr>
                        <a:t>Figure 33: Global Market Absolute $ Opportunity by Active Ingredient, US$ Mn, 2026–2036</a:t>
                      </a:r>
                      <a:endParaRPr sz="1050"/>
                    </a:p>
                  </a:txBody>
                  <a:tcPr marL="9525" marR="9525" marT="9525" marB="0" anchor="ctr"/>
                </a:tc>
              </a:tr>
              <a:tr h="169606">
                <a:tc>
                  <a:txBody>
                    <a:bodyPr wrap="square"/>
                    <a:lstStyle/>
                    <a:p>
                      <a:pPr algn="l"/>
                      <a:r>
                        <a:rPr sz="1050" b="0" i="0">
                          <a:solidFill>
                            <a:srgbClr val="000000"/>
                          </a:solidFill>
                          <a:latin typeface="Calibri"/>
                        </a:rPr>
                        <a:t>Figure 34: Global Market Absolute $ Opportunity by End-use Application, US$ Mn, 2026–2036</a:t>
                      </a:r>
                      <a:endParaRPr sz="1050"/>
                    </a:p>
                  </a:txBody>
                  <a:tcPr marL="9525" marR="9525" marT="9525" marB="0" anchor="ctr"/>
                </a:tc>
              </a:tr>
              <a:tr h="169606">
                <a:tc>
                  <a:txBody>
                    <a:bodyPr wrap="square"/>
                    <a:lstStyle/>
                    <a:p>
                      <a:pPr algn="l"/>
                      <a:r>
                        <a:rPr sz="1050" b="0" i="0">
                          <a:solidFill>
                            <a:srgbClr val="000000"/>
                          </a:solidFill>
                          <a:latin typeface="Calibri"/>
                        </a:rPr>
                        <a:t>Figure 35: Global Market Absolute $ Opportunity by Packaging Format, US$ Mn, 2026–2036</a:t>
                      </a:r>
                      <a:endParaRPr sz="1050"/>
                    </a:p>
                  </a:txBody>
                  <a:tcPr marL="9525" marR="9525" marT="9525" marB="0" anchor="ctr"/>
                </a:tc>
              </a:tr>
              <a:tr h="169606">
                <a:tc>
                  <a:txBody>
                    <a:bodyPr wrap="square"/>
                    <a:lstStyle/>
                    <a:p>
                      <a:pPr algn="l"/>
                      <a:r>
                        <a:rPr sz="1050" b="0" i="0">
                          <a:solidFill>
                            <a:srgbClr val="000000"/>
                          </a:solidFill>
                          <a:latin typeface="Calibri"/>
                        </a:rPr>
                        <a:t>Figure 36: Global Market Absolute $ Opportunity by Sales Channel, US$ Mn, 2026–2036</a:t>
                      </a:r>
                      <a:endParaRPr sz="1050"/>
                    </a:p>
                  </a:txBody>
                  <a:tcPr marL="9525" marR="9525" marT="9525" marB="0" anchor="ctr"/>
                </a:tc>
              </a:tr>
              <a:tr h="169606">
                <a:tc>
                  <a:txBody>
                    <a:bodyPr wrap="square"/>
                    <a:lstStyle/>
                    <a:p>
                      <a:pPr algn="l"/>
                      <a:r>
                        <a:rPr sz="1050" b="0" i="0">
                          <a:solidFill>
                            <a:srgbClr val="000000"/>
                          </a:solidFill>
                          <a:latin typeface="Calibri"/>
                        </a:rPr>
                        <a:t>Figure 37: Global Market BPS Share Change by Form Type, 2026–2036</a:t>
                      </a:r>
                      <a:endParaRPr sz="1050"/>
                    </a:p>
                  </a:txBody>
                  <a:tcPr marL="9525" marR="9525" marT="9525" marB="0" anchor="ctr"/>
                </a:tc>
              </a:tr>
              <a:tr h="169606">
                <a:tc>
                  <a:txBody>
                    <a:bodyPr wrap="square"/>
                    <a:lstStyle/>
                    <a:p>
                      <a:pPr algn="l"/>
                      <a:r>
                        <a:rPr sz="1050" b="0" i="0">
                          <a:solidFill>
                            <a:srgbClr val="000000"/>
                          </a:solidFill>
                          <a:latin typeface="Calibri"/>
                        </a:rPr>
                        <a:t>Figure 38: Global Market BPS Share Change by Active Ingredient, 2026–2036</a:t>
                      </a:r>
                      <a:endParaRPr sz="1050"/>
                    </a:p>
                  </a:txBody>
                  <a:tcPr marL="9525" marR="9525" marT="9525" marB="0" anchor="ctr"/>
                </a:tc>
              </a:tr>
              <a:tr h="169606">
                <a:tc>
                  <a:txBody>
                    <a:bodyPr wrap="square"/>
                    <a:lstStyle/>
                    <a:p>
                      <a:pPr algn="l"/>
                      <a:r>
                        <a:rPr sz="1050" b="0" i="0">
                          <a:solidFill>
                            <a:srgbClr val="000000"/>
                          </a:solidFill>
                          <a:latin typeface="Calibri"/>
                        </a:rPr>
                        <a:t>Figure 39: Global Market BPS Share Change by End-use Application, 2026–2036</a:t>
                      </a:r>
                      <a:endParaRPr sz="1050"/>
                    </a:p>
                  </a:txBody>
                  <a:tcPr marL="9525" marR="9525" marT="9525" marB="0" anchor="ctr"/>
                </a:tc>
              </a:tr>
              <a:tr h="169606">
                <a:tc>
                  <a:txBody>
                    <a:bodyPr wrap="square"/>
                    <a:lstStyle/>
                    <a:p>
                      <a:pPr algn="l"/>
                      <a:r>
                        <a:rPr sz="1050" b="0" i="0">
                          <a:solidFill>
                            <a:srgbClr val="000000"/>
                          </a:solidFill>
                          <a:latin typeface="Calibri"/>
                        </a:rPr>
                        <a:t>Figure 40: Global Market BPS Share Change by Packaging Format, 2026–2036</a:t>
                      </a:r>
                      <a:endParaRPr sz="1050"/>
                    </a:p>
                  </a:txBody>
                  <a:tcPr marL="9525" marR="9525" marT="9525" marB="0" anchor="ctr"/>
                </a:tc>
              </a:tr>
              <a:tr h="169606">
                <a:tc>
                  <a:txBody>
                    <a:bodyPr wrap="square"/>
                    <a:lstStyle/>
                    <a:p>
                      <a:pPr algn="l"/>
                      <a:r>
                        <a:rPr sz="1050" b="0" i="0">
                          <a:solidFill>
                            <a:srgbClr val="000000"/>
                          </a:solidFill>
                          <a:latin typeface="Calibri"/>
                        </a:rPr>
                        <a:t>Figure 41: Global Market BPS Share Change by Sales Channel, 2026–2036</a:t>
                      </a:r>
                      <a:endParaRPr sz="1050"/>
                    </a:p>
                  </a:txBody>
                  <a:tcPr marL="9525" marR="9525" marT="9525" marB="0" anchor="ctr"/>
                </a:tc>
              </a:tr>
              <a:tr h="169606">
                <a:tc>
                  <a:txBody>
                    <a:bodyPr wrap="square"/>
                    <a:lstStyle/>
                    <a:p>
                      <a:pPr algn="l"/>
                      <a:r>
                        <a:rPr sz="1050" b="0" i="0">
                          <a:solidFill>
                            <a:srgbClr val="000000"/>
                          </a:solidFill>
                          <a:latin typeface="Calibri"/>
                        </a:rPr>
                        <a:t>Figure 42: Global Market YoY Growth by Form Type, %, 2026–2036</a:t>
                      </a:r>
                      <a:endParaRPr sz="1050"/>
                    </a:p>
                  </a:txBody>
                  <a:tcPr marL="9525" marR="9525" marT="9525" marB="0" anchor="ctr"/>
                </a:tc>
              </a:tr>
              <a:tr h="169606">
                <a:tc>
                  <a:txBody>
                    <a:bodyPr wrap="square"/>
                    <a:lstStyle/>
                    <a:p>
                      <a:pPr algn="l"/>
                      <a:r>
                        <a:rPr sz="1050" b="0" i="0">
                          <a:solidFill>
                            <a:srgbClr val="000000"/>
                          </a:solidFill>
                          <a:latin typeface="Calibri"/>
                        </a:rPr>
                        <a:t>Figure 43: Global Market YoY Growth by Active Ingredient, %, 2026–2036</a:t>
                      </a:r>
                      <a:endParaRPr sz="1050"/>
                    </a:p>
                  </a:txBody>
                  <a:tcPr marL="9525" marR="9525" marT="9525" marB="0" anchor="ctr"/>
                </a:tc>
              </a:tr>
              <a:tr h="169606">
                <a:tc>
                  <a:txBody>
                    <a:bodyPr wrap="square"/>
                    <a:lstStyle/>
                    <a:p>
                      <a:pPr algn="l"/>
                      <a:r>
                        <a:rPr sz="1050" b="0" i="0">
                          <a:solidFill>
                            <a:srgbClr val="000000"/>
                          </a:solidFill>
                          <a:latin typeface="Calibri"/>
                        </a:rPr>
                        <a:t>Figure 44: Global Market YoY Growth by End-use Application, %, 2026–2036</a:t>
                      </a:r>
                      <a:endParaRPr sz="1050"/>
                    </a:p>
                  </a:txBody>
                  <a:tcPr marL="9525" marR="9525" marT="9525" marB="0" anchor="ctr"/>
                </a:tc>
              </a:tr>
              <a:tr h="169606">
                <a:tc>
                  <a:txBody>
                    <a:bodyPr wrap="square"/>
                    <a:lstStyle/>
                    <a:p>
                      <a:pPr algn="l"/>
                      <a:r>
                        <a:rPr sz="1050" b="0" i="0">
                          <a:solidFill>
                            <a:srgbClr val="000000"/>
                          </a:solidFill>
                          <a:latin typeface="Calibri"/>
                        </a:rPr>
                        <a:t>Figure 45: Global Market YoY Growth by Packaging Format, %, 2026–2036</a:t>
                      </a:r>
                      <a:endParaRPr sz="1050"/>
                    </a:p>
                  </a:txBody>
                  <a:tcPr marL="9525" marR="9525" marT="9525" marB="0" anchor="ctr"/>
                </a:tc>
              </a:tr>
              <a:tr h="169606">
                <a:tc>
                  <a:txBody>
                    <a:bodyPr wrap="square"/>
                    <a:lstStyle/>
                    <a:p>
                      <a:pPr algn="l"/>
                      <a:r>
                        <a:rPr sz="1050" b="0" i="0">
                          <a:solidFill>
                            <a:srgbClr val="000000"/>
                          </a:solidFill>
                          <a:latin typeface="Calibri"/>
                        </a:rPr>
                        <a:t>Figure 46: Global Market YoY Growth by Sales Channel, %, 2026–2036</a:t>
                      </a:r>
                      <a:endParaRPr sz="1050"/>
                    </a:p>
                  </a:txBody>
                  <a:tcPr marL="9525" marR="9525" marT="9525" marB="0" anchor="ctr"/>
                </a:tc>
              </a:tr>
              <a:tr h="169606">
                <a:tc>
                  <a:txBody>
                    <a:bodyPr wrap="square"/>
                    <a:lstStyle/>
                    <a:p>
                      <a:pPr algn="l"/>
                      <a:r>
                        <a:rPr sz="1050" b="0" i="0">
                          <a:solidFill>
                            <a:srgbClr val="000000"/>
                          </a:solidFill>
                          <a:latin typeface="Calibri"/>
                        </a:rPr>
                        <a:t>Figure 47: Global Market Attractiveness by Form Type, 2026–2036</a:t>
                      </a:r>
                      <a:endParaRPr sz="1050"/>
                    </a:p>
                  </a:txBody>
                  <a:tcPr marL="9525" marR="9525" marT="9525" marB="0" anchor="ctr"/>
                </a:tc>
              </a:tr>
              <a:tr h="169606">
                <a:tc>
                  <a:txBody>
                    <a:bodyPr wrap="square"/>
                    <a:lstStyle/>
                    <a:p>
                      <a:pPr algn="l"/>
                      <a:r>
                        <a:rPr sz="1050" b="0" i="0">
                          <a:solidFill>
                            <a:srgbClr val="000000"/>
                          </a:solidFill>
                          <a:latin typeface="Calibri"/>
                        </a:rPr>
                        <a:t>Figure 48: Global Market Attractiveness by Active Ingredient, 2026–2036</a:t>
                      </a:r>
                      <a:endParaRPr sz="1050"/>
                    </a:p>
                  </a:txBody>
                  <a:tcPr marL="9525" marR="9525" marT="9525" marB="0" anchor="ctr"/>
                </a:tc>
              </a:tr>
              <a:tr h="169606">
                <a:tc>
                  <a:txBody>
                    <a:bodyPr wrap="square"/>
                    <a:lstStyle/>
                    <a:p>
                      <a:pPr algn="l"/>
                      <a:r>
                        <a:rPr sz="1050" b="0" i="0">
                          <a:solidFill>
                            <a:srgbClr val="000000"/>
                          </a:solidFill>
                          <a:latin typeface="Calibri"/>
                        </a:rPr>
                        <a:t>Figure 49: Global Market Attractiveness by End-use Application, 2026–2036</a:t>
                      </a:r>
                      <a:endParaRPr sz="1050"/>
                    </a:p>
                  </a:txBody>
                  <a:tcPr marL="9525" marR="9525" marT="9525" marB="0" anchor="ctr"/>
                </a:tc>
              </a:tr>
              <a:tr h="169606">
                <a:tc>
                  <a:txBody>
                    <a:bodyPr wrap="square"/>
                    <a:lstStyle/>
                    <a:p>
                      <a:pPr algn="l"/>
                      <a:r>
                        <a:rPr sz="1050" b="0" i="0">
                          <a:solidFill>
                            <a:srgbClr val="000000"/>
                          </a:solidFill>
                          <a:latin typeface="Calibri"/>
                        </a:rPr>
                        <a:t>Figure 50: Global Market Attractiveness by Packaging Format, 2026–2036</a:t>
                      </a:r>
                      <a:endParaRPr sz="1050"/>
                    </a:p>
                  </a:txBody>
                  <a:tcPr marL="9525" marR="9525" marT="9525" marB="0" anchor="ctr"/>
                </a:tc>
              </a:tr>
              <a:tr h="169606">
                <a:tc>
                  <a:txBody>
                    <a:bodyPr wrap="square"/>
                    <a:lstStyle/>
                    <a:p>
                      <a:pPr algn="l"/>
                      <a:r>
                        <a:rPr sz="1050" b="0" i="0">
                          <a:solidFill>
                            <a:srgbClr val="000000"/>
                          </a:solidFill>
                          <a:latin typeface="Calibri"/>
                        </a:rPr>
                        <a:t>Figure 51: Global Market Attractiveness by Sales Channel, 2026–2036</a:t>
                      </a:r>
                      <a:endParaRPr sz="1050"/>
                    </a:p>
                  </a:txBody>
                  <a:tcPr marL="9525" marR="9525" marT="9525" marB="0" anchor="ctr"/>
                </a:tc>
              </a:tr>
              <a:tr h="169606">
                <a:tc>
                  <a:txBody>
                    <a:bodyPr wrap="square"/>
                    <a:lstStyle/>
                    <a:p>
                      <a:pPr algn="l"/>
                      <a:r>
                        <a:rPr sz="1050" b="0" i="0">
                          <a:solidFill>
                            <a:srgbClr val="000000"/>
                          </a:solidFill>
                          <a:latin typeface="Calibri"/>
                        </a:rPr>
                        <a:t>Figure 52: Global Market Volume by Form Type, MT, 2021–2036</a:t>
                      </a:r>
                      <a:endParaRPr sz="1050"/>
                    </a:p>
                  </a:txBody>
                  <a:tcPr marL="9525" marR="9525" marT="9525" marB="0" anchor="ctr"/>
                </a:tc>
              </a:tr>
              <a:tr h="169606">
                <a:tc>
                  <a:txBody>
                    <a:bodyPr wrap="square"/>
                    <a:lstStyle/>
                    <a:p>
                      <a:pPr algn="l"/>
                      <a:r>
                        <a:rPr sz="1050" b="0" i="0">
                          <a:solidFill>
                            <a:srgbClr val="000000"/>
                          </a:solidFill>
                          <a:latin typeface="Calibri"/>
                        </a:rPr>
                        <a:t>Figure 53: Global Market Volume by Active Ingredient, MT, 2021–2036</a:t>
                      </a:r>
                      <a:endParaRPr sz="1050"/>
                    </a:p>
                  </a:txBody>
                  <a:tcPr marL="9525" marR="9525" marT="9525" marB="0" anchor="ctr"/>
                </a:tc>
              </a:tr>
              <a:tr h="169606">
                <a:tc>
                  <a:txBody>
                    <a:bodyPr wrap="square"/>
                    <a:lstStyle/>
                    <a:p>
                      <a:pPr algn="l"/>
                      <a:r>
                        <a:rPr sz="1050" b="0" i="0">
                          <a:solidFill>
                            <a:srgbClr val="000000"/>
                          </a:solidFill>
                          <a:latin typeface="Calibri"/>
                        </a:rPr>
                        <a:t>Figure 54: Global Market Volume by End-use Application, MT, 2021–2036</a:t>
                      </a:r>
                      <a:endParaRPr sz="1050"/>
                    </a:p>
                  </a:txBody>
                  <a:tcPr marL="9525" marR="9525" marT="9525" marB="0" anchor="ctr"/>
                </a:tc>
              </a:tr>
              <a:tr h="169606">
                <a:tc>
                  <a:txBody>
                    <a:bodyPr wrap="square"/>
                    <a:lstStyle/>
                    <a:p>
                      <a:pPr algn="l"/>
                      <a:r>
                        <a:rPr sz="1050" b="0" i="0">
                          <a:solidFill>
                            <a:srgbClr val="000000"/>
                          </a:solidFill>
                          <a:latin typeface="Calibri"/>
                        </a:rPr>
                        <a:t>Figure 55: Global Market Volume by Packaging Format, MT, 2021–2036</a:t>
                      </a:r>
                      <a:endParaRPr sz="1050"/>
                    </a:p>
                  </a:txBody>
                  <a:tcPr marL="9525" marR="9525" marT="9525" marB="0" anchor="ctr"/>
                </a:tc>
              </a:tr>
              <a:tr h="169606">
                <a:tc>
                  <a:txBody>
                    <a:bodyPr wrap="square"/>
                    <a:lstStyle/>
                    <a:p>
                      <a:pPr algn="l"/>
                      <a:r>
                        <a:rPr sz="1050" b="0" i="0">
                          <a:solidFill>
                            <a:srgbClr val="000000"/>
                          </a:solidFill>
                          <a:latin typeface="Calibri"/>
                        </a:rPr>
                        <a:t>Figure 56: Global Market Volume by Sales Channel, MT, 2021–2036</a:t>
                      </a:r>
                      <a:endParaRPr sz="1050"/>
                    </a:p>
                  </a:txBody>
                  <a:tcPr marL="9525" marR="9525" marT="9525" marB="0" anchor="ctr"/>
                </a:tc>
              </a:tr>
              <a:tr h="169606">
                <a:tc>
                  <a:txBody>
                    <a:bodyPr wrap="square"/>
                    <a:lstStyle/>
                    <a:p>
                      <a:pPr algn="l"/>
                      <a:r>
                        <a:rPr sz="1050" b="0" i="0">
                          <a:solidFill>
                            <a:srgbClr val="000000"/>
                          </a:solidFill>
                          <a:latin typeface="Calibri"/>
                        </a:rPr>
                        <a:t>Figure 57: Global Market Average Selling Price by Form Type, US$/MT, 2021–2036</a:t>
                      </a:r>
                      <a:endParaRPr sz="1050"/>
                    </a:p>
                  </a:txBody>
                  <a:tcPr marL="9525" marR="9525" marT="9525" marB="0" anchor="ctr"/>
                </a:tc>
              </a:tr>
              <a:tr h="169606">
                <a:tc>
                  <a:txBody>
                    <a:bodyPr wrap="square"/>
                    <a:lstStyle/>
                    <a:p>
                      <a:pPr algn="l"/>
                      <a:r>
                        <a:rPr sz="1050" b="0" i="0">
                          <a:solidFill>
                            <a:srgbClr val="000000"/>
                          </a:solidFill>
                          <a:latin typeface="Calibri"/>
                        </a:rPr>
                        <a:t>Figure 58: Global Market Average Selling Price by Active Ingredient, US$/MT, 2021–2036</a:t>
                      </a:r>
                      <a:endParaRPr sz="1050"/>
                    </a:p>
                  </a:txBody>
                  <a:tcPr marL="9525" marR="9525" marT="9525" marB="0" anchor="ctr"/>
                </a:tc>
              </a:tr>
              <a:tr h="169606">
                <a:tc>
                  <a:txBody>
                    <a:bodyPr wrap="square"/>
                    <a:lstStyle/>
                    <a:p>
                      <a:pPr algn="l"/>
                      <a:r>
                        <a:rPr sz="1050" b="0" i="0">
                          <a:solidFill>
                            <a:srgbClr val="000000"/>
                          </a:solidFill>
                          <a:latin typeface="Calibri"/>
                        </a:rPr>
                        <a:t>Figure 59: Global Market Average Selling Price by End-use Application, US$/MT, 2021–2036</a:t>
                      </a:r>
                      <a:endParaRPr sz="1050"/>
                    </a:p>
                  </a:txBody>
                  <a:tcPr marL="9525" marR="9525" marT="9525" marB="0" anchor="ctr"/>
                </a:tc>
              </a:tr>
              <a:tr h="169606">
                <a:tc>
                  <a:txBody>
                    <a:bodyPr wrap="square"/>
                    <a:lstStyle/>
                    <a:p>
                      <a:pPr algn="l"/>
                      <a:r>
                        <a:rPr sz="1050" b="0" i="0">
                          <a:solidFill>
                            <a:srgbClr val="000000"/>
                          </a:solidFill>
                          <a:latin typeface="Calibri"/>
                        </a:rPr>
                        <a:t>Figure 60: Global Market Average Selling Price by Packaging Format, US$/MT, 2021–2036</a:t>
                      </a:r>
                      <a:endParaRPr sz="1050"/>
                    </a:p>
                  </a:txBody>
                  <a:tcPr marL="9525" marR="9525" marT="9525" marB="0" anchor="ctr"/>
                </a:tc>
              </a:tr>
              <a:tr h="169606">
                <a:tc>
                  <a:txBody>
                    <a:bodyPr wrap="square"/>
                    <a:lstStyle/>
                    <a:p>
                      <a:pPr algn="l"/>
                      <a:r>
                        <a:rPr sz="1050" b="0" i="0">
                          <a:solidFill>
                            <a:srgbClr val="000000"/>
                          </a:solidFill>
                          <a:latin typeface="Calibri"/>
                        </a:rPr>
                        <a:t>Figure 61: Global Market Average Selling Price by Sales Channel, US$/MT, 2021–2036</a:t>
                      </a:r>
                      <a:endParaRPr sz="1050"/>
                    </a:p>
                  </a:txBody>
                  <a:tcPr marL="9525" marR="9525" marT="9525" marB="0" anchor="ctr"/>
                </a:tc>
              </a:tr>
              <a:tr h="169606">
                <a:tc>
                  <a:txBody>
                    <a:bodyPr wrap="square"/>
                    <a:lstStyle/>
                    <a:p>
                      <a:pPr algn="l"/>
                      <a:r>
                        <a:rPr sz="1050" b="0" i="0">
                          <a:solidFill>
                            <a:srgbClr val="000000"/>
                          </a:solidFill>
                          <a:latin typeface="Calibri"/>
                        </a:rPr>
                        <a:t>Figure 62: Form Type × Active Ingredient Opportunity Matrix, 2026–2036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(2/4)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63: Form Type × End-use Application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64: Form Type × Packaging Format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65: Form Type × Sales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66: Active Ingredient × End-use Application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67: Active Ingredient × Packaging Format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68: Active Ingredient × Sales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69: End-use Application × Packaging Format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70: End-use Application × Sales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71: Packaging Format × Sales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72: Region × Form Type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73: Region × Active Ingredient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74: Region × End-use Application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75: Region × Packaging Format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76: Region × Sales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77: Global Market Value by Form Type and Active Ingredient, US$ Mn, 2036</a:t>
                      </a:r>
                      <a:endParaRPr sz="1050"/>
                    </a:p>
                  </a:txBody>
                  <a:tcPr marL="9525" marR="9525" marT="9525" marB="0" anchor="ctr"/>
                </a:tc>
              </a:tr>
              <a:tr h="169606">
                <a:tc>
                  <a:txBody>
                    <a:bodyPr wrap="square"/>
                    <a:lstStyle/>
                    <a:p>
                      <a:pPr algn="l"/>
                      <a:r>
                        <a:rPr sz="1050" b="0" i="0">
                          <a:solidFill>
                            <a:srgbClr val="000000"/>
                          </a:solidFill>
                          <a:latin typeface="Calibri"/>
                        </a:rPr>
                        <a:t>Figure 78: Global Market Value by Form Type and End-use Application, US$ Mn, 2036</a:t>
                      </a:r>
                      <a:endParaRPr sz="1050"/>
                    </a:p>
                  </a:txBody>
                  <a:tcPr marL="9525" marR="9525" marT="9525" marB="0" anchor="ctr"/>
                </a:tc>
              </a:tr>
              <a:tr h="169606">
                <a:tc>
                  <a:txBody>
                    <a:bodyPr wrap="square"/>
                    <a:lstStyle/>
                    <a:p>
                      <a:pPr algn="l"/>
                      <a:r>
                        <a:rPr sz="1050" b="0" i="0">
                          <a:solidFill>
                            <a:srgbClr val="000000"/>
                          </a:solidFill>
                          <a:latin typeface="Calibri"/>
                        </a:rPr>
                        <a:t>Figure 79: Global Market Value by Form Type and Packaging Format, US$ Mn, 2036</a:t>
                      </a:r>
                      <a:endParaRPr sz="1050"/>
                    </a:p>
                  </a:txBody>
                  <a:tcPr marL="9525" marR="9525" marT="9525" marB="0" anchor="ctr"/>
                </a:tc>
              </a:tr>
              <a:tr h="169606">
                <a:tc>
                  <a:txBody>
                    <a:bodyPr wrap="square"/>
                    <a:lstStyle/>
                    <a:p>
                      <a:pPr algn="l"/>
                      <a:r>
                        <a:rPr sz="1050" b="0" i="0">
                          <a:solidFill>
                            <a:srgbClr val="000000"/>
                          </a:solidFill>
                          <a:latin typeface="Calibri"/>
                        </a:rPr>
                        <a:t>Figure 80: Global Market Value by Region, US$ Mn, 2021–2036</a:t>
                      </a:r>
                      <a:endParaRPr sz="1050"/>
                    </a:p>
                  </a:txBody>
                  <a:tcPr marL="9525" marR="9525" marT="9525" marB="0" anchor="ctr"/>
                </a:tc>
              </a:tr>
              <a:tr h="169606">
                <a:tc>
                  <a:txBody>
                    <a:bodyPr wrap="square"/>
                    <a:lstStyle/>
                    <a:p>
                      <a:pPr algn="l"/>
                      <a:r>
                        <a:rPr sz="1050" b="0" i="0">
                          <a:solidFill>
                            <a:srgbClr val="000000"/>
                          </a:solidFill>
                          <a:latin typeface="Calibri"/>
                        </a:rPr>
                        <a:t>Figure 81: Global Market Share by Region, %, 2026 and 2036</a:t>
                      </a:r>
                      <a:endParaRPr sz="1050"/>
                    </a:p>
                  </a:txBody>
                  <a:tcPr marL="9525" marR="9525" marT="9525" marB="0" anchor="ctr"/>
                </a:tc>
              </a:tr>
              <a:tr h="169606">
                <a:tc>
                  <a:txBody>
                    <a:bodyPr wrap="square"/>
                    <a:lstStyle/>
                    <a:p>
                      <a:pPr algn="l"/>
                      <a:r>
                        <a:rPr sz="1050" b="0" i="0">
                          <a:solidFill>
                            <a:srgbClr val="000000"/>
                          </a:solidFill>
                          <a:latin typeface="Calibri"/>
                        </a:rPr>
                        <a:t>Figure 82: Global Market CAGR by Region, %, 2026–2036</a:t>
                      </a:r>
                      <a:endParaRPr sz="1050"/>
                    </a:p>
                  </a:txBody>
                  <a:tcPr marL="9525" marR="9525" marT="9525" marB="0" anchor="ctr"/>
                </a:tc>
              </a:tr>
              <a:tr h="169606">
                <a:tc>
                  <a:txBody>
                    <a:bodyPr wrap="square"/>
                    <a:lstStyle/>
                    <a:p>
                      <a:pPr algn="l"/>
                      <a:r>
                        <a:rPr sz="1050" b="0" i="0">
                          <a:solidFill>
                            <a:srgbClr val="000000"/>
                          </a:solidFill>
                          <a:latin typeface="Calibri"/>
                        </a:rPr>
                        <a:t>Figure 83: Global Market Absolute $ Opportunity by Region, US$ Mn, 2026–2036</a:t>
                      </a:r>
                      <a:endParaRPr sz="1050"/>
                    </a:p>
                  </a:txBody>
                  <a:tcPr marL="9525" marR="9525" marT="9525" marB="0" anchor="ctr"/>
                </a:tc>
              </a:tr>
              <a:tr h="169606">
                <a:tc>
                  <a:txBody>
                    <a:bodyPr wrap="square"/>
                    <a:lstStyle/>
                    <a:p>
                      <a:pPr algn="l"/>
                      <a:r>
                        <a:rPr sz="1050" b="0" i="0">
                          <a:solidFill>
                            <a:srgbClr val="000000"/>
                          </a:solidFill>
                          <a:latin typeface="Calibri"/>
                        </a:rPr>
                        <a:t>Figure 84: Global Market Attractiveness by Region, 2026–2036</a:t>
                      </a:r>
                      <a:endParaRPr sz="1050"/>
                    </a:p>
                  </a:txBody>
                  <a:tcPr marL="9525" marR="9525" marT="9525" marB="0" anchor="ctr"/>
                </a:tc>
              </a:tr>
              <a:tr h="169606">
                <a:tc>
                  <a:txBody>
                    <a:bodyPr wrap="square"/>
                    <a:lstStyle/>
                    <a:p>
                      <a:pPr algn="l"/>
                      <a:r>
                        <a:rPr sz="1050" b="0" i="0">
                          <a:solidFill>
                            <a:srgbClr val="000000"/>
                          </a:solidFill>
                          <a:latin typeface="Calibri"/>
                        </a:rPr>
                        <a:t>Figure 85: Global Market BPS Share Change by Region, 2026–2036</a:t>
                      </a:r>
                      <a:endParaRPr sz="1050"/>
                    </a:p>
                  </a:txBody>
                  <a:tcPr marL="9525" marR="9525" marT="9525" marB="0" anchor="ctr"/>
                </a:tc>
              </a:tr>
              <a:tr h="169606">
                <a:tc>
                  <a:txBody>
                    <a:bodyPr wrap="square"/>
                    <a:lstStyle/>
                    <a:p>
                      <a:pPr algn="l"/>
                      <a:r>
                        <a:rPr sz="1050" b="0" i="0">
                          <a:solidFill>
                            <a:srgbClr val="000000"/>
                          </a:solidFill>
                          <a:latin typeface="Calibri"/>
                        </a:rPr>
                        <a:t>Figure 86: North America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87: Latin America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88: Europe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89: East Asia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90: South Asia &amp; Pacific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91: Middle East &amp; Africa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92: North America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93: Latin America Market Share of Global Market, %, 2026 and 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94: Europe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95: East Asia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96: South Asia &amp; Pacific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97: Middle East &amp; Africa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98: North America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99: Latin America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100: Europe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101: East Asia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102: South Asia &amp; Pacific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103: Middle East &amp; Africa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104: North America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105: Latin America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106: Europe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107: East Asia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108: South Asia &amp; Pacific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109: U.S.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110: U.S. Market Value by Form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111: U.S. Market Value by End-use Application,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112: U.S. Market Share within North America, %, 2026 and 2036</a:t>
                      </a:r>
                      <a:endParaRPr sz="1050"/>
                    </a:p>
                  </a:txBody>
                  <a:tcPr marL="9525" marR="9525" marT="9525" marB="0" anchor="ctr"/>
                </a:tc>
              </a:tr>
              <a:tr h="169606">
                <a:tc>
                  <a:txBody>
                    <a:bodyPr wrap="square"/>
                    <a:lstStyle/>
                    <a:p>
                      <a:pPr algn="l"/>
                      <a:r>
                        <a:rPr sz="1050" b="0" i="0">
                          <a:solidFill>
                            <a:srgbClr val="000000"/>
                          </a:solidFill>
                          <a:latin typeface="Calibri"/>
                        </a:rPr>
                        <a:t>Figure 113: U.S. Market Value by Active Ingredient,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114: U.S. Market Value by Packaging Format,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115: U.S. Market Value by Sales Channel,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116: U.S. Market Volume and YoY Growth, MT and %, 2021–2036</a:t>
                      </a:r>
                      <a:endParaRPr sz="1050"/>
                    </a:p>
                  </a:txBody>
                  <a:tcPr marL="9525" marR="9525" marT="9525" marB="0" anchor="ctr"/>
                </a:tc>
              </a:tr>
              <a:tr h="169606">
                <a:tc>
                  <a:txBody>
                    <a:bodyPr wrap="square"/>
                    <a:lstStyle/>
                    <a:p>
                      <a:pPr algn="l"/>
                      <a:r>
                        <a:rPr sz="1050" b="0" i="0">
                          <a:solidFill>
                            <a:srgbClr val="000000"/>
                          </a:solidFill>
                          <a:latin typeface="Calibri"/>
                        </a:rPr>
                        <a:t>Figure 117: Germany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118: Germany Market Value by Form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119: Germany Market Value by End-use Application,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120: Germany Market Share within Europe, %, 2026 and 2036</a:t>
                      </a:r>
                      <a:endParaRPr sz="1050"/>
                    </a:p>
                  </a:txBody>
                  <a:tcPr marL="9525" marR="9525" marT="9525" marB="0" anchor="ctr"/>
                </a:tc>
              </a:tr>
              <a:tr h="169606">
                <a:tc>
                  <a:txBody>
                    <a:bodyPr wrap="square"/>
                    <a:lstStyle/>
                    <a:p>
                      <a:pPr algn="l"/>
                      <a:r>
                        <a:rPr sz="1050" b="0" i="0">
                          <a:solidFill>
                            <a:srgbClr val="000000"/>
                          </a:solidFill>
                          <a:latin typeface="Calibri"/>
                        </a:rPr>
                        <a:t>Figure 121: Germany Market Value by Active Ingredient,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122: Germany Market Value by Packaging Format,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123: Germany Market Value by Sales Channel,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124: Germany Market Volume and YoY Growth, MT and %, 2021–2036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(3/4)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125: Canada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126: Canada Market Value by Form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127: Canada Market Value by End-use Application,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128: Canada Market Share within North America, %, 2026 and 2036</a:t>
                      </a:r>
                      <a:endParaRPr sz="1050"/>
                    </a:p>
                  </a:txBody>
                  <a:tcPr marL="9525" marR="9525" marT="9525" marB="0" anchor="ctr"/>
                </a:tc>
              </a:tr>
              <a:tr h="169606">
                <a:tc>
                  <a:txBody>
                    <a:bodyPr wrap="square"/>
                    <a:lstStyle/>
                    <a:p>
                      <a:pPr algn="l"/>
                      <a:r>
                        <a:rPr sz="1050" b="0" i="0">
                          <a:solidFill>
                            <a:srgbClr val="000000"/>
                          </a:solidFill>
                          <a:latin typeface="Calibri"/>
                        </a:rPr>
                        <a:t>Figure 129: Canada Market Value by Active Ingredient,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130: Canada Market Value by Packaging Format,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131: Canada Market Value by Sales Channel,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132: Canada Market Volume and YoY Growth, MT and %, 2021–2036</a:t>
                      </a:r>
                      <a:endParaRPr sz="1050"/>
                    </a:p>
                  </a:txBody>
                  <a:tcPr marL="9525" marR="9525" marT="9525" marB="0" anchor="ctr"/>
                </a:tc>
              </a:tr>
              <a:tr h="169606">
                <a:tc>
                  <a:txBody>
                    <a:bodyPr wrap="square"/>
                    <a:lstStyle/>
                    <a:p>
                      <a:pPr algn="l"/>
                      <a:r>
                        <a:rPr sz="1050" b="0" i="0">
                          <a:solidFill>
                            <a:srgbClr val="000000"/>
                          </a:solidFill>
                          <a:latin typeface="Calibri"/>
                        </a:rPr>
                        <a:t>Figure 133: China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134: China Market Value by Form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135: India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136: India Market Value by Form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137: Brazil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138: Brazil Market Value by Form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139: U.K.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140: U.K. Market Value by Form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141: Japan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142: Japan Market Value by Form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143: France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144: France Market Value by Form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145: UAE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146: UAE Market Value by Form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147: Global Market Average Selling Price Trend, US$/MT, 2021–2036</a:t>
                      </a:r>
                      <a:endParaRPr sz="1050"/>
                    </a:p>
                  </a:txBody>
                  <a:tcPr marL="9525" marR="9525" marT="9525" marB="0" anchor="ctr"/>
                </a:tc>
              </a:tr>
              <a:tr h="169606">
                <a:tc>
                  <a:txBody>
                    <a:bodyPr wrap="square"/>
                    <a:lstStyle/>
                    <a:p>
                      <a:pPr algn="l"/>
                      <a:r>
                        <a:rPr sz="1050" b="0" i="0">
                          <a:solidFill>
                            <a:srgbClr val="000000"/>
                          </a:solidFill>
                          <a:latin typeface="Calibri"/>
                        </a:rPr>
                        <a:t>Figure 148: Global Market Average Selling Price by Region, US$/MT, 2026 and 2036</a:t>
                      </a:r>
                      <a:endParaRPr sz="1050"/>
                    </a:p>
                  </a:txBody>
                  <a:tcPr marL="9525" marR="9525" marT="9525" marB="0" anchor="ctr"/>
                </a:tc>
              </a:tr>
              <a:tr h="169606">
                <a:tc>
                  <a:txBody>
                    <a:bodyPr wrap="square"/>
                    <a:lstStyle/>
                    <a:p>
                      <a:pPr algn="l"/>
                      <a:r>
                        <a:rPr sz="1050" b="0" i="0">
                          <a:solidFill>
                            <a:srgbClr val="000000"/>
                          </a:solidFill>
                          <a:latin typeface="Calibri"/>
                        </a:rPr>
                        <a:t>Figure 149: Global Market Average Selling Price by Form Type, US$/MT, 2026 and 2036</a:t>
                      </a:r>
                      <a:endParaRPr sz="1050"/>
                    </a:p>
                  </a:txBody>
                  <a:tcPr marL="9525" marR="9525" marT="9525" marB="0" anchor="ctr"/>
                </a:tc>
              </a:tr>
              <a:tr h="169606">
                <a:tc>
                  <a:txBody>
                    <a:bodyPr wrap="square"/>
                    <a:lstStyle/>
                    <a:p>
                      <a:pPr algn="l"/>
                      <a:r>
                        <a:rPr sz="1050" b="0" i="0">
                          <a:solidFill>
                            <a:srgbClr val="000000"/>
                          </a:solidFill>
                          <a:latin typeface="Calibri"/>
                        </a:rPr>
                        <a:t>Figure 150: Global Market Average Selling Price by Active Ingredient, US$/MT, 2026 and 2036</a:t>
                      </a:r>
                      <a:endParaRPr sz="1050"/>
                    </a:p>
                  </a:txBody>
                  <a:tcPr marL="9525" marR="9525" marT="9525" marB="0" anchor="ctr"/>
                </a:tc>
              </a:tr>
              <a:tr h="169606">
                <a:tc>
                  <a:txBody>
                    <a:bodyPr wrap="square"/>
                    <a:lstStyle/>
                    <a:p>
                      <a:pPr algn="l"/>
                      <a:r>
                        <a:rPr sz="1050" b="0" i="0">
                          <a:solidFill>
                            <a:srgbClr val="000000"/>
                          </a:solidFill>
                          <a:latin typeface="Calibri"/>
                        </a:rPr>
                        <a:t>Figure 151: Global Market Average Selling Price by End-use Application, US$/MT, 2026 and 2036</a:t>
                      </a:r>
                      <a:endParaRPr sz="1050"/>
                    </a:p>
                  </a:txBody>
                  <a:tcPr marL="9525" marR="9525" marT="9525" marB="0" anchor="ctr"/>
                </a:tc>
              </a:tr>
              <a:tr h="169606">
                <a:tc>
                  <a:txBody>
                    <a:bodyPr wrap="square"/>
                    <a:lstStyle/>
                    <a:p>
                      <a:pPr algn="l"/>
                      <a:r>
                        <a:rPr sz="1050" b="0" i="0">
                          <a:solidFill>
                            <a:srgbClr val="000000"/>
                          </a:solidFill>
                          <a:latin typeface="Calibri"/>
                        </a:rPr>
                        <a:t>Figure 152: Global Market Average Selling Price by Packaging Format, US$/MT, 2026 and 2036</a:t>
                      </a:r>
                      <a:endParaRPr sz="1050"/>
                    </a:p>
                  </a:txBody>
                  <a:tcPr marL="9525" marR="9525" marT="9525" marB="0" anchor="ctr"/>
                </a:tc>
              </a:tr>
              <a:tr h="169606">
                <a:tc>
                  <a:txBody>
                    <a:bodyPr wrap="square"/>
                    <a:lstStyle/>
                    <a:p>
                      <a:pPr algn="l"/>
                      <a:r>
                        <a:rPr sz="1050" b="0" i="0">
                          <a:solidFill>
                            <a:srgbClr val="000000"/>
                          </a:solidFill>
                          <a:latin typeface="Calibri"/>
                        </a:rPr>
                        <a:t>Figure 153: Global Market Average Selling Price by Sales Channel, US$/MT, 2026 and 2036</a:t>
                      </a:r>
                      <a:endParaRPr sz="1050"/>
                    </a:p>
                  </a:txBody>
                  <a:tcPr marL="9525" marR="9525" marT="9525" marB="0" anchor="ctr"/>
                </a:tc>
              </a:tr>
              <a:tr h="169606">
                <a:tc>
                  <a:txBody>
                    <a:bodyPr wrap="square"/>
                    <a:lstStyle/>
                    <a:p>
                      <a:pPr algn="l"/>
                      <a:r>
                        <a:rPr sz="1050" b="0" i="0">
                          <a:solidFill>
                            <a:srgbClr val="000000"/>
                          </a:solidFill>
                          <a:latin typeface="Calibri"/>
                        </a:rPr>
                        <a:t>Figure 154: Global Market Value Chain Structure, 2026</a:t>
                      </a:r>
                      <a:endParaRPr sz="1050"/>
                    </a:p>
                  </a:txBody>
                  <a:tcPr marL="9525" marR="9525" marT="9525" marB="0" anchor="ctr"/>
                </a:tc>
              </a:tr>
              <a:tr h="169606">
                <a:tc>
                  <a:txBody>
                    <a:bodyPr wrap="square"/>
                    <a:lstStyle/>
                    <a:p>
                      <a:pPr algn="l"/>
                      <a:r>
                        <a:rPr sz="1050" b="0" i="0">
                          <a:solidFill>
                            <a:srgbClr val="000000"/>
                          </a:solidFill>
                          <a:latin typeface="Calibri"/>
                        </a:rPr>
                        <a:t>Figure 155: Global Market Margin Distribution across the Value Chain, %, 2026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156: Global Market Cost Structure Breakdown, %, 2026</a:t>
                      </a:r>
                      <a:endParaRPr sz="1050"/>
                    </a:p>
                  </a:txBody>
                  <a:tcPr marL="9525" marR="9525" marT="9525" marB="0" anchor="ctr"/>
                </a:tc>
              </a:tr>
              <a:tr h="169606">
                <a:tc>
                  <a:txBody>
                    <a:bodyPr wrap="square"/>
                    <a:lstStyle/>
                    <a:p>
                      <a:pPr algn="l"/>
                      <a:r>
                        <a:rPr sz="1050" b="0" i="0">
                          <a:solidFill>
                            <a:srgbClr val="000000"/>
                          </a:solidFill>
                          <a:latin typeface="Calibri"/>
                        </a:rPr>
                        <a:t>Figure 157: Global Market Pricing Pressure Assessment by Form Type, 2026–2036</a:t>
                      </a:r>
                      <a:endParaRPr sz="1050"/>
                    </a:p>
                  </a:txBody>
                  <a:tcPr marL="9525" marR="9525" marT="9525" marB="0" anchor="ctr"/>
                </a:tc>
              </a:tr>
              <a:tr h="169606">
                <a:tc>
                  <a:txBody>
                    <a:bodyPr wrap="square"/>
                    <a:lstStyle/>
                    <a:p>
                      <a:pPr algn="l"/>
                      <a:r>
                        <a:rPr sz="1050" b="0" i="0">
                          <a:solidFill>
                            <a:srgbClr val="000000"/>
                          </a:solidFill>
                          <a:latin typeface="Calibri"/>
                        </a:rPr>
                        <a:t>Figure 158: Global Market Import and Export Share by Region, %, 2025</a:t>
                      </a:r>
                      <a:endParaRPr sz="1050"/>
                    </a:p>
                  </a:txBody>
                  <a:tcPr marL="9525" marR="9525" marT="9525" marB="0" anchor="ctr"/>
                </a:tc>
              </a:tr>
              <a:tr h="169606">
                <a:tc>
                  <a:txBody>
                    <a:bodyPr wrap="square"/>
                    <a:lstStyle/>
                    <a:p>
                      <a:pPr algn="l"/>
                      <a:r>
                        <a:rPr sz="1050" b="0" i="0">
                          <a:solidFill>
                            <a:srgbClr val="000000"/>
                          </a:solidFill>
                          <a:latin typeface="Calibri"/>
                        </a:rPr>
                        <a:t>Figure 159: Global Market Trade Balance by Leading Country, US$ Mn, 2025</a:t>
                      </a:r>
                      <a:endParaRPr sz="1050"/>
                    </a:p>
                  </a:txBody>
                  <a:tcPr marL="9525" marR="9525" marT="9525" marB="0" anchor="ctr"/>
                </a:tc>
              </a:tr>
              <a:tr h="169606">
                <a:tc>
                  <a:txBody>
                    <a:bodyPr wrap="square"/>
                    <a:lstStyle/>
                    <a:p>
                      <a:pPr algn="l"/>
                      <a:r>
                        <a:rPr sz="1050" b="0" i="0">
                          <a:solidFill>
                            <a:srgbClr val="000000"/>
                          </a:solidFill>
                          <a:latin typeface="Calibri"/>
                        </a:rPr>
                        <a:t>Figure 160: Global Market Raw Material Price Index, 2025=100, 2021–2036</a:t>
                      </a:r>
                      <a:endParaRPr sz="1050"/>
                    </a:p>
                  </a:txBody>
                  <a:tcPr marL="9525" marR="9525" marT="9525" marB="0" anchor="ctr"/>
                </a:tc>
              </a:tr>
              <a:tr h="169606">
                <a:tc>
                  <a:txBody>
                    <a:bodyPr wrap="square"/>
                    <a:lstStyle/>
                    <a:p>
                      <a:pPr algn="l"/>
                      <a:r>
                        <a:rPr sz="1050" b="0" i="0">
                          <a:solidFill>
                            <a:srgbClr val="000000"/>
                          </a:solidFill>
                          <a:latin typeface="Calibri"/>
                        </a:rPr>
                        <a:t>Figure 161: Company Market Share in the Global Market, %, 2026</a:t>
                      </a:r>
                      <a:endParaRPr sz="1050"/>
                    </a:p>
                  </a:txBody>
                  <a:tcPr marL="9525" marR="9525" marT="9525" marB="0" anchor="ctr"/>
                </a:tc>
              </a:tr>
              <a:tr h="169606">
                <a:tc>
                  <a:txBody>
                    <a:bodyPr wrap="square"/>
                    <a:lstStyle/>
                    <a:p>
                      <a:pPr algn="l"/>
                      <a:r>
                        <a:rPr sz="1050" b="0" i="0">
                          <a:solidFill>
                            <a:srgbClr val="000000"/>
                          </a:solidFill>
                          <a:latin typeface="Calibri"/>
                        </a:rPr>
                        <a:t>Figure 162: Competitive Positioning of Leading Senior Dog Cognitive Supplement Manufacturers, 2026</a:t>
                      </a:r>
                      <a:endParaRPr sz="1050"/>
                    </a:p>
                  </a:txBody>
                  <a:tcPr marL="9525" marR="9525" marT="9525" marB="0" anchor="ctr"/>
                </a:tc>
              </a:tr>
              <a:tr h="169606">
                <a:tc>
                  <a:txBody>
                    <a:bodyPr wrap="square"/>
                    <a:lstStyle/>
                    <a:p>
                      <a:pPr algn="l"/>
                      <a:r>
                        <a:rPr sz="1050" b="0" i="0">
                          <a:solidFill>
                            <a:srgbClr val="000000"/>
                          </a:solidFill>
                          <a:latin typeface="Calibri"/>
                        </a:rPr>
                        <a:t>Figure 163: Company Revenue from the Global Market, US$ Mn, 2026</a:t>
                      </a:r>
                      <a:endParaRPr sz="1050"/>
                    </a:p>
                  </a:txBody>
                  <a:tcPr marL="9525" marR="9525" marT="9525" marB="0" anchor="ctr"/>
                </a:tc>
              </a:tr>
              <a:tr h="169606">
                <a:tc>
                  <a:txBody>
                    <a:bodyPr wrap="square"/>
                    <a:lstStyle/>
                    <a:p>
                      <a:pPr algn="l"/>
                      <a:r>
                        <a:rPr sz="1050" b="0" i="0">
                          <a:solidFill>
                            <a:srgbClr val="000000"/>
                          </a:solidFill>
                          <a:latin typeface="Calibri"/>
                        </a:rPr>
                        <a:t>Figure 164: Global Market Concentration by Company Tier, %, 2026</a:t>
                      </a:r>
                      <a:endParaRPr sz="1050"/>
                    </a:p>
                  </a:txBody>
                  <a:tcPr marL="9525" marR="9525" marT="9525" marB="0" anchor="ctr"/>
                </a:tc>
              </a:tr>
              <a:tr h="169606">
                <a:tc>
                  <a:txBody>
                    <a:bodyPr wrap="square"/>
                    <a:lstStyle/>
                    <a:p>
                      <a:pPr algn="l"/>
                      <a:r>
                        <a:rPr sz="1050" b="0" i="0">
                          <a:solidFill>
                            <a:srgbClr val="000000"/>
                          </a:solidFill>
                          <a:latin typeface="Calibri"/>
                        </a:rPr>
                        <a:t>Figure 165: Global Market Competitive Intensity Assessment, 2026</a:t>
                      </a:r>
                      <a:endParaRPr sz="1050"/>
                    </a:p>
                  </a:txBody>
                  <a:tcPr marL="9525" marR="9525" marT="9525" marB="0" anchor="ctr"/>
                </a:tc>
              </a:tr>
              <a:tr h="169606">
                <a:tc>
                  <a:txBody>
                    <a:bodyPr wrap="square"/>
                    <a:lstStyle/>
                    <a:p>
                      <a:pPr algn="l"/>
                      <a:r>
                        <a:rPr sz="1050" b="0" i="0">
                          <a:solidFill>
                            <a:srgbClr val="000000"/>
                          </a:solidFill>
                          <a:latin typeface="Calibri"/>
                        </a:rPr>
                        <a:t>Figure 166: Company Market Share in the North America Market, %, 2026</a:t>
                      </a:r>
                      <a:endParaRPr sz="1050"/>
                    </a:p>
                  </a:txBody>
                  <a:tcPr marL="9525" marR="9525" marT="9525" marB="0" anchor="ctr"/>
                </a:tc>
              </a:tr>
              <a:tr h="169606">
                <a:tc>
                  <a:txBody>
                    <a:bodyPr wrap="square"/>
                    <a:lstStyle/>
                    <a:p>
                      <a:pPr algn="l"/>
                      <a:r>
                        <a:rPr sz="1050" b="0" i="0">
                          <a:solidFill>
                            <a:srgbClr val="000000"/>
                          </a:solidFill>
                          <a:latin typeface="Calibri"/>
                        </a:rPr>
                        <a:t>Figure 167: Company Market Share in the Latin America Market, %, 2026</a:t>
                      </a:r>
                      <a:endParaRPr sz="1050"/>
                    </a:p>
                  </a:txBody>
                  <a:tcPr marL="9525" marR="9525" marT="9525" marB="0" anchor="ctr"/>
                </a:tc>
              </a:tr>
              <a:tr h="169606">
                <a:tc>
                  <a:txBody>
                    <a:bodyPr wrap="square"/>
                    <a:lstStyle/>
                    <a:p>
                      <a:pPr algn="l"/>
                      <a:r>
                        <a:rPr sz="1050" b="0" i="0">
                          <a:solidFill>
                            <a:srgbClr val="000000"/>
                          </a:solidFill>
                          <a:latin typeface="Calibri"/>
                        </a:rPr>
                        <a:t>Figure 168: Company Market Share in the Europe Market, %, 2026</a:t>
                      </a:r>
                      <a:endParaRPr sz="1050"/>
                    </a:p>
                  </a:txBody>
                  <a:tcPr marL="9525" marR="9525" marT="9525" marB="0" anchor="ctr"/>
                </a:tc>
              </a:tr>
              <a:tr h="169606">
                <a:tc>
                  <a:txBody>
                    <a:bodyPr wrap="square"/>
                    <a:lstStyle/>
                    <a:p>
                      <a:pPr algn="l"/>
                      <a:r>
                        <a:rPr sz="1050" b="0" i="0">
                          <a:solidFill>
                            <a:srgbClr val="000000"/>
                          </a:solidFill>
                          <a:latin typeface="Calibri"/>
                        </a:rPr>
                        <a:t>Figure 169: Company Market Share in the East Asia Market, %, 2026</a:t>
                      </a:r>
                      <a:endParaRPr sz="1050"/>
                    </a:p>
                  </a:txBody>
                  <a:tcPr marL="9525" marR="9525" marT="9525" marB="0" anchor="ctr"/>
                </a:tc>
              </a:tr>
              <a:tr h="169606">
                <a:tc>
                  <a:txBody>
                    <a:bodyPr wrap="square"/>
                    <a:lstStyle/>
                    <a:p>
                      <a:pPr algn="l"/>
                      <a:r>
                        <a:rPr sz="1050" b="0" i="0">
                          <a:solidFill>
                            <a:srgbClr val="000000"/>
                          </a:solidFill>
                          <a:latin typeface="Calibri"/>
                        </a:rPr>
                        <a:t>Figure 170: Company Market Share in the South Asia &amp; Pacific Market, %, 2026</a:t>
                      </a:r>
                      <a:endParaRPr sz="1050"/>
                    </a:p>
                  </a:txBody>
                  <a:tcPr marL="9525" marR="9525" marT="9525" marB="0" anchor="ctr"/>
                </a:tc>
              </a:tr>
              <a:tr h="169606">
                <a:tc>
                  <a:txBody>
                    <a:bodyPr wrap="square"/>
                    <a:lstStyle/>
                    <a:p>
                      <a:pPr algn="l"/>
                      <a:r>
                        <a:rPr sz="1050" b="0" i="0">
                          <a:solidFill>
                            <a:srgbClr val="000000"/>
                          </a:solidFill>
                          <a:latin typeface="Calibri"/>
                        </a:rPr>
                        <a:t>Figure 171: Company Market Share in the Middle East &amp; Africa Market, %, 2026</a:t>
                      </a:r>
                      <a:endParaRPr sz="1050"/>
                    </a:p>
                  </a:txBody>
                  <a:tcPr marL="9525" marR="9525" marT="9525" marB="0" anchor="ctr"/>
                </a:tc>
              </a:tr>
              <a:tr h="169606">
                <a:tc>
                  <a:txBody>
                    <a:bodyPr wrap="square"/>
                    <a:lstStyle/>
                    <a:p>
                      <a:pPr algn="l"/>
                      <a:r>
                        <a:rPr sz="1050" b="0" i="0">
                          <a:solidFill>
                            <a:srgbClr val="000000"/>
                          </a:solidFill>
                          <a:latin typeface="Calibri"/>
                        </a:rPr>
                        <a:t>Figure 172: Standard Process: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173: VetriScience: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174: Dr. Fossum's: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175: Nestlé Purina PetCare: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176: PetHeal: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177: Senior Dogs Club: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178: VISYO Corporation: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179: NaturVet: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180: Zesty Paws: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181: Ark Naturals: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182: Global Market Strategic Developments by Type, %, 2025–2026</a:t>
                      </a:r>
                      <a:endParaRPr sz="1050"/>
                    </a:p>
                  </a:txBody>
                  <a:tcPr marL="9525" marR="9525" marT="9525" marB="0" anchor="ctr"/>
                </a:tc>
              </a:tr>
              <a:tr h="169606">
                <a:tc>
                  <a:txBody>
                    <a:bodyPr wrap="square"/>
                    <a:lstStyle/>
                    <a:p>
                      <a:pPr algn="l"/>
                      <a:r>
                        <a:rPr sz="1050" b="0" i="0">
                          <a:solidFill>
                            <a:srgbClr val="000000"/>
                          </a:solidFill>
                          <a:latin typeface="Calibri"/>
                        </a:rPr>
                        <a:t>Figure 183: Global Market Company Footprint by Region, 2026</a:t>
                      </a:r>
                      <a:endParaRPr sz="1050"/>
                    </a:p>
                  </a:txBody>
                  <a:tcPr marL="9525" marR="9525" marT="9525" marB="0" anchor="ctr"/>
                </a:tc>
              </a:tr>
              <a:tr h="169606">
                <a:tc>
                  <a:txBody>
                    <a:bodyPr wrap="square"/>
                    <a:lstStyle/>
                    <a:p>
                      <a:pPr algn="l"/>
                      <a:r>
                        <a:rPr sz="1050" b="0" i="0">
                          <a:solidFill>
                            <a:srgbClr val="000000"/>
                          </a:solidFill>
                          <a:latin typeface="Calibri"/>
                        </a:rPr>
                        <a:t>Figure 184: Global Market Value Forecast by Scenario, US$ Mn, 2026–2036</a:t>
                      </a:r>
                      <a:endParaRPr sz="1050"/>
                    </a:p>
                  </a:txBody>
                  <a:tcPr marL="9525" marR="9525" marT="9525" marB="0" anchor="ctr"/>
                </a:tc>
              </a:tr>
              <a:tr h="169606">
                <a:tc>
                  <a:txBody>
                    <a:bodyPr wrap="square"/>
                    <a:lstStyle/>
                    <a:p>
                      <a:pPr algn="l"/>
                      <a:r>
                        <a:rPr sz="1050" b="0" i="0">
                          <a:solidFill>
                            <a:srgbClr val="000000"/>
                          </a:solidFill>
                          <a:latin typeface="Calibri"/>
                        </a:rPr>
                        <a:t>Figure 185: Global Market YoY Growth by Scenario, %, 2026–2036</a:t>
                      </a:r>
                      <a:endParaRPr sz="1050"/>
                    </a:p>
                  </a:txBody>
                  <a:tcPr marL="9525" marR="9525" marT="9525" marB="0" anchor="ctr"/>
                </a:tc>
              </a:tr>
              <a:tr h="169606">
                <a:tc>
                  <a:txBody>
                    <a:bodyPr wrap="square"/>
                    <a:lstStyle/>
                    <a:p>
                      <a:pPr algn="l"/>
                      <a:r>
                        <a:rPr sz="1050" b="0" i="0">
                          <a:solidFill>
                            <a:srgbClr val="000000"/>
                          </a:solidFill>
                          <a:latin typeface="Calibri"/>
                        </a:rPr>
                        <a:t>Figure 186: Global Market Key Trends Impact Assessment, 2026–2036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(4/4)</a:t>
            </a:r>
          </a:p>
        </p:txBody>
      </p:sp>
      <p:graphicFrame>
        <p:nvGraphicFramePr>
          <p:cNvPr id="9" name="FMI Contents Table"/>
          <p:cNvGraphicFramePr>
            <a:graphicFrameLocks noGrp="1"/>
          </p:cNvGraphicFramePr>
          <p:nvPr/>
        </p:nvGraphicFramePr>
        <p:xfrm>
          <a:off x="142875" y="981075"/>
          <a:ext cx="5876925" cy="2333632"/>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Figure 187: Global Market Drivers, Restraints and Opportunities Impact, 2026–2036</a:t>
                      </a:r>
                      <a:endParaRPr sz="1050"/>
                    </a:p>
                  </a:txBody>
                  <a:tcPr marL="9525" marR="9525" marT="9525" marB="0" anchor="ctr"/>
                </a:tc>
              </a:tr>
              <a:tr h="166688">
                <a:tc>
                  <a:txBody>
                    <a:bodyPr wrap="square"/>
                    <a:lstStyle/>
                    <a:p>
                      <a:pPr algn="l"/>
                      <a:r>
                        <a:rPr sz="1050" b="0" i="0">
                          <a:solidFill>
                            <a:srgbClr val="000000"/>
                          </a:solidFill>
                          <a:latin typeface="Calibri"/>
                        </a:rPr>
                        <a:t>Figure 188: Global Market Opportunity Map by Region and Form Type, 2026–2036</a:t>
                      </a:r>
                      <a:endParaRPr sz="1050"/>
                    </a:p>
                  </a:txBody>
                  <a:tcPr marL="9525" marR="9525" marT="9525" marB="0" anchor="ctr"/>
                </a:tc>
              </a:tr>
              <a:tr h="166688">
                <a:tc>
                  <a:txBody>
                    <a:bodyPr wrap="square"/>
                    <a:lstStyle/>
                    <a:p>
                      <a:pPr algn="l"/>
                      <a:r>
                        <a:rPr sz="1050" b="0" i="0">
                          <a:solidFill>
                            <a:srgbClr val="000000"/>
                          </a:solidFill>
                          <a:latin typeface="Calibri"/>
                        </a:rPr>
                        <a:t>Figure 189: Global Market Technology Adoption Roadmap, 2021–2036</a:t>
                      </a:r>
                      <a:endParaRPr sz="1050"/>
                    </a:p>
                  </a:txBody>
                  <a:tcPr marL="9525" marR="9525" marT="9525" marB="0" anchor="ctr"/>
                </a:tc>
              </a:tr>
              <a:tr h="166688">
                <a:tc>
                  <a:txBody>
                    <a:bodyPr wrap="square"/>
                    <a:lstStyle/>
                    <a:p>
                      <a:pPr algn="l"/>
                      <a:r>
                        <a:rPr sz="1050" b="0" i="0">
                          <a:solidFill>
                            <a:srgbClr val="000000"/>
                          </a:solidFill>
                          <a:latin typeface="Calibri"/>
                        </a:rPr>
                        <a:t>Figure 190: Global Market Emerging Opportunity Pockets by Form Type, US$ Mn, 2026–2036</a:t>
                      </a:r>
                      <a:endParaRPr sz="1050"/>
                    </a:p>
                  </a:txBody>
                  <a:tcPr marL="9525" marR="9525" marT="9525" marB="0" anchor="ctr"/>
                </a:tc>
              </a:tr>
              <a:tr h="166688">
                <a:tc>
                  <a:txBody>
                    <a:bodyPr wrap="square"/>
                    <a:lstStyle/>
                    <a:p>
                      <a:pPr algn="l"/>
                      <a:r>
                        <a:rPr sz="1050" b="0" i="0">
                          <a:solidFill>
                            <a:srgbClr val="000000"/>
                          </a:solidFill>
                          <a:latin typeface="Calibri"/>
                        </a:rPr>
                        <a:t>Figure 191: Global Market Risk and Sensitivity Analysis, %, 2026–2036</a:t>
                      </a:r>
                      <a:endParaRPr sz="1050"/>
                    </a:p>
                  </a:txBody>
                  <a:tcPr marL="9525" marR="9525" marT="9525" marB="0" anchor="ctr"/>
                </a:tc>
              </a:tr>
              <a:tr h="166688">
                <a:tc>
                  <a:txBody>
                    <a:bodyPr wrap="square"/>
                    <a:lstStyle/>
                    <a:p>
                      <a:pPr algn="l"/>
                      <a:r>
                        <a:rPr sz="1050" b="0" i="0">
                          <a:solidFill>
                            <a:srgbClr val="000000"/>
                          </a:solidFill>
                          <a:latin typeface="Calibri"/>
                        </a:rPr>
                        <a:t>Figure 192: Global Market Regulatory Landscape Timeline, 2021–2036</a:t>
                      </a:r>
                      <a:endParaRPr sz="1050"/>
                    </a:p>
                  </a:txBody>
                  <a:tcPr marL="9525" marR="9525" marT="9525" marB="0" anchor="ctr"/>
                </a:tc>
              </a:tr>
              <a:tr h="166688">
                <a:tc>
                  <a:txBody>
                    <a:bodyPr wrap="square"/>
                    <a:lstStyle/>
                    <a:p>
                      <a:pPr algn="l"/>
                      <a:r>
                        <a:rPr sz="1050" b="0" i="0">
                          <a:solidFill>
                            <a:srgbClr val="000000"/>
                          </a:solidFill>
                          <a:latin typeface="Calibri"/>
                        </a:rPr>
                        <a:t>Figure 193: Global Market Investment Hotspots by Region, 2026–2036</a:t>
                      </a:r>
                      <a:endParaRPr sz="1050"/>
                    </a:p>
                  </a:txBody>
                  <a:tcPr marL="9525" marR="9525" marT="9525" marB="0" anchor="ctr"/>
                </a:tc>
              </a:tr>
              <a:tr h="166688">
                <a:tc>
                  <a:txBody>
                    <a:bodyPr wrap="square"/>
                    <a:lstStyle/>
                    <a:p>
                      <a:pPr algn="l"/>
                      <a:r>
                        <a:rPr sz="1050" b="0" i="0">
                          <a:solidFill>
                            <a:srgbClr val="000000"/>
                          </a:solidFill>
                          <a:latin typeface="Calibri"/>
                        </a:rPr>
                        <a:t>Figure 194: Global Market Innovation Pipeline Assessment, 2026</a:t>
                      </a:r>
                      <a:endParaRPr sz="1050"/>
                    </a:p>
                  </a:txBody>
                  <a:tcPr marL="9525" marR="9525" marT="9525" marB="0" anchor="ctr"/>
                </a:tc>
              </a:tr>
              <a:tr h="166688">
                <a:tc>
                  <a:txBody>
                    <a:bodyPr wrap="square"/>
                    <a:lstStyle/>
                    <a:p>
                      <a:pPr algn="l"/>
                      <a:r>
                        <a:rPr sz="1050" b="0" i="0">
                          <a:solidFill>
                            <a:srgbClr val="000000"/>
                          </a:solidFill>
                          <a:latin typeface="Calibri"/>
                        </a:rPr>
                        <a:t>Figure 195: Global Market White-Space Opportunity Assessment, 2026–2036</a:t>
                      </a:r>
                      <a:endParaRPr sz="1050"/>
                    </a:p>
                  </a:txBody>
                  <a:tcPr marL="9525" marR="9525" marT="9525" marB="0" anchor="ctr"/>
                </a:tc>
              </a:tr>
              <a:tr h="166688">
                <a:tc>
                  <a:txBody>
                    <a:bodyPr wrap="square"/>
                    <a:lstStyle/>
                    <a:p>
                      <a:pPr algn="l"/>
                      <a:r>
                        <a:rPr sz="1050" b="0" i="0">
                          <a:solidFill>
                            <a:srgbClr val="000000"/>
                          </a:solidFill>
                          <a:latin typeface="Calibri"/>
                        </a:rPr>
                        <a:t>Figure 196: Global Market Customer Purchase Criteria Assessment, 2026</a:t>
                      </a:r>
                      <a:endParaRPr sz="1050"/>
                    </a:p>
                  </a:txBody>
                  <a:tcPr marL="9525" marR="9525" marT="9525" marB="0" anchor="ctr"/>
                </a:tc>
              </a:tr>
              <a:tr h="166688">
                <a:tc>
                  <a:txBody>
                    <a:bodyPr wrap="square"/>
                    <a:lstStyle/>
                    <a:p>
                      <a:pPr algn="l"/>
                      <a:r>
                        <a:rPr sz="1050" b="0" i="0">
                          <a:solidFill>
                            <a:srgbClr val="000000"/>
                          </a:solidFill>
                          <a:latin typeface="Calibri"/>
                        </a:rPr>
                        <a:t>Figure 197: Global Market Go-to-Market Priority by Region, 2026–2036</a:t>
                      </a:r>
                      <a:endParaRPr sz="1050"/>
                    </a:p>
                  </a:txBody>
                  <a:tcPr marL="9525" marR="9525" marT="9525" marB="0" anchor="ctr"/>
                </a:tc>
              </a:tr>
              <a:tr h="166688">
                <a:tc>
                  <a:txBody>
                    <a:bodyPr wrap="square"/>
                    <a:lstStyle/>
                    <a:p>
                      <a:pPr algn="l"/>
                      <a:r>
                        <a:rPr sz="1050" b="0" i="0">
                          <a:solidFill>
                            <a:srgbClr val="000000"/>
                          </a:solidFill>
                          <a:latin typeface="Calibri"/>
                        </a:rPr>
                        <a:t>Figure 198: Global Market Unmet Needs Analysis by Form Type, 2026</a:t>
                      </a:r>
                      <a:endParaRPr sz="1050"/>
                    </a:p>
                  </a:txBody>
                  <a:tcPr marL="9525" marR="9525" marT="9525" marB="0" anchor="ctr"/>
                </a:tc>
              </a:tr>
              <a:tr h="166688">
                <a:tc>
                  <a:txBody>
                    <a:bodyPr wrap="square"/>
                    <a:lstStyle/>
                    <a:p>
                      <a:pPr algn="l"/>
                      <a:r>
                        <a:rPr sz="1050" b="0" i="0">
                          <a:solidFill>
                            <a:srgbClr val="000000"/>
                          </a:solidFill>
                          <a:latin typeface="Calibri"/>
                        </a:rPr>
                        <a:t>Figure 199: Global Market Right-to-Win Assessment, 2026</a:t>
                      </a:r>
                      <a:endParaRPr sz="1050"/>
                    </a:p>
                  </a:txBody>
                  <a:tcPr marL="9525" marR="9525" marT="9525" marB="0" anchor="ctr"/>
                </a:tc>
              </a:tr>
              <a:tr h="166688">
                <a:tc>
                  <a:txBody>
                    <a:bodyPr wrap="square"/>
                    <a:lstStyle/>
                    <a:p>
                      <a:pPr algn="l"/>
                      <a:r>
                        <a:rPr sz="1050" b="0" i="0">
                          <a:solidFill>
                            <a:srgbClr val="000000"/>
                          </a:solidFill>
                          <a:latin typeface="Calibri"/>
                        </a:rPr>
                        <a:t>Figure 200: Global Market Entry Strategy Scorecard, 2026–2036</a:t>
                      </a:r>
                      <a:endParaRPr sz="1050"/>
                    </a:p>
                  </a:txBody>
                  <a:tcPr marL="9525" marR="9525" marT="9525" marB="0" anchor="ctr"/>
                </a:tc>
              </a:tr>
            </a:tbl>
          </a:graphicData>
        </a:graphic>
      </p:graphicFrame>
      <p:sp>
        <p:nvSpPr>
          <p:cNvPr id="10" name="TextBox 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(1/4)</a:t>
            </a:r>
          </a:p>
        </p:txBody>
      </p:sp>
      <p:graphicFrame>
        <p:nvGraphicFramePr>
          <p:cNvPr id="9" name="FMI Contents Table"/>
          <p:cNvGraphicFramePr>
            <a:graphicFrameLocks noGrp="1"/>
          </p:cNvGraphicFramePr>
          <p:nvPr/>
        </p:nvGraphicFramePr>
        <p:xfrm>
          <a:off x="142875" y="981075"/>
          <a:ext cx="5876925" cy="5257793"/>
        </p:xfrm>
        <a:graphic>
          <a:graphicData uri="http://schemas.openxmlformats.org/drawingml/2006/table">
            <a:tbl>
              <a:tblPr>
                <a:tableStyleId>{3B4B98B0-60AC-42C2-AFA5-B58CD77FA1E5}</a:tableStyleId>
              </a:tblPr>
              <a:tblGrid>
                <a:gridCol w="5876925"/>
              </a:tblGrid>
              <a:tr h="170045">
                <a:tc>
                  <a:txBody>
                    <a:bodyPr wrap="square"/>
                    <a:lstStyle/>
                    <a:p>
                      <a:pPr algn="l"/>
                      <a:r>
                        <a:rPr sz="1050" b="0" i="0">
                          <a:solidFill>
                            <a:srgbClr val="000000"/>
                          </a:solidFill>
                          <a:latin typeface="Calibri"/>
                        </a:rPr>
                        <a:t>Table 1: Global Market Snapshot: Value, Volume and CAGR, US$ Mn, 2025–2036</a:t>
                      </a:r>
                      <a:endParaRPr sz="1050"/>
                    </a:p>
                  </a:txBody>
                  <a:tcPr marL="9525" marR="9525" marT="9525" marB="0" anchor="ctr"/>
                </a:tc>
              </a:tr>
              <a:tr h="170045">
                <a:tc>
                  <a:txBody>
                    <a:bodyPr wrap="square"/>
                    <a:lstStyle/>
                    <a:p>
                      <a:pPr algn="l"/>
                      <a:r>
                        <a:rPr sz="1050" b="0" i="0">
                          <a:solidFill>
                            <a:srgbClr val="000000"/>
                          </a:solidFill>
                          <a:latin typeface="Calibri"/>
                        </a:rPr>
                        <a:t>Table 2: Global Market Taxonomy by Segment, 2026</a:t>
                      </a:r>
                      <a:endParaRPr sz="1050"/>
                    </a:p>
                  </a:txBody>
                  <a:tcPr marL="9525" marR="9525" marT="9525" marB="0" anchor="ctr"/>
                </a:tc>
              </a:tr>
              <a:tr h="170045">
                <a:tc>
                  <a:txBody>
                    <a:bodyPr wrap="square"/>
                    <a:lstStyle/>
                    <a:p>
                      <a:pPr algn="l"/>
                      <a:r>
                        <a:rPr sz="1050" b="0" i="0">
                          <a:solidFill>
                            <a:srgbClr val="000000"/>
                          </a:solidFill>
                          <a:latin typeface="Calibri"/>
                        </a:rPr>
                        <a:t>Table 3: Global Market Scope: Inclusions and Exclusions by Segment, 2026</a:t>
                      </a:r>
                      <a:endParaRPr sz="1050"/>
                    </a:p>
                  </a:txBody>
                  <a:tcPr marL="9525" marR="9525" marT="9525" marB="0" anchor="ctr"/>
                </a:tc>
              </a:tr>
              <a:tr h="170045">
                <a:tc>
                  <a:txBody>
                    <a:bodyPr wrap="square"/>
                    <a:lstStyle/>
                    <a:p>
                      <a:pPr algn="l"/>
                      <a:r>
                        <a:rPr sz="1050" b="0" i="0">
                          <a:solidFill>
                            <a:srgbClr val="000000"/>
                          </a:solidFill>
                          <a:latin typeface="Calibri"/>
                        </a:rPr>
                        <a:t>Table 4: Global Market Key Demand Drivers and Impact Rating, 2026–2036</a:t>
                      </a:r>
                      <a:endParaRPr sz="1050"/>
                    </a:p>
                  </a:txBody>
                  <a:tcPr marL="9525" marR="9525" marT="9525" marB="0" anchor="ctr"/>
                </a:tc>
              </a:tr>
              <a:tr h="170045">
                <a:tc>
                  <a:txBody>
                    <a:bodyPr wrap="square"/>
                    <a:lstStyle/>
                    <a:p>
                      <a:pPr algn="l"/>
                      <a:r>
                        <a:rPr sz="1050" b="0" i="0">
                          <a:solidFill>
                            <a:srgbClr val="000000"/>
                          </a:solidFill>
                          <a:latin typeface="Calibri"/>
                        </a:rPr>
                        <a:t>Table 5: Global Market Key Restraints and Impact Rating, 2026–2036</a:t>
                      </a:r>
                      <a:endParaRPr sz="1050"/>
                    </a:p>
                  </a:txBody>
                  <a:tcPr marL="9525" marR="9525" marT="9525" marB="0" anchor="ctr"/>
                </a:tc>
              </a:tr>
              <a:tr h="170045">
                <a:tc>
                  <a:txBody>
                    <a:bodyPr wrap="square"/>
                    <a:lstStyle/>
                    <a:p>
                      <a:pPr algn="l"/>
                      <a:r>
                        <a:rPr sz="1050" b="0" i="0">
                          <a:solidFill>
                            <a:srgbClr val="000000"/>
                          </a:solidFill>
                          <a:latin typeface="Calibri"/>
                        </a:rPr>
                        <a:t>Table 6: Global Market Analyst Recommendations by Segment, 2026–2036</a:t>
                      </a:r>
                      <a:endParaRPr sz="1050"/>
                    </a:p>
                  </a:txBody>
                  <a:tcPr marL="9525" marR="9525" marT="9525" marB="0" anchor="ctr"/>
                </a:tc>
              </a:tr>
              <a:tr h="170045">
                <a:tc>
                  <a:txBody>
                    <a:bodyPr wrap="square"/>
                    <a:lstStyle/>
                    <a:p>
                      <a:pPr algn="l"/>
                      <a:r>
                        <a:rPr sz="1050" b="0" i="0">
                          <a:solidFill>
                            <a:srgbClr val="000000"/>
                          </a:solidFill>
                          <a:latin typeface="Calibri"/>
                        </a:rPr>
                        <a:t>Table 7: Global Market Key Market Signals and Data Points, 2026</a:t>
                      </a:r>
                      <a:endParaRPr sz="1050"/>
                    </a:p>
                  </a:txBody>
                  <a:tcPr marL="9525" marR="9525" marT="9525" marB="0" anchor="ctr"/>
                </a:tc>
              </a:tr>
              <a:tr h="170045">
                <a:tc>
                  <a:txBody>
                    <a:bodyPr wrap="square"/>
                    <a:lstStyle/>
                    <a:p>
                      <a:pPr algn="l"/>
                      <a:r>
                        <a:rPr sz="1050" b="0" i="0">
                          <a:solidFill>
                            <a:srgbClr val="000000"/>
                          </a:solidFill>
                          <a:latin typeface="Calibri"/>
                        </a:rPr>
                        <a:t>Table 8: Global Market Value and YoY Growth, US$ Mn and %, 2021–2036</a:t>
                      </a:r>
                      <a:endParaRPr sz="1050"/>
                    </a:p>
                  </a:txBody>
                  <a:tcPr marL="9525" marR="9525" marT="9525" marB="0" anchor="ctr"/>
                </a:tc>
              </a:tr>
              <a:tr h="170045">
                <a:tc>
                  <a:txBody>
                    <a:bodyPr wrap="square"/>
                    <a:lstStyle/>
                    <a:p>
                      <a:pPr algn="l"/>
                      <a:r>
                        <a:rPr sz="1050" b="0" i="0">
                          <a:solidFill>
                            <a:srgbClr val="000000"/>
                          </a:solidFill>
                          <a:latin typeface="Calibri"/>
                        </a:rPr>
                        <a:t>Table 9: Global Market Historical Value Analysis, US$ Mn, 2021–2025</a:t>
                      </a:r>
                      <a:endParaRPr sz="1050"/>
                    </a:p>
                  </a:txBody>
                  <a:tcPr marL="9525" marR="9525" marT="9525" marB="0" anchor="ctr"/>
                </a:tc>
              </a:tr>
              <a:tr h="170045">
                <a:tc>
                  <a:txBody>
                    <a:bodyPr wrap="square"/>
                    <a:lstStyle/>
                    <a:p>
                      <a:pPr algn="l"/>
                      <a:r>
                        <a:rPr sz="1050" b="0" i="0">
                          <a:solidFill>
                            <a:srgbClr val="000000"/>
                          </a:solidFill>
                          <a:latin typeface="Calibri"/>
                        </a:rPr>
                        <a:t>Table 10: Global Market Forecast Value Analysis, US$ Mn, 2026–2036</a:t>
                      </a:r>
                      <a:endParaRPr sz="1050"/>
                    </a:p>
                  </a:txBody>
                  <a:tcPr marL="9525" marR="9525" marT="9525" marB="0" anchor="ctr"/>
                </a:tc>
              </a:tr>
              <a:tr h="170045">
                <a:tc>
                  <a:txBody>
                    <a:bodyPr wrap="square"/>
                    <a:lstStyle/>
                    <a:p>
                      <a:pPr algn="l"/>
                      <a:r>
                        <a:rPr sz="1050" b="0" i="0">
                          <a:solidFill>
                            <a:srgbClr val="000000"/>
                          </a:solidFill>
                          <a:latin typeface="Calibri"/>
                        </a:rPr>
                        <a:t>Table 11: Global Market Volume and YoY Growth, MT and %, 2021–2036</a:t>
                      </a:r>
                      <a:endParaRPr sz="1050"/>
                    </a:p>
                  </a:txBody>
                  <a:tcPr marL="9525" marR="9525" marT="9525" marB="0" anchor="ctr"/>
                </a:tc>
              </a:tr>
              <a:tr h="170045">
                <a:tc>
                  <a:txBody>
                    <a:bodyPr wrap="square"/>
                    <a:lstStyle/>
                    <a:p>
                      <a:pPr algn="l"/>
                      <a:r>
                        <a:rPr sz="1050" b="0" i="0">
                          <a:solidFill>
                            <a:srgbClr val="000000"/>
                          </a:solidFill>
                          <a:latin typeface="Calibri"/>
                        </a:rPr>
                        <a:t>Table 12: Global Market Volume Forecast, MT, 2026–2036</a:t>
                      </a:r>
                      <a:endParaRPr sz="1050"/>
                    </a:p>
                  </a:txBody>
                  <a:tcPr marL="9525" marR="9525" marT="9525" marB="0" anchor="ctr"/>
                </a:tc>
              </a:tr>
              <a:tr h="170045">
                <a:tc>
                  <a:txBody>
                    <a:bodyPr wrap="square"/>
                    <a:lstStyle/>
                    <a:p>
                      <a:pPr algn="l"/>
                      <a:r>
                        <a:rPr sz="1050" b="0" i="0">
                          <a:solidFill>
                            <a:srgbClr val="000000"/>
                          </a:solidFill>
                          <a:latin typeface="Calibri"/>
                        </a:rPr>
                        <a:t>Table 13: Global Market Average Selling Price, US$/MT, 2021–2036</a:t>
                      </a:r>
                      <a:endParaRPr sz="1050"/>
                    </a:p>
                  </a:txBody>
                  <a:tcPr marL="9525" marR="9525" marT="9525" marB="0" anchor="ctr"/>
                </a:tc>
              </a:tr>
              <a:tr h="170045">
                <a:tc>
                  <a:txBody>
                    <a:bodyPr wrap="square"/>
                    <a:lstStyle/>
                    <a:p>
                      <a:pPr algn="l"/>
                      <a:r>
                        <a:rPr sz="1050" b="0" i="0">
                          <a:solidFill>
                            <a:srgbClr val="000000"/>
                          </a:solidFill>
                          <a:latin typeface="Calibri"/>
                        </a:rPr>
                        <a:t>Table 14: Global Market Average Selling Price YoY Change, %, 2026–2036</a:t>
                      </a:r>
                      <a:endParaRPr sz="1050"/>
                    </a:p>
                  </a:txBody>
                  <a:tcPr marL="9525" marR="9525" marT="9525" marB="0" anchor="ctr"/>
                </a:tc>
              </a:tr>
              <a:tr h="170045">
                <a:tc>
                  <a:txBody>
                    <a:bodyPr wrap="square"/>
                    <a:lstStyle/>
                    <a:p>
                      <a:pPr algn="l"/>
                      <a:r>
                        <a:rPr sz="1050" b="0" i="0">
                          <a:solidFill>
                            <a:srgbClr val="000000"/>
                          </a:solidFill>
                          <a:latin typeface="Calibri"/>
                        </a:rPr>
                        <a:t>Table 15: Global Market CAGR and Absolute $ Opportunity, %, US$ Mn, 2026–2036</a:t>
                      </a:r>
                      <a:endParaRPr sz="1050"/>
                    </a:p>
                  </a:txBody>
                  <a:tcPr marL="9525" marR="9525" marT="9525" marB="0" anchor="ctr"/>
                </a:tc>
              </a:tr>
              <a:tr h="170045">
                <a:tc>
                  <a:txBody>
                    <a:bodyPr wrap="square"/>
                    <a:lstStyle/>
                    <a:p>
                      <a:pPr algn="l"/>
                      <a:r>
                        <a:rPr sz="1050" b="0" i="0">
                          <a:solidFill>
                            <a:srgbClr val="000000"/>
                          </a:solidFill>
                          <a:latin typeface="Calibri"/>
                        </a:rPr>
                        <a:t>Table 16: Global Market Absolute $ Opportunity by Year, US$ Mn, 2026–2036</a:t>
                      </a:r>
                      <a:endParaRPr sz="1050"/>
                    </a:p>
                  </a:txBody>
                  <a:tcPr marL="9525" marR="9525" marT="9525" marB="0" anchor="ctr"/>
                </a:tc>
              </a:tr>
              <a:tr h="170045">
                <a:tc>
                  <a:txBody>
                    <a:bodyPr wrap="square"/>
                    <a:lstStyle/>
                    <a:p>
                      <a:pPr algn="l"/>
                      <a:r>
                        <a:rPr sz="1050" b="0" i="0">
                          <a:solidFill>
                            <a:srgbClr val="000000"/>
                          </a:solidFill>
                          <a:latin typeface="Calibri"/>
                        </a:rPr>
                        <a:t>Table 17: Global Market Value by Scenario (Optimistic, Likely, Pessimistic), US$ Mn, 2026–2036</a:t>
                      </a:r>
                      <a:endParaRPr sz="1050"/>
                    </a:p>
                  </a:txBody>
                  <a:tcPr marL="9525" marR="9525" marT="9525" marB="0" anchor="ctr"/>
                </a:tc>
              </a:tr>
              <a:tr h="170045">
                <a:tc>
                  <a:txBody>
                    <a:bodyPr wrap="square"/>
                    <a:lstStyle/>
                    <a:p>
                      <a:pPr algn="l"/>
                      <a:r>
                        <a:rPr sz="1050" b="0" i="0">
                          <a:solidFill>
                            <a:srgbClr val="000000"/>
                          </a:solidFill>
                          <a:latin typeface="Calibri"/>
                        </a:rPr>
                        <a:t>Table 18: Global Market Scenario CAGR Comparison, %, 2026–2036</a:t>
                      </a:r>
                      <a:endParaRPr sz="1050"/>
                    </a:p>
                  </a:txBody>
                  <a:tcPr marL="9525" marR="9525" marT="9525" marB="0" anchor="ctr"/>
                </a:tc>
              </a:tr>
              <a:tr h="170045">
                <a:tc>
                  <a:txBody>
                    <a:bodyPr wrap="square"/>
                    <a:lstStyle/>
                    <a:p>
                      <a:pPr algn="l"/>
                      <a:r>
                        <a:rPr sz="1050" b="0" i="0">
                          <a:solidFill>
                            <a:srgbClr val="000000"/>
                          </a:solidFill>
                          <a:latin typeface="Calibri"/>
                        </a:rPr>
                        <a:t>Table 19: Global Market Historical vs Forecast Growth Comparison, %, 2021–2036</a:t>
                      </a:r>
                      <a:endParaRPr sz="1050"/>
                    </a:p>
                  </a:txBody>
                  <a:tcPr marL="9525" marR="9525" marT="9525" marB="0" anchor="ctr"/>
                </a:tc>
              </a:tr>
              <a:tr h="170045">
                <a:tc>
                  <a:txBody>
                    <a:bodyPr wrap="square"/>
                    <a:lstStyle/>
                    <a:p>
                      <a:pPr algn="l"/>
                      <a:r>
                        <a:rPr sz="1050" b="0" i="0">
                          <a:solidFill>
                            <a:srgbClr val="000000"/>
                          </a:solidFill>
                          <a:latin typeface="Calibri"/>
                        </a:rPr>
                        <a:t>Table 20: Global Market Five-Year Block Value Summary, US$ Mn, 2021–2036</a:t>
                      </a:r>
                      <a:endParaRPr sz="1050"/>
                    </a:p>
                  </a:txBody>
                  <a:tcPr marL="9525" marR="9525" marT="9525" marB="0" anchor="ctr"/>
                </a:tc>
              </a:tr>
              <a:tr h="170045">
                <a:tc>
                  <a:txBody>
                    <a:bodyPr wrap="square"/>
                    <a:lstStyle/>
                    <a:p>
                      <a:pPr algn="l"/>
                      <a:r>
                        <a:rPr sz="1050" b="0" i="0">
                          <a:solidFill>
                            <a:srgbClr val="000000"/>
                          </a:solidFill>
                          <a:latin typeface="Calibri"/>
                        </a:rPr>
                        <a:t>Table 21: Global Market Size Evolution Index, 2025=100, 2021–2036</a:t>
                      </a:r>
                      <a:endParaRPr sz="1050"/>
                    </a:p>
                  </a:txBody>
                  <a:tcPr marL="9525" marR="9525" marT="9525" marB="0" anchor="ctr"/>
                </a:tc>
              </a:tr>
              <a:tr h="170045">
                <a:tc>
                  <a:txBody>
                    <a:bodyPr wrap="square"/>
                    <a:lstStyle/>
                    <a:p>
                      <a:pPr algn="l"/>
                      <a:r>
                        <a:rPr sz="1050" b="0" i="0">
                          <a:solidFill>
                            <a:srgbClr val="000000"/>
                          </a:solidFill>
                          <a:latin typeface="Calibri"/>
                        </a:rPr>
                        <a:t>Table 22: Global Market Value by Form Type, US$ Mn, 2021–2036</a:t>
                      </a:r>
                      <a:endParaRPr sz="1050"/>
                    </a:p>
                  </a:txBody>
                  <a:tcPr marL="9525" marR="9525" marT="9525" marB="0" anchor="ctr"/>
                </a:tc>
              </a:tr>
              <a:tr h="170045">
                <a:tc>
                  <a:txBody>
                    <a:bodyPr wrap="square"/>
                    <a:lstStyle/>
                    <a:p>
                      <a:pPr algn="l"/>
                      <a:r>
                        <a:rPr sz="1050" b="0" i="0">
                          <a:solidFill>
                            <a:srgbClr val="000000"/>
                          </a:solidFill>
                          <a:latin typeface="Calibri"/>
                        </a:rPr>
                        <a:t>Table 23: Global Market Value by Active Ingredient, US$ Mn, 2021–2036</a:t>
                      </a:r>
                      <a:endParaRPr sz="1050"/>
                    </a:p>
                  </a:txBody>
                  <a:tcPr marL="9525" marR="9525" marT="9525" marB="0" anchor="ctr"/>
                </a:tc>
              </a:tr>
              <a:tr h="170045">
                <a:tc>
                  <a:txBody>
                    <a:bodyPr wrap="square"/>
                    <a:lstStyle/>
                    <a:p>
                      <a:pPr algn="l"/>
                      <a:r>
                        <a:rPr sz="1050" b="0" i="0">
                          <a:solidFill>
                            <a:srgbClr val="000000"/>
                          </a:solidFill>
                          <a:latin typeface="Calibri"/>
                        </a:rPr>
                        <a:t>Table 24: Global Market Value by End-use Application, US$ Mn, 2021–2036</a:t>
                      </a:r>
                      <a:endParaRPr sz="1050"/>
                    </a:p>
                  </a:txBody>
                  <a:tcPr marL="9525" marR="9525" marT="9525" marB="0" anchor="ctr"/>
                </a:tc>
              </a:tr>
              <a:tr h="170045">
                <a:tc>
                  <a:txBody>
                    <a:bodyPr wrap="square"/>
                    <a:lstStyle/>
                    <a:p>
                      <a:pPr algn="l"/>
                      <a:r>
                        <a:rPr sz="1050" b="0" i="0">
                          <a:solidFill>
                            <a:srgbClr val="000000"/>
                          </a:solidFill>
                          <a:latin typeface="Calibri"/>
                        </a:rPr>
                        <a:t>Table 25: Global Market Value by Packaging Format, US$ Mn, 2021–2036</a:t>
                      </a:r>
                      <a:endParaRPr sz="1050"/>
                    </a:p>
                  </a:txBody>
                  <a:tcPr marL="9525" marR="9525" marT="9525" marB="0" anchor="ctr"/>
                </a:tc>
              </a:tr>
              <a:tr h="170045">
                <a:tc>
                  <a:txBody>
                    <a:bodyPr wrap="square"/>
                    <a:lstStyle/>
                    <a:p>
                      <a:pPr algn="l"/>
                      <a:r>
                        <a:rPr sz="1050" b="0" i="0">
                          <a:solidFill>
                            <a:srgbClr val="000000"/>
                          </a:solidFill>
                          <a:latin typeface="Calibri"/>
                        </a:rPr>
                        <a:t>Table 26: Global Market Value by Sales Channel, US$ Mn, 2021–2036</a:t>
                      </a:r>
                      <a:endParaRPr sz="1050"/>
                    </a:p>
                  </a:txBody>
                  <a:tcPr marL="9525" marR="9525" marT="9525" marB="0" anchor="ctr"/>
                </a:tc>
              </a:tr>
              <a:tr h="170045">
                <a:tc>
                  <a:txBody>
                    <a:bodyPr wrap="square"/>
                    <a:lstStyle/>
                    <a:p>
                      <a:pPr algn="l"/>
                      <a:r>
                        <a:rPr sz="1050" b="0" i="0">
                          <a:solidFill>
                            <a:srgbClr val="000000"/>
                          </a:solidFill>
                          <a:latin typeface="Calibri"/>
                        </a:rPr>
                        <a:t>Table 27: Global Market CAGR and Absolute $ Opportunity by Form Type, %, US$ Mn, 2026–2036</a:t>
                      </a:r>
                      <a:endParaRPr sz="1050"/>
                    </a:p>
                  </a:txBody>
                  <a:tcPr marL="9525" marR="9525" marT="9525" marB="0" anchor="ctr"/>
                </a:tc>
              </a:tr>
              <a:tr h="333289">
                <a:tc>
                  <a:txBody>
                    <a:bodyPr wrap="square"/>
                    <a:lstStyle/>
                    <a:p>
                      <a:pPr algn="l"/>
                      <a:r>
                        <a:rPr sz="1050" b="0" i="0">
                          <a:solidFill>
                            <a:srgbClr val="000000"/>
                          </a:solidFill>
                          <a:latin typeface="Calibri"/>
                        </a:rPr>
                        <a:t>Table 28: Global Market CAGR and Absolute $ Opportunity by Active Ingredient, %, US$ Mn, 2026–2036</a:t>
                      </a:r>
                      <a:endParaRPr sz="1050"/>
                    </a:p>
                  </a:txBody>
                  <a:tcPr marL="9525" marR="9525" marT="9525" marB="0" anchor="ctr"/>
                </a:tc>
              </a:tr>
              <a:tr h="333289">
                <a:tc>
                  <a:txBody>
                    <a:bodyPr wrap="square"/>
                    <a:lstStyle/>
                    <a:p>
                      <a:pPr algn="l"/>
                      <a:r>
                        <a:rPr sz="1050" b="0" i="0">
                          <a:solidFill>
                            <a:srgbClr val="000000"/>
                          </a:solidFill>
                          <a:latin typeface="Calibri"/>
                        </a:rPr>
                        <a:t>Table 29: Global Market CAGR and Absolute $ Opportunity by End-use Application, %, US$ Mn, 2026–2036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12"/>
        </p:xfrm>
        <a:graphic>
          <a:graphicData uri="http://schemas.openxmlformats.org/drawingml/2006/table">
            <a:tbl>
              <a:tblPr>
                <a:tableStyleId>{3B4B98B0-60AC-42C2-AFA5-B58CD77FA1E5}</a:tableStyleId>
              </a:tblPr>
              <a:tblGrid>
                <a:gridCol w="5876925"/>
              </a:tblGrid>
              <a:tr h="332858">
                <a:tc>
                  <a:txBody>
                    <a:bodyPr wrap="square"/>
                    <a:lstStyle/>
                    <a:p>
                      <a:pPr algn="l"/>
                      <a:r>
                        <a:rPr sz="1050" b="0" i="0">
                          <a:solidFill>
                            <a:srgbClr val="000000"/>
                          </a:solidFill>
                          <a:latin typeface="Calibri"/>
                        </a:rPr>
                        <a:t>Table 30: Global Market CAGR and Absolute $ Opportunity by Packaging Format, %, US$ Mn, 2026–2036</a:t>
                      </a:r>
                      <a:endParaRPr sz="1050"/>
                    </a:p>
                  </a:txBody>
                  <a:tcPr marL="9525" marR="9525" marT="9525" marB="0" anchor="ctr"/>
                </a:tc>
              </a:tr>
              <a:tr h="169826">
                <a:tc>
                  <a:txBody>
                    <a:bodyPr wrap="square"/>
                    <a:lstStyle/>
                    <a:p>
                      <a:pPr algn="l"/>
                      <a:r>
                        <a:rPr sz="1050" b="0" i="0">
                          <a:solidFill>
                            <a:srgbClr val="000000"/>
                          </a:solidFill>
                          <a:latin typeface="Calibri"/>
                        </a:rPr>
                        <a:t>Table 31: Global Market CAGR and Absolute $ Opportunity by Sales Channel, %, US$ Mn, 2026–2036</a:t>
                      </a:r>
                      <a:endParaRPr sz="1050"/>
                    </a:p>
                  </a:txBody>
                  <a:tcPr marL="9525" marR="9525" marT="9525" marB="0" anchor="ctr"/>
                </a:tc>
              </a:tr>
              <a:tr h="169826">
                <a:tc>
                  <a:txBody>
                    <a:bodyPr wrap="square"/>
                    <a:lstStyle/>
                    <a:p>
                      <a:pPr algn="l"/>
                      <a:r>
                        <a:rPr sz="1050" b="0" i="0">
                          <a:solidFill>
                            <a:srgbClr val="000000"/>
                          </a:solidFill>
                          <a:latin typeface="Calibri"/>
                        </a:rPr>
                        <a:t>Table 32: Global Market Share and BPS Change by Form Type, %, 2025, 2026 and 2036</a:t>
                      </a:r>
                      <a:endParaRPr sz="1050"/>
                    </a:p>
                  </a:txBody>
                  <a:tcPr marL="9525" marR="9525" marT="9525" marB="0" anchor="ctr"/>
                </a:tc>
              </a:tr>
              <a:tr h="169826">
                <a:tc>
                  <a:txBody>
                    <a:bodyPr wrap="square"/>
                    <a:lstStyle/>
                    <a:p>
                      <a:pPr algn="l"/>
                      <a:r>
                        <a:rPr sz="1050" b="0" i="0">
                          <a:solidFill>
                            <a:srgbClr val="000000"/>
                          </a:solidFill>
                          <a:latin typeface="Calibri"/>
                        </a:rPr>
                        <a:t>Table 33: Global Market Share and BPS Change by Active Ingredient, %, 2025, 2026 and 2036</a:t>
                      </a:r>
                      <a:endParaRPr sz="1050"/>
                    </a:p>
                  </a:txBody>
                  <a:tcPr marL="9525" marR="9525" marT="9525" marB="0" anchor="ctr"/>
                </a:tc>
              </a:tr>
              <a:tr h="169826">
                <a:tc>
                  <a:txBody>
                    <a:bodyPr wrap="square"/>
                    <a:lstStyle/>
                    <a:p>
                      <a:pPr algn="l"/>
                      <a:r>
                        <a:rPr sz="1050" b="0" i="0">
                          <a:solidFill>
                            <a:srgbClr val="000000"/>
                          </a:solidFill>
                          <a:latin typeface="Calibri"/>
                        </a:rPr>
                        <a:t>Table 34: Global Market Share and BPS Change by End-use Application, %, 2025, 2026 and 2036</a:t>
                      </a:r>
                      <a:endParaRPr sz="1050"/>
                    </a:p>
                  </a:txBody>
                  <a:tcPr marL="9525" marR="9525" marT="9525" marB="0" anchor="ctr"/>
                </a:tc>
              </a:tr>
              <a:tr h="169826">
                <a:tc>
                  <a:txBody>
                    <a:bodyPr wrap="square"/>
                    <a:lstStyle/>
                    <a:p>
                      <a:pPr algn="l"/>
                      <a:r>
                        <a:rPr sz="1050" b="0" i="0">
                          <a:solidFill>
                            <a:srgbClr val="000000"/>
                          </a:solidFill>
                          <a:latin typeface="Calibri"/>
                        </a:rPr>
                        <a:t>Table 35: Global Market Share and BPS Change by Packaging Format, %, 2025, 2026 and 2036</a:t>
                      </a:r>
                      <a:endParaRPr sz="1050"/>
                    </a:p>
                  </a:txBody>
                  <a:tcPr marL="9525" marR="9525" marT="9525" marB="0" anchor="ctr"/>
                </a:tc>
              </a:tr>
              <a:tr h="169826">
                <a:tc>
                  <a:txBody>
                    <a:bodyPr wrap="square"/>
                    <a:lstStyle/>
                    <a:p>
                      <a:pPr algn="l"/>
                      <a:r>
                        <a:rPr sz="1050" b="0" i="0">
                          <a:solidFill>
                            <a:srgbClr val="000000"/>
                          </a:solidFill>
                          <a:latin typeface="Calibri"/>
                        </a:rPr>
                        <a:t>Table 36: Global Market Share and BPS Change by Sales Channel, %, 2025, 2026 and 2036</a:t>
                      </a:r>
                      <a:endParaRPr sz="1050"/>
                    </a:p>
                  </a:txBody>
                  <a:tcPr marL="9525" marR="9525" marT="9525" marB="0" anchor="ctr"/>
                </a:tc>
              </a:tr>
              <a:tr h="169826">
                <a:tc>
                  <a:txBody>
                    <a:bodyPr wrap="square"/>
                    <a:lstStyle/>
                    <a:p>
                      <a:pPr algn="l"/>
                      <a:r>
                        <a:rPr sz="1050" b="0" i="0">
                          <a:solidFill>
                            <a:srgbClr val="000000"/>
                          </a:solidFill>
                          <a:latin typeface="Calibri"/>
                        </a:rPr>
                        <a:t>Table 37: Global Market YoY Growth by Form Type, %, 2026–2036</a:t>
                      </a:r>
                      <a:endParaRPr sz="1050"/>
                    </a:p>
                  </a:txBody>
                  <a:tcPr marL="9525" marR="9525" marT="9525" marB="0" anchor="ctr"/>
                </a:tc>
              </a:tr>
              <a:tr h="169826">
                <a:tc>
                  <a:txBody>
                    <a:bodyPr wrap="square"/>
                    <a:lstStyle/>
                    <a:p>
                      <a:pPr algn="l"/>
                      <a:r>
                        <a:rPr sz="1050" b="0" i="0">
                          <a:solidFill>
                            <a:srgbClr val="000000"/>
                          </a:solidFill>
                          <a:latin typeface="Calibri"/>
                        </a:rPr>
                        <a:t>Table 38: Global Market YoY Growth by Active Ingredient, %, 2026–2036</a:t>
                      </a:r>
                      <a:endParaRPr sz="1050"/>
                    </a:p>
                  </a:txBody>
                  <a:tcPr marL="9525" marR="9525" marT="9525" marB="0" anchor="ctr"/>
                </a:tc>
              </a:tr>
              <a:tr h="169826">
                <a:tc>
                  <a:txBody>
                    <a:bodyPr wrap="square"/>
                    <a:lstStyle/>
                    <a:p>
                      <a:pPr algn="l"/>
                      <a:r>
                        <a:rPr sz="1050" b="0" i="0">
                          <a:solidFill>
                            <a:srgbClr val="000000"/>
                          </a:solidFill>
                          <a:latin typeface="Calibri"/>
                        </a:rPr>
                        <a:t>Table 39: Global Market YoY Growth by End-use Application, %, 2026–2036</a:t>
                      </a:r>
                      <a:endParaRPr sz="1050"/>
                    </a:p>
                  </a:txBody>
                  <a:tcPr marL="9525" marR="9525" marT="9525" marB="0" anchor="ctr"/>
                </a:tc>
              </a:tr>
              <a:tr h="169826">
                <a:tc>
                  <a:txBody>
                    <a:bodyPr wrap="square"/>
                    <a:lstStyle/>
                    <a:p>
                      <a:pPr algn="l"/>
                      <a:r>
                        <a:rPr sz="1050" b="0" i="0">
                          <a:solidFill>
                            <a:srgbClr val="000000"/>
                          </a:solidFill>
                          <a:latin typeface="Calibri"/>
                        </a:rPr>
                        <a:t>Table 40: Global Market YoY Growth by Packaging Format, %, 2026–2036</a:t>
                      </a:r>
                      <a:endParaRPr sz="1050"/>
                    </a:p>
                  </a:txBody>
                  <a:tcPr marL="9525" marR="9525" marT="9525" marB="0" anchor="ctr"/>
                </a:tc>
              </a:tr>
              <a:tr h="169826">
                <a:tc>
                  <a:txBody>
                    <a:bodyPr wrap="square"/>
                    <a:lstStyle/>
                    <a:p>
                      <a:pPr algn="l"/>
                      <a:r>
                        <a:rPr sz="1050" b="0" i="0">
                          <a:solidFill>
                            <a:srgbClr val="000000"/>
                          </a:solidFill>
                          <a:latin typeface="Calibri"/>
                        </a:rPr>
                        <a:t>Table 41: Global Market YoY Growth by Sales Channel, %, 2026–2036</a:t>
                      </a:r>
                      <a:endParaRPr sz="1050"/>
                    </a:p>
                  </a:txBody>
                  <a:tcPr marL="9525" marR="9525" marT="9525" marB="0" anchor="ctr"/>
                </a:tc>
              </a:tr>
              <a:tr h="169826">
                <a:tc>
                  <a:txBody>
                    <a:bodyPr wrap="square"/>
                    <a:lstStyle/>
                    <a:p>
                      <a:pPr algn="l"/>
                      <a:r>
                        <a:rPr sz="1050" b="0" i="0">
                          <a:solidFill>
                            <a:srgbClr val="000000"/>
                          </a:solidFill>
                          <a:latin typeface="Calibri"/>
                        </a:rPr>
                        <a:t>Table 42: Global Market Volume by Form Type, MT, 2021–2036</a:t>
                      </a:r>
                      <a:endParaRPr sz="1050"/>
                    </a:p>
                  </a:txBody>
                  <a:tcPr marL="9525" marR="9525" marT="9525" marB="0" anchor="ctr"/>
                </a:tc>
              </a:tr>
              <a:tr h="169826">
                <a:tc>
                  <a:txBody>
                    <a:bodyPr wrap="square"/>
                    <a:lstStyle/>
                    <a:p>
                      <a:pPr algn="l"/>
                      <a:r>
                        <a:rPr sz="1050" b="0" i="0">
                          <a:solidFill>
                            <a:srgbClr val="000000"/>
                          </a:solidFill>
                          <a:latin typeface="Calibri"/>
                        </a:rPr>
                        <a:t>Table 43: Global Market Volume by Active Ingredient, MT, 2021–2036</a:t>
                      </a:r>
                      <a:endParaRPr sz="1050"/>
                    </a:p>
                  </a:txBody>
                  <a:tcPr marL="9525" marR="9525" marT="9525" marB="0" anchor="ctr"/>
                </a:tc>
              </a:tr>
              <a:tr h="169826">
                <a:tc>
                  <a:txBody>
                    <a:bodyPr wrap="square"/>
                    <a:lstStyle/>
                    <a:p>
                      <a:pPr algn="l"/>
                      <a:r>
                        <a:rPr sz="1050" b="0" i="0">
                          <a:solidFill>
                            <a:srgbClr val="000000"/>
                          </a:solidFill>
                          <a:latin typeface="Calibri"/>
                        </a:rPr>
                        <a:t>Table 44: Global Market Volume by End-use Application, MT, 2021–2036</a:t>
                      </a:r>
                      <a:endParaRPr sz="1050"/>
                    </a:p>
                  </a:txBody>
                  <a:tcPr marL="9525" marR="9525" marT="9525" marB="0" anchor="ctr"/>
                </a:tc>
              </a:tr>
              <a:tr h="169826">
                <a:tc>
                  <a:txBody>
                    <a:bodyPr wrap="square"/>
                    <a:lstStyle/>
                    <a:p>
                      <a:pPr algn="l"/>
                      <a:r>
                        <a:rPr sz="1050" b="0" i="0">
                          <a:solidFill>
                            <a:srgbClr val="000000"/>
                          </a:solidFill>
                          <a:latin typeface="Calibri"/>
                        </a:rPr>
                        <a:t>Table 45: Global Market Volume by Packaging Format, MT, 2021–2036</a:t>
                      </a:r>
                      <a:endParaRPr sz="1050"/>
                    </a:p>
                  </a:txBody>
                  <a:tcPr marL="9525" marR="9525" marT="9525" marB="0" anchor="ctr"/>
                </a:tc>
              </a:tr>
              <a:tr h="169826">
                <a:tc>
                  <a:txBody>
                    <a:bodyPr wrap="square"/>
                    <a:lstStyle/>
                    <a:p>
                      <a:pPr algn="l"/>
                      <a:r>
                        <a:rPr sz="1050" b="0" i="0">
                          <a:solidFill>
                            <a:srgbClr val="000000"/>
                          </a:solidFill>
                          <a:latin typeface="Calibri"/>
                        </a:rPr>
                        <a:t>Table 46: Global Market Volume by Sales Channel, MT, 2021–2036</a:t>
                      </a:r>
                      <a:endParaRPr sz="1050"/>
                    </a:p>
                  </a:txBody>
                  <a:tcPr marL="9525" marR="9525" marT="9525" marB="0" anchor="ctr"/>
                </a:tc>
              </a:tr>
              <a:tr h="169826">
                <a:tc>
                  <a:txBody>
                    <a:bodyPr wrap="square"/>
                    <a:lstStyle/>
                    <a:p>
                      <a:pPr algn="l"/>
                      <a:r>
                        <a:rPr sz="1050" b="0" i="0">
                          <a:solidFill>
                            <a:srgbClr val="000000"/>
                          </a:solidFill>
                          <a:latin typeface="Calibri"/>
                        </a:rPr>
                        <a:t>Table 47: Global Market Average Selling Price by Form Type, US$/MT, 2021–2036</a:t>
                      </a:r>
                      <a:endParaRPr sz="1050"/>
                    </a:p>
                  </a:txBody>
                  <a:tcPr marL="9525" marR="9525" marT="9525" marB="0" anchor="ctr"/>
                </a:tc>
              </a:tr>
              <a:tr h="169826">
                <a:tc>
                  <a:txBody>
                    <a:bodyPr wrap="square"/>
                    <a:lstStyle/>
                    <a:p>
                      <a:pPr algn="l"/>
                      <a:r>
                        <a:rPr sz="1050" b="0" i="0">
                          <a:solidFill>
                            <a:srgbClr val="000000"/>
                          </a:solidFill>
                          <a:latin typeface="Calibri"/>
                        </a:rPr>
                        <a:t>Table 48: Global Market Average Selling Price by Active Ingredient, US$/MT, 2021–2036</a:t>
                      </a:r>
                      <a:endParaRPr sz="1050"/>
                    </a:p>
                  </a:txBody>
                  <a:tcPr marL="9525" marR="9525" marT="9525" marB="0" anchor="ctr"/>
                </a:tc>
              </a:tr>
              <a:tr h="169826">
                <a:tc>
                  <a:txBody>
                    <a:bodyPr wrap="square"/>
                    <a:lstStyle/>
                    <a:p>
                      <a:pPr algn="l"/>
                      <a:r>
                        <a:rPr sz="1050" b="0" i="0">
                          <a:solidFill>
                            <a:srgbClr val="000000"/>
                          </a:solidFill>
                          <a:latin typeface="Calibri"/>
                        </a:rPr>
                        <a:t>Table 49: Global Market Average Selling Price by End-use Application, US$/MT, 2021–2036</a:t>
                      </a:r>
                      <a:endParaRPr sz="1050"/>
                    </a:p>
                  </a:txBody>
                  <a:tcPr marL="9525" marR="9525" marT="9525" marB="0" anchor="ctr"/>
                </a:tc>
              </a:tr>
              <a:tr h="169826">
                <a:tc>
                  <a:txBody>
                    <a:bodyPr wrap="square"/>
                    <a:lstStyle/>
                    <a:p>
                      <a:pPr algn="l"/>
                      <a:r>
                        <a:rPr sz="1050" b="0" i="0">
                          <a:solidFill>
                            <a:srgbClr val="000000"/>
                          </a:solidFill>
                          <a:latin typeface="Calibri"/>
                        </a:rPr>
                        <a:t>Table 50: Global Market Average Selling Price by Packaging Format, US$/MT, 2021–2036</a:t>
                      </a:r>
                      <a:endParaRPr sz="1050"/>
                    </a:p>
                  </a:txBody>
                  <a:tcPr marL="9525" marR="9525" marT="9525" marB="0" anchor="ctr"/>
                </a:tc>
              </a:tr>
              <a:tr h="169826">
                <a:tc>
                  <a:txBody>
                    <a:bodyPr wrap="square"/>
                    <a:lstStyle/>
                    <a:p>
                      <a:pPr algn="l"/>
                      <a:r>
                        <a:rPr sz="1050" b="0" i="0">
                          <a:solidFill>
                            <a:srgbClr val="000000"/>
                          </a:solidFill>
                          <a:latin typeface="Calibri"/>
                        </a:rPr>
                        <a:t>Table 51: Global Market Average Selling Price by Sales Channel, US$/MT, 2021–2036</a:t>
                      </a:r>
                      <a:endParaRPr sz="1050"/>
                    </a:p>
                  </a:txBody>
                  <a:tcPr marL="9525" marR="9525" marT="9525" marB="0" anchor="ctr"/>
                </a:tc>
              </a:tr>
              <a:tr h="169826">
                <a:tc>
                  <a:txBody>
                    <a:bodyPr wrap="square"/>
                    <a:lstStyle/>
                    <a:p>
                      <a:pPr algn="l"/>
                      <a:r>
                        <a:rPr sz="1050" b="0" i="0">
                          <a:solidFill>
                            <a:srgbClr val="000000"/>
                          </a:solidFill>
                          <a:latin typeface="Calibri"/>
                        </a:rPr>
                        <a:t>Table 52: Global Market Attractiveness Index by Form Type, 2026–2036</a:t>
                      </a:r>
                      <a:endParaRPr sz="1050"/>
                    </a:p>
                  </a:txBody>
                  <a:tcPr marL="9525" marR="9525" marT="9525" marB="0" anchor="ctr"/>
                </a:tc>
              </a:tr>
              <a:tr h="169826">
                <a:tc>
                  <a:txBody>
                    <a:bodyPr wrap="square"/>
                    <a:lstStyle/>
                    <a:p>
                      <a:pPr algn="l"/>
                      <a:r>
                        <a:rPr sz="1050" b="0" i="0">
                          <a:solidFill>
                            <a:srgbClr val="000000"/>
                          </a:solidFill>
                          <a:latin typeface="Calibri"/>
                        </a:rPr>
                        <a:t>Table 53: Global Market Attractiveness Index by Active Ingredient, 2026–2036</a:t>
                      </a:r>
                      <a:endParaRPr sz="1050"/>
                    </a:p>
                  </a:txBody>
                  <a:tcPr marL="9525" marR="9525" marT="9525" marB="0" anchor="ctr"/>
                </a:tc>
              </a:tr>
              <a:tr h="169826">
                <a:tc>
                  <a:txBody>
                    <a:bodyPr wrap="square"/>
                    <a:lstStyle/>
                    <a:p>
                      <a:pPr algn="l"/>
                      <a:r>
                        <a:rPr sz="1050" b="0" i="0">
                          <a:solidFill>
                            <a:srgbClr val="000000"/>
                          </a:solidFill>
                          <a:latin typeface="Calibri"/>
                        </a:rPr>
                        <a:t>Table 54: Global Market Attractiveness Index by End-use Application, 2026–2036</a:t>
                      </a:r>
                      <a:endParaRPr sz="1050"/>
                    </a:p>
                  </a:txBody>
                  <a:tcPr marL="9525" marR="9525" marT="9525" marB="0" anchor="ctr"/>
                </a:tc>
              </a:tr>
              <a:tr h="169826">
                <a:tc>
                  <a:txBody>
                    <a:bodyPr wrap="square"/>
                    <a:lstStyle/>
                    <a:p>
                      <a:pPr algn="l"/>
                      <a:r>
                        <a:rPr sz="1050" b="0" i="0">
                          <a:solidFill>
                            <a:srgbClr val="000000"/>
                          </a:solidFill>
                          <a:latin typeface="Calibri"/>
                        </a:rPr>
                        <a:t>Table 55: Global Market Attractiveness Index by Packaging Format, 2026–2036</a:t>
                      </a:r>
                      <a:endParaRPr sz="1050"/>
                    </a:p>
                  </a:txBody>
                  <a:tcPr marL="9525" marR="9525" marT="9525" marB="0" anchor="ctr"/>
                </a:tc>
              </a:tr>
              <a:tr h="169826">
                <a:tc>
                  <a:txBody>
                    <a:bodyPr wrap="square"/>
                    <a:lstStyle/>
                    <a:p>
                      <a:pPr algn="l"/>
                      <a:r>
                        <a:rPr sz="1050" b="0" i="0">
                          <a:solidFill>
                            <a:srgbClr val="000000"/>
                          </a:solidFill>
                          <a:latin typeface="Calibri"/>
                        </a:rPr>
                        <a:t>Table 56: Global Market Attractiveness Index by Sales Channel, 2026–2036</a:t>
                      </a:r>
                      <a:endParaRPr sz="1050"/>
                    </a:p>
                  </a:txBody>
                  <a:tcPr marL="9525" marR="9525" marT="9525" marB="0" anchor="ctr"/>
                </a:tc>
              </a:tr>
              <a:tr h="169826">
                <a:tc>
                  <a:txBody>
                    <a:bodyPr wrap="square"/>
                    <a:lstStyle/>
                    <a:p>
                      <a:pPr algn="l"/>
                      <a:r>
                        <a:rPr sz="1050" b="0" i="0">
                          <a:solidFill>
                            <a:srgbClr val="000000"/>
                          </a:solidFill>
                          <a:latin typeface="Calibri"/>
                        </a:rPr>
                        <a:t>Table 57: Global Market Value of Chewables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58: Global Market Value of Omega-3 Fatty Acids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59: Global Market Value of Routine Cognitive Wellness by Region, US$ Mn, 2021–2036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(2/4)</a:t>
            </a:r>
          </a:p>
        </p:txBody>
      </p:sp>
      <p:graphicFrame>
        <p:nvGraphicFramePr>
          <p:cNvPr id="9" name="FMI Contents Table"/>
          <p:cNvGraphicFramePr>
            <a:graphicFrameLocks noGrp="1"/>
          </p:cNvGraphicFramePr>
          <p:nvPr/>
        </p:nvGraphicFramePr>
        <p:xfrm>
          <a:off x="142875" y="981075"/>
          <a:ext cx="5876925" cy="5257793"/>
        </p:xfrm>
        <a:graphic>
          <a:graphicData uri="http://schemas.openxmlformats.org/drawingml/2006/table">
            <a:tbl>
              <a:tblPr>
                <a:tableStyleId>{3B4B98B0-60AC-42C2-AFA5-B58CD77FA1E5}</a:tableStyleId>
              </a:tblPr>
              <a:tblGrid>
                <a:gridCol w="5876925"/>
              </a:tblGrid>
              <a:tr h="170045">
                <a:tc>
                  <a:txBody>
                    <a:bodyPr wrap="square"/>
                    <a:lstStyle/>
                    <a:p>
                      <a:pPr algn="l"/>
                      <a:r>
                        <a:rPr sz="1050" b="0" i="0">
                          <a:solidFill>
                            <a:srgbClr val="000000"/>
                          </a:solidFill>
                          <a:latin typeface="Calibri"/>
                        </a:rPr>
                        <a:t>Table 60: Global Market Value of Bottles by Region, US$ Mn, 2021–2036</a:t>
                      </a:r>
                      <a:endParaRPr sz="1050"/>
                    </a:p>
                  </a:txBody>
                  <a:tcPr marL="9525" marR="9525" marT="9525" marB="0" anchor="ctr"/>
                </a:tc>
              </a:tr>
              <a:tr h="170045">
                <a:tc>
                  <a:txBody>
                    <a:bodyPr wrap="square"/>
                    <a:lstStyle/>
                    <a:p>
                      <a:pPr algn="l"/>
                      <a:r>
                        <a:rPr sz="1050" b="0" i="0">
                          <a:solidFill>
                            <a:srgbClr val="000000"/>
                          </a:solidFill>
                          <a:latin typeface="Calibri"/>
                        </a:rPr>
                        <a:t>Table 61: Global Market Value of Veterinary Channels by Region, US$ Mn, 2021–2036</a:t>
                      </a:r>
                      <a:endParaRPr sz="1050"/>
                    </a:p>
                  </a:txBody>
                  <a:tcPr marL="9525" marR="9525" marT="9525" marB="0" anchor="ctr"/>
                </a:tc>
              </a:tr>
              <a:tr h="170045">
                <a:tc>
                  <a:txBody>
                    <a:bodyPr wrap="square"/>
                    <a:lstStyle/>
                    <a:p>
                      <a:pPr algn="l"/>
                      <a:r>
                        <a:rPr sz="1050" b="0" i="0">
                          <a:solidFill>
                            <a:srgbClr val="000000"/>
                          </a:solidFill>
                          <a:latin typeface="Calibri"/>
                        </a:rPr>
                        <a:t>Table 62: Global Market Value of Tablets by Region, US$ Mn, 2021–2036</a:t>
                      </a:r>
                      <a:endParaRPr sz="1050"/>
                    </a:p>
                  </a:txBody>
                  <a:tcPr marL="9525" marR="9525" marT="9525" marB="0" anchor="ctr"/>
                </a:tc>
              </a:tr>
              <a:tr h="170045">
                <a:tc>
                  <a:txBody>
                    <a:bodyPr wrap="square"/>
                    <a:lstStyle/>
                    <a:p>
                      <a:pPr algn="l"/>
                      <a:r>
                        <a:rPr sz="1050" b="0" i="0">
                          <a:solidFill>
                            <a:srgbClr val="000000"/>
                          </a:solidFill>
                          <a:latin typeface="Calibri"/>
                        </a:rPr>
                        <a:t>Table 63: Global Market Value of Antioxidant Ingredients by Region, US$ Mn, 2021–2036</a:t>
                      </a:r>
                      <a:endParaRPr sz="1050"/>
                    </a:p>
                  </a:txBody>
                  <a:tcPr marL="9525" marR="9525" marT="9525" marB="0" anchor="ctr"/>
                </a:tc>
              </a:tr>
              <a:tr h="333289">
                <a:tc>
                  <a:txBody>
                    <a:bodyPr wrap="square"/>
                    <a:lstStyle/>
                    <a:p>
                      <a:pPr algn="l"/>
                      <a:r>
                        <a:rPr sz="1050" b="0" i="0">
                          <a:solidFill>
                            <a:srgbClr val="000000"/>
                          </a:solidFill>
                          <a:latin typeface="Calibri"/>
                        </a:rPr>
                        <a:t>Table 64: Global Market Value of Preventive Cognitive Support for Senior Dogs by Region, US$ Mn, 2021–2036</a:t>
                      </a:r>
                      <a:endParaRPr sz="1050"/>
                    </a:p>
                  </a:txBody>
                  <a:tcPr marL="9525" marR="9525" marT="9525" marB="0" anchor="ctr"/>
                </a:tc>
              </a:tr>
              <a:tr h="170045">
                <a:tc>
                  <a:txBody>
                    <a:bodyPr wrap="square"/>
                    <a:lstStyle/>
                    <a:p>
                      <a:pPr algn="l"/>
                      <a:r>
                        <a:rPr sz="1050" b="0" i="0">
                          <a:solidFill>
                            <a:srgbClr val="000000"/>
                          </a:solidFill>
                          <a:latin typeface="Calibri"/>
                        </a:rPr>
                        <a:t>Table 65: Global Market Value of Jars and Tubs by Region, US$ Mn, 2021–2036</a:t>
                      </a:r>
                      <a:endParaRPr sz="1050"/>
                    </a:p>
                  </a:txBody>
                  <a:tcPr marL="9525" marR="9525" marT="9525" marB="0" anchor="ctr"/>
                </a:tc>
              </a:tr>
              <a:tr h="170045">
                <a:tc>
                  <a:txBody>
                    <a:bodyPr wrap="square"/>
                    <a:lstStyle/>
                    <a:p>
                      <a:pPr algn="l"/>
                      <a:r>
                        <a:rPr sz="1050" b="0" i="0">
                          <a:solidFill>
                            <a:srgbClr val="000000"/>
                          </a:solidFill>
                          <a:latin typeface="Calibri"/>
                        </a:rPr>
                        <a:t>Table 66: Global Market Value of Specialist Pet Retail by Region, US$ Mn, 2021–2036</a:t>
                      </a:r>
                      <a:endParaRPr sz="1050"/>
                    </a:p>
                  </a:txBody>
                  <a:tcPr marL="9525" marR="9525" marT="9525" marB="0" anchor="ctr"/>
                </a:tc>
              </a:tr>
              <a:tr h="170045">
                <a:tc>
                  <a:txBody>
                    <a:bodyPr wrap="square"/>
                    <a:lstStyle/>
                    <a:p>
                      <a:pPr algn="l"/>
                      <a:r>
                        <a:rPr sz="1050" b="0" i="0">
                          <a:solidFill>
                            <a:srgbClr val="000000"/>
                          </a:solidFill>
                          <a:latin typeface="Calibri"/>
                        </a:rPr>
                        <a:t>Table 67: Global Market Value of Capsules and Softgels by Region, US$ Mn, 2021–2036</a:t>
                      </a:r>
                      <a:endParaRPr sz="1050"/>
                    </a:p>
                  </a:txBody>
                  <a:tcPr marL="9525" marR="9525" marT="9525" marB="0" anchor="ctr"/>
                </a:tc>
              </a:tr>
              <a:tr h="170045">
                <a:tc>
                  <a:txBody>
                    <a:bodyPr wrap="square"/>
                    <a:lstStyle/>
                    <a:p>
                      <a:pPr algn="l"/>
                      <a:r>
                        <a:rPr sz="1050" b="0" i="0">
                          <a:solidFill>
                            <a:srgbClr val="000000"/>
                          </a:solidFill>
                          <a:latin typeface="Calibri"/>
                        </a:rPr>
                        <a:t>Table 68: Global Market Value of Neurofunctional Nutrients by Region, US$ Mn, 2021–2036</a:t>
                      </a:r>
                      <a:endParaRPr sz="1050"/>
                    </a:p>
                  </a:txBody>
                  <a:tcPr marL="9525" marR="9525" marT="9525" marB="0" anchor="ctr"/>
                </a:tc>
              </a:tr>
              <a:tr h="333289">
                <a:tc>
                  <a:txBody>
                    <a:bodyPr wrap="square"/>
                    <a:lstStyle/>
                    <a:p>
                      <a:pPr algn="l"/>
                      <a:r>
                        <a:rPr sz="1050" b="0" i="0">
                          <a:solidFill>
                            <a:srgbClr val="000000"/>
                          </a:solidFill>
                          <a:latin typeface="Calibri"/>
                        </a:rPr>
                        <a:t>Table 69: Global Market Value of Support for Observable Age-Related Cognitive Changes by Region, US$ Mn, 2021–2036</a:t>
                      </a:r>
                      <a:endParaRPr sz="1050"/>
                    </a:p>
                  </a:txBody>
                  <a:tcPr marL="9525" marR="9525" marT="9525" marB="0" anchor="ctr"/>
                </a:tc>
              </a:tr>
              <a:tr h="170045">
                <a:tc>
                  <a:txBody>
                    <a:bodyPr wrap="square"/>
                    <a:lstStyle/>
                    <a:p>
                      <a:pPr algn="l"/>
                      <a:r>
                        <a:rPr sz="1050" b="0" i="0">
                          <a:solidFill>
                            <a:srgbClr val="000000"/>
                          </a:solidFill>
                          <a:latin typeface="Calibri"/>
                        </a:rPr>
                        <a:t>Table 70: Global Market Value of Pouches by Region, US$ Mn, 2021–2036</a:t>
                      </a:r>
                      <a:endParaRPr sz="1050"/>
                    </a:p>
                  </a:txBody>
                  <a:tcPr marL="9525" marR="9525" marT="9525" marB="0" anchor="ctr"/>
                </a:tc>
              </a:tr>
              <a:tr h="170045">
                <a:tc>
                  <a:txBody>
                    <a:bodyPr wrap="square"/>
                    <a:lstStyle/>
                    <a:p>
                      <a:pPr algn="l"/>
                      <a:r>
                        <a:rPr sz="1050" b="0" i="0">
                          <a:solidFill>
                            <a:srgbClr val="000000"/>
                          </a:solidFill>
                          <a:latin typeface="Calibri"/>
                        </a:rPr>
                        <a:t>Table 71: Global Market Value of General Retail by Region, US$ Mn, 2021–2036</a:t>
                      </a:r>
                      <a:endParaRPr sz="1050"/>
                    </a:p>
                  </a:txBody>
                  <a:tcPr marL="9525" marR="9525" marT="9525" marB="0" anchor="ctr"/>
                </a:tc>
              </a:tr>
              <a:tr h="170045">
                <a:tc>
                  <a:txBody>
                    <a:bodyPr wrap="square"/>
                    <a:lstStyle/>
                    <a:p>
                      <a:pPr algn="l"/>
                      <a:r>
                        <a:rPr sz="1050" b="0" i="0">
                          <a:solidFill>
                            <a:srgbClr val="000000"/>
                          </a:solidFill>
                          <a:latin typeface="Calibri"/>
                        </a:rPr>
                        <a:t>Table 72: Global Market Value of Powders and Granules by Region, US$ Mn, 2021–2036</a:t>
                      </a:r>
                      <a:endParaRPr sz="1050"/>
                    </a:p>
                  </a:txBody>
                  <a:tcPr marL="9525" marR="9525" marT="9525" marB="0" anchor="ctr"/>
                </a:tc>
              </a:tr>
              <a:tr h="170045">
                <a:tc>
                  <a:txBody>
                    <a:bodyPr wrap="square"/>
                    <a:lstStyle/>
                    <a:p>
                      <a:pPr algn="l"/>
                      <a:r>
                        <a:rPr sz="1050" b="0" i="0">
                          <a:solidFill>
                            <a:srgbClr val="000000"/>
                          </a:solidFill>
                          <a:latin typeface="Calibri"/>
                        </a:rPr>
                        <a:t>Table 73: Global Market Value by Form Type and Active Ingredient, US$ Mn, 2026–2036</a:t>
                      </a:r>
                      <a:endParaRPr sz="1050"/>
                    </a:p>
                  </a:txBody>
                  <a:tcPr marL="9525" marR="9525" marT="9525" marB="0" anchor="ctr"/>
                </a:tc>
              </a:tr>
              <a:tr h="170045">
                <a:tc>
                  <a:txBody>
                    <a:bodyPr wrap="square"/>
                    <a:lstStyle/>
                    <a:p>
                      <a:pPr algn="l"/>
                      <a:r>
                        <a:rPr sz="1050" b="0" i="0">
                          <a:solidFill>
                            <a:srgbClr val="000000"/>
                          </a:solidFill>
                          <a:latin typeface="Calibri"/>
                        </a:rPr>
                        <a:t>Table 74: Global Market Value by Form Type and End-use Application, US$ Mn, 2026–2036</a:t>
                      </a:r>
                      <a:endParaRPr sz="1050"/>
                    </a:p>
                  </a:txBody>
                  <a:tcPr marL="9525" marR="9525" marT="9525" marB="0" anchor="ctr"/>
                </a:tc>
              </a:tr>
              <a:tr h="170045">
                <a:tc>
                  <a:txBody>
                    <a:bodyPr wrap="square"/>
                    <a:lstStyle/>
                    <a:p>
                      <a:pPr algn="l"/>
                      <a:r>
                        <a:rPr sz="1050" b="0" i="0">
                          <a:solidFill>
                            <a:srgbClr val="000000"/>
                          </a:solidFill>
                          <a:latin typeface="Calibri"/>
                        </a:rPr>
                        <a:t>Table 75: Global Market Value by Form Type and Packaging Format, US$ Mn, 2026–2036</a:t>
                      </a:r>
                      <a:endParaRPr sz="1050"/>
                    </a:p>
                  </a:txBody>
                  <a:tcPr marL="9525" marR="9525" marT="9525" marB="0" anchor="ctr"/>
                </a:tc>
              </a:tr>
              <a:tr h="170045">
                <a:tc>
                  <a:txBody>
                    <a:bodyPr wrap="square"/>
                    <a:lstStyle/>
                    <a:p>
                      <a:pPr algn="l"/>
                      <a:r>
                        <a:rPr sz="1050" b="0" i="0">
                          <a:solidFill>
                            <a:srgbClr val="000000"/>
                          </a:solidFill>
                          <a:latin typeface="Calibri"/>
                        </a:rPr>
                        <a:t>Table 76: Global Market Value by Form Type and Sales Channel, US$ Mn, 2026–2036</a:t>
                      </a:r>
                      <a:endParaRPr sz="1050"/>
                    </a:p>
                  </a:txBody>
                  <a:tcPr marL="9525" marR="9525" marT="9525" marB="0" anchor="ctr"/>
                </a:tc>
              </a:tr>
              <a:tr h="170045">
                <a:tc>
                  <a:txBody>
                    <a:bodyPr wrap="square"/>
                    <a:lstStyle/>
                    <a:p>
                      <a:pPr algn="l"/>
                      <a:r>
                        <a:rPr sz="1050" b="0" i="0">
                          <a:solidFill>
                            <a:srgbClr val="000000"/>
                          </a:solidFill>
                          <a:latin typeface="Calibri"/>
                        </a:rPr>
                        <a:t>Table 77: Global Market Value by Active Ingredient and End-use Application, US$ Mn, 2026–2036</a:t>
                      </a:r>
                      <a:endParaRPr sz="1050"/>
                    </a:p>
                  </a:txBody>
                  <a:tcPr marL="9525" marR="9525" marT="9525" marB="0" anchor="ctr"/>
                </a:tc>
              </a:tr>
              <a:tr h="170045">
                <a:tc>
                  <a:txBody>
                    <a:bodyPr wrap="square"/>
                    <a:lstStyle/>
                    <a:p>
                      <a:pPr algn="l"/>
                      <a:r>
                        <a:rPr sz="1050" b="0" i="0">
                          <a:solidFill>
                            <a:srgbClr val="000000"/>
                          </a:solidFill>
                          <a:latin typeface="Calibri"/>
                        </a:rPr>
                        <a:t>Table 78: Global Market Value by Active Ingredient and Packaging Format, US$ Mn, 2026–2036</a:t>
                      </a:r>
                      <a:endParaRPr sz="1050"/>
                    </a:p>
                  </a:txBody>
                  <a:tcPr marL="9525" marR="9525" marT="9525" marB="0" anchor="ctr"/>
                </a:tc>
              </a:tr>
              <a:tr h="170045">
                <a:tc>
                  <a:txBody>
                    <a:bodyPr wrap="square"/>
                    <a:lstStyle/>
                    <a:p>
                      <a:pPr algn="l"/>
                      <a:r>
                        <a:rPr sz="1050" b="0" i="0">
                          <a:solidFill>
                            <a:srgbClr val="000000"/>
                          </a:solidFill>
                          <a:latin typeface="Calibri"/>
                        </a:rPr>
                        <a:t>Table 79: Global Market Value by Active Ingredient and Sales Channel, US$ Mn, 2026–2036</a:t>
                      </a:r>
                      <a:endParaRPr sz="1050"/>
                    </a:p>
                  </a:txBody>
                  <a:tcPr marL="9525" marR="9525" marT="9525" marB="0" anchor="ctr"/>
                </a:tc>
              </a:tr>
              <a:tr h="170045">
                <a:tc>
                  <a:txBody>
                    <a:bodyPr wrap="square"/>
                    <a:lstStyle/>
                    <a:p>
                      <a:pPr algn="l"/>
                      <a:r>
                        <a:rPr sz="1050" b="0" i="0">
                          <a:solidFill>
                            <a:srgbClr val="000000"/>
                          </a:solidFill>
                          <a:latin typeface="Calibri"/>
                        </a:rPr>
                        <a:t>Table 80: Global Market Value by End-use Application and Packaging Format, US$ Mn, 2026–2036</a:t>
                      </a:r>
                      <a:endParaRPr sz="1050"/>
                    </a:p>
                  </a:txBody>
                  <a:tcPr marL="9525" marR="9525" marT="9525" marB="0" anchor="ctr"/>
                </a:tc>
              </a:tr>
              <a:tr h="170045">
                <a:tc>
                  <a:txBody>
                    <a:bodyPr wrap="square"/>
                    <a:lstStyle/>
                    <a:p>
                      <a:pPr algn="l"/>
                      <a:r>
                        <a:rPr sz="1050" b="0" i="0">
                          <a:solidFill>
                            <a:srgbClr val="000000"/>
                          </a:solidFill>
                          <a:latin typeface="Calibri"/>
                        </a:rPr>
                        <a:t>Table 81: Global Market Value by End-use Application and Sales Channel, US$ Mn, 2026–2036</a:t>
                      </a:r>
                      <a:endParaRPr sz="1050"/>
                    </a:p>
                  </a:txBody>
                  <a:tcPr marL="9525" marR="9525" marT="9525" marB="0" anchor="ctr"/>
                </a:tc>
              </a:tr>
              <a:tr h="170045">
                <a:tc>
                  <a:txBody>
                    <a:bodyPr wrap="square"/>
                    <a:lstStyle/>
                    <a:p>
                      <a:pPr algn="l"/>
                      <a:r>
                        <a:rPr sz="1050" b="0" i="0">
                          <a:solidFill>
                            <a:srgbClr val="000000"/>
                          </a:solidFill>
                          <a:latin typeface="Calibri"/>
                        </a:rPr>
                        <a:t>Table 82: Global Market Value by Packaging Format and Sales Channel, US$ Mn, 2026–2036</a:t>
                      </a:r>
                      <a:endParaRPr sz="1050"/>
                    </a:p>
                  </a:txBody>
                  <a:tcPr marL="9525" marR="9525" marT="9525" marB="0" anchor="ctr"/>
                </a:tc>
              </a:tr>
              <a:tr h="170045">
                <a:tc>
                  <a:txBody>
                    <a:bodyPr wrap="square"/>
                    <a:lstStyle/>
                    <a:p>
                      <a:pPr algn="l"/>
                      <a:r>
                        <a:rPr sz="1050" b="0" i="0">
                          <a:solidFill>
                            <a:srgbClr val="000000"/>
                          </a:solidFill>
                          <a:latin typeface="Calibri"/>
                        </a:rPr>
                        <a:t>Table 83: Global Market Value by Region and Form Type, US$ Mn, 2026–2036</a:t>
                      </a:r>
                      <a:endParaRPr sz="1050"/>
                    </a:p>
                  </a:txBody>
                  <a:tcPr marL="9525" marR="9525" marT="9525" marB="0" anchor="ctr"/>
                </a:tc>
              </a:tr>
              <a:tr h="170045">
                <a:tc>
                  <a:txBody>
                    <a:bodyPr wrap="square"/>
                    <a:lstStyle/>
                    <a:p>
                      <a:pPr algn="l"/>
                      <a:r>
                        <a:rPr sz="1050" b="0" i="0">
                          <a:solidFill>
                            <a:srgbClr val="000000"/>
                          </a:solidFill>
                          <a:latin typeface="Calibri"/>
                        </a:rPr>
                        <a:t>Table 84: Global Market Value by Region and Active Ingredient, US$ Mn, 2026–2036</a:t>
                      </a:r>
                      <a:endParaRPr sz="1050"/>
                    </a:p>
                  </a:txBody>
                  <a:tcPr marL="9525" marR="9525" marT="9525" marB="0" anchor="ctr"/>
                </a:tc>
              </a:tr>
              <a:tr h="170045">
                <a:tc>
                  <a:txBody>
                    <a:bodyPr wrap="square"/>
                    <a:lstStyle/>
                    <a:p>
                      <a:pPr algn="l"/>
                      <a:r>
                        <a:rPr sz="1050" b="0" i="0">
                          <a:solidFill>
                            <a:srgbClr val="000000"/>
                          </a:solidFill>
                          <a:latin typeface="Calibri"/>
                        </a:rPr>
                        <a:t>Table 85: Global Market Value by Region and End-use Application, US$ Mn, 2026–2036</a:t>
                      </a:r>
                      <a:endParaRPr sz="1050"/>
                    </a:p>
                  </a:txBody>
                  <a:tcPr marL="9525" marR="9525" marT="9525" marB="0" anchor="ctr"/>
                </a:tc>
              </a:tr>
              <a:tr h="170045">
                <a:tc>
                  <a:txBody>
                    <a:bodyPr wrap="square"/>
                    <a:lstStyle/>
                    <a:p>
                      <a:pPr algn="l"/>
                      <a:r>
                        <a:rPr sz="1050" b="0" i="0">
                          <a:solidFill>
                            <a:srgbClr val="000000"/>
                          </a:solidFill>
                          <a:latin typeface="Calibri"/>
                        </a:rPr>
                        <a:t>Table 86: Global Market Value by Region and Packaging Format, US$ Mn, 2026–2036</a:t>
                      </a:r>
                      <a:endParaRPr sz="1050"/>
                    </a:p>
                  </a:txBody>
                  <a:tcPr marL="9525" marR="9525" marT="9525" marB="0" anchor="ctr"/>
                </a:tc>
              </a:tr>
              <a:tr h="170045">
                <a:tc>
                  <a:txBody>
                    <a:bodyPr wrap="square"/>
                    <a:lstStyle/>
                    <a:p>
                      <a:pPr algn="l"/>
                      <a:r>
                        <a:rPr sz="1050" b="0" i="0">
                          <a:solidFill>
                            <a:srgbClr val="000000"/>
                          </a:solidFill>
                          <a:latin typeface="Calibri"/>
                        </a:rPr>
                        <a:t>Table 87: Global Market Value by Region and Sales Channel, US$ Mn, 2026–2036</a:t>
                      </a:r>
                      <a:endParaRPr sz="1050"/>
                    </a:p>
                  </a:txBody>
                  <a:tcPr marL="9525" marR="9525" marT="9525" marB="0" anchor="ctr"/>
                </a:tc>
              </a:tr>
              <a:tr h="170045">
                <a:tc>
                  <a:txBody>
                    <a:bodyPr wrap="square"/>
                    <a:lstStyle/>
                    <a:p>
                      <a:pPr algn="l"/>
                      <a:r>
                        <a:rPr sz="1050" b="0" i="0">
                          <a:solidFill>
                            <a:srgbClr val="000000"/>
                          </a:solidFill>
                          <a:latin typeface="Calibri"/>
                        </a:rPr>
                        <a:t>Table 88: Global Market CAGR by Form Type and Active Ingredient, %, 2026–2036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10"/>
        </p:xfrm>
        <a:graphic>
          <a:graphicData uri="http://schemas.openxmlformats.org/drawingml/2006/table">
            <a:tbl>
              <a:tblPr>
                <a:tableStyleId>{3B4B98B0-60AC-42C2-AFA5-B58CD77FA1E5}</a:tableStyleId>
              </a:tblPr>
              <a:tblGrid>
                <a:gridCol w="5876925"/>
              </a:tblGrid>
              <a:tr h="170266">
                <a:tc>
                  <a:txBody>
                    <a:bodyPr wrap="square"/>
                    <a:lstStyle/>
                    <a:p>
                      <a:pPr algn="l"/>
                      <a:r>
                        <a:rPr sz="1050" b="0" i="0">
                          <a:solidFill>
                            <a:srgbClr val="000000"/>
                          </a:solidFill>
                          <a:latin typeface="Calibri"/>
                        </a:rPr>
                        <a:t>Table 89: Global Market CAGR by Form Type and End-use Application, %, 2026–2036</a:t>
                      </a:r>
                      <a:endParaRPr sz="1050"/>
                    </a:p>
                  </a:txBody>
                  <a:tcPr marL="9525" marR="9525" marT="9525" marB="0" anchor="ctr"/>
                </a:tc>
              </a:tr>
              <a:tr h="170266">
                <a:tc>
                  <a:txBody>
                    <a:bodyPr wrap="square"/>
                    <a:lstStyle/>
                    <a:p>
                      <a:pPr algn="l"/>
                      <a:r>
                        <a:rPr sz="1050" b="0" i="0">
                          <a:solidFill>
                            <a:srgbClr val="000000"/>
                          </a:solidFill>
                          <a:latin typeface="Calibri"/>
                        </a:rPr>
                        <a:t>Table 90: Global Market CAGR by Form Type and Packaging Format, %, 2026–2036</a:t>
                      </a:r>
                      <a:endParaRPr sz="1050"/>
                    </a:p>
                  </a:txBody>
                  <a:tcPr marL="9525" marR="9525" marT="9525" marB="0" anchor="ctr"/>
                </a:tc>
              </a:tr>
              <a:tr h="170266">
                <a:tc>
                  <a:txBody>
                    <a:bodyPr wrap="square"/>
                    <a:lstStyle/>
                    <a:p>
                      <a:pPr algn="l"/>
                      <a:r>
                        <a:rPr sz="1050" b="0" i="0">
                          <a:solidFill>
                            <a:srgbClr val="000000"/>
                          </a:solidFill>
                          <a:latin typeface="Calibri"/>
                        </a:rPr>
                        <a:t>Table 91: Global Market CAGR by Form Type and Sales Channel, %, 2026–2036</a:t>
                      </a:r>
                      <a:endParaRPr sz="1050"/>
                    </a:p>
                  </a:txBody>
                  <a:tcPr marL="9525" marR="9525" marT="9525" marB="0" anchor="ctr"/>
                </a:tc>
              </a:tr>
              <a:tr h="170266">
                <a:tc>
                  <a:txBody>
                    <a:bodyPr wrap="square"/>
                    <a:lstStyle/>
                    <a:p>
                      <a:pPr algn="l"/>
                      <a:r>
                        <a:rPr sz="1050" b="0" i="0">
                          <a:solidFill>
                            <a:srgbClr val="000000"/>
                          </a:solidFill>
                          <a:latin typeface="Calibri"/>
                        </a:rPr>
                        <a:t>Table 92: Global Market CAGR by Active Ingredient and End-use Application, %, 2026–2036</a:t>
                      </a:r>
                      <a:endParaRPr sz="1050"/>
                    </a:p>
                  </a:txBody>
                  <a:tcPr marL="9525" marR="9525" marT="9525" marB="0" anchor="ctr"/>
                </a:tc>
              </a:tr>
              <a:tr h="170266">
                <a:tc>
                  <a:txBody>
                    <a:bodyPr wrap="square"/>
                    <a:lstStyle/>
                    <a:p>
                      <a:pPr algn="l"/>
                      <a:r>
                        <a:rPr sz="1050" b="0" i="0">
                          <a:solidFill>
                            <a:srgbClr val="000000"/>
                          </a:solidFill>
                          <a:latin typeface="Calibri"/>
                        </a:rPr>
                        <a:t>Table 93: Global Market CAGR by Active Ingredient and Packaging Format, %, 2026–2036</a:t>
                      </a:r>
                      <a:endParaRPr sz="1050"/>
                    </a:p>
                  </a:txBody>
                  <a:tcPr marL="9525" marR="9525" marT="9525" marB="0" anchor="ctr"/>
                </a:tc>
              </a:tr>
              <a:tr h="170266">
                <a:tc>
                  <a:txBody>
                    <a:bodyPr wrap="square"/>
                    <a:lstStyle/>
                    <a:p>
                      <a:pPr algn="l"/>
                      <a:r>
                        <a:rPr sz="1050" b="0" i="0">
                          <a:solidFill>
                            <a:srgbClr val="000000"/>
                          </a:solidFill>
                          <a:latin typeface="Calibri"/>
                        </a:rPr>
                        <a:t>Table 94: Global Market CAGR by Active Ingredient and Sales Channel, %, 2026–2036</a:t>
                      </a:r>
                      <a:endParaRPr sz="1050"/>
                    </a:p>
                  </a:txBody>
                  <a:tcPr marL="9525" marR="9525" marT="9525" marB="0" anchor="ctr"/>
                </a:tc>
              </a:tr>
              <a:tr h="170266">
                <a:tc>
                  <a:txBody>
                    <a:bodyPr wrap="square"/>
                    <a:lstStyle/>
                    <a:p>
                      <a:pPr algn="l"/>
                      <a:r>
                        <a:rPr sz="1050" b="0" i="0">
                          <a:solidFill>
                            <a:srgbClr val="000000"/>
                          </a:solidFill>
                          <a:latin typeface="Calibri"/>
                        </a:rPr>
                        <a:t>Table 95: Global Market CAGR by End-use Application and Packaging Format, %, 2026–2036</a:t>
                      </a:r>
                      <a:endParaRPr sz="1050"/>
                    </a:p>
                  </a:txBody>
                  <a:tcPr marL="9525" marR="9525" marT="9525" marB="0" anchor="ctr"/>
                </a:tc>
              </a:tr>
              <a:tr h="170266">
                <a:tc>
                  <a:txBody>
                    <a:bodyPr wrap="square"/>
                    <a:lstStyle/>
                    <a:p>
                      <a:pPr algn="l"/>
                      <a:r>
                        <a:rPr sz="1050" b="0" i="0">
                          <a:solidFill>
                            <a:srgbClr val="000000"/>
                          </a:solidFill>
                          <a:latin typeface="Calibri"/>
                        </a:rPr>
                        <a:t>Table 96: Global Market CAGR by End-use Application and Sales Channel, %, 2026–2036</a:t>
                      </a:r>
                      <a:endParaRPr sz="1050"/>
                    </a:p>
                  </a:txBody>
                  <a:tcPr marL="9525" marR="9525" marT="9525" marB="0" anchor="ctr"/>
                </a:tc>
              </a:tr>
              <a:tr h="170266">
                <a:tc>
                  <a:txBody>
                    <a:bodyPr wrap="square"/>
                    <a:lstStyle/>
                    <a:p>
                      <a:pPr algn="l"/>
                      <a:r>
                        <a:rPr sz="1050" b="0" i="0">
                          <a:solidFill>
                            <a:srgbClr val="000000"/>
                          </a:solidFill>
                          <a:latin typeface="Calibri"/>
                        </a:rPr>
                        <a:t>Table 97: Global Market CAGR by Packaging Format and Sales Channel, %, 2026–2036</a:t>
                      </a:r>
                      <a:endParaRPr sz="1050"/>
                    </a:p>
                  </a:txBody>
                  <a:tcPr marL="9525" marR="9525" marT="9525" marB="0" anchor="ctr"/>
                </a:tc>
              </a:tr>
              <a:tr h="170266">
                <a:tc>
                  <a:txBody>
                    <a:bodyPr wrap="square"/>
                    <a:lstStyle/>
                    <a:p>
                      <a:pPr algn="l"/>
                      <a:r>
                        <a:rPr sz="1050" b="0" i="0">
                          <a:solidFill>
                            <a:srgbClr val="000000"/>
                          </a:solidFill>
                          <a:latin typeface="Calibri"/>
                        </a:rPr>
                        <a:t>Table 98: Global Market Value by Region, US$ Mn, 2021–2036</a:t>
                      </a:r>
                      <a:endParaRPr sz="1050"/>
                    </a:p>
                  </a:txBody>
                  <a:tcPr marL="9525" marR="9525" marT="9525" marB="0" anchor="ctr"/>
                </a:tc>
              </a:tr>
              <a:tr h="170266">
                <a:tc>
                  <a:txBody>
                    <a:bodyPr wrap="square"/>
                    <a:lstStyle/>
                    <a:p>
                      <a:pPr algn="l"/>
                      <a:r>
                        <a:rPr sz="1050" b="0" i="0">
                          <a:solidFill>
                            <a:srgbClr val="000000"/>
                          </a:solidFill>
                          <a:latin typeface="Calibri"/>
                        </a:rPr>
                        <a:t>Table 99: Global Market CAGR and Absolute $ Opportunity by Region, %, US$ Mn, 2026–2036</a:t>
                      </a:r>
                      <a:endParaRPr sz="1050"/>
                    </a:p>
                  </a:txBody>
                  <a:tcPr marL="9525" marR="9525" marT="9525" marB="0" anchor="ctr"/>
                </a:tc>
              </a:tr>
              <a:tr h="170266">
                <a:tc>
                  <a:txBody>
                    <a:bodyPr wrap="square"/>
                    <a:lstStyle/>
                    <a:p>
                      <a:pPr algn="l"/>
                      <a:r>
                        <a:rPr sz="1050" b="0" i="0">
                          <a:solidFill>
                            <a:srgbClr val="000000"/>
                          </a:solidFill>
                          <a:latin typeface="Calibri"/>
                        </a:rPr>
                        <a:t>Table 100: Global Market Share and BPS Change by Region, %, 2026 and 2036</a:t>
                      </a:r>
                      <a:endParaRPr sz="1050"/>
                    </a:p>
                  </a:txBody>
                  <a:tcPr marL="9525" marR="9525" marT="9525" marB="0" anchor="ctr"/>
                </a:tc>
              </a:tr>
              <a:tr h="170266">
                <a:tc>
                  <a:txBody>
                    <a:bodyPr wrap="square"/>
                    <a:lstStyle/>
                    <a:p>
                      <a:pPr algn="l"/>
                      <a:r>
                        <a:rPr sz="1050" b="0" i="0">
                          <a:solidFill>
                            <a:srgbClr val="000000"/>
                          </a:solidFill>
                          <a:latin typeface="Calibri"/>
                        </a:rPr>
                        <a:t>Table 101: Global Market Volume by Region, MT, 2021–2036</a:t>
                      </a:r>
                      <a:endParaRPr sz="1050"/>
                    </a:p>
                  </a:txBody>
                  <a:tcPr marL="9525" marR="9525" marT="9525" marB="0" anchor="ctr"/>
                </a:tc>
              </a:tr>
              <a:tr h="170266">
                <a:tc>
                  <a:txBody>
                    <a:bodyPr wrap="square"/>
                    <a:lstStyle/>
                    <a:p>
                      <a:pPr algn="l"/>
                      <a:r>
                        <a:rPr sz="1050" b="0" i="0">
                          <a:solidFill>
                            <a:srgbClr val="000000"/>
                          </a:solidFill>
                          <a:latin typeface="Calibri"/>
                        </a:rPr>
                        <a:t>Table 102: North America Market Value by Country, US$ Mn, 2021–2036</a:t>
                      </a:r>
                      <a:endParaRPr sz="1050"/>
                    </a:p>
                  </a:txBody>
                  <a:tcPr marL="9525" marR="9525" marT="9525" marB="0" anchor="ctr"/>
                </a:tc>
              </a:tr>
              <a:tr h="170266">
                <a:tc>
                  <a:txBody>
                    <a:bodyPr wrap="square"/>
                    <a:lstStyle/>
                    <a:p>
                      <a:pPr algn="l"/>
                      <a:r>
                        <a:rPr sz="1050" b="0" i="0">
                          <a:solidFill>
                            <a:srgbClr val="000000"/>
                          </a:solidFill>
                          <a:latin typeface="Calibri"/>
                        </a:rPr>
                        <a:t>Table 103: Latin America Market Value by Country, US$ Mn, 2021–2036</a:t>
                      </a:r>
                      <a:endParaRPr sz="1050"/>
                    </a:p>
                  </a:txBody>
                  <a:tcPr marL="9525" marR="9525" marT="9525" marB="0" anchor="ctr"/>
                </a:tc>
              </a:tr>
              <a:tr h="170266">
                <a:tc>
                  <a:txBody>
                    <a:bodyPr wrap="square"/>
                    <a:lstStyle/>
                    <a:p>
                      <a:pPr algn="l"/>
                      <a:r>
                        <a:rPr sz="1050" b="0" i="0">
                          <a:solidFill>
                            <a:srgbClr val="000000"/>
                          </a:solidFill>
                          <a:latin typeface="Calibri"/>
                        </a:rPr>
                        <a:t>Table 104: Europe Market Value by Country, US$ Mn, 2021–2036</a:t>
                      </a:r>
                      <a:endParaRPr sz="1050"/>
                    </a:p>
                  </a:txBody>
                  <a:tcPr marL="9525" marR="9525" marT="9525" marB="0" anchor="ctr"/>
                </a:tc>
              </a:tr>
              <a:tr h="170266">
                <a:tc>
                  <a:txBody>
                    <a:bodyPr wrap="square"/>
                    <a:lstStyle/>
                    <a:p>
                      <a:pPr algn="l"/>
                      <a:r>
                        <a:rPr sz="1050" b="0" i="0">
                          <a:solidFill>
                            <a:srgbClr val="000000"/>
                          </a:solidFill>
                          <a:latin typeface="Calibri"/>
                        </a:rPr>
                        <a:t>Table 105: East Asia Market Value by Country, US$ Mn, 2021–2036</a:t>
                      </a:r>
                      <a:endParaRPr sz="1050"/>
                    </a:p>
                  </a:txBody>
                  <a:tcPr marL="9525" marR="9525" marT="9525" marB="0" anchor="ctr"/>
                </a:tc>
              </a:tr>
              <a:tr h="170266">
                <a:tc>
                  <a:txBody>
                    <a:bodyPr wrap="square"/>
                    <a:lstStyle/>
                    <a:p>
                      <a:pPr algn="l"/>
                      <a:r>
                        <a:rPr sz="1050" b="0" i="0">
                          <a:solidFill>
                            <a:srgbClr val="000000"/>
                          </a:solidFill>
                          <a:latin typeface="Calibri"/>
                        </a:rPr>
                        <a:t>Table 106: South Asia &amp; Pacific Market Value by Country, US$ Mn, 2021–2036</a:t>
                      </a:r>
                      <a:endParaRPr sz="1050"/>
                    </a:p>
                  </a:txBody>
                  <a:tcPr marL="9525" marR="9525" marT="9525" marB="0" anchor="ctr"/>
                </a:tc>
              </a:tr>
              <a:tr h="170266">
                <a:tc>
                  <a:txBody>
                    <a:bodyPr wrap="square"/>
                    <a:lstStyle/>
                    <a:p>
                      <a:pPr algn="l"/>
                      <a:r>
                        <a:rPr sz="1050" b="0" i="0">
                          <a:solidFill>
                            <a:srgbClr val="000000"/>
                          </a:solidFill>
                          <a:latin typeface="Calibri"/>
                        </a:rPr>
                        <a:t>Table 107: Middle East &amp; Africa Market Value by Country, US$ Mn, 2021–2036</a:t>
                      </a:r>
                      <a:endParaRPr sz="1050"/>
                    </a:p>
                  </a:txBody>
                  <a:tcPr marL="9525" marR="9525" marT="9525" marB="0" anchor="ctr"/>
                </a:tc>
              </a:tr>
              <a:tr h="333720">
                <a:tc>
                  <a:txBody>
                    <a:bodyPr wrap="square"/>
                    <a:lstStyle/>
                    <a:p>
                      <a:pPr algn="l"/>
                      <a:r>
                        <a:rPr sz="1050" b="0" i="0">
                          <a:solidFill>
                            <a:srgbClr val="000000"/>
                          </a:solidFill>
                          <a:latin typeface="Calibri"/>
                        </a:rPr>
                        <a:t>Table 108: North America Market CAGR and Absolute $ Opportunity by Country, %, US$ Mn, 2026–2036</a:t>
                      </a:r>
                      <a:endParaRPr sz="1050"/>
                    </a:p>
                  </a:txBody>
                  <a:tcPr marL="9525" marR="9525" marT="9525" marB="0" anchor="ctr"/>
                </a:tc>
              </a:tr>
              <a:tr h="170266">
                <a:tc>
                  <a:txBody>
                    <a:bodyPr wrap="square"/>
                    <a:lstStyle/>
                    <a:p>
                      <a:pPr algn="l"/>
                      <a:r>
                        <a:rPr sz="1050" b="0" i="0">
                          <a:solidFill>
                            <a:srgbClr val="000000"/>
                          </a:solidFill>
                          <a:latin typeface="Calibri"/>
                        </a:rPr>
                        <a:t>Table 109: Latin America Market CAGR and Absolute $ Opportunity by Country, %, US$ Mn, 2026–2036</a:t>
                      </a:r>
                      <a:endParaRPr sz="1050"/>
                    </a:p>
                  </a:txBody>
                  <a:tcPr marL="9525" marR="9525" marT="9525" marB="0" anchor="ctr"/>
                </a:tc>
              </a:tr>
              <a:tr h="170266">
                <a:tc>
                  <a:txBody>
                    <a:bodyPr wrap="square"/>
                    <a:lstStyle/>
                    <a:p>
                      <a:pPr algn="l"/>
                      <a:r>
                        <a:rPr sz="1050" b="0" i="0">
                          <a:solidFill>
                            <a:srgbClr val="000000"/>
                          </a:solidFill>
                          <a:latin typeface="Calibri"/>
                        </a:rPr>
                        <a:t>Table 110: Europe Market CAGR and Absolute $ Opportunity by Country, %, US$ Mn, 2026–2036</a:t>
                      </a:r>
                      <a:endParaRPr sz="1050"/>
                    </a:p>
                  </a:txBody>
                  <a:tcPr marL="9525" marR="9525" marT="9525" marB="0" anchor="ctr"/>
                </a:tc>
              </a:tr>
              <a:tr h="170266">
                <a:tc>
                  <a:txBody>
                    <a:bodyPr wrap="square"/>
                    <a:lstStyle/>
                    <a:p>
                      <a:pPr algn="l"/>
                      <a:r>
                        <a:rPr sz="1050" b="0" i="0">
                          <a:solidFill>
                            <a:srgbClr val="000000"/>
                          </a:solidFill>
                          <a:latin typeface="Calibri"/>
                        </a:rPr>
                        <a:t>Table 111: East Asia Market CAGR and Absolute $ Opportunity by Country, %, US$ Mn, 2026–2036</a:t>
                      </a:r>
                      <a:endParaRPr sz="1050"/>
                    </a:p>
                  </a:txBody>
                  <a:tcPr marL="9525" marR="9525" marT="9525" marB="0" anchor="ctr"/>
                </a:tc>
              </a:tr>
              <a:tr h="333720">
                <a:tc>
                  <a:txBody>
                    <a:bodyPr wrap="square"/>
                    <a:lstStyle/>
                    <a:p>
                      <a:pPr algn="l"/>
                      <a:r>
                        <a:rPr sz="1050" b="0" i="0">
                          <a:solidFill>
                            <a:srgbClr val="000000"/>
                          </a:solidFill>
                          <a:latin typeface="Calibri"/>
                        </a:rPr>
                        <a:t>Table 112: South Asia &amp; Pacific Market CAGR and Absolute $ Opportunity by Country, %, US$ Mn, 2026–2036</a:t>
                      </a:r>
                      <a:endParaRPr sz="1050"/>
                    </a:p>
                  </a:txBody>
                  <a:tcPr marL="9525" marR="9525" marT="9525" marB="0" anchor="ctr"/>
                </a:tc>
              </a:tr>
              <a:tr h="333720">
                <a:tc>
                  <a:txBody>
                    <a:bodyPr wrap="square"/>
                    <a:lstStyle/>
                    <a:p>
                      <a:pPr algn="l"/>
                      <a:r>
                        <a:rPr sz="1050" b="0" i="0">
                          <a:solidFill>
                            <a:srgbClr val="000000"/>
                          </a:solidFill>
                          <a:latin typeface="Calibri"/>
                        </a:rPr>
                        <a:t>Table 113: Middle East &amp; Africa Market CAGR and Absolute $ Opportunity by Country, %, US$ Mn, 2026–2036</a:t>
                      </a:r>
                      <a:endParaRPr sz="1050"/>
                    </a:p>
                  </a:txBody>
                  <a:tcPr marL="9525" marR="9525" marT="9525" marB="0" anchor="ctr"/>
                </a:tc>
              </a:tr>
              <a:tr h="170266">
                <a:tc>
                  <a:txBody>
                    <a:bodyPr wrap="square"/>
                    <a:lstStyle/>
                    <a:p>
                      <a:pPr algn="l"/>
                      <a:r>
                        <a:rPr sz="1050" b="0" i="0">
                          <a:solidFill>
                            <a:srgbClr val="000000"/>
                          </a:solidFill>
                          <a:latin typeface="Calibri"/>
                        </a:rPr>
                        <a:t>Table 114: North America Market Value by Form Type, US$ Mn, 2021–2036</a:t>
                      </a:r>
                      <a:endParaRPr sz="1050"/>
                    </a:p>
                  </a:txBody>
                  <a:tcPr marL="9525" marR="9525" marT="9525" marB="0" anchor="ctr"/>
                </a:tc>
              </a:tr>
              <a:tr h="170266">
                <a:tc>
                  <a:txBody>
                    <a:bodyPr wrap="square"/>
                    <a:lstStyle/>
                    <a:p>
                      <a:pPr algn="l"/>
                      <a:r>
                        <a:rPr sz="1050" b="0" i="0">
                          <a:solidFill>
                            <a:srgbClr val="000000"/>
                          </a:solidFill>
                          <a:latin typeface="Calibri"/>
                        </a:rPr>
                        <a:t>Table 115: Latin America Market Value by Form Type, US$ Mn, 2021–2036</a:t>
                      </a:r>
                      <a:endParaRPr sz="1050"/>
                    </a:p>
                  </a:txBody>
                  <a:tcPr marL="9525" marR="9525" marT="9525" marB="0" anchor="ctr"/>
                </a:tc>
              </a:tr>
              <a:tr h="170266">
                <a:tc>
                  <a:txBody>
                    <a:bodyPr wrap="square"/>
                    <a:lstStyle/>
                    <a:p>
                      <a:pPr algn="l"/>
                      <a:r>
                        <a:rPr sz="1050" b="0" i="0">
                          <a:solidFill>
                            <a:srgbClr val="000000"/>
                          </a:solidFill>
                          <a:latin typeface="Calibri"/>
                        </a:rPr>
                        <a:t>Table 116: Europe Market Value by Form Type, US$ Mn, 2021–2036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(3/4)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117: East Asia Market Value by Form Type, US$ Mn, 2021–2036</a:t>
                      </a:r>
                      <a:endParaRPr sz="1050"/>
                    </a:p>
                  </a:txBody>
                  <a:tcPr marL="9525" marR="9525" marT="9525" marB="0" anchor="ctr"/>
                </a:tc>
              </a:tr>
              <a:tr h="169606">
                <a:tc>
                  <a:txBody>
                    <a:bodyPr wrap="square"/>
                    <a:lstStyle/>
                    <a:p>
                      <a:pPr algn="l"/>
                      <a:r>
                        <a:rPr sz="1050" b="0" i="0">
                          <a:solidFill>
                            <a:srgbClr val="000000"/>
                          </a:solidFill>
                          <a:latin typeface="Calibri"/>
                        </a:rPr>
                        <a:t>Table 118: South Asia &amp; Pacific Market Value by Form Type, US$ Mn, 2021–2036</a:t>
                      </a:r>
                      <a:endParaRPr sz="1050"/>
                    </a:p>
                  </a:txBody>
                  <a:tcPr marL="9525" marR="9525" marT="9525" marB="0" anchor="ctr"/>
                </a:tc>
              </a:tr>
              <a:tr h="169606">
                <a:tc>
                  <a:txBody>
                    <a:bodyPr wrap="square"/>
                    <a:lstStyle/>
                    <a:p>
                      <a:pPr algn="l"/>
                      <a:r>
                        <a:rPr sz="1050" b="0" i="0">
                          <a:solidFill>
                            <a:srgbClr val="000000"/>
                          </a:solidFill>
                          <a:latin typeface="Calibri"/>
                        </a:rPr>
                        <a:t>Table 119: Middle East &amp; Africa Market Value by Form Type, US$ Mn, 2021–2036</a:t>
                      </a:r>
                      <a:endParaRPr sz="1050"/>
                    </a:p>
                  </a:txBody>
                  <a:tcPr marL="9525" marR="9525" marT="9525" marB="0" anchor="ctr"/>
                </a:tc>
              </a:tr>
              <a:tr h="169606">
                <a:tc>
                  <a:txBody>
                    <a:bodyPr wrap="square"/>
                    <a:lstStyle/>
                    <a:p>
                      <a:pPr algn="l"/>
                      <a:r>
                        <a:rPr sz="1050" b="0" i="0">
                          <a:solidFill>
                            <a:srgbClr val="000000"/>
                          </a:solidFill>
                          <a:latin typeface="Calibri"/>
                        </a:rPr>
                        <a:t>Table 120: North America Market Value by Active Ingredient, US$ Mn, 2021–2036</a:t>
                      </a:r>
                      <a:endParaRPr sz="1050"/>
                    </a:p>
                  </a:txBody>
                  <a:tcPr marL="9525" marR="9525" marT="9525" marB="0" anchor="ctr"/>
                </a:tc>
              </a:tr>
              <a:tr h="169606">
                <a:tc>
                  <a:txBody>
                    <a:bodyPr wrap="square"/>
                    <a:lstStyle/>
                    <a:p>
                      <a:pPr algn="l"/>
                      <a:r>
                        <a:rPr sz="1050" b="0" i="0">
                          <a:solidFill>
                            <a:srgbClr val="000000"/>
                          </a:solidFill>
                          <a:latin typeface="Calibri"/>
                        </a:rPr>
                        <a:t>Table 121: Latin America Market Value by Active Ingredient, US$ Mn, 2021–2036</a:t>
                      </a:r>
                      <a:endParaRPr sz="1050"/>
                    </a:p>
                  </a:txBody>
                  <a:tcPr marL="9525" marR="9525" marT="9525" marB="0" anchor="ctr"/>
                </a:tc>
              </a:tr>
              <a:tr h="169606">
                <a:tc>
                  <a:txBody>
                    <a:bodyPr wrap="square"/>
                    <a:lstStyle/>
                    <a:p>
                      <a:pPr algn="l"/>
                      <a:r>
                        <a:rPr sz="1050" b="0" i="0">
                          <a:solidFill>
                            <a:srgbClr val="000000"/>
                          </a:solidFill>
                          <a:latin typeface="Calibri"/>
                        </a:rPr>
                        <a:t>Table 122: Europe Market Value by Active Ingredient, US$ Mn, 2021–2036</a:t>
                      </a:r>
                      <a:endParaRPr sz="1050"/>
                    </a:p>
                  </a:txBody>
                  <a:tcPr marL="9525" marR="9525" marT="9525" marB="0" anchor="ctr"/>
                </a:tc>
              </a:tr>
              <a:tr h="169606">
                <a:tc>
                  <a:txBody>
                    <a:bodyPr wrap="square"/>
                    <a:lstStyle/>
                    <a:p>
                      <a:pPr algn="l"/>
                      <a:r>
                        <a:rPr sz="1050" b="0" i="0">
                          <a:solidFill>
                            <a:srgbClr val="000000"/>
                          </a:solidFill>
                          <a:latin typeface="Calibri"/>
                        </a:rPr>
                        <a:t>Table 123: East Asia Market Value by Active Ingredient, US$ Mn, 2021–2036</a:t>
                      </a:r>
                      <a:endParaRPr sz="1050"/>
                    </a:p>
                  </a:txBody>
                  <a:tcPr marL="9525" marR="9525" marT="9525" marB="0" anchor="ctr"/>
                </a:tc>
              </a:tr>
              <a:tr h="169606">
                <a:tc>
                  <a:txBody>
                    <a:bodyPr wrap="square"/>
                    <a:lstStyle/>
                    <a:p>
                      <a:pPr algn="l"/>
                      <a:r>
                        <a:rPr sz="1050" b="0" i="0">
                          <a:solidFill>
                            <a:srgbClr val="000000"/>
                          </a:solidFill>
                          <a:latin typeface="Calibri"/>
                        </a:rPr>
                        <a:t>Table 124: South Asia &amp; Pacific Market Value by Active Ingredient, US$ Mn, 2021–2036</a:t>
                      </a:r>
                      <a:endParaRPr sz="1050"/>
                    </a:p>
                  </a:txBody>
                  <a:tcPr marL="9525" marR="9525" marT="9525" marB="0" anchor="ctr"/>
                </a:tc>
              </a:tr>
              <a:tr h="169606">
                <a:tc>
                  <a:txBody>
                    <a:bodyPr wrap="square"/>
                    <a:lstStyle/>
                    <a:p>
                      <a:pPr algn="l"/>
                      <a:r>
                        <a:rPr sz="1050" b="0" i="0">
                          <a:solidFill>
                            <a:srgbClr val="000000"/>
                          </a:solidFill>
                          <a:latin typeface="Calibri"/>
                        </a:rPr>
                        <a:t>Table 125: U.S. Market Value by Form Type, US$ Mn, 2021–2036</a:t>
                      </a:r>
                      <a:endParaRPr sz="1050"/>
                    </a:p>
                  </a:txBody>
                  <a:tcPr marL="9525" marR="9525" marT="9525" marB="0" anchor="ctr"/>
                </a:tc>
              </a:tr>
              <a:tr h="169606">
                <a:tc>
                  <a:txBody>
                    <a:bodyPr wrap="square"/>
                    <a:lstStyle/>
                    <a:p>
                      <a:pPr algn="l"/>
                      <a:r>
                        <a:rPr sz="1050" b="0" i="0">
                          <a:solidFill>
                            <a:srgbClr val="000000"/>
                          </a:solidFill>
                          <a:latin typeface="Calibri"/>
                        </a:rPr>
                        <a:t>Table 126: U.S.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127: U.S. Market Value by End-use Application, US$ Mn, 2021–2036</a:t>
                      </a:r>
                      <a:endParaRPr sz="1050"/>
                    </a:p>
                  </a:txBody>
                  <a:tcPr marL="9525" marR="9525" marT="9525" marB="0" anchor="ctr"/>
                </a:tc>
              </a:tr>
              <a:tr h="169606">
                <a:tc>
                  <a:txBody>
                    <a:bodyPr wrap="square"/>
                    <a:lstStyle/>
                    <a:p>
                      <a:pPr algn="l"/>
                      <a:r>
                        <a:rPr sz="1050" b="0" i="0">
                          <a:solidFill>
                            <a:srgbClr val="000000"/>
                          </a:solidFill>
                          <a:latin typeface="Calibri"/>
                        </a:rPr>
                        <a:t>Table 128: U.S. Market Share within North America, %, 2025, 2026 and 2036</a:t>
                      </a:r>
                      <a:endParaRPr sz="1050"/>
                    </a:p>
                  </a:txBody>
                  <a:tcPr marL="9525" marR="9525" marT="9525" marB="0" anchor="ctr"/>
                </a:tc>
              </a:tr>
              <a:tr h="169606">
                <a:tc>
                  <a:txBody>
                    <a:bodyPr wrap="square"/>
                    <a:lstStyle/>
                    <a:p>
                      <a:pPr algn="l"/>
                      <a:r>
                        <a:rPr sz="1050" b="0" i="0">
                          <a:solidFill>
                            <a:srgbClr val="000000"/>
                          </a:solidFill>
                          <a:latin typeface="Calibri"/>
                        </a:rPr>
                        <a:t>Table 129: U.S. Market Value by Active Ingredient, US$ Mn, 2021–2036</a:t>
                      </a:r>
                      <a:endParaRPr sz="1050"/>
                    </a:p>
                  </a:txBody>
                  <a:tcPr marL="9525" marR="9525" marT="9525" marB="0" anchor="ctr"/>
                </a:tc>
              </a:tr>
              <a:tr h="169606">
                <a:tc>
                  <a:txBody>
                    <a:bodyPr wrap="square"/>
                    <a:lstStyle/>
                    <a:p>
                      <a:pPr algn="l"/>
                      <a:r>
                        <a:rPr sz="1050" b="0" i="0">
                          <a:solidFill>
                            <a:srgbClr val="000000"/>
                          </a:solidFill>
                          <a:latin typeface="Calibri"/>
                        </a:rPr>
                        <a:t>Table 130: U.S. Market Value by Packaging Format, US$ Mn, 2021–2036</a:t>
                      </a:r>
                      <a:endParaRPr sz="1050"/>
                    </a:p>
                  </a:txBody>
                  <a:tcPr marL="9525" marR="9525" marT="9525" marB="0" anchor="ctr"/>
                </a:tc>
              </a:tr>
              <a:tr h="169606">
                <a:tc>
                  <a:txBody>
                    <a:bodyPr wrap="square"/>
                    <a:lstStyle/>
                    <a:p>
                      <a:pPr algn="l"/>
                      <a:r>
                        <a:rPr sz="1050" b="0" i="0">
                          <a:solidFill>
                            <a:srgbClr val="000000"/>
                          </a:solidFill>
                          <a:latin typeface="Calibri"/>
                        </a:rPr>
                        <a:t>Table 131: U.S. Market Value by Sales Channel, US$ Mn, 2021–2036</a:t>
                      </a:r>
                      <a:endParaRPr sz="1050"/>
                    </a:p>
                  </a:txBody>
                  <a:tcPr marL="9525" marR="9525" marT="9525" marB="0" anchor="ctr"/>
                </a:tc>
              </a:tr>
              <a:tr h="169606">
                <a:tc>
                  <a:txBody>
                    <a:bodyPr wrap="square"/>
                    <a:lstStyle/>
                    <a:p>
                      <a:pPr algn="l"/>
                      <a:r>
                        <a:rPr sz="1050" b="0" i="0">
                          <a:solidFill>
                            <a:srgbClr val="000000"/>
                          </a:solidFill>
                          <a:latin typeface="Calibri"/>
                        </a:rPr>
                        <a:t>Table 132: U.S. Market Volume by Form Type, MT, 2021–2036</a:t>
                      </a:r>
                      <a:endParaRPr sz="1050"/>
                    </a:p>
                  </a:txBody>
                  <a:tcPr marL="9525" marR="9525" marT="9525" marB="0" anchor="ctr"/>
                </a:tc>
              </a:tr>
              <a:tr h="169606">
                <a:tc>
                  <a:txBody>
                    <a:bodyPr wrap="square"/>
                    <a:lstStyle/>
                    <a:p>
                      <a:pPr algn="l"/>
                      <a:r>
                        <a:rPr sz="1050" b="0" i="0">
                          <a:solidFill>
                            <a:srgbClr val="000000"/>
                          </a:solidFill>
                          <a:latin typeface="Calibri"/>
                        </a:rPr>
                        <a:t>Table 133: Germany Market Value by Form Type, US$ Mn, 2021–2036</a:t>
                      </a:r>
                      <a:endParaRPr sz="1050"/>
                    </a:p>
                  </a:txBody>
                  <a:tcPr marL="9525" marR="9525" marT="9525" marB="0" anchor="ctr"/>
                </a:tc>
              </a:tr>
              <a:tr h="169606">
                <a:tc>
                  <a:txBody>
                    <a:bodyPr wrap="square"/>
                    <a:lstStyle/>
                    <a:p>
                      <a:pPr algn="l"/>
                      <a:r>
                        <a:rPr sz="1050" b="0" i="0">
                          <a:solidFill>
                            <a:srgbClr val="000000"/>
                          </a:solidFill>
                          <a:latin typeface="Calibri"/>
                        </a:rPr>
                        <a:t>Table 134: Germany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135: Germany Market Value by End-use Application, US$ Mn, 2021–2036</a:t>
                      </a:r>
                      <a:endParaRPr sz="1050"/>
                    </a:p>
                  </a:txBody>
                  <a:tcPr marL="9525" marR="9525" marT="9525" marB="0" anchor="ctr"/>
                </a:tc>
              </a:tr>
              <a:tr h="169606">
                <a:tc>
                  <a:txBody>
                    <a:bodyPr wrap="square"/>
                    <a:lstStyle/>
                    <a:p>
                      <a:pPr algn="l"/>
                      <a:r>
                        <a:rPr sz="1050" b="0" i="0">
                          <a:solidFill>
                            <a:srgbClr val="000000"/>
                          </a:solidFill>
                          <a:latin typeface="Calibri"/>
                        </a:rPr>
                        <a:t>Table 136: Germany Market Share within Europe, %, 2025, 2026 and 2036</a:t>
                      </a:r>
                      <a:endParaRPr sz="1050"/>
                    </a:p>
                  </a:txBody>
                  <a:tcPr marL="9525" marR="9525" marT="9525" marB="0" anchor="ctr"/>
                </a:tc>
              </a:tr>
              <a:tr h="169606">
                <a:tc>
                  <a:txBody>
                    <a:bodyPr wrap="square"/>
                    <a:lstStyle/>
                    <a:p>
                      <a:pPr algn="l"/>
                      <a:r>
                        <a:rPr sz="1050" b="0" i="0">
                          <a:solidFill>
                            <a:srgbClr val="000000"/>
                          </a:solidFill>
                          <a:latin typeface="Calibri"/>
                        </a:rPr>
                        <a:t>Table 137: Germany Market Value by Active Ingredient, US$ Mn, 2021–2036</a:t>
                      </a:r>
                      <a:endParaRPr sz="1050"/>
                    </a:p>
                  </a:txBody>
                  <a:tcPr marL="9525" marR="9525" marT="9525" marB="0" anchor="ctr"/>
                </a:tc>
              </a:tr>
              <a:tr h="169606">
                <a:tc>
                  <a:txBody>
                    <a:bodyPr wrap="square"/>
                    <a:lstStyle/>
                    <a:p>
                      <a:pPr algn="l"/>
                      <a:r>
                        <a:rPr sz="1050" b="0" i="0">
                          <a:solidFill>
                            <a:srgbClr val="000000"/>
                          </a:solidFill>
                          <a:latin typeface="Calibri"/>
                        </a:rPr>
                        <a:t>Table 138: Germany Market Value by Packaging Format, US$ Mn, 2021–2036</a:t>
                      </a:r>
                      <a:endParaRPr sz="1050"/>
                    </a:p>
                  </a:txBody>
                  <a:tcPr marL="9525" marR="9525" marT="9525" marB="0" anchor="ctr"/>
                </a:tc>
              </a:tr>
              <a:tr h="169606">
                <a:tc>
                  <a:txBody>
                    <a:bodyPr wrap="square"/>
                    <a:lstStyle/>
                    <a:p>
                      <a:pPr algn="l"/>
                      <a:r>
                        <a:rPr sz="1050" b="0" i="0">
                          <a:solidFill>
                            <a:srgbClr val="000000"/>
                          </a:solidFill>
                          <a:latin typeface="Calibri"/>
                        </a:rPr>
                        <a:t>Table 139: Germany Market Value by Sales Channel, US$ Mn, 2021–2036</a:t>
                      </a:r>
                      <a:endParaRPr sz="1050"/>
                    </a:p>
                  </a:txBody>
                  <a:tcPr marL="9525" marR="9525" marT="9525" marB="0" anchor="ctr"/>
                </a:tc>
              </a:tr>
              <a:tr h="169606">
                <a:tc>
                  <a:txBody>
                    <a:bodyPr wrap="square"/>
                    <a:lstStyle/>
                    <a:p>
                      <a:pPr algn="l"/>
                      <a:r>
                        <a:rPr sz="1050" b="0" i="0">
                          <a:solidFill>
                            <a:srgbClr val="000000"/>
                          </a:solidFill>
                          <a:latin typeface="Calibri"/>
                        </a:rPr>
                        <a:t>Table 140: Germany Market Volume by Form Type, MT, 2021–2036</a:t>
                      </a:r>
                      <a:endParaRPr sz="1050"/>
                    </a:p>
                  </a:txBody>
                  <a:tcPr marL="9525" marR="9525" marT="9525" marB="0" anchor="ctr"/>
                </a:tc>
              </a:tr>
              <a:tr h="169606">
                <a:tc>
                  <a:txBody>
                    <a:bodyPr wrap="square"/>
                    <a:lstStyle/>
                    <a:p>
                      <a:pPr algn="l"/>
                      <a:r>
                        <a:rPr sz="1050" b="0" i="0">
                          <a:solidFill>
                            <a:srgbClr val="000000"/>
                          </a:solidFill>
                          <a:latin typeface="Calibri"/>
                        </a:rPr>
                        <a:t>Table 141: Canada Market Value by Form Type, US$ Mn, 2021–2036</a:t>
                      </a:r>
                      <a:endParaRPr sz="1050"/>
                    </a:p>
                  </a:txBody>
                  <a:tcPr marL="9525" marR="9525" marT="9525" marB="0" anchor="ctr"/>
                </a:tc>
              </a:tr>
              <a:tr h="169606">
                <a:tc>
                  <a:txBody>
                    <a:bodyPr wrap="square"/>
                    <a:lstStyle/>
                    <a:p>
                      <a:pPr algn="l"/>
                      <a:r>
                        <a:rPr sz="1050" b="0" i="0">
                          <a:solidFill>
                            <a:srgbClr val="000000"/>
                          </a:solidFill>
                          <a:latin typeface="Calibri"/>
                        </a:rPr>
                        <a:t>Table 142: Canada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143: Canada Market Value by End-use Application, US$ Mn, 2021–2036</a:t>
                      </a:r>
                      <a:endParaRPr sz="1050"/>
                    </a:p>
                  </a:txBody>
                  <a:tcPr marL="9525" marR="9525" marT="9525" marB="0" anchor="ctr"/>
                </a:tc>
              </a:tr>
              <a:tr h="169606">
                <a:tc>
                  <a:txBody>
                    <a:bodyPr wrap="square"/>
                    <a:lstStyle/>
                    <a:p>
                      <a:pPr algn="l"/>
                      <a:r>
                        <a:rPr sz="1050" b="0" i="0">
                          <a:solidFill>
                            <a:srgbClr val="000000"/>
                          </a:solidFill>
                          <a:latin typeface="Calibri"/>
                        </a:rPr>
                        <a:t>Table 144: Canada Market Share within North America, %, 2025, 2026 and 2036</a:t>
                      </a:r>
                      <a:endParaRPr sz="1050"/>
                    </a:p>
                  </a:txBody>
                  <a:tcPr marL="9525" marR="9525" marT="9525" marB="0" anchor="ctr"/>
                </a:tc>
              </a:tr>
              <a:tr h="169606">
                <a:tc>
                  <a:txBody>
                    <a:bodyPr wrap="square"/>
                    <a:lstStyle/>
                    <a:p>
                      <a:pPr algn="l"/>
                      <a:r>
                        <a:rPr sz="1050" b="0" i="0">
                          <a:solidFill>
                            <a:srgbClr val="000000"/>
                          </a:solidFill>
                          <a:latin typeface="Calibri"/>
                        </a:rPr>
                        <a:t>Table 145: Canada Market Value by Active Ingredient, US$ Mn, 2021–2036</a:t>
                      </a:r>
                      <a:endParaRPr sz="1050"/>
                    </a:p>
                  </a:txBody>
                  <a:tcPr marL="9525" marR="9525" marT="9525" marB="0" anchor="ctr"/>
                </a:tc>
              </a:tr>
              <a:tr h="169606">
                <a:tc>
                  <a:txBody>
                    <a:bodyPr wrap="square"/>
                    <a:lstStyle/>
                    <a:p>
                      <a:pPr algn="l"/>
                      <a:r>
                        <a:rPr sz="1050" b="0" i="0">
                          <a:solidFill>
                            <a:srgbClr val="000000"/>
                          </a:solidFill>
                          <a:latin typeface="Calibri"/>
                        </a:rPr>
                        <a:t>Table 146: Canada Market Value by Packaging Format, US$ Mn, 2021–2036</a:t>
                      </a:r>
                      <a:endParaRPr sz="1050"/>
                    </a:p>
                  </a:txBody>
                  <a:tcPr marL="9525" marR="9525" marT="9525" marB="0" anchor="ctr"/>
                </a:tc>
              </a:tr>
              <a:tr h="169606">
                <a:tc>
                  <a:txBody>
                    <a:bodyPr wrap="square"/>
                    <a:lstStyle/>
                    <a:p>
                      <a:pPr algn="l"/>
                      <a:r>
                        <a:rPr sz="1050" b="0" i="0">
                          <a:solidFill>
                            <a:srgbClr val="000000"/>
                          </a:solidFill>
                          <a:latin typeface="Calibri"/>
                        </a:rPr>
                        <a:t>Table 147: Canada Market Value by Sales Channel, US$ Mn, 2021–2036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050" b="0" i="0">
                          <a:solidFill>
                            <a:srgbClr val="000000"/>
                          </a:solidFill>
                          <a:latin typeface="Calibri"/>
                        </a:rPr>
                        <a:t>Table 148: Canada Market Volume by Form Type, MT, 2021–2036</a:t>
                      </a:r>
                      <a:endParaRPr sz="1050"/>
                    </a:p>
                  </a:txBody>
                  <a:tcPr marL="9525" marR="9525" marT="9525" marB="0" anchor="ctr"/>
                </a:tc>
              </a:tr>
              <a:tr h="175260">
                <a:tc>
                  <a:txBody>
                    <a:bodyPr wrap="square"/>
                    <a:lstStyle/>
                    <a:p>
                      <a:pPr algn="l"/>
                      <a:r>
                        <a:rPr sz="1050" b="0" i="0">
                          <a:solidFill>
                            <a:srgbClr val="000000"/>
                          </a:solidFill>
                          <a:latin typeface="Calibri"/>
                        </a:rPr>
                        <a:t>Table 149: China Market Value by Form Type, US$ Mn, 2021–2036</a:t>
                      </a:r>
                      <a:endParaRPr sz="1050"/>
                    </a:p>
                  </a:txBody>
                  <a:tcPr marL="9525" marR="9525" marT="9525" marB="0" anchor="ctr"/>
                </a:tc>
              </a:tr>
              <a:tr h="175260">
                <a:tc>
                  <a:txBody>
                    <a:bodyPr wrap="square"/>
                    <a:lstStyle/>
                    <a:p>
                      <a:pPr algn="l"/>
                      <a:r>
                        <a:rPr sz="1050" b="0" i="0">
                          <a:solidFill>
                            <a:srgbClr val="000000"/>
                          </a:solidFill>
                          <a:latin typeface="Calibri"/>
                        </a:rPr>
                        <a:t>Table 150: China Market Historical and Forecast Growth, %, 2021–2036</a:t>
                      </a:r>
                      <a:endParaRPr sz="1050"/>
                    </a:p>
                  </a:txBody>
                  <a:tcPr marL="9525" marR="9525" marT="9525" marB="0" anchor="ctr"/>
                </a:tc>
              </a:tr>
              <a:tr h="175260">
                <a:tc>
                  <a:txBody>
                    <a:bodyPr wrap="square"/>
                    <a:lstStyle/>
                    <a:p>
                      <a:pPr algn="l"/>
                      <a:r>
                        <a:rPr sz="1050" b="0" i="0">
                          <a:solidFill>
                            <a:srgbClr val="000000"/>
                          </a:solidFill>
                          <a:latin typeface="Calibri"/>
                        </a:rPr>
                        <a:t>Table 151: China Market Value by End-use Application, US$ Mn, 2021–2036</a:t>
                      </a:r>
                      <a:endParaRPr sz="1050"/>
                    </a:p>
                  </a:txBody>
                  <a:tcPr marL="9525" marR="9525" marT="9525" marB="0" anchor="ctr"/>
                </a:tc>
              </a:tr>
              <a:tr h="175260">
                <a:tc>
                  <a:txBody>
                    <a:bodyPr wrap="square"/>
                    <a:lstStyle/>
                    <a:p>
                      <a:pPr algn="l"/>
                      <a:r>
                        <a:rPr sz="1050" b="0" i="0">
                          <a:solidFill>
                            <a:srgbClr val="000000"/>
                          </a:solidFill>
                          <a:latin typeface="Calibri"/>
                        </a:rPr>
                        <a:t>Table 152: India Market Value by Form Type, US$ Mn, 2021–2036</a:t>
                      </a:r>
                      <a:endParaRPr sz="1050"/>
                    </a:p>
                  </a:txBody>
                  <a:tcPr marL="9525" marR="9525" marT="9525" marB="0" anchor="ctr"/>
                </a:tc>
              </a:tr>
              <a:tr h="175260">
                <a:tc>
                  <a:txBody>
                    <a:bodyPr wrap="square"/>
                    <a:lstStyle/>
                    <a:p>
                      <a:pPr algn="l"/>
                      <a:r>
                        <a:rPr sz="1050" b="0" i="0">
                          <a:solidFill>
                            <a:srgbClr val="000000"/>
                          </a:solidFill>
                          <a:latin typeface="Calibri"/>
                        </a:rPr>
                        <a:t>Table 153: India Market Historical and Forecast Growth, %, 2021–2036</a:t>
                      </a:r>
                      <a:endParaRPr sz="1050"/>
                    </a:p>
                  </a:txBody>
                  <a:tcPr marL="9525" marR="9525" marT="9525" marB="0" anchor="ctr"/>
                </a:tc>
              </a:tr>
              <a:tr h="175260">
                <a:tc>
                  <a:txBody>
                    <a:bodyPr wrap="square"/>
                    <a:lstStyle/>
                    <a:p>
                      <a:pPr algn="l"/>
                      <a:r>
                        <a:rPr sz="1050" b="0" i="0">
                          <a:solidFill>
                            <a:srgbClr val="000000"/>
                          </a:solidFill>
                          <a:latin typeface="Calibri"/>
                        </a:rPr>
                        <a:t>Table 154: Brazil Market Value by Form Type, US$ Mn, 2021–2036</a:t>
                      </a:r>
                      <a:endParaRPr sz="1050"/>
                    </a:p>
                  </a:txBody>
                  <a:tcPr marL="9525" marR="9525" marT="9525" marB="0" anchor="ctr"/>
                </a:tc>
              </a:tr>
              <a:tr h="175260">
                <a:tc>
                  <a:txBody>
                    <a:bodyPr wrap="square"/>
                    <a:lstStyle/>
                    <a:p>
                      <a:pPr algn="l"/>
                      <a:r>
                        <a:rPr sz="1050" b="0" i="0">
                          <a:solidFill>
                            <a:srgbClr val="000000"/>
                          </a:solidFill>
                          <a:latin typeface="Calibri"/>
                        </a:rPr>
                        <a:t>Table 155: Brazil Market Historical and Forecast Growth, %, 2021–2036</a:t>
                      </a:r>
                      <a:endParaRPr sz="1050"/>
                    </a:p>
                  </a:txBody>
                  <a:tcPr marL="9525" marR="9525" marT="9525" marB="0" anchor="ctr"/>
                </a:tc>
              </a:tr>
              <a:tr h="175260">
                <a:tc>
                  <a:txBody>
                    <a:bodyPr wrap="square"/>
                    <a:lstStyle/>
                    <a:p>
                      <a:pPr algn="l"/>
                      <a:r>
                        <a:rPr sz="1050" b="0" i="0">
                          <a:solidFill>
                            <a:srgbClr val="000000"/>
                          </a:solidFill>
                          <a:latin typeface="Calibri"/>
                        </a:rPr>
                        <a:t>Table 156: U.K. Market Value by Form Type, US$ Mn, 2021–2036</a:t>
                      </a:r>
                      <a:endParaRPr sz="1050"/>
                    </a:p>
                  </a:txBody>
                  <a:tcPr marL="9525" marR="9525" marT="9525" marB="0" anchor="ctr"/>
                </a:tc>
              </a:tr>
              <a:tr h="175260">
                <a:tc>
                  <a:txBody>
                    <a:bodyPr wrap="square"/>
                    <a:lstStyle/>
                    <a:p>
                      <a:pPr algn="l"/>
                      <a:r>
                        <a:rPr sz="1050" b="0" i="0">
                          <a:solidFill>
                            <a:srgbClr val="000000"/>
                          </a:solidFill>
                          <a:latin typeface="Calibri"/>
                        </a:rPr>
                        <a:t>Table 157: U.K. Market Historical and Forecast Growth, %, 2021–2036</a:t>
                      </a:r>
                      <a:endParaRPr sz="1050"/>
                    </a:p>
                  </a:txBody>
                  <a:tcPr marL="9525" marR="9525" marT="9525" marB="0" anchor="ctr"/>
                </a:tc>
              </a:tr>
              <a:tr h="175260">
                <a:tc>
                  <a:txBody>
                    <a:bodyPr wrap="square"/>
                    <a:lstStyle/>
                    <a:p>
                      <a:pPr algn="l"/>
                      <a:r>
                        <a:rPr sz="1050" b="0" i="0">
                          <a:solidFill>
                            <a:srgbClr val="000000"/>
                          </a:solidFill>
                          <a:latin typeface="Calibri"/>
                        </a:rPr>
                        <a:t>Table 158: Japan Market Value by Form Type, US$ Mn, 2021–2036</a:t>
                      </a:r>
                      <a:endParaRPr sz="1050"/>
                    </a:p>
                  </a:txBody>
                  <a:tcPr marL="9525" marR="9525" marT="9525" marB="0" anchor="ctr"/>
                </a:tc>
              </a:tr>
              <a:tr h="175260">
                <a:tc>
                  <a:txBody>
                    <a:bodyPr wrap="square"/>
                    <a:lstStyle/>
                    <a:p>
                      <a:pPr algn="l"/>
                      <a:r>
                        <a:rPr sz="1050" b="0" i="0">
                          <a:solidFill>
                            <a:srgbClr val="000000"/>
                          </a:solidFill>
                          <a:latin typeface="Calibri"/>
                        </a:rPr>
                        <a:t>Table 159: Japan Market Historical and Forecast Growth, %, 2021–2036</a:t>
                      </a:r>
                      <a:endParaRPr sz="1050"/>
                    </a:p>
                  </a:txBody>
                  <a:tcPr marL="9525" marR="9525" marT="9525" marB="0" anchor="ctr"/>
                </a:tc>
              </a:tr>
              <a:tr h="175260">
                <a:tc>
                  <a:txBody>
                    <a:bodyPr wrap="square"/>
                    <a:lstStyle/>
                    <a:p>
                      <a:pPr algn="l"/>
                      <a:r>
                        <a:rPr sz="1050" b="0" i="0">
                          <a:solidFill>
                            <a:srgbClr val="000000"/>
                          </a:solidFill>
                          <a:latin typeface="Calibri"/>
                        </a:rPr>
                        <a:t>Table 160: Market Product Price Comparison by Company and Form Type, US$/MT, 2026</a:t>
                      </a:r>
                      <a:endParaRPr sz="1050"/>
                    </a:p>
                  </a:txBody>
                  <a:tcPr marL="9525" marR="9525" marT="9525" marB="0" anchor="ctr"/>
                </a:tc>
              </a:tr>
              <a:tr h="175260">
                <a:tc>
                  <a:txBody>
                    <a:bodyPr wrap="square"/>
                    <a:lstStyle/>
                    <a:p>
                      <a:pPr algn="l"/>
                      <a:r>
                        <a:rPr sz="1050" b="0" i="0">
                          <a:solidFill>
                            <a:srgbClr val="000000"/>
                          </a:solidFill>
                          <a:latin typeface="Calibri"/>
                        </a:rPr>
                        <a:t>Table 161: Global Market Average Selling Price by Region, US$/MT, 2021–2036</a:t>
                      </a:r>
                      <a:endParaRPr sz="1050"/>
                    </a:p>
                  </a:txBody>
                  <a:tcPr marL="9525" marR="9525" marT="9525" marB="0" anchor="ctr"/>
                </a:tc>
              </a:tr>
              <a:tr h="175260">
                <a:tc>
                  <a:txBody>
                    <a:bodyPr wrap="square"/>
                    <a:lstStyle/>
                    <a:p>
                      <a:pPr algn="l"/>
                      <a:r>
                        <a:rPr sz="1050" b="0" i="0">
                          <a:solidFill>
                            <a:srgbClr val="000000"/>
                          </a:solidFill>
                          <a:latin typeface="Calibri"/>
                        </a:rPr>
                        <a:t>Table 162: Global Market Average Selling Price by Form Type, US$/MT, 2021–2036</a:t>
                      </a:r>
                      <a:endParaRPr sz="1050"/>
                    </a:p>
                  </a:txBody>
                  <a:tcPr marL="9525" marR="9525" marT="9525" marB="0" anchor="ctr"/>
                </a:tc>
              </a:tr>
              <a:tr h="175260">
                <a:tc>
                  <a:txBody>
                    <a:bodyPr wrap="square"/>
                    <a:lstStyle/>
                    <a:p>
                      <a:pPr algn="l"/>
                      <a:r>
                        <a:rPr sz="1050" b="0" i="0">
                          <a:solidFill>
                            <a:srgbClr val="000000"/>
                          </a:solidFill>
                          <a:latin typeface="Calibri"/>
                        </a:rPr>
                        <a:t>Table 163: Global Market Average Selling Price by Active Ingredient, US$/MT, 2021–2036</a:t>
                      </a:r>
                      <a:endParaRPr sz="1050"/>
                    </a:p>
                  </a:txBody>
                  <a:tcPr marL="9525" marR="9525" marT="9525" marB="0" anchor="ctr"/>
                </a:tc>
              </a:tr>
              <a:tr h="175260">
                <a:tc>
                  <a:txBody>
                    <a:bodyPr wrap="square"/>
                    <a:lstStyle/>
                    <a:p>
                      <a:pPr algn="l"/>
                      <a:r>
                        <a:rPr sz="1050" b="0" i="0">
                          <a:solidFill>
                            <a:srgbClr val="000000"/>
                          </a:solidFill>
                          <a:latin typeface="Calibri"/>
                        </a:rPr>
                        <a:t>Table 164: Global Market Average Selling Price by End-use Application, US$/MT, 2021–2036</a:t>
                      </a:r>
                      <a:endParaRPr sz="1050"/>
                    </a:p>
                  </a:txBody>
                  <a:tcPr marL="9525" marR="9525" marT="9525" marB="0" anchor="ctr"/>
                </a:tc>
              </a:tr>
              <a:tr h="175260">
                <a:tc>
                  <a:txBody>
                    <a:bodyPr wrap="square"/>
                    <a:lstStyle/>
                    <a:p>
                      <a:pPr algn="l"/>
                      <a:r>
                        <a:rPr sz="1050" b="0" i="0">
                          <a:solidFill>
                            <a:srgbClr val="000000"/>
                          </a:solidFill>
                          <a:latin typeface="Calibri"/>
                        </a:rPr>
                        <a:t>Table 165: Global Market Average Selling Price by Packaging Format, US$/MT, 2021–2036</a:t>
                      </a:r>
                      <a:endParaRPr sz="1050"/>
                    </a:p>
                  </a:txBody>
                  <a:tcPr marL="9525" marR="9525" marT="9525" marB="0" anchor="ctr"/>
                </a:tc>
              </a:tr>
              <a:tr h="175260">
                <a:tc>
                  <a:txBody>
                    <a:bodyPr wrap="square"/>
                    <a:lstStyle/>
                    <a:p>
                      <a:pPr algn="l"/>
                      <a:r>
                        <a:rPr sz="1050" b="0" i="0">
                          <a:solidFill>
                            <a:srgbClr val="000000"/>
                          </a:solidFill>
                          <a:latin typeface="Calibri"/>
                        </a:rPr>
                        <a:t>Table 166: Global Market Average Selling Price by Sales Channel, US$/MT, 2021–2036</a:t>
                      </a:r>
                      <a:endParaRPr sz="1050"/>
                    </a:p>
                  </a:txBody>
                  <a:tcPr marL="9525" marR="9525" marT="9525" marB="0" anchor="ctr"/>
                </a:tc>
              </a:tr>
              <a:tr h="175260">
                <a:tc>
                  <a:txBody>
                    <a:bodyPr wrap="square"/>
                    <a:lstStyle/>
                    <a:p>
                      <a:pPr algn="l"/>
                      <a:r>
                        <a:rPr sz="1050" b="0" i="0">
                          <a:solidFill>
                            <a:srgbClr val="000000"/>
                          </a:solidFill>
                          <a:latin typeface="Calibri"/>
                        </a:rPr>
                        <a:t>Table 167: Supplier-to-Customer Relationship Mapping in U.S., 2026</a:t>
                      </a:r>
                      <a:endParaRPr sz="1050"/>
                    </a:p>
                  </a:txBody>
                  <a:tcPr marL="9525" marR="9525" marT="9525" marB="0" anchor="ctr"/>
                </a:tc>
              </a:tr>
              <a:tr h="175260">
                <a:tc>
                  <a:txBody>
                    <a:bodyPr wrap="square"/>
                    <a:lstStyle/>
                    <a:p>
                      <a:pPr algn="l"/>
                      <a:r>
                        <a:rPr sz="1050" b="0" i="0">
                          <a:solidFill>
                            <a:srgbClr val="000000"/>
                          </a:solidFill>
                          <a:latin typeface="Calibri"/>
                        </a:rPr>
                        <a:t>Table 168: Global Market Value Chain Participants by Stage, 2026</a:t>
                      </a:r>
                      <a:endParaRPr sz="1050"/>
                    </a:p>
                  </a:txBody>
                  <a:tcPr marL="9525" marR="9525" marT="9525" marB="0" anchor="ctr"/>
                </a:tc>
              </a:tr>
              <a:tr h="175260">
                <a:tc>
                  <a:txBody>
                    <a:bodyPr wrap="square"/>
                    <a:lstStyle/>
                    <a:p>
                      <a:pPr algn="l"/>
                      <a:r>
                        <a:rPr sz="1050" b="0" i="0">
                          <a:solidFill>
                            <a:srgbClr val="000000"/>
                          </a:solidFill>
                          <a:latin typeface="Calibri"/>
                        </a:rPr>
                        <a:t>Table 169: Global Market Margin Analysis by Value Chain Stage, %, 2026</a:t>
                      </a:r>
                      <a:endParaRPr sz="1050"/>
                    </a:p>
                  </a:txBody>
                  <a:tcPr marL="9525" marR="9525" marT="9525" marB="0" anchor="ctr"/>
                </a:tc>
              </a:tr>
              <a:tr h="175260">
                <a:tc>
                  <a:txBody>
                    <a:bodyPr wrap="square"/>
                    <a:lstStyle/>
                    <a:p>
                      <a:pPr algn="l"/>
                      <a:r>
                        <a:rPr sz="1050" b="0" i="0">
                          <a:solidFill>
                            <a:srgbClr val="000000"/>
                          </a:solidFill>
                          <a:latin typeface="Calibri"/>
                        </a:rPr>
                        <a:t>Table 170: Global Market Cost Structure by Component, %, 2026</a:t>
                      </a:r>
                      <a:endParaRPr sz="1050"/>
                    </a:p>
                  </a:txBody>
                  <a:tcPr marL="9525" marR="9525" marT="9525" marB="0" anchor="ctr"/>
                </a:tc>
              </a:tr>
              <a:tr h="175260">
                <a:tc>
                  <a:txBody>
                    <a:bodyPr wrap="square"/>
                    <a:lstStyle/>
                    <a:p>
                      <a:pPr algn="l"/>
                      <a:r>
                        <a:rPr sz="1050" b="0" i="0">
                          <a:solidFill>
                            <a:srgbClr val="000000"/>
                          </a:solidFill>
                          <a:latin typeface="Calibri"/>
                        </a:rPr>
                        <a:t>Table 171: Global Market Import Value by Leading Country, US$ Mn, 2021–2025</a:t>
                      </a:r>
                      <a:endParaRPr sz="1050"/>
                    </a:p>
                  </a:txBody>
                  <a:tcPr marL="9525" marR="9525" marT="9525" marB="0" anchor="ctr"/>
                </a:tc>
              </a:tr>
              <a:tr h="175260">
                <a:tc>
                  <a:txBody>
                    <a:bodyPr wrap="square"/>
                    <a:lstStyle/>
                    <a:p>
                      <a:pPr algn="l"/>
                      <a:r>
                        <a:rPr sz="1050" b="0" i="0">
                          <a:solidFill>
                            <a:srgbClr val="000000"/>
                          </a:solidFill>
                          <a:latin typeface="Calibri"/>
                        </a:rPr>
                        <a:t>Table 172: Global Market Export Value by Leading Country, US$ Mn, 2021–2025</a:t>
                      </a:r>
                      <a:endParaRPr sz="1050"/>
                    </a:p>
                  </a:txBody>
                  <a:tcPr marL="9525" marR="9525" marT="9525" marB="0" anchor="ctr"/>
                </a:tc>
              </a:tr>
              <a:tr h="175260">
                <a:tc>
                  <a:txBody>
                    <a:bodyPr wrap="square"/>
                    <a:lstStyle/>
                    <a:p>
                      <a:pPr algn="l"/>
                      <a:r>
                        <a:rPr sz="1050" b="0" i="0">
                          <a:solidFill>
                            <a:srgbClr val="000000"/>
                          </a:solidFill>
                          <a:latin typeface="Calibri"/>
                        </a:rPr>
                        <a:t>Table 173: Global Market Trade Flow Matrix by Region, US$ Mn, 2025</a:t>
                      </a:r>
                      <a:endParaRPr sz="1050"/>
                    </a:p>
                  </a:txBody>
                  <a:tcPr marL="9525" marR="9525" marT="9525" marB="0" anchor="ctr"/>
                </a:tc>
              </a:tr>
              <a:tr h="175260">
                <a:tc>
                  <a:txBody>
                    <a:bodyPr wrap="square"/>
                    <a:lstStyle/>
                    <a:p>
                      <a:pPr algn="l"/>
                      <a:r>
                        <a:rPr sz="1050" b="0" i="0">
                          <a:solidFill>
                            <a:srgbClr val="000000"/>
                          </a:solidFill>
                          <a:latin typeface="Calibri"/>
                        </a:rPr>
                        <a:t>Table 174: Global Market Pricing Factors and Impact Rating, 2026–2036</a:t>
                      </a:r>
                      <a:endParaRPr sz="1050"/>
                    </a:p>
                  </a:txBody>
                  <a:tcPr marL="9525" marR="9525" marT="9525" marB="0" anchor="ctr"/>
                </a:tc>
              </a:tr>
              <a:tr h="175260">
                <a:tc>
                  <a:txBody>
                    <a:bodyPr wrap="square"/>
                    <a:lstStyle/>
                    <a:p>
                      <a:pPr algn="l"/>
                      <a:r>
                        <a:rPr sz="1050" b="0" i="0">
                          <a:solidFill>
                            <a:srgbClr val="000000"/>
                          </a:solidFill>
                          <a:latin typeface="Calibri"/>
                        </a:rPr>
                        <a:t>Table 175: Global Market Raw Material Price Trend, US$, 2021–2036</a:t>
                      </a:r>
                      <a:endParaRPr sz="1050"/>
                    </a:p>
                  </a:txBody>
                  <a:tcPr marL="9525" marR="9525" marT="9525" marB="0" anchor="ctr"/>
                </a:tc>
              </a:tr>
              <a:tr h="175260">
                <a:tc>
                  <a:txBody>
                    <a:bodyPr wrap="square"/>
                    <a:lstStyle/>
                    <a:p>
                      <a:pPr algn="l"/>
                      <a:r>
                        <a:rPr sz="1050" b="0" i="0">
                          <a:solidFill>
                            <a:srgbClr val="000000"/>
                          </a:solidFill>
                          <a:latin typeface="Calibri"/>
                        </a:rPr>
                        <a:t>Table 176: Global Market Distribution Channel Margin Structure, %, 2026</a:t>
                      </a:r>
                      <a:endParaRPr sz="1050"/>
                    </a:p>
                  </a:txBody>
                  <a:tcPr marL="9525" marR="9525" marT="9525" marB="0" anchor="ctr"/>
                </a:tc>
              </a:tr>
              <a:tr h="175260">
                <a:tc>
                  <a:txBody>
                    <a:bodyPr wrap="square"/>
                    <a:lstStyle/>
                    <a:p>
                      <a:pPr algn="l"/>
                      <a:r>
                        <a:rPr sz="1050" b="0" i="0">
                          <a:solidFill>
                            <a:srgbClr val="000000"/>
                          </a:solidFill>
                          <a:latin typeface="Calibri"/>
                        </a:rPr>
                        <a:t>Table 177: Global Market Regulatory and Tariff Overview by Country, 2026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(4/4)</a:t>
            </a:r>
          </a:p>
        </p:txBody>
      </p:sp>
      <p:graphicFrame>
        <p:nvGraphicFramePr>
          <p:cNvPr id="9" name="FMI Contents Table"/>
          <p:cNvGraphicFramePr>
            <a:graphicFrameLocks noGrp="1"/>
          </p:cNvGraphicFramePr>
          <p:nvPr/>
        </p:nvGraphicFramePr>
        <p:xfrm>
          <a:off x="142875" y="981075"/>
          <a:ext cx="5876925" cy="3993844"/>
        </p:xfrm>
        <a:graphic>
          <a:graphicData uri="http://schemas.openxmlformats.org/drawingml/2006/table">
            <a:tbl>
              <a:tblPr>
                <a:tableStyleId>{3B4B98B0-60AC-42C2-AFA5-B58CD77FA1E5}</a:tableStyleId>
              </a:tblPr>
              <a:tblGrid>
                <a:gridCol w="5876925"/>
              </a:tblGrid>
              <a:tr h="326708">
                <a:tc>
                  <a:txBody>
                    <a:bodyPr wrap="square"/>
                    <a:lstStyle/>
                    <a:p>
                      <a:pPr algn="l"/>
                      <a:r>
                        <a:rPr sz="1050" b="0" i="0">
                          <a:solidFill>
                            <a:srgbClr val="000000"/>
                          </a:solidFill>
                          <a:latin typeface="Calibri"/>
                        </a:rPr>
                        <a:t>Table 178: Leading Senior Dog Cognitive Supplement Manufacturers: Product Portfolio and Geographic Presence, 2026</a:t>
                      </a:r>
                      <a:endParaRPr sz="1050"/>
                    </a:p>
                  </a:txBody>
                  <a:tcPr marL="9525" marR="9525" marT="9525" marB="0" anchor="ctr"/>
                </a:tc>
              </a:tr>
              <a:tr h="166688">
                <a:tc>
                  <a:txBody>
                    <a:bodyPr wrap="square"/>
                    <a:lstStyle/>
                    <a:p>
                      <a:pPr algn="l"/>
                      <a:r>
                        <a:rPr sz="1050" b="0" i="0">
                          <a:solidFill>
                            <a:srgbClr val="000000"/>
                          </a:solidFill>
                          <a:latin typeface="Calibri"/>
                        </a:rPr>
                        <a:t>Table 179: Company Revenue from the Global Market, US$ Mn, 2025–2026</a:t>
                      </a:r>
                      <a:endParaRPr sz="1050"/>
                    </a:p>
                  </a:txBody>
                  <a:tcPr marL="9525" marR="9525" marT="9525" marB="0" anchor="ctr"/>
                </a:tc>
              </a:tr>
              <a:tr h="166688">
                <a:tc>
                  <a:txBody>
                    <a:bodyPr wrap="square"/>
                    <a:lstStyle/>
                    <a:p>
                      <a:pPr algn="l"/>
                      <a:r>
                        <a:rPr sz="1050" b="0" i="0">
                          <a:solidFill>
                            <a:srgbClr val="000000"/>
                          </a:solidFill>
                          <a:latin typeface="Calibri"/>
                        </a:rPr>
                        <a:t>Table 180: Company Market Share in the Global Market by Region, %, 2026</a:t>
                      </a:r>
                      <a:endParaRPr sz="1050"/>
                    </a:p>
                  </a:txBody>
                  <a:tcPr marL="9525" marR="9525" marT="9525" marB="0" anchor="ctr"/>
                </a:tc>
              </a:tr>
              <a:tr h="166688">
                <a:tc>
                  <a:txBody>
                    <a:bodyPr wrap="square"/>
                    <a:lstStyle/>
                    <a:p>
                      <a:pPr algn="l"/>
                      <a:r>
                        <a:rPr sz="1050" b="0" i="0">
                          <a:solidFill>
                            <a:srgbClr val="000000"/>
                          </a:solidFill>
                          <a:latin typeface="Calibri"/>
                        </a:rPr>
                        <a:t>Table 181: Global Market Competitive Benchmarking Matrix, 2026</a:t>
                      </a:r>
                      <a:endParaRPr sz="1050"/>
                    </a:p>
                  </a:txBody>
                  <a:tcPr marL="9525" marR="9525" marT="9525" marB="0" anchor="ctr"/>
                </a:tc>
              </a:tr>
              <a:tr h="166688">
                <a:tc>
                  <a:txBody>
                    <a:bodyPr wrap="square"/>
                    <a:lstStyle/>
                    <a:p>
                      <a:pPr algn="l"/>
                      <a:r>
                        <a:rPr sz="1050" b="0" i="0">
                          <a:solidFill>
                            <a:srgbClr val="000000"/>
                          </a:solidFill>
                          <a:latin typeface="Calibri"/>
                        </a:rPr>
                        <a:t>Table 182: Global Market Mergers, Acquisitions and Partnerships, 2021–2026</a:t>
                      </a:r>
                      <a:endParaRPr sz="1050"/>
                    </a:p>
                  </a:txBody>
                  <a:tcPr marL="9525" marR="9525" marT="9525" marB="0" anchor="ctr"/>
                </a:tc>
              </a:tr>
              <a:tr h="166688">
                <a:tc>
                  <a:txBody>
                    <a:bodyPr wrap="square"/>
                    <a:lstStyle/>
                    <a:p>
                      <a:pPr algn="l"/>
                      <a:r>
                        <a:rPr sz="1050" b="0" i="0">
                          <a:solidFill>
                            <a:srgbClr val="000000"/>
                          </a:solidFill>
                          <a:latin typeface="Calibri"/>
                        </a:rPr>
                        <a:t>Table 183: Standard Process: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184: VetriScience: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185: Dr. Fossum's: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186: Nestlé Purina PetCare: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187: PetHeal: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188: Senior Dogs Club: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189: VISYO Corporation: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190: NaturVet: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191: Zesty Paws: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192: Ark Naturals: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193: Global Market Value by Scenario and Region, US$ Mn, 2026–2036</a:t>
                      </a:r>
                      <a:endParaRPr sz="1050"/>
                    </a:p>
                  </a:txBody>
                  <a:tcPr marL="9525" marR="9525" marT="9525" marB="0" anchor="ctr"/>
                </a:tc>
              </a:tr>
              <a:tr h="166688">
                <a:tc>
                  <a:txBody>
                    <a:bodyPr wrap="square"/>
                    <a:lstStyle/>
                    <a:p>
                      <a:pPr algn="l"/>
                      <a:r>
                        <a:rPr sz="1050" b="0" i="0">
                          <a:solidFill>
                            <a:srgbClr val="000000"/>
                          </a:solidFill>
                          <a:latin typeface="Calibri"/>
                        </a:rPr>
                        <a:t>Table 194: Global Market Key Trends and Impact Rating, 2026–2036</a:t>
                      </a:r>
                      <a:endParaRPr sz="1050"/>
                    </a:p>
                  </a:txBody>
                  <a:tcPr marL="9525" marR="9525" marT="9525" marB="0" anchor="ctr"/>
                </a:tc>
              </a:tr>
              <a:tr h="166688">
                <a:tc>
                  <a:txBody>
                    <a:bodyPr wrap="square"/>
                    <a:lstStyle/>
                    <a:p>
                      <a:pPr algn="l"/>
                      <a:r>
                        <a:rPr sz="1050" b="0" i="0">
                          <a:solidFill>
                            <a:srgbClr val="000000"/>
                          </a:solidFill>
                          <a:latin typeface="Calibri"/>
                        </a:rPr>
                        <a:t>Table 195: Global Market Opportunity Assessment by Form Type, US$ Mn, 2026–2036</a:t>
                      </a:r>
                      <a:endParaRPr sz="1050"/>
                    </a:p>
                  </a:txBody>
                  <a:tcPr marL="9525" marR="9525" marT="9525" marB="0" anchor="ctr"/>
                </a:tc>
              </a:tr>
              <a:tr h="166688">
                <a:tc>
                  <a:txBody>
                    <a:bodyPr wrap="square"/>
                    <a:lstStyle/>
                    <a:p>
                      <a:pPr algn="l"/>
                      <a:r>
                        <a:rPr sz="1050" b="0" i="0">
                          <a:solidFill>
                            <a:srgbClr val="000000"/>
                          </a:solidFill>
                          <a:latin typeface="Calibri"/>
                        </a:rPr>
                        <a:t>Table 196: Global Market Scenario Assumptions, 2026–2036</a:t>
                      </a:r>
                      <a:endParaRPr sz="1050"/>
                    </a:p>
                  </a:txBody>
                  <a:tcPr marL="9525" marR="9525" marT="9525" marB="0" anchor="ctr"/>
                </a:tc>
              </a:tr>
              <a:tr h="166688">
                <a:tc>
                  <a:txBody>
                    <a:bodyPr wrap="square"/>
                    <a:lstStyle/>
                    <a:p>
                      <a:pPr algn="l"/>
                      <a:r>
                        <a:rPr sz="1050" b="0" i="0">
                          <a:solidFill>
                            <a:srgbClr val="000000"/>
                          </a:solidFill>
                          <a:latin typeface="Calibri"/>
                        </a:rPr>
                        <a:t>Table 197: Global Market Risk Register and Mitigation, 2026–2036</a:t>
                      </a:r>
                      <a:endParaRPr sz="1050"/>
                    </a:p>
                  </a:txBody>
                  <a:tcPr marL="9525" marR="9525" marT="9525" marB="0" anchor="ctr"/>
                </a:tc>
              </a:tr>
              <a:tr h="166688">
                <a:tc>
                  <a:txBody>
                    <a:bodyPr wrap="square"/>
                    <a:lstStyle/>
                    <a:p>
                      <a:pPr algn="l"/>
                      <a:r>
                        <a:rPr sz="1050" b="0" i="0">
                          <a:solidFill>
                            <a:srgbClr val="000000"/>
                          </a:solidFill>
                          <a:latin typeface="Calibri"/>
                        </a:rPr>
                        <a:t>Table 198: Global Market Client Opportunity Prioritisation by Form Type, 2026–2036</a:t>
                      </a:r>
                      <a:endParaRPr sz="1050"/>
                    </a:p>
                  </a:txBody>
                  <a:tcPr marL="9525" marR="9525" marT="9525" marB="0" anchor="ctr"/>
                </a:tc>
              </a:tr>
              <a:tr h="166688">
                <a:tc>
                  <a:txBody>
                    <a:bodyPr wrap="square"/>
                    <a:lstStyle/>
                    <a:p>
                      <a:pPr algn="l"/>
                      <a:r>
                        <a:rPr sz="1050" b="0" i="0">
                          <a:solidFill>
                            <a:srgbClr val="000000"/>
                          </a:solidFill>
                          <a:latin typeface="Calibri"/>
                        </a:rPr>
                        <a:t>Table 199: Global Market Customer Purchase Criteria by Form Type, 2026</a:t>
                      </a:r>
                      <a:endParaRPr sz="1050"/>
                    </a:p>
                  </a:txBody>
                  <a:tcPr marL="9525" marR="9525" marT="9525" marB="0" anchor="ctr"/>
                </a:tc>
              </a:tr>
              <a:tr h="166688">
                <a:tc>
                  <a:txBody>
                    <a:bodyPr wrap="square"/>
                    <a:lstStyle/>
                    <a:p>
                      <a:pPr algn="l"/>
                      <a:r>
                        <a:rPr sz="1050" b="0" i="0">
                          <a:solidFill>
                            <a:srgbClr val="000000"/>
                          </a:solidFill>
                          <a:latin typeface="Calibri"/>
                        </a:rPr>
                        <a:t>Table 200: Global Market Strategic Recommendations and Action Plan, 2026–2036</a:t>
                      </a:r>
                      <a:endParaRPr sz="1050"/>
                    </a:p>
                  </a:txBody>
                  <a:tcPr marL="9525" marR="9525" marT="9525" marB="0" anchor="ctr"/>
                </a:tc>
              </a:tr>
            </a:tbl>
          </a:graphicData>
        </a:graphic>
      </p:graphicFrame>
      <p:sp>
        <p:nvSpPr>
          <p:cNvPr id="10" name="TextBox 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1701165"/>
            <a:ext cx="7239000" cy="247650"/>
          </a:xfrm>
          <a:prstGeom prst="rect">
            <a:avLst/>
          </a:prstGeom>
          <a:noFill/>
        </p:spPr>
        <p:txBody>
          <a:bodyPr wrap="none" lIns="0" tIns="0">
            <a:spAutoFit/>
          </a:bodyPr>
          <a:lstStyle/>
          <a:p>
            <a:r>
              <a:rPr sz="1400" b="0">
                <a:solidFill>
                  <a:srgbClr val="8FC8F2"/>
                </a:solidFill>
                <a:latin typeface="Calibri"/>
              </a:rPr>
              <a:t>Senior Dog Cognitive Supplement Market</a:t>
            </a:r>
          </a:p>
        </p:txBody>
      </p:sp>
      <p:sp>
        <p:nvSpPr>
          <p:cNvPr id="6" name="FMI Breaker Title"/>
          <p:cNvSpPr txBox="1"/>
          <p:nvPr/>
        </p:nvSpPr>
        <p:spPr>
          <a:xfrm>
            <a:off x="914400" y="2005965"/>
            <a:ext cx="7239000" cy="514350"/>
          </a:xfrm>
          <a:prstGeom prst="rect">
            <a:avLst/>
          </a:prstGeom>
          <a:noFill/>
        </p:spPr>
        <p:txBody>
          <a:bodyPr wrap="square" lIns="0" rIns="0" tIns="0">
            <a:spAutoFit/>
          </a:bodyPr>
          <a:lstStyle/>
          <a:p>
            <a:r>
              <a:rPr sz="3000" b="1" cap="all" spc="400">
                <a:solidFill>
                  <a:srgbClr val="FFFFFF"/>
                </a:solidFill>
                <a:latin typeface="Calibri"/>
              </a:rPr>
              <a:t>Global Market Outlook</a:t>
            </a:r>
          </a:p>
        </p:txBody>
      </p:sp>
      <p:sp>
        <p:nvSpPr>
          <p:cNvPr id="7" name="TextBox 6"/>
          <p:cNvSpPr txBox="1"/>
          <p:nvPr/>
        </p:nvSpPr>
        <p:spPr>
          <a:xfrm>
            <a:off x="914400" y="2710815"/>
            <a:ext cx="7124700" cy="387477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Region</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Form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Active Ingredient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End-use Application</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Packaging Format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Sales Channel</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Cross-sectional Assessment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Form Type × Active Ingredient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End-use Application × Active Ingredient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Sales Channel × End-use Application</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Global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Senior Dog Cognitive Supplement Market Summary, By Volume (MT)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volume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(MT)</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(MT)</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(MT)</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617813" cy="186689"/>
          </a:xfrm>
          <a:prstGeom prst="rect">
            <a:avLst/>
          </a:prstGeom>
          <a:noFill/>
        </p:spPr>
        <p:txBody>
          <a:bodyPr wrap="none" lIns="0" rIns="0" tIns="0" bIns="0">
            <a:spAutoFit/>
          </a:bodyPr>
          <a:lstStyle/>
          <a:p>
            <a:r>
              <a:rPr sz="1100" b="0">
                <a:solidFill>
                  <a:srgbClr val="2E2E2E"/>
                </a:solidFill>
                <a:latin typeface="Calibri"/>
              </a:rPr>
              <a:t>Global senior dog cognitive supplement market is projected to</a:t>
            </a:r>
          </a:p>
        </p:txBody>
      </p:sp>
      <p:sp>
        <p:nvSpPr>
          <p:cNvPr id="35" name="TextBox 34"/>
          <p:cNvSpPr txBox="1"/>
          <p:nvPr/>
        </p:nvSpPr>
        <p:spPr>
          <a:xfrm>
            <a:off x="8048625" y="2214627"/>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36" name="Picture 35" descr="lock.png"/>
          <p:cNvPicPr>
            <a:picLocks noChangeAspect="1"/>
          </p:cNvPicPr>
          <p:nvPr/>
        </p:nvPicPr>
        <p:blipFill>
          <a:blip r:embed="rId6"/>
          <a:stretch>
            <a:fillRect/>
          </a:stretch>
        </p:blipFill>
        <p:spPr>
          <a:xfrm>
            <a:off x="8509166" y="2204848"/>
            <a:ext cx="128699" cy="187198"/>
          </a:xfrm>
          <a:prstGeom prst="rect">
            <a:avLst/>
          </a:prstGeom>
        </p:spPr>
      </p:pic>
      <p:sp>
        <p:nvSpPr>
          <p:cNvPr id="37" name="TextBox 36"/>
          <p:cNvSpPr txBox="1"/>
          <p:nvPr/>
        </p:nvSpPr>
        <p:spPr>
          <a:xfrm>
            <a:off x="8676662" y="2214627"/>
            <a:ext cx="2964333" cy="186689"/>
          </a:xfrm>
          <a:prstGeom prst="rect">
            <a:avLst/>
          </a:prstGeom>
          <a:noFill/>
        </p:spPr>
        <p:txBody>
          <a:bodyPr wrap="none" lIns="0" rIns="0" tIns="0" bIns="0">
            <a:spAutoFit/>
          </a:bodyPr>
          <a:lstStyle/>
          <a:p>
            <a:r>
              <a:rPr sz="1100" b="0">
                <a:solidFill>
                  <a:srgbClr val="2E2E2E"/>
                </a:solidFill>
                <a:latin typeface="Calibri"/>
              </a:rPr>
              <a:t>X increase in volume by the end of forecast period,</a:t>
            </a:r>
          </a:p>
        </p:txBody>
      </p:sp>
      <p:sp>
        <p:nvSpPr>
          <p:cNvPr id="38" name="TextBox 37"/>
          <p:cNvSpPr txBox="1"/>
          <p:nvPr/>
        </p:nvSpPr>
        <p:spPr>
          <a:xfrm>
            <a:off x="8048625" y="2382267"/>
            <a:ext cx="3573065" cy="186689"/>
          </a:xfrm>
          <a:prstGeom prst="rect">
            <a:avLst/>
          </a:prstGeom>
          <a:noFill/>
        </p:spPr>
        <p:txBody>
          <a:bodyPr wrap="none" lIns="0" rIns="0" tIns="0" bIns="0">
            <a:spAutoFit/>
          </a:bodyPr>
          <a:lstStyle/>
          <a:p>
            <a:r>
              <a:rPr sz="1100" b="0">
                <a:solidFill>
                  <a:srgbClr val="2E2E2E"/>
                </a:solidFill>
                <a:latin typeface="Calibri"/>
              </a:rPr>
              <a:t>2036. Global senior dog cognitive supplement market volume</a:t>
            </a:r>
          </a:p>
        </p:txBody>
      </p:sp>
      <p:sp>
        <p:nvSpPr>
          <p:cNvPr id="39" name="TextBox 38"/>
          <p:cNvSpPr txBox="1"/>
          <p:nvPr/>
        </p:nvSpPr>
        <p:spPr>
          <a:xfrm>
            <a:off x="8048625" y="2549907"/>
            <a:ext cx="543867" cy="186689"/>
          </a:xfrm>
          <a:prstGeom prst="rect">
            <a:avLst/>
          </a:prstGeom>
          <a:noFill/>
        </p:spPr>
        <p:txBody>
          <a:bodyPr wrap="none" lIns="0" rIns="0" tIns="0" bIns="0">
            <a:spAutoFit/>
          </a:bodyPr>
          <a:lstStyle/>
          <a:p>
            <a:r>
              <a:rPr sz="1100" b="0">
                <a:solidFill>
                  <a:srgbClr val="2E2E2E"/>
                </a:solidFill>
                <a:latin typeface="Calibri"/>
              </a:rPr>
              <a:t>stood at</a:t>
            </a:r>
          </a:p>
        </p:txBody>
      </p:sp>
      <p:pic>
        <p:nvPicPr>
          <p:cNvPr id="40" name="Picture 39" descr="lock.png"/>
          <p:cNvPicPr>
            <a:picLocks noChangeAspect="1"/>
          </p:cNvPicPr>
          <p:nvPr/>
        </p:nvPicPr>
        <p:blipFill>
          <a:blip r:embed="rId6"/>
          <a:stretch>
            <a:fillRect/>
          </a:stretch>
        </p:blipFill>
        <p:spPr>
          <a:xfrm>
            <a:off x="8540544" y="2540128"/>
            <a:ext cx="128699" cy="187198"/>
          </a:xfrm>
          <a:prstGeom prst="rect">
            <a:avLst/>
          </a:prstGeom>
        </p:spPr>
      </p:pic>
      <p:sp>
        <p:nvSpPr>
          <p:cNvPr id="41" name="TextBox 40"/>
          <p:cNvSpPr txBox="1"/>
          <p:nvPr/>
        </p:nvSpPr>
        <p:spPr>
          <a:xfrm>
            <a:off x="8708039" y="2549907"/>
            <a:ext cx="2135956" cy="186689"/>
          </a:xfrm>
          <a:prstGeom prst="rect">
            <a:avLst/>
          </a:prstGeom>
          <a:noFill/>
        </p:spPr>
        <p:txBody>
          <a:bodyPr wrap="none" lIns="0" rIns="0" tIns="0" bIns="0">
            <a:spAutoFit/>
          </a:bodyPr>
          <a:lstStyle/>
          <a:p>
            <a:r>
              <a:rPr sz="1100" b="0">
                <a:solidFill>
                  <a:srgbClr val="2E2E2E"/>
                </a:solidFill>
                <a:latin typeface="Calibri"/>
              </a:rPr>
              <a:t>MT in 2025 and is expected to reach</a:t>
            </a:r>
          </a:p>
        </p:txBody>
      </p:sp>
      <p:pic>
        <p:nvPicPr>
          <p:cNvPr id="42" name="Picture 41" descr="lock.png"/>
          <p:cNvPicPr>
            <a:picLocks noChangeAspect="1"/>
          </p:cNvPicPr>
          <p:nvPr/>
        </p:nvPicPr>
        <p:blipFill>
          <a:blip r:embed="rId6"/>
          <a:stretch>
            <a:fillRect/>
          </a:stretch>
        </p:blipFill>
        <p:spPr>
          <a:xfrm>
            <a:off x="10792048" y="2540128"/>
            <a:ext cx="128699" cy="187198"/>
          </a:xfrm>
          <a:prstGeom prst="rect">
            <a:avLst/>
          </a:prstGeom>
        </p:spPr>
      </p:pic>
      <p:sp>
        <p:nvSpPr>
          <p:cNvPr id="43" name="TextBox 42"/>
          <p:cNvSpPr txBox="1"/>
          <p:nvPr/>
        </p:nvSpPr>
        <p:spPr>
          <a:xfrm>
            <a:off x="10959543" y="2549907"/>
            <a:ext cx="747687" cy="186689"/>
          </a:xfrm>
          <a:prstGeom prst="rect">
            <a:avLst/>
          </a:prstGeom>
          <a:noFill/>
        </p:spPr>
        <p:txBody>
          <a:bodyPr wrap="none" lIns="0" rIns="0" tIns="0" bIns="0">
            <a:spAutoFit/>
          </a:bodyPr>
          <a:lstStyle/>
          <a:p>
            <a:r>
              <a:rPr sz="1100" b="0">
                <a:solidFill>
                  <a:srgbClr val="2E2E2E"/>
                </a:solidFill>
                <a:latin typeface="Calibri"/>
              </a:rPr>
              <a:t>MT by 2036</a:t>
            </a:r>
          </a:p>
        </p:txBody>
      </p:sp>
      <p:sp>
        <p:nvSpPr>
          <p:cNvPr id="44" name="TextBox 43"/>
          <p:cNvSpPr txBox="1"/>
          <p:nvPr/>
        </p:nvSpPr>
        <p:spPr>
          <a:xfrm>
            <a:off x="8048625" y="2717547"/>
            <a:ext cx="1070181" cy="186689"/>
          </a:xfrm>
          <a:prstGeom prst="rect">
            <a:avLst/>
          </a:prstGeom>
          <a:noFill/>
        </p:spPr>
        <p:txBody>
          <a:bodyPr wrap="none" lIns="0" rIns="0" tIns="0" bIns="0">
            <a:spAutoFit/>
          </a:bodyPr>
          <a:lstStyle/>
          <a:p>
            <a:r>
              <a:rPr sz="1100" b="0">
                <a:solidFill>
                  <a:srgbClr val="2E2E2E"/>
                </a:solidFill>
                <a:latin typeface="Calibri"/>
              </a:rPr>
              <a:t>end, at a CAGR of</a:t>
            </a:r>
          </a:p>
        </p:txBody>
      </p:sp>
      <p:pic>
        <p:nvPicPr>
          <p:cNvPr id="45" name="Picture 44" descr="lock.png"/>
          <p:cNvPicPr>
            <a:picLocks noChangeAspect="1"/>
          </p:cNvPicPr>
          <p:nvPr/>
        </p:nvPicPr>
        <p:blipFill>
          <a:blip r:embed="rId6"/>
          <a:stretch>
            <a:fillRect/>
          </a:stretch>
        </p:blipFill>
        <p:spPr>
          <a:xfrm>
            <a:off x="9066857" y="2707768"/>
            <a:ext cx="128699" cy="187198"/>
          </a:xfrm>
          <a:prstGeom prst="rect">
            <a:avLst/>
          </a:prstGeom>
        </p:spPr>
      </p:pic>
      <p:sp>
        <p:nvSpPr>
          <p:cNvPr id="46" name="TextBox 45"/>
          <p:cNvSpPr txBox="1"/>
          <p:nvPr/>
        </p:nvSpPr>
        <p:spPr>
          <a:xfrm>
            <a:off x="9234353"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7" name="TextBox 46"/>
          <p:cNvSpPr txBox="1"/>
          <p:nvPr/>
        </p:nvSpPr>
        <p:spPr>
          <a:xfrm>
            <a:off x="8048625" y="2935479"/>
            <a:ext cx="3678386" cy="186689"/>
          </a:xfrm>
          <a:prstGeom prst="rect">
            <a:avLst/>
          </a:prstGeom>
          <a:noFill/>
        </p:spPr>
        <p:txBody>
          <a:bodyPr wrap="none" lIns="0" rIns="0" tIns="0" bIns="0">
            <a:spAutoFit/>
          </a:bodyPr>
          <a:lstStyle/>
          <a:p>
            <a:r>
              <a:rPr sz="1100" b="0">
                <a:solidFill>
                  <a:srgbClr val="2E2E2E"/>
                </a:solidFill>
                <a:latin typeface="Calibri"/>
              </a:rPr>
              <a:t>Value is projected to grow faster than volume over the forecast</a:t>
            </a:r>
          </a:p>
        </p:txBody>
      </p:sp>
      <p:sp>
        <p:nvSpPr>
          <p:cNvPr id="48" name="TextBox 47"/>
          <p:cNvSpPr txBox="1"/>
          <p:nvPr/>
        </p:nvSpPr>
        <p:spPr>
          <a:xfrm>
            <a:off x="8048625" y="3103119"/>
            <a:ext cx="3049736" cy="186689"/>
          </a:xfrm>
          <a:prstGeom prst="rect">
            <a:avLst/>
          </a:prstGeom>
          <a:noFill/>
        </p:spPr>
        <p:txBody>
          <a:bodyPr wrap="none" lIns="0" rIns="0" tIns="0" bIns="0">
            <a:spAutoFit/>
          </a:bodyPr>
          <a:lstStyle/>
          <a:p>
            <a:r>
              <a:rPr sz="1100" b="0">
                <a:solidFill>
                  <a:srgbClr val="2E2E2E"/>
                </a:solidFill>
                <a:latin typeface="Calibri"/>
              </a:rPr>
              <a:t>period, owing to an increase in average selling price.</a:t>
            </a:r>
          </a:p>
        </p:txBody>
      </p:sp>
      <p:sp>
        <p:nvSpPr>
          <p:cNvPr id="49" name="TextBox 48"/>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50" name="Picture 49" descr="lock.png"/>
          <p:cNvPicPr>
            <a:picLocks noChangeAspect="1"/>
          </p:cNvPicPr>
          <p:nvPr/>
        </p:nvPicPr>
        <p:blipFill>
          <a:blip r:embed="rId6"/>
          <a:stretch>
            <a:fillRect/>
          </a:stretch>
        </p:blipFill>
        <p:spPr>
          <a:xfrm>
            <a:off x="10866614" y="4446251"/>
            <a:ext cx="134549" cy="195707"/>
          </a:xfrm>
          <a:prstGeom prst="rect">
            <a:avLst/>
          </a:prstGeom>
        </p:spPr>
      </p:pic>
      <p:sp>
        <p:nvSpPr>
          <p:cNvPr id="51" name="TextBox 50"/>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2" name="TextBox 51"/>
          <p:cNvSpPr txBox="1"/>
          <p:nvPr/>
        </p:nvSpPr>
        <p:spPr>
          <a:xfrm>
            <a:off x="8048625" y="4684312"/>
            <a:ext cx="3253041" cy="194310"/>
          </a:xfrm>
          <a:prstGeom prst="rect">
            <a:avLst/>
          </a:prstGeom>
          <a:noFill/>
        </p:spPr>
        <p:txBody>
          <a:bodyPr wrap="none" lIns="0" rIns="0" tIns="0" bIns="0">
            <a:spAutoFit/>
          </a:bodyPr>
          <a:lstStyle/>
          <a:p>
            <a:r>
              <a:rPr sz="1150" b="0">
                <a:solidFill>
                  <a:srgbClr val="2E2E2E"/>
                </a:solidFill>
                <a:latin typeface="Calibri"/>
              </a:rPr>
              <a:t>▪ Demand concentrates in 'Tablets' within Form Type.</a:t>
            </a:r>
          </a:p>
        </p:txBody>
      </p:sp>
      <p:sp>
        <p:nvSpPr>
          <p:cNvPr id="53" name="TextBox 52"/>
          <p:cNvSpPr txBox="1"/>
          <p:nvPr/>
        </p:nvSpPr>
        <p:spPr>
          <a:xfrm>
            <a:off x="8048625" y="491215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4" name="TextBox 53"/>
          <p:cNvSpPr txBox="1"/>
          <p:nvPr/>
        </p:nvSpPr>
        <p:spPr>
          <a:xfrm>
            <a:off x="8048625" y="513998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5"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Senior Dog Cognitive Supplement Market Pricing &amp; Regional Price Index</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region, highlighting where pricing power sits</a:t>
            </a:r>
          </a:p>
        </p:txBody>
      </p:sp>
      <p:sp>
        <p:nvSpPr>
          <p:cNvPr id="10" name="Rounded Rectangle 9"/>
          <p:cNvSpPr/>
          <p:nvPr/>
        </p:nvSpPr>
        <p:spPr>
          <a:xfrm>
            <a:off x="142875" y="1052895"/>
            <a:ext cx="7696200" cy="2665040"/>
          </a:xfrm>
          <a:prstGeom prst="roundRect">
            <a:avLst>
              <a:gd name="adj" fmla="val 28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Form Type  ·  range across 2021–2036 (US$/MT)</a:t>
            </a:r>
          </a:p>
        </p:txBody>
      </p:sp>
      <p:cxnSp>
        <p:nvCxnSpPr>
          <p:cNvPr id="12" name="Connector 11"/>
          <p:cNvCxnSpPr/>
          <p:nvPr/>
        </p:nvCxnSpPr>
        <p:spPr>
          <a:xfrm>
            <a:off x="657225" y="326835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281450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236065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90679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7225" y="1452945"/>
            <a:ext cx="0" cy="181541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326835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281450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236065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19067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3" name="FMI Scale tick"/>
          <p:cNvSpPr txBox="1"/>
          <p:nvPr/>
        </p:nvSpPr>
        <p:spPr>
          <a:xfrm>
            <a:off x="219075" y="320168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4" name="FMI Scale tick"/>
          <p:cNvSpPr txBox="1"/>
          <p:nvPr/>
        </p:nvSpPr>
        <p:spPr>
          <a:xfrm>
            <a:off x="183356" y="2293975"/>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5" name="FMI Scale tick"/>
          <p:cNvSpPr txBox="1"/>
          <p:nvPr/>
        </p:nvSpPr>
        <p:spPr>
          <a:xfrm>
            <a:off x="219075" y="138627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cxnSp>
        <p:nvCxnSpPr>
          <p:cNvPr id="26" name="Connector 25"/>
          <p:cNvCxnSpPr/>
          <p:nvPr/>
        </p:nvCxnSpPr>
        <p:spPr>
          <a:xfrm flipV="1">
            <a:off x="1241425" y="2788697"/>
            <a:ext cx="0" cy="12880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09980" y="291749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09980" y="278869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022350" y="2819594"/>
            <a:ext cx="438150" cy="64456"/>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1022350" y="2851396"/>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57225" y="2636297"/>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2" name="Connector 31"/>
          <p:cNvCxnSpPr/>
          <p:nvPr/>
        </p:nvCxnSpPr>
        <p:spPr>
          <a:xfrm flipV="1">
            <a:off x="2409825" y="2953729"/>
            <a:ext cx="0" cy="105156"/>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278380" y="305888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278380" y="29537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2190750" y="2978827"/>
            <a:ext cx="438150" cy="52613"/>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2190750" y="3004740"/>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825625" y="2801329"/>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8" name="Connector 37"/>
          <p:cNvCxnSpPr/>
          <p:nvPr/>
        </p:nvCxnSpPr>
        <p:spPr>
          <a:xfrm flipV="1">
            <a:off x="3578225" y="1662416"/>
            <a:ext cx="0" cy="22794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446780" y="189035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446780" y="166241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3359150" y="1717633"/>
            <a:ext cx="438150" cy="114044"/>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3359150" y="1774080"/>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2994025" y="1510016"/>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44" name="Connector 43"/>
          <p:cNvCxnSpPr/>
          <p:nvPr/>
        </p:nvCxnSpPr>
        <p:spPr>
          <a:xfrm flipV="1">
            <a:off x="4746625" y="1747757"/>
            <a:ext cx="0" cy="182102"/>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615180" y="192985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615180" y="174775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4527550" y="1791326"/>
            <a:ext cx="438150" cy="9109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4527550" y="1836222"/>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4162425" y="1595357"/>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50" name="Connector 49"/>
          <p:cNvCxnSpPr/>
          <p:nvPr/>
        </p:nvCxnSpPr>
        <p:spPr>
          <a:xfrm flipV="1">
            <a:off x="5915025" y="1780343"/>
            <a:ext cx="0" cy="191216"/>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783580" y="197155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783580" y="178034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5695950" y="1826330"/>
            <a:ext cx="438150" cy="95644"/>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5695950" y="1873553"/>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330825" y="1627943"/>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56" name="Connector 55"/>
          <p:cNvCxnSpPr/>
          <p:nvPr/>
        </p:nvCxnSpPr>
        <p:spPr>
          <a:xfrm flipV="1">
            <a:off x="7083425" y="2571449"/>
            <a:ext cx="0" cy="14751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951980" y="271896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951980" y="257144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6864350" y="2607506"/>
            <a:ext cx="438150" cy="73785"/>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6864350" y="2644129"/>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99225" y="2419049"/>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62" name="TextBox 61"/>
          <p:cNvSpPr txBox="1"/>
          <p:nvPr/>
        </p:nvSpPr>
        <p:spPr>
          <a:xfrm>
            <a:off x="6572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Chewables</a:t>
            </a:r>
          </a:p>
        </p:txBody>
      </p:sp>
      <p:sp>
        <p:nvSpPr>
          <p:cNvPr id="63" name="TextBox 62"/>
          <p:cNvSpPr txBox="1"/>
          <p:nvPr/>
        </p:nvSpPr>
        <p:spPr>
          <a:xfrm>
            <a:off x="18256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Tablets</a:t>
            </a:r>
          </a:p>
        </p:txBody>
      </p:sp>
      <p:sp>
        <p:nvSpPr>
          <p:cNvPr id="64" name="TextBox 63"/>
          <p:cNvSpPr txBox="1"/>
          <p:nvPr/>
        </p:nvSpPr>
        <p:spPr>
          <a:xfrm>
            <a:off x="29940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Capsules and Softgels</a:t>
            </a:r>
          </a:p>
        </p:txBody>
      </p:sp>
      <p:sp>
        <p:nvSpPr>
          <p:cNvPr id="65" name="TextBox 64"/>
          <p:cNvSpPr txBox="1"/>
          <p:nvPr/>
        </p:nvSpPr>
        <p:spPr>
          <a:xfrm>
            <a:off x="41624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Powders and Granules</a:t>
            </a:r>
          </a:p>
        </p:txBody>
      </p:sp>
      <p:sp>
        <p:nvSpPr>
          <p:cNvPr id="66" name="TextBox 65"/>
          <p:cNvSpPr txBox="1"/>
          <p:nvPr/>
        </p:nvSpPr>
        <p:spPr>
          <a:xfrm>
            <a:off x="53308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Liquids</a:t>
            </a:r>
          </a:p>
        </p:txBody>
      </p:sp>
      <p:sp>
        <p:nvSpPr>
          <p:cNvPr id="67" name="TextBox 66"/>
          <p:cNvSpPr txBox="1"/>
          <p:nvPr/>
        </p:nvSpPr>
        <p:spPr>
          <a:xfrm>
            <a:off x="64992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Gels and Pastes</a:t>
            </a:r>
          </a:p>
        </p:txBody>
      </p:sp>
      <p:sp>
        <p:nvSpPr>
          <p:cNvPr id="68" name="Rounded Rectangle 67"/>
          <p:cNvSpPr/>
          <p:nvPr/>
        </p:nvSpPr>
        <p:spPr>
          <a:xfrm>
            <a:off x="142875" y="3772696"/>
            <a:ext cx="7696200" cy="2783689"/>
          </a:xfrm>
          <a:prstGeom prst="roundRect">
            <a:avLst>
              <a:gd name="adj" fmla="val 27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  2026–2036</a:t>
            </a:r>
          </a:p>
        </p:txBody>
      </p:sp>
      <p:cxnSp>
        <p:nvCxnSpPr>
          <p:cNvPr id="70" name="Connector 69"/>
          <p:cNvCxnSpPr/>
          <p:nvPr/>
        </p:nvCxnSpPr>
        <p:spPr>
          <a:xfrm>
            <a:off x="619125" y="431721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19125" y="472849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19125" y="51397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19125" y="555105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19125" y="5962335"/>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19125" y="4317216"/>
            <a:ext cx="0" cy="1645119"/>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590550" y="431721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590550" y="472849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590550" y="513977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590550" y="555105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590550" y="596233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81" name="FMI Scale tick"/>
          <p:cNvSpPr txBox="1"/>
          <p:nvPr/>
        </p:nvSpPr>
        <p:spPr>
          <a:xfrm>
            <a:off x="219075" y="4250541"/>
            <a:ext cx="361950" cy="133350"/>
          </a:xfrm>
          <a:prstGeom prst="rect">
            <a:avLst/>
          </a:prstGeom>
          <a:noFill/>
        </p:spPr>
        <p:txBody>
          <a:bodyPr wrap="none" lIns="0" rIns="0" tIns="0" bIns="0" anchor="ctr">
            <a:spAutoFit/>
          </a:bodyPr>
          <a:lstStyle/>
          <a:p>
            <a:pPr algn="r"/>
            <a:r>
              <a:rPr sz="1100" b="0">
                <a:solidFill>
                  <a:srgbClr val="6C7A89"/>
                </a:solidFill>
                <a:latin typeface="Calibri"/>
              </a:rPr>
              <a:t>+49%</a:t>
            </a:r>
          </a:p>
        </p:txBody>
      </p:sp>
      <p:sp>
        <p:nvSpPr>
          <p:cNvPr id="82" name="FMI Scale tick"/>
          <p:cNvSpPr txBox="1"/>
          <p:nvPr/>
        </p:nvSpPr>
        <p:spPr>
          <a:xfrm>
            <a:off x="219075" y="4661821"/>
            <a:ext cx="361950" cy="133350"/>
          </a:xfrm>
          <a:prstGeom prst="rect">
            <a:avLst/>
          </a:prstGeom>
          <a:noFill/>
        </p:spPr>
        <p:txBody>
          <a:bodyPr wrap="none" lIns="0" rIns="0" tIns="0" bIns="0" anchor="ctr">
            <a:spAutoFit/>
          </a:bodyPr>
          <a:lstStyle/>
          <a:p>
            <a:pPr algn="r"/>
            <a:r>
              <a:rPr sz="1100" b="0">
                <a:solidFill>
                  <a:srgbClr val="6C7A89"/>
                </a:solidFill>
                <a:latin typeface="Calibri"/>
              </a:rPr>
              <a:t>+25%</a:t>
            </a:r>
          </a:p>
        </p:txBody>
      </p:sp>
      <p:sp>
        <p:nvSpPr>
          <p:cNvPr id="83" name="FMI Scale tick"/>
          <p:cNvSpPr txBox="1"/>
          <p:nvPr/>
        </p:nvSpPr>
        <p:spPr>
          <a:xfrm>
            <a:off x="107156" y="5073101"/>
            <a:ext cx="473869" cy="133350"/>
          </a:xfrm>
          <a:prstGeom prst="rect">
            <a:avLst/>
          </a:prstGeom>
          <a:noFill/>
        </p:spPr>
        <p:txBody>
          <a:bodyPr wrap="square" lIns="28575" rIns="28575" tIns="9525" bIns="9525" anchor="ctr">
            <a:spAutoFit/>
          </a:bodyPr>
          <a:lstStyle/>
          <a:p>
            <a:pPr algn="r"/>
            <a:r>
              <a:rPr sz="1100" b="1">
                <a:solidFill>
                  <a:srgbClr val="6C7A89"/>
                </a:solidFill>
                <a:latin typeface="Calibri"/>
              </a:rPr>
              <a:t>Global</a:t>
            </a:r>
          </a:p>
        </p:txBody>
      </p:sp>
      <p:sp>
        <p:nvSpPr>
          <p:cNvPr id="84" name="FMI Scale tick"/>
          <p:cNvSpPr txBox="1"/>
          <p:nvPr/>
        </p:nvSpPr>
        <p:spPr>
          <a:xfrm>
            <a:off x="219075" y="5484381"/>
            <a:ext cx="361950" cy="133350"/>
          </a:xfrm>
          <a:prstGeom prst="rect">
            <a:avLst/>
          </a:prstGeom>
          <a:noFill/>
        </p:spPr>
        <p:txBody>
          <a:bodyPr wrap="none" lIns="0" rIns="0" tIns="0" bIns="0" anchor="ctr">
            <a:spAutoFit/>
          </a:bodyPr>
          <a:lstStyle/>
          <a:p>
            <a:pPr algn="r"/>
            <a:r>
              <a:rPr sz="1100" b="0">
                <a:solidFill>
                  <a:srgbClr val="6C7A89"/>
                </a:solidFill>
                <a:latin typeface="Calibri"/>
              </a:rPr>
              <a:t>-25%</a:t>
            </a:r>
          </a:p>
        </p:txBody>
      </p:sp>
      <p:sp>
        <p:nvSpPr>
          <p:cNvPr id="85" name="FMI Scale tick"/>
          <p:cNvSpPr txBox="1"/>
          <p:nvPr/>
        </p:nvSpPr>
        <p:spPr>
          <a:xfrm>
            <a:off x="219075" y="5895660"/>
            <a:ext cx="361950" cy="133350"/>
          </a:xfrm>
          <a:prstGeom prst="rect">
            <a:avLst/>
          </a:prstGeom>
          <a:noFill/>
        </p:spPr>
        <p:txBody>
          <a:bodyPr wrap="none" lIns="0" rIns="0" tIns="0" bIns="0" anchor="ctr">
            <a:spAutoFit/>
          </a:bodyPr>
          <a:lstStyle/>
          <a:p>
            <a:pPr algn="r"/>
            <a:r>
              <a:rPr sz="1100" b="0">
                <a:solidFill>
                  <a:srgbClr val="6C7A89"/>
                </a:solidFill>
                <a:latin typeface="Calibri"/>
              </a:rPr>
              <a:t>-49%</a:t>
            </a:r>
          </a:p>
        </p:txBody>
      </p:sp>
      <p:cxnSp>
        <p:nvCxnSpPr>
          <p:cNvPr id="86" name="Connector 85"/>
          <p:cNvCxnSpPr/>
          <p:nvPr/>
        </p:nvCxnSpPr>
        <p:spPr>
          <a:xfrm>
            <a:off x="619125" y="513977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977900" y="4423458"/>
            <a:ext cx="457200" cy="716318"/>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MI Data Label"/>
          <p:cNvSpPr txBox="1"/>
          <p:nvPr/>
        </p:nvSpPr>
        <p:spPr>
          <a:xfrm>
            <a:off x="619125" y="4280583"/>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9" name="Rectangle 88"/>
          <p:cNvSpPr/>
          <p:nvPr/>
        </p:nvSpPr>
        <p:spPr>
          <a:xfrm>
            <a:off x="2152650" y="5139776"/>
            <a:ext cx="457200" cy="61135"/>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MI Data Label"/>
          <p:cNvSpPr txBox="1"/>
          <p:nvPr/>
        </p:nvSpPr>
        <p:spPr>
          <a:xfrm>
            <a:off x="1793875" y="5210436"/>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1" name="Rectangle 90"/>
          <p:cNvSpPr/>
          <p:nvPr/>
        </p:nvSpPr>
        <p:spPr>
          <a:xfrm>
            <a:off x="3327400" y="4702579"/>
            <a:ext cx="457200" cy="437197"/>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MI Data Label"/>
          <p:cNvSpPr txBox="1"/>
          <p:nvPr/>
        </p:nvSpPr>
        <p:spPr>
          <a:xfrm>
            <a:off x="2968625" y="4559704"/>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3" name="Rectangle 92"/>
          <p:cNvSpPr/>
          <p:nvPr/>
        </p:nvSpPr>
        <p:spPr>
          <a:xfrm>
            <a:off x="4502150" y="5139776"/>
            <a:ext cx="457200" cy="517786"/>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MI Data Label"/>
          <p:cNvSpPr txBox="1"/>
          <p:nvPr/>
        </p:nvSpPr>
        <p:spPr>
          <a:xfrm>
            <a:off x="4143375" y="5667086"/>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5" name="Rectangle 94"/>
          <p:cNvSpPr/>
          <p:nvPr/>
        </p:nvSpPr>
        <p:spPr>
          <a:xfrm>
            <a:off x="5676900" y="5139776"/>
            <a:ext cx="457200" cy="669796"/>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MI Data Label"/>
          <p:cNvSpPr txBox="1"/>
          <p:nvPr/>
        </p:nvSpPr>
        <p:spPr>
          <a:xfrm>
            <a:off x="5318125" y="5819097"/>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7" name="Rectangle 96"/>
          <p:cNvSpPr/>
          <p:nvPr/>
        </p:nvSpPr>
        <p:spPr>
          <a:xfrm>
            <a:off x="6851650" y="5139776"/>
            <a:ext cx="457200" cy="143881"/>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MI Data Label"/>
          <p:cNvSpPr txBox="1"/>
          <p:nvPr/>
        </p:nvSpPr>
        <p:spPr>
          <a:xfrm>
            <a:off x="6492875" y="5293182"/>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9" name="TextBox 98"/>
          <p:cNvSpPr txBox="1"/>
          <p:nvPr/>
        </p:nvSpPr>
        <p:spPr>
          <a:xfrm>
            <a:off x="619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100" name="TextBox 99"/>
          <p:cNvSpPr txBox="1"/>
          <p:nvPr/>
        </p:nvSpPr>
        <p:spPr>
          <a:xfrm>
            <a:off x="1793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101" name="TextBox 100"/>
          <p:cNvSpPr txBox="1"/>
          <p:nvPr/>
        </p:nvSpPr>
        <p:spPr>
          <a:xfrm>
            <a:off x="29686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Europe</a:t>
            </a:r>
          </a:p>
        </p:txBody>
      </p:sp>
      <p:sp>
        <p:nvSpPr>
          <p:cNvPr id="102" name="TextBox 101"/>
          <p:cNvSpPr txBox="1"/>
          <p:nvPr/>
        </p:nvSpPr>
        <p:spPr>
          <a:xfrm>
            <a:off x="41433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103" name="TextBox 102"/>
          <p:cNvSpPr txBox="1"/>
          <p:nvPr/>
        </p:nvSpPr>
        <p:spPr>
          <a:xfrm>
            <a:off x="5318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104" name="TextBox 103"/>
          <p:cNvSpPr txBox="1"/>
          <p:nvPr/>
        </p:nvSpPr>
        <p:spPr>
          <a:xfrm>
            <a:off x="6492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Middle East &amp; Africa</a:t>
            </a:r>
          </a:p>
        </p:txBody>
      </p:sp>
      <p:sp>
        <p:nvSpPr>
          <p:cNvPr id="105" name="Rounded Rectangle 104"/>
          <p:cNvSpPr/>
          <p:nvPr/>
        </p:nvSpPr>
        <p:spPr>
          <a:xfrm>
            <a:off x="7915275" y="1052895"/>
            <a:ext cx="4133850" cy="550349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107" name="Rectangle 106"/>
          <p:cNvSpPr/>
          <p:nvPr/>
        </p:nvSpPr>
        <p:spPr>
          <a:xfrm>
            <a:off x="8048625" y="137674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09" name="TextBox 10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10" name="Picture 109" descr="lock.png"/>
          <p:cNvPicPr>
            <a:picLocks noChangeAspect="1"/>
          </p:cNvPicPr>
          <p:nvPr/>
        </p:nvPicPr>
        <p:blipFill>
          <a:blip r:embed="rId4"/>
          <a:stretch>
            <a:fillRect/>
          </a:stretch>
        </p:blipFill>
        <p:spPr>
          <a:xfrm>
            <a:off x="1177075" y="2609373"/>
            <a:ext cx="128699" cy="187198"/>
          </a:xfrm>
          <a:prstGeom prst="rect">
            <a:avLst/>
          </a:prstGeom>
        </p:spPr>
      </p:pic>
      <p:pic>
        <p:nvPicPr>
          <p:cNvPr id="111" name="Picture 110" descr="lock.png"/>
          <p:cNvPicPr>
            <a:picLocks noChangeAspect="1"/>
          </p:cNvPicPr>
          <p:nvPr/>
        </p:nvPicPr>
        <p:blipFill>
          <a:blip r:embed="rId4"/>
          <a:stretch>
            <a:fillRect/>
          </a:stretch>
        </p:blipFill>
        <p:spPr>
          <a:xfrm>
            <a:off x="2345475" y="2774405"/>
            <a:ext cx="128699" cy="187198"/>
          </a:xfrm>
          <a:prstGeom prst="rect">
            <a:avLst/>
          </a:prstGeom>
        </p:spPr>
      </p:pic>
      <p:pic>
        <p:nvPicPr>
          <p:cNvPr id="112" name="Picture 111" descr="lock.png"/>
          <p:cNvPicPr>
            <a:picLocks noChangeAspect="1"/>
          </p:cNvPicPr>
          <p:nvPr/>
        </p:nvPicPr>
        <p:blipFill>
          <a:blip r:embed="rId4"/>
          <a:stretch>
            <a:fillRect/>
          </a:stretch>
        </p:blipFill>
        <p:spPr>
          <a:xfrm>
            <a:off x="3513875" y="1483092"/>
            <a:ext cx="128699" cy="187198"/>
          </a:xfrm>
          <a:prstGeom prst="rect">
            <a:avLst/>
          </a:prstGeom>
        </p:spPr>
      </p:pic>
      <p:pic>
        <p:nvPicPr>
          <p:cNvPr id="113" name="Picture 112" descr="lock.png"/>
          <p:cNvPicPr>
            <a:picLocks noChangeAspect="1"/>
          </p:cNvPicPr>
          <p:nvPr/>
        </p:nvPicPr>
        <p:blipFill>
          <a:blip r:embed="rId4"/>
          <a:stretch>
            <a:fillRect/>
          </a:stretch>
        </p:blipFill>
        <p:spPr>
          <a:xfrm>
            <a:off x="4682275" y="1568433"/>
            <a:ext cx="128699" cy="187198"/>
          </a:xfrm>
          <a:prstGeom prst="rect">
            <a:avLst/>
          </a:prstGeom>
        </p:spPr>
      </p:pic>
      <p:pic>
        <p:nvPicPr>
          <p:cNvPr id="114" name="Picture 113" descr="lock.png"/>
          <p:cNvPicPr>
            <a:picLocks noChangeAspect="1"/>
          </p:cNvPicPr>
          <p:nvPr/>
        </p:nvPicPr>
        <p:blipFill>
          <a:blip r:embed="rId4"/>
          <a:stretch>
            <a:fillRect/>
          </a:stretch>
        </p:blipFill>
        <p:spPr>
          <a:xfrm>
            <a:off x="5850675" y="1601019"/>
            <a:ext cx="128699" cy="187198"/>
          </a:xfrm>
          <a:prstGeom prst="rect">
            <a:avLst/>
          </a:prstGeom>
        </p:spPr>
      </p:pic>
      <p:pic>
        <p:nvPicPr>
          <p:cNvPr id="115" name="Picture 114" descr="lock.png"/>
          <p:cNvPicPr>
            <a:picLocks noChangeAspect="1"/>
          </p:cNvPicPr>
          <p:nvPr/>
        </p:nvPicPr>
        <p:blipFill>
          <a:blip r:embed="rId4"/>
          <a:stretch>
            <a:fillRect/>
          </a:stretch>
        </p:blipFill>
        <p:spPr>
          <a:xfrm>
            <a:off x="7019075" y="2392125"/>
            <a:ext cx="128699" cy="187198"/>
          </a:xfrm>
          <a:prstGeom prst="rect">
            <a:avLst/>
          </a:prstGeom>
        </p:spPr>
      </p:pic>
      <p:pic>
        <p:nvPicPr>
          <p:cNvPr id="116" name="Picture 115" descr="lock.png"/>
          <p:cNvPicPr>
            <a:picLocks noChangeAspect="1"/>
          </p:cNvPicPr>
          <p:nvPr/>
        </p:nvPicPr>
        <p:blipFill>
          <a:blip r:embed="rId4"/>
          <a:stretch>
            <a:fillRect/>
          </a:stretch>
        </p:blipFill>
        <p:spPr>
          <a:xfrm>
            <a:off x="1142150" y="4253659"/>
            <a:ext cx="128699" cy="187198"/>
          </a:xfrm>
          <a:prstGeom prst="rect">
            <a:avLst/>
          </a:prstGeom>
        </p:spPr>
      </p:pic>
      <p:pic>
        <p:nvPicPr>
          <p:cNvPr id="117" name="Picture 116" descr="lock.png"/>
          <p:cNvPicPr>
            <a:picLocks noChangeAspect="1"/>
          </p:cNvPicPr>
          <p:nvPr/>
        </p:nvPicPr>
        <p:blipFill>
          <a:blip r:embed="rId4"/>
          <a:stretch>
            <a:fillRect/>
          </a:stretch>
        </p:blipFill>
        <p:spPr>
          <a:xfrm>
            <a:off x="2316900" y="5183511"/>
            <a:ext cx="128699" cy="187198"/>
          </a:xfrm>
          <a:prstGeom prst="rect">
            <a:avLst/>
          </a:prstGeom>
        </p:spPr>
      </p:pic>
      <p:pic>
        <p:nvPicPr>
          <p:cNvPr id="118" name="Picture 117" descr="lock.png"/>
          <p:cNvPicPr>
            <a:picLocks noChangeAspect="1"/>
          </p:cNvPicPr>
          <p:nvPr/>
        </p:nvPicPr>
        <p:blipFill>
          <a:blip r:embed="rId4"/>
          <a:stretch>
            <a:fillRect/>
          </a:stretch>
        </p:blipFill>
        <p:spPr>
          <a:xfrm>
            <a:off x="3491650" y="4532780"/>
            <a:ext cx="128699" cy="187198"/>
          </a:xfrm>
          <a:prstGeom prst="rect">
            <a:avLst/>
          </a:prstGeom>
        </p:spPr>
      </p:pic>
      <p:pic>
        <p:nvPicPr>
          <p:cNvPr id="119" name="Picture 118" descr="lock.png"/>
          <p:cNvPicPr>
            <a:picLocks noChangeAspect="1"/>
          </p:cNvPicPr>
          <p:nvPr/>
        </p:nvPicPr>
        <p:blipFill>
          <a:blip r:embed="rId4"/>
          <a:stretch>
            <a:fillRect/>
          </a:stretch>
        </p:blipFill>
        <p:spPr>
          <a:xfrm>
            <a:off x="4666400" y="5640161"/>
            <a:ext cx="128699" cy="187198"/>
          </a:xfrm>
          <a:prstGeom prst="rect">
            <a:avLst/>
          </a:prstGeom>
        </p:spPr>
      </p:pic>
      <p:pic>
        <p:nvPicPr>
          <p:cNvPr id="120" name="Picture 119" descr="lock.png"/>
          <p:cNvPicPr>
            <a:picLocks noChangeAspect="1"/>
          </p:cNvPicPr>
          <p:nvPr/>
        </p:nvPicPr>
        <p:blipFill>
          <a:blip r:embed="rId4"/>
          <a:stretch>
            <a:fillRect/>
          </a:stretch>
        </p:blipFill>
        <p:spPr>
          <a:xfrm>
            <a:off x="5841150" y="5792173"/>
            <a:ext cx="128699" cy="187198"/>
          </a:xfrm>
          <a:prstGeom prst="rect">
            <a:avLst/>
          </a:prstGeom>
        </p:spPr>
      </p:pic>
      <p:pic>
        <p:nvPicPr>
          <p:cNvPr id="121" name="Picture 120" descr="lock.png"/>
          <p:cNvPicPr>
            <a:picLocks noChangeAspect="1"/>
          </p:cNvPicPr>
          <p:nvPr/>
        </p:nvPicPr>
        <p:blipFill>
          <a:blip r:embed="rId4"/>
          <a:stretch>
            <a:fillRect/>
          </a:stretch>
        </p:blipFill>
        <p:spPr>
          <a:xfrm>
            <a:off x="7015900" y="5266258"/>
            <a:ext cx="128699" cy="187198"/>
          </a:xfrm>
          <a:prstGeom prst="rect">
            <a:avLst/>
          </a:prstGeom>
        </p:spPr>
      </p:pic>
      <p:sp>
        <p:nvSpPr>
          <p:cNvPr id="122" name="TextBox 121"/>
          <p:cNvSpPr txBox="1"/>
          <p:nvPr/>
        </p:nvSpPr>
        <p:spPr>
          <a:xfrm>
            <a:off x="8048625" y="1471995"/>
            <a:ext cx="3616486" cy="194310"/>
          </a:xfrm>
          <a:prstGeom prst="rect">
            <a:avLst/>
          </a:prstGeom>
          <a:noFill/>
        </p:spPr>
        <p:txBody>
          <a:bodyPr wrap="none" lIns="0" rIns="0" tIns="0" bIns="0">
            <a:spAutoFit/>
          </a:bodyPr>
          <a:lstStyle/>
          <a:p>
            <a:r>
              <a:rPr sz="1150" b="0">
                <a:solidFill>
                  <a:srgbClr val="2E2E2E"/>
                </a:solidFill>
                <a:latin typeface="Calibri"/>
              </a:rPr>
              <a:t>Capsules and softgels segment is expected to command the</a:t>
            </a:r>
          </a:p>
        </p:txBody>
      </p:sp>
      <p:sp>
        <p:nvSpPr>
          <p:cNvPr id="123" name="TextBox 122"/>
          <p:cNvSpPr txBox="1"/>
          <p:nvPr/>
        </p:nvSpPr>
        <p:spPr>
          <a:xfrm>
            <a:off x="8048625" y="1647255"/>
            <a:ext cx="1766899" cy="194310"/>
          </a:xfrm>
          <a:prstGeom prst="rect">
            <a:avLst/>
          </a:prstGeom>
          <a:noFill/>
        </p:spPr>
        <p:txBody>
          <a:bodyPr wrap="none" lIns="0" rIns="0" tIns="0" bIns="0">
            <a:spAutoFit/>
          </a:bodyPr>
          <a:lstStyle/>
          <a:p>
            <a:r>
              <a:rPr sz="1150" b="0">
                <a:solidFill>
                  <a:srgbClr val="2E2E2E"/>
                </a:solidFill>
                <a:latin typeface="Calibri"/>
              </a:rPr>
              <a:t>highest average price of US$</a:t>
            </a:r>
          </a:p>
        </p:txBody>
      </p:sp>
      <p:pic>
        <p:nvPicPr>
          <p:cNvPr id="124" name="Picture 123" descr="lock.png"/>
          <p:cNvPicPr>
            <a:picLocks noChangeAspect="1"/>
          </p:cNvPicPr>
          <p:nvPr/>
        </p:nvPicPr>
        <p:blipFill>
          <a:blip r:embed="rId4"/>
          <a:stretch>
            <a:fillRect/>
          </a:stretch>
        </p:blipFill>
        <p:spPr>
          <a:xfrm>
            <a:off x="9764678" y="1637031"/>
            <a:ext cx="134549" cy="195707"/>
          </a:xfrm>
          <a:prstGeom prst="rect">
            <a:avLst/>
          </a:prstGeom>
        </p:spPr>
      </p:pic>
      <p:sp>
        <p:nvSpPr>
          <p:cNvPr id="125" name="TextBox 124"/>
          <p:cNvSpPr txBox="1"/>
          <p:nvPr/>
        </p:nvSpPr>
        <p:spPr>
          <a:xfrm>
            <a:off x="9939788" y="1647255"/>
            <a:ext cx="1534663" cy="194310"/>
          </a:xfrm>
          <a:prstGeom prst="rect">
            <a:avLst/>
          </a:prstGeom>
          <a:noFill/>
        </p:spPr>
        <p:txBody>
          <a:bodyPr wrap="none" lIns="0" rIns="0" tIns="0" bIns="0">
            <a:spAutoFit/>
          </a:bodyPr>
          <a:lstStyle/>
          <a:p>
            <a:r>
              <a:rPr sz="1150" b="0">
                <a:solidFill>
                  <a:srgbClr val="2E2E2E"/>
                </a:solidFill>
                <a:latin typeface="Calibri"/>
              </a:rPr>
              <a:t>per MT in 2036. Average</a:t>
            </a:r>
          </a:p>
        </p:txBody>
      </p:sp>
      <p:sp>
        <p:nvSpPr>
          <p:cNvPr id="126" name="TextBox 125"/>
          <p:cNvSpPr txBox="1"/>
          <p:nvPr/>
        </p:nvSpPr>
        <p:spPr>
          <a:xfrm>
            <a:off x="8048625" y="1822515"/>
            <a:ext cx="3814167" cy="194310"/>
          </a:xfrm>
          <a:prstGeom prst="rect">
            <a:avLst/>
          </a:prstGeom>
          <a:noFill/>
        </p:spPr>
        <p:txBody>
          <a:bodyPr wrap="none" lIns="0" rIns="0" tIns="0" bIns="0">
            <a:spAutoFit/>
          </a:bodyPr>
          <a:lstStyle/>
          <a:p>
            <a:r>
              <a:rPr sz="1150" b="0">
                <a:solidFill>
                  <a:srgbClr val="2E2E2E"/>
                </a:solidFill>
                <a:latin typeface="Calibri"/>
              </a:rPr>
              <a:t>selling price of senior dog cognitive supplement is estimated at</a:t>
            </a:r>
          </a:p>
        </p:txBody>
      </p:sp>
      <p:sp>
        <p:nvSpPr>
          <p:cNvPr id="127" name="TextBox 126"/>
          <p:cNvSpPr txBox="1"/>
          <p:nvPr/>
        </p:nvSpPr>
        <p:spPr>
          <a:xfrm>
            <a:off x="8048625" y="1997775"/>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128" name="Picture 127" descr="lock.png"/>
          <p:cNvPicPr>
            <a:picLocks noChangeAspect="1"/>
          </p:cNvPicPr>
          <p:nvPr/>
        </p:nvPicPr>
        <p:blipFill>
          <a:blip r:embed="rId4"/>
          <a:stretch>
            <a:fillRect/>
          </a:stretch>
        </p:blipFill>
        <p:spPr>
          <a:xfrm>
            <a:off x="8309028" y="1987551"/>
            <a:ext cx="134549" cy="195707"/>
          </a:xfrm>
          <a:prstGeom prst="rect">
            <a:avLst/>
          </a:prstGeom>
        </p:spPr>
      </p:pic>
      <p:sp>
        <p:nvSpPr>
          <p:cNvPr id="129" name="TextBox 128"/>
          <p:cNvSpPr txBox="1"/>
          <p:nvPr/>
        </p:nvSpPr>
        <p:spPr>
          <a:xfrm>
            <a:off x="8484137" y="1997775"/>
            <a:ext cx="3081064" cy="194310"/>
          </a:xfrm>
          <a:prstGeom prst="rect">
            <a:avLst/>
          </a:prstGeom>
          <a:noFill/>
        </p:spPr>
        <p:txBody>
          <a:bodyPr wrap="none" lIns="0" rIns="0" tIns="0" bIns="0">
            <a:spAutoFit/>
          </a:bodyPr>
          <a:lstStyle/>
          <a:p>
            <a:r>
              <a:rPr sz="1150" b="0">
                <a:solidFill>
                  <a:srgbClr val="2E2E2E"/>
                </a:solidFill>
                <a:latin typeface="Calibri"/>
              </a:rPr>
              <a:t>per MT in 2025 and is projected to increase to US$</a:t>
            </a:r>
          </a:p>
        </p:txBody>
      </p:sp>
      <p:pic>
        <p:nvPicPr>
          <p:cNvPr id="130" name="Picture 129" descr="lock.png"/>
          <p:cNvPicPr>
            <a:picLocks noChangeAspect="1"/>
          </p:cNvPicPr>
          <p:nvPr/>
        </p:nvPicPr>
        <p:blipFill>
          <a:blip r:embed="rId4"/>
          <a:stretch>
            <a:fillRect/>
          </a:stretch>
        </p:blipFill>
        <p:spPr>
          <a:xfrm>
            <a:off x="11514356" y="1987551"/>
            <a:ext cx="134549" cy="195707"/>
          </a:xfrm>
          <a:prstGeom prst="rect">
            <a:avLst/>
          </a:prstGeom>
        </p:spPr>
      </p:pic>
      <p:sp>
        <p:nvSpPr>
          <p:cNvPr id="131" name="TextBox 130"/>
          <p:cNvSpPr txBox="1"/>
          <p:nvPr/>
        </p:nvSpPr>
        <p:spPr>
          <a:xfrm>
            <a:off x="8048625" y="2173035"/>
            <a:ext cx="1048630" cy="194310"/>
          </a:xfrm>
          <a:prstGeom prst="rect">
            <a:avLst/>
          </a:prstGeom>
          <a:noFill/>
        </p:spPr>
        <p:txBody>
          <a:bodyPr wrap="none" lIns="0" rIns="0" tIns="0" bIns="0">
            <a:spAutoFit/>
          </a:bodyPr>
          <a:lstStyle/>
          <a:p>
            <a:r>
              <a:rPr sz="1150" b="0">
                <a:solidFill>
                  <a:srgbClr val="2E2E2E"/>
                </a:solidFill>
                <a:latin typeface="Calibri"/>
              </a:rPr>
              <a:t>per MT by 2036.</a:t>
            </a:r>
          </a:p>
        </p:txBody>
      </p:sp>
      <p:sp>
        <p:nvSpPr>
          <p:cNvPr id="132" name="TextBox 131"/>
          <p:cNvSpPr txBox="1"/>
          <p:nvPr/>
        </p:nvSpPr>
        <p:spPr>
          <a:xfrm>
            <a:off x="8048625" y="2400873"/>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133" name="TextBox 132"/>
          <p:cNvSpPr txBox="1"/>
          <p:nvPr/>
        </p:nvSpPr>
        <p:spPr>
          <a:xfrm>
            <a:off x="8048625" y="2576133"/>
            <a:ext cx="382158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Against the global</a:t>
            </a:r>
          </a:p>
        </p:txBody>
      </p:sp>
      <p:sp>
        <p:nvSpPr>
          <p:cNvPr id="134" name="TextBox 133"/>
          <p:cNvSpPr txBox="1"/>
          <p:nvPr/>
        </p:nvSpPr>
        <p:spPr>
          <a:xfrm>
            <a:off x="8048625" y="2751393"/>
            <a:ext cx="526901" cy="194310"/>
          </a:xfrm>
          <a:prstGeom prst="rect">
            <a:avLst/>
          </a:prstGeom>
          <a:noFill/>
        </p:spPr>
        <p:txBody>
          <a:bodyPr wrap="none" lIns="0" rIns="0" tIns="0" bIns="0">
            <a:spAutoFit/>
          </a:bodyPr>
          <a:lstStyle/>
          <a:p>
            <a:r>
              <a:rPr sz="1150" b="0">
                <a:solidFill>
                  <a:srgbClr val="2E2E2E"/>
                </a:solidFill>
                <a:latin typeface="Calibri"/>
              </a:rPr>
              <a:t>price of</a:t>
            </a:r>
          </a:p>
        </p:txBody>
      </p:sp>
      <p:pic>
        <p:nvPicPr>
          <p:cNvPr id="135" name="Picture 134" descr="lock.png"/>
          <p:cNvPicPr>
            <a:picLocks noChangeAspect="1"/>
          </p:cNvPicPr>
          <p:nvPr/>
        </p:nvPicPr>
        <p:blipFill>
          <a:blip r:embed="rId4"/>
          <a:stretch>
            <a:fillRect/>
          </a:stretch>
        </p:blipFill>
        <p:spPr>
          <a:xfrm>
            <a:off x="8524680" y="2741169"/>
            <a:ext cx="134549" cy="195707"/>
          </a:xfrm>
          <a:prstGeom prst="rect">
            <a:avLst/>
          </a:prstGeom>
        </p:spPr>
      </p:pic>
      <p:sp>
        <p:nvSpPr>
          <p:cNvPr id="136" name="TextBox 135"/>
          <p:cNvSpPr txBox="1"/>
          <p:nvPr/>
        </p:nvSpPr>
        <p:spPr>
          <a:xfrm>
            <a:off x="8699789" y="2751393"/>
            <a:ext cx="2962399" cy="194310"/>
          </a:xfrm>
          <a:prstGeom prst="rect">
            <a:avLst/>
          </a:prstGeom>
          <a:noFill/>
        </p:spPr>
        <p:txBody>
          <a:bodyPr wrap="none" lIns="0" rIns="0" tIns="0" bIns="0">
            <a:spAutoFit/>
          </a:bodyPr>
          <a:lstStyle/>
          <a:p>
            <a:r>
              <a:rPr sz="1150" b="0">
                <a:solidFill>
                  <a:srgbClr val="2E2E2E"/>
                </a:solidFill>
                <a:latin typeface="Calibri"/>
              </a:rPr>
              <a:t>US$/MT, 2 of 6 regions price above and 4 below.</a:t>
            </a:r>
          </a:p>
        </p:txBody>
      </p:sp>
      <p:sp>
        <p:nvSpPr>
          <p:cNvPr id="137" name="TextBox 136"/>
          <p:cNvSpPr txBox="1"/>
          <p:nvPr/>
        </p:nvSpPr>
        <p:spPr>
          <a:xfrm>
            <a:off x="8048625" y="2979230"/>
            <a:ext cx="2108063" cy="194310"/>
          </a:xfrm>
          <a:prstGeom prst="rect">
            <a:avLst/>
          </a:prstGeom>
          <a:noFill/>
        </p:spPr>
        <p:txBody>
          <a:bodyPr wrap="none" lIns="0" rIns="0" tIns="0" bIns="0">
            <a:spAutoFit/>
          </a:bodyPr>
          <a:lstStyle/>
          <a:p>
            <a:r>
              <a:rPr sz="1150" b="0">
                <a:solidFill>
                  <a:srgbClr val="2E2E2E"/>
                </a:solidFill>
                <a:latin typeface="Calibri"/>
              </a:rPr>
              <a:t>'North America' is the dearest at +</a:t>
            </a:r>
          </a:p>
        </p:txBody>
      </p:sp>
      <p:pic>
        <p:nvPicPr>
          <p:cNvPr id="138" name="Picture 137" descr="lock.png"/>
          <p:cNvPicPr>
            <a:picLocks noChangeAspect="1"/>
          </p:cNvPicPr>
          <p:nvPr/>
        </p:nvPicPr>
        <p:blipFill>
          <a:blip r:embed="rId4"/>
          <a:stretch>
            <a:fillRect/>
          </a:stretch>
        </p:blipFill>
        <p:spPr>
          <a:xfrm>
            <a:off x="10105842" y="2969007"/>
            <a:ext cx="134549" cy="195707"/>
          </a:xfrm>
          <a:prstGeom prst="rect">
            <a:avLst/>
          </a:prstGeom>
        </p:spPr>
      </p:pic>
      <p:sp>
        <p:nvSpPr>
          <p:cNvPr id="139" name="TextBox 138"/>
          <p:cNvSpPr txBox="1"/>
          <p:nvPr/>
        </p:nvSpPr>
        <p:spPr>
          <a:xfrm>
            <a:off x="10280951" y="2979230"/>
            <a:ext cx="1599455" cy="194310"/>
          </a:xfrm>
          <a:prstGeom prst="rect">
            <a:avLst/>
          </a:prstGeom>
          <a:noFill/>
        </p:spPr>
        <p:txBody>
          <a:bodyPr wrap="none" lIns="0" rIns="0" tIns="0" bIns="0">
            <a:spAutoFit/>
          </a:bodyPr>
          <a:lstStyle/>
          <a:p>
            <a:r>
              <a:rPr sz="1150" b="0">
                <a:solidFill>
                  <a:srgbClr val="2E2E2E"/>
                </a:solidFill>
                <a:latin typeface="Calibri"/>
              </a:rPr>
              <a:t>versus Global, 'South Asia</a:t>
            </a:r>
          </a:p>
        </p:txBody>
      </p:sp>
      <p:sp>
        <p:nvSpPr>
          <p:cNvPr id="140" name="TextBox 139"/>
          <p:cNvSpPr txBox="1"/>
          <p:nvPr/>
        </p:nvSpPr>
        <p:spPr>
          <a:xfrm>
            <a:off x="8048625" y="3154490"/>
            <a:ext cx="1653654" cy="194310"/>
          </a:xfrm>
          <a:prstGeom prst="rect">
            <a:avLst/>
          </a:prstGeom>
          <a:noFill/>
        </p:spPr>
        <p:txBody>
          <a:bodyPr wrap="none" lIns="0" rIns="0" tIns="0" bIns="0">
            <a:spAutoFit/>
          </a:bodyPr>
          <a:lstStyle/>
          <a:p>
            <a:r>
              <a:rPr sz="1150" b="0">
                <a:solidFill>
                  <a:srgbClr val="2E2E2E"/>
                </a:solidFill>
                <a:latin typeface="Calibri"/>
              </a:rPr>
              <a:t>&amp; Pacific' the cheapest at -</a:t>
            </a:r>
          </a:p>
        </p:txBody>
      </p:sp>
      <p:pic>
        <p:nvPicPr>
          <p:cNvPr id="141" name="Picture 140" descr="lock.png"/>
          <p:cNvPicPr>
            <a:picLocks noChangeAspect="1"/>
          </p:cNvPicPr>
          <p:nvPr/>
        </p:nvPicPr>
        <p:blipFill>
          <a:blip r:embed="rId4"/>
          <a:stretch>
            <a:fillRect/>
          </a:stretch>
        </p:blipFill>
        <p:spPr>
          <a:xfrm>
            <a:off x="9651433" y="3144267"/>
            <a:ext cx="134549" cy="195707"/>
          </a:xfrm>
          <a:prstGeom prst="rect">
            <a:avLst/>
          </a:prstGeom>
        </p:spPr>
      </p:pic>
      <p:sp>
        <p:nvSpPr>
          <p:cNvPr id="142" name="TextBox 141"/>
          <p:cNvSpPr txBox="1"/>
          <p:nvPr/>
        </p:nvSpPr>
        <p:spPr>
          <a:xfrm>
            <a:off x="9826542" y="3154490"/>
            <a:ext cx="1702147" cy="194310"/>
          </a:xfrm>
          <a:prstGeom prst="rect">
            <a:avLst/>
          </a:prstGeom>
          <a:noFill/>
        </p:spPr>
        <p:txBody>
          <a:bodyPr wrap="none" lIns="0" rIns="0" tIns="0" bIns="0">
            <a:spAutoFit/>
          </a:bodyPr>
          <a:lstStyle/>
          <a:p>
            <a:r>
              <a:rPr sz="1150" b="0">
                <a:solidFill>
                  <a:srgbClr val="2E2E2E"/>
                </a:solidFill>
                <a:latin typeface="Calibri"/>
              </a:rPr>
              <a:t>pointing to premiumisation</a:t>
            </a:r>
          </a:p>
        </p:txBody>
      </p:sp>
      <p:sp>
        <p:nvSpPr>
          <p:cNvPr id="143" name="TextBox 142"/>
          <p:cNvSpPr txBox="1"/>
          <p:nvPr/>
        </p:nvSpPr>
        <p:spPr>
          <a:xfrm>
            <a:off x="8048625" y="3329750"/>
            <a:ext cx="2365647" cy="194310"/>
          </a:xfrm>
          <a:prstGeom prst="rect">
            <a:avLst/>
          </a:prstGeom>
          <a:noFill/>
        </p:spPr>
        <p:txBody>
          <a:bodyPr wrap="none" lIns="0" rIns="0" tIns="0" bIns="0">
            <a:spAutoFit/>
          </a:bodyPr>
          <a:lstStyle/>
          <a:p>
            <a:r>
              <a:rPr sz="1150" b="0">
                <a:solidFill>
                  <a:srgbClr val="2E2E2E"/>
                </a:solidFill>
                <a:latin typeface="Calibri"/>
              </a:rPr>
              <a:t>headroom in the lower-priced regions.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Senior Dog Cognitive Supplement Market Summary, By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value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848100" cy="194310"/>
          </a:xfrm>
          <a:prstGeom prst="rect">
            <a:avLst/>
          </a:prstGeom>
          <a:noFill/>
        </p:spPr>
        <p:txBody>
          <a:bodyPr wrap="none" lIns="0" rIns="0" tIns="0" bIns="0">
            <a:spAutoFit/>
          </a:bodyPr>
          <a:lstStyle/>
          <a:p>
            <a:r>
              <a:rPr sz="1150" b="0">
                <a:solidFill>
                  <a:srgbClr val="2E2E2E"/>
                </a:solidFill>
                <a:latin typeface="Calibri"/>
              </a:rPr>
              <a:t>Senior dog cognitive supplement market is projected to register</a:t>
            </a:r>
          </a:p>
        </p:txBody>
      </p:sp>
      <p:pic>
        <p:nvPicPr>
          <p:cNvPr id="35" name="Picture 34" descr="lock.png"/>
          <p:cNvPicPr>
            <a:picLocks noChangeAspect="1"/>
          </p:cNvPicPr>
          <p:nvPr/>
        </p:nvPicPr>
        <p:blipFill>
          <a:blip r:embed="rId6"/>
          <a:stretch>
            <a:fillRect/>
          </a:stretch>
        </p:blipFill>
        <p:spPr>
          <a:xfrm>
            <a:off x="8034545" y="2212023"/>
            <a:ext cx="134549" cy="195707"/>
          </a:xfrm>
          <a:prstGeom prst="rect">
            <a:avLst/>
          </a:prstGeom>
        </p:spPr>
      </p:pic>
      <p:sp>
        <p:nvSpPr>
          <p:cNvPr id="36" name="TextBox 35"/>
          <p:cNvSpPr txBox="1"/>
          <p:nvPr/>
        </p:nvSpPr>
        <p:spPr>
          <a:xfrm>
            <a:off x="8209654" y="2222247"/>
            <a:ext cx="3314402" cy="194310"/>
          </a:xfrm>
          <a:prstGeom prst="rect">
            <a:avLst/>
          </a:prstGeom>
          <a:noFill/>
        </p:spPr>
        <p:txBody>
          <a:bodyPr wrap="none" lIns="0" rIns="0" tIns="0" bIns="0">
            <a:spAutoFit/>
          </a:bodyPr>
          <a:lstStyle/>
          <a:p>
            <a:r>
              <a:rPr sz="1150" b="0">
                <a:solidFill>
                  <a:srgbClr val="2E2E2E"/>
                </a:solidFill>
                <a:latin typeface="Calibri"/>
              </a:rPr>
              <a:t>X increase in its revenue by the end of forecast period,</a:t>
            </a:r>
          </a:p>
        </p:txBody>
      </p:sp>
      <p:sp>
        <p:nvSpPr>
          <p:cNvPr id="37" name="TextBox 36"/>
          <p:cNvSpPr txBox="1"/>
          <p:nvPr/>
        </p:nvSpPr>
        <p:spPr>
          <a:xfrm>
            <a:off x="8048625" y="2397507"/>
            <a:ext cx="3380010" cy="194310"/>
          </a:xfrm>
          <a:prstGeom prst="rect">
            <a:avLst/>
          </a:prstGeom>
          <a:noFill/>
        </p:spPr>
        <p:txBody>
          <a:bodyPr wrap="none" lIns="0" rIns="0" tIns="0" bIns="0">
            <a:spAutoFit/>
          </a:bodyPr>
          <a:lstStyle/>
          <a:p>
            <a:r>
              <a:rPr sz="1150" b="0">
                <a:solidFill>
                  <a:srgbClr val="2E2E2E"/>
                </a:solidFill>
                <a:latin typeface="Calibri"/>
              </a:rPr>
              <a:t>2036. Global senior dog cognitive supplement market is</a:t>
            </a:r>
          </a:p>
        </p:txBody>
      </p:sp>
      <p:sp>
        <p:nvSpPr>
          <p:cNvPr id="38" name="TextBox 37"/>
          <p:cNvSpPr txBox="1"/>
          <p:nvPr/>
        </p:nvSpPr>
        <p:spPr>
          <a:xfrm>
            <a:off x="8048625" y="2572767"/>
            <a:ext cx="1812825" cy="194310"/>
          </a:xfrm>
          <a:prstGeom prst="rect">
            <a:avLst/>
          </a:prstGeom>
          <a:noFill/>
        </p:spPr>
        <p:txBody>
          <a:bodyPr wrap="none" lIns="0" rIns="0" tIns="0" bIns="0">
            <a:spAutoFit/>
          </a:bodyPr>
          <a:lstStyle/>
          <a:p>
            <a:r>
              <a:rPr sz="1150" b="0">
                <a:solidFill>
                  <a:srgbClr val="2E2E2E"/>
                </a:solidFill>
                <a:latin typeface="Calibri"/>
              </a:rPr>
              <a:t>expected to be valued at US$</a:t>
            </a:r>
          </a:p>
        </p:txBody>
      </p:sp>
      <p:pic>
        <p:nvPicPr>
          <p:cNvPr id="39" name="Picture 38" descr="lock.png"/>
          <p:cNvPicPr>
            <a:picLocks noChangeAspect="1"/>
          </p:cNvPicPr>
          <p:nvPr/>
        </p:nvPicPr>
        <p:blipFill>
          <a:blip r:embed="rId6"/>
          <a:stretch>
            <a:fillRect/>
          </a:stretch>
        </p:blipFill>
        <p:spPr>
          <a:xfrm>
            <a:off x="9810604" y="2562543"/>
            <a:ext cx="134549" cy="195707"/>
          </a:xfrm>
          <a:prstGeom prst="rect">
            <a:avLst/>
          </a:prstGeom>
        </p:spPr>
      </p:pic>
      <p:sp>
        <p:nvSpPr>
          <p:cNvPr id="40" name="TextBox 39"/>
          <p:cNvSpPr txBox="1"/>
          <p:nvPr/>
        </p:nvSpPr>
        <p:spPr>
          <a:xfrm>
            <a:off x="9985713" y="2572767"/>
            <a:ext cx="1079723" cy="194310"/>
          </a:xfrm>
          <a:prstGeom prst="rect">
            <a:avLst/>
          </a:prstGeom>
          <a:noFill/>
        </p:spPr>
        <p:txBody>
          <a:bodyPr wrap="none" lIns="0" rIns="0" tIns="0" bIns="0">
            <a:spAutoFit/>
          </a:bodyPr>
          <a:lstStyle/>
          <a:p>
            <a:r>
              <a:rPr sz="1150" b="0">
                <a:solidFill>
                  <a:srgbClr val="2E2E2E"/>
                </a:solidFill>
                <a:latin typeface="Calibri"/>
              </a:rPr>
              <a:t>Mn by 2036 end.</a:t>
            </a:r>
          </a:p>
        </p:txBody>
      </p:sp>
      <p:sp>
        <p:nvSpPr>
          <p:cNvPr id="41" name="TextBox 40"/>
          <p:cNvSpPr txBox="1"/>
          <p:nvPr/>
        </p:nvSpPr>
        <p:spPr>
          <a:xfrm>
            <a:off x="8048625" y="2800604"/>
            <a:ext cx="3812455" cy="194310"/>
          </a:xfrm>
          <a:prstGeom prst="rect">
            <a:avLst/>
          </a:prstGeom>
          <a:noFill/>
        </p:spPr>
        <p:txBody>
          <a:bodyPr wrap="none" lIns="0" rIns="0" tIns="0" bIns="0">
            <a:spAutoFit/>
          </a:bodyPr>
          <a:lstStyle/>
          <a:p>
            <a:r>
              <a:rPr sz="1150" b="0">
                <a:solidFill>
                  <a:srgbClr val="2E2E2E"/>
                </a:solidFill>
                <a:latin typeface="Calibri"/>
              </a:rPr>
              <a:t>It is projected to create overall incremental opportunity of US$</a:t>
            </a:r>
          </a:p>
        </p:txBody>
      </p:sp>
      <p:pic>
        <p:nvPicPr>
          <p:cNvPr id="42" name="Picture 41" descr="lock.png"/>
          <p:cNvPicPr>
            <a:picLocks noChangeAspect="1"/>
          </p:cNvPicPr>
          <p:nvPr/>
        </p:nvPicPr>
        <p:blipFill>
          <a:blip r:embed="rId6"/>
          <a:stretch>
            <a:fillRect/>
          </a:stretch>
        </p:blipFill>
        <p:spPr>
          <a:xfrm>
            <a:off x="8034545" y="2965641"/>
            <a:ext cx="134549" cy="195707"/>
          </a:xfrm>
          <a:prstGeom prst="rect">
            <a:avLst/>
          </a:prstGeom>
        </p:spPr>
      </p:pic>
      <p:sp>
        <p:nvSpPr>
          <p:cNvPr id="43" name="TextBox 42"/>
          <p:cNvSpPr txBox="1"/>
          <p:nvPr/>
        </p:nvSpPr>
        <p:spPr>
          <a:xfrm>
            <a:off x="8209654" y="2975864"/>
            <a:ext cx="1455687" cy="194310"/>
          </a:xfrm>
          <a:prstGeom prst="rect">
            <a:avLst/>
          </a:prstGeom>
          <a:noFill/>
        </p:spPr>
        <p:txBody>
          <a:bodyPr wrap="none" lIns="0" rIns="0" tIns="0" bIns="0">
            <a:spAutoFit/>
          </a:bodyPr>
          <a:lstStyle/>
          <a:p>
            <a:r>
              <a:rPr sz="1150" b="0">
                <a:solidFill>
                  <a:srgbClr val="2E2E2E"/>
                </a:solidFill>
                <a:latin typeface="Calibri"/>
              </a:rPr>
              <a:t>Mn from 2025 to 2036.</a:t>
            </a:r>
          </a:p>
        </p:txBody>
      </p:sp>
      <p:sp>
        <p:nvSpPr>
          <p:cNvPr id="44" name="TextBox 43"/>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45" name="Picture 44" descr="lock.png"/>
          <p:cNvPicPr>
            <a:picLocks noChangeAspect="1"/>
          </p:cNvPicPr>
          <p:nvPr/>
        </p:nvPicPr>
        <p:blipFill>
          <a:blip r:embed="rId6"/>
          <a:stretch>
            <a:fillRect/>
          </a:stretch>
        </p:blipFill>
        <p:spPr>
          <a:xfrm>
            <a:off x="10866614" y="4446251"/>
            <a:ext cx="134549" cy="195707"/>
          </a:xfrm>
          <a:prstGeom prst="rect">
            <a:avLst/>
          </a:prstGeom>
        </p:spPr>
      </p:pic>
      <p:sp>
        <p:nvSpPr>
          <p:cNvPr id="46" name="TextBox 45"/>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47" name="TextBox 46"/>
          <p:cNvSpPr txBox="1"/>
          <p:nvPr/>
        </p:nvSpPr>
        <p:spPr>
          <a:xfrm>
            <a:off x="8048625" y="4684312"/>
            <a:ext cx="3746816" cy="194310"/>
          </a:xfrm>
          <a:prstGeom prst="rect">
            <a:avLst/>
          </a:prstGeom>
          <a:noFill/>
        </p:spPr>
        <p:txBody>
          <a:bodyPr wrap="none" lIns="0" rIns="0" tIns="0" bIns="0">
            <a:spAutoFit/>
          </a:bodyPr>
          <a:lstStyle/>
          <a:p>
            <a:r>
              <a:rPr sz="1150" b="0">
                <a:solidFill>
                  <a:srgbClr val="2E2E2E"/>
                </a:solidFill>
                <a:latin typeface="Calibri"/>
              </a:rPr>
              <a:t>▪ Demand concentrates in 'Capsules and Softgels' within Form</a:t>
            </a:r>
          </a:p>
        </p:txBody>
      </p:sp>
      <p:sp>
        <p:nvSpPr>
          <p:cNvPr id="48" name="TextBox 47"/>
          <p:cNvSpPr txBox="1"/>
          <p:nvPr/>
        </p:nvSpPr>
        <p:spPr>
          <a:xfrm>
            <a:off x="8048625" y="4859572"/>
            <a:ext cx="399963" cy="194310"/>
          </a:xfrm>
          <a:prstGeom prst="rect">
            <a:avLst/>
          </a:prstGeom>
          <a:noFill/>
        </p:spPr>
        <p:txBody>
          <a:bodyPr wrap="none" lIns="0" rIns="0" tIns="0" bIns="0">
            <a:spAutoFit/>
          </a:bodyPr>
          <a:lstStyle/>
          <a:p>
            <a:r>
              <a:rPr sz="1150" b="0">
                <a:solidFill>
                  <a:srgbClr val="2E2E2E"/>
                </a:solidFill>
                <a:latin typeface="Calibri"/>
              </a:rPr>
              <a:t>Type.</a:t>
            </a:r>
          </a:p>
        </p:txBody>
      </p:sp>
      <p:sp>
        <p:nvSpPr>
          <p:cNvPr id="49" name="TextBox 48"/>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0" name="TextBox 49"/>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1"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Senior Dog Cognitive Supplement Market Volume &amp; Value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global market and the incremental $ opportunity it creates, 2021–2036</a:t>
            </a:r>
          </a:p>
        </p:txBody>
      </p:sp>
      <p:sp>
        <p:nvSpPr>
          <p:cNvPr id="10" name="Rounded Rectangle 9"/>
          <p:cNvSpPr/>
          <p:nvPr/>
        </p:nvSpPr>
        <p:spPr>
          <a:xfrm>
            <a:off x="142875" y="981075"/>
            <a:ext cx="4695825" cy="2571750"/>
          </a:xfrm>
          <a:prstGeom prst="roundRect">
            <a:avLst>
              <a:gd name="adj" fmla="val 29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2021–2025 (Historical)</a:t>
            </a:r>
          </a:p>
        </p:txBody>
      </p:sp>
      <p:graphicFrame>
        <p:nvGraphicFramePr>
          <p:cNvPr id="12" name="Chart 11"/>
          <p:cNvGraphicFramePr>
            <a:graphicFrameLocks noGrp="1"/>
          </p:cNvGraphicFramePr>
          <p:nvPr/>
        </p:nvGraphicFramePr>
        <p:xfrm>
          <a:off x="238125" y="1266825"/>
          <a:ext cx="4505325" cy="2228850"/>
        </p:xfrm>
        <a:graphic>
          <a:graphicData uri="http://schemas.openxmlformats.org/drawingml/2006/chart">
            <c:chart xmlns:c="http://schemas.openxmlformats.org/drawingml/2006/chart" r:id="rId3"/>
          </a:graphicData>
        </a:graphic>
      </p:graphicFrame>
      <p:sp>
        <p:nvSpPr>
          <p:cNvPr id="13" name="Rounded Rectangle 12"/>
          <p:cNvSpPr/>
          <p:nvPr/>
        </p:nvSpPr>
        <p:spPr>
          <a:xfrm>
            <a:off x="4991100" y="981075"/>
            <a:ext cx="7048500" cy="2571750"/>
          </a:xfrm>
          <a:prstGeom prst="roundRect">
            <a:avLst>
              <a:gd name="adj" fmla="val 29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2026–2036 (Forecast)</a:t>
            </a:r>
          </a:p>
        </p:txBody>
      </p:sp>
      <p:graphicFrame>
        <p:nvGraphicFramePr>
          <p:cNvPr id="15" name="Chart 14"/>
          <p:cNvGraphicFramePr>
            <a:graphicFrameLocks noGrp="1"/>
          </p:cNvGraphicFramePr>
          <p:nvPr/>
        </p:nvGraphicFramePr>
        <p:xfrm>
          <a:off x="5086350" y="1266825"/>
          <a:ext cx="6858000" cy="22288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686175"/>
            <a:ext cx="25146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0E72AE"/>
                </a:solidFill>
                <a:latin typeface="Calibri"/>
              </a:rPr>
              <a:t> </a:t>
            </a:r>
          </a:p>
        </p:txBody>
      </p:sp>
      <p:sp>
        <p:nvSpPr>
          <p:cNvPr id="17" name="Rounded Rectangle 16"/>
          <p:cNvSpPr/>
          <p:nvPr/>
        </p:nvSpPr>
        <p:spPr>
          <a:xfrm>
            <a:off x="2809875" y="3686175"/>
            <a:ext cx="25146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0E72AE"/>
                </a:solidFill>
                <a:latin typeface="Calibri"/>
              </a:rPr>
              <a:t> </a:t>
            </a:r>
          </a:p>
        </p:txBody>
      </p:sp>
      <p:sp>
        <p:nvSpPr>
          <p:cNvPr id="18" name="Rounded Rectangle 17"/>
          <p:cNvSpPr/>
          <p:nvPr/>
        </p:nvSpPr>
        <p:spPr>
          <a:xfrm>
            <a:off x="5476875" y="3686175"/>
            <a:ext cx="32004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0E72AE"/>
                </a:solidFill>
                <a:latin typeface="Calibri"/>
              </a:rPr>
              <a:t> </a:t>
            </a:r>
          </a:p>
        </p:txBody>
      </p:sp>
      <p:sp>
        <p:nvSpPr>
          <p:cNvPr id="19" name="Rounded Rectangle 18"/>
          <p:cNvSpPr/>
          <p:nvPr/>
        </p:nvSpPr>
        <p:spPr>
          <a:xfrm>
            <a:off x="8829675" y="3686175"/>
            <a:ext cx="32004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0E72AE"/>
                </a:solidFill>
                <a:latin typeface="Calibri"/>
              </a:rPr>
              <a:t> </a:t>
            </a:r>
          </a:p>
        </p:txBody>
      </p:sp>
      <p:sp>
        <p:nvSpPr>
          <p:cNvPr id="20" name="Rounded Rectangle 19"/>
          <p:cNvSpPr/>
          <p:nvPr/>
        </p:nvSpPr>
        <p:spPr>
          <a:xfrm>
            <a:off x="142875" y="455295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&amp; Value Analysis</a:t>
            </a:r>
          </a:p>
        </p:txBody>
      </p:sp>
      <p:sp>
        <p:nvSpPr>
          <p:cNvPr id="22" name="Rectangle 21"/>
          <p:cNvSpPr/>
          <p:nvPr/>
        </p:nvSpPr>
        <p:spPr>
          <a:xfrm>
            <a:off x="276225" y="48768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2533894" y="2050946"/>
            <a:ext cx="205327" cy="298657"/>
          </a:xfrm>
          <a:prstGeom prst="rect">
            <a:avLst/>
          </a:prstGeom>
        </p:spPr>
      </p:pic>
      <p:pic>
        <p:nvPicPr>
          <p:cNvPr id="26" name="Picture 25" descr="lock.png"/>
          <p:cNvPicPr>
            <a:picLocks noChangeAspect="1"/>
          </p:cNvPicPr>
          <p:nvPr/>
        </p:nvPicPr>
        <p:blipFill>
          <a:blip r:embed="rId6"/>
          <a:stretch>
            <a:fillRect/>
          </a:stretch>
        </p:blipFill>
        <p:spPr>
          <a:xfrm>
            <a:off x="8530846" y="2011501"/>
            <a:ext cx="259564" cy="377547"/>
          </a:xfrm>
          <a:prstGeom prst="rect">
            <a:avLst/>
          </a:prstGeom>
        </p:spPr>
      </p:pic>
      <p:pic>
        <p:nvPicPr>
          <p:cNvPr id="27" name="Picture 26" descr="lock.png"/>
          <p:cNvPicPr>
            <a:picLocks noChangeAspect="1"/>
          </p:cNvPicPr>
          <p:nvPr/>
        </p:nvPicPr>
        <p:blipFill>
          <a:blip r:embed="rId6"/>
          <a:stretch>
            <a:fillRect/>
          </a:stretch>
        </p:blipFill>
        <p:spPr>
          <a:xfrm>
            <a:off x="1321594" y="4022407"/>
            <a:ext cx="157162" cy="228600"/>
          </a:xfrm>
          <a:prstGeom prst="rect">
            <a:avLst/>
          </a:prstGeom>
        </p:spPr>
      </p:pic>
      <p:pic>
        <p:nvPicPr>
          <p:cNvPr id="28" name="Picture 27" descr="lock.png"/>
          <p:cNvPicPr>
            <a:picLocks noChangeAspect="1"/>
          </p:cNvPicPr>
          <p:nvPr/>
        </p:nvPicPr>
        <p:blipFill>
          <a:blip r:embed="rId6"/>
          <a:stretch>
            <a:fillRect/>
          </a:stretch>
        </p:blipFill>
        <p:spPr>
          <a:xfrm>
            <a:off x="3988594" y="4022407"/>
            <a:ext cx="157162" cy="228600"/>
          </a:xfrm>
          <a:prstGeom prst="rect">
            <a:avLst/>
          </a:prstGeom>
        </p:spPr>
      </p:pic>
      <p:pic>
        <p:nvPicPr>
          <p:cNvPr id="29" name="Picture 28" descr="lock.png"/>
          <p:cNvPicPr>
            <a:picLocks noChangeAspect="1"/>
          </p:cNvPicPr>
          <p:nvPr/>
        </p:nvPicPr>
        <p:blipFill>
          <a:blip r:embed="rId6"/>
          <a:stretch>
            <a:fillRect/>
          </a:stretch>
        </p:blipFill>
        <p:spPr>
          <a:xfrm>
            <a:off x="6998494" y="4022407"/>
            <a:ext cx="157162" cy="228600"/>
          </a:xfrm>
          <a:prstGeom prst="rect">
            <a:avLst/>
          </a:prstGeom>
        </p:spPr>
      </p:pic>
      <p:pic>
        <p:nvPicPr>
          <p:cNvPr id="30" name="Picture 29" descr="lock.png"/>
          <p:cNvPicPr>
            <a:picLocks noChangeAspect="1"/>
          </p:cNvPicPr>
          <p:nvPr/>
        </p:nvPicPr>
        <p:blipFill>
          <a:blip r:embed="rId6"/>
          <a:stretch>
            <a:fillRect/>
          </a:stretch>
        </p:blipFill>
        <p:spPr>
          <a:xfrm>
            <a:off x="10351294" y="4022407"/>
            <a:ext cx="157162" cy="228600"/>
          </a:xfrm>
          <a:prstGeom prst="rect">
            <a:avLst/>
          </a:prstGeom>
        </p:spPr>
      </p:pic>
      <p:sp>
        <p:nvSpPr>
          <p:cNvPr id="31" name="TextBox 30"/>
          <p:cNvSpPr txBox="1"/>
          <p:nvPr/>
        </p:nvSpPr>
        <p:spPr>
          <a:xfrm>
            <a:off x="276225" y="4972050"/>
            <a:ext cx="3861804" cy="194310"/>
          </a:xfrm>
          <a:prstGeom prst="rect">
            <a:avLst/>
          </a:prstGeom>
          <a:noFill/>
        </p:spPr>
        <p:txBody>
          <a:bodyPr wrap="none" lIns="0" rIns="0" tIns="0" bIns="0">
            <a:spAutoFit/>
          </a:bodyPr>
          <a:lstStyle/>
          <a:p>
            <a:r>
              <a:rPr sz="1150" b="0">
                <a:solidFill>
                  <a:srgbClr val="2E2E2E"/>
                </a:solidFill>
                <a:latin typeface="Calibri"/>
              </a:rPr>
              <a:t>Senior dog cognitive supplement market is projected to register</a:t>
            </a:r>
          </a:p>
        </p:txBody>
      </p:sp>
      <p:pic>
        <p:nvPicPr>
          <p:cNvPr id="32" name="Picture 31" descr="lock.png"/>
          <p:cNvPicPr>
            <a:picLocks noChangeAspect="1"/>
          </p:cNvPicPr>
          <p:nvPr/>
        </p:nvPicPr>
        <p:blipFill>
          <a:blip r:embed="rId6"/>
          <a:stretch>
            <a:fillRect/>
          </a:stretch>
        </p:blipFill>
        <p:spPr>
          <a:xfrm>
            <a:off x="4087183" y="4961826"/>
            <a:ext cx="134549" cy="195707"/>
          </a:xfrm>
          <a:prstGeom prst="rect">
            <a:avLst/>
          </a:prstGeom>
        </p:spPr>
      </p:pic>
      <p:sp>
        <p:nvSpPr>
          <p:cNvPr id="33" name="TextBox 32"/>
          <p:cNvSpPr txBox="1"/>
          <p:nvPr/>
        </p:nvSpPr>
        <p:spPr>
          <a:xfrm>
            <a:off x="4262292" y="4972050"/>
            <a:ext cx="7572102" cy="194310"/>
          </a:xfrm>
          <a:prstGeom prst="rect">
            <a:avLst/>
          </a:prstGeom>
          <a:noFill/>
        </p:spPr>
        <p:txBody>
          <a:bodyPr wrap="none" lIns="0" rIns="0" tIns="0" bIns="0">
            <a:spAutoFit/>
          </a:bodyPr>
          <a:lstStyle/>
          <a:p>
            <a:r>
              <a:rPr sz="1150" b="0">
                <a:solidFill>
                  <a:srgbClr val="2E2E2E"/>
                </a:solidFill>
                <a:latin typeface="Calibri"/>
              </a:rPr>
              <a:t>X increase in its revenue by the end of forecast period, 2036. Global senior dog cognitive supplement market is expected to be</a:t>
            </a:r>
          </a:p>
        </p:txBody>
      </p:sp>
      <p:sp>
        <p:nvSpPr>
          <p:cNvPr id="34" name="TextBox 33"/>
          <p:cNvSpPr txBox="1"/>
          <p:nvPr/>
        </p:nvSpPr>
        <p:spPr>
          <a:xfrm>
            <a:off x="276225" y="5147310"/>
            <a:ext cx="892026" cy="194310"/>
          </a:xfrm>
          <a:prstGeom prst="rect">
            <a:avLst/>
          </a:prstGeom>
          <a:noFill/>
        </p:spPr>
        <p:txBody>
          <a:bodyPr wrap="none" lIns="0" rIns="0" tIns="0" bIns="0">
            <a:spAutoFit/>
          </a:bodyPr>
          <a:lstStyle/>
          <a:p>
            <a:r>
              <a:rPr sz="1150" b="0">
                <a:solidFill>
                  <a:srgbClr val="2E2E2E"/>
                </a:solidFill>
                <a:latin typeface="Calibri"/>
              </a:rPr>
              <a:t>valued at US$</a:t>
            </a:r>
          </a:p>
        </p:txBody>
      </p:sp>
      <p:pic>
        <p:nvPicPr>
          <p:cNvPr id="35" name="Picture 34" descr="lock.png"/>
          <p:cNvPicPr>
            <a:picLocks noChangeAspect="1"/>
          </p:cNvPicPr>
          <p:nvPr/>
        </p:nvPicPr>
        <p:blipFill>
          <a:blip r:embed="rId6"/>
          <a:stretch>
            <a:fillRect/>
          </a:stretch>
        </p:blipFill>
        <p:spPr>
          <a:xfrm>
            <a:off x="1117405" y="5137086"/>
            <a:ext cx="134549" cy="195707"/>
          </a:xfrm>
          <a:prstGeom prst="rect">
            <a:avLst/>
          </a:prstGeom>
        </p:spPr>
      </p:pic>
      <p:sp>
        <p:nvSpPr>
          <p:cNvPr id="36" name="TextBox 35"/>
          <p:cNvSpPr txBox="1"/>
          <p:nvPr/>
        </p:nvSpPr>
        <p:spPr>
          <a:xfrm>
            <a:off x="1292514" y="5147310"/>
            <a:ext cx="1079723" cy="194310"/>
          </a:xfrm>
          <a:prstGeom prst="rect">
            <a:avLst/>
          </a:prstGeom>
          <a:noFill/>
        </p:spPr>
        <p:txBody>
          <a:bodyPr wrap="none" lIns="0" rIns="0" tIns="0" bIns="0">
            <a:spAutoFit/>
          </a:bodyPr>
          <a:lstStyle/>
          <a:p>
            <a:r>
              <a:rPr sz="1150" b="0">
                <a:solidFill>
                  <a:srgbClr val="2E2E2E"/>
                </a:solidFill>
                <a:latin typeface="Calibri"/>
              </a:rPr>
              <a:t>Mn by 2036 end.</a:t>
            </a:r>
          </a:p>
        </p:txBody>
      </p:sp>
      <p:sp>
        <p:nvSpPr>
          <p:cNvPr id="37" name="TextBox 36"/>
          <p:cNvSpPr txBox="1"/>
          <p:nvPr/>
        </p:nvSpPr>
        <p:spPr>
          <a:xfrm>
            <a:off x="276225" y="5375147"/>
            <a:ext cx="3812455" cy="194310"/>
          </a:xfrm>
          <a:prstGeom prst="rect">
            <a:avLst/>
          </a:prstGeom>
          <a:noFill/>
        </p:spPr>
        <p:txBody>
          <a:bodyPr wrap="none" lIns="0" rIns="0" tIns="0" bIns="0">
            <a:spAutoFit/>
          </a:bodyPr>
          <a:lstStyle/>
          <a:p>
            <a:r>
              <a:rPr sz="1150" b="0">
                <a:solidFill>
                  <a:srgbClr val="2E2E2E"/>
                </a:solidFill>
                <a:latin typeface="Calibri"/>
              </a:rPr>
              <a:t>It is projected to create overall incremental opportunity of US$</a:t>
            </a:r>
          </a:p>
        </p:txBody>
      </p:sp>
      <p:pic>
        <p:nvPicPr>
          <p:cNvPr id="38" name="Picture 37" descr="lock.png"/>
          <p:cNvPicPr>
            <a:picLocks noChangeAspect="1"/>
          </p:cNvPicPr>
          <p:nvPr/>
        </p:nvPicPr>
        <p:blipFill>
          <a:blip r:embed="rId6"/>
          <a:stretch>
            <a:fillRect/>
          </a:stretch>
        </p:blipFill>
        <p:spPr>
          <a:xfrm>
            <a:off x="4037834" y="5364924"/>
            <a:ext cx="134549" cy="195707"/>
          </a:xfrm>
          <a:prstGeom prst="rect">
            <a:avLst/>
          </a:prstGeom>
        </p:spPr>
      </p:pic>
      <p:sp>
        <p:nvSpPr>
          <p:cNvPr id="39" name="TextBox 38"/>
          <p:cNvSpPr txBox="1"/>
          <p:nvPr/>
        </p:nvSpPr>
        <p:spPr>
          <a:xfrm>
            <a:off x="4212943" y="5375147"/>
            <a:ext cx="5680583" cy="194310"/>
          </a:xfrm>
          <a:prstGeom prst="rect">
            <a:avLst/>
          </a:prstGeom>
          <a:noFill/>
        </p:spPr>
        <p:txBody>
          <a:bodyPr wrap="none" lIns="0" rIns="0" tIns="0" bIns="0">
            <a:spAutoFit/>
          </a:bodyPr>
          <a:lstStyle/>
          <a:p>
            <a:r>
              <a:rPr sz="1150" b="0">
                <a:solidFill>
                  <a:srgbClr val="2E2E2E"/>
                </a:solidFill>
                <a:latin typeface="Calibri"/>
              </a:rPr>
              <a:t>Mn from 2025 to 2036. Global senior dog cognitive supplement market is projected to register</a:t>
            </a:r>
          </a:p>
        </p:txBody>
      </p:sp>
      <p:pic>
        <p:nvPicPr>
          <p:cNvPr id="40" name="Picture 39" descr="lock.png"/>
          <p:cNvPicPr>
            <a:picLocks noChangeAspect="1"/>
          </p:cNvPicPr>
          <p:nvPr/>
        </p:nvPicPr>
        <p:blipFill>
          <a:blip r:embed="rId6"/>
          <a:stretch>
            <a:fillRect/>
          </a:stretch>
        </p:blipFill>
        <p:spPr>
          <a:xfrm>
            <a:off x="9842681" y="5364924"/>
            <a:ext cx="134549" cy="195707"/>
          </a:xfrm>
          <a:prstGeom prst="rect">
            <a:avLst/>
          </a:prstGeom>
        </p:spPr>
      </p:pic>
      <p:sp>
        <p:nvSpPr>
          <p:cNvPr id="41" name="TextBox 40"/>
          <p:cNvSpPr txBox="1"/>
          <p:nvPr/>
        </p:nvSpPr>
        <p:spPr>
          <a:xfrm>
            <a:off x="10017790" y="5375147"/>
            <a:ext cx="1707852" cy="194310"/>
          </a:xfrm>
          <a:prstGeom prst="rect">
            <a:avLst/>
          </a:prstGeom>
          <a:noFill/>
        </p:spPr>
        <p:txBody>
          <a:bodyPr wrap="none" lIns="0" rIns="0" tIns="0" bIns="0">
            <a:spAutoFit/>
          </a:bodyPr>
          <a:lstStyle/>
          <a:p>
            <a:r>
              <a:rPr sz="1150" b="0">
                <a:solidFill>
                  <a:srgbClr val="2E2E2E"/>
                </a:solidFill>
                <a:latin typeface="Calibri"/>
              </a:rPr>
              <a:t>X increase in volume by the</a:t>
            </a:r>
          </a:p>
        </p:txBody>
      </p:sp>
      <p:sp>
        <p:nvSpPr>
          <p:cNvPr id="42" name="TextBox 41"/>
          <p:cNvSpPr txBox="1"/>
          <p:nvPr/>
        </p:nvSpPr>
        <p:spPr>
          <a:xfrm>
            <a:off x="276225" y="5550407"/>
            <a:ext cx="1797422" cy="194310"/>
          </a:xfrm>
          <a:prstGeom prst="rect">
            <a:avLst/>
          </a:prstGeom>
          <a:noFill/>
        </p:spPr>
        <p:txBody>
          <a:bodyPr wrap="none" lIns="0" rIns="0" tIns="0" bIns="0">
            <a:spAutoFit/>
          </a:bodyPr>
          <a:lstStyle/>
          <a:p>
            <a:r>
              <a:rPr sz="1150" b="0">
                <a:solidFill>
                  <a:srgbClr val="2E2E2E"/>
                </a:solidFill>
                <a:latin typeface="Calibri"/>
              </a:rPr>
              <a:t>end of forecast period, 2036.</a:t>
            </a:r>
          </a:p>
        </p:txBody>
      </p:sp>
      <p:sp>
        <p:nvSpPr>
          <p:cNvPr id="43" name="TextBox 42"/>
          <p:cNvSpPr txBox="1"/>
          <p:nvPr/>
        </p:nvSpPr>
        <p:spPr>
          <a:xfrm>
            <a:off x="276225" y="5778245"/>
            <a:ext cx="3887477" cy="194310"/>
          </a:xfrm>
          <a:prstGeom prst="rect">
            <a:avLst/>
          </a:prstGeom>
          <a:noFill/>
        </p:spPr>
        <p:txBody>
          <a:bodyPr wrap="none" lIns="0" rIns="0" tIns="0" bIns="0">
            <a:spAutoFit/>
          </a:bodyPr>
          <a:lstStyle/>
          <a:p>
            <a:r>
              <a:rPr sz="1150" b="0">
                <a:solidFill>
                  <a:srgbClr val="2E2E2E"/>
                </a:solidFill>
                <a:latin typeface="Calibri"/>
              </a:rPr>
              <a:t>Global senior dog cognitive supplement market volume stood at</a:t>
            </a:r>
          </a:p>
        </p:txBody>
      </p:sp>
      <p:pic>
        <p:nvPicPr>
          <p:cNvPr id="44" name="Picture 43" descr="lock.png"/>
          <p:cNvPicPr>
            <a:picLocks noChangeAspect="1"/>
          </p:cNvPicPr>
          <p:nvPr/>
        </p:nvPicPr>
        <p:blipFill>
          <a:blip r:embed="rId6"/>
          <a:stretch>
            <a:fillRect/>
          </a:stretch>
        </p:blipFill>
        <p:spPr>
          <a:xfrm>
            <a:off x="4112856" y="5768022"/>
            <a:ext cx="134549" cy="195707"/>
          </a:xfrm>
          <a:prstGeom prst="rect">
            <a:avLst/>
          </a:prstGeom>
        </p:spPr>
      </p:pic>
      <p:sp>
        <p:nvSpPr>
          <p:cNvPr id="45" name="TextBox 44"/>
          <p:cNvSpPr txBox="1"/>
          <p:nvPr/>
        </p:nvSpPr>
        <p:spPr>
          <a:xfrm>
            <a:off x="4287965" y="5778245"/>
            <a:ext cx="2229581" cy="194310"/>
          </a:xfrm>
          <a:prstGeom prst="rect">
            <a:avLst/>
          </a:prstGeom>
          <a:noFill/>
        </p:spPr>
        <p:txBody>
          <a:bodyPr wrap="none" lIns="0" rIns="0" tIns="0" bIns="0">
            <a:spAutoFit/>
          </a:bodyPr>
          <a:lstStyle/>
          <a:p>
            <a:r>
              <a:rPr sz="1150" b="0">
                <a:solidFill>
                  <a:srgbClr val="2E2E2E"/>
                </a:solidFill>
                <a:latin typeface="Calibri"/>
              </a:rPr>
              <a:t>MT in 2025 and is expected to reach</a:t>
            </a:r>
          </a:p>
        </p:txBody>
      </p:sp>
      <p:pic>
        <p:nvPicPr>
          <p:cNvPr id="46" name="Picture 45" descr="lock.png"/>
          <p:cNvPicPr>
            <a:picLocks noChangeAspect="1"/>
          </p:cNvPicPr>
          <p:nvPr/>
        </p:nvPicPr>
        <p:blipFill>
          <a:blip r:embed="rId6"/>
          <a:stretch>
            <a:fillRect/>
          </a:stretch>
        </p:blipFill>
        <p:spPr>
          <a:xfrm>
            <a:off x="6466701" y="5768022"/>
            <a:ext cx="134549" cy="195707"/>
          </a:xfrm>
          <a:prstGeom prst="rect">
            <a:avLst/>
          </a:prstGeom>
        </p:spPr>
      </p:pic>
      <p:sp>
        <p:nvSpPr>
          <p:cNvPr id="47" name="TextBox 46"/>
          <p:cNvSpPr txBox="1"/>
          <p:nvPr/>
        </p:nvSpPr>
        <p:spPr>
          <a:xfrm>
            <a:off x="6641810" y="5778245"/>
            <a:ext cx="1850461" cy="194310"/>
          </a:xfrm>
          <a:prstGeom prst="rect">
            <a:avLst/>
          </a:prstGeom>
          <a:noFill/>
        </p:spPr>
        <p:txBody>
          <a:bodyPr wrap="none" lIns="0" rIns="0" tIns="0" bIns="0">
            <a:spAutoFit/>
          </a:bodyPr>
          <a:lstStyle/>
          <a:p>
            <a:r>
              <a:rPr sz="1150" b="0">
                <a:solidFill>
                  <a:srgbClr val="2E2E2E"/>
                </a:solidFill>
                <a:latin typeface="Calibri"/>
              </a:rPr>
              <a:t>MT by 2036 end, at a CAGR of</a:t>
            </a:r>
          </a:p>
        </p:txBody>
      </p:sp>
      <p:pic>
        <p:nvPicPr>
          <p:cNvPr id="48" name="Picture 47" descr="lock.png"/>
          <p:cNvPicPr>
            <a:picLocks noChangeAspect="1"/>
          </p:cNvPicPr>
          <p:nvPr/>
        </p:nvPicPr>
        <p:blipFill>
          <a:blip r:embed="rId6"/>
          <a:stretch>
            <a:fillRect/>
          </a:stretch>
        </p:blipFill>
        <p:spPr>
          <a:xfrm>
            <a:off x="8441426" y="5768022"/>
            <a:ext cx="134549" cy="195707"/>
          </a:xfrm>
          <a:prstGeom prst="rect">
            <a:avLst/>
          </a:prstGeom>
        </p:spPr>
      </p:pic>
      <p:sp>
        <p:nvSpPr>
          <p:cNvPr id="49" name="TextBox 48"/>
          <p:cNvSpPr txBox="1"/>
          <p:nvPr/>
        </p:nvSpPr>
        <p:spPr>
          <a:xfrm>
            <a:off x="8616535" y="5778245"/>
            <a:ext cx="2864271" cy="194310"/>
          </a:xfrm>
          <a:prstGeom prst="rect">
            <a:avLst/>
          </a:prstGeom>
          <a:noFill/>
        </p:spPr>
        <p:txBody>
          <a:bodyPr wrap="none" lIns="0" rIns="0" tIns="0" bIns="0">
            <a:spAutoFit/>
          </a:bodyPr>
          <a:lstStyle/>
          <a:p>
            <a:r>
              <a:rPr sz="1150" b="0">
                <a:solidFill>
                  <a:srgbClr val="2E2E2E"/>
                </a:solidFill>
                <a:latin typeface="Calibri"/>
              </a:rPr>
              <a:t>. Value is projected to grow faster than volume</a:t>
            </a:r>
          </a:p>
        </p:txBody>
      </p:sp>
      <p:sp>
        <p:nvSpPr>
          <p:cNvPr id="50" name="TextBox 49"/>
          <p:cNvSpPr txBox="1"/>
          <p:nvPr/>
        </p:nvSpPr>
        <p:spPr>
          <a:xfrm>
            <a:off x="276225" y="5953505"/>
            <a:ext cx="4232634" cy="194310"/>
          </a:xfrm>
          <a:prstGeom prst="rect">
            <a:avLst/>
          </a:prstGeom>
          <a:noFill/>
        </p:spPr>
        <p:txBody>
          <a:bodyPr wrap="none" lIns="0" rIns="0" tIns="0" bIns="0">
            <a:spAutoFit/>
          </a:bodyPr>
          <a:lstStyle/>
          <a:p>
            <a:r>
              <a:rPr sz="1150" b="0">
                <a:solidFill>
                  <a:srgbClr val="2E2E2E"/>
                </a:solidFill>
                <a:latin typeface="Calibri"/>
              </a:rPr>
              <a:t>over the forecast period, owing to an increase in average selling price.</a:t>
            </a:r>
          </a:p>
        </p:txBody>
      </p:sp>
      <p:sp>
        <p:nvSpPr>
          <p:cNvPr id="51" name="lockshield_12"/>
          <p:cNvSpPr/>
          <p:nvPr/>
        </p:nvSpPr>
        <p:spPr>
          <a:xfrm>
            <a:off x="238125" y="1266825"/>
            <a:ext cx="4505325"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lockshield_15"/>
          <p:cNvSpPr/>
          <p:nvPr/>
        </p:nvSpPr>
        <p:spPr>
          <a:xfrm>
            <a:off x="5086350" y="1266825"/>
            <a:ext cx="6858000"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Senior Dog Cognitive Supplement Market Summary Country Indices (Value)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1007261"/>
            <a:ext cx="3933825" cy="2445995"/>
          </a:xfrm>
          <a:prstGeom prst="roundRect">
            <a:avLst>
              <a:gd name="adj" fmla="val 311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12" name="Chart 11"/>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489764"/>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3565964"/>
          <a:ext cx="3914776" cy="2132071"/>
        </p:xfrm>
        <a:graphic>
          <a:graphicData uri="http://schemas.openxmlformats.org/drawingml/2006/table">
            <a:tbl>
              <a:tblPr>
                <a:tableStyleId>{5C22544A-7EE6-4342-B048-85BDC9FD1C3A}</a:tableStyleId>
              </a:tblPr>
              <a:tblGrid>
                <a:gridCol w="1026891"/>
                <a:gridCol w="965533"/>
                <a:gridCol w="658971"/>
                <a:gridCol w="126338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377189">
                <a:tc>
                  <a:txBody>
                    <a:bodyPr wrap="none"/>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Saudi Arabia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77189">
                <a:tc>
                  <a:txBody>
                    <a:bodyPr wrap="none"/>
                    <a:lstStyle/>
                    <a:p>
                      <a:pPr algn="l"/>
                      <a:r>
                        <a:rPr sz="1100" b="1">
                          <a:solidFill>
                            <a:srgbClr val="2E2E2E"/>
                          </a:solidFill>
                          <a:latin typeface="Calibri"/>
                        </a:rPr>
                        <a:t>Germany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Netherlands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77189">
                <a:tc>
                  <a:txBody>
                    <a:bodyPr wrap="none"/>
                    <a:lstStyle/>
                    <a:p>
                      <a:pPr algn="l"/>
                      <a:r>
                        <a:rPr sz="1100" b="1">
                          <a:solidFill>
                            <a:srgbClr val="2E2E2E"/>
                          </a:solidFill>
                          <a:latin typeface="Calibri"/>
                        </a:rPr>
                        <a:t>France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Rounded Rectangle 15"/>
          <p:cNvSpPr/>
          <p:nvPr/>
        </p:nvSpPr>
        <p:spPr>
          <a:xfrm>
            <a:off x="4114800" y="1007261"/>
            <a:ext cx="3933825" cy="4928498"/>
          </a:xfrm>
          <a:prstGeom prst="roundRect">
            <a:avLst>
              <a:gd name="adj" fmla="val 19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8" name="Rectangle 17"/>
          <p:cNvSpPr/>
          <p:nvPr/>
        </p:nvSpPr>
        <p:spPr>
          <a:xfrm>
            <a:off x="4210050" y="1293011"/>
            <a:ext cx="2374032" cy="1981679"/>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9" name="Rectangle 18"/>
          <p:cNvSpPr/>
          <p:nvPr/>
        </p:nvSpPr>
        <p:spPr>
          <a:xfrm>
            <a:off x="6584082" y="1293011"/>
            <a:ext cx="1369293" cy="1981679"/>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Germany</a:t>
            </a:r>
          </a:p>
          <a:p>
            <a:pPr algn="ctr"/>
            <a:r>
              <a:rPr sz="1100" b="0">
                <a:solidFill>
                  <a:srgbClr val="FFFFFF"/>
                </a:solidFill>
                <a:latin typeface="Calibri"/>
              </a:rPr>
              <a:t> </a:t>
            </a:r>
          </a:p>
        </p:txBody>
      </p:sp>
      <p:sp>
        <p:nvSpPr>
          <p:cNvPr id="20" name="Rectangle 19"/>
          <p:cNvSpPr/>
          <p:nvPr/>
        </p:nvSpPr>
        <p:spPr>
          <a:xfrm>
            <a:off x="4210050" y="3274690"/>
            <a:ext cx="1544155" cy="1471924"/>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21" name="Rectangle 20"/>
          <p:cNvSpPr/>
          <p:nvPr/>
        </p:nvSpPr>
        <p:spPr>
          <a:xfrm>
            <a:off x="4210050" y="4746614"/>
            <a:ext cx="1544155" cy="1131996"/>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22" name="Rectangle 21"/>
          <p:cNvSpPr/>
          <p:nvPr/>
        </p:nvSpPr>
        <p:spPr>
          <a:xfrm>
            <a:off x="5754205" y="3274690"/>
            <a:ext cx="1130944" cy="1177604"/>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23" name="Rectangle 22"/>
          <p:cNvSpPr/>
          <p:nvPr/>
        </p:nvSpPr>
        <p:spPr>
          <a:xfrm>
            <a:off x="6885149" y="3274690"/>
            <a:ext cx="1068226" cy="1177604"/>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Brazil</a:t>
            </a:r>
          </a:p>
          <a:p>
            <a:pPr algn="ctr"/>
            <a:r>
              <a:rPr sz="1100" b="0">
                <a:solidFill>
                  <a:srgbClr val="FFFFFF"/>
                </a:solidFill>
                <a:latin typeface="Calibri"/>
              </a:rPr>
              <a:t> </a:t>
            </a:r>
          </a:p>
        </p:txBody>
      </p:sp>
      <p:sp>
        <p:nvSpPr>
          <p:cNvPr id="24" name="Rectangle 23"/>
          <p:cNvSpPr/>
          <p:nvPr/>
        </p:nvSpPr>
        <p:spPr>
          <a:xfrm>
            <a:off x="5754205" y="4452295"/>
            <a:ext cx="1192218" cy="795849"/>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U.K.</a:t>
            </a:r>
          </a:p>
          <a:p>
            <a:pPr algn="ctr"/>
            <a:r>
              <a:rPr sz="1100" b="0">
                <a:solidFill>
                  <a:srgbClr val="FFFFFF"/>
                </a:solidFill>
                <a:latin typeface="Calibri"/>
              </a:rPr>
              <a:t> </a:t>
            </a:r>
          </a:p>
        </p:txBody>
      </p:sp>
      <p:sp>
        <p:nvSpPr>
          <p:cNvPr id="25" name="Rectangle 24"/>
          <p:cNvSpPr/>
          <p:nvPr/>
        </p:nvSpPr>
        <p:spPr>
          <a:xfrm>
            <a:off x="5754205" y="5248143"/>
            <a:ext cx="1192218" cy="630466"/>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Japan</a:t>
            </a:r>
          </a:p>
          <a:p>
            <a:pPr algn="ctr"/>
            <a:r>
              <a:rPr sz="1100" b="0">
                <a:solidFill>
                  <a:srgbClr val="FFFFFF"/>
                </a:solidFill>
                <a:latin typeface="Calibri"/>
              </a:rPr>
              <a:t> </a:t>
            </a:r>
          </a:p>
        </p:txBody>
      </p:sp>
      <p:sp>
        <p:nvSpPr>
          <p:cNvPr id="26" name="Rectangle 25"/>
          <p:cNvSpPr/>
          <p:nvPr/>
        </p:nvSpPr>
        <p:spPr>
          <a:xfrm>
            <a:off x="6946423" y="4452295"/>
            <a:ext cx="1006952" cy="733458"/>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France</a:t>
            </a:r>
          </a:p>
          <a:p>
            <a:pPr algn="ctr"/>
            <a:r>
              <a:rPr sz="1100" b="0">
                <a:solidFill>
                  <a:srgbClr val="FFFFFF"/>
                </a:solidFill>
                <a:latin typeface="Calibri"/>
              </a:rPr>
              <a:t> </a:t>
            </a:r>
          </a:p>
        </p:txBody>
      </p:sp>
      <p:sp>
        <p:nvSpPr>
          <p:cNvPr id="27" name="Rectangle 26"/>
          <p:cNvSpPr/>
          <p:nvPr/>
        </p:nvSpPr>
        <p:spPr>
          <a:xfrm>
            <a:off x="6946423" y="5185752"/>
            <a:ext cx="1006952" cy="692857"/>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UAE</a:t>
            </a:r>
          </a:p>
          <a:p>
            <a:pPr algn="ctr"/>
            <a:r>
              <a:rPr sz="1100" b="0">
                <a:solidFill>
                  <a:srgbClr val="FFFFFF"/>
                </a:solidFill>
                <a:latin typeface="Calibri"/>
              </a:rPr>
              <a:t> </a:t>
            </a:r>
          </a:p>
        </p:txBody>
      </p:sp>
      <p:sp>
        <p:nvSpPr>
          <p:cNvPr id="28" name="Rounded Rectangle 27"/>
          <p:cNvSpPr/>
          <p:nvPr/>
        </p:nvSpPr>
        <p:spPr>
          <a:xfrm>
            <a:off x="8086725" y="1007261"/>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30" name="Chart 29"/>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31" name="Rounded Rectangle 30"/>
          <p:cNvSpPr/>
          <p:nvPr/>
        </p:nvSpPr>
        <p:spPr>
          <a:xfrm>
            <a:off x="8086725" y="3471510"/>
            <a:ext cx="3933825" cy="2464249"/>
          </a:xfrm>
          <a:prstGeom prst="roundRect">
            <a:avLst>
              <a:gd name="adj" fmla="val 30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2" name="Table 31"/>
          <p:cNvGraphicFramePr>
            <a:graphicFrameLocks noGrp="1"/>
          </p:cNvGraphicFramePr>
          <p:nvPr/>
        </p:nvGraphicFramePr>
        <p:xfrm>
          <a:off x="8096250" y="3547710"/>
          <a:ext cx="3927746" cy="2159451"/>
        </p:xfrm>
        <a:graphic>
          <a:graphicData uri="http://schemas.openxmlformats.org/drawingml/2006/table">
            <a:tbl>
              <a:tblPr>
                <a:tableStyleId>{5C22544A-7EE6-4342-B048-85BDC9FD1C3A}</a:tableStyleId>
              </a:tblPr>
              <a:tblGrid>
                <a:gridCol w="710293"/>
                <a:gridCol w="1068161"/>
                <a:gridCol w="1068161"/>
                <a:gridCol w="108113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382665">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Germany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82665">
                <a:tc>
                  <a:txBody>
                    <a:bodyPr wrap="none"/>
                    <a:lstStyle/>
                    <a:p>
                      <a:pPr algn="l"/>
                      <a:r>
                        <a:rPr sz="1100" b="1">
                          <a:solidFill>
                            <a:srgbClr val="2E2E2E"/>
                          </a:solidFill>
                          <a:latin typeface="Calibri"/>
                        </a:rPr>
                        <a:t>Canada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China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82665">
                <a:tc>
                  <a:txBody>
                    <a:bodyPr wrap="none"/>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33" name="TextBox 32"/>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34" name="Rounded Rectangle 33"/>
          <p:cNvSpPr/>
          <p:nvPr/>
        </p:nvSpPr>
        <p:spPr>
          <a:xfrm>
            <a:off x="142875" y="6027028"/>
            <a:ext cx="10858500" cy="602372"/>
          </a:xfrm>
          <a:prstGeom prst="roundRect">
            <a:avLst>
              <a:gd name="adj" fmla="val 1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6"/>
          <a:stretch>
            <a:fillRect/>
          </a:stretch>
        </p:blipFill>
        <p:spPr>
          <a:xfrm>
            <a:off x="3188017" y="2125483"/>
            <a:ext cx="183356" cy="266700"/>
          </a:xfrm>
          <a:prstGeom prst="rect">
            <a:avLst/>
          </a:prstGeom>
        </p:spPr>
      </p:pic>
      <p:pic>
        <p:nvPicPr>
          <p:cNvPr id="37" name="Picture 36" descr="lock.png"/>
          <p:cNvPicPr>
            <a:picLocks noChangeAspect="1"/>
          </p:cNvPicPr>
          <p:nvPr/>
        </p:nvPicPr>
        <p:blipFill>
          <a:blip r:embed="rId6"/>
          <a:stretch>
            <a:fillRect/>
          </a:stretch>
        </p:blipFill>
        <p:spPr>
          <a:xfrm>
            <a:off x="2454153" y="4513519"/>
            <a:ext cx="332122" cy="483086"/>
          </a:xfrm>
          <a:prstGeom prst="rect">
            <a:avLst/>
          </a:prstGeom>
        </p:spPr>
      </p:pic>
      <p:pic>
        <p:nvPicPr>
          <p:cNvPr id="38" name="Picture 37" descr="lock.png"/>
          <p:cNvPicPr>
            <a:picLocks noChangeAspect="1"/>
          </p:cNvPicPr>
          <p:nvPr/>
        </p:nvPicPr>
        <p:blipFill>
          <a:blip r:embed="rId6"/>
          <a:stretch>
            <a:fillRect/>
          </a:stretch>
        </p:blipFill>
        <p:spPr>
          <a:xfrm>
            <a:off x="5339440" y="2283850"/>
            <a:ext cx="115252" cy="167639"/>
          </a:xfrm>
          <a:prstGeom prst="rect">
            <a:avLst/>
          </a:prstGeom>
        </p:spPr>
      </p:pic>
      <p:pic>
        <p:nvPicPr>
          <p:cNvPr id="39" name="Picture 38" descr="lock.png"/>
          <p:cNvPicPr>
            <a:picLocks noChangeAspect="1"/>
          </p:cNvPicPr>
          <p:nvPr/>
        </p:nvPicPr>
        <p:blipFill>
          <a:blip r:embed="rId6"/>
          <a:stretch>
            <a:fillRect/>
          </a:stretch>
        </p:blipFill>
        <p:spPr>
          <a:xfrm>
            <a:off x="7211102" y="2283850"/>
            <a:ext cx="115252" cy="167639"/>
          </a:xfrm>
          <a:prstGeom prst="rect">
            <a:avLst/>
          </a:prstGeom>
        </p:spPr>
      </p:pic>
      <p:pic>
        <p:nvPicPr>
          <p:cNvPr id="40" name="Picture 39" descr="lock.png"/>
          <p:cNvPicPr>
            <a:picLocks noChangeAspect="1"/>
          </p:cNvPicPr>
          <p:nvPr/>
        </p:nvPicPr>
        <p:blipFill>
          <a:blip r:embed="rId6"/>
          <a:stretch>
            <a:fillRect/>
          </a:stretch>
        </p:blipFill>
        <p:spPr>
          <a:xfrm>
            <a:off x="4924501" y="4010652"/>
            <a:ext cx="115252" cy="167639"/>
          </a:xfrm>
          <a:prstGeom prst="rect">
            <a:avLst/>
          </a:prstGeom>
        </p:spPr>
      </p:pic>
      <p:pic>
        <p:nvPicPr>
          <p:cNvPr id="41" name="Picture 40" descr="lock.png"/>
          <p:cNvPicPr>
            <a:picLocks noChangeAspect="1"/>
          </p:cNvPicPr>
          <p:nvPr/>
        </p:nvPicPr>
        <p:blipFill>
          <a:blip r:embed="rId6"/>
          <a:stretch>
            <a:fillRect/>
          </a:stretch>
        </p:blipFill>
        <p:spPr>
          <a:xfrm>
            <a:off x="4924501" y="5312612"/>
            <a:ext cx="115252" cy="167639"/>
          </a:xfrm>
          <a:prstGeom prst="rect">
            <a:avLst/>
          </a:prstGeom>
        </p:spPr>
      </p:pic>
      <p:pic>
        <p:nvPicPr>
          <p:cNvPr id="42" name="Picture 41" descr="lock.png"/>
          <p:cNvPicPr>
            <a:picLocks noChangeAspect="1"/>
          </p:cNvPicPr>
          <p:nvPr/>
        </p:nvPicPr>
        <p:blipFill>
          <a:blip r:embed="rId6"/>
          <a:stretch>
            <a:fillRect/>
          </a:stretch>
        </p:blipFill>
        <p:spPr>
          <a:xfrm>
            <a:off x="6262051" y="3863491"/>
            <a:ext cx="115252" cy="167639"/>
          </a:xfrm>
          <a:prstGeom prst="rect">
            <a:avLst/>
          </a:prstGeom>
        </p:spPr>
      </p:pic>
      <p:pic>
        <p:nvPicPr>
          <p:cNvPr id="43" name="Picture 42" descr="lock.png"/>
          <p:cNvPicPr>
            <a:picLocks noChangeAspect="1"/>
          </p:cNvPicPr>
          <p:nvPr/>
        </p:nvPicPr>
        <p:blipFill>
          <a:blip r:embed="rId6"/>
          <a:stretch>
            <a:fillRect/>
          </a:stretch>
        </p:blipFill>
        <p:spPr>
          <a:xfrm>
            <a:off x="7361636" y="3863491"/>
            <a:ext cx="115252" cy="167639"/>
          </a:xfrm>
          <a:prstGeom prst="rect">
            <a:avLst/>
          </a:prstGeom>
        </p:spPr>
      </p:pic>
      <p:pic>
        <p:nvPicPr>
          <p:cNvPr id="44" name="Picture 43" descr="lock.png"/>
          <p:cNvPicPr>
            <a:picLocks noChangeAspect="1"/>
          </p:cNvPicPr>
          <p:nvPr/>
        </p:nvPicPr>
        <p:blipFill>
          <a:blip r:embed="rId6"/>
          <a:stretch>
            <a:fillRect/>
          </a:stretch>
        </p:blipFill>
        <p:spPr>
          <a:xfrm>
            <a:off x="6292688" y="4850219"/>
            <a:ext cx="115252" cy="167639"/>
          </a:xfrm>
          <a:prstGeom prst="rect">
            <a:avLst/>
          </a:prstGeom>
        </p:spPr>
      </p:pic>
      <p:pic>
        <p:nvPicPr>
          <p:cNvPr id="45" name="Picture 44" descr="lock.png"/>
          <p:cNvPicPr>
            <a:picLocks noChangeAspect="1"/>
          </p:cNvPicPr>
          <p:nvPr/>
        </p:nvPicPr>
        <p:blipFill>
          <a:blip r:embed="rId6"/>
          <a:stretch>
            <a:fillRect/>
          </a:stretch>
        </p:blipFill>
        <p:spPr>
          <a:xfrm>
            <a:off x="6292688" y="5563376"/>
            <a:ext cx="115252" cy="167639"/>
          </a:xfrm>
          <a:prstGeom prst="rect">
            <a:avLst/>
          </a:prstGeom>
        </p:spPr>
      </p:pic>
      <p:pic>
        <p:nvPicPr>
          <p:cNvPr id="46" name="Picture 45" descr="lock.png"/>
          <p:cNvPicPr>
            <a:picLocks noChangeAspect="1"/>
          </p:cNvPicPr>
          <p:nvPr/>
        </p:nvPicPr>
        <p:blipFill>
          <a:blip r:embed="rId6"/>
          <a:stretch>
            <a:fillRect/>
          </a:stretch>
        </p:blipFill>
        <p:spPr>
          <a:xfrm>
            <a:off x="7392273" y="4819024"/>
            <a:ext cx="115252" cy="167639"/>
          </a:xfrm>
          <a:prstGeom prst="rect">
            <a:avLst/>
          </a:prstGeom>
        </p:spPr>
      </p:pic>
      <p:pic>
        <p:nvPicPr>
          <p:cNvPr id="47" name="Picture 46" descr="lock.png"/>
          <p:cNvPicPr>
            <a:picLocks noChangeAspect="1"/>
          </p:cNvPicPr>
          <p:nvPr/>
        </p:nvPicPr>
        <p:blipFill>
          <a:blip r:embed="rId6"/>
          <a:stretch>
            <a:fillRect/>
          </a:stretch>
        </p:blipFill>
        <p:spPr>
          <a:xfrm>
            <a:off x="7392273" y="5532180"/>
            <a:ext cx="115252" cy="167639"/>
          </a:xfrm>
          <a:prstGeom prst="rect">
            <a:avLst/>
          </a:prstGeom>
        </p:spPr>
      </p:pic>
      <p:pic>
        <p:nvPicPr>
          <p:cNvPr id="48" name="Picture 47" descr="lock.png"/>
          <p:cNvPicPr>
            <a:picLocks noChangeAspect="1"/>
          </p:cNvPicPr>
          <p:nvPr/>
        </p:nvPicPr>
        <p:blipFill>
          <a:blip r:embed="rId6"/>
          <a:stretch>
            <a:fillRect/>
          </a:stretch>
        </p:blipFill>
        <p:spPr>
          <a:xfrm>
            <a:off x="11131867" y="2120920"/>
            <a:ext cx="183356" cy="266700"/>
          </a:xfrm>
          <a:prstGeom prst="rect">
            <a:avLst/>
          </a:prstGeom>
        </p:spPr>
      </p:pic>
      <p:pic>
        <p:nvPicPr>
          <p:cNvPr id="49" name="Picture 48" descr="lock.png"/>
          <p:cNvPicPr>
            <a:picLocks noChangeAspect="1"/>
          </p:cNvPicPr>
          <p:nvPr/>
        </p:nvPicPr>
        <p:blipFill>
          <a:blip r:embed="rId6"/>
          <a:stretch>
            <a:fillRect/>
          </a:stretch>
        </p:blipFill>
        <p:spPr>
          <a:xfrm>
            <a:off x="10208848" y="4492667"/>
            <a:ext cx="354517" cy="515661"/>
          </a:xfrm>
          <a:prstGeom prst="rect">
            <a:avLst/>
          </a:prstGeom>
        </p:spPr>
      </p:pic>
      <p:sp>
        <p:nvSpPr>
          <p:cNvPr id="50" name="TextBox 49"/>
          <p:cNvSpPr txBox="1"/>
          <p:nvPr/>
        </p:nvSpPr>
        <p:spPr>
          <a:xfrm>
            <a:off x="257175" y="6160574"/>
            <a:ext cx="4186435" cy="186689"/>
          </a:xfrm>
          <a:prstGeom prst="rect">
            <a:avLst/>
          </a:prstGeom>
          <a:noFill/>
        </p:spPr>
        <p:txBody>
          <a:bodyPr wrap="none" lIns="0" rIns="0" tIns="0" bIns="0">
            <a:spAutoFit/>
          </a:bodyPr>
          <a:lstStyle/>
          <a:p>
            <a:r>
              <a:rPr sz="1100" b="0">
                <a:solidFill>
                  <a:srgbClr val="2E2E2E"/>
                </a:solidFill>
                <a:latin typeface="Calibri"/>
              </a:rPr>
              <a:t>The U.S. senior dog cognitive supplement market is projected to register</a:t>
            </a:r>
          </a:p>
        </p:txBody>
      </p:sp>
      <p:pic>
        <p:nvPicPr>
          <p:cNvPr id="51" name="Picture 50" descr="lock.png"/>
          <p:cNvPicPr>
            <a:picLocks noChangeAspect="1"/>
          </p:cNvPicPr>
          <p:nvPr/>
        </p:nvPicPr>
        <p:blipFill>
          <a:blip r:embed="rId6"/>
          <a:stretch>
            <a:fillRect/>
          </a:stretch>
        </p:blipFill>
        <p:spPr>
          <a:xfrm>
            <a:off x="4391662" y="6150795"/>
            <a:ext cx="128699" cy="187198"/>
          </a:xfrm>
          <a:prstGeom prst="rect">
            <a:avLst/>
          </a:prstGeom>
        </p:spPr>
      </p:pic>
      <p:sp>
        <p:nvSpPr>
          <p:cNvPr id="52" name="TextBox 51"/>
          <p:cNvSpPr txBox="1"/>
          <p:nvPr/>
        </p:nvSpPr>
        <p:spPr>
          <a:xfrm>
            <a:off x="4559158" y="6160574"/>
            <a:ext cx="4298833" cy="186689"/>
          </a:xfrm>
          <a:prstGeom prst="rect">
            <a:avLst/>
          </a:prstGeom>
          <a:noFill/>
        </p:spPr>
        <p:txBody>
          <a:bodyPr wrap="none" lIns="0" rIns="0" tIns="0" bIns="0">
            <a:spAutoFit/>
          </a:bodyPr>
          <a:lstStyle/>
          <a:p>
            <a:r>
              <a:rPr sz="1100" b="0">
                <a:solidFill>
                  <a:srgbClr val="2E2E2E"/>
                </a:solidFill>
                <a:latin typeface="Calibri"/>
              </a:rPr>
              <a:t>X higher value than Germany in 2036. India posts the highest CAGR Index (</a:t>
            </a:r>
          </a:p>
        </p:txBody>
      </p:sp>
      <p:pic>
        <p:nvPicPr>
          <p:cNvPr id="53" name="Picture 52" descr="lock.png"/>
          <p:cNvPicPr>
            <a:picLocks noChangeAspect="1"/>
          </p:cNvPicPr>
          <p:nvPr/>
        </p:nvPicPr>
        <p:blipFill>
          <a:blip r:embed="rId6"/>
          <a:stretch>
            <a:fillRect/>
          </a:stretch>
        </p:blipFill>
        <p:spPr>
          <a:xfrm>
            <a:off x="8806043" y="6150795"/>
            <a:ext cx="128699" cy="187198"/>
          </a:xfrm>
          <a:prstGeom prst="rect">
            <a:avLst/>
          </a:prstGeom>
        </p:spPr>
      </p:pic>
      <p:sp>
        <p:nvSpPr>
          <p:cNvPr id="54" name="TextBox 53"/>
          <p:cNvSpPr txBox="1"/>
          <p:nvPr/>
        </p:nvSpPr>
        <p:spPr>
          <a:xfrm>
            <a:off x="8973539"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55" name="Picture 54" descr="lock.png"/>
          <p:cNvPicPr>
            <a:picLocks noChangeAspect="1"/>
          </p:cNvPicPr>
          <p:nvPr/>
        </p:nvPicPr>
        <p:blipFill>
          <a:blip r:embed="rId6"/>
          <a:stretch>
            <a:fillRect/>
          </a:stretch>
        </p:blipFill>
        <p:spPr>
          <a:xfrm>
            <a:off x="9711570" y="6150795"/>
            <a:ext cx="128699" cy="187198"/>
          </a:xfrm>
          <a:prstGeom prst="rect">
            <a:avLst/>
          </a:prstGeom>
        </p:spPr>
      </p:pic>
      <p:sp>
        <p:nvSpPr>
          <p:cNvPr id="56" name="TextBox 55"/>
          <p:cNvSpPr txBox="1"/>
          <p:nvPr/>
        </p:nvSpPr>
        <p:spPr>
          <a:xfrm>
            <a:off x="9879066" y="6160574"/>
            <a:ext cx="704304" cy="186689"/>
          </a:xfrm>
          <a:prstGeom prst="rect">
            <a:avLst/>
          </a:prstGeom>
          <a:noFill/>
        </p:spPr>
        <p:txBody>
          <a:bodyPr wrap="none" lIns="0" rIns="0" tIns="0" bIns="0">
            <a:spAutoFit/>
          </a:bodyPr>
          <a:lstStyle/>
          <a:p>
            <a:r>
              <a:rPr sz="1100" b="0">
                <a:solidFill>
                  <a:srgbClr val="2E2E2E"/>
                </a:solidFill>
                <a:latin typeface="Calibri"/>
              </a:rPr>
              <a:t>against the</a:t>
            </a:r>
          </a:p>
        </p:txBody>
      </p:sp>
      <p:sp>
        <p:nvSpPr>
          <p:cNvPr id="57" name="TextBox 56"/>
          <p:cNvSpPr txBox="1"/>
          <p:nvPr/>
        </p:nvSpPr>
        <p:spPr>
          <a:xfrm>
            <a:off x="257175" y="6328214"/>
            <a:ext cx="3955876" cy="186689"/>
          </a:xfrm>
          <a:prstGeom prst="rect">
            <a:avLst/>
          </a:prstGeom>
          <a:noFill/>
        </p:spPr>
        <p:txBody>
          <a:bodyPr wrap="none" lIns="0" rIns="0" tIns="0" bIns="0">
            <a:spAutoFit/>
          </a:bodyPr>
          <a:lstStyle/>
          <a:p>
            <a:r>
              <a:rPr sz="1100" b="0">
                <a:solidFill>
                  <a:srgbClr val="2E2E2E"/>
                </a:solidFill>
                <a:latin typeface="Calibri"/>
              </a:rPr>
              <a:t>global benchmark, while U.S. offers the largest absolute opportunity</a:t>
            </a:r>
          </a:p>
        </p:txBody>
      </p:sp>
      <p:pic>
        <p:nvPicPr>
          <p:cNvPr id="58" name="Picture 57" descr="lock.png"/>
          <p:cNvPicPr>
            <a:picLocks noChangeAspect="1"/>
          </p:cNvPicPr>
          <p:nvPr/>
        </p:nvPicPr>
        <p:blipFill>
          <a:blip r:embed="rId6"/>
          <a:stretch>
            <a:fillRect/>
          </a:stretch>
        </p:blipFill>
        <p:spPr>
          <a:xfrm>
            <a:off x="4161102" y="6318435"/>
            <a:ext cx="128699" cy="187198"/>
          </a:xfrm>
          <a:prstGeom prst="rect">
            <a:avLst/>
          </a:prstGeom>
        </p:spPr>
      </p:pic>
      <p:sp>
        <p:nvSpPr>
          <p:cNvPr id="59" name="TextBox 58"/>
          <p:cNvSpPr txBox="1"/>
          <p:nvPr/>
        </p:nvSpPr>
        <p:spPr>
          <a:xfrm>
            <a:off x="4328598"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60" name="Picture 59" descr="lock.png"/>
          <p:cNvPicPr>
            <a:picLocks noChangeAspect="1"/>
          </p:cNvPicPr>
          <p:nvPr/>
        </p:nvPicPr>
        <p:blipFill>
          <a:blip r:embed="rId6"/>
          <a:stretch>
            <a:fillRect/>
          </a:stretch>
        </p:blipFill>
        <p:spPr>
          <a:xfrm>
            <a:off x="7588597" y="6318435"/>
            <a:ext cx="128699" cy="187198"/>
          </a:xfrm>
          <a:prstGeom prst="rect">
            <a:avLst/>
          </a:prstGeom>
        </p:spPr>
      </p:pic>
      <p:sp>
        <p:nvSpPr>
          <p:cNvPr id="61" name="TextBox 60"/>
          <p:cNvSpPr txBox="1"/>
          <p:nvPr/>
        </p:nvSpPr>
        <p:spPr>
          <a:xfrm>
            <a:off x="7756092" y="6328214"/>
            <a:ext cx="1483568" cy="186689"/>
          </a:xfrm>
          <a:prstGeom prst="rect">
            <a:avLst/>
          </a:prstGeom>
          <a:noFill/>
        </p:spPr>
        <p:txBody>
          <a:bodyPr wrap="none" lIns="0" rIns="0" tIns="0" bIns="0">
            <a:spAutoFit/>
          </a:bodyPr>
          <a:lstStyle/>
          <a:p>
            <a:r>
              <a:rPr sz="1100" b="0">
                <a:solidFill>
                  <a:srgbClr val="2E2E2E"/>
                </a:solidFill>
                <a:latin typeface="Calibri"/>
              </a:rPr>
              <a:t>of the global increment).</a:t>
            </a:r>
          </a:p>
        </p:txBody>
      </p:sp>
      <p:sp>
        <p:nvSpPr>
          <p:cNvPr id="62" name="lockshield_12"/>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lockshield_30"/>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Senior Dog Cognitive Supplement Market Summary Country Indices (Value)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98107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152400" y="1057275"/>
          <a:ext cx="11887199" cy="1485896"/>
        </p:xfrm>
        <a:graphic>
          <a:graphicData uri="http://schemas.openxmlformats.org/drawingml/2006/table">
            <a:tbl>
              <a:tblPr>
                <a:tableStyleId>{5C22544A-7EE6-4342-B048-85BDC9FD1C3A}</a:tableStyleId>
              </a:tblPr>
              <a:tblGrid>
                <a:gridCol w="1994456"/>
                <a:gridCol w="3297581"/>
                <a:gridCol w="3297581"/>
                <a:gridCol w="329758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Thailand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Spain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Malaysia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China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25527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3" name="Rounded Rectangle 12"/>
          <p:cNvSpPr/>
          <p:nvPr/>
        </p:nvSpPr>
        <p:spPr>
          <a:xfrm>
            <a:off x="142875" y="290512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2981325"/>
          <a:ext cx="11887200" cy="1485896"/>
        </p:xfrm>
        <a:graphic>
          <a:graphicData uri="http://schemas.openxmlformats.org/drawingml/2006/table">
            <a:tbl>
              <a:tblPr>
                <a:tableStyleId>{5C22544A-7EE6-4342-B048-85BDC9FD1C3A}</a:tableStyleId>
              </a:tblPr>
              <a:tblGrid>
                <a:gridCol w="1846407"/>
                <a:gridCol w="3346931"/>
                <a:gridCol w="3346931"/>
                <a:gridCol w="334693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France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U.K.</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Japan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UAE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4476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4"/>
          <a:stretch>
            <a:fillRect/>
          </a:stretch>
        </p:blipFill>
        <p:spPr>
          <a:xfrm>
            <a:off x="6906537" y="1656588"/>
            <a:ext cx="366712" cy="533400"/>
          </a:xfrm>
          <a:prstGeom prst="rect">
            <a:avLst/>
          </a:prstGeom>
        </p:spPr>
      </p:pic>
      <p:pic>
        <p:nvPicPr>
          <p:cNvPr id="18" name="Picture 17" descr="lock.png"/>
          <p:cNvPicPr>
            <a:picLocks noChangeAspect="1"/>
          </p:cNvPicPr>
          <p:nvPr/>
        </p:nvPicPr>
        <p:blipFill>
          <a:blip r:embed="rId4"/>
          <a:stretch>
            <a:fillRect/>
          </a:stretch>
        </p:blipFill>
        <p:spPr>
          <a:xfrm>
            <a:off x="6832513" y="3580638"/>
            <a:ext cx="366712" cy="5334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10" name="Rounded Rectangle 9"/>
          <p:cNvSpPr/>
          <p:nvPr/>
        </p:nvSpPr>
        <p:spPr>
          <a:xfrm>
            <a:off x="142875" y="981075"/>
            <a:ext cx="11906250" cy="1876425"/>
          </a:xfrm>
          <a:prstGeom prst="roundRect">
            <a:avLst>
              <a:gd name="adj" fmla="val 40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B2E4A"/>
                </a:solidFill>
                <a:latin typeface="Calibri"/>
              </a:rPr>
              <a:t>Market Overview</a:t>
            </a:r>
          </a:p>
        </p:txBody>
      </p:sp>
      <p:sp>
        <p:nvSpPr>
          <p:cNvPr id="12" name="Rectangle 11"/>
          <p:cNvSpPr/>
          <p:nvPr/>
        </p:nvSpPr>
        <p:spPr>
          <a:xfrm>
            <a:off x="276225" y="130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11639550" cy="13906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4" name="Rounded Rectangle 13"/>
          <p:cNvSpPr/>
          <p:nvPr/>
        </p:nvSpPr>
        <p:spPr>
          <a:xfrm>
            <a:off x="142875" y="2990850"/>
            <a:ext cx="11906250" cy="1571625"/>
          </a:xfrm>
          <a:prstGeom prst="roundRect">
            <a:avLst>
              <a:gd name="adj" fmla="val 484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07657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Competitive Landscape</a:t>
            </a:r>
          </a:p>
        </p:txBody>
      </p:sp>
      <p:sp>
        <p:nvSpPr>
          <p:cNvPr id="16" name="Rectangle 15"/>
          <p:cNvSpPr/>
          <p:nvPr/>
        </p:nvSpPr>
        <p:spPr>
          <a:xfrm>
            <a:off x="276225" y="33147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400425"/>
            <a:ext cx="11639550" cy="10858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142875" y="4695825"/>
            <a:ext cx="3943350" cy="1933575"/>
          </a:xfrm>
          <a:prstGeom prst="roundRect">
            <a:avLst>
              <a:gd name="adj" fmla="val 39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781550"/>
            <a:ext cx="3676650" cy="209550"/>
          </a:xfrm>
          <a:prstGeom prst="rect">
            <a:avLst/>
          </a:prstGeom>
          <a:noFill/>
        </p:spPr>
        <p:txBody>
          <a:bodyPr wrap="square" lIns="0" rIns="19050" tIns="9525" bIns="9525">
            <a:spAutoFit/>
          </a:bodyPr>
          <a:lstStyle/>
          <a:p>
            <a:pPr algn="l"/>
            <a:r>
              <a:rPr sz="1300" b="1">
                <a:solidFill>
                  <a:srgbClr val="0B2E4A"/>
                </a:solidFill>
                <a:latin typeface="Calibri"/>
              </a:rPr>
              <a:t>Drivers</a:t>
            </a:r>
          </a:p>
        </p:txBody>
      </p:sp>
      <p:sp>
        <p:nvSpPr>
          <p:cNvPr id="20" name="Rectangle 19"/>
          <p:cNvSpPr/>
          <p:nvPr/>
        </p:nvSpPr>
        <p:spPr>
          <a:xfrm>
            <a:off x="276225" y="5019675"/>
            <a:ext cx="3676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5105400"/>
            <a:ext cx="3676650" cy="14478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4238625" y="4695825"/>
            <a:ext cx="3819525" cy="1933575"/>
          </a:xfrm>
          <a:prstGeom prst="roundRect">
            <a:avLst>
              <a:gd name="adj" fmla="val 39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4781550"/>
            <a:ext cx="3552825" cy="209550"/>
          </a:xfrm>
          <a:prstGeom prst="rect">
            <a:avLst/>
          </a:prstGeom>
          <a:noFill/>
        </p:spPr>
        <p:txBody>
          <a:bodyPr wrap="square" lIns="0" rIns="19050" tIns="9525" bIns="9525">
            <a:spAutoFit/>
          </a:bodyPr>
          <a:lstStyle/>
          <a:p>
            <a:pPr algn="l"/>
            <a:r>
              <a:rPr sz="1300" b="1">
                <a:solidFill>
                  <a:srgbClr val="0B2E4A"/>
                </a:solidFill>
                <a:latin typeface="Calibri"/>
              </a:rPr>
              <a:t>Restraints</a:t>
            </a:r>
          </a:p>
        </p:txBody>
      </p:sp>
      <p:sp>
        <p:nvSpPr>
          <p:cNvPr id="24" name="Rectangle 23"/>
          <p:cNvSpPr/>
          <p:nvPr/>
        </p:nvSpPr>
        <p:spPr>
          <a:xfrm>
            <a:off x="4371975" y="50196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1975" y="5105400"/>
            <a:ext cx="3552825" cy="14478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8210550" y="4695825"/>
            <a:ext cx="3819525" cy="1933575"/>
          </a:xfrm>
          <a:prstGeom prst="roundRect">
            <a:avLst>
              <a:gd name="adj" fmla="val 39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4781550"/>
            <a:ext cx="3552825" cy="209550"/>
          </a:xfrm>
          <a:prstGeom prst="rect">
            <a:avLst/>
          </a:prstGeom>
          <a:noFill/>
        </p:spPr>
        <p:txBody>
          <a:bodyPr wrap="square" lIns="0" rIns="19050" tIns="9525" bIns="9525">
            <a:spAutoFit/>
          </a:bodyPr>
          <a:lstStyle/>
          <a:p>
            <a:pPr algn="l"/>
            <a:r>
              <a:rPr sz="1300" b="1">
                <a:solidFill>
                  <a:srgbClr val="0B2E4A"/>
                </a:solidFill>
                <a:latin typeface="Calibri"/>
              </a:rPr>
              <a:t>Trends</a:t>
            </a:r>
          </a:p>
        </p:txBody>
      </p:sp>
      <p:sp>
        <p:nvSpPr>
          <p:cNvPr id="28" name="Rectangle 27"/>
          <p:cNvSpPr/>
          <p:nvPr/>
        </p:nvSpPr>
        <p:spPr>
          <a:xfrm>
            <a:off x="8343900" y="50196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3900" y="5105400"/>
            <a:ext cx="3552825" cy="14478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Mix shifting toward 'Chewables' and higher-growth tiers.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South Asia &amp; Pacific outpacing the global average.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broadening across 6 form type categories.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4235487" cy="194310"/>
          </a:xfrm>
          <a:prstGeom prst="rect">
            <a:avLst/>
          </a:prstGeom>
          <a:noFill/>
        </p:spPr>
        <p:txBody>
          <a:bodyPr wrap="none" lIns="0" rIns="0" tIns="0" bIns="0">
            <a:spAutoFit/>
          </a:bodyPr>
          <a:lstStyle/>
          <a:p>
            <a:r>
              <a:rPr sz="1150" b="0">
                <a:solidFill>
                  <a:srgbClr val="2E2E2E"/>
                </a:solidFill>
                <a:latin typeface="Calibri"/>
              </a:rPr>
              <a:t>Global senior dog cognitive supplement market is expected to witness</a:t>
            </a:r>
          </a:p>
        </p:txBody>
      </p:sp>
      <p:pic>
        <p:nvPicPr>
          <p:cNvPr id="32" name="Picture 31" descr="lock.png"/>
          <p:cNvPicPr>
            <a:picLocks noChangeAspect="1"/>
          </p:cNvPicPr>
          <p:nvPr/>
        </p:nvPicPr>
        <p:blipFill>
          <a:blip r:embed="rId4"/>
          <a:stretch>
            <a:fillRect/>
          </a:stretch>
        </p:blipFill>
        <p:spPr>
          <a:xfrm>
            <a:off x="4460866" y="1389951"/>
            <a:ext cx="134549" cy="195707"/>
          </a:xfrm>
          <a:prstGeom prst="rect">
            <a:avLst/>
          </a:prstGeom>
        </p:spPr>
      </p:pic>
      <p:sp>
        <p:nvSpPr>
          <p:cNvPr id="33" name="TextBox 32"/>
          <p:cNvSpPr txBox="1"/>
          <p:nvPr/>
        </p:nvSpPr>
        <p:spPr>
          <a:xfrm>
            <a:off x="4635975" y="1400175"/>
            <a:ext cx="6124153" cy="194310"/>
          </a:xfrm>
          <a:prstGeom prst="rect">
            <a:avLst/>
          </a:prstGeom>
          <a:noFill/>
        </p:spPr>
        <p:txBody>
          <a:bodyPr wrap="none" lIns="0" rIns="0" tIns="0" bIns="0">
            <a:spAutoFit/>
          </a:bodyPr>
          <a:lstStyle/>
          <a:p>
            <a:r>
              <a:rPr sz="1150" b="0">
                <a:solidFill>
                  <a:srgbClr val="2E2E2E"/>
                </a:solidFill>
                <a:latin typeface="Calibri"/>
              </a:rPr>
              <a:t>X increase in revenue by 2036 end. Global senior dog cognitive supplement market accounted for US$</a:t>
            </a:r>
          </a:p>
        </p:txBody>
      </p:sp>
      <p:pic>
        <p:nvPicPr>
          <p:cNvPr id="34" name="Picture 33" descr="lock.png"/>
          <p:cNvPicPr>
            <a:picLocks noChangeAspect="1"/>
          </p:cNvPicPr>
          <p:nvPr/>
        </p:nvPicPr>
        <p:blipFill>
          <a:blip r:embed="rId4"/>
          <a:stretch>
            <a:fillRect/>
          </a:stretch>
        </p:blipFill>
        <p:spPr>
          <a:xfrm>
            <a:off x="10709282" y="1389951"/>
            <a:ext cx="134549" cy="195707"/>
          </a:xfrm>
          <a:prstGeom prst="rect">
            <a:avLst/>
          </a:prstGeom>
        </p:spPr>
      </p:pic>
      <p:sp>
        <p:nvSpPr>
          <p:cNvPr id="35" name="TextBox 34"/>
          <p:cNvSpPr txBox="1"/>
          <p:nvPr/>
        </p:nvSpPr>
        <p:spPr>
          <a:xfrm>
            <a:off x="10884391" y="1400175"/>
            <a:ext cx="787623" cy="194310"/>
          </a:xfrm>
          <a:prstGeom prst="rect">
            <a:avLst/>
          </a:prstGeom>
          <a:noFill/>
        </p:spPr>
        <p:txBody>
          <a:bodyPr wrap="none" lIns="0" rIns="0" tIns="0" bIns="0">
            <a:spAutoFit/>
          </a:bodyPr>
          <a:lstStyle/>
          <a:p>
            <a:r>
              <a:rPr sz="1150" b="0">
                <a:solidFill>
                  <a:srgbClr val="2E2E2E"/>
                </a:solidFill>
                <a:latin typeface="Calibri"/>
              </a:rPr>
              <a:t>Mn in 2025,</a:t>
            </a:r>
          </a:p>
        </p:txBody>
      </p:sp>
      <p:sp>
        <p:nvSpPr>
          <p:cNvPr id="36" name="TextBox 35"/>
          <p:cNvSpPr txBox="1"/>
          <p:nvPr/>
        </p:nvSpPr>
        <p:spPr>
          <a:xfrm>
            <a:off x="276225" y="1575435"/>
            <a:ext cx="2247837" cy="194310"/>
          </a:xfrm>
          <a:prstGeom prst="rect">
            <a:avLst/>
          </a:prstGeom>
          <a:noFill/>
        </p:spPr>
        <p:txBody>
          <a:bodyPr wrap="none" lIns="0" rIns="0" tIns="0" bIns="0">
            <a:spAutoFit/>
          </a:bodyPr>
          <a:lstStyle/>
          <a:p>
            <a:r>
              <a:rPr sz="1150" b="0">
                <a:solidFill>
                  <a:srgbClr val="2E2E2E"/>
                </a:solidFill>
                <a:latin typeface="Calibri"/>
              </a:rPr>
              <a:t>which is expected to increase to US$</a:t>
            </a:r>
          </a:p>
        </p:txBody>
      </p:sp>
      <p:pic>
        <p:nvPicPr>
          <p:cNvPr id="37" name="Picture 36" descr="lock.png"/>
          <p:cNvPicPr>
            <a:picLocks noChangeAspect="1"/>
          </p:cNvPicPr>
          <p:nvPr/>
        </p:nvPicPr>
        <p:blipFill>
          <a:blip r:embed="rId4"/>
          <a:stretch>
            <a:fillRect/>
          </a:stretch>
        </p:blipFill>
        <p:spPr>
          <a:xfrm>
            <a:off x="2473216" y="1565211"/>
            <a:ext cx="134549" cy="195707"/>
          </a:xfrm>
          <a:prstGeom prst="rect">
            <a:avLst/>
          </a:prstGeom>
        </p:spPr>
      </p:pic>
      <p:sp>
        <p:nvSpPr>
          <p:cNvPr id="38" name="TextBox 37"/>
          <p:cNvSpPr txBox="1"/>
          <p:nvPr/>
        </p:nvSpPr>
        <p:spPr>
          <a:xfrm>
            <a:off x="2648326" y="1575435"/>
            <a:ext cx="1527554" cy="194310"/>
          </a:xfrm>
          <a:prstGeom prst="rect">
            <a:avLst/>
          </a:prstGeom>
          <a:noFill/>
        </p:spPr>
        <p:txBody>
          <a:bodyPr wrap="none" lIns="0" rIns="0" tIns="0" bIns="0">
            <a:spAutoFit/>
          </a:bodyPr>
          <a:lstStyle/>
          <a:p>
            <a:r>
              <a:rPr sz="1150" b="0">
                <a:solidFill>
                  <a:srgbClr val="2E2E2E"/>
                </a:solidFill>
                <a:latin typeface="Calibri"/>
              </a:rPr>
              <a:t>Mn in 2036 at a CAGR of</a:t>
            </a:r>
          </a:p>
        </p:txBody>
      </p:sp>
      <p:pic>
        <p:nvPicPr>
          <p:cNvPr id="39" name="Picture 38" descr="lock.png"/>
          <p:cNvPicPr>
            <a:picLocks noChangeAspect="1"/>
          </p:cNvPicPr>
          <p:nvPr/>
        </p:nvPicPr>
        <p:blipFill>
          <a:blip r:embed="rId4"/>
          <a:stretch>
            <a:fillRect/>
          </a:stretch>
        </p:blipFill>
        <p:spPr>
          <a:xfrm>
            <a:off x="4125034" y="1565211"/>
            <a:ext cx="134549" cy="195707"/>
          </a:xfrm>
          <a:prstGeom prst="rect">
            <a:avLst/>
          </a:prstGeom>
        </p:spPr>
      </p:pic>
      <p:sp>
        <p:nvSpPr>
          <p:cNvPr id="40" name="TextBox 39"/>
          <p:cNvSpPr txBox="1"/>
          <p:nvPr/>
        </p:nvSpPr>
        <p:spPr>
          <a:xfrm>
            <a:off x="4300143" y="157543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1" name="TextBox 40"/>
          <p:cNvSpPr txBox="1"/>
          <p:nvPr/>
        </p:nvSpPr>
        <p:spPr>
          <a:xfrm>
            <a:off x="276225" y="1803273"/>
            <a:ext cx="11462109" cy="194310"/>
          </a:xfrm>
          <a:prstGeom prst="rect">
            <a:avLst/>
          </a:prstGeom>
          <a:noFill/>
        </p:spPr>
        <p:txBody>
          <a:bodyPr wrap="none" lIns="0" rIns="0" tIns="0" bIns="0">
            <a:spAutoFit/>
          </a:bodyPr>
          <a:lstStyle/>
          <a:p>
            <a:r>
              <a:rPr sz="1150" b="0">
                <a:solidFill>
                  <a:srgbClr val="2E2E2E"/>
                </a:solidFill>
                <a:latin typeface="Calibri"/>
              </a:rPr>
              <a:t>The global senior dog cognitive supplement market has been analysed on the basis of form type, active ingredient, end-use application and packaging format across the globe. North America is</a:t>
            </a:r>
          </a:p>
        </p:txBody>
      </p:sp>
      <p:sp>
        <p:nvSpPr>
          <p:cNvPr id="42" name="TextBox 41"/>
          <p:cNvSpPr txBox="1"/>
          <p:nvPr/>
        </p:nvSpPr>
        <p:spPr>
          <a:xfrm>
            <a:off x="276225" y="1978533"/>
            <a:ext cx="9590540" cy="194310"/>
          </a:xfrm>
          <a:prstGeom prst="rect">
            <a:avLst/>
          </a:prstGeom>
          <a:noFill/>
        </p:spPr>
        <p:txBody>
          <a:bodyPr wrap="none" lIns="0" rIns="0" tIns="0" bIns="0">
            <a:spAutoFit/>
          </a:bodyPr>
          <a:lstStyle/>
          <a:p>
            <a:r>
              <a:rPr sz="1150" b="0">
                <a:solidFill>
                  <a:srgbClr val="2E2E2E"/>
                </a:solidFill>
                <a:latin typeface="Calibri"/>
              </a:rPr>
              <a:t>expected to remain the largest market for senior dog cognitive supplement, while demand in South Asia &amp; Pacific is projected to increase at the highest CAGR of</a:t>
            </a:r>
          </a:p>
        </p:txBody>
      </p:sp>
      <p:pic>
        <p:nvPicPr>
          <p:cNvPr id="43" name="Picture 42" descr="lock.png"/>
          <p:cNvPicPr>
            <a:picLocks noChangeAspect="1"/>
          </p:cNvPicPr>
          <p:nvPr/>
        </p:nvPicPr>
        <p:blipFill>
          <a:blip r:embed="rId4"/>
          <a:stretch>
            <a:fillRect/>
          </a:stretch>
        </p:blipFill>
        <p:spPr>
          <a:xfrm>
            <a:off x="9815919" y="1968309"/>
            <a:ext cx="134549" cy="195707"/>
          </a:xfrm>
          <a:prstGeom prst="rect">
            <a:avLst/>
          </a:prstGeom>
        </p:spPr>
      </p:pic>
      <p:sp>
        <p:nvSpPr>
          <p:cNvPr id="44" name="TextBox 43"/>
          <p:cNvSpPr txBox="1"/>
          <p:nvPr/>
        </p:nvSpPr>
        <p:spPr>
          <a:xfrm>
            <a:off x="9991029" y="1978533"/>
            <a:ext cx="1503040" cy="194310"/>
          </a:xfrm>
          <a:prstGeom prst="rect">
            <a:avLst/>
          </a:prstGeom>
          <a:noFill/>
        </p:spPr>
        <p:txBody>
          <a:bodyPr wrap="none" lIns="0" rIns="0" tIns="0" bIns="0">
            <a:spAutoFit/>
          </a:bodyPr>
          <a:lstStyle/>
          <a:p>
            <a:r>
              <a:rPr sz="1150" b="0">
                <a:solidFill>
                  <a:srgbClr val="2E2E2E"/>
                </a:solidFill>
                <a:latin typeface="Calibri"/>
              </a:rPr>
              <a:t>throughout the forecast</a:t>
            </a:r>
          </a:p>
        </p:txBody>
      </p:sp>
      <p:sp>
        <p:nvSpPr>
          <p:cNvPr id="45" name="TextBox 44"/>
          <p:cNvSpPr txBox="1"/>
          <p:nvPr/>
        </p:nvSpPr>
        <p:spPr>
          <a:xfrm>
            <a:off x="276225" y="2153793"/>
            <a:ext cx="500943" cy="194310"/>
          </a:xfrm>
          <a:prstGeom prst="rect">
            <a:avLst/>
          </a:prstGeom>
          <a:noFill/>
        </p:spPr>
        <p:txBody>
          <a:bodyPr wrap="none" lIns="0" rIns="0" tIns="0" bIns="0">
            <a:spAutoFit/>
          </a:bodyPr>
          <a:lstStyle/>
          <a:p>
            <a:r>
              <a:rPr sz="1150" b="0">
                <a:solidFill>
                  <a:srgbClr val="2E2E2E"/>
                </a:solidFill>
                <a:latin typeface="Calibri"/>
              </a:rPr>
              <a:t>period.</a:t>
            </a:r>
          </a:p>
        </p:txBody>
      </p:sp>
      <p:sp>
        <p:nvSpPr>
          <p:cNvPr id="46" name="TextBox 45"/>
          <p:cNvSpPr txBox="1"/>
          <p:nvPr/>
        </p:nvSpPr>
        <p:spPr>
          <a:xfrm>
            <a:off x="276225" y="3409950"/>
            <a:ext cx="6053980" cy="194310"/>
          </a:xfrm>
          <a:prstGeom prst="rect">
            <a:avLst/>
          </a:prstGeom>
          <a:noFill/>
        </p:spPr>
        <p:txBody>
          <a:bodyPr wrap="none" lIns="0" rIns="0" tIns="0" bIns="0">
            <a:spAutoFit/>
          </a:bodyPr>
          <a:lstStyle/>
          <a:p>
            <a:r>
              <a:rPr sz="1150" b="0">
                <a:solidFill>
                  <a:srgbClr val="2E2E2E"/>
                </a:solidFill>
                <a:latin typeface="Calibri"/>
              </a:rPr>
              <a:t>▪ The market is moderately fragmented: the leading form type category 'Capsules and Softgels' holds</a:t>
            </a:r>
          </a:p>
        </p:txBody>
      </p:sp>
      <p:pic>
        <p:nvPicPr>
          <p:cNvPr id="47" name="Picture 46" descr="lock.png"/>
          <p:cNvPicPr>
            <a:picLocks noChangeAspect="1"/>
          </p:cNvPicPr>
          <p:nvPr/>
        </p:nvPicPr>
        <p:blipFill>
          <a:blip r:embed="rId4"/>
          <a:stretch>
            <a:fillRect/>
          </a:stretch>
        </p:blipFill>
        <p:spPr>
          <a:xfrm>
            <a:off x="6279359" y="3399726"/>
            <a:ext cx="134549" cy="195707"/>
          </a:xfrm>
          <a:prstGeom prst="rect">
            <a:avLst/>
          </a:prstGeom>
        </p:spPr>
      </p:pic>
      <p:sp>
        <p:nvSpPr>
          <p:cNvPr id="48" name="TextBox 47"/>
          <p:cNvSpPr txBox="1"/>
          <p:nvPr/>
        </p:nvSpPr>
        <p:spPr>
          <a:xfrm>
            <a:off x="6454469" y="340995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9" name="TextBox 48"/>
          <p:cNvSpPr txBox="1"/>
          <p:nvPr/>
        </p:nvSpPr>
        <p:spPr>
          <a:xfrm>
            <a:off x="276225" y="3637787"/>
            <a:ext cx="4730973" cy="194310"/>
          </a:xfrm>
          <a:prstGeom prst="rect">
            <a:avLst/>
          </a:prstGeom>
          <a:noFill/>
        </p:spPr>
        <p:txBody>
          <a:bodyPr wrap="none" lIns="0" rIns="0" tIns="0" bIns="0">
            <a:spAutoFit/>
          </a:bodyPr>
          <a:lstStyle/>
          <a:p>
            <a:r>
              <a:rPr sz="1150" b="0">
                <a:solidFill>
                  <a:srgbClr val="2E2E2E"/>
                </a:solidFill>
                <a:latin typeface="Calibri"/>
              </a:rPr>
              <a:t>▪ Demand spans 6 regions and 8 segmentation lenses (6 form type categories).</a:t>
            </a:r>
          </a:p>
        </p:txBody>
      </p:sp>
      <p:sp>
        <p:nvSpPr>
          <p:cNvPr id="50" name="TextBox 49"/>
          <p:cNvSpPr txBox="1"/>
          <p:nvPr/>
        </p:nvSpPr>
        <p:spPr>
          <a:xfrm>
            <a:off x="276225" y="3865625"/>
            <a:ext cx="2950988" cy="194310"/>
          </a:xfrm>
          <a:prstGeom prst="rect">
            <a:avLst/>
          </a:prstGeom>
          <a:noFill/>
        </p:spPr>
        <p:txBody>
          <a:bodyPr wrap="none" lIns="0" rIns="0" tIns="0" bIns="0">
            <a:spAutoFit/>
          </a:bodyPr>
          <a:lstStyle/>
          <a:p>
            <a:r>
              <a:rPr sz="1150" b="0">
                <a:solidFill>
                  <a:srgbClr val="2E2E2E"/>
                </a:solidFill>
                <a:latin typeface="Calibri"/>
              </a:rPr>
              <a:t>▪ North America is the largest regional market at</a:t>
            </a:r>
          </a:p>
        </p:txBody>
      </p:sp>
      <p:pic>
        <p:nvPicPr>
          <p:cNvPr id="51" name="Picture 50" descr="lock.png"/>
          <p:cNvPicPr>
            <a:picLocks noChangeAspect="1"/>
          </p:cNvPicPr>
          <p:nvPr/>
        </p:nvPicPr>
        <p:blipFill>
          <a:blip r:embed="rId4"/>
          <a:stretch>
            <a:fillRect/>
          </a:stretch>
        </p:blipFill>
        <p:spPr>
          <a:xfrm>
            <a:off x="3176367" y="3855402"/>
            <a:ext cx="134549" cy="195707"/>
          </a:xfrm>
          <a:prstGeom prst="rect">
            <a:avLst/>
          </a:prstGeom>
        </p:spPr>
      </p:pic>
      <p:sp>
        <p:nvSpPr>
          <p:cNvPr id="52" name="TextBox 51"/>
          <p:cNvSpPr txBox="1"/>
          <p:nvPr/>
        </p:nvSpPr>
        <p:spPr>
          <a:xfrm>
            <a:off x="3351477" y="386562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53" name="TextBox 52"/>
          <p:cNvSpPr txBox="1"/>
          <p:nvPr/>
        </p:nvSpPr>
        <p:spPr>
          <a:xfrm>
            <a:off x="276225" y="5114925"/>
            <a:ext cx="2313446" cy="194310"/>
          </a:xfrm>
          <a:prstGeom prst="rect">
            <a:avLst/>
          </a:prstGeom>
          <a:noFill/>
        </p:spPr>
        <p:txBody>
          <a:bodyPr wrap="none" lIns="0" rIns="0" tIns="0" bIns="0">
            <a:spAutoFit/>
          </a:bodyPr>
          <a:lstStyle/>
          <a:p>
            <a:r>
              <a:rPr sz="1150" b="0">
                <a:solidFill>
                  <a:srgbClr val="2E2E2E"/>
                </a:solidFill>
                <a:latin typeface="Calibri"/>
              </a:rPr>
              <a:t>▪ Accelerating uptake of 'Chewables' (</a:t>
            </a:r>
          </a:p>
        </p:txBody>
      </p:sp>
      <p:pic>
        <p:nvPicPr>
          <p:cNvPr id="54" name="Picture 53" descr="lock.png"/>
          <p:cNvPicPr>
            <a:picLocks noChangeAspect="1"/>
          </p:cNvPicPr>
          <p:nvPr/>
        </p:nvPicPr>
        <p:blipFill>
          <a:blip r:embed="rId4"/>
          <a:stretch>
            <a:fillRect/>
          </a:stretch>
        </p:blipFill>
        <p:spPr>
          <a:xfrm>
            <a:off x="2538825" y="5104701"/>
            <a:ext cx="134549" cy="195707"/>
          </a:xfrm>
          <a:prstGeom prst="rect">
            <a:avLst/>
          </a:prstGeom>
        </p:spPr>
      </p:pic>
      <p:sp>
        <p:nvSpPr>
          <p:cNvPr id="55" name="TextBox 54"/>
          <p:cNvSpPr txBox="1"/>
          <p:nvPr/>
        </p:nvSpPr>
        <p:spPr>
          <a:xfrm>
            <a:off x="2713934" y="511492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6" name="TextBox 55"/>
          <p:cNvSpPr txBox="1"/>
          <p:nvPr/>
        </p:nvSpPr>
        <p:spPr>
          <a:xfrm>
            <a:off x="276225" y="5342763"/>
            <a:ext cx="2877045" cy="194310"/>
          </a:xfrm>
          <a:prstGeom prst="rect">
            <a:avLst/>
          </a:prstGeom>
          <a:noFill/>
        </p:spPr>
        <p:txBody>
          <a:bodyPr wrap="none" lIns="0" rIns="0" tIns="0" bIns="0">
            <a:spAutoFit/>
          </a:bodyPr>
          <a:lstStyle/>
          <a:p>
            <a:r>
              <a:rPr sz="1150" b="0">
                <a:solidFill>
                  <a:srgbClr val="2E2E2E"/>
                </a:solidFill>
                <a:latin typeface="Calibri"/>
              </a:rPr>
              <a:t>▪ Fast-growing demand in South Asia &amp; Pacific (</a:t>
            </a:r>
          </a:p>
        </p:txBody>
      </p:sp>
      <p:pic>
        <p:nvPicPr>
          <p:cNvPr id="57" name="Picture 56" descr="lock.png"/>
          <p:cNvPicPr>
            <a:picLocks noChangeAspect="1"/>
          </p:cNvPicPr>
          <p:nvPr/>
        </p:nvPicPr>
        <p:blipFill>
          <a:blip r:embed="rId4"/>
          <a:stretch>
            <a:fillRect/>
          </a:stretch>
        </p:blipFill>
        <p:spPr>
          <a:xfrm>
            <a:off x="3102424" y="5332539"/>
            <a:ext cx="134549" cy="195707"/>
          </a:xfrm>
          <a:prstGeom prst="rect">
            <a:avLst/>
          </a:prstGeom>
        </p:spPr>
      </p:pic>
      <p:sp>
        <p:nvSpPr>
          <p:cNvPr id="58" name="TextBox 57"/>
          <p:cNvSpPr txBox="1"/>
          <p:nvPr/>
        </p:nvSpPr>
        <p:spPr>
          <a:xfrm>
            <a:off x="3277533" y="5342763"/>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9" name="TextBox 58"/>
          <p:cNvSpPr txBox="1"/>
          <p:nvPr/>
        </p:nvSpPr>
        <p:spPr>
          <a:xfrm>
            <a:off x="276225" y="5570600"/>
            <a:ext cx="3478708" cy="194310"/>
          </a:xfrm>
          <a:prstGeom prst="rect">
            <a:avLst/>
          </a:prstGeom>
          <a:noFill/>
        </p:spPr>
        <p:txBody>
          <a:bodyPr wrap="none" lIns="0" rIns="0" tIns="0" bIns="0">
            <a:spAutoFit/>
          </a:bodyPr>
          <a:lstStyle/>
          <a:p>
            <a:r>
              <a:rPr sz="1150" b="0">
                <a:solidFill>
                  <a:srgbClr val="2E2E2E"/>
                </a:solidFill>
                <a:latin typeface="Calibri"/>
              </a:rPr>
              <a:t>▪ Momentum in Veterinary-Guided Cognitive Dysfunction</a:t>
            </a:r>
          </a:p>
        </p:txBody>
      </p:sp>
      <p:sp>
        <p:nvSpPr>
          <p:cNvPr id="60" name="TextBox 59"/>
          <p:cNvSpPr txBox="1"/>
          <p:nvPr/>
        </p:nvSpPr>
        <p:spPr>
          <a:xfrm>
            <a:off x="276225" y="5745860"/>
            <a:ext cx="2237854" cy="194310"/>
          </a:xfrm>
          <a:prstGeom prst="rect">
            <a:avLst/>
          </a:prstGeom>
          <a:noFill/>
        </p:spPr>
        <p:txBody>
          <a:bodyPr wrap="none" lIns="0" rIns="0" tIns="0" bIns="0">
            <a:spAutoFit/>
          </a:bodyPr>
          <a:lstStyle/>
          <a:p>
            <a:r>
              <a:rPr sz="1150" b="0">
                <a:solidFill>
                  <a:srgbClr val="2E2E2E"/>
                </a:solidFill>
                <a:latin typeface="Calibri"/>
              </a:rPr>
              <a:t>Support within end-use application (</a:t>
            </a:r>
          </a:p>
        </p:txBody>
      </p:sp>
      <p:pic>
        <p:nvPicPr>
          <p:cNvPr id="61" name="Picture 60" descr="lock.png"/>
          <p:cNvPicPr>
            <a:picLocks noChangeAspect="1"/>
          </p:cNvPicPr>
          <p:nvPr/>
        </p:nvPicPr>
        <p:blipFill>
          <a:blip r:embed="rId4"/>
          <a:stretch>
            <a:fillRect/>
          </a:stretch>
        </p:blipFill>
        <p:spPr>
          <a:xfrm>
            <a:off x="2463233" y="5735637"/>
            <a:ext cx="134549" cy="195707"/>
          </a:xfrm>
          <a:prstGeom prst="rect">
            <a:avLst/>
          </a:prstGeom>
        </p:spPr>
      </p:pic>
      <p:sp>
        <p:nvSpPr>
          <p:cNvPr id="62" name="TextBox 61"/>
          <p:cNvSpPr txBox="1"/>
          <p:nvPr/>
        </p:nvSpPr>
        <p:spPr>
          <a:xfrm>
            <a:off x="2638342" y="574586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3" name="TextBox 62"/>
          <p:cNvSpPr txBox="1"/>
          <p:nvPr/>
        </p:nvSpPr>
        <p:spPr>
          <a:xfrm>
            <a:off x="4371975" y="5114925"/>
            <a:ext cx="2036464" cy="194310"/>
          </a:xfrm>
          <a:prstGeom prst="rect">
            <a:avLst/>
          </a:prstGeom>
          <a:noFill/>
        </p:spPr>
        <p:txBody>
          <a:bodyPr wrap="none" lIns="0" rIns="0" tIns="0" bIns="0">
            <a:spAutoFit/>
          </a:bodyPr>
          <a:lstStyle/>
          <a:p>
            <a:r>
              <a:rPr sz="1150" b="0">
                <a:solidFill>
                  <a:srgbClr val="2E2E2E"/>
                </a:solidFill>
                <a:latin typeface="Calibri"/>
              </a:rPr>
              <a:t>▪ Slower momentum in 'Liquids' (</a:t>
            </a:r>
          </a:p>
        </p:txBody>
      </p:sp>
      <p:pic>
        <p:nvPicPr>
          <p:cNvPr id="64" name="Picture 63" descr="lock.png"/>
          <p:cNvPicPr>
            <a:picLocks noChangeAspect="1"/>
          </p:cNvPicPr>
          <p:nvPr/>
        </p:nvPicPr>
        <p:blipFill>
          <a:blip r:embed="rId4"/>
          <a:stretch>
            <a:fillRect/>
          </a:stretch>
        </p:blipFill>
        <p:spPr>
          <a:xfrm>
            <a:off x="6357593" y="5104701"/>
            <a:ext cx="134549" cy="195707"/>
          </a:xfrm>
          <a:prstGeom prst="rect">
            <a:avLst/>
          </a:prstGeom>
        </p:spPr>
      </p:pic>
      <p:sp>
        <p:nvSpPr>
          <p:cNvPr id="65" name="TextBox 64"/>
          <p:cNvSpPr txBox="1"/>
          <p:nvPr/>
        </p:nvSpPr>
        <p:spPr>
          <a:xfrm>
            <a:off x="6532703" y="511492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6" name="TextBox 65"/>
          <p:cNvSpPr txBox="1"/>
          <p:nvPr/>
        </p:nvSpPr>
        <p:spPr>
          <a:xfrm>
            <a:off x="4371975" y="5342763"/>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7" name="TextBox 66"/>
          <p:cNvSpPr txBox="1"/>
          <p:nvPr/>
        </p:nvSpPr>
        <p:spPr>
          <a:xfrm>
            <a:off x="4371975" y="551802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8" name="Picture 67" descr="lock.png"/>
          <p:cNvPicPr>
            <a:picLocks noChangeAspect="1"/>
          </p:cNvPicPr>
          <p:nvPr/>
        </p:nvPicPr>
        <p:blipFill>
          <a:blip r:embed="rId4"/>
          <a:stretch>
            <a:fillRect/>
          </a:stretch>
        </p:blipFill>
        <p:spPr>
          <a:xfrm>
            <a:off x="4883401" y="5507799"/>
            <a:ext cx="134549" cy="195707"/>
          </a:xfrm>
          <a:prstGeom prst="rect">
            <a:avLst/>
          </a:prstGeom>
        </p:spPr>
      </p:pic>
      <p:sp>
        <p:nvSpPr>
          <p:cNvPr id="69" name="TextBox 68"/>
          <p:cNvSpPr txBox="1"/>
          <p:nvPr/>
        </p:nvSpPr>
        <p:spPr>
          <a:xfrm>
            <a:off x="5058510" y="551802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0" name="TextBox 69"/>
          <p:cNvSpPr txBox="1"/>
          <p:nvPr/>
        </p:nvSpPr>
        <p:spPr>
          <a:xfrm>
            <a:off x="4371975" y="5745860"/>
            <a:ext cx="3260204" cy="194310"/>
          </a:xfrm>
          <a:prstGeom prst="rect">
            <a:avLst/>
          </a:prstGeom>
          <a:noFill/>
        </p:spPr>
        <p:txBody>
          <a:bodyPr wrap="none" lIns="0" rIns="0" tIns="0" bIns="0">
            <a:spAutoFit/>
          </a:bodyPr>
          <a:lstStyle/>
          <a:p>
            <a:r>
              <a:rPr sz="1150" b="0">
                <a:solidFill>
                  <a:srgbClr val="2E2E2E"/>
                </a:solidFill>
                <a:latin typeface="Calibri"/>
              </a:rPr>
              <a:t>▪ Value concentration in 'Capsules and Softgels' raises</a:t>
            </a:r>
          </a:p>
        </p:txBody>
      </p:sp>
      <p:sp>
        <p:nvSpPr>
          <p:cNvPr id="71" name="TextBox 70"/>
          <p:cNvSpPr txBox="1"/>
          <p:nvPr/>
        </p:nvSpPr>
        <p:spPr>
          <a:xfrm>
            <a:off x="4371975" y="5921120"/>
            <a:ext cx="1604305" cy="194310"/>
          </a:xfrm>
          <a:prstGeom prst="rect">
            <a:avLst/>
          </a:prstGeom>
          <a:noFill/>
        </p:spPr>
        <p:txBody>
          <a:bodyPr wrap="none" lIns="0" rIns="0" tIns="0" bIns="0">
            <a:spAutoFit/>
          </a:bodyPr>
          <a:lstStyle/>
          <a:p>
            <a:r>
              <a:rPr sz="1150" b="0">
                <a:solidFill>
                  <a:srgbClr val="2E2E2E"/>
                </a:solidFill>
                <a:latin typeface="Calibri"/>
              </a:rPr>
              <a:t>barriers for new entrants.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10" name="Rounded Rectangle 9"/>
          <p:cNvSpPr/>
          <p:nvPr/>
        </p:nvSpPr>
        <p:spPr>
          <a:xfrm>
            <a:off x="142875"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Recent Developments &amp; Key Industry Activities</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Capacity and product development are concentrating in 'Chewables' and South Asia &amp; Pacific.</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Portfolio expansion tracks the shift toward higher-growth form type categories.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Commercial focus is intensifying across North America and South Asia &amp; Pacific.</a:t>
            </a:r>
          </a:p>
        </p:txBody>
      </p:sp>
      <p:sp>
        <p:nvSpPr>
          <p:cNvPr id="14" name="Rounded Rectangle 13"/>
          <p:cNvSpPr/>
          <p:nvPr/>
        </p:nvSpPr>
        <p:spPr>
          <a:xfrm>
            <a:off x="6172200"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142875"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981325"/>
            <a:ext cx="5610225" cy="209550"/>
          </a:xfrm>
          <a:prstGeom prst="rect">
            <a:avLst/>
          </a:prstGeom>
          <a:noFill/>
        </p:spPr>
        <p:txBody>
          <a:bodyPr wrap="square" lIns="0" rIns="19050" tIns="9525" bIns="9525">
            <a:spAutoFit/>
          </a:bodyPr>
          <a:lstStyle/>
          <a:p>
            <a:pPr algn="l"/>
            <a:r>
              <a:rPr sz="1300" b="1">
                <a:solidFill>
                  <a:srgbClr val="0B2E4A"/>
                </a:solidFill>
                <a:latin typeface="Calibri"/>
              </a:rPr>
              <a:t>Strategic Acquisitions &amp; New Investments</a:t>
            </a:r>
          </a:p>
        </p:txBody>
      </p:sp>
      <p:sp>
        <p:nvSpPr>
          <p:cNvPr id="20" name="Rectangle 19"/>
          <p:cNvSpPr/>
          <p:nvPr/>
        </p:nvSpPr>
        <p:spPr>
          <a:xfrm>
            <a:off x="276225"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981325"/>
            <a:ext cx="5610225" cy="209550"/>
          </a:xfrm>
          <a:prstGeom prst="rect">
            <a:avLst/>
          </a:prstGeom>
          <a:noFill/>
        </p:spPr>
        <p:txBody>
          <a:bodyPr wrap="square" lIns="0" rIns="19050" tIns="9525" bIns="9525">
            <a:spAutoFit/>
          </a:bodyPr>
          <a:lstStyle/>
          <a:p>
            <a:pPr algn="l"/>
            <a:r>
              <a:rPr sz="1300" b="1">
                <a:solidFill>
                  <a:srgbClr val="0B2E4A"/>
                </a:solidFill>
                <a:latin typeface="Calibri"/>
              </a:rPr>
              <a:t>Substantial Investment in R&amp;D</a:t>
            </a:r>
          </a:p>
        </p:txBody>
      </p:sp>
      <p:sp>
        <p:nvSpPr>
          <p:cNvPr id="24" name="Rectangle 23"/>
          <p:cNvSpPr/>
          <p:nvPr/>
        </p:nvSpPr>
        <p:spPr>
          <a:xfrm>
            <a:off x="6305550"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42875" y="4314825"/>
            <a:ext cx="11906250" cy="2295525"/>
          </a:xfrm>
          <a:prstGeom prst="roundRect">
            <a:avLst>
              <a:gd name="adj" fmla="val 33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8125" y="43719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form type share (2036)</a:t>
            </a:r>
          </a:p>
        </p:txBody>
      </p:sp>
      <p:graphicFrame>
        <p:nvGraphicFramePr>
          <p:cNvPr id="28" name="Chart 27"/>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r:id="rId3"/>
          </a:graphicData>
        </a:graphic>
      </p:graphicFrame>
      <p:sp>
        <p:nvSpPr>
          <p:cNvPr id="29" name="TextBox 28"/>
          <p:cNvSpPr txBox="1"/>
          <p:nvPr/>
        </p:nvSpPr>
        <p:spPr>
          <a:xfrm>
            <a:off x="3871570" y="5462588"/>
            <a:ext cx="934136"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4135025" y="5284520"/>
            <a:ext cx="382860" cy="556888"/>
          </a:xfrm>
          <a:prstGeom prst="rect">
            <a:avLst/>
          </a:prstGeom>
        </p:spPr>
      </p:pic>
      <p:sp>
        <p:nvSpPr>
          <p:cNvPr id="32" name="TextBox 31"/>
          <p:cNvSpPr txBox="1"/>
          <p:nvPr/>
        </p:nvSpPr>
        <p:spPr>
          <a:xfrm>
            <a:off x="6305550" y="1400175"/>
            <a:ext cx="684113" cy="186689"/>
          </a:xfrm>
          <a:prstGeom prst="rect">
            <a:avLst/>
          </a:prstGeom>
          <a:noFill/>
        </p:spPr>
        <p:txBody>
          <a:bodyPr wrap="none" lIns="0" rIns="0" tIns="0" bIns="0">
            <a:spAutoFit/>
          </a:bodyPr>
          <a:lstStyle/>
          <a:p>
            <a:r>
              <a:rPr sz="1100" b="0">
                <a:solidFill>
                  <a:srgbClr val="2E2E2E"/>
                </a:solidFill>
                <a:latin typeface="Calibri"/>
              </a:rPr>
              <a:t>▪ 2026 size</a:t>
            </a:r>
          </a:p>
        </p:txBody>
      </p:sp>
      <p:pic>
        <p:nvPicPr>
          <p:cNvPr id="33" name="Picture 32" descr="lock.png"/>
          <p:cNvPicPr>
            <a:picLocks noChangeAspect="1"/>
          </p:cNvPicPr>
          <p:nvPr/>
        </p:nvPicPr>
        <p:blipFill>
          <a:blip r:embed="rId5"/>
          <a:stretch>
            <a:fillRect/>
          </a:stretch>
        </p:blipFill>
        <p:spPr>
          <a:xfrm>
            <a:off x="6937714" y="1390396"/>
            <a:ext cx="128699" cy="187198"/>
          </a:xfrm>
          <a:prstGeom prst="rect">
            <a:avLst/>
          </a:prstGeom>
        </p:spPr>
      </p:pic>
      <p:sp>
        <p:nvSpPr>
          <p:cNvPr id="34" name="TextBox 33"/>
          <p:cNvSpPr txBox="1"/>
          <p:nvPr/>
        </p:nvSpPr>
        <p:spPr>
          <a:xfrm>
            <a:off x="7105210" y="1400175"/>
            <a:ext cx="878383" cy="186689"/>
          </a:xfrm>
          <a:prstGeom prst="rect">
            <a:avLst/>
          </a:prstGeom>
          <a:noFill/>
        </p:spPr>
        <p:txBody>
          <a:bodyPr wrap="none" lIns="0" rIns="0" tIns="0" bIns="0">
            <a:spAutoFit/>
          </a:bodyPr>
          <a:lstStyle/>
          <a:p>
            <a:r>
              <a:rPr sz="1100" b="0">
                <a:solidFill>
                  <a:srgbClr val="2E2E2E"/>
                </a:solidFill>
                <a:latin typeface="Calibri"/>
              </a:rPr>
              <a:t>US$ Mn; 2036</a:t>
            </a:r>
          </a:p>
        </p:txBody>
      </p:sp>
      <p:pic>
        <p:nvPicPr>
          <p:cNvPr id="35" name="Picture 34" descr="lock.png"/>
          <p:cNvPicPr>
            <a:picLocks noChangeAspect="1"/>
          </p:cNvPicPr>
          <p:nvPr/>
        </p:nvPicPr>
        <p:blipFill>
          <a:blip r:embed="rId5"/>
          <a:stretch>
            <a:fillRect/>
          </a:stretch>
        </p:blipFill>
        <p:spPr>
          <a:xfrm>
            <a:off x="7931645" y="1390396"/>
            <a:ext cx="128699" cy="187198"/>
          </a:xfrm>
          <a:prstGeom prst="rect">
            <a:avLst/>
          </a:prstGeom>
        </p:spPr>
      </p:pic>
      <p:sp>
        <p:nvSpPr>
          <p:cNvPr id="36" name="TextBox 35"/>
          <p:cNvSpPr txBox="1"/>
          <p:nvPr/>
        </p:nvSpPr>
        <p:spPr>
          <a:xfrm>
            <a:off x="8099141" y="1400175"/>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37" name="TextBox 36"/>
          <p:cNvSpPr txBox="1"/>
          <p:nvPr/>
        </p:nvSpPr>
        <p:spPr>
          <a:xfrm>
            <a:off x="6305550" y="1618107"/>
            <a:ext cx="991842" cy="186689"/>
          </a:xfrm>
          <a:prstGeom prst="rect">
            <a:avLst/>
          </a:prstGeom>
          <a:noFill/>
        </p:spPr>
        <p:txBody>
          <a:bodyPr wrap="none" lIns="0" rIns="0" tIns="0" bIns="0">
            <a:spAutoFit/>
          </a:bodyPr>
          <a:lstStyle/>
          <a:p>
            <a:r>
              <a:rPr sz="1100" b="0">
                <a:solidFill>
                  <a:srgbClr val="2E2E2E"/>
                </a:solidFill>
                <a:latin typeface="Calibri"/>
              </a:rPr>
              <a:t>▪ Forecast CAGR</a:t>
            </a:r>
          </a:p>
        </p:txBody>
      </p:sp>
      <p:pic>
        <p:nvPicPr>
          <p:cNvPr id="38" name="Picture 37" descr="lock.png"/>
          <p:cNvPicPr>
            <a:picLocks noChangeAspect="1"/>
          </p:cNvPicPr>
          <p:nvPr/>
        </p:nvPicPr>
        <p:blipFill>
          <a:blip r:embed="rId5"/>
          <a:stretch>
            <a:fillRect/>
          </a:stretch>
        </p:blipFill>
        <p:spPr>
          <a:xfrm>
            <a:off x="7245444" y="1608328"/>
            <a:ext cx="128699" cy="187198"/>
          </a:xfrm>
          <a:prstGeom prst="rect">
            <a:avLst/>
          </a:prstGeom>
        </p:spPr>
      </p:pic>
      <p:sp>
        <p:nvSpPr>
          <p:cNvPr id="39" name="TextBox 38"/>
          <p:cNvSpPr txBox="1"/>
          <p:nvPr/>
        </p:nvSpPr>
        <p:spPr>
          <a:xfrm>
            <a:off x="7412940" y="1618107"/>
            <a:ext cx="833090" cy="186689"/>
          </a:xfrm>
          <a:prstGeom prst="rect">
            <a:avLst/>
          </a:prstGeom>
          <a:noFill/>
        </p:spPr>
        <p:txBody>
          <a:bodyPr wrap="none" lIns="0" rIns="0" tIns="0" bIns="0">
            <a:spAutoFit/>
          </a:bodyPr>
          <a:lstStyle/>
          <a:p>
            <a:r>
              <a:rPr sz="1100" b="0">
                <a:solidFill>
                  <a:srgbClr val="2E2E2E"/>
                </a:solidFill>
                <a:latin typeface="Calibri"/>
              </a:rPr>
              <a:t>(2026–2036).</a:t>
            </a:r>
          </a:p>
        </p:txBody>
      </p:sp>
      <p:sp>
        <p:nvSpPr>
          <p:cNvPr id="40" name="TextBox 39"/>
          <p:cNvSpPr txBox="1"/>
          <p:nvPr/>
        </p:nvSpPr>
        <p:spPr>
          <a:xfrm>
            <a:off x="6305550" y="1836039"/>
            <a:ext cx="2270199" cy="186689"/>
          </a:xfrm>
          <a:prstGeom prst="rect">
            <a:avLst/>
          </a:prstGeom>
          <a:noFill/>
        </p:spPr>
        <p:txBody>
          <a:bodyPr wrap="none" lIns="0" rIns="0" tIns="0" bIns="0">
            <a:spAutoFit/>
          </a:bodyPr>
          <a:lstStyle/>
          <a:p>
            <a:r>
              <a:rPr sz="1100" b="0">
                <a:solidFill>
                  <a:srgbClr val="2E2E2E"/>
                </a:solidFill>
                <a:latin typeface="Calibri"/>
              </a:rPr>
              <a:t>▪ Lead category 'Capsules and Softgels'</a:t>
            </a:r>
          </a:p>
        </p:txBody>
      </p:sp>
      <p:pic>
        <p:nvPicPr>
          <p:cNvPr id="41" name="Picture 40" descr="lock.png"/>
          <p:cNvPicPr>
            <a:picLocks noChangeAspect="1"/>
          </p:cNvPicPr>
          <p:nvPr/>
        </p:nvPicPr>
        <p:blipFill>
          <a:blip r:embed="rId5"/>
          <a:stretch>
            <a:fillRect/>
          </a:stretch>
        </p:blipFill>
        <p:spPr>
          <a:xfrm>
            <a:off x="8523801" y="1826260"/>
            <a:ext cx="128699" cy="187198"/>
          </a:xfrm>
          <a:prstGeom prst="rect">
            <a:avLst/>
          </a:prstGeom>
        </p:spPr>
      </p:pic>
      <p:sp>
        <p:nvSpPr>
          <p:cNvPr id="42" name="TextBox 41"/>
          <p:cNvSpPr txBox="1"/>
          <p:nvPr/>
        </p:nvSpPr>
        <p:spPr>
          <a:xfrm>
            <a:off x="8691296" y="1836039"/>
            <a:ext cx="543049" cy="186689"/>
          </a:xfrm>
          <a:prstGeom prst="rect">
            <a:avLst/>
          </a:prstGeom>
          <a:noFill/>
        </p:spPr>
        <p:txBody>
          <a:bodyPr wrap="none" lIns="0" rIns="0" tIns="0" bIns="0">
            <a:spAutoFit/>
          </a:bodyPr>
          <a:lstStyle/>
          <a:p>
            <a:r>
              <a:rPr sz="1100" b="0">
                <a:solidFill>
                  <a:srgbClr val="2E2E2E"/>
                </a:solidFill>
                <a:latin typeface="Calibri"/>
              </a:rPr>
              <a:t>of 2036.</a:t>
            </a:r>
          </a:p>
        </p:txBody>
      </p:sp>
      <p:sp>
        <p:nvSpPr>
          <p:cNvPr id="43" name="TextBox 42"/>
          <p:cNvSpPr txBox="1"/>
          <p:nvPr/>
        </p:nvSpPr>
        <p:spPr>
          <a:xfrm>
            <a:off x="6305550" y="2053970"/>
            <a:ext cx="1686297" cy="186689"/>
          </a:xfrm>
          <a:prstGeom prst="rect">
            <a:avLst/>
          </a:prstGeom>
          <a:noFill/>
        </p:spPr>
        <p:txBody>
          <a:bodyPr wrap="none" lIns="0" rIns="0" tIns="0" bIns="0">
            <a:spAutoFit/>
          </a:bodyPr>
          <a:lstStyle/>
          <a:p>
            <a:r>
              <a:rPr sz="1100" b="0">
                <a:solidFill>
                  <a:srgbClr val="2E2E2E"/>
                </a:solidFill>
                <a:latin typeface="Calibri"/>
              </a:rPr>
              <a:t>▪ Lead region North America</a:t>
            </a:r>
          </a:p>
        </p:txBody>
      </p:sp>
      <p:pic>
        <p:nvPicPr>
          <p:cNvPr id="44" name="Picture 43" descr="lock.png"/>
          <p:cNvPicPr>
            <a:picLocks noChangeAspect="1"/>
          </p:cNvPicPr>
          <p:nvPr/>
        </p:nvPicPr>
        <p:blipFill>
          <a:blip r:embed="rId5"/>
          <a:stretch>
            <a:fillRect/>
          </a:stretch>
        </p:blipFill>
        <p:spPr>
          <a:xfrm>
            <a:off x="7939898" y="2044192"/>
            <a:ext cx="128699" cy="187198"/>
          </a:xfrm>
          <a:prstGeom prst="rect">
            <a:avLst/>
          </a:prstGeom>
        </p:spPr>
      </p:pic>
      <p:sp>
        <p:nvSpPr>
          <p:cNvPr id="45" name="TextBox 44"/>
          <p:cNvSpPr txBox="1"/>
          <p:nvPr/>
        </p:nvSpPr>
        <p:spPr>
          <a:xfrm>
            <a:off x="8107394" y="205397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6" name="TextBox 45"/>
          <p:cNvSpPr txBox="1"/>
          <p:nvPr/>
        </p:nvSpPr>
        <p:spPr>
          <a:xfrm>
            <a:off x="6305550" y="2271903"/>
            <a:ext cx="1554782" cy="186689"/>
          </a:xfrm>
          <a:prstGeom prst="rect">
            <a:avLst/>
          </a:prstGeom>
          <a:noFill/>
        </p:spPr>
        <p:txBody>
          <a:bodyPr wrap="none" lIns="0" rIns="0" tIns="0" bIns="0">
            <a:spAutoFit/>
          </a:bodyPr>
          <a:lstStyle/>
          <a:p>
            <a:r>
              <a:rPr sz="1100" b="0">
                <a:solidFill>
                  <a:srgbClr val="2E2E2E"/>
                </a:solidFill>
                <a:latin typeface="Calibri"/>
              </a:rPr>
              <a:t>▪ Incremental opportunity</a:t>
            </a:r>
          </a:p>
        </p:txBody>
      </p:sp>
      <p:pic>
        <p:nvPicPr>
          <p:cNvPr id="47" name="Picture 46" descr="lock.png"/>
          <p:cNvPicPr>
            <a:picLocks noChangeAspect="1"/>
          </p:cNvPicPr>
          <p:nvPr/>
        </p:nvPicPr>
        <p:blipFill>
          <a:blip r:embed="rId5"/>
          <a:stretch>
            <a:fillRect/>
          </a:stretch>
        </p:blipFill>
        <p:spPr>
          <a:xfrm>
            <a:off x="7808384" y="2262124"/>
            <a:ext cx="128699" cy="187198"/>
          </a:xfrm>
          <a:prstGeom prst="rect">
            <a:avLst/>
          </a:prstGeom>
        </p:spPr>
      </p:pic>
      <p:sp>
        <p:nvSpPr>
          <p:cNvPr id="48" name="TextBox 47"/>
          <p:cNvSpPr txBox="1"/>
          <p:nvPr/>
        </p:nvSpPr>
        <p:spPr>
          <a:xfrm>
            <a:off x="7975880" y="2271903"/>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9" name="TextBox 48"/>
          <p:cNvSpPr txBox="1"/>
          <p:nvPr/>
        </p:nvSpPr>
        <p:spPr>
          <a:xfrm>
            <a:off x="276225" y="3314700"/>
            <a:ext cx="4136789" cy="194310"/>
          </a:xfrm>
          <a:prstGeom prst="rect">
            <a:avLst/>
          </a:prstGeom>
          <a:noFill/>
        </p:spPr>
        <p:txBody>
          <a:bodyPr wrap="none" lIns="0" rIns="0" tIns="0" bIns="0">
            <a:spAutoFit/>
          </a:bodyPr>
          <a:lstStyle/>
          <a:p>
            <a:r>
              <a:rPr sz="1150" b="0">
                <a:solidFill>
                  <a:srgbClr val="2E2E2E"/>
                </a:solidFill>
                <a:latin typeface="Calibri"/>
              </a:rPr>
              <a:t>▪ Investment is flowing toward the fastest-growing tier 'Chewables' (</a:t>
            </a:r>
          </a:p>
        </p:txBody>
      </p:sp>
      <p:pic>
        <p:nvPicPr>
          <p:cNvPr id="50" name="Picture 49" descr="lock.png"/>
          <p:cNvPicPr>
            <a:picLocks noChangeAspect="1"/>
          </p:cNvPicPr>
          <p:nvPr/>
        </p:nvPicPr>
        <p:blipFill>
          <a:blip r:embed="rId5"/>
          <a:stretch>
            <a:fillRect/>
          </a:stretch>
        </p:blipFill>
        <p:spPr>
          <a:xfrm>
            <a:off x="4362168" y="3304476"/>
            <a:ext cx="134549" cy="195707"/>
          </a:xfrm>
          <a:prstGeom prst="rect">
            <a:avLst/>
          </a:prstGeom>
        </p:spPr>
      </p:pic>
      <p:sp>
        <p:nvSpPr>
          <p:cNvPr id="51" name="TextBox 50"/>
          <p:cNvSpPr txBox="1"/>
          <p:nvPr/>
        </p:nvSpPr>
        <p:spPr>
          <a:xfrm>
            <a:off x="4537277" y="331470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2" name="TextBox 51"/>
          <p:cNvSpPr txBox="1"/>
          <p:nvPr/>
        </p:nvSpPr>
        <p:spPr>
          <a:xfrm>
            <a:off x="276225" y="3542537"/>
            <a:ext cx="1409762" cy="194310"/>
          </a:xfrm>
          <a:prstGeom prst="rect">
            <a:avLst/>
          </a:prstGeom>
          <a:noFill/>
        </p:spPr>
        <p:txBody>
          <a:bodyPr wrap="none" lIns="0" rIns="0" tIns="0" bIns="0">
            <a:spAutoFit/>
          </a:bodyPr>
          <a:lstStyle/>
          <a:p>
            <a:r>
              <a:rPr sz="1150" b="0">
                <a:solidFill>
                  <a:srgbClr val="2E2E2E"/>
                </a:solidFill>
                <a:latin typeface="Calibri"/>
              </a:rPr>
              <a:t>▪ South Asia &amp; Pacific (</a:t>
            </a:r>
          </a:p>
        </p:txBody>
      </p:sp>
      <p:pic>
        <p:nvPicPr>
          <p:cNvPr id="53" name="Picture 52" descr="lock.png"/>
          <p:cNvPicPr>
            <a:picLocks noChangeAspect="1"/>
          </p:cNvPicPr>
          <p:nvPr/>
        </p:nvPicPr>
        <p:blipFill>
          <a:blip r:embed="rId5"/>
          <a:stretch>
            <a:fillRect/>
          </a:stretch>
        </p:blipFill>
        <p:spPr>
          <a:xfrm>
            <a:off x="1635140" y="3532314"/>
            <a:ext cx="134549" cy="195707"/>
          </a:xfrm>
          <a:prstGeom prst="rect">
            <a:avLst/>
          </a:prstGeom>
        </p:spPr>
      </p:pic>
      <p:sp>
        <p:nvSpPr>
          <p:cNvPr id="54" name="TextBox 53"/>
          <p:cNvSpPr txBox="1"/>
          <p:nvPr/>
        </p:nvSpPr>
        <p:spPr>
          <a:xfrm>
            <a:off x="1810250" y="3542537"/>
            <a:ext cx="2283494" cy="194310"/>
          </a:xfrm>
          <a:prstGeom prst="rect">
            <a:avLst/>
          </a:prstGeom>
          <a:noFill/>
        </p:spPr>
        <p:txBody>
          <a:bodyPr wrap="none" lIns="0" rIns="0" tIns="0" bIns="0">
            <a:spAutoFit/>
          </a:bodyPr>
          <a:lstStyle/>
          <a:p>
            <a:r>
              <a:rPr sz="1150" b="0">
                <a:solidFill>
                  <a:srgbClr val="2E2E2E"/>
                </a:solidFill>
                <a:latin typeface="Calibri"/>
              </a:rPr>
              <a:t>) is a priority region for new capacity.</a:t>
            </a:r>
          </a:p>
        </p:txBody>
      </p:sp>
      <p:sp>
        <p:nvSpPr>
          <p:cNvPr id="55" name="TextBox 54"/>
          <p:cNvSpPr txBox="1"/>
          <p:nvPr/>
        </p:nvSpPr>
        <p:spPr>
          <a:xfrm>
            <a:off x="276225" y="3770375"/>
            <a:ext cx="3290155" cy="194310"/>
          </a:xfrm>
          <a:prstGeom prst="rect">
            <a:avLst/>
          </a:prstGeom>
          <a:noFill/>
        </p:spPr>
        <p:txBody>
          <a:bodyPr wrap="none" lIns="0" rIns="0" tIns="0" bIns="0">
            <a:spAutoFit/>
          </a:bodyPr>
          <a:lstStyle/>
          <a:p>
            <a:r>
              <a:rPr sz="1150" b="0">
                <a:solidFill>
                  <a:srgbClr val="2E2E2E"/>
                </a:solidFill>
                <a:latin typeface="Calibri"/>
              </a:rPr>
              <a:t>▪ Scale players anchor around 'Capsules and Softgels' (</a:t>
            </a:r>
          </a:p>
        </p:txBody>
      </p:sp>
      <p:pic>
        <p:nvPicPr>
          <p:cNvPr id="56" name="Picture 55" descr="lock.png"/>
          <p:cNvPicPr>
            <a:picLocks noChangeAspect="1"/>
          </p:cNvPicPr>
          <p:nvPr/>
        </p:nvPicPr>
        <p:blipFill>
          <a:blip r:embed="rId5"/>
          <a:stretch>
            <a:fillRect/>
          </a:stretch>
        </p:blipFill>
        <p:spPr>
          <a:xfrm>
            <a:off x="3515534" y="3760152"/>
            <a:ext cx="134549" cy="195707"/>
          </a:xfrm>
          <a:prstGeom prst="rect">
            <a:avLst/>
          </a:prstGeom>
        </p:spPr>
      </p:pic>
      <p:sp>
        <p:nvSpPr>
          <p:cNvPr id="57" name="TextBox 56"/>
          <p:cNvSpPr txBox="1"/>
          <p:nvPr/>
        </p:nvSpPr>
        <p:spPr>
          <a:xfrm>
            <a:off x="3690643" y="3770375"/>
            <a:ext cx="484683" cy="194310"/>
          </a:xfrm>
          <a:prstGeom prst="rect">
            <a:avLst/>
          </a:prstGeom>
          <a:noFill/>
        </p:spPr>
        <p:txBody>
          <a:bodyPr wrap="none" lIns="0" rIns="0" tIns="0" bIns="0">
            <a:spAutoFit/>
          </a:bodyPr>
          <a:lstStyle/>
          <a:p>
            <a:r>
              <a:rPr sz="1150" b="0">
                <a:solidFill>
                  <a:srgbClr val="2E2E2E"/>
                </a:solidFill>
                <a:latin typeface="Calibri"/>
              </a:rPr>
              <a:t>share).</a:t>
            </a:r>
          </a:p>
        </p:txBody>
      </p:sp>
      <p:sp>
        <p:nvSpPr>
          <p:cNvPr id="58" name="TextBox 57"/>
          <p:cNvSpPr txBox="1"/>
          <p:nvPr/>
        </p:nvSpPr>
        <p:spPr>
          <a:xfrm>
            <a:off x="6305550" y="3314700"/>
            <a:ext cx="4551548" cy="194310"/>
          </a:xfrm>
          <a:prstGeom prst="rect">
            <a:avLst/>
          </a:prstGeom>
          <a:noFill/>
        </p:spPr>
        <p:txBody>
          <a:bodyPr wrap="none" lIns="0" rIns="0" tIns="0" bIns="0">
            <a:spAutoFit/>
          </a:bodyPr>
          <a:lstStyle/>
          <a:p>
            <a:r>
              <a:rPr sz="1150" b="0">
                <a:solidFill>
                  <a:srgbClr val="2E2E2E"/>
                </a:solidFill>
                <a:latin typeface="Calibri"/>
              </a:rPr>
              <a:t>▪ R&amp;D aligns with the migration to 'Chewables' and adjacent premium tiers.</a:t>
            </a:r>
          </a:p>
        </p:txBody>
      </p:sp>
      <p:sp>
        <p:nvSpPr>
          <p:cNvPr id="59" name="TextBox 58"/>
          <p:cNvSpPr txBox="1"/>
          <p:nvPr/>
        </p:nvSpPr>
        <p:spPr>
          <a:xfrm>
            <a:off x="6305550" y="3542537"/>
            <a:ext cx="4423184" cy="194310"/>
          </a:xfrm>
          <a:prstGeom prst="rect">
            <a:avLst/>
          </a:prstGeom>
          <a:noFill/>
        </p:spPr>
        <p:txBody>
          <a:bodyPr wrap="none" lIns="0" rIns="0" tIns="0" bIns="0">
            <a:spAutoFit/>
          </a:bodyPr>
          <a:lstStyle/>
          <a:p>
            <a:r>
              <a:rPr sz="1150" b="0">
                <a:solidFill>
                  <a:srgbClr val="2E2E2E"/>
                </a:solidFill>
                <a:latin typeface="Calibri"/>
              </a:rPr>
              <a:t>▪ Development spend targets form type categories gaining share to 2036.</a:t>
            </a:r>
          </a:p>
        </p:txBody>
      </p:sp>
      <p:sp>
        <p:nvSpPr>
          <p:cNvPr id="60" name="TextBox 59"/>
          <p:cNvSpPr txBox="1"/>
          <p:nvPr/>
        </p:nvSpPr>
        <p:spPr>
          <a:xfrm>
            <a:off x="6305550" y="3770375"/>
            <a:ext cx="1663352" cy="194310"/>
          </a:xfrm>
          <a:prstGeom prst="rect">
            <a:avLst/>
          </a:prstGeom>
          <a:noFill/>
        </p:spPr>
        <p:txBody>
          <a:bodyPr wrap="none" lIns="0" rIns="0" tIns="0" bIns="0">
            <a:spAutoFit/>
          </a:bodyPr>
          <a:lstStyle/>
          <a:p>
            <a:r>
              <a:rPr sz="1150" b="0">
                <a:solidFill>
                  <a:srgbClr val="2E2E2E"/>
                </a:solidFill>
                <a:latin typeface="Calibri"/>
              </a:rPr>
              <a:t>▪ Innovation underpins the</a:t>
            </a:r>
          </a:p>
        </p:txBody>
      </p:sp>
      <p:pic>
        <p:nvPicPr>
          <p:cNvPr id="61" name="Picture 60" descr="lock.png"/>
          <p:cNvPicPr>
            <a:picLocks noChangeAspect="1"/>
          </p:cNvPicPr>
          <p:nvPr/>
        </p:nvPicPr>
        <p:blipFill>
          <a:blip r:embed="rId5"/>
          <a:stretch>
            <a:fillRect/>
          </a:stretch>
        </p:blipFill>
        <p:spPr>
          <a:xfrm>
            <a:off x="7918056" y="3760152"/>
            <a:ext cx="134549" cy="195707"/>
          </a:xfrm>
          <a:prstGeom prst="rect">
            <a:avLst/>
          </a:prstGeom>
        </p:spPr>
      </p:pic>
      <p:sp>
        <p:nvSpPr>
          <p:cNvPr id="62" name="TextBox 61"/>
          <p:cNvSpPr txBox="1"/>
          <p:nvPr/>
        </p:nvSpPr>
        <p:spPr>
          <a:xfrm>
            <a:off x="8093165" y="3770375"/>
            <a:ext cx="963036" cy="194310"/>
          </a:xfrm>
          <a:prstGeom prst="rect">
            <a:avLst/>
          </a:prstGeom>
          <a:noFill/>
        </p:spPr>
        <p:txBody>
          <a:bodyPr wrap="none" lIns="0" rIns="0" tIns="0" bIns="0">
            <a:spAutoFit/>
          </a:bodyPr>
          <a:lstStyle/>
          <a:p>
            <a:r>
              <a:rPr sz="1150" b="0">
                <a:solidFill>
                  <a:srgbClr val="2E2E2E"/>
                </a:solidFill>
                <a:latin typeface="Calibri"/>
              </a:rPr>
              <a:t>forecast CAGR.</a:t>
            </a:r>
          </a:p>
        </p:txBody>
      </p:sp>
      <p:sp>
        <p:nvSpPr>
          <p:cNvPr id="63" name="lockshield_28"/>
          <p:cNvSpPr/>
          <p:nvPr/>
        </p:nvSpPr>
        <p:spPr>
          <a:xfrm>
            <a:off x="238125" y="4600575"/>
            <a:ext cx="11715750" cy="19526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FMI's analysis and recommendation</a:t>
            </a:r>
          </a:p>
        </p:txBody>
      </p:sp>
      <p:sp>
        <p:nvSpPr>
          <p:cNvPr id="10" name="Rounded Rectangle 9"/>
          <p:cNvSpPr/>
          <p:nvPr/>
        </p:nvSpPr>
        <p:spPr>
          <a:xfrm>
            <a:off x="142875" y="981075"/>
            <a:ext cx="5876925"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Overall Market Approach</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4" name="Rounded Rectangle 13"/>
          <p:cNvSpPr/>
          <p:nvPr/>
        </p:nvSpPr>
        <p:spPr>
          <a:xfrm>
            <a:off x="6172200" y="981075"/>
            <a:ext cx="5876925"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Differentiating Strategy</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Differentiate through the high-growth 'Chewables' tier and Veterinary-Guided Cognitive Dysfunction Support within end-use application.</a:t>
            </a:r>
          </a:p>
        </p:txBody>
      </p:sp>
      <p:sp>
        <p:nvSpPr>
          <p:cNvPr id="18" name="Rounded Rectangle 17"/>
          <p:cNvSpPr/>
          <p:nvPr/>
        </p:nvSpPr>
        <p:spPr>
          <a:xfrm>
            <a:off x="142875" y="2857500"/>
            <a:ext cx="5876925" cy="1562100"/>
          </a:xfrm>
          <a:prstGeom prst="roundRect">
            <a:avLst>
              <a:gd name="adj" fmla="val 48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94322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Segment</a:t>
            </a:r>
          </a:p>
        </p:txBody>
      </p:sp>
      <p:sp>
        <p:nvSpPr>
          <p:cNvPr id="20" name="Rectangle 19"/>
          <p:cNvSpPr/>
          <p:nvPr/>
        </p:nvSpPr>
        <p:spPr>
          <a:xfrm>
            <a:off x="276225" y="31813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857500"/>
            <a:ext cx="5876925" cy="1562100"/>
          </a:xfrm>
          <a:prstGeom prst="roundRect">
            <a:avLst>
              <a:gd name="adj" fmla="val 48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94322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Region</a:t>
            </a:r>
          </a:p>
        </p:txBody>
      </p:sp>
      <p:sp>
        <p:nvSpPr>
          <p:cNvPr id="24" name="Rectangle 23"/>
          <p:cNvSpPr/>
          <p:nvPr/>
        </p:nvSpPr>
        <p:spPr>
          <a:xfrm>
            <a:off x="6305550" y="31813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42875" y="455295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B2E4A"/>
                </a:solidFill>
                <a:latin typeface="Calibri"/>
              </a:rPr>
              <a:t>Fact.MR Analysis &amp; Recommendation</a:t>
            </a:r>
          </a:p>
        </p:txBody>
      </p:sp>
      <p:sp>
        <p:nvSpPr>
          <p:cNvPr id="28" name="Rectangle 27"/>
          <p:cNvSpPr/>
          <p:nvPr/>
        </p:nvSpPr>
        <p:spPr>
          <a:xfrm>
            <a:off x="276225" y="48768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5477482" cy="194310"/>
          </a:xfrm>
          <a:prstGeom prst="rect">
            <a:avLst/>
          </a:prstGeom>
          <a:noFill/>
        </p:spPr>
        <p:txBody>
          <a:bodyPr wrap="none" lIns="0" rIns="0" tIns="0" bIns="0">
            <a:spAutoFit/>
          </a:bodyPr>
          <a:lstStyle/>
          <a:p>
            <a:r>
              <a:rPr sz="1150" b="0">
                <a:solidFill>
                  <a:srgbClr val="2E2E2E"/>
                </a:solidFill>
                <a:latin typeface="Calibri"/>
              </a:rPr>
              <a:t>▪ Balance scale in 'Capsules and Softgels' with targeted growth in 'Chewables', pursuing the</a:t>
            </a:r>
          </a:p>
        </p:txBody>
      </p:sp>
      <p:pic>
        <p:nvPicPr>
          <p:cNvPr id="32" name="Picture 31" descr="lock.png"/>
          <p:cNvPicPr>
            <a:picLocks noChangeAspect="1"/>
          </p:cNvPicPr>
          <p:nvPr/>
        </p:nvPicPr>
        <p:blipFill>
          <a:blip r:embed="rId4"/>
          <a:stretch>
            <a:fillRect/>
          </a:stretch>
        </p:blipFill>
        <p:spPr>
          <a:xfrm>
            <a:off x="262145" y="1565211"/>
            <a:ext cx="134549" cy="195707"/>
          </a:xfrm>
          <a:prstGeom prst="rect">
            <a:avLst/>
          </a:prstGeom>
        </p:spPr>
      </p:pic>
      <p:sp>
        <p:nvSpPr>
          <p:cNvPr id="33" name="TextBox 32"/>
          <p:cNvSpPr txBox="1"/>
          <p:nvPr/>
        </p:nvSpPr>
        <p:spPr>
          <a:xfrm>
            <a:off x="437254" y="1575435"/>
            <a:ext cx="1551800" cy="194310"/>
          </a:xfrm>
          <a:prstGeom prst="rect">
            <a:avLst/>
          </a:prstGeom>
          <a:noFill/>
        </p:spPr>
        <p:txBody>
          <a:bodyPr wrap="none" lIns="0" rIns="0" tIns="0" bIns="0">
            <a:spAutoFit/>
          </a:bodyPr>
          <a:lstStyle/>
          <a:p>
            <a:r>
              <a:rPr sz="1150" b="0">
                <a:solidFill>
                  <a:srgbClr val="2E2E2E"/>
                </a:solidFill>
                <a:latin typeface="Calibri"/>
              </a:rPr>
              <a:t>CAGR trajectory to 2036.</a:t>
            </a:r>
          </a:p>
        </p:txBody>
      </p:sp>
      <p:sp>
        <p:nvSpPr>
          <p:cNvPr id="34" name="TextBox 33"/>
          <p:cNvSpPr txBox="1"/>
          <p:nvPr/>
        </p:nvSpPr>
        <p:spPr>
          <a:xfrm>
            <a:off x="276225" y="3276600"/>
            <a:ext cx="1512168" cy="194310"/>
          </a:xfrm>
          <a:prstGeom prst="rect">
            <a:avLst/>
          </a:prstGeom>
          <a:noFill/>
        </p:spPr>
        <p:txBody>
          <a:bodyPr wrap="none" lIns="0" rIns="0" tIns="0" bIns="0">
            <a:spAutoFit/>
          </a:bodyPr>
          <a:lstStyle/>
          <a:p>
            <a:r>
              <a:rPr sz="1150" b="0">
                <a:solidFill>
                  <a:srgbClr val="2E2E2E"/>
                </a:solidFill>
                <a:latin typeface="Calibri"/>
              </a:rPr>
              <a:t>▪ Prioritise 'Chewables' (</a:t>
            </a:r>
          </a:p>
        </p:txBody>
      </p:sp>
      <p:pic>
        <p:nvPicPr>
          <p:cNvPr id="35" name="Picture 34" descr="lock.png"/>
          <p:cNvPicPr>
            <a:picLocks noChangeAspect="1"/>
          </p:cNvPicPr>
          <p:nvPr/>
        </p:nvPicPr>
        <p:blipFill>
          <a:blip r:embed="rId4"/>
          <a:stretch>
            <a:fillRect/>
          </a:stretch>
        </p:blipFill>
        <p:spPr>
          <a:xfrm>
            <a:off x="1737547" y="3266376"/>
            <a:ext cx="134549" cy="195707"/>
          </a:xfrm>
          <a:prstGeom prst="rect">
            <a:avLst/>
          </a:prstGeom>
        </p:spPr>
      </p:pic>
      <p:sp>
        <p:nvSpPr>
          <p:cNvPr id="36" name="TextBox 35"/>
          <p:cNvSpPr txBox="1"/>
          <p:nvPr/>
        </p:nvSpPr>
        <p:spPr>
          <a:xfrm>
            <a:off x="1912656" y="3276600"/>
            <a:ext cx="2041599" cy="194310"/>
          </a:xfrm>
          <a:prstGeom prst="rect">
            <a:avLst/>
          </a:prstGeom>
          <a:noFill/>
        </p:spPr>
        <p:txBody>
          <a:bodyPr wrap="none" lIns="0" rIns="0" tIns="0" bIns="0">
            <a:spAutoFit/>
          </a:bodyPr>
          <a:lstStyle/>
          <a:p>
            <a:r>
              <a:rPr sz="1150" b="0">
                <a:solidFill>
                  <a:srgbClr val="2E2E2E"/>
                </a:solidFill>
                <a:latin typeface="Calibri"/>
              </a:rPr>
              <a:t>); 'Capsules and Softgels' anchors</a:t>
            </a:r>
          </a:p>
        </p:txBody>
      </p:sp>
      <p:pic>
        <p:nvPicPr>
          <p:cNvPr id="37" name="Picture 36" descr="lock.png"/>
          <p:cNvPicPr>
            <a:picLocks noChangeAspect="1"/>
          </p:cNvPicPr>
          <p:nvPr/>
        </p:nvPicPr>
        <p:blipFill>
          <a:blip r:embed="rId4"/>
          <a:stretch>
            <a:fillRect/>
          </a:stretch>
        </p:blipFill>
        <p:spPr>
          <a:xfrm>
            <a:off x="3903409" y="3266376"/>
            <a:ext cx="134549" cy="195707"/>
          </a:xfrm>
          <a:prstGeom prst="rect">
            <a:avLst/>
          </a:prstGeom>
        </p:spPr>
      </p:pic>
      <p:sp>
        <p:nvSpPr>
          <p:cNvPr id="38" name="TextBox 37"/>
          <p:cNvSpPr txBox="1"/>
          <p:nvPr/>
        </p:nvSpPr>
        <p:spPr>
          <a:xfrm>
            <a:off x="4078518" y="3276600"/>
            <a:ext cx="586519" cy="194310"/>
          </a:xfrm>
          <a:prstGeom prst="rect">
            <a:avLst/>
          </a:prstGeom>
          <a:noFill/>
        </p:spPr>
        <p:txBody>
          <a:bodyPr wrap="none" lIns="0" rIns="0" tIns="0" bIns="0">
            <a:spAutoFit/>
          </a:bodyPr>
          <a:lstStyle/>
          <a:p>
            <a:r>
              <a:rPr sz="1150" b="0">
                <a:solidFill>
                  <a:srgbClr val="2E2E2E"/>
                </a:solidFill>
                <a:latin typeface="Calibri"/>
              </a:rPr>
              <a:t>of value.</a:t>
            </a:r>
          </a:p>
        </p:txBody>
      </p:sp>
      <p:sp>
        <p:nvSpPr>
          <p:cNvPr id="39" name="TextBox 38"/>
          <p:cNvSpPr txBox="1"/>
          <p:nvPr/>
        </p:nvSpPr>
        <p:spPr>
          <a:xfrm>
            <a:off x="6305550" y="3276600"/>
            <a:ext cx="1720688" cy="194310"/>
          </a:xfrm>
          <a:prstGeom prst="rect">
            <a:avLst/>
          </a:prstGeom>
          <a:noFill/>
        </p:spPr>
        <p:txBody>
          <a:bodyPr wrap="none" lIns="0" rIns="0" tIns="0" bIns="0">
            <a:spAutoFit/>
          </a:bodyPr>
          <a:lstStyle/>
          <a:p>
            <a:r>
              <a:rPr sz="1150" b="0">
                <a:solidFill>
                  <a:srgbClr val="2E2E2E"/>
                </a:solidFill>
                <a:latin typeface="Calibri"/>
              </a:rPr>
              <a:t>▪ Lead with North America (</a:t>
            </a:r>
          </a:p>
        </p:txBody>
      </p:sp>
      <p:pic>
        <p:nvPicPr>
          <p:cNvPr id="40" name="Picture 39" descr="lock.png"/>
          <p:cNvPicPr>
            <a:picLocks noChangeAspect="1"/>
          </p:cNvPicPr>
          <p:nvPr/>
        </p:nvPicPr>
        <p:blipFill>
          <a:blip r:embed="rId4"/>
          <a:stretch>
            <a:fillRect/>
          </a:stretch>
        </p:blipFill>
        <p:spPr>
          <a:xfrm>
            <a:off x="7975392" y="3266376"/>
            <a:ext cx="134549" cy="195707"/>
          </a:xfrm>
          <a:prstGeom prst="rect">
            <a:avLst/>
          </a:prstGeom>
        </p:spPr>
      </p:pic>
      <p:sp>
        <p:nvSpPr>
          <p:cNvPr id="41" name="TextBox 40"/>
          <p:cNvSpPr txBox="1"/>
          <p:nvPr/>
        </p:nvSpPr>
        <p:spPr>
          <a:xfrm>
            <a:off x="8150501" y="3276600"/>
            <a:ext cx="2502854" cy="194310"/>
          </a:xfrm>
          <a:prstGeom prst="rect">
            <a:avLst/>
          </a:prstGeom>
          <a:noFill/>
        </p:spPr>
        <p:txBody>
          <a:bodyPr wrap="none" lIns="0" rIns="0" tIns="0" bIns="0">
            <a:spAutoFit/>
          </a:bodyPr>
          <a:lstStyle/>
          <a:p>
            <a:r>
              <a:rPr sz="1150" b="0">
                <a:solidFill>
                  <a:srgbClr val="2E2E2E"/>
                </a:solidFill>
                <a:latin typeface="Calibri"/>
              </a:rPr>
              <a:t>); capture upside in South Asia &amp; Pacific (</a:t>
            </a:r>
          </a:p>
        </p:txBody>
      </p:sp>
      <p:pic>
        <p:nvPicPr>
          <p:cNvPr id="42" name="Picture 41" descr="lock.png"/>
          <p:cNvPicPr>
            <a:picLocks noChangeAspect="1"/>
          </p:cNvPicPr>
          <p:nvPr/>
        </p:nvPicPr>
        <p:blipFill>
          <a:blip r:embed="rId4"/>
          <a:stretch>
            <a:fillRect/>
          </a:stretch>
        </p:blipFill>
        <p:spPr>
          <a:xfrm>
            <a:off x="10602510" y="3266376"/>
            <a:ext cx="134549" cy="195707"/>
          </a:xfrm>
          <a:prstGeom prst="rect">
            <a:avLst/>
          </a:prstGeom>
        </p:spPr>
      </p:pic>
      <p:sp>
        <p:nvSpPr>
          <p:cNvPr id="43" name="TextBox 42"/>
          <p:cNvSpPr txBox="1"/>
          <p:nvPr/>
        </p:nvSpPr>
        <p:spPr>
          <a:xfrm>
            <a:off x="10777620" y="327660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4" name="TextBox 43"/>
          <p:cNvSpPr txBox="1"/>
          <p:nvPr/>
        </p:nvSpPr>
        <p:spPr>
          <a:xfrm>
            <a:off x="276225" y="4972050"/>
            <a:ext cx="2461778" cy="194310"/>
          </a:xfrm>
          <a:prstGeom prst="rect">
            <a:avLst/>
          </a:prstGeom>
          <a:noFill/>
        </p:spPr>
        <p:txBody>
          <a:bodyPr wrap="none" lIns="0" rIns="0" tIns="0" bIns="0">
            <a:spAutoFit/>
          </a:bodyPr>
          <a:lstStyle/>
          <a:p>
            <a:r>
              <a:rPr sz="1150" b="0">
                <a:solidFill>
                  <a:srgbClr val="2E2E2E"/>
                </a:solidFill>
                <a:latin typeface="Calibri"/>
              </a:rPr>
              <a:t>▪ Senior Dog Cognitive Supplement adds</a:t>
            </a:r>
          </a:p>
        </p:txBody>
      </p:sp>
      <p:pic>
        <p:nvPicPr>
          <p:cNvPr id="45" name="Picture 44" descr="lock.png"/>
          <p:cNvPicPr>
            <a:picLocks noChangeAspect="1"/>
          </p:cNvPicPr>
          <p:nvPr/>
        </p:nvPicPr>
        <p:blipFill>
          <a:blip r:embed="rId4"/>
          <a:stretch>
            <a:fillRect/>
          </a:stretch>
        </p:blipFill>
        <p:spPr>
          <a:xfrm>
            <a:off x="2687157" y="4961826"/>
            <a:ext cx="134549" cy="195707"/>
          </a:xfrm>
          <a:prstGeom prst="rect">
            <a:avLst/>
          </a:prstGeom>
        </p:spPr>
      </p:pic>
      <p:sp>
        <p:nvSpPr>
          <p:cNvPr id="46" name="TextBox 45"/>
          <p:cNvSpPr txBox="1"/>
          <p:nvPr/>
        </p:nvSpPr>
        <p:spPr>
          <a:xfrm>
            <a:off x="2862266" y="4972050"/>
            <a:ext cx="1815107"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47" name="Picture 46" descr="lock.png"/>
          <p:cNvPicPr>
            <a:picLocks noChangeAspect="1"/>
          </p:cNvPicPr>
          <p:nvPr/>
        </p:nvPicPr>
        <p:blipFill>
          <a:blip r:embed="rId4"/>
          <a:stretch>
            <a:fillRect/>
          </a:stretch>
        </p:blipFill>
        <p:spPr>
          <a:xfrm>
            <a:off x="4626528" y="4961826"/>
            <a:ext cx="134549" cy="195707"/>
          </a:xfrm>
          <a:prstGeom prst="rect">
            <a:avLst/>
          </a:prstGeom>
        </p:spPr>
      </p:pic>
      <p:sp>
        <p:nvSpPr>
          <p:cNvPr id="48" name="TextBox 47"/>
          <p:cNvSpPr txBox="1"/>
          <p:nvPr/>
        </p:nvSpPr>
        <p:spPr>
          <a:xfrm>
            <a:off x="4801637" y="4972050"/>
            <a:ext cx="822709" cy="194310"/>
          </a:xfrm>
          <a:prstGeom prst="rect">
            <a:avLst/>
          </a:prstGeom>
          <a:noFill/>
        </p:spPr>
        <p:txBody>
          <a:bodyPr wrap="none" lIns="0" rIns="0" tIns="0" bIns="0">
            <a:spAutoFit/>
          </a:bodyPr>
          <a:lstStyle/>
          <a:p>
            <a:r>
              <a:rPr sz="1150" b="0">
                <a:solidFill>
                  <a:srgbClr val="2E2E2E"/>
                </a:solidFill>
                <a:latin typeface="Calibri"/>
              </a:rPr>
              <a:t>× expansion.</a:t>
            </a:r>
          </a:p>
        </p:txBody>
      </p:sp>
      <p:sp>
        <p:nvSpPr>
          <p:cNvPr id="49" name="TextBox 48"/>
          <p:cNvSpPr txBox="1"/>
          <p:nvPr/>
        </p:nvSpPr>
        <p:spPr>
          <a:xfrm>
            <a:off x="276225" y="5199888"/>
            <a:ext cx="6265639" cy="194310"/>
          </a:xfrm>
          <a:prstGeom prst="rect">
            <a:avLst/>
          </a:prstGeom>
          <a:noFill/>
        </p:spPr>
        <p:txBody>
          <a:bodyPr wrap="none" lIns="0" rIns="0" tIns="0" bIns="0">
            <a:spAutoFit/>
          </a:bodyPr>
          <a:lstStyle/>
          <a:p>
            <a:r>
              <a:rPr sz="1150" b="0">
                <a:solidFill>
                  <a:srgbClr val="2E2E2E"/>
                </a:solidFill>
                <a:latin typeface="Calibri"/>
              </a:rPr>
              <a:t>▪ Concentrate resources on the leading segment/region while seeding the fastest-growing pockets early.</a:t>
            </a:r>
          </a:p>
        </p:txBody>
      </p:sp>
      <p:sp>
        <p:nvSpPr>
          <p:cNvPr id="50" name="TextBox 49"/>
          <p:cNvSpPr txBox="1"/>
          <p:nvPr/>
        </p:nvSpPr>
        <p:spPr>
          <a:xfrm>
            <a:off x="276225" y="5427725"/>
            <a:ext cx="4642829" cy="194310"/>
          </a:xfrm>
          <a:prstGeom prst="rect">
            <a:avLst/>
          </a:prstGeom>
          <a:noFill/>
        </p:spPr>
        <p:txBody>
          <a:bodyPr wrap="none" lIns="0" rIns="0" tIns="0" bIns="0">
            <a:spAutoFit/>
          </a:bodyPr>
          <a:lstStyle/>
          <a:p>
            <a:r>
              <a:rPr sz="1150" b="0">
                <a:solidFill>
                  <a:srgbClr val="2E2E2E"/>
                </a:solidFill>
                <a:latin typeface="Calibri"/>
              </a:rPr>
              <a:t>▪ Defend share in 'Capsules and Softgels' as the value anchor of the portfolio.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10" name="Rounded Rectangle 9"/>
          <p:cNvSpPr/>
          <p:nvPr/>
        </p:nvSpPr>
        <p:spPr>
          <a:xfrm>
            <a:off x="142875" y="981075"/>
            <a:ext cx="3943350"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1" name="Rounded Rectangle 10"/>
          <p:cNvSpPr/>
          <p:nvPr/>
        </p:nvSpPr>
        <p:spPr>
          <a:xfrm>
            <a:off x="4238625"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2" name="Rounded Rectangle 11"/>
          <p:cNvSpPr/>
          <p:nvPr/>
        </p:nvSpPr>
        <p:spPr>
          <a:xfrm>
            <a:off x="8210550"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3" name="Rounded Rectangle 12"/>
          <p:cNvSpPr/>
          <p:nvPr/>
        </p:nvSpPr>
        <p:spPr>
          <a:xfrm>
            <a:off x="142875"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Senior Dog Cognitive Supplement Market Value (US$ Mn) Scenario Forecast, 2025 &amp; 2036</a:t>
            </a:r>
          </a:p>
        </p:txBody>
      </p:sp>
      <p:cxnSp>
        <p:nvCxnSpPr>
          <p:cNvPr id="15" name="Connector 14"/>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6342" y="3474907"/>
            <a:ext cx="635826" cy="830393"/>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43936" y="3068631"/>
            <a:ext cx="635826" cy="1236669"/>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5725" y="2897496"/>
            <a:ext cx="635826" cy="14078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07515" y="2705100"/>
            <a:ext cx="635826" cy="160020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456468" y="2935281"/>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830506"/>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2" name="Connector 21"/>
          <p:cNvCxnSpPr/>
          <p:nvPr/>
        </p:nvCxnSpPr>
        <p:spPr>
          <a:xfrm>
            <a:off x="1456468" y="2678106"/>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573331"/>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4" name="Connector 23"/>
          <p:cNvCxnSpPr/>
          <p:nvPr/>
        </p:nvCxnSpPr>
        <p:spPr>
          <a:xfrm>
            <a:off x="1456468" y="2420931"/>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570768" y="2316156"/>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sp>
        <p:nvSpPr>
          <p:cNvPr id="26" name="TextBox 25"/>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7" name="TextBox 26"/>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8" name="Oval 27"/>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30" name="Oval 29"/>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32" name="Oval 31"/>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4" name="Rounded Rectangle 33"/>
          <p:cNvSpPr/>
          <p:nvPr/>
        </p:nvSpPr>
        <p:spPr>
          <a:xfrm>
            <a:off x="6172200"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7450"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Senior Dog Cognitive Supplement Market Attractiveness Analysis By Region, 2026–2036</a:t>
            </a:r>
          </a:p>
        </p:txBody>
      </p:sp>
      <p:graphicFrame>
        <p:nvGraphicFramePr>
          <p:cNvPr id="36" name="Chart 35"/>
          <p:cNvGraphicFramePr>
            <a:graphicFrameLocks noGrp="1"/>
          </p:cNvGraphicFramePr>
          <p:nvPr/>
        </p:nvGraphicFramePr>
        <p:xfrm>
          <a:off x="6267450" y="2266950"/>
          <a:ext cx="5686425" cy="2495550"/>
        </p:xfrm>
        <a:graphic>
          <a:graphicData uri="http://schemas.openxmlformats.org/drawingml/2006/chart">
            <c:chart xmlns:c="http://schemas.openxmlformats.org/drawingml/2006/chart" r:id="rId3"/>
          </a:graphicData>
        </a:graphic>
      </p:graphicFrame>
      <p:sp>
        <p:nvSpPr>
          <p:cNvPr id="37" name="Rounded Rectangle 36"/>
          <p:cNvSpPr/>
          <p:nvPr/>
        </p:nvSpPr>
        <p:spPr>
          <a:xfrm>
            <a:off x="142875" y="4953000"/>
            <a:ext cx="11906250"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B2E4A"/>
                </a:solidFill>
                <a:latin typeface="Calibri"/>
              </a:rPr>
              <a:t>Scenario Assumptions &amp; Outlook</a:t>
            </a:r>
          </a:p>
        </p:txBody>
      </p:sp>
      <p:sp>
        <p:nvSpPr>
          <p:cNvPr id="39" name="Rectangle 38"/>
          <p:cNvSpPr/>
          <p:nvPr/>
        </p:nvSpPr>
        <p:spPr>
          <a:xfrm>
            <a:off x="276225" y="52768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2035969" y="1214437"/>
            <a:ext cx="157162" cy="228600"/>
          </a:xfrm>
          <a:prstGeom prst="rect">
            <a:avLst/>
          </a:prstGeom>
        </p:spPr>
      </p:pic>
      <p:pic>
        <p:nvPicPr>
          <p:cNvPr id="43" name="Picture 42" descr="lock.png"/>
          <p:cNvPicPr>
            <a:picLocks noChangeAspect="1"/>
          </p:cNvPicPr>
          <p:nvPr/>
        </p:nvPicPr>
        <p:blipFill>
          <a:blip r:embed="rId5"/>
          <a:stretch>
            <a:fillRect/>
          </a:stretch>
        </p:blipFill>
        <p:spPr>
          <a:xfrm>
            <a:off x="6069806" y="1214437"/>
            <a:ext cx="157162" cy="228600"/>
          </a:xfrm>
          <a:prstGeom prst="rect">
            <a:avLst/>
          </a:prstGeom>
        </p:spPr>
      </p:pic>
      <p:pic>
        <p:nvPicPr>
          <p:cNvPr id="44" name="Picture 43" descr="lock.png"/>
          <p:cNvPicPr>
            <a:picLocks noChangeAspect="1"/>
          </p:cNvPicPr>
          <p:nvPr/>
        </p:nvPicPr>
        <p:blipFill>
          <a:blip r:embed="rId5"/>
          <a:stretch>
            <a:fillRect/>
          </a:stretch>
        </p:blipFill>
        <p:spPr>
          <a:xfrm>
            <a:off x="10041731" y="1214437"/>
            <a:ext cx="157162" cy="228600"/>
          </a:xfrm>
          <a:prstGeom prst="rect">
            <a:avLst/>
          </a:prstGeom>
        </p:spPr>
      </p:pic>
      <p:sp>
        <p:nvSpPr>
          <p:cNvPr id="45" name="TextBox 44"/>
          <p:cNvSpPr txBox="1"/>
          <p:nvPr/>
        </p:nvSpPr>
        <p:spPr>
          <a:xfrm>
            <a:off x="1637332" y="1028326"/>
            <a:ext cx="1030634" cy="166573"/>
          </a:xfrm>
          <a:prstGeom prst="rect">
            <a:avLst/>
          </a:prstGeom>
          <a:noFill/>
        </p:spPr>
        <p:txBody>
          <a:bodyPr wrap="none" lIns="0" rIns="0" tIns="0" bIns="0">
            <a:spAutoFit/>
          </a:bodyPr>
          <a:lstStyle/>
          <a:p>
            <a:r>
              <a:rPr sz="968" b="1">
                <a:solidFill>
                  <a:srgbClr val="6C7A89"/>
                </a:solidFill>
                <a:latin typeface="Calibri"/>
              </a:rPr>
              <a:t>OPTIMISTIC (2036)</a:t>
            </a:r>
          </a:p>
        </p:txBody>
      </p:sp>
      <p:sp>
        <p:nvSpPr>
          <p:cNvPr id="46" name="TextBox 45"/>
          <p:cNvSpPr txBox="1"/>
          <p:nvPr/>
        </p:nvSpPr>
        <p:spPr>
          <a:xfrm>
            <a:off x="1906321"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7" name="Picture 46" descr="lock.png"/>
          <p:cNvPicPr>
            <a:picLocks noChangeAspect="1"/>
          </p:cNvPicPr>
          <p:nvPr/>
        </p:nvPicPr>
        <p:blipFill>
          <a:blip r:embed="rId5"/>
          <a:stretch>
            <a:fillRect/>
          </a:stretch>
        </p:blipFill>
        <p:spPr>
          <a:xfrm>
            <a:off x="2208575" y="1473019"/>
            <a:ext cx="113255" cy="164734"/>
          </a:xfrm>
          <a:prstGeom prst="rect">
            <a:avLst/>
          </a:prstGeom>
        </p:spPr>
      </p:pic>
      <p:sp>
        <p:nvSpPr>
          <p:cNvPr id="48" name="TextBox 47"/>
          <p:cNvSpPr txBox="1"/>
          <p:nvPr/>
        </p:nvSpPr>
        <p:spPr>
          <a:xfrm>
            <a:off x="5807156" y="1028326"/>
            <a:ext cx="758662" cy="166573"/>
          </a:xfrm>
          <a:prstGeom prst="rect">
            <a:avLst/>
          </a:prstGeom>
          <a:noFill/>
        </p:spPr>
        <p:txBody>
          <a:bodyPr wrap="none" lIns="0" rIns="0" tIns="0" bIns="0">
            <a:spAutoFit/>
          </a:bodyPr>
          <a:lstStyle/>
          <a:p>
            <a:r>
              <a:rPr sz="968" b="1">
                <a:solidFill>
                  <a:srgbClr val="6C7A89"/>
                </a:solidFill>
                <a:latin typeface="Calibri"/>
              </a:rPr>
              <a:t>LIKELY (2036)</a:t>
            </a:r>
          </a:p>
        </p:txBody>
      </p:sp>
      <p:sp>
        <p:nvSpPr>
          <p:cNvPr id="49" name="TextBox 48"/>
          <p:cNvSpPr txBox="1"/>
          <p:nvPr/>
        </p:nvSpPr>
        <p:spPr>
          <a:xfrm>
            <a:off x="5940158"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0" name="Picture 49" descr="lock.png"/>
          <p:cNvPicPr>
            <a:picLocks noChangeAspect="1"/>
          </p:cNvPicPr>
          <p:nvPr/>
        </p:nvPicPr>
        <p:blipFill>
          <a:blip r:embed="rId5"/>
          <a:stretch>
            <a:fillRect/>
          </a:stretch>
        </p:blipFill>
        <p:spPr>
          <a:xfrm>
            <a:off x="6242412" y="1473019"/>
            <a:ext cx="113255" cy="164734"/>
          </a:xfrm>
          <a:prstGeom prst="rect">
            <a:avLst/>
          </a:prstGeom>
        </p:spPr>
      </p:pic>
      <p:sp>
        <p:nvSpPr>
          <p:cNvPr id="51" name="TextBox 50"/>
          <p:cNvSpPr txBox="1"/>
          <p:nvPr/>
        </p:nvSpPr>
        <p:spPr>
          <a:xfrm>
            <a:off x="9548094" y="1028326"/>
            <a:ext cx="1220636" cy="166573"/>
          </a:xfrm>
          <a:prstGeom prst="rect">
            <a:avLst/>
          </a:prstGeom>
          <a:noFill/>
        </p:spPr>
        <p:txBody>
          <a:bodyPr wrap="none" lIns="0" rIns="0" tIns="0" bIns="0">
            <a:spAutoFit/>
          </a:bodyPr>
          <a:lstStyle/>
          <a:p>
            <a:r>
              <a:rPr sz="968" b="1">
                <a:solidFill>
                  <a:srgbClr val="6C7A89"/>
                </a:solidFill>
                <a:latin typeface="Calibri"/>
              </a:rPr>
              <a:t>CONSERVATIVE (2036)</a:t>
            </a:r>
          </a:p>
        </p:txBody>
      </p:sp>
      <p:sp>
        <p:nvSpPr>
          <p:cNvPr id="52" name="TextBox 51"/>
          <p:cNvSpPr txBox="1"/>
          <p:nvPr/>
        </p:nvSpPr>
        <p:spPr>
          <a:xfrm>
            <a:off x="9912083"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3" name="Picture 52" descr="lock.png"/>
          <p:cNvPicPr>
            <a:picLocks noChangeAspect="1"/>
          </p:cNvPicPr>
          <p:nvPr/>
        </p:nvPicPr>
        <p:blipFill>
          <a:blip r:embed="rId5"/>
          <a:stretch>
            <a:fillRect/>
          </a:stretch>
        </p:blipFill>
        <p:spPr>
          <a:xfrm>
            <a:off x="10214337" y="1473019"/>
            <a:ext cx="113255" cy="164734"/>
          </a:xfrm>
          <a:prstGeom prst="rect">
            <a:avLst/>
          </a:prstGeom>
        </p:spPr>
      </p:pic>
      <p:sp>
        <p:nvSpPr>
          <p:cNvPr id="54" name="TextBox 53"/>
          <p:cNvSpPr txBox="1"/>
          <p:nvPr/>
        </p:nvSpPr>
        <p:spPr>
          <a:xfrm>
            <a:off x="2032418" y="2864872"/>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856657"/>
            <a:ext cx="108107" cy="157246"/>
          </a:xfrm>
          <a:prstGeom prst="rect">
            <a:avLst/>
          </a:prstGeom>
        </p:spPr>
      </p:pic>
      <p:sp>
        <p:nvSpPr>
          <p:cNvPr id="56" name="TextBox 55"/>
          <p:cNvSpPr txBox="1"/>
          <p:nvPr/>
        </p:nvSpPr>
        <p:spPr>
          <a:xfrm>
            <a:off x="2032418" y="2607697"/>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599482"/>
            <a:ext cx="108107" cy="157246"/>
          </a:xfrm>
          <a:prstGeom prst="rect">
            <a:avLst/>
          </a:prstGeom>
        </p:spPr>
      </p:pic>
      <p:sp>
        <p:nvSpPr>
          <p:cNvPr id="58" name="TextBox 57"/>
          <p:cNvSpPr txBox="1"/>
          <p:nvPr/>
        </p:nvSpPr>
        <p:spPr>
          <a:xfrm>
            <a:off x="2032418" y="2350522"/>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9" name="Picture 58" descr="lock.png"/>
          <p:cNvPicPr>
            <a:picLocks noChangeAspect="1"/>
          </p:cNvPicPr>
          <p:nvPr/>
        </p:nvPicPr>
        <p:blipFill>
          <a:blip r:embed="rId5"/>
          <a:stretch>
            <a:fillRect/>
          </a:stretch>
        </p:blipFill>
        <p:spPr>
          <a:xfrm>
            <a:off x="2358973" y="2342307"/>
            <a:ext cx="108107" cy="157246"/>
          </a:xfrm>
          <a:prstGeom prst="rect">
            <a:avLst/>
          </a:prstGeom>
        </p:spPr>
      </p:pic>
      <p:sp>
        <p:nvSpPr>
          <p:cNvPr id="60" name="TextBox 59"/>
          <p:cNvSpPr txBox="1"/>
          <p:nvPr/>
        </p:nvSpPr>
        <p:spPr>
          <a:xfrm>
            <a:off x="276225" y="5372100"/>
            <a:ext cx="808161" cy="194310"/>
          </a:xfrm>
          <a:prstGeom prst="rect">
            <a:avLst/>
          </a:prstGeom>
          <a:noFill/>
        </p:spPr>
        <p:txBody>
          <a:bodyPr wrap="none" lIns="0" rIns="0" tIns="0" bIns="0">
            <a:spAutoFit/>
          </a:bodyPr>
          <a:lstStyle/>
          <a:p>
            <a:r>
              <a:rPr sz="1150" b="0">
                <a:solidFill>
                  <a:srgbClr val="2E2E2E"/>
                </a:solidFill>
                <a:latin typeface="Calibri"/>
              </a:rPr>
              <a:t>▪ Optimistic:</a:t>
            </a:r>
          </a:p>
        </p:txBody>
      </p:sp>
      <p:pic>
        <p:nvPicPr>
          <p:cNvPr id="61" name="Picture 60" descr="lock.png"/>
          <p:cNvPicPr>
            <a:picLocks noChangeAspect="1"/>
          </p:cNvPicPr>
          <p:nvPr/>
        </p:nvPicPr>
        <p:blipFill>
          <a:blip r:embed="rId5"/>
          <a:stretch>
            <a:fillRect/>
          </a:stretch>
        </p:blipFill>
        <p:spPr>
          <a:xfrm>
            <a:off x="1033540" y="5361876"/>
            <a:ext cx="134549" cy="195707"/>
          </a:xfrm>
          <a:prstGeom prst="rect">
            <a:avLst/>
          </a:prstGeom>
        </p:spPr>
      </p:pic>
      <p:sp>
        <p:nvSpPr>
          <p:cNvPr id="62" name="TextBox 61"/>
          <p:cNvSpPr txBox="1"/>
          <p:nvPr/>
        </p:nvSpPr>
        <p:spPr>
          <a:xfrm>
            <a:off x="1208649" y="5372100"/>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3" name="Picture 62" descr="lock.png"/>
          <p:cNvPicPr>
            <a:picLocks noChangeAspect="1"/>
          </p:cNvPicPr>
          <p:nvPr/>
        </p:nvPicPr>
        <p:blipFill>
          <a:blip r:embed="rId5"/>
          <a:stretch>
            <a:fillRect/>
          </a:stretch>
        </p:blipFill>
        <p:spPr>
          <a:xfrm>
            <a:off x="2361612" y="5361876"/>
            <a:ext cx="134549" cy="195707"/>
          </a:xfrm>
          <a:prstGeom prst="rect">
            <a:avLst/>
          </a:prstGeom>
        </p:spPr>
      </p:pic>
      <p:sp>
        <p:nvSpPr>
          <p:cNvPr id="64" name="TextBox 63"/>
          <p:cNvSpPr txBox="1"/>
          <p:nvPr/>
        </p:nvSpPr>
        <p:spPr>
          <a:xfrm>
            <a:off x="2536721" y="5372100"/>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5" name="TextBox 64"/>
          <p:cNvSpPr txBox="1"/>
          <p:nvPr/>
        </p:nvSpPr>
        <p:spPr>
          <a:xfrm>
            <a:off x="276225" y="5599938"/>
            <a:ext cx="1448271" cy="194310"/>
          </a:xfrm>
          <a:prstGeom prst="rect">
            <a:avLst/>
          </a:prstGeom>
          <a:noFill/>
        </p:spPr>
        <p:txBody>
          <a:bodyPr wrap="none" lIns="0" rIns="0" tIns="0" bIns="0">
            <a:spAutoFit/>
          </a:bodyPr>
          <a:lstStyle/>
          <a:p>
            <a:r>
              <a:rPr sz="1150" b="0">
                <a:solidFill>
                  <a:srgbClr val="2E2E2E"/>
                </a:solidFill>
                <a:latin typeface="Calibri"/>
              </a:rPr>
              <a:t>▪ Likely (base forecast):</a:t>
            </a:r>
          </a:p>
        </p:txBody>
      </p:sp>
      <p:pic>
        <p:nvPicPr>
          <p:cNvPr id="66" name="Picture 65" descr="lock.png"/>
          <p:cNvPicPr>
            <a:picLocks noChangeAspect="1"/>
          </p:cNvPicPr>
          <p:nvPr/>
        </p:nvPicPr>
        <p:blipFill>
          <a:blip r:embed="rId5"/>
          <a:stretch>
            <a:fillRect/>
          </a:stretch>
        </p:blipFill>
        <p:spPr>
          <a:xfrm>
            <a:off x="1673650" y="5589714"/>
            <a:ext cx="134549" cy="195707"/>
          </a:xfrm>
          <a:prstGeom prst="rect">
            <a:avLst/>
          </a:prstGeom>
        </p:spPr>
      </p:pic>
      <p:sp>
        <p:nvSpPr>
          <p:cNvPr id="67" name="TextBox 66"/>
          <p:cNvSpPr txBox="1"/>
          <p:nvPr/>
        </p:nvSpPr>
        <p:spPr>
          <a:xfrm>
            <a:off x="1848759" y="5599938"/>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68" name="Picture 67" descr="lock.png"/>
          <p:cNvPicPr>
            <a:picLocks noChangeAspect="1"/>
          </p:cNvPicPr>
          <p:nvPr/>
        </p:nvPicPr>
        <p:blipFill>
          <a:blip r:embed="rId5"/>
          <a:stretch>
            <a:fillRect/>
          </a:stretch>
        </p:blipFill>
        <p:spPr>
          <a:xfrm>
            <a:off x="2495966" y="5589714"/>
            <a:ext cx="134549" cy="195707"/>
          </a:xfrm>
          <a:prstGeom prst="rect">
            <a:avLst/>
          </a:prstGeom>
        </p:spPr>
      </p:pic>
      <p:sp>
        <p:nvSpPr>
          <p:cNvPr id="69" name="TextBox 68"/>
          <p:cNvSpPr txBox="1"/>
          <p:nvPr/>
        </p:nvSpPr>
        <p:spPr>
          <a:xfrm>
            <a:off x="2671076" y="5599938"/>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0" name="TextBox 69"/>
          <p:cNvSpPr txBox="1"/>
          <p:nvPr/>
        </p:nvSpPr>
        <p:spPr>
          <a:xfrm>
            <a:off x="276225" y="5827775"/>
            <a:ext cx="969615" cy="194310"/>
          </a:xfrm>
          <a:prstGeom prst="rect">
            <a:avLst/>
          </a:prstGeom>
          <a:noFill/>
        </p:spPr>
        <p:txBody>
          <a:bodyPr wrap="none" lIns="0" rIns="0" tIns="0" bIns="0">
            <a:spAutoFit/>
          </a:bodyPr>
          <a:lstStyle/>
          <a:p>
            <a:r>
              <a:rPr sz="1150" b="0">
                <a:solidFill>
                  <a:srgbClr val="2E2E2E"/>
                </a:solidFill>
                <a:latin typeface="Calibri"/>
              </a:rPr>
              <a:t>▪ Conservative:</a:t>
            </a:r>
          </a:p>
        </p:txBody>
      </p:sp>
      <p:pic>
        <p:nvPicPr>
          <p:cNvPr id="71" name="Picture 70" descr="lock.png"/>
          <p:cNvPicPr>
            <a:picLocks noChangeAspect="1"/>
          </p:cNvPicPr>
          <p:nvPr/>
        </p:nvPicPr>
        <p:blipFill>
          <a:blip r:embed="rId5"/>
          <a:stretch>
            <a:fillRect/>
          </a:stretch>
        </p:blipFill>
        <p:spPr>
          <a:xfrm>
            <a:off x="1194994" y="5817552"/>
            <a:ext cx="134549" cy="195707"/>
          </a:xfrm>
          <a:prstGeom prst="rect">
            <a:avLst/>
          </a:prstGeom>
        </p:spPr>
      </p:pic>
      <p:sp>
        <p:nvSpPr>
          <p:cNvPr id="72" name="TextBox 71"/>
          <p:cNvSpPr txBox="1"/>
          <p:nvPr/>
        </p:nvSpPr>
        <p:spPr>
          <a:xfrm>
            <a:off x="1370103" y="5827775"/>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73" name="Picture 72" descr="lock.png"/>
          <p:cNvPicPr>
            <a:picLocks noChangeAspect="1"/>
          </p:cNvPicPr>
          <p:nvPr/>
        </p:nvPicPr>
        <p:blipFill>
          <a:blip r:embed="rId5"/>
          <a:stretch>
            <a:fillRect/>
          </a:stretch>
        </p:blipFill>
        <p:spPr>
          <a:xfrm>
            <a:off x="2017310" y="5817552"/>
            <a:ext cx="134549" cy="195707"/>
          </a:xfrm>
          <a:prstGeom prst="rect">
            <a:avLst/>
          </a:prstGeom>
        </p:spPr>
      </p:pic>
      <p:sp>
        <p:nvSpPr>
          <p:cNvPr id="74" name="TextBox 73"/>
          <p:cNvSpPr txBox="1"/>
          <p:nvPr/>
        </p:nvSpPr>
        <p:spPr>
          <a:xfrm>
            <a:off x="2192420" y="58277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5" name="TextBox 74"/>
          <p:cNvSpPr txBox="1"/>
          <p:nvPr/>
        </p:nvSpPr>
        <p:spPr>
          <a:xfrm>
            <a:off x="276225" y="6055613"/>
            <a:ext cx="3660130"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a:t>
            </a:r>
          </a:p>
        </p:txBody>
      </p:sp>
      <p:pic>
        <p:nvPicPr>
          <p:cNvPr id="76" name="Picture 75" descr="lock.png"/>
          <p:cNvPicPr>
            <a:picLocks noChangeAspect="1"/>
          </p:cNvPicPr>
          <p:nvPr/>
        </p:nvPicPr>
        <p:blipFill>
          <a:blip r:embed="rId5"/>
          <a:stretch>
            <a:fillRect/>
          </a:stretch>
        </p:blipFill>
        <p:spPr>
          <a:xfrm>
            <a:off x="3885509" y="6045390"/>
            <a:ext cx="134549" cy="195707"/>
          </a:xfrm>
          <a:prstGeom prst="rect">
            <a:avLst/>
          </a:prstGeom>
        </p:spPr>
      </p:pic>
      <p:sp>
        <p:nvSpPr>
          <p:cNvPr id="77" name="TextBox 76"/>
          <p:cNvSpPr txBox="1"/>
          <p:nvPr/>
        </p:nvSpPr>
        <p:spPr>
          <a:xfrm>
            <a:off x="4060618" y="6055613"/>
            <a:ext cx="1900683" cy="194310"/>
          </a:xfrm>
          <a:prstGeom prst="rect">
            <a:avLst/>
          </a:prstGeom>
          <a:noFill/>
        </p:spPr>
        <p:txBody>
          <a:bodyPr wrap="none" lIns="0" rIns="0" tIns="0" bIns="0">
            <a:spAutoFit/>
          </a:bodyPr>
          <a:lstStyle/>
          <a:p>
            <a:r>
              <a:rPr sz="1150" b="0">
                <a:solidFill>
                  <a:srgbClr val="2E2E2E"/>
                </a:solidFill>
                <a:latin typeface="Calibri"/>
              </a:rPr>
              <a:t>across the 2026–2036 horizon.</a:t>
            </a:r>
          </a:p>
        </p:txBody>
      </p:sp>
      <p:sp>
        <p:nvSpPr>
          <p:cNvPr id="78" name="lockshield_36"/>
          <p:cNvSpPr/>
          <p:nvPr/>
        </p:nvSpPr>
        <p:spPr>
          <a:xfrm>
            <a:off x="6267450" y="2266950"/>
            <a:ext cx="5686425" cy="2495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B3C8C"/>
                </a:solidFill>
                <a:latin typeface="Calibri"/>
              </a:rPr>
              <a:t>Global Market Analysis By Region</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Senior Dog Cognitive Supplement – Regional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Region</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Senior Dog Cognitive Supplement – Regional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6 regions, highlighting where value concentrates,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Region view breaks the Global market down geographically. Each region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North America</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Europe</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East Asia</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South Asia &amp; Pacific</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Latin America</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Middle East &amp; Africa</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Region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Region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By Region split shows where market value concentrates and where growth is fastest.</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demand and access dynamics are rebalancing the geographic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7" name="Picture 76" descr="3_597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5_353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4_1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2_943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5_056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5_6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1_417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2_264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4_8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1_308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2_314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5_9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872_0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1_527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5_8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763_0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1_231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4_9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795711" cy="186689"/>
          </a:xfrm>
          <a:prstGeom prst="rect">
            <a:avLst/>
          </a:prstGeom>
          <a:noFill/>
        </p:spPr>
        <p:txBody>
          <a:bodyPr wrap="none" lIns="0" rIns="0" tIns="0" bIns="0">
            <a:spAutoFit/>
          </a:bodyPr>
          <a:lstStyle/>
          <a:p>
            <a:r>
              <a:rPr sz="1100" b="0">
                <a:solidFill>
                  <a:srgbClr val="2E2E2E"/>
                </a:solidFill>
                <a:latin typeface="Calibri"/>
              </a:rPr>
              <a:t>North America senior dog cognitive supplement</a:t>
            </a:r>
          </a:p>
        </p:txBody>
      </p:sp>
      <p:sp>
        <p:nvSpPr>
          <p:cNvPr id="102" name="TextBox 101"/>
          <p:cNvSpPr txBox="1"/>
          <p:nvPr/>
        </p:nvSpPr>
        <p:spPr>
          <a:xfrm>
            <a:off x="485775" y="4397077"/>
            <a:ext cx="1801986" cy="186689"/>
          </a:xfrm>
          <a:prstGeom prst="rect">
            <a:avLst/>
          </a:prstGeom>
          <a:noFill/>
        </p:spPr>
        <p:txBody>
          <a:bodyPr wrap="none" lIns="0" rIns="0" tIns="0" bIns="0">
            <a:spAutoFit/>
          </a:bodyPr>
          <a:lstStyle/>
          <a:p>
            <a:r>
              <a:rPr sz="1100" b="0">
                <a:solidFill>
                  <a:srgbClr val="2E2E2E"/>
                </a:solidFill>
                <a:latin typeface="Calibri"/>
              </a:rPr>
              <a:t>market is projected to register</a:t>
            </a:r>
          </a:p>
        </p:txBody>
      </p:sp>
      <p:pic>
        <p:nvPicPr>
          <p:cNvPr id="103" name="Picture 102" descr="lock.png"/>
          <p:cNvPicPr>
            <a:picLocks noChangeAspect="1"/>
          </p:cNvPicPr>
          <p:nvPr/>
        </p:nvPicPr>
        <p:blipFill>
          <a:blip r:embed="rId22"/>
          <a:stretch>
            <a:fillRect/>
          </a:stretch>
        </p:blipFill>
        <p:spPr>
          <a:xfrm>
            <a:off x="2235812" y="4387298"/>
            <a:ext cx="128699" cy="187198"/>
          </a:xfrm>
          <a:prstGeom prst="rect">
            <a:avLst/>
          </a:prstGeom>
        </p:spPr>
      </p:pic>
      <p:sp>
        <p:nvSpPr>
          <p:cNvPr id="104" name="TextBox 103"/>
          <p:cNvSpPr txBox="1"/>
          <p:nvPr/>
        </p:nvSpPr>
        <p:spPr>
          <a:xfrm>
            <a:off x="2403308" y="4397077"/>
            <a:ext cx="880293" cy="186689"/>
          </a:xfrm>
          <a:prstGeom prst="rect">
            <a:avLst/>
          </a:prstGeom>
          <a:noFill/>
        </p:spPr>
        <p:txBody>
          <a:bodyPr wrap="none" lIns="0" rIns="0" tIns="0" bIns="0">
            <a:spAutoFit/>
          </a:bodyPr>
          <a:lstStyle/>
          <a:p>
            <a:r>
              <a:rPr sz="1100" b="0">
                <a:solidFill>
                  <a:srgbClr val="2E2E2E"/>
                </a:solidFill>
                <a:latin typeface="Calibri"/>
              </a:rPr>
              <a:t>X higher value</a:t>
            </a:r>
          </a:p>
        </p:txBody>
      </p:sp>
      <p:sp>
        <p:nvSpPr>
          <p:cNvPr id="105" name="TextBox 104"/>
          <p:cNvSpPr txBox="1"/>
          <p:nvPr/>
        </p:nvSpPr>
        <p:spPr>
          <a:xfrm>
            <a:off x="485775" y="4564717"/>
            <a:ext cx="2876202" cy="186689"/>
          </a:xfrm>
          <a:prstGeom prst="rect">
            <a:avLst/>
          </a:prstGeom>
          <a:noFill/>
        </p:spPr>
        <p:txBody>
          <a:bodyPr wrap="none" lIns="0" rIns="0" tIns="0" bIns="0">
            <a:spAutoFit/>
          </a:bodyPr>
          <a:lstStyle/>
          <a:p>
            <a:r>
              <a:rPr sz="1100" b="0">
                <a:solidFill>
                  <a:srgbClr val="2E2E2E"/>
                </a:solidFill>
                <a:latin typeface="Calibri"/>
              </a:rPr>
              <a:t>than Europe in 2036. Among senior dog cognitive</a:t>
            </a:r>
          </a:p>
        </p:txBody>
      </p:sp>
      <p:sp>
        <p:nvSpPr>
          <p:cNvPr id="106" name="TextBox 105"/>
          <p:cNvSpPr txBox="1"/>
          <p:nvPr/>
        </p:nvSpPr>
        <p:spPr>
          <a:xfrm>
            <a:off x="485775" y="4732357"/>
            <a:ext cx="2623269" cy="186689"/>
          </a:xfrm>
          <a:prstGeom prst="rect">
            <a:avLst/>
          </a:prstGeom>
          <a:noFill/>
        </p:spPr>
        <p:txBody>
          <a:bodyPr wrap="none" lIns="0" rIns="0" tIns="0" bIns="0">
            <a:spAutoFit/>
          </a:bodyPr>
          <a:lstStyle/>
          <a:p>
            <a:r>
              <a:rPr sz="1100" b="0">
                <a:solidFill>
                  <a:srgbClr val="2E2E2E"/>
                </a:solidFill>
                <a:latin typeface="Calibri"/>
              </a:rPr>
              <a:t>supplement by region, South Asia &amp; Pacific is</a:t>
            </a:r>
          </a:p>
        </p:txBody>
      </p:sp>
      <p:sp>
        <p:nvSpPr>
          <p:cNvPr id="107" name="TextBox 106"/>
          <p:cNvSpPr txBox="1"/>
          <p:nvPr/>
        </p:nvSpPr>
        <p:spPr>
          <a:xfrm>
            <a:off x="485775" y="489999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108" name="Picture 107" descr="lock.png"/>
          <p:cNvPicPr>
            <a:picLocks noChangeAspect="1"/>
          </p:cNvPicPr>
          <p:nvPr/>
        </p:nvPicPr>
        <p:blipFill>
          <a:blip r:embed="rId22"/>
          <a:stretch>
            <a:fillRect/>
          </a:stretch>
        </p:blipFill>
        <p:spPr>
          <a:xfrm>
            <a:off x="2815059" y="4890217"/>
            <a:ext cx="128699" cy="187198"/>
          </a:xfrm>
          <a:prstGeom prst="rect">
            <a:avLst/>
          </a:prstGeom>
        </p:spPr>
      </p:pic>
      <p:sp>
        <p:nvSpPr>
          <p:cNvPr id="109" name="TextBox 108"/>
          <p:cNvSpPr txBox="1"/>
          <p:nvPr/>
        </p:nvSpPr>
        <p:spPr>
          <a:xfrm>
            <a:off x="2982555" y="489999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110" name="TextBox 109"/>
          <p:cNvSpPr txBox="1"/>
          <p:nvPr/>
        </p:nvSpPr>
        <p:spPr>
          <a:xfrm>
            <a:off x="485775" y="5067637"/>
            <a:ext cx="1197892" cy="186689"/>
          </a:xfrm>
          <a:prstGeom prst="rect">
            <a:avLst/>
          </a:prstGeom>
          <a:noFill/>
        </p:spPr>
        <p:txBody>
          <a:bodyPr wrap="none" lIns="0" rIns="0" tIns="0" bIns="0">
            <a:spAutoFit/>
          </a:bodyPr>
          <a:lstStyle/>
          <a:p>
            <a:r>
              <a:rPr sz="1100" b="0">
                <a:solidFill>
                  <a:srgbClr val="2E2E2E"/>
                </a:solidFill>
                <a:latin typeface="Calibri"/>
              </a:rPr>
              <a:t>the forecast period.</a:t>
            </a:r>
          </a:p>
        </p:txBody>
      </p:sp>
      <p:sp>
        <p:nvSpPr>
          <p:cNvPr id="111" name="TextBox 110"/>
          <p:cNvSpPr txBox="1"/>
          <p:nvPr/>
        </p:nvSpPr>
        <p:spPr>
          <a:xfrm>
            <a:off x="485775" y="5285569"/>
            <a:ext cx="2914650" cy="186689"/>
          </a:xfrm>
          <a:prstGeom prst="rect">
            <a:avLst/>
          </a:prstGeom>
          <a:noFill/>
        </p:spPr>
        <p:txBody>
          <a:bodyPr wrap="none" lIns="0" rIns="0" tIns="0" bIns="0">
            <a:spAutoFit/>
          </a:bodyPr>
          <a:lstStyle/>
          <a:p>
            <a:r>
              <a:rPr sz="1100" b="0">
                <a:solidFill>
                  <a:srgbClr val="2E2E2E"/>
                </a:solidFill>
                <a:latin typeface="Calibri"/>
              </a:rPr>
              <a:t>In terms of value share by region, North America is</a:t>
            </a:r>
          </a:p>
        </p:txBody>
      </p:sp>
      <p:sp>
        <p:nvSpPr>
          <p:cNvPr id="112" name="TextBox 111"/>
          <p:cNvSpPr txBox="1"/>
          <p:nvPr/>
        </p:nvSpPr>
        <p:spPr>
          <a:xfrm>
            <a:off x="485775" y="5453209"/>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113" name="Picture 112" descr="lock.png"/>
          <p:cNvPicPr>
            <a:picLocks noChangeAspect="1"/>
          </p:cNvPicPr>
          <p:nvPr/>
        </p:nvPicPr>
        <p:blipFill>
          <a:blip r:embed="rId22"/>
          <a:stretch>
            <a:fillRect/>
          </a:stretch>
        </p:blipFill>
        <p:spPr>
          <a:xfrm>
            <a:off x="2822716" y="5443430"/>
            <a:ext cx="128699" cy="187198"/>
          </a:xfrm>
          <a:prstGeom prst="rect">
            <a:avLst/>
          </a:prstGeom>
        </p:spPr>
      </p:pic>
      <p:sp>
        <p:nvSpPr>
          <p:cNvPr id="114" name="TextBox 113"/>
          <p:cNvSpPr txBox="1"/>
          <p:nvPr/>
        </p:nvSpPr>
        <p:spPr>
          <a:xfrm>
            <a:off x="2990212" y="5453209"/>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15" name="TextBox 114"/>
          <p:cNvSpPr txBox="1"/>
          <p:nvPr/>
        </p:nvSpPr>
        <p:spPr>
          <a:xfrm>
            <a:off x="485775" y="5620849"/>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16" name="Picture 115" descr="lock.png"/>
          <p:cNvPicPr>
            <a:picLocks noChangeAspect="1"/>
          </p:cNvPicPr>
          <p:nvPr/>
        </p:nvPicPr>
        <p:blipFill>
          <a:blip r:embed="rId22"/>
          <a:stretch>
            <a:fillRect/>
          </a:stretch>
        </p:blipFill>
        <p:spPr>
          <a:xfrm>
            <a:off x="1576057" y="5611070"/>
            <a:ext cx="128699" cy="187198"/>
          </a:xfrm>
          <a:prstGeom prst="rect">
            <a:avLst/>
          </a:prstGeom>
        </p:spPr>
      </p:pic>
      <p:sp>
        <p:nvSpPr>
          <p:cNvPr id="117" name="TextBox 116"/>
          <p:cNvSpPr txBox="1"/>
          <p:nvPr/>
        </p:nvSpPr>
        <p:spPr>
          <a:xfrm>
            <a:off x="1743553" y="562084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8" name="TextBox 117"/>
          <p:cNvSpPr txBox="1"/>
          <p:nvPr/>
        </p:nvSpPr>
        <p:spPr>
          <a:xfrm>
            <a:off x="3838575" y="4229437"/>
            <a:ext cx="1063376" cy="186689"/>
          </a:xfrm>
          <a:prstGeom prst="rect">
            <a:avLst/>
          </a:prstGeom>
          <a:noFill/>
        </p:spPr>
        <p:txBody>
          <a:bodyPr wrap="none" lIns="0" rIns="0" tIns="0" bIns="0">
            <a:spAutoFit/>
          </a:bodyPr>
          <a:lstStyle/>
          <a:p>
            <a:r>
              <a:rPr sz="1100" b="0">
                <a:solidFill>
                  <a:srgbClr val="2E2E2E"/>
                </a:solidFill>
                <a:latin typeface="Calibri"/>
              </a:rPr>
              <a:t>● North America:</a:t>
            </a:r>
          </a:p>
        </p:txBody>
      </p:sp>
      <p:pic>
        <p:nvPicPr>
          <p:cNvPr id="119" name="Picture 118" descr="lock.png"/>
          <p:cNvPicPr>
            <a:picLocks noChangeAspect="1"/>
          </p:cNvPicPr>
          <p:nvPr/>
        </p:nvPicPr>
        <p:blipFill>
          <a:blip r:embed="rId22"/>
          <a:stretch>
            <a:fillRect/>
          </a:stretch>
        </p:blipFill>
        <p:spPr>
          <a:xfrm>
            <a:off x="4850003" y="4219658"/>
            <a:ext cx="128699" cy="187198"/>
          </a:xfrm>
          <a:prstGeom prst="rect">
            <a:avLst/>
          </a:prstGeom>
        </p:spPr>
      </p:pic>
      <p:sp>
        <p:nvSpPr>
          <p:cNvPr id="120" name="TextBox 119"/>
          <p:cNvSpPr txBox="1"/>
          <p:nvPr/>
        </p:nvSpPr>
        <p:spPr>
          <a:xfrm>
            <a:off x="501749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1" name="Picture 120" descr="lock.png"/>
          <p:cNvPicPr>
            <a:picLocks noChangeAspect="1"/>
          </p:cNvPicPr>
          <p:nvPr/>
        </p:nvPicPr>
        <p:blipFill>
          <a:blip r:embed="rId22"/>
          <a:stretch>
            <a:fillRect/>
          </a:stretch>
        </p:blipFill>
        <p:spPr>
          <a:xfrm>
            <a:off x="5876949" y="4219658"/>
            <a:ext cx="128699" cy="187198"/>
          </a:xfrm>
          <a:prstGeom prst="rect">
            <a:avLst/>
          </a:prstGeom>
        </p:spPr>
      </p:pic>
      <p:sp>
        <p:nvSpPr>
          <p:cNvPr id="122" name="TextBox 121"/>
          <p:cNvSpPr txBox="1"/>
          <p:nvPr/>
        </p:nvSpPr>
        <p:spPr>
          <a:xfrm>
            <a:off x="6044445"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123" name="TextBox 122"/>
          <p:cNvSpPr txBox="1"/>
          <p:nvPr/>
        </p:nvSpPr>
        <p:spPr>
          <a:xfrm>
            <a:off x="3838575" y="4447369"/>
            <a:ext cx="636637" cy="186689"/>
          </a:xfrm>
          <a:prstGeom prst="rect">
            <a:avLst/>
          </a:prstGeom>
          <a:noFill/>
        </p:spPr>
        <p:txBody>
          <a:bodyPr wrap="none" lIns="0" rIns="0" tIns="0" bIns="0">
            <a:spAutoFit/>
          </a:bodyPr>
          <a:lstStyle/>
          <a:p>
            <a:r>
              <a:rPr sz="1100" b="0">
                <a:solidFill>
                  <a:srgbClr val="2E2E2E"/>
                </a:solidFill>
                <a:latin typeface="Calibri"/>
              </a:rPr>
              <a:t>● Europe:</a:t>
            </a:r>
          </a:p>
        </p:txBody>
      </p:sp>
      <p:pic>
        <p:nvPicPr>
          <p:cNvPr id="124" name="Picture 123" descr="lock.png"/>
          <p:cNvPicPr>
            <a:picLocks noChangeAspect="1"/>
          </p:cNvPicPr>
          <p:nvPr/>
        </p:nvPicPr>
        <p:blipFill>
          <a:blip r:embed="rId22"/>
          <a:stretch>
            <a:fillRect/>
          </a:stretch>
        </p:blipFill>
        <p:spPr>
          <a:xfrm>
            <a:off x="4423263" y="4437590"/>
            <a:ext cx="128699" cy="187198"/>
          </a:xfrm>
          <a:prstGeom prst="rect">
            <a:avLst/>
          </a:prstGeom>
        </p:spPr>
      </p:pic>
      <p:sp>
        <p:nvSpPr>
          <p:cNvPr id="125" name="TextBox 124"/>
          <p:cNvSpPr txBox="1"/>
          <p:nvPr/>
        </p:nvSpPr>
        <p:spPr>
          <a:xfrm>
            <a:off x="4590759"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6" name="Picture 125" descr="lock.png"/>
          <p:cNvPicPr>
            <a:picLocks noChangeAspect="1"/>
          </p:cNvPicPr>
          <p:nvPr/>
        </p:nvPicPr>
        <p:blipFill>
          <a:blip r:embed="rId22"/>
          <a:stretch>
            <a:fillRect/>
          </a:stretch>
        </p:blipFill>
        <p:spPr>
          <a:xfrm>
            <a:off x="5450209" y="4437590"/>
            <a:ext cx="128699" cy="187198"/>
          </a:xfrm>
          <a:prstGeom prst="rect">
            <a:avLst/>
          </a:prstGeom>
        </p:spPr>
      </p:pic>
      <p:sp>
        <p:nvSpPr>
          <p:cNvPr id="127" name="TextBox 126"/>
          <p:cNvSpPr txBox="1"/>
          <p:nvPr/>
        </p:nvSpPr>
        <p:spPr>
          <a:xfrm>
            <a:off x="5617705" y="4447369"/>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28" name="TextBox 127"/>
          <p:cNvSpPr txBox="1"/>
          <p:nvPr/>
        </p:nvSpPr>
        <p:spPr>
          <a:xfrm>
            <a:off x="3838575" y="4665301"/>
            <a:ext cx="732101" cy="186689"/>
          </a:xfrm>
          <a:prstGeom prst="rect">
            <a:avLst/>
          </a:prstGeom>
          <a:noFill/>
        </p:spPr>
        <p:txBody>
          <a:bodyPr wrap="none" lIns="0" rIns="0" tIns="0" bIns="0">
            <a:spAutoFit/>
          </a:bodyPr>
          <a:lstStyle/>
          <a:p>
            <a:r>
              <a:rPr sz="1100" b="0">
                <a:solidFill>
                  <a:srgbClr val="2E2E2E"/>
                </a:solidFill>
                <a:latin typeface="Calibri"/>
              </a:rPr>
              <a:t>● East Asia:</a:t>
            </a:r>
          </a:p>
        </p:txBody>
      </p:sp>
      <p:pic>
        <p:nvPicPr>
          <p:cNvPr id="129" name="Picture 128" descr="lock.png"/>
          <p:cNvPicPr>
            <a:picLocks noChangeAspect="1"/>
          </p:cNvPicPr>
          <p:nvPr/>
        </p:nvPicPr>
        <p:blipFill>
          <a:blip r:embed="rId22"/>
          <a:stretch>
            <a:fillRect/>
          </a:stretch>
        </p:blipFill>
        <p:spPr>
          <a:xfrm>
            <a:off x="4518727" y="4655522"/>
            <a:ext cx="128699" cy="187198"/>
          </a:xfrm>
          <a:prstGeom prst="rect">
            <a:avLst/>
          </a:prstGeom>
        </p:spPr>
      </p:pic>
      <p:sp>
        <p:nvSpPr>
          <p:cNvPr id="130" name="TextBox 129"/>
          <p:cNvSpPr txBox="1"/>
          <p:nvPr/>
        </p:nvSpPr>
        <p:spPr>
          <a:xfrm>
            <a:off x="4686223"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1" name="Picture 130" descr="lock.png"/>
          <p:cNvPicPr>
            <a:picLocks noChangeAspect="1"/>
          </p:cNvPicPr>
          <p:nvPr/>
        </p:nvPicPr>
        <p:blipFill>
          <a:blip r:embed="rId22"/>
          <a:stretch>
            <a:fillRect/>
          </a:stretch>
        </p:blipFill>
        <p:spPr>
          <a:xfrm>
            <a:off x="5545673" y="4655522"/>
            <a:ext cx="128699" cy="187198"/>
          </a:xfrm>
          <a:prstGeom prst="rect">
            <a:avLst/>
          </a:prstGeom>
        </p:spPr>
      </p:pic>
      <p:sp>
        <p:nvSpPr>
          <p:cNvPr id="132" name="TextBox 131"/>
          <p:cNvSpPr txBox="1"/>
          <p:nvPr/>
        </p:nvSpPr>
        <p:spPr>
          <a:xfrm>
            <a:off x="5713169" y="4665301"/>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33" name="TextBox 132"/>
          <p:cNvSpPr txBox="1"/>
          <p:nvPr/>
        </p:nvSpPr>
        <p:spPr>
          <a:xfrm>
            <a:off x="3838575" y="4883233"/>
            <a:ext cx="1350143" cy="186689"/>
          </a:xfrm>
          <a:prstGeom prst="rect">
            <a:avLst/>
          </a:prstGeom>
          <a:noFill/>
        </p:spPr>
        <p:txBody>
          <a:bodyPr wrap="none" lIns="0" rIns="0" tIns="0" bIns="0">
            <a:spAutoFit/>
          </a:bodyPr>
          <a:lstStyle/>
          <a:p>
            <a:r>
              <a:rPr sz="1100" b="0">
                <a:solidFill>
                  <a:srgbClr val="2E2E2E"/>
                </a:solidFill>
                <a:latin typeface="Calibri"/>
              </a:rPr>
              <a:t>● South Asia &amp; Pacific:</a:t>
            </a:r>
          </a:p>
        </p:txBody>
      </p:sp>
      <p:pic>
        <p:nvPicPr>
          <p:cNvPr id="134" name="Picture 133" descr="lock.png"/>
          <p:cNvPicPr>
            <a:picLocks noChangeAspect="1"/>
          </p:cNvPicPr>
          <p:nvPr/>
        </p:nvPicPr>
        <p:blipFill>
          <a:blip r:embed="rId22"/>
          <a:stretch>
            <a:fillRect/>
          </a:stretch>
        </p:blipFill>
        <p:spPr>
          <a:xfrm>
            <a:off x="5136770" y="4873454"/>
            <a:ext cx="128699" cy="187198"/>
          </a:xfrm>
          <a:prstGeom prst="rect">
            <a:avLst/>
          </a:prstGeom>
        </p:spPr>
      </p:pic>
      <p:sp>
        <p:nvSpPr>
          <p:cNvPr id="135" name="TextBox 134"/>
          <p:cNvSpPr txBox="1"/>
          <p:nvPr/>
        </p:nvSpPr>
        <p:spPr>
          <a:xfrm>
            <a:off x="5304266"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6" name="Picture 135" descr="lock.png"/>
          <p:cNvPicPr>
            <a:picLocks noChangeAspect="1"/>
          </p:cNvPicPr>
          <p:nvPr/>
        </p:nvPicPr>
        <p:blipFill>
          <a:blip r:embed="rId22"/>
          <a:stretch>
            <a:fillRect/>
          </a:stretch>
        </p:blipFill>
        <p:spPr>
          <a:xfrm>
            <a:off x="6163716" y="4873454"/>
            <a:ext cx="128699" cy="187198"/>
          </a:xfrm>
          <a:prstGeom prst="rect">
            <a:avLst/>
          </a:prstGeom>
        </p:spPr>
      </p:pic>
      <p:sp>
        <p:nvSpPr>
          <p:cNvPr id="137" name="TextBox 136"/>
          <p:cNvSpPr txBox="1"/>
          <p:nvPr/>
        </p:nvSpPr>
        <p:spPr>
          <a:xfrm>
            <a:off x="6331212" y="4883233"/>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8" name="TextBox 137"/>
          <p:cNvSpPr txBox="1"/>
          <p:nvPr/>
        </p:nvSpPr>
        <p:spPr>
          <a:xfrm>
            <a:off x="3838575" y="5101165"/>
            <a:ext cx="1008260" cy="186689"/>
          </a:xfrm>
          <a:prstGeom prst="rect">
            <a:avLst/>
          </a:prstGeom>
          <a:noFill/>
        </p:spPr>
        <p:txBody>
          <a:bodyPr wrap="none" lIns="0" rIns="0" tIns="0" bIns="0">
            <a:spAutoFit/>
          </a:bodyPr>
          <a:lstStyle/>
          <a:p>
            <a:r>
              <a:rPr sz="1100" b="0">
                <a:solidFill>
                  <a:srgbClr val="2E2E2E"/>
                </a:solidFill>
                <a:latin typeface="Calibri"/>
              </a:rPr>
              <a:t>● Latin America:</a:t>
            </a:r>
          </a:p>
        </p:txBody>
      </p:sp>
      <p:pic>
        <p:nvPicPr>
          <p:cNvPr id="139" name="Picture 138" descr="lock.png"/>
          <p:cNvPicPr>
            <a:picLocks noChangeAspect="1"/>
          </p:cNvPicPr>
          <p:nvPr/>
        </p:nvPicPr>
        <p:blipFill>
          <a:blip r:embed="rId22"/>
          <a:stretch>
            <a:fillRect/>
          </a:stretch>
        </p:blipFill>
        <p:spPr>
          <a:xfrm>
            <a:off x="4794887" y="5091385"/>
            <a:ext cx="128699" cy="187198"/>
          </a:xfrm>
          <a:prstGeom prst="rect">
            <a:avLst/>
          </a:prstGeom>
        </p:spPr>
      </p:pic>
      <p:sp>
        <p:nvSpPr>
          <p:cNvPr id="140" name="TextBox 139"/>
          <p:cNvSpPr txBox="1"/>
          <p:nvPr/>
        </p:nvSpPr>
        <p:spPr>
          <a:xfrm>
            <a:off x="4962383"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1" name="Picture 140" descr="lock.png"/>
          <p:cNvPicPr>
            <a:picLocks noChangeAspect="1"/>
          </p:cNvPicPr>
          <p:nvPr/>
        </p:nvPicPr>
        <p:blipFill>
          <a:blip r:embed="rId22"/>
          <a:stretch>
            <a:fillRect/>
          </a:stretch>
        </p:blipFill>
        <p:spPr>
          <a:xfrm>
            <a:off x="5821833" y="5091385"/>
            <a:ext cx="128699" cy="187198"/>
          </a:xfrm>
          <a:prstGeom prst="rect">
            <a:avLst/>
          </a:prstGeom>
        </p:spPr>
      </p:pic>
      <p:sp>
        <p:nvSpPr>
          <p:cNvPr id="142" name="TextBox 141"/>
          <p:cNvSpPr txBox="1"/>
          <p:nvPr/>
        </p:nvSpPr>
        <p:spPr>
          <a:xfrm>
            <a:off x="5989329" y="5101165"/>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43" name="TextBox 142"/>
          <p:cNvSpPr txBox="1"/>
          <p:nvPr/>
        </p:nvSpPr>
        <p:spPr>
          <a:xfrm>
            <a:off x="3838575" y="5319097"/>
            <a:ext cx="1386944" cy="186689"/>
          </a:xfrm>
          <a:prstGeom prst="rect">
            <a:avLst/>
          </a:prstGeom>
          <a:noFill/>
        </p:spPr>
        <p:txBody>
          <a:bodyPr wrap="none" lIns="0" rIns="0" tIns="0" bIns="0">
            <a:spAutoFit/>
          </a:bodyPr>
          <a:lstStyle/>
          <a:p>
            <a:r>
              <a:rPr sz="1100" b="0">
                <a:solidFill>
                  <a:srgbClr val="2E2E2E"/>
                </a:solidFill>
                <a:latin typeface="Calibri"/>
              </a:rPr>
              <a:t>● Middle East &amp; Africa:</a:t>
            </a:r>
          </a:p>
        </p:txBody>
      </p:sp>
      <p:pic>
        <p:nvPicPr>
          <p:cNvPr id="144" name="Picture 143" descr="lock.png"/>
          <p:cNvPicPr>
            <a:picLocks noChangeAspect="1"/>
          </p:cNvPicPr>
          <p:nvPr/>
        </p:nvPicPr>
        <p:blipFill>
          <a:blip r:embed="rId22"/>
          <a:stretch>
            <a:fillRect/>
          </a:stretch>
        </p:blipFill>
        <p:spPr>
          <a:xfrm>
            <a:off x="5173571" y="5309317"/>
            <a:ext cx="128699" cy="187198"/>
          </a:xfrm>
          <a:prstGeom prst="rect">
            <a:avLst/>
          </a:prstGeom>
        </p:spPr>
      </p:pic>
      <p:sp>
        <p:nvSpPr>
          <p:cNvPr id="145" name="TextBox 144"/>
          <p:cNvSpPr txBox="1"/>
          <p:nvPr/>
        </p:nvSpPr>
        <p:spPr>
          <a:xfrm>
            <a:off x="5341067" y="531909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6" name="Picture 145" descr="lock.png"/>
          <p:cNvPicPr>
            <a:picLocks noChangeAspect="1"/>
          </p:cNvPicPr>
          <p:nvPr/>
        </p:nvPicPr>
        <p:blipFill>
          <a:blip r:embed="rId22"/>
          <a:stretch>
            <a:fillRect/>
          </a:stretch>
        </p:blipFill>
        <p:spPr>
          <a:xfrm>
            <a:off x="6200517" y="5309317"/>
            <a:ext cx="128699" cy="187198"/>
          </a:xfrm>
          <a:prstGeom prst="rect">
            <a:avLst/>
          </a:prstGeom>
        </p:spPr>
      </p:pic>
      <p:sp>
        <p:nvSpPr>
          <p:cNvPr id="147" name="TextBox 146"/>
          <p:cNvSpPr txBox="1"/>
          <p:nvPr/>
        </p:nvSpPr>
        <p:spPr>
          <a:xfrm>
            <a:off x="6368013" y="5319097"/>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48" name="TextBox 147"/>
          <p:cNvSpPr txBox="1"/>
          <p:nvPr/>
        </p:nvSpPr>
        <p:spPr>
          <a:xfrm>
            <a:off x="8524875" y="5842641"/>
            <a:ext cx="3081608" cy="194310"/>
          </a:xfrm>
          <a:prstGeom prst="rect">
            <a:avLst/>
          </a:prstGeom>
          <a:noFill/>
        </p:spPr>
        <p:txBody>
          <a:bodyPr wrap="none" lIns="0" rIns="0" tIns="0" bIns="0">
            <a:spAutoFit/>
          </a:bodyPr>
          <a:lstStyle/>
          <a:p>
            <a:r>
              <a:rPr sz="1150" b="1">
                <a:solidFill>
                  <a:srgbClr val="0B2E4A"/>
                </a:solidFill>
                <a:latin typeface="Calibri"/>
              </a:rPr>
              <a:t>The Global market is projected to grow at a CAGR</a:t>
            </a:r>
          </a:p>
        </p:txBody>
      </p:sp>
      <p:sp>
        <p:nvSpPr>
          <p:cNvPr id="149" name="TextBox 148"/>
          <p:cNvSpPr txBox="1"/>
          <p:nvPr/>
        </p:nvSpPr>
        <p:spPr>
          <a:xfrm>
            <a:off x="8524875" y="6017901"/>
            <a:ext cx="200855" cy="194310"/>
          </a:xfrm>
          <a:prstGeom prst="rect">
            <a:avLst/>
          </a:prstGeom>
          <a:noFill/>
        </p:spPr>
        <p:txBody>
          <a:bodyPr wrap="none" lIns="0" rIns="0" tIns="0" bIns="0">
            <a:spAutoFit/>
          </a:bodyPr>
          <a:lstStyle/>
          <a:p>
            <a:r>
              <a:rPr sz="1150" b="1">
                <a:solidFill>
                  <a:srgbClr val="0B2E4A"/>
                </a:solidFill>
                <a:latin typeface="Calibri"/>
              </a:rPr>
              <a:t>of</a:t>
            </a:r>
          </a:p>
        </p:txBody>
      </p:sp>
      <p:pic>
        <p:nvPicPr>
          <p:cNvPr id="150" name="Picture 149" descr="lock.png"/>
          <p:cNvPicPr>
            <a:picLocks noChangeAspect="1"/>
          </p:cNvPicPr>
          <p:nvPr/>
        </p:nvPicPr>
        <p:blipFill>
          <a:blip r:embed="rId22"/>
          <a:stretch>
            <a:fillRect/>
          </a:stretch>
        </p:blipFill>
        <p:spPr>
          <a:xfrm>
            <a:off x="8674884" y="6007677"/>
            <a:ext cx="134549" cy="195707"/>
          </a:xfrm>
          <a:prstGeom prst="rect">
            <a:avLst/>
          </a:prstGeom>
        </p:spPr>
      </p:pic>
      <p:sp>
        <p:nvSpPr>
          <p:cNvPr id="151" name="TextBox 150"/>
          <p:cNvSpPr txBox="1"/>
          <p:nvPr/>
        </p:nvSpPr>
        <p:spPr>
          <a:xfrm>
            <a:off x="8849994"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Senior Dog Cognitive Supplement Market Analysis, By Region Volume (MT)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region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1601961"/>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4712970" y="159719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52099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&amp; Africa</a:t>
            </a:r>
          </a:p>
        </p:txBody>
      </p:sp>
      <p:sp>
        <p:nvSpPr>
          <p:cNvPr id="18" name="BPS Value 1"/>
          <p:cNvSpPr txBox="1"/>
          <p:nvPr/>
        </p:nvSpPr>
        <p:spPr>
          <a:xfrm>
            <a:off x="6305550" y="158291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551045" y="1905139"/>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4712970" y="190037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1824176"/>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22" name="BPS Value 2"/>
          <p:cNvSpPr txBox="1"/>
          <p:nvPr/>
        </p:nvSpPr>
        <p:spPr>
          <a:xfrm>
            <a:off x="6305550" y="188608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551045" y="2416363"/>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4712970" y="241160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4855845" y="233540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26" name="BPS Value 3"/>
          <p:cNvSpPr txBox="1"/>
          <p:nvPr/>
        </p:nvSpPr>
        <p:spPr>
          <a:xfrm>
            <a:off x="6305550" y="239731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551045" y="3135268"/>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4712970" y="313050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4855845" y="3054306"/>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30" name="BPS Value 4"/>
          <p:cNvSpPr txBox="1"/>
          <p:nvPr/>
        </p:nvSpPr>
        <p:spPr>
          <a:xfrm>
            <a:off x="6305550" y="311621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551045" y="3907718"/>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4712970" y="390295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4855845" y="3826756"/>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Europe</a:t>
            </a:r>
          </a:p>
        </p:txBody>
      </p:sp>
      <p:sp>
        <p:nvSpPr>
          <p:cNvPr id="34" name="BPS Value 5"/>
          <p:cNvSpPr txBox="1"/>
          <p:nvPr/>
        </p:nvSpPr>
        <p:spPr>
          <a:xfrm>
            <a:off x="6305550" y="388866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551045" y="471919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4712970" y="471443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4855845" y="463823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38" name="BPS Value 6"/>
          <p:cNvSpPr txBox="1"/>
          <p:nvPr/>
        </p:nvSpPr>
        <p:spPr>
          <a:xfrm>
            <a:off x="6305550" y="470014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Rounded Rectangle 38"/>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41" name="Rectangle 40"/>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Rounded Rectangle 42"/>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2000" b="1">
                <a:solidFill>
                  <a:srgbClr val="0E72AE"/>
                </a:solidFill>
                <a:latin typeface="Calibri"/>
              </a:rPr>
              <a:t/>
            </a:r>
          </a:p>
        </p:txBody>
      </p:sp>
      <p:sp>
        <p:nvSpPr>
          <p:cNvPr id="44" name="Rounded Rectangle 43"/>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2000" b="1">
                <a:solidFill>
                  <a:srgbClr val="0E72AE"/>
                </a:solidFill>
                <a:latin typeface="Calibri"/>
              </a:rPr>
              <a:t/>
            </a:r>
          </a:p>
        </p:txBody>
      </p:sp>
      <p:sp>
        <p:nvSpPr>
          <p:cNvPr id="45" name="Rounded Rectangle 44"/>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r>
          </a:p>
        </p:txBody>
      </p:sp>
      <p:sp>
        <p:nvSpPr>
          <p:cNvPr id="46" name="TextBox 4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7" name="Picture 46" descr="lock.png"/>
          <p:cNvPicPr>
            <a:picLocks noChangeAspect="1"/>
          </p:cNvPicPr>
          <p:nvPr/>
        </p:nvPicPr>
        <p:blipFill>
          <a:blip r:embed="rId5"/>
          <a:stretch>
            <a:fillRect/>
          </a:stretch>
        </p:blipFill>
        <p:spPr>
          <a:xfrm>
            <a:off x="2333863" y="3121818"/>
            <a:ext cx="343793" cy="500062"/>
          </a:xfrm>
          <a:prstGeom prst="rect">
            <a:avLst/>
          </a:prstGeom>
        </p:spPr>
      </p:pic>
      <p:pic>
        <p:nvPicPr>
          <p:cNvPr id="48" name="Picture 47" descr="4_4__605E5C.png"/>
          <p:cNvPicPr>
            <a:picLocks noChangeAspect="1"/>
          </p:cNvPicPr>
          <p:nvPr/>
        </p:nvPicPr>
        <p:blipFill>
          <a:blip r:embed="rId6"/>
          <a:stretch>
            <a:fillRect/>
          </a:stretch>
        </p:blipFill>
        <p:spPr>
          <a:xfrm>
            <a:off x="9465355" y="5897562"/>
            <a:ext cx="1309912" cy="482599"/>
          </a:xfrm>
          <a:prstGeom prst="rect">
            <a:avLst/>
          </a:prstGeom>
        </p:spPr>
      </p:pic>
      <p:pic>
        <p:nvPicPr>
          <p:cNvPr id="49" name="Picture 48" descr="lock.png"/>
          <p:cNvPicPr>
            <a:picLocks noChangeAspect="1"/>
          </p:cNvPicPr>
          <p:nvPr/>
        </p:nvPicPr>
        <p:blipFill>
          <a:blip r:embed="rId5"/>
          <a:stretch>
            <a:fillRect/>
          </a:stretch>
        </p:blipFill>
        <p:spPr>
          <a:xfrm>
            <a:off x="10003631" y="5972175"/>
            <a:ext cx="229195" cy="333375"/>
          </a:xfrm>
          <a:prstGeom prst="rect">
            <a:avLst/>
          </a:prstGeom>
        </p:spPr>
      </p:pic>
      <p:sp>
        <p:nvSpPr>
          <p:cNvPr id="50" name="TextBox 49"/>
          <p:cNvSpPr txBox="1"/>
          <p:nvPr/>
        </p:nvSpPr>
        <p:spPr>
          <a:xfrm>
            <a:off x="7239000" y="1400175"/>
            <a:ext cx="4567237" cy="194310"/>
          </a:xfrm>
          <a:prstGeom prst="rect">
            <a:avLst/>
          </a:prstGeom>
          <a:noFill/>
        </p:spPr>
        <p:txBody>
          <a:bodyPr wrap="none" lIns="0" rIns="0" tIns="0" bIns="0">
            <a:spAutoFit/>
          </a:bodyPr>
          <a:lstStyle/>
          <a:p>
            <a:r>
              <a:rPr sz="1150" b="0">
                <a:solidFill>
                  <a:srgbClr val="2E2E2E"/>
                </a:solidFill>
                <a:latin typeface="Calibri"/>
              </a:rPr>
              <a:t>South Asia &amp; Pacific senior dog cognitive supplement market is projected to</a:t>
            </a:r>
          </a:p>
        </p:txBody>
      </p:sp>
      <p:sp>
        <p:nvSpPr>
          <p:cNvPr id="51" name="TextBox 50"/>
          <p:cNvSpPr txBox="1"/>
          <p:nvPr/>
        </p:nvSpPr>
        <p:spPr>
          <a:xfrm>
            <a:off x="7239000" y="1575435"/>
            <a:ext cx="532320" cy="194310"/>
          </a:xfrm>
          <a:prstGeom prst="rect">
            <a:avLst/>
          </a:prstGeom>
          <a:noFill/>
        </p:spPr>
        <p:txBody>
          <a:bodyPr wrap="none" lIns="0" rIns="0" tIns="0" bIns="0">
            <a:spAutoFit/>
          </a:bodyPr>
          <a:lstStyle/>
          <a:p>
            <a:r>
              <a:rPr sz="1150" b="0">
                <a:solidFill>
                  <a:srgbClr val="2E2E2E"/>
                </a:solidFill>
                <a:latin typeface="Calibri"/>
              </a:rPr>
              <a:t>register</a:t>
            </a:r>
          </a:p>
        </p:txBody>
      </p:sp>
      <p:pic>
        <p:nvPicPr>
          <p:cNvPr id="52" name="Picture 51" descr="lock.png"/>
          <p:cNvPicPr>
            <a:picLocks noChangeAspect="1"/>
          </p:cNvPicPr>
          <p:nvPr/>
        </p:nvPicPr>
        <p:blipFill>
          <a:blip r:embed="rId5"/>
          <a:stretch>
            <a:fillRect/>
          </a:stretch>
        </p:blipFill>
        <p:spPr>
          <a:xfrm>
            <a:off x="7720474" y="1565211"/>
            <a:ext cx="134549" cy="195707"/>
          </a:xfrm>
          <a:prstGeom prst="rect">
            <a:avLst/>
          </a:prstGeom>
        </p:spPr>
      </p:pic>
      <p:sp>
        <p:nvSpPr>
          <p:cNvPr id="53" name="TextBox 52"/>
          <p:cNvSpPr txBox="1"/>
          <p:nvPr/>
        </p:nvSpPr>
        <p:spPr>
          <a:xfrm>
            <a:off x="7895584" y="1575435"/>
            <a:ext cx="3428503" cy="194310"/>
          </a:xfrm>
          <a:prstGeom prst="rect">
            <a:avLst/>
          </a:prstGeom>
          <a:noFill/>
        </p:spPr>
        <p:txBody>
          <a:bodyPr wrap="none" lIns="0" rIns="0" tIns="0" bIns="0">
            <a:spAutoFit/>
          </a:bodyPr>
          <a:lstStyle/>
          <a:p>
            <a:r>
              <a:rPr sz="1150" b="0">
                <a:solidFill>
                  <a:srgbClr val="2E2E2E"/>
                </a:solidFill>
                <a:latin typeface="Calibri"/>
              </a:rPr>
              <a:t>X higher volume than Europe in 2036. Among senior dog</a:t>
            </a:r>
          </a:p>
        </p:txBody>
      </p:sp>
      <p:sp>
        <p:nvSpPr>
          <p:cNvPr id="54" name="TextBox 53"/>
          <p:cNvSpPr txBox="1"/>
          <p:nvPr/>
        </p:nvSpPr>
        <p:spPr>
          <a:xfrm>
            <a:off x="7239000" y="1750695"/>
            <a:ext cx="4533577" cy="194310"/>
          </a:xfrm>
          <a:prstGeom prst="rect">
            <a:avLst/>
          </a:prstGeom>
          <a:noFill/>
        </p:spPr>
        <p:txBody>
          <a:bodyPr wrap="none" lIns="0" rIns="0" tIns="0" bIns="0">
            <a:spAutoFit/>
          </a:bodyPr>
          <a:lstStyle/>
          <a:p>
            <a:r>
              <a:rPr sz="1150" b="0">
                <a:solidFill>
                  <a:srgbClr val="2E2E2E"/>
                </a:solidFill>
                <a:latin typeface="Calibri"/>
              </a:rPr>
              <a:t>cognitive supplement by region, South Asia &amp; Pacific is expected to witness</a:t>
            </a:r>
          </a:p>
        </p:txBody>
      </p:sp>
      <p:sp>
        <p:nvSpPr>
          <p:cNvPr id="55" name="TextBox 54"/>
          <p:cNvSpPr txBox="1"/>
          <p:nvPr/>
        </p:nvSpPr>
        <p:spPr>
          <a:xfrm>
            <a:off x="7239000" y="1925955"/>
            <a:ext cx="1263979" cy="194310"/>
          </a:xfrm>
          <a:prstGeom prst="rect">
            <a:avLst/>
          </a:prstGeom>
          <a:noFill/>
        </p:spPr>
        <p:txBody>
          <a:bodyPr wrap="none" lIns="0" rIns="0" tIns="0" bIns="0">
            <a:spAutoFit/>
          </a:bodyPr>
          <a:lstStyle/>
          <a:p>
            <a:r>
              <a:rPr sz="1150" b="0">
                <a:solidFill>
                  <a:srgbClr val="2E2E2E"/>
                </a:solidFill>
                <a:latin typeface="Calibri"/>
              </a:rPr>
              <a:t>the highest CAGR of</a:t>
            </a:r>
          </a:p>
        </p:txBody>
      </p:sp>
      <p:pic>
        <p:nvPicPr>
          <p:cNvPr id="56" name="Picture 55" descr="lock.png"/>
          <p:cNvPicPr>
            <a:picLocks noChangeAspect="1"/>
          </p:cNvPicPr>
          <p:nvPr/>
        </p:nvPicPr>
        <p:blipFill>
          <a:blip r:embed="rId5"/>
          <a:stretch>
            <a:fillRect/>
          </a:stretch>
        </p:blipFill>
        <p:spPr>
          <a:xfrm>
            <a:off x="8452133" y="1915731"/>
            <a:ext cx="134549" cy="195707"/>
          </a:xfrm>
          <a:prstGeom prst="rect">
            <a:avLst/>
          </a:prstGeom>
        </p:spPr>
      </p:pic>
      <p:sp>
        <p:nvSpPr>
          <p:cNvPr id="57" name="TextBox 56"/>
          <p:cNvSpPr txBox="1"/>
          <p:nvPr/>
        </p:nvSpPr>
        <p:spPr>
          <a:xfrm>
            <a:off x="8627242" y="192595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58" name="TextBox 57"/>
          <p:cNvSpPr txBox="1"/>
          <p:nvPr/>
        </p:nvSpPr>
        <p:spPr>
          <a:xfrm>
            <a:off x="7239000" y="2153793"/>
            <a:ext cx="4252602" cy="194310"/>
          </a:xfrm>
          <a:prstGeom prst="rect">
            <a:avLst/>
          </a:prstGeom>
          <a:noFill/>
        </p:spPr>
        <p:txBody>
          <a:bodyPr wrap="none" lIns="0" rIns="0" tIns="0" bIns="0">
            <a:spAutoFit/>
          </a:bodyPr>
          <a:lstStyle/>
          <a:p>
            <a:r>
              <a:rPr sz="1150" b="0">
                <a:solidFill>
                  <a:srgbClr val="2E2E2E"/>
                </a:solidFill>
                <a:latin typeface="Calibri"/>
              </a:rPr>
              <a:t>In terms of volume share by region, South Asia &amp; Pacific is expected to</a:t>
            </a:r>
          </a:p>
        </p:txBody>
      </p:sp>
      <p:sp>
        <p:nvSpPr>
          <p:cNvPr id="59" name="TextBox 58"/>
          <p:cNvSpPr txBox="1"/>
          <p:nvPr/>
        </p:nvSpPr>
        <p:spPr>
          <a:xfrm>
            <a:off x="7239000" y="2329053"/>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60" name="Picture 59" descr="lock.png"/>
          <p:cNvPicPr>
            <a:picLocks noChangeAspect="1"/>
          </p:cNvPicPr>
          <p:nvPr/>
        </p:nvPicPr>
        <p:blipFill>
          <a:blip r:embed="rId5"/>
          <a:stretch>
            <a:fillRect/>
          </a:stretch>
        </p:blipFill>
        <p:spPr>
          <a:xfrm>
            <a:off x="9025226" y="2318829"/>
            <a:ext cx="134549" cy="195707"/>
          </a:xfrm>
          <a:prstGeom prst="rect">
            <a:avLst/>
          </a:prstGeom>
        </p:spPr>
      </p:pic>
      <p:sp>
        <p:nvSpPr>
          <p:cNvPr id="61" name="TextBox 60"/>
          <p:cNvSpPr txBox="1"/>
          <p:nvPr/>
        </p:nvSpPr>
        <p:spPr>
          <a:xfrm>
            <a:off x="9200335"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2" name="Picture 61" descr="lock.png"/>
          <p:cNvPicPr>
            <a:picLocks noChangeAspect="1"/>
          </p:cNvPicPr>
          <p:nvPr/>
        </p:nvPicPr>
        <p:blipFill>
          <a:blip r:embed="rId5"/>
          <a:stretch>
            <a:fillRect/>
          </a:stretch>
        </p:blipFill>
        <p:spPr>
          <a:xfrm>
            <a:off x="10595478" y="2318829"/>
            <a:ext cx="134549" cy="195707"/>
          </a:xfrm>
          <a:prstGeom prst="rect">
            <a:avLst/>
          </a:prstGeom>
        </p:spPr>
      </p:pic>
      <p:sp>
        <p:nvSpPr>
          <p:cNvPr id="63" name="TextBox 62"/>
          <p:cNvSpPr txBox="1"/>
          <p:nvPr/>
        </p:nvSpPr>
        <p:spPr>
          <a:xfrm>
            <a:off x="10770588"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4" name="TextBox 63"/>
          <p:cNvSpPr txBox="1"/>
          <p:nvPr/>
        </p:nvSpPr>
        <p:spPr>
          <a:xfrm>
            <a:off x="7239000" y="2504313"/>
            <a:ext cx="2083531" cy="194310"/>
          </a:xfrm>
          <a:prstGeom prst="rect">
            <a:avLst/>
          </a:prstGeom>
          <a:noFill/>
        </p:spPr>
        <p:txBody>
          <a:bodyPr wrap="none" lIns="0" rIns="0" tIns="0" bIns="0">
            <a:spAutoFit/>
          </a:bodyPr>
          <a:lstStyle/>
          <a:p>
            <a:r>
              <a:rPr sz="1150" b="0">
                <a:solidFill>
                  <a:srgbClr val="2E2E2E"/>
                </a:solidFill>
                <a:latin typeface="Calibri"/>
              </a:rPr>
              <a:t>North America is expected to lose</a:t>
            </a:r>
          </a:p>
        </p:txBody>
      </p:sp>
      <p:pic>
        <p:nvPicPr>
          <p:cNvPr id="65" name="Picture 64" descr="lock.png"/>
          <p:cNvPicPr>
            <a:picLocks noChangeAspect="1"/>
          </p:cNvPicPr>
          <p:nvPr/>
        </p:nvPicPr>
        <p:blipFill>
          <a:blip r:embed="rId5"/>
          <a:stretch>
            <a:fillRect/>
          </a:stretch>
        </p:blipFill>
        <p:spPr>
          <a:xfrm>
            <a:off x="9271685" y="2494089"/>
            <a:ext cx="134549" cy="195707"/>
          </a:xfrm>
          <a:prstGeom prst="rect">
            <a:avLst/>
          </a:prstGeom>
        </p:spPr>
      </p:pic>
      <p:sp>
        <p:nvSpPr>
          <p:cNvPr id="66" name="TextBox 65"/>
          <p:cNvSpPr txBox="1"/>
          <p:nvPr/>
        </p:nvSpPr>
        <p:spPr>
          <a:xfrm>
            <a:off x="9446794" y="2504313"/>
            <a:ext cx="1926356" cy="194310"/>
          </a:xfrm>
          <a:prstGeom prst="rect">
            <a:avLst/>
          </a:prstGeom>
          <a:noFill/>
        </p:spPr>
        <p:txBody>
          <a:bodyPr wrap="none" lIns="0" rIns="0" tIns="0" bIns="0">
            <a:spAutoFit/>
          </a:bodyPr>
          <a:lstStyle/>
          <a:p>
            <a:r>
              <a:rPr sz="1150" b="0">
                <a:solidFill>
                  <a:srgbClr val="2E2E2E"/>
                </a:solidFill>
                <a:latin typeface="Calibri"/>
              </a:rPr>
              <a:t>BPS over the forecast period to</a:t>
            </a:r>
          </a:p>
        </p:txBody>
      </p:sp>
      <p:sp>
        <p:nvSpPr>
          <p:cNvPr id="67" name="TextBox 66"/>
          <p:cNvSpPr txBox="1"/>
          <p:nvPr/>
        </p:nvSpPr>
        <p:spPr>
          <a:xfrm>
            <a:off x="7239000" y="2679573"/>
            <a:ext cx="755104" cy="194310"/>
          </a:xfrm>
          <a:prstGeom prst="rect">
            <a:avLst/>
          </a:prstGeom>
          <a:noFill/>
        </p:spPr>
        <p:txBody>
          <a:bodyPr wrap="none" lIns="0" rIns="0" tIns="0" bIns="0">
            <a:spAutoFit/>
          </a:bodyPr>
          <a:lstStyle/>
          <a:p>
            <a:r>
              <a:rPr sz="1150" b="0">
                <a:solidFill>
                  <a:srgbClr val="2E2E2E"/>
                </a:solidFill>
                <a:latin typeface="Calibri"/>
              </a:rPr>
              <a:t>account for</a:t>
            </a:r>
          </a:p>
        </p:txBody>
      </p:sp>
      <p:pic>
        <p:nvPicPr>
          <p:cNvPr id="68" name="Picture 67" descr="lock.png"/>
          <p:cNvPicPr>
            <a:picLocks noChangeAspect="1"/>
          </p:cNvPicPr>
          <p:nvPr/>
        </p:nvPicPr>
        <p:blipFill>
          <a:blip r:embed="rId5"/>
          <a:stretch>
            <a:fillRect/>
          </a:stretch>
        </p:blipFill>
        <p:spPr>
          <a:xfrm>
            <a:off x="7943258" y="2669349"/>
            <a:ext cx="134549" cy="195707"/>
          </a:xfrm>
          <a:prstGeom prst="rect">
            <a:avLst/>
          </a:prstGeom>
        </p:spPr>
      </p:pic>
      <p:sp>
        <p:nvSpPr>
          <p:cNvPr id="69" name="TextBox 68"/>
          <p:cNvSpPr txBox="1"/>
          <p:nvPr/>
        </p:nvSpPr>
        <p:spPr>
          <a:xfrm>
            <a:off x="8118367"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70" name="TextBox 69"/>
          <p:cNvSpPr txBox="1"/>
          <p:nvPr/>
        </p:nvSpPr>
        <p:spPr>
          <a:xfrm>
            <a:off x="1613208" y="5877496"/>
            <a:ext cx="1078882" cy="186689"/>
          </a:xfrm>
          <a:prstGeom prst="rect">
            <a:avLst/>
          </a:prstGeom>
          <a:noFill/>
        </p:spPr>
        <p:txBody>
          <a:bodyPr wrap="none" lIns="0" rIns="0" tIns="0" bIns="0">
            <a:spAutoFit/>
          </a:bodyPr>
          <a:lstStyle/>
          <a:p>
            <a:r>
              <a:rPr sz="1100" b="1">
                <a:solidFill>
                  <a:srgbClr val="6C7A89"/>
                </a:solidFill>
                <a:latin typeface="Calibri"/>
              </a:rPr>
              <a:t>2026 TOTAL (MT)</a:t>
            </a:r>
          </a:p>
        </p:txBody>
      </p:sp>
      <p:pic>
        <p:nvPicPr>
          <p:cNvPr id="71" name="Picture 70" descr="lock.png"/>
          <p:cNvPicPr>
            <a:picLocks noChangeAspect="1"/>
          </p:cNvPicPr>
          <p:nvPr/>
        </p:nvPicPr>
        <p:blipFill>
          <a:blip r:embed="rId5"/>
          <a:stretch>
            <a:fillRect/>
          </a:stretch>
        </p:blipFill>
        <p:spPr>
          <a:xfrm>
            <a:off x="1984327" y="6077648"/>
            <a:ext cx="233998" cy="340360"/>
          </a:xfrm>
          <a:prstGeom prst="rect">
            <a:avLst/>
          </a:prstGeom>
        </p:spPr>
      </p:pic>
      <p:sp>
        <p:nvSpPr>
          <p:cNvPr id="72" name="TextBox 71"/>
          <p:cNvSpPr txBox="1"/>
          <p:nvPr/>
        </p:nvSpPr>
        <p:spPr>
          <a:xfrm>
            <a:off x="5647046" y="5877496"/>
            <a:ext cx="1078882" cy="186689"/>
          </a:xfrm>
          <a:prstGeom prst="rect">
            <a:avLst/>
          </a:prstGeom>
          <a:noFill/>
        </p:spPr>
        <p:txBody>
          <a:bodyPr wrap="none" lIns="0" rIns="0" tIns="0" bIns="0">
            <a:spAutoFit/>
          </a:bodyPr>
          <a:lstStyle/>
          <a:p>
            <a:r>
              <a:rPr sz="1100" b="1">
                <a:solidFill>
                  <a:srgbClr val="6C7A89"/>
                </a:solidFill>
                <a:latin typeface="Calibri"/>
              </a:rPr>
              <a:t>2036 TOTAL (MT)</a:t>
            </a:r>
          </a:p>
        </p:txBody>
      </p:sp>
      <p:pic>
        <p:nvPicPr>
          <p:cNvPr id="73" name="Picture 72" descr="lock.png"/>
          <p:cNvPicPr>
            <a:picLocks noChangeAspect="1"/>
          </p:cNvPicPr>
          <p:nvPr/>
        </p:nvPicPr>
        <p:blipFill>
          <a:blip r:embed="rId5"/>
          <a:stretch>
            <a:fillRect/>
          </a:stretch>
        </p:blipFill>
        <p:spPr>
          <a:xfrm>
            <a:off x="6018165" y="6077648"/>
            <a:ext cx="233998" cy="340360"/>
          </a:xfrm>
          <a:prstGeom prst="rect">
            <a:avLst/>
          </a:prstGeom>
        </p:spPr>
      </p:pic>
      <p:sp>
        <p:nvSpPr>
          <p:cNvPr id="74"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Senior Dog Cognitive Supplement Market Analysis, By Region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region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1589309"/>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4712970" y="158454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508347"/>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&amp; Africa</a:t>
            </a:r>
          </a:p>
        </p:txBody>
      </p:sp>
      <p:sp>
        <p:nvSpPr>
          <p:cNvPr id="18" name="BPS Value 1"/>
          <p:cNvSpPr txBox="1"/>
          <p:nvPr/>
        </p:nvSpPr>
        <p:spPr>
          <a:xfrm>
            <a:off x="6305550" y="157025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551045" y="1874294"/>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4712970" y="186953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1793331"/>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22" name="BPS Value 2"/>
          <p:cNvSpPr txBox="1"/>
          <p:nvPr/>
        </p:nvSpPr>
        <p:spPr>
          <a:xfrm>
            <a:off x="6305550" y="185524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551045" y="2265936"/>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4712970" y="226117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4855845" y="218497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26" name="BPS Value 3"/>
          <p:cNvSpPr txBox="1"/>
          <p:nvPr/>
        </p:nvSpPr>
        <p:spPr>
          <a:xfrm>
            <a:off x="6305550" y="224688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551045" y="2738945"/>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4712970" y="273418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4855845" y="265798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30" name="BPS Value 4"/>
          <p:cNvSpPr txBox="1"/>
          <p:nvPr/>
        </p:nvSpPr>
        <p:spPr>
          <a:xfrm>
            <a:off x="6305550" y="271989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551045" y="3500518"/>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4712970" y="349575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4855845" y="341955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Europe</a:t>
            </a:r>
          </a:p>
        </p:txBody>
      </p:sp>
      <p:sp>
        <p:nvSpPr>
          <p:cNvPr id="34" name="BPS Value 5"/>
          <p:cNvSpPr txBox="1"/>
          <p:nvPr/>
        </p:nvSpPr>
        <p:spPr>
          <a:xfrm>
            <a:off x="6305550" y="348146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FMI Legend Chip"/>
          <p:cNvSpPr/>
          <p:nvPr/>
        </p:nvSpPr>
        <p:spPr>
          <a:xfrm>
            <a:off x="4551045" y="4576087"/>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rot="10800000">
            <a:off x="4712970" y="457132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4855845" y="449512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38" name="BPS Value 6"/>
          <p:cNvSpPr txBox="1"/>
          <p:nvPr/>
        </p:nvSpPr>
        <p:spPr>
          <a:xfrm>
            <a:off x="6305550" y="455703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9" name="Rounded Rectangle 38"/>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41" name="Rectangle 40"/>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Rounded Rectangle 42"/>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0E72AE"/>
                </a:solidFill>
                <a:latin typeface="Calibri"/>
              </a:rPr>
              <a:t/>
            </a:r>
          </a:p>
        </p:txBody>
      </p:sp>
      <p:sp>
        <p:nvSpPr>
          <p:cNvPr id="44" name="Rounded Rectangle 43"/>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0E72AE"/>
                </a:solidFill>
                <a:latin typeface="Calibri"/>
              </a:rPr>
              <a:t/>
            </a:r>
          </a:p>
        </p:txBody>
      </p:sp>
      <p:sp>
        <p:nvSpPr>
          <p:cNvPr id="45" name="Rounded Rectangle 44"/>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r>
          </a:p>
        </p:txBody>
      </p:sp>
      <p:sp>
        <p:nvSpPr>
          <p:cNvPr id="46" name="TextBox 4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7" name="Picture 46" descr="lock.png"/>
          <p:cNvPicPr>
            <a:picLocks noChangeAspect="1"/>
          </p:cNvPicPr>
          <p:nvPr/>
        </p:nvPicPr>
        <p:blipFill>
          <a:blip r:embed="rId5"/>
          <a:stretch>
            <a:fillRect/>
          </a:stretch>
        </p:blipFill>
        <p:spPr>
          <a:xfrm>
            <a:off x="2333863" y="3121818"/>
            <a:ext cx="343793" cy="500062"/>
          </a:xfrm>
          <a:prstGeom prst="rect">
            <a:avLst/>
          </a:prstGeom>
        </p:spPr>
      </p:pic>
      <p:pic>
        <p:nvPicPr>
          <p:cNvPr id="48" name="Picture 47" descr="10_900_605E5C.png"/>
          <p:cNvPicPr>
            <a:picLocks noChangeAspect="1"/>
          </p:cNvPicPr>
          <p:nvPr/>
        </p:nvPicPr>
        <p:blipFill>
          <a:blip r:embed="rId6"/>
          <a:stretch>
            <a:fillRect/>
          </a:stretch>
        </p:blipFill>
        <p:spPr>
          <a:xfrm>
            <a:off x="1175203" y="5897562"/>
            <a:ext cx="1878689" cy="482599"/>
          </a:xfrm>
          <a:prstGeom prst="rect">
            <a:avLst/>
          </a:prstGeom>
        </p:spPr>
      </p:pic>
      <p:pic>
        <p:nvPicPr>
          <p:cNvPr id="49" name="Picture 48" descr="17_746_605E5C.png"/>
          <p:cNvPicPr>
            <a:picLocks noChangeAspect="1"/>
          </p:cNvPicPr>
          <p:nvPr/>
        </p:nvPicPr>
        <p:blipFill>
          <a:blip r:embed="rId7"/>
          <a:stretch>
            <a:fillRect/>
          </a:stretch>
        </p:blipFill>
        <p:spPr>
          <a:xfrm>
            <a:off x="5209041" y="5897562"/>
            <a:ext cx="1878689" cy="482599"/>
          </a:xfrm>
          <a:prstGeom prst="rect">
            <a:avLst/>
          </a:prstGeom>
        </p:spPr>
      </p:pic>
      <p:pic>
        <p:nvPicPr>
          <p:cNvPr id="50" name="Picture 49" descr="5_0__605E5C.png"/>
          <p:cNvPicPr>
            <a:picLocks noChangeAspect="1"/>
          </p:cNvPicPr>
          <p:nvPr/>
        </p:nvPicPr>
        <p:blipFill>
          <a:blip r:embed="rId8"/>
          <a:stretch>
            <a:fillRect/>
          </a:stretch>
        </p:blipFill>
        <p:spPr>
          <a:xfrm>
            <a:off x="9465355" y="5897562"/>
            <a:ext cx="1309912" cy="482599"/>
          </a:xfrm>
          <a:prstGeom prst="rect">
            <a:avLst/>
          </a:prstGeom>
        </p:spPr>
      </p:pic>
      <p:pic>
        <p:nvPicPr>
          <p:cNvPr id="51" name="Picture 50" descr="lock.png"/>
          <p:cNvPicPr>
            <a:picLocks noChangeAspect="1"/>
          </p:cNvPicPr>
          <p:nvPr/>
        </p:nvPicPr>
        <p:blipFill>
          <a:blip r:embed="rId5"/>
          <a:stretch>
            <a:fillRect/>
          </a:stretch>
        </p:blipFill>
        <p:spPr>
          <a:xfrm>
            <a:off x="5914657" y="5893409"/>
            <a:ext cx="337498" cy="490906"/>
          </a:xfrm>
          <a:prstGeom prst="rect">
            <a:avLst/>
          </a:prstGeom>
        </p:spPr>
      </p:pic>
      <p:sp>
        <p:nvSpPr>
          <p:cNvPr id="52" name="TextBox 51"/>
          <p:cNvSpPr txBox="1"/>
          <p:nvPr/>
        </p:nvSpPr>
        <p:spPr>
          <a:xfrm>
            <a:off x="7239000" y="1400175"/>
            <a:ext cx="4267435" cy="194310"/>
          </a:xfrm>
          <a:prstGeom prst="rect">
            <a:avLst/>
          </a:prstGeom>
          <a:noFill/>
        </p:spPr>
        <p:txBody>
          <a:bodyPr wrap="none" lIns="0" rIns="0" tIns="0" bIns="0">
            <a:spAutoFit/>
          </a:bodyPr>
          <a:lstStyle/>
          <a:p>
            <a:r>
              <a:rPr sz="1150" b="0">
                <a:solidFill>
                  <a:srgbClr val="2E2E2E"/>
                </a:solidFill>
                <a:latin typeface="Calibri"/>
              </a:rPr>
              <a:t>North America senior dog cognitive supplement market is projected to</a:t>
            </a:r>
          </a:p>
        </p:txBody>
      </p:sp>
      <p:sp>
        <p:nvSpPr>
          <p:cNvPr id="53" name="TextBox 52"/>
          <p:cNvSpPr txBox="1"/>
          <p:nvPr/>
        </p:nvSpPr>
        <p:spPr>
          <a:xfrm>
            <a:off x="7239000" y="1575435"/>
            <a:ext cx="532320" cy="194310"/>
          </a:xfrm>
          <a:prstGeom prst="rect">
            <a:avLst/>
          </a:prstGeom>
          <a:noFill/>
        </p:spPr>
        <p:txBody>
          <a:bodyPr wrap="none" lIns="0" rIns="0" tIns="0" bIns="0">
            <a:spAutoFit/>
          </a:bodyPr>
          <a:lstStyle/>
          <a:p>
            <a:r>
              <a:rPr sz="1150" b="0">
                <a:solidFill>
                  <a:srgbClr val="2E2E2E"/>
                </a:solidFill>
                <a:latin typeface="Calibri"/>
              </a:rPr>
              <a:t>register</a:t>
            </a:r>
          </a:p>
        </p:txBody>
      </p:sp>
      <p:pic>
        <p:nvPicPr>
          <p:cNvPr id="54" name="Picture 53" descr="lock.png"/>
          <p:cNvPicPr>
            <a:picLocks noChangeAspect="1"/>
          </p:cNvPicPr>
          <p:nvPr/>
        </p:nvPicPr>
        <p:blipFill>
          <a:blip r:embed="rId5"/>
          <a:stretch>
            <a:fillRect/>
          </a:stretch>
        </p:blipFill>
        <p:spPr>
          <a:xfrm>
            <a:off x="7720474" y="1565211"/>
            <a:ext cx="134549" cy="195707"/>
          </a:xfrm>
          <a:prstGeom prst="rect">
            <a:avLst/>
          </a:prstGeom>
        </p:spPr>
      </p:pic>
      <p:sp>
        <p:nvSpPr>
          <p:cNvPr id="55" name="TextBox 54"/>
          <p:cNvSpPr txBox="1"/>
          <p:nvPr/>
        </p:nvSpPr>
        <p:spPr>
          <a:xfrm>
            <a:off x="7895584" y="1575435"/>
            <a:ext cx="3877208" cy="194310"/>
          </a:xfrm>
          <a:prstGeom prst="rect">
            <a:avLst/>
          </a:prstGeom>
          <a:noFill/>
        </p:spPr>
        <p:txBody>
          <a:bodyPr wrap="none" lIns="0" rIns="0" tIns="0" bIns="0">
            <a:spAutoFit/>
          </a:bodyPr>
          <a:lstStyle/>
          <a:p>
            <a:r>
              <a:rPr sz="1150" b="0">
                <a:solidFill>
                  <a:srgbClr val="2E2E2E"/>
                </a:solidFill>
                <a:latin typeface="Calibri"/>
              </a:rPr>
              <a:t>X higher value than Europe in 2036. Among senior dog cognitive</a:t>
            </a:r>
          </a:p>
        </p:txBody>
      </p:sp>
      <p:sp>
        <p:nvSpPr>
          <p:cNvPr id="56" name="TextBox 55"/>
          <p:cNvSpPr txBox="1"/>
          <p:nvPr/>
        </p:nvSpPr>
        <p:spPr>
          <a:xfrm>
            <a:off x="7239000" y="1750695"/>
            <a:ext cx="4648200" cy="194310"/>
          </a:xfrm>
          <a:prstGeom prst="rect">
            <a:avLst/>
          </a:prstGeom>
          <a:noFill/>
        </p:spPr>
        <p:txBody>
          <a:bodyPr wrap="none" lIns="0" rIns="0" tIns="0" bIns="0">
            <a:spAutoFit/>
          </a:bodyPr>
          <a:lstStyle/>
          <a:p>
            <a:r>
              <a:rPr sz="1150" b="0">
                <a:solidFill>
                  <a:srgbClr val="2E2E2E"/>
                </a:solidFill>
                <a:latin typeface="Calibri"/>
              </a:rPr>
              <a:t>supplement by region, South Asia &amp; Pacific is expected to witness the highest</a:t>
            </a:r>
          </a:p>
        </p:txBody>
      </p:sp>
      <p:sp>
        <p:nvSpPr>
          <p:cNvPr id="57" name="TextBox 56"/>
          <p:cNvSpPr txBox="1"/>
          <p:nvPr/>
        </p:nvSpPr>
        <p:spPr>
          <a:xfrm>
            <a:off x="7239000" y="1925955"/>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58" name="Picture 57" descr="lock.png"/>
          <p:cNvPicPr>
            <a:picLocks noChangeAspect="1"/>
          </p:cNvPicPr>
          <p:nvPr/>
        </p:nvPicPr>
        <p:blipFill>
          <a:blip r:embed="rId5"/>
          <a:stretch>
            <a:fillRect/>
          </a:stretch>
        </p:blipFill>
        <p:spPr>
          <a:xfrm>
            <a:off x="7752690" y="1915731"/>
            <a:ext cx="134549" cy="195707"/>
          </a:xfrm>
          <a:prstGeom prst="rect">
            <a:avLst/>
          </a:prstGeom>
        </p:spPr>
      </p:pic>
      <p:sp>
        <p:nvSpPr>
          <p:cNvPr id="59" name="TextBox 58"/>
          <p:cNvSpPr txBox="1"/>
          <p:nvPr/>
        </p:nvSpPr>
        <p:spPr>
          <a:xfrm>
            <a:off x="7927800" y="192595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60" name="TextBox 59"/>
          <p:cNvSpPr txBox="1"/>
          <p:nvPr/>
        </p:nvSpPr>
        <p:spPr>
          <a:xfrm>
            <a:off x="7239000" y="2153793"/>
            <a:ext cx="4648200"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a:t>
            </a:r>
          </a:p>
        </p:txBody>
      </p:sp>
      <p:sp>
        <p:nvSpPr>
          <p:cNvPr id="61" name="TextBox 60"/>
          <p:cNvSpPr txBox="1"/>
          <p:nvPr/>
        </p:nvSpPr>
        <p:spPr>
          <a:xfrm>
            <a:off x="7239000" y="232905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62" name="Picture 61" descr="lock.png"/>
          <p:cNvPicPr>
            <a:picLocks noChangeAspect="1"/>
          </p:cNvPicPr>
          <p:nvPr/>
        </p:nvPicPr>
        <p:blipFill>
          <a:blip r:embed="rId5"/>
          <a:stretch>
            <a:fillRect/>
          </a:stretch>
        </p:blipFill>
        <p:spPr>
          <a:xfrm>
            <a:off x="8106708" y="2318829"/>
            <a:ext cx="134549" cy="195707"/>
          </a:xfrm>
          <a:prstGeom prst="rect">
            <a:avLst/>
          </a:prstGeom>
        </p:spPr>
      </p:pic>
      <p:sp>
        <p:nvSpPr>
          <p:cNvPr id="63" name="TextBox 62"/>
          <p:cNvSpPr txBox="1"/>
          <p:nvPr/>
        </p:nvSpPr>
        <p:spPr>
          <a:xfrm>
            <a:off x="8281817"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4" name="Picture 63" descr="lock.png"/>
          <p:cNvPicPr>
            <a:picLocks noChangeAspect="1"/>
          </p:cNvPicPr>
          <p:nvPr/>
        </p:nvPicPr>
        <p:blipFill>
          <a:blip r:embed="rId5"/>
          <a:stretch>
            <a:fillRect/>
          </a:stretch>
        </p:blipFill>
        <p:spPr>
          <a:xfrm>
            <a:off x="9676961" y="2318829"/>
            <a:ext cx="134549" cy="195707"/>
          </a:xfrm>
          <a:prstGeom prst="rect">
            <a:avLst/>
          </a:prstGeom>
        </p:spPr>
      </p:pic>
      <p:sp>
        <p:nvSpPr>
          <p:cNvPr id="65" name="TextBox 64"/>
          <p:cNvSpPr txBox="1"/>
          <p:nvPr/>
        </p:nvSpPr>
        <p:spPr>
          <a:xfrm>
            <a:off x="9852070"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6"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Senior Dog Cognitive Supplement Market Share Analysis, By Region Volume (MT)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region, 2021–2036, highlighting the geographies gaining and ceding ground</a:t>
            </a:r>
          </a:p>
        </p:txBody>
      </p:sp>
      <p:sp>
        <p:nvSpPr>
          <p:cNvPr id="10" name="Rounded Rectangle 9"/>
          <p:cNvSpPr/>
          <p:nvPr/>
        </p:nvSpPr>
        <p:spPr>
          <a:xfrm>
            <a:off x="142875" y="981075"/>
            <a:ext cx="11906250" cy="3019425"/>
          </a:xfrm>
          <a:prstGeom prst="roundRect">
            <a:avLst>
              <a:gd name="adj" fmla="val 25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(MT)</a:t>
            </a:r>
          </a:p>
        </p:txBody>
      </p:sp>
      <p:graphicFrame>
        <p:nvGraphicFramePr>
          <p:cNvPr id="12" name="Table 11"/>
          <p:cNvGraphicFramePr>
            <a:graphicFrameLocks noGrp="1"/>
          </p:cNvGraphicFramePr>
          <p:nvPr/>
        </p:nvGraphicFramePr>
        <p:xfrm>
          <a:off x="152400" y="1238250"/>
          <a:ext cx="11892680" cy="2552698"/>
        </p:xfrm>
        <a:graphic>
          <a:graphicData uri="http://schemas.openxmlformats.org/drawingml/2006/table">
            <a:tbl>
              <a:tblPr>
                <a:tableStyleId>{5C22544A-7EE6-4342-B048-85BDC9FD1C3A}</a:tableStyleId>
              </a:tblPr>
              <a:tblGrid>
                <a:gridCol w="1388836"/>
                <a:gridCol w="632064"/>
                <a:gridCol w="632064"/>
                <a:gridCol w="632064"/>
                <a:gridCol w="632064"/>
                <a:gridCol w="632064"/>
                <a:gridCol w="632064"/>
                <a:gridCol w="632064"/>
                <a:gridCol w="632064"/>
                <a:gridCol w="632064"/>
                <a:gridCol w="632064"/>
                <a:gridCol w="632064"/>
                <a:gridCol w="632064"/>
                <a:gridCol w="632064"/>
                <a:gridCol w="632064"/>
                <a:gridCol w="632064"/>
                <a:gridCol w="632064"/>
                <a:gridCol w="390820"/>
              </a:tblGrid>
              <a:tr h="438912">
                <a:tc>
                  <a:txBody>
                    <a:bodyPr wrap="none"/>
                    <a:lstStyle/>
                    <a:p>
                      <a:pPr algn="l"/>
                      <a:r>
                        <a:rPr sz="1100" b="1">
                          <a:solidFill>
                            <a:srgbClr val="0B2E4A"/>
                          </a:solidFill>
                          <a:latin typeface="Calibri"/>
                        </a:rPr>
                        <a:t>Region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2021A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2022A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2023A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2024A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2025A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2027F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2028F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2029F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2030F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2031F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2032F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2033F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2034F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2035F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F-CAGR</a:t>
                      </a:r>
                      <a:endParaRPr sz="1100"/>
                    </a:p>
                  </a:txBody>
                  <a:tcPr marL="19050" marR="14288" marT="19050" marB="19050" anchor="ctr">
                    <a:solidFill>
                      <a:srgbClr val="E0E8EF"/>
                    </a:solidFill>
                  </a:tcPr>
                </a:tc>
              </a:tr>
              <a:tr h="246888">
                <a:tc>
                  <a:txBody>
                    <a:bodyPr wrap="none"/>
                    <a:lstStyle/>
                    <a:p>
                      <a:pPr algn="l"/>
                      <a:r>
                        <a:rPr sz="1100" b="1">
                          <a:solidFill>
                            <a:srgbClr val="2E2E2E"/>
                          </a:solidFill>
                          <a:latin typeface="Calibri"/>
                        </a:rPr>
                        <a:t>North America</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888">
                <a:tc>
                  <a:txBody>
                    <a:bodyPr wrap="none"/>
                    <a:lstStyle/>
                    <a:p>
                      <a:pPr algn="l"/>
                      <a:r>
                        <a:rPr sz="1100" b="1">
                          <a:solidFill>
                            <a:srgbClr val="2E2E2E"/>
                          </a:solidFill>
                          <a:latin typeface="Calibri"/>
                        </a:rPr>
                        <a:t>Latin America</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246888">
                <a:tc>
                  <a:txBody>
                    <a:bodyPr wrap="none"/>
                    <a:lstStyle/>
                    <a:p>
                      <a:pPr algn="l"/>
                      <a:r>
                        <a:rPr sz="1100" b="1">
                          <a:solidFill>
                            <a:srgbClr val="2E2E2E"/>
                          </a:solidFill>
                          <a:latin typeface="Calibri"/>
                        </a:rPr>
                        <a:t>Europe</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888">
                <a:tc>
                  <a:txBody>
                    <a:bodyPr wrap="none"/>
                    <a:lstStyle/>
                    <a:p>
                      <a:pPr algn="l"/>
                      <a:r>
                        <a:rPr sz="1100" b="1">
                          <a:solidFill>
                            <a:srgbClr val="2E2E2E"/>
                          </a:solidFill>
                          <a:latin typeface="Calibri"/>
                        </a:rPr>
                        <a:t>East Asia</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439673">
                <a:tc>
                  <a:txBody>
                    <a:bodyPr wrap="none"/>
                    <a:lstStyle/>
                    <a:p>
                      <a:pPr algn="l"/>
                      <a:r>
                        <a:rPr sz="1100" b="1">
                          <a:solidFill>
                            <a:srgbClr val="2E2E2E"/>
                          </a:solidFill>
                          <a:latin typeface="Calibri"/>
                        </a:rPr>
                        <a:t>South Asia &amp;</a:t>
                      </a:r>
                      <a:endParaRPr sz="1100"/>
                    </a:p>
                    <a:p>
                      <a:pPr algn="l"/>
                      <a:r>
                        <a:rPr sz="1100" b="1">
                          <a:solidFill>
                            <a:srgbClr val="2E2E2E"/>
                          </a:solidFill>
                          <a:latin typeface="Calibri"/>
                        </a:rPr>
                        <a:t>Pacific</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39673">
                <a:tc>
                  <a:txBody>
                    <a:bodyPr wrap="none"/>
                    <a:lstStyle/>
                    <a:p>
                      <a:pPr algn="l"/>
                      <a:r>
                        <a:rPr sz="1100" b="1">
                          <a:solidFill>
                            <a:srgbClr val="2E2E2E"/>
                          </a:solidFill>
                          <a:latin typeface="Calibri"/>
                        </a:rPr>
                        <a:t>Middle East &amp;</a:t>
                      </a:r>
                      <a:endParaRPr sz="1100"/>
                    </a:p>
                    <a:p>
                      <a:pPr algn="l"/>
                      <a:r>
                        <a:rPr sz="1100" b="1">
                          <a:solidFill>
                            <a:srgbClr val="2E2E2E"/>
                          </a:solidFill>
                          <a:latin typeface="Calibri"/>
                        </a:rPr>
                        <a:t>Africa</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246888">
                <a:tc>
                  <a:txBody>
                    <a:bodyPr wrap="none"/>
                    <a:lstStyle/>
                    <a:p>
                      <a:pPr algn="l"/>
                      <a:r>
                        <a:rPr sz="1100" b="1">
                          <a:solidFill>
                            <a:srgbClr val="2E2E2E"/>
                          </a:solidFill>
                          <a:latin typeface="Calibri"/>
                        </a:rPr>
                        <a:t>Total</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r>
            </a:tbl>
          </a:graphicData>
        </a:graphic>
      </p:graphicFrame>
      <p:sp>
        <p:nvSpPr>
          <p:cNvPr id="13" name="TextBox 12"/>
          <p:cNvSpPr txBox="1"/>
          <p:nvPr/>
        </p:nvSpPr>
        <p:spPr>
          <a:xfrm>
            <a:off x="219075" y="38004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133850"/>
            <a:ext cx="11906250" cy="2495550"/>
          </a:xfrm>
          <a:prstGeom prst="roundRect">
            <a:avLst>
              <a:gd name="adj" fmla="val 305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2195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Share Read-out, By Region</a:t>
            </a:r>
          </a:p>
        </p:txBody>
      </p:sp>
      <p:sp>
        <p:nvSpPr>
          <p:cNvPr id="16" name="Rectangle 15"/>
          <p:cNvSpPr/>
          <p:nvPr/>
        </p:nvSpPr>
        <p:spPr>
          <a:xfrm>
            <a:off x="276225" y="44577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543425"/>
            <a:ext cx="11639550" cy="20097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29244" y="2467355"/>
            <a:ext cx="366712" cy="533400"/>
          </a:xfrm>
          <a:prstGeom prst="rect">
            <a:avLst/>
          </a:prstGeom>
        </p:spPr>
      </p:pic>
      <p:sp>
        <p:nvSpPr>
          <p:cNvPr id="20" name="TextBox 19"/>
          <p:cNvSpPr txBox="1"/>
          <p:nvPr/>
        </p:nvSpPr>
        <p:spPr>
          <a:xfrm>
            <a:off x="276225" y="4552950"/>
            <a:ext cx="5056447" cy="194310"/>
          </a:xfrm>
          <a:prstGeom prst="rect">
            <a:avLst/>
          </a:prstGeom>
          <a:noFill/>
        </p:spPr>
        <p:txBody>
          <a:bodyPr wrap="none" lIns="0" rIns="0" tIns="0" bIns="0">
            <a:spAutoFit/>
          </a:bodyPr>
          <a:lstStyle/>
          <a:p>
            <a:r>
              <a:rPr sz="1150" b="0">
                <a:solidFill>
                  <a:srgbClr val="2E2E2E"/>
                </a:solidFill>
                <a:latin typeface="Calibri"/>
              </a:rPr>
              <a:t>South Asia &amp; Pacific senior dog cognitive supplement market is projected to register</a:t>
            </a:r>
          </a:p>
        </p:txBody>
      </p:sp>
      <p:pic>
        <p:nvPicPr>
          <p:cNvPr id="21" name="Picture 20" descr="lock.png"/>
          <p:cNvPicPr>
            <a:picLocks noChangeAspect="1"/>
          </p:cNvPicPr>
          <p:nvPr/>
        </p:nvPicPr>
        <p:blipFill>
          <a:blip r:embed="rId4"/>
          <a:stretch>
            <a:fillRect/>
          </a:stretch>
        </p:blipFill>
        <p:spPr>
          <a:xfrm>
            <a:off x="5281826" y="4542726"/>
            <a:ext cx="134549" cy="195707"/>
          </a:xfrm>
          <a:prstGeom prst="rect">
            <a:avLst/>
          </a:prstGeom>
        </p:spPr>
      </p:pic>
      <p:sp>
        <p:nvSpPr>
          <p:cNvPr id="22" name="TextBox 21"/>
          <p:cNvSpPr txBox="1"/>
          <p:nvPr/>
        </p:nvSpPr>
        <p:spPr>
          <a:xfrm>
            <a:off x="5456936" y="4552950"/>
            <a:ext cx="6158954" cy="194310"/>
          </a:xfrm>
          <a:prstGeom prst="rect">
            <a:avLst/>
          </a:prstGeom>
          <a:noFill/>
        </p:spPr>
        <p:txBody>
          <a:bodyPr wrap="none" lIns="0" rIns="0" tIns="0" bIns="0">
            <a:spAutoFit/>
          </a:bodyPr>
          <a:lstStyle/>
          <a:p>
            <a:r>
              <a:rPr sz="1150" b="0">
                <a:solidFill>
                  <a:srgbClr val="2E2E2E"/>
                </a:solidFill>
                <a:latin typeface="Calibri"/>
              </a:rPr>
              <a:t>X higher volume than Europe in 2036. Among senior dog cognitive supplement by region, South Asia &amp;</a:t>
            </a:r>
          </a:p>
        </p:txBody>
      </p:sp>
      <p:sp>
        <p:nvSpPr>
          <p:cNvPr id="23" name="TextBox 22"/>
          <p:cNvSpPr txBox="1"/>
          <p:nvPr/>
        </p:nvSpPr>
        <p:spPr>
          <a:xfrm>
            <a:off x="276225" y="4728210"/>
            <a:ext cx="3023996" cy="194310"/>
          </a:xfrm>
          <a:prstGeom prst="rect">
            <a:avLst/>
          </a:prstGeom>
          <a:noFill/>
        </p:spPr>
        <p:txBody>
          <a:bodyPr wrap="none" lIns="0" rIns="0" tIns="0" bIns="0">
            <a:spAutoFit/>
          </a:bodyPr>
          <a:lstStyle/>
          <a:p>
            <a:r>
              <a:rPr sz="1150" b="0">
                <a:solidFill>
                  <a:srgbClr val="2E2E2E"/>
                </a:solidFill>
                <a:latin typeface="Calibri"/>
              </a:rPr>
              <a:t>Pacific is expected to witness the highest CAGR of</a:t>
            </a:r>
          </a:p>
        </p:txBody>
      </p:sp>
      <p:pic>
        <p:nvPicPr>
          <p:cNvPr id="24" name="Picture 23" descr="lock.png"/>
          <p:cNvPicPr>
            <a:picLocks noChangeAspect="1"/>
          </p:cNvPicPr>
          <p:nvPr/>
        </p:nvPicPr>
        <p:blipFill>
          <a:blip r:embed="rId4"/>
          <a:stretch>
            <a:fillRect/>
          </a:stretch>
        </p:blipFill>
        <p:spPr>
          <a:xfrm>
            <a:off x="3249374" y="4717986"/>
            <a:ext cx="134549" cy="195707"/>
          </a:xfrm>
          <a:prstGeom prst="rect">
            <a:avLst/>
          </a:prstGeom>
        </p:spPr>
      </p:pic>
      <p:sp>
        <p:nvSpPr>
          <p:cNvPr id="25" name="TextBox 24"/>
          <p:cNvSpPr txBox="1"/>
          <p:nvPr/>
        </p:nvSpPr>
        <p:spPr>
          <a:xfrm>
            <a:off x="3424484" y="47282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956047"/>
            <a:ext cx="6046564" cy="194310"/>
          </a:xfrm>
          <a:prstGeom prst="rect">
            <a:avLst/>
          </a:prstGeom>
          <a:noFill/>
        </p:spPr>
        <p:txBody>
          <a:bodyPr wrap="none" lIns="0" rIns="0" tIns="0" bIns="0">
            <a:spAutoFit/>
          </a:bodyPr>
          <a:lstStyle/>
          <a:p>
            <a:r>
              <a:rPr sz="1150" b="0">
                <a:solidFill>
                  <a:srgbClr val="2E2E2E"/>
                </a:solidFill>
                <a:latin typeface="Calibri"/>
              </a:rPr>
              <a:t>In terms of volume share by region, South Asia &amp; Pacific is expected to dominate the market, gaining</a:t>
            </a:r>
          </a:p>
        </p:txBody>
      </p:sp>
      <p:pic>
        <p:nvPicPr>
          <p:cNvPr id="27" name="Picture 26" descr="lock.png"/>
          <p:cNvPicPr>
            <a:picLocks noChangeAspect="1"/>
          </p:cNvPicPr>
          <p:nvPr/>
        </p:nvPicPr>
        <p:blipFill>
          <a:blip r:embed="rId4"/>
          <a:stretch>
            <a:fillRect/>
          </a:stretch>
        </p:blipFill>
        <p:spPr>
          <a:xfrm>
            <a:off x="6271943" y="4945824"/>
            <a:ext cx="134549" cy="195707"/>
          </a:xfrm>
          <a:prstGeom prst="rect">
            <a:avLst/>
          </a:prstGeom>
        </p:spPr>
      </p:pic>
      <p:sp>
        <p:nvSpPr>
          <p:cNvPr id="28" name="TextBox 27"/>
          <p:cNvSpPr txBox="1"/>
          <p:nvPr/>
        </p:nvSpPr>
        <p:spPr>
          <a:xfrm>
            <a:off x="6447052" y="49560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842195" y="4945824"/>
            <a:ext cx="134549" cy="195707"/>
          </a:xfrm>
          <a:prstGeom prst="rect">
            <a:avLst/>
          </a:prstGeom>
        </p:spPr>
      </p:pic>
      <p:sp>
        <p:nvSpPr>
          <p:cNvPr id="30" name="TextBox 29"/>
          <p:cNvSpPr txBox="1"/>
          <p:nvPr/>
        </p:nvSpPr>
        <p:spPr>
          <a:xfrm>
            <a:off x="8017304" y="4956047"/>
            <a:ext cx="2986645" cy="194310"/>
          </a:xfrm>
          <a:prstGeom prst="rect">
            <a:avLst/>
          </a:prstGeom>
          <a:noFill/>
        </p:spPr>
        <p:txBody>
          <a:bodyPr wrap="none" lIns="0" rIns="0" tIns="0" bIns="0">
            <a:spAutoFit/>
          </a:bodyPr>
          <a:lstStyle/>
          <a:p>
            <a:r>
              <a:rPr sz="1150" b="0">
                <a:solidFill>
                  <a:srgbClr val="2E2E2E"/>
                </a:solidFill>
                <a:latin typeface="Calibri"/>
              </a:rPr>
              <a:t>share by 2036. North America is expected to lose</a:t>
            </a:r>
          </a:p>
        </p:txBody>
      </p:sp>
      <p:pic>
        <p:nvPicPr>
          <p:cNvPr id="31" name="Picture 30" descr="lock.png"/>
          <p:cNvPicPr>
            <a:picLocks noChangeAspect="1"/>
          </p:cNvPicPr>
          <p:nvPr/>
        </p:nvPicPr>
        <p:blipFill>
          <a:blip r:embed="rId4"/>
          <a:stretch>
            <a:fillRect/>
          </a:stretch>
        </p:blipFill>
        <p:spPr>
          <a:xfrm>
            <a:off x="10953104" y="4945824"/>
            <a:ext cx="134549" cy="195707"/>
          </a:xfrm>
          <a:prstGeom prst="rect">
            <a:avLst/>
          </a:prstGeom>
        </p:spPr>
      </p:pic>
      <p:sp>
        <p:nvSpPr>
          <p:cNvPr id="32" name="TextBox 31"/>
          <p:cNvSpPr txBox="1"/>
          <p:nvPr/>
        </p:nvSpPr>
        <p:spPr>
          <a:xfrm>
            <a:off x="11128213" y="4956047"/>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33" name="TextBox 32"/>
          <p:cNvSpPr txBox="1"/>
          <p:nvPr/>
        </p:nvSpPr>
        <p:spPr>
          <a:xfrm>
            <a:off x="276225" y="5131307"/>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34" name="Picture 33" descr="lock.png"/>
          <p:cNvPicPr>
            <a:picLocks noChangeAspect="1"/>
          </p:cNvPicPr>
          <p:nvPr/>
        </p:nvPicPr>
        <p:blipFill>
          <a:blip r:embed="rId4"/>
          <a:stretch>
            <a:fillRect/>
          </a:stretch>
        </p:blipFill>
        <p:spPr>
          <a:xfrm>
            <a:off x="2608427" y="5121084"/>
            <a:ext cx="134549" cy="195707"/>
          </a:xfrm>
          <a:prstGeom prst="rect">
            <a:avLst/>
          </a:prstGeom>
        </p:spPr>
      </p:pic>
      <p:sp>
        <p:nvSpPr>
          <p:cNvPr id="35" name="TextBox 34"/>
          <p:cNvSpPr txBox="1"/>
          <p:nvPr/>
        </p:nvSpPr>
        <p:spPr>
          <a:xfrm>
            <a:off x="2783536" y="51313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Senior Dog Cognitive Supplement Market Share Analysis, By Region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region, 2021–2036, highlighting the geographies gaining and ceding ground</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(US$ Mn)</a:t>
            </a:r>
          </a:p>
        </p:txBody>
      </p:sp>
      <p:graphicFrame>
        <p:nvGraphicFramePr>
          <p:cNvPr id="12" name="Table 11"/>
          <p:cNvGraphicFramePr>
            <a:graphicFrameLocks noGrp="1"/>
          </p:cNvGraphicFramePr>
          <p:nvPr/>
        </p:nvGraphicFramePr>
        <p:xfrm>
          <a:off x="152400" y="1238250"/>
          <a:ext cx="11887195" cy="1971675"/>
        </p:xfrm>
        <a:graphic>
          <a:graphicData uri="http://schemas.openxmlformats.org/drawingml/2006/table">
            <a:tbl>
              <a:tblPr>
                <a:tableStyleId>{5C22544A-7EE6-4342-B048-85BDC9FD1C3A}</a:tableStyleId>
              </a:tblPr>
              <a:tblGrid>
                <a:gridCol w="1475375"/>
                <a:gridCol w="612460"/>
                <a:gridCol w="612460"/>
                <a:gridCol w="612460"/>
                <a:gridCol w="612460"/>
                <a:gridCol w="612460"/>
                <a:gridCol w="612460"/>
                <a:gridCol w="612460"/>
                <a:gridCol w="612460"/>
                <a:gridCol w="612460"/>
                <a:gridCol w="612460"/>
                <a:gridCol w="612460"/>
                <a:gridCol w="612460"/>
                <a:gridCol w="612460"/>
                <a:gridCol w="612460"/>
                <a:gridCol w="612460"/>
                <a:gridCol w="612460"/>
                <a:gridCol w="612460"/>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Share Read-out, By Region</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646995" y="2080450"/>
            <a:ext cx="366712" cy="533400"/>
          </a:xfrm>
          <a:prstGeom prst="rect">
            <a:avLst/>
          </a:prstGeom>
        </p:spPr>
      </p:pic>
      <p:sp>
        <p:nvSpPr>
          <p:cNvPr id="20" name="TextBox 19"/>
          <p:cNvSpPr txBox="1"/>
          <p:nvPr/>
        </p:nvSpPr>
        <p:spPr>
          <a:xfrm>
            <a:off x="276225" y="3971925"/>
            <a:ext cx="4756646" cy="194310"/>
          </a:xfrm>
          <a:prstGeom prst="rect">
            <a:avLst/>
          </a:prstGeom>
          <a:noFill/>
        </p:spPr>
        <p:txBody>
          <a:bodyPr wrap="none" lIns="0" rIns="0" tIns="0" bIns="0">
            <a:spAutoFit/>
          </a:bodyPr>
          <a:lstStyle/>
          <a:p>
            <a:r>
              <a:rPr sz="1150" b="0">
                <a:solidFill>
                  <a:srgbClr val="2E2E2E"/>
                </a:solidFill>
                <a:latin typeface="Calibri"/>
              </a:rPr>
              <a:t>North America senior dog cognitive supplement market is projected to register</a:t>
            </a:r>
          </a:p>
        </p:txBody>
      </p:sp>
      <p:pic>
        <p:nvPicPr>
          <p:cNvPr id="21" name="Picture 20" descr="lock.png"/>
          <p:cNvPicPr>
            <a:picLocks noChangeAspect="1"/>
          </p:cNvPicPr>
          <p:nvPr/>
        </p:nvPicPr>
        <p:blipFill>
          <a:blip r:embed="rId4"/>
          <a:stretch>
            <a:fillRect/>
          </a:stretch>
        </p:blipFill>
        <p:spPr>
          <a:xfrm>
            <a:off x="4982025" y="3961701"/>
            <a:ext cx="134549" cy="195707"/>
          </a:xfrm>
          <a:prstGeom prst="rect">
            <a:avLst/>
          </a:prstGeom>
        </p:spPr>
      </p:pic>
      <p:sp>
        <p:nvSpPr>
          <p:cNvPr id="22" name="TextBox 21"/>
          <p:cNvSpPr txBox="1"/>
          <p:nvPr/>
        </p:nvSpPr>
        <p:spPr>
          <a:xfrm>
            <a:off x="5157134" y="3971925"/>
            <a:ext cx="6573142" cy="194310"/>
          </a:xfrm>
          <a:prstGeom prst="rect">
            <a:avLst/>
          </a:prstGeom>
          <a:noFill/>
        </p:spPr>
        <p:txBody>
          <a:bodyPr wrap="none" lIns="0" rIns="0" tIns="0" bIns="0">
            <a:spAutoFit/>
          </a:bodyPr>
          <a:lstStyle/>
          <a:p>
            <a:r>
              <a:rPr sz="1150" b="0">
                <a:solidFill>
                  <a:srgbClr val="2E2E2E"/>
                </a:solidFill>
                <a:latin typeface="Calibri"/>
              </a:rPr>
              <a:t>X higher value than Europe in 2036. Among senior dog cognitive supplement by region, South Asia &amp; Pacific is</a:t>
            </a:r>
          </a:p>
        </p:txBody>
      </p:sp>
      <p:sp>
        <p:nvSpPr>
          <p:cNvPr id="23" name="TextBox 22"/>
          <p:cNvSpPr txBox="1"/>
          <p:nvPr/>
        </p:nvSpPr>
        <p:spPr>
          <a:xfrm>
            <a:off x="276225" y="414718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24" name="Picture 23" descr="lock.png"/>
          <p:cNvPicPr>
            <a:picLocks noChangeAspect="1"/>
          </p:cNvPicPr>
          <p:nvPr/>
        </p:nvPicPr>
        <p:blipFill>
          <a:blip r:embed="rId4"/>
          <a:stretch>
            <a:fillRect/>
          </a:stretch>
        </p:blipFill>
        <p:spPr>
          <a:xfrm>
            <a:off x="2711386" y="4136961"/>
            <a:ext cx="134549" cy="195707"/>
          </a:xfrm>
          <a:prstGeom prst="rect">
            <a:avLst/>
          </a:prstGeom>
        </p:spPr>
      </p:pic>
      <p:sp>
        <p:nvSpPr>
          <p:cNvPr id="25" name="TextBox 24"/>
          <p:cNvSpPr txBox="1"/>
          <p:nvPr/>
        </p:nvSpPr>
        <p:spPr>
          <a:xfrm>
            <a:off x="2886495"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5541664"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 market, losing</a:t>
            </a:r>
          </a:p>
        </p:txBody>
      </p:sp>
      <p:pic>
        <p:nvPicPr>
          <p:cNvPr id="27" name="Picture 26" descr="lock.png"/>
          <p:cNvPicPr>
            <a:picLocks noChangeAspect="1"/>
          </p:cNvPicPr>
          <p:nvPr/>
        </p:nvPicPr>
        <p:blipFill>
          <a:blip r:embed="rId4"/>
          <a:stretch>
            <a:fillRect/>
          </a:stretch>
        </p:blipFill>
        <p:spPr>
          <a:xfrm>
            <a:off x="5767043" y="4364799"/>
            <a:ext cx="134549" cy="195707"/>
          </a:xfrm>
          <a:prstGeom prst="rect">
            <a:avLst/>
          </a:prstGeom>
        </p:spPr>
      </p:pic>
      <p:sp>
        <p:nvSpPr>
          <p:cNvPr id="28" name="TextBox 27"/>
          <p:cNvSpPr txBox="1"/>
          <p:nvPr/>
        </p:nvSpPr>
        <p:spPr>
          <a:xfrm>
            <a:off x="5942153"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337296" y="4364799"/>
            <a:ext cx="134549" cy="195707"/>
          </a:xfrm>
          <a:prstGeom prst="rect">
            <a:avLst/>
          </a:prstGeom>
        </p:spPr>
      </p:pic>
      <p:sp>
        <p:nvSpPr>
          <p:cNvPr id="30" name="TextBox 29"/>
          <p:cNvSpPr txBox="1"/>
          <p:nvPr/>
        </p:nvSpPr>
        <p:spPr>
          <a:xfrm>
            <a:off x="7512405" y="437502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Senior Dog Cognitive Supplement Market Trends, By Region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regional volume and value shares shift over 2021–2036, highlighting who gains ground</a:t>
            </a:r>
          </a:p>
        </p:txBody>
      </p:sp>
      <p:sp>
        <p:nvSpPr>
          <p:cNvPr id="10" name="Rounded Rectangle 9"/>
          <p:cNvSpPr/>
          <p:nvPr/>
        </p:nvSpPr>
        <p:spPr>
          <a:xfrm>
            <a:off x="142875" y="981075"/>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Region (MT)</a:t>
            </a:r>
          </a:p>
        </p:txBody>
      </p:sp>
      <p:graphicFrame>
        <p:nvGraphicFramePr>
          <p:cNvPr id="12" name="Chart 11"/>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9763125" y="1304925"/>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MI Dense Legend"/>
          <p:cNvSpPr txBox="1"/>
          <p:nvPr/>
        </p:nvSpPr>
        <p:spPr>
          <a:xfrm>
            <a:off x="9839325" y="1362075"/>
            <a:ext cx="2057400" cy="171450"/>
          </a:xfrm>
          <a:prstGeom prst="rect">
            <a:avLst/>
          </a:prstGeom>
          <a:noFill/>
        </p:spPr>
        <p:txBody>
          <a:bodyPr wrap="none">
            <a:spAutoFit/>
          </a:bodyPr>
          <a:lstStyle/>
          <a:p>
            <a:pPr/>
            <a:r>
              <a:rPr sz="850" b="1">
                <a:solidFill>
                  <a:srgbClr val="6C7A89"/>
                </a:solidFill>
                <a:latin typeface="Calibri"/>
              </a:rPr>
              <a:t/>
            </a:r>
          </a:p>
        </p:txBody>
      </p:sp>
      <p:sp>
        <p:nvSpPr>
          <p:cNvPr id="15" name="FMI Dense Legend"/>
          <p:cNvSpPr txBox="1"/>
          <p:nvPr/>
        </p:nvSpPr>
        <p:spPr>
          <a:xfrm>
            <a:off x="9839325" y="1533525"/>
            <a:ext cx="2057400" cy="2047875"/>
          </a:xfrm>
          <a:prstGeom prst="rect">
            <a:avLst/>
          </a:prstGeom>
          <a:noFill/>
        </p:spPr>
        <p:txBody>
          <a:bodyPr wrap="square">
            <a:spAutoFit/>
          </a:bodyPr>
          <a:lstStyle/>
          <a:p>
            <a:pPr>
              <a:spcBef>
                <a:spcPts val="500"/>
              </a:spcBef>
            </a:pPr>
            <a:r>
              <a:rPr sz="900">
                <a:solidFill>
                  <a:srgbClr val="008189"/>
                </a:solidFill>
                <a:latin typeface="Calibri"/>
              </a:rPr>
              <a:t>■  </a:t>
            </a:r>
            <a:r>
              <a:rPr sz="750">
                <a:solidFill>
                  <a:srgbClr val="2E2E2E"/>
                </a:solidFill>
                <a:latin typeface="Calibri"/>
              </a:rPr>
              <a:t>   South Asia &amp; Pacific</a:t>
            </a:r>
          </a:p>
          <a:p>
            <a:pPr>
              <a:spcBef>
                <a:spcPts val="500"/>
              </a:spcBef>
            </a:pPr>
            <a:r>
              <a:rPr sz="900">
                <a:solidFill>
                  <a:srgbClr val="9E7E0A"/>
                </a:solidFill>
                <a:latin typeface="Calibri"/>
              </a:rPr>
              <a:t>■  </a:t>
            </a:r>
            <a:r>
              <a:rPr sz="750">
                <a:solidFill>
                  <a:srgbClr val="2E2E2E"/>
                </a:solidFill>
                <a:latin typeface="Calibri"/>
              </a:rPr>
              <a:t>   Europe</a:t>
            </a:r>
          </a:p>
          <a:p>
            <a:pPr>
              <a:spcBef>
                <a:spcPts val="500"/>
              </a:spcBef>
            </a:pPr>
            <a:r>
              <a:rPr sz="900">
                <a:solidFill>
                  <a:srgbClr val="3D85C6"/>
                </a:solidFill>
                <a:latin typeface="Calibri"/>
              </a:rPr>
              <a:t>■  </a:t>
            </a:r>
            <a:r>
              <a:rPr sz="750">
                <a:solidFill>
                  <a:srgbClr val="2E2E2E"/>
                </a:solidFill>
                <a:latin typeface="Calibri"/>
              </a:rPr>
              <a:t>   North America</a:t>
            </a:r>
          </a:p>
          <a:p>
            <a:pPr>
              <a:spcBef>
                <a:spcPts val="500"/>
              </a:spcBef>
            </a:pPr>
            <a:r>
              <a:rPr sz="900">
                <a:solidFill>
                  <a:srgbClr val="40315E"/>
                </a:solidFill>
                <a:latin typeface="Calibri"/>
              </a:rPr>
              <a:t>■  </a:t>
            </a:r>
            <a:r>
              <a:rPr sz="750">
                <a:solidFill>
                  <a:srgbClr val="2E2E2E"/>
                </a:solidFill>
                <a:latin typeface="Calibri"/>
              </a:rPr>
              <a:t>   East Asia</a:t>
            </a:r>
          </a:p>
          <a:p>
            <a:pPr>
              <a:spcBef>
                <a:spcPts val="500"/>
              </a:spcBef>
            </a:pPr>
            <a:r>
              <a:rPr sz="900">
                <a:solidFill>
                  <a:srgbClr val="A35313"/>
                </a:solidFill>
                <a:latin typeface="Calibri"/>
              </a:rPr>
              <a:t>■  </a:t>
            </a:r>
            <a:r>
              <a:rPr sz="750">
                <a:solidFill>
                  <a:srgbClr val="2E2E2E"/>
                </a:solidFill>
                <a:latin typeface="Calibri"/>
              </a:rPr>
              <a:t>   Latin America</a:t>
            </a:r>
          </a:p>
          <a:p>
            <a:pPr>
              <a:spcBef>
                <a:spcPts val="500"/>
              </a:spcBef>
            </a:pPr>
            <a:r>
              <a:rPr sz="900">
                <a:solidFill>
                  <a:srgbClr val="808080"/>
                </a:solidFill>
                <a:latin typeface="Calibri"/>
              </a:rPr>
              <a:t>■  </a:t>
            </a:r>
            <a:r>
              <a:rPr sz="750">
                <a:solidFill>
                  <a:srgbClr val="2E2E2E"/>
                </a:solidFill>
                <a:latin typeface="Calibri"/>
              </a:rPr>
              <a:t>   Middle East &amp; Africa</a:t>
            </a:r>
          </a:p>
        </p:txBody>
      </p:sp>
      <p:sp>
        <p:nvSpPr>
          <p:cNvPr id="16" name="Rounded Rectangle 15"/>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Region (US$ Mn)</a:t>
            </a:r>
          </a:p>
        </p:txBody>
      </p:sp>
      <p:graphicFrame>
        <p:nvGraphicFramePr>
          <p:cNvPr id="18" name="Chart 17"/>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r:id="rId4"/>
          </a:graphicData>
        </a:graphic>
      </p:graphicFrame>
      <p:sp>
        <p:nvSpPr>
          <p:cNvPr id="19" name="Rounded Rectangle 18"/>
          <p:cNvSpPr/>
          <p:nvPr/>
        </p:nvSpPr>
        <p:spPr>
          <a:xfrm>
            <a:off x="9763125" y="4191000"/>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MI Dense Legend"/>
          <p:cNvSpPr txBox="1"/>
          <p:nvPr/>
        </p:nvSpPr>
        <p:spPr>
          <a:xfrm>
            <a:off x="9839325" y="4248150"/>
            <a:ext cx="2057400" cy="171450"/>
          </a:xfrm>
          <a:prstGeom prst="rect">
            <a:avLst/>
          </a:prstGeom>
          <a:noFill/>
        </p:spPr>
        <p:txBody>
          <a:bodyPr wrap="none">
            <a:spAutoFit/>
          </a:bodyPr>
          <a:lstStyle/>
          <a:p>
            <a:pPr/>
            <a:r>
              <a:rPr sz="850" b="1">
                <a:solidFill>
                  <a:srgbClr val="6C7A89"/>
                </a:solidFill>
                <a:latin typeface="Calibri"/>
              </a:rPr>
              <a:t/>
            </a:r>
          </a:p>
        </p:txBody>
      </p:sp>
      <p:sp>
        <p:nvSpPr>
          <p:cNvPr id="21" name="FMI Dense Legend"/>
          <p:cNvSpPr txBox="1"/>
          <p:nvPr/>
        </p:nvSpPr>
        <p:spPr>
          <a:xfrm>
            <a:off x="9839325" y="4419600"/>
            <a:ext cx="2057400" cy="2047875"/>
          </a:xfrm>
          <a:prstGeom prst="rect">
            <a:avLst/>
          </a:prstGeom>
          <a:noFill/>
        </p:spPr>
        <p:txBody>
          <a:bodyPr wrap="square">
            <a:spAutoFit/>
          </a:bodyPr>
          <a:lstStyle/>
          <a:p>
            <a:pPr>
              <a:spcBef>
                <a:spcPts val="500"/>
              </a:spcBef>
            </a:pPr>
            <a:r>
              <a:rPr sz="900">
                <a:solidFill>
                  <a:srgbClr val="3D85C6"/>
                </a:solidFill>
                <a:latin typeface="Calibri"/>
              </a:rPr>
              <a:t>■  </a:t>
            </a:r>
            <a:r>
              <a:rPr sz="750">
                <a:solidFill>
                  <a:srgbClr val="2E2E2E"/>
                </a:solidFill>
                <a:latin typeface="Calibri"/>
              </a:rPr>
              <a:t>   North America</a:t>
            </a:r>
          </a:p>
          <a:p>
            <a:pPr>
              <a:spcBef>
                <a:spcPts val="500"/>
              </a:spcBef>
            </a:pPr>
            <a:r>
              <a:rPr sz="900">
                <a:solidFill>
                  <a:srgbClr val="9E7E0A"/>
                </a:solidFill>
                <a:latin typeface="Calibri"/>
              </a:rPr>
              <a:t>■  </a:t>
            </a:r>
            <a:r>
              <a:rPr sz="750">
                <a:solidFill>
                  <a:srgbClr val="2E2E2E"/>
                </a:solidFill>
                <a:latin typeface="Calibri"/>
              </a:rPr>
              <a:t>   Europe</a:t>
            </a:r>
          </a:p>
          <a:p>
            <a:pPr>
              <a:spcBef>
                <a:spcPts val="500"/>
              </a:spcBef>
            </a:pPr>
            <a:r>
              <a:rPr sz="900">
                <a:solidFill>
                  <a:srgbClr val="40315E"/>
                </a:solidFill>
                <a:latin typeface="Calibri"/>
              </a:rPr>
              <a:t>■  </a:t>
            </a:r>
            <a:r>
              <a:rPr sz="750">
                <a:solidFill>
                  <a:srgbClr val="2E2E2E"/>
                </a:solidFill>
                <a:latin typeface="Calibri"/>
              </a:rPr>
              <a:t>   South Asia &amp; Pacific</a:t>
            </a:r>
          </a:p>
          <a:p>
            <a:pPr>
              <a:spcBef>
                <a:spcPts val="500"/>
              </a:spcBef>
            </a:pPr>
            <a:r>
              <a:rPr sz="900">
                <a:solidFill>
                  <a:srgbClr val="008189"/>
                </a:solidFill>
                <a:latin typeface="Calibri"/>
              </a:rPr>
              <a:t>■  </a:t>
            </a:r>
            <a:r>
              <a:rPr sz="750">
                <a:solidFill>
                  <a:srgbClr val="2E2E2E"/>
                </a:solidFill>
                <a:latin typeface="Calibri"/>
              </a:rPr>
              <a:t>   East Asia</a:t>
            </a:r>
          </a:p>
          <a:p>
            <a:pPr>
              <a:spcBef>
                <a:spcPts val="500"/>
              </a:spcBef>
            </a:pPr>
            <a:r>
              <a:rPr sz="900">
                <a:solidFill>
                  <a:srgbClr val="A35313"/>
                </a:solidFill>
                <a:latin typeface="Calibri"/>
              </a:rPr>
              <a:t>■  </a:t>
            </a:r>
            <a:r>
              <a:rPr sz="750">
                <a:solidFill>
                  <a:srgbClr val="2E2E2E"/>
                </a:solidFill>
                <a:latin typeface="Calibri"/>
              </a:rPr>
              <a:t>   Latin America</a:t>
            </a:r>
          </a:p>
          <a:p>
            <a:pPr>
              <a:spcBef>
                <a:spcPts val="500"/>
              </a:spcBef>
            </a:pPr>
            <a:r>
              <a:rPr sz="900">
                <a:solidFill>
                  <a:srgbClr val="808080"/>
                </a:solidFill>
                <a:latin typeface="Calibri"/>
              </a:rPr>
              <a:t>■  </a:t>
            </a:r>
            <a:r>
              <a:rPr sz="750">
                <a:solidFill>
                  <a:srgbClr val="2E2E2E"/>
                </a:solidFill>
                <a:latin typeface="Calibri"/>
              </a:rPr>
              <a:t>   Middle East &amp; Africa</a:t>
            </a: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3" name="TextBox 22"/>
          <p:cNvSpPr txBox="1"/>
          <p:nvPr/>
        </p:nvSpPr>
        <p:spPr>
          <a:xfrm>
            <a:off x="9930765" y="1407795"/>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4" name="TextBox 23"/>
          <p:cNvSpPr txBox="1"/>
          <p:nvPr/>
        </p:nvSpPr>
        <p:spPr>
          <a:xfrm>
            <a:off x="9930765" y="4293870"/>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5" name="lockshield_12"/>
          <p:cNvSpPr/>
          <p:nvPr/>
        </p:nvSpPr>
        <p:spPr>
          <a:xfrm>
            <a:off x="238125" y="1266825"/>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8"/>
          <p:cNvSpPr/>
          <p:nvPr/>
        </p:nvSpPr>
        <p:spPr>
          <a:xfrm>
            <a:off x="238125" y="4152900"/>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Senior Dog Cognitive Supplement Market Top 10 Countries (2036)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global market in 2036, highlighting the leading countries within each region by value</a:t>
            </a:r>
          </a:p>
        </p:txBody>
      </p:sp>
      <p:sp>
        <p:nvSpPr>
          <p:cNvPr id="10" name="Rounded Rectangle 9"/>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by country  ·  2036 (US$ Mn)  ·  tile size = market value</a:t>
            </a:r>
          </a:p>
        </p:txBody>
      </p:sp>
      <p:sp>
        <p:nvSpPr>
          <p:cNvPr id="12" name="Rectangle 11"/>
          <p:cNvSpPr/>
          <p:nvPr/>
        </p:nvSpPr>
        <p:spPr>
          <a:xfrm>
            <a:off x="238125" y="1266825"/>
            <a:ext cx="3210971" cy="5305425"/>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3" name="Rectangle 12"/>
          <p:cNvSpPr/>
          <p:nvPr/>
        </p:nvSpPr>
        <p:spPr>
          <a:xfrm>
            <a:off x="3449096" y="1266825"/>
            <a:ext cx="3403312" cy="2887119"/>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Germany</a:t>
            </a:r>
          </a:p>
          <a:p>
            <a:pPr algn="ctr"/>
            <a:r>
              <a:rPr sz="1100" b="0">
                <a:solidFill>
                  <a:srgbClr val="FFFFFF"/>
                </a:solidFill>
                <a:latin typeface="Calibri"/>
              </a:rPr>
              <a:t> </a:t>
            </a:r>
          </a:p>
        </p:txBody>
      </p:sp>
      <p:sp>
        <p:nvSpPr>
          <p:cNvPr id="14" name="Rectangle 13"/>
          <p:cNvSpPr/>
          <p:nvPr/>
        </p:nvSpPr>
        <p:spPr>
          <a:xfrm>
            <a:off x="3449096" y="4153944"/>
            <a:ext cx="3403312" cy="2418306"/>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5" name="Rectangle 14"/>
          <p:cNvSpPr/>
          <p:nvPr/>
        </p:nvSpPr>
        <p:spPr>
          <a:xfrm>
            <a:off x="6852408" y="1266825"/>
            <a:ext cx="2895416" cy="2186057"/>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16" name="Rectangle 15"/>
          <p:cNvSpPr/>
          <p:nvPr/>
        </p:nvSpPr>
        <p:spPr>
          <a:xfrm>
            <a:off x="9747824" y="1266825"/>
            <a:ext cx="2206051" cy="2186057"/>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17" name="Rectangle 16"/>
          <p:cNvSpPr/>
          <p:nvPr/>
        </p:nvSpPr>
        <p:spPr>
          <a:xfrm>
            <a:off x="6852408" y="3452882"/>
            <a:ext cx="2561697" cy="1778163"/>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Brazil</a:t>
            </a:r>
          </a:p>
          <a:p>
            <a:pPr algn="ctr"/>
            <a:r>
              <a:rPr sz="1100" b="0">
                <a:solidFill>
                  <a:srgbClr val="FFFFFF"/>
                </a:solidFill>
                <a:latin typeface="Calibri"/>
              </a:rPr>
              <a:t> </a:t>
            </a:r>
          </a:p>
        </p:txBody>
      </p:sp>
      <p:sp>
        <p:nvSpPr>
          <p:cNvPr id="18" name="Rectangle 17"/>
          <p:cNvSpPr/>
          <p:nvPr/>
        </p:nvSpPr>
        <p:spPr>
          <a:xfrm>
            <a:off x="6852408" y="5231045"/>
            <a:ext cx="2561697" cy="1341205"/>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U.K.</a:t>
            </a:r>
          </a:p>
          <a:p>
            <a:pPr algn="ctr"/>
            <a:r>
              <a:rPr sz="1100" b="0">
                <a:solidFill>
                  <a:srgbClr val="FFFFFF"/>
                </a:solidFill>
                <a:latin typeface="Calibri"/>
              </a:rPr>
              <a:t> </a:t>
            </a:r>
          </a:p>
        </p:txBody>
      </p:sp>
      <p:sp>
        <p:nvSpPr>
          <p:cNvPr id="19" name="Rectangle 18"/>
          <p:cNvSpPr/>
          <p:nvPr/>
        </p:nvSpPr>
        <p:spPr>
          <a:xfrm>
            <a:off x="9414105" y="3452882"/>
            <a:ext cx="1281045" cy="2124662"/>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Japan</a:t>
            </a:r>
          </a:p>
          <a:p>
            <a:pPr algn="ctr"/>
            <a:r>
              <a:rPr sz="1100" b="0">
                <a:solidFill>
                  <a:srgbClr val="FFFFFF"/>
                </a:solidFill>
                <a:latin typeface="Calibri"/>
              </a:rPr>
              <a:t> </a:t>
            </a:r>
          </a:p>
        </p:txBody>
      </p:sp>
      <p:sp>
        <p:nvSpPr>
          <p:cNvPr id="20" name="Rectangle 19"/>
          <p:cNvSpPr/>
          <p:nvPr/>
        </p:nvSpPr>
        <p:spPr>
          <a:xfrm>
            <a:off x="10695150" y="3452882"/>
            <a:ext cx="1258725" cy="2124662"/>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France</a:t>
            </a:r>
          </a:p>
          <a:p>
            <a:pPr algn="ctr"/>
            <a:r>
              <a:rPr sz="1100" b="0">
                <a:solidFill>
                  <a:srgbClr val="FFFFFF"/>
                </a:solidFill>
                <a:latin typeface="Calibri"/>
              </a:rPr>
              <a:t> </a:t>
            </a:r>
          </a:p>
        </p:txBody>
      </p:sp>
      <p:sp>
        <p:nvSpPr>
          <p:cNvPr id="21" name="Rectangle 20"/>
          <p:cNvSpPr/>
          <p:nvPr/>
        </p:nvSpPr>
        <p:spPr>
          <a:xfrm>
            <a:off x="9414105" y="5577544"/>
            <a:ext cx="2539770" cy="994706"/>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UAE</a:t>
            </a:r>
          </a:p>
          <a:p>
            <a:pPr algn="ctr"/>
            <a:r>
              <a:rPr sz="1100" b="0">
                <a:solidFill>
                  <a:srgbClr val="FFFFFF"/>
                </a:solidFill>
                <a:latin typeface="Calibri"/>
              </a:rPr>
              <a:t> </a:t>
            </a: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4"/>
          <a:stretch>
            <a:fillRect/>
          </a:stretch>
        </p:blipFill>
        <p:spPr>
          <a:xfrm>
            <a:off x="1689172" y="3919537"/>
            <a:ext cx="308877" cy="449275"/>
          </a:xfrm>
          <a:prstGeom prst="rect">
            <a:avLst/>
          </a:prstGeom>
        </p:spPr>
      </p:pic>
      <p:pic>
        <p:nvPicPr>
          <p:cNvPr id="24" name="Picture 23" descr="lock.png"/>
          <p:cNvPicPr>
            <a:picLocks noChangeAspect="1"/>
          </p:cNvPicPr>
          <p:nvPr/>
        </p:nvPicPr>
        <p:blipFill>
          <a:blip r:embed="rId4"/>
          <a:stretch>
            <a:fillRect/>
          </a:stretch>
        </p:blipFill>
        <p:spPr>
          <a:xfrm>
            <a:off x="4996313" y="2710384"/>
            <a:ext cx="308877" cy="449275"/>
          </a:xfrm>
          <a:prstGeom prst="rect">
            <a:avLst/>
          </a:prstGeom>
        </p:spPr>
      </p:pic>
      <p:pic>
        <p:nvPicPr>
          <p:cNvPr id="25" name="Picture 24" descr="lock.png"/>
          <p:cNvPicPr>
            <a:picLocks noChangeAspect="1"/>
          </p:cNvPicPr>
          <p:nvPr/>
        </p:nvPicPr>
        <p:blipFill>
          <a:blip r:embed="rId4"/>
          <a:stretch>
            <a:fillRect/>
          </a:stretch>
        </p:blipFill>
        <p:spPr>
          <a:xfrm>
            <a:off x="4996313" y="5363097"/>
            <a:ext cx="308877" cy="449275"/>
          </a:xfrm>
          <a:prstGeom prst="rect">
            <a:avLst/>
          </a:prstGeom>
        </p:spPr>
      </p:pic>
      <p:pic>
        <p:nvPicPr>
          <p:cNvPr id="26" name="Picture 25" descr="lock.png"/>
          <p:cNvPicPr>
            <a:picLocks noChangeAspect="1"/>
          </p:cNvPicPr>
          <p:nvPr/>
        </p:nvPicPr>
        <p:blipFill>
          <a:blip r:embed="rId4"/>
          <a:stretch>
            <a:fillRect/>
          </a:stretch>
        </p:blipFill>
        <p:spPr>
          <a:xfrm>
            <a:off x="8145677" y="2359853"/>
            <a:ext cx="308877" cy="449275"/>
          </a:xfrm>
          <a:prstGeom prst="rect">
            <a:avLst/>
          </a:prstGeom>
        </p:spPr>
      </p:pic>
      <p:pic>
        <p:nvPicPr>
          <p:cNvPr id="27" name="Picture 26" descr="lock.png"/>
          <p:cNvPicPr>
            <a:picLocks noChangeAspect="1"/>
          </p:cNvPicPr>
          <p:nvPr/>
        </p:nvPicPr>
        <p:blipFill>
          <a:blip r:embed="rId4"/>
          <a:stretch>
            <a:fillRect/>
          </a:stretch>
        </p:blipFill>
        <p:spPr>
          <a:xfrm>
            <a:off x="10696411" y="2359853"/>
            <a:ext cx="308877" cy="449275"/>
          </a:xfrm>
          <a:prstGeom prst="rect">
            <a:avLst/>
          </a:prstGeom>
        </p:spPr>
      </p:pic>
      <p:pic>
        <p:nvPicPr>
          <p:cNvPr id="28" name="Picture 27" descr="lock.png"/>
          <p:cNvPicPr>
            <a:picLocks noChangeAspect="1"/>
          </p:cNvPicPr>
          <p:nvPr/>
        </p:nvPicPr>
        <p:blipFill>
          <a:blip r:embed="rId4"/>
          <a:stretch>
            <a:fillRect/>
          </a:stretch>
        </p:blipFill>
        <p:spPr>
          <a:xfrm>
            <a:off x="7978818" y="4341963"/>
            <a:ext cx="308877" cy="449275"/>
          </a:xfrm>
          <a:prstGeom prst="rect">
            <a:avLst/>
          </a:prstGeom>
        </p:spPr>
      </p:pic>
      <p:pic>
        <p:nvPicPr>
          <p:cNvPr id="29" name="Picture 28" descr="lock.png"/>
          <p:cNvPicPr>
            <a:picLocks noChangeAspect="1"/>
          </p:cNvPicPr>
          <p:nvPr/>
        </p:nvPicPr>
        <p:blipFill>
          <a:blip r:embed="rId4"/>
          <a:stretch>
            <a:fillRect/>
          </a:stretch>
        </p:blipFill>
        <p:spPr>
          <a:xfrm>
            <a:off x="7978818" y="5901647"/>
            <a:ext cx="308877" cy="449275"/>
          </a:xfrm>
          <a:prstGeom prst="rect">
            <a:avLst/>
          </a:prstGeom>
        </p:spPr>
      </p:pic>
      <p:pic>
        <p:nvPicPr>
          <p:cNvPr id="30" name="Picture 29" descr="lock.png"/>
          <p:cNvPicPr>
            <a:picLocks noChangeAspect="1"/>
          </p:cNvPicPr>
          <p:nvPr/>
        </p:nvPicPr>
        <p:blipFill>
          <a:blip r:embed="rId4"/>
          <a:stretch>
            <a:fillRect/>
          </a:stretch>
        </p:blipFill>
        <p:spPr>
          <a:xfrm>
            <a:off x="9900189" y="4515213"/>
            <a:ext cx="308877" cy="449275"/>
          </a:xfrm>
          <a:prstGeom prst="rect">
            <a:avLst/>
          </a:prstGeom>
        </p:spPr>
      </p:pic>
      <p:pic>
        <p:nvPicPr>
          <p:cNvPr id="31" name="Picture 30" descr="lock.png"/>
          <p:cNvPicPr>
            <a:picLocks noChangeAspect="1"/>
          </p:cNvPicPr>
          <p:nvPr/>
        </p:nvPicPr>
        <p:blipFill>
          <a:blip r:embed="rId4"/>
          <a:stretch>
            <a:fillRect/>
          </a:stretch>
        </p:blipFill>
        <p:spPr>
          <a:xfrm>
            <a:off x="11170074" y="4515213"/>
            <a:ext cx="308877" cy="449275"/>
          </a:xfrm>
          <a:prstGeom prst="rect">
            <a:avLst/>
          </a:prstGeom>
        </p:spPr>
      </p:pic>
      <p:pic>
        <p:nvPicPr>
          <p:cNvPr id="32" name="Picture 31" descr="lock.png"/>
          <p:cNvPicPr>
            <a:picLocks noChangeAspect="1"/>
          </p:cNvPicPr>
          <p:nvPr/>
        </p:nvPicPr>
        <p:blipFill>
          <a:blip r:embed="rId4"/>
          <a:stretch>
            <a:fillRect/>
          </a:stretch>
        </p:blipFill>
        <p:spPr>
          <a:xfrm>
            <a:off x="10529551" y="6074897"/>
            <a:ext cx="308877" cy="449275"/>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Global Market Analysis By Segments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Form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Active Ingredient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End-use Application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Packaging Format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Sales Channel</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Form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Form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Form Type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Form Type,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Form Type segment categorizes the market by form type.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Capsules and Softgels</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Tablets</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Chewables</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Gels and Pastes</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Liquids</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Powders and Granules</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Form Type split shows how demand is distributed across form type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7" name="Picture 76" descr="3_818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6_679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5_8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2_438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3_744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4_4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1_780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3_310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6_4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1_320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1_834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3_3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1_003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1_376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3_2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542_3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803_3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4_0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843733" cy="186689"/>
          </a:xfrm>
          <a:prstGeom prst="rect">
            <a:avLst/>
          </a:prstGeom>
          <a:noFill/>
        </p:spPr>
        <p:txBody>
          <a:bodyPr wrap="none" lIns="0" rIns="0" tIns="0" bIns="0">
            <a:spAutoFit/>
          </a:bodyPr>
          <a:lstStyle/>
          <a:p>
            <a:r>
              <a:rPr sz="1100" b="0">
                <a:solidFill>
                  <a:srgbClr val="2E2E2E"/>
                </a:solidFill>
                <a:latin typeface="Calibri"/>
              </a:rPr>
              <a:t>Among senior dog cognitive supplement by form</a:t>
            </a:r>
          </a:p>
        </p:txBody>
      </p:sp>
      <p:sp>
        <p:nvSpPr>
          <p:cNvPr id="102" name="TextBox 101"/>
          <p:cNvSpPr txBox="1"/>
          <p:nvPr/>
        </p:nvSpPr>
        <p:spPr>
          <a:xfrm>
            <a:off x="485775" y="4397077"/>
            <a:ext cx="2804988" cy="186689"/>
          </a:xfrm>
          <a:prstGeom prst="rect">
            <a:avLst/>
          </a:prstGeom>
          <a:noFill/>
        </p:spPr>
        <p:txBody>
          <a:bodyPr wrap="none" lIns="0" rIns="0" tIns="0" bIns="0">
            <a:spAutoFit/>
          </a:bodyPr>
          <a:lstStyle/>
          <a:p>
            <a:r>
              <a:rPr sz="1100" b="0">
                <a:solidFill>
                  <a:srgbClr val="2E2E2E"/>
                </a:solidFill>
                <a:latin typeface="Calibri"/>
              </a:rPr>
              <a:t>type, chewables segment is expected to witness</a:t>
            </a:r>
          </a:p>
        </p:txBody>
      </p:sp>
      <p:sp>
        <p:nvSpPr>
          <p:cNvPr id="103" name="TextBox 102"/>
          <p:cNvSpPr txBox="1"/>
          <p:nvPr/>
        </p:nvSpPr>
        <p:spPr>
          <a:xfrm>
            <a:off x="485775" y="4564717"/>
            <a:ext cx="1212336" cy="186689"/>
          </a:xfrm>
          <a:prstGeom prst="rect">
            <a:avLst/>
          </a:prstGeom>
          <a:noFill/>
        </p:spPr>
        <p:txBody>
          <a:bodyPr wrap="none" lIns="0" rIns="0" tIns="0" bIns="0">
            <a:spAutoFit/>
          </a:bodyPr>
          <a:lstStyle/>
          <a:p>
            <a:r>
              <a:rPr sz="1100" b="0">
                <a:solidFill>
                  <a:srgbClr val="2E2E2E"/>
                </a:solidFill>
                <a:latin typeface="Calibri"/>
              </a:rPr>
              <a:t>the highest CAGR of</a:t>
            </a:r>
          </a:p>
        </p:txBody>
      </p:sp>
      <p:pic>
        <p:nvPicPr>
          <p:cNvPr id="104" name="Picture 103" descr="lock.png"/>
          <p:cNvPicPr>
            <a:picLocks noChangeAspect="1"/>
          </p:cNvPicPr>
          <p:nvPr/>
        </p:nvPicPr>
        <p:blipFill>
          <a:blip r:embed="rId22"/>
          <a:stretch>
            <a:fillRect/>
          </a:stretch>
        </p:blipFill>
        <p:spPr>
          <a:xfrm>
            <a:off x="1646163" y="4554938"/>
            <a:ext cx="128699" cy="187198"/>
          </a:xfrm>
          <a:prstGeom prst="rect">
            <a:avLst/>
          </a:prstGeom>
        </p:spPr>
      </p:pic>
      <p:sp>
        <p:nvSpPr>
          <p:cNvPr id="105" name="TextBox 104"/>
          <p:cNvSpPr txBox="1"/>
          <p:nvPr/>
        </p:nvSpPr>
        <p:spPr>
          <a:xfrm>
            <a:off x="1813659" y="456471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106" name="TextBox 105"/>
          <p:cNvSpPr txBox="1"/>
          <p:nvPr/>
        </p:nvSpPr>
        <p:spPr>
          <a:xfrm>
            <a:off x="485775" y="4732357"/>
            <a:ext cx="2910854" cy="186689"/>
          </a:xfrm>
          <a:prstGeom prst="rect">
            <a:avLst/>
          </a:prstGeom>
          <a:noFill/>
        </p:spPr>
        <p:txBody>
          <a:bodyPr wrap="none" lIns="0" rIns="0" tIns="0" bIns="0">
            <a:spAutoFit/>
          </a:bodyPr>
          <a:lstStyle/>
          <a:p>
            <a:r>
              <a:rPr sz="1100" b="0">
                <a:solidFill>
                  <a:srgbClr val="2E2E2E"/>
                </a:solidFill>
                <a:latin typeface="Calibri"/>
              </a:rPr>
              <a:t>In terms of value share by form type, the capsules</a:t>
            </a:r>
          </a:p>
        </p:txBody>
      </p:sp>
      <p:sp>
        <p:nvSpPr>
          <p:cNvPr id="107" name="TextBox 106"/>
          <p:cNvSpPr txBox="1"/>
          <p:nvPr/>
        </p:nvSpPr>
        <p:spPr>
          <a:xfrm>
            <a:off x="485775" y="4899997"/>
            <a:ext cx="2909763" cy="186689"/>
          </a:xfrm>
          <a:prstGeom prst="rect">
            <a:avLst/>
          </a:prstGeom>
          <a:noFill/>
        </p:spPr>
        <p:txBody>
          <a:bodyPr wrap="none" lIns="0" rIns="0" tIns="0" bIns="0">
            <a:spAutoFit/>
          </a:bodyPr>
          <a:lstStyle/>
          <a:p>
            <a:r>
              <a:rPr sz="1100" b="0">
                <a:solidFill>
                  <a:srgbClr val="2E2E2E"/>
                </a:solidFill>
                <a:latin typeface="Calibri"/>
              </a:rPr>
              <a:t>and softgels segment is expected to dominate the</a:t>
            </a:r>
          </a:p>
        </p:txBody>
      </p:sp>
      <p:sp>
        <p:nvSpPr>
          <p:cNvPr id="108" name="TextBox 107"/>
          <p:cNvSpPr txBox="1"/>
          <p:nvPr/>
        </p:nvSpPr>
        <p:spPr>
          <a:xfrm>
            <a:off x="485775" y="5067637"/>
            <a:ext cx="959693" cy="186689"/>
          </a:xfrm>
          <a:prstGeom prst="rect">
            <a:avLst/>
          </a:prstGeom>
          <a:noFill/>
        </p:spPr>
        <p:txBody>
          <a:bodyPr wrap="none" lIns="0" rIns="0" tIns="0" bIns="0">
            <a:spAutoFit/>
          </a:bodyPr>
          <a:lstStyle/>
          <a:p>
            <a:r>
              <a:rPr sz="1100" b="0">
                <a:solidFill>
                  <a:srgbClr val="2E2E2E"/>
                </a:solidFill>
                <a:latin typeface="Calibri"/>
              </a:rPr>
              <a:t>market, gaining</a:t>
            </a:r>
          </a:p>
        </p:txBody>
      </p:sp>
      <p:pic>
        <p:nvPicPr>
          <p:cNvPr id="109" name="Picture 108" descr="lock.png"/>
          <p:cNvPicPr>
            <a:picLocks noChangeAspect="1"/>
          </p:cNvPicPr>
          <p:nvPr/>
        </p:nvPicPr>
        <p:blipFill>
          <a:blip r:embed="rId22"/>
          <a:stretch>
            <a:fillRect/>
          </a:stretch>
        </p:blipFill>
        <p:spPr>
          <a:xfrm>
            <a:off x="1393519" y="5057858"/>
            <a:ext cx="128699" cy="187198"/>
          </a:xfrm>
          <a:prstGeom prst="rect">
            <a:avLst/>
          </a:prstGeom>
        </p:spPr>
      </p:pic>
      <p:sp>
        <p:nvSpPr>
          <p:cNvPr id="110" name="TextBox 109"/>
          <p:cNvSpPr txBox="1"/>
          <p:nvPr/>
        </p:nvSpPr>
        <p:spPr>
          <a:xfrm>
            <a:off x="1561015" y="506763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111" name="Picture 110" descr="lock.png"/>
          <p:cNvPicPr>
            <a:picLocks noChangeAspect="1"/>
          </p:cNvPicPr>
          <p:nvPr/>
        </p:nvPicPr>
        <p:blipFill>
          <a:blip r:embed="rId22"/>
          <a:stretch>
            <a:fillRect/>
          </a:stretch>
        </p:blipFill>
        <p:spPr>
          <a:xfrm>
            <a:off x="2895500" y="5057858"/>
            <a:ext cx="128699" cy="187198"/>
          </a:xfrm>
          <a:prstGeom prst="rect">
            <a:avLst/>
          </a:prstGeom>
        </p:spPr>
      </p:pic>
      <p:sp>
        <p:nvSpPr>
          <p:cNvPr id="112" name="TextBox 111"/>
          <p:cNvSpPr txBox="1"/>
          <p:nvPr/>
        </p:nvSpPr>
        <p:spPr>
          <a:xfrm>
            <a:off x="485775"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3" name="TextBox 112"/>
          <p:cNvSpPr txBox="1"/>
          <p:nvPr/>
        </p:nvSpPr>
        <p:spPr>
          <a:xfrm>
            <a:off x="485775" y="5453209"/>
            <a:ext cx="2665561" cy="186689"/>
          </a:xfrm>
          <a:prstGeom prst="rect">
            <a:avLst/>
          </a:prstGeom>
          <a:noFill/>
        </p:spPr>
        <p:txBody>
          <a:bodyPr wrap="none" lIns="0" rIns="0" tIns="0" bIns="0">
            <a:spAutoFit/>
          </a:bodyPr>
          <a:lstStyle/>
          <a:p>
            <a:r>
              <a:rPr sz="1100" b="0">
                <a:solidFill>
                  <a:srgbClr val="2E2E2E"/>
                </a:solidFill>
                <a:latin typeface="Calibri"/>
              </a:rPr>
              <a:t>Capsules and softgels segment is projected to</a:t>
            </a:r>
          </a:p>
        </p:txBody>
      </p:sp>
      <p:sp>
        <p:nvSpPr>
          <p:cNvPr id="114" name="TextBox 113"/>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115" name="Picture 114" descr="lock.png"/>
          <p:cNvPicPr>
            <a:picLocks noChangeAspect="1"/>
          </p:cNvPicPr>
          <p:nvPr/>
        </p:nvPicPr>
        <p:blipFill>
          <a:blip r:embed="rId22"/>
          <a:stretch>
            <a:fillRect/>
          </a:stretch>
        </p:blipFill>
        <p:spPr>
          <a:xfrm>
            <a:off x="946316" y="5611070"/>
            <a:ext cx="128699" cy="187198"/>
          </a:xfrm>
          <a:prstGeom prst="rect">
            <a:avLst/>
          </a:prstGeom>
        </p:spPr>
      </p:pic>
      <p:sp>
        <p:nvSpPr>
          <p:cNvPr id="116" name="TextBox 115"/>
          <p:cNvSpPr txBox="1"/>
          <p:nvPr/>
        </p:nvSpPr>
        <p:spPr>
          <a:xfrm>
            <a:off x="1113812" y="5620849"/>
            <a:ext cx="2254919" cy="186689"/>
          </a:xfrm>
          <a:prstGeom prst="rect">
            <a:avLst/>
          </a:prstGeom>
          <a:noFill/>
        </p:spPr>
        <p:txBody>
          <a:bodyPr wrap="none" lIns="0" rIns="0" tIns="0" bIns="0">
            <a:spAutoFit/>
          </a:bodyPr>
          <a:lstStyle/>
          <a:p>
            <a:r>
              <a:rPr sz="1100" b="0">
                <a:solidFill>
                  <a:srgbClr val="2E2E2E"/>
                </a:solidFill>
                <a:latin typeface="Calibri"/>
              </a:rPr>
              <a:t>X higher value than tablets segment in</a:t>
            </a:r>
          </a:p>
        </p:txBody>
      </p:sp>
      <p:sp>
        <p:nvSpPr>
          <p:cNvPr id="117" name="TextBox 116"/>
          <p:cNvSpPr txBox="1"/>
          <p:nvPr/>
        </p:nvSpPr>
        <p:spPr>
          <a:xfrm>
            <a:off x="485775" y="5788489"/>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118" name="TextBox 117"/>
          <p:cNvSpPr txBox="1"/>
          <p:nvPr/>
        </p:nvSpPr>
        <p:spPr>
          <a:xfrm>
            <a:off x="3838575" y="4229437"/>
            <a:ext cx="1454918" cy="186689"/>
          </a:xfrm>
          <a:prstGeom prst="rect">
            <a:avLst/>
          </a:prstGeom>
          <a:noFill/>
        </p:spPr>
        <p:txBody>
          <a:bodyPr wrap="none" lIns="0" rIns="0" tIns="0" bIns="0">
            <a:spAutoFit/>
          </a:bodyPr>
          <a:lstStyle/>
          <a:p>
            <a:r>
              <a:rPr sz="1100" b="0">
                <a:solidFill>
                  <a:srgbClr val="2E2E2E"/>
                </a:solidFill>
                <a:latin typeface="Calibri"/>
              </a:rPr>
              <a:t>● Capsules and Softgels:</a:t>
            </a:r>
          </a:p>
        </p:txBody>
      </p:sp>
      <p:pic>
        <p:nvPicPr>
          <p:cNvPr id="119" name="Picture 118" descr="lock.png"/>
          <p:cNvPicPr>
            <a:picLocks noChangeAspect="1"/>
          </p:cNvPicPr>
          <p:nvPr/>
        </p:nvPicPr>
        <p:blipFill>
          <a:blip r:embed="rId22"/>
          <a:stretch>
            <a:fillRect/>
          </a:stretch>
        </p:blipFill>
        <p:spPr>
          <a:xfrm>
            <a:off x="5241545" y="4219658"/>
            <a:ext cx="128699" cy="187198"/>
          </a:xfrm>
          <a:prstGeom prst="rect">
            <a:avLst/>
          </a:prstGeom>
        </p:spPr>
      </p:pic>
      <p:sp>
        <p:nvSpPr>
          <p:cNvPr id="120" name="TextBox 119"/>
          <p:cNvSpPr txBox="1"/>
          <p:nvPr/>
        </p:nvSpPr>
        <p:spPr>
          <a:xfrm>
            <a:off x="5409041"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1" name="Picture 120" descr="lock.png"/>
          <p:cNvPicPr>
            <a:picLocks noChangeAspect="1"/>
          </p:cNvPicPr>
          <p:nvPr/>
        </p:nvPicPr>
        <p:blipFill>
          <a:blip r:embed="rId22"/>
          <a:stretch>
            <a:fillRect/>
          </a:stretch>
        </p:blipFill>
        <p:spPr>
          <a:xfrm>
            <a:off x="6268491" y="4219658"/>
            <a:ext cx="128699" cy="187198"/>
          </a:xfrm>
          <a:prstGeom prst="rect">
            <a:avLst/>
          </a:prstGeom>
        </p:spPr>
      </p:pic>
      <p:sp>
        <p:nvSpPr>
          <p:cNvPr id="122" name="TextBox 121"/>
          <p:cNvSpPr txBox="1"/>
          <p:nvPr/>
        </p:nvSpPr>
        <p:spPr>
          <a:xfrm>
            <a:off x="6435987"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23" name="TextBox 122"/>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24" name="TextBox 123"/>
          <p:cNvSpPr txBox="1"/>
          <p:nvPr/>
        </p:nvSpPr>
        <p:spPr>
          <a:xfrm>
            <a:off x="3838575" y="4615009"/>
            <a:ext cx="641275" cy="186689"/>
          </a:xfrm>
          <a:prstGeom prst="rect">
            <a:avLst/>
          </a:prstGeom>
          <a:noFill/>
        </p:spPr>
        <p:txBody>
          <a:bodyPr wrap="none" lIns="0" rIns="0" tIns="0" bIns="0">
            <a:spAutoFit/>
          </a:bodyPr>
          <a:lstStyle/>
          <a:p>
            <a:r>
              <a:rPr sz="1100" b="0">
                <a:solidFill>
                  <a:srgbClr val="2E2E2E"/>
                </a:solidFill>
                <a:latin typeface="Calibri"/>
              </a:rPr>
              <a:t>● Tablets:</a:t>
            </a:r>
          </a:p>
        </p:txBody>
      </p:sp>
      <p:pic>
        <p:nvPicPr>
          <p:cNvPr id="125" name="Picture 124" descr="lock.png"/>
          <p:cNvPicPr>
            <a:picLocks noChangeAspect="1"/>
          </p:cNvPicPr>
          <p:nvPr/>
        </p:nvPicPr>
        <p:blipFill>
          <a:blip r:embed="rId22"/>
          <a:stretch>
            <a:fillRect/>
          </a:stretch>
        </p:blipFill>
        <p:spPr>
          <a:xfrm>
            <a:off x="4427902" y="4605230"/>
            <a:ext cx="128699" cy="187198"/>
          </a:xfrm>
          <a:prstGeom prst="rect">
            <a:avLst/>
          </a:prstGeom>
        </p:spPr>
      </p:pic>
      <p:sp>
        <p:nvSpPr>
          <p:cNvPr id="126" name="TextBox 125"/>
          <p:cNvSpPr txBox="1"/>
          <p:nvPr/>
        </p:nvSpPr>
        <p:spPr>
          <a:xfrm>
            <a:off x="4595398"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7" name="Picture 126" descr="lock.png"/>
          <p:cNvPicPr>
            <a:picLocks noChangeAspect="1"/>
          </p:cNvPicPr>
          <p:nvPr/>
        </p:nvPicPr>
        <p:blipFill>
          <a:blip r:embed="rId22"/>
          <a:stretch>
            <a:fillRect/>
          </a:stretch>
        </p:blipFill>
        <p:spPr>
          <a:xfrm>
            <a:off x="5454848" y="4605230"/>
            <a:ext cx="128699" cy="187198"/>
          </a:xfrm>
          <a:prstGeom prst="rect">
            <a:avLst/>
          </a:prstGeom>
        </p:spPr>
      </p:pic>
      <p:sp>
        <p:nvSpPr>
          <p:cNvPr id="128" name="TextBox 127"/>
          <p:cNvSpPr txBox="1"/>
          <p:nvPr/>
        </p:nvSpPr>
        <p:spPr>
          <a:xfrm>
            <a:off x="5622344" y="461500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9" name="TextBox 128"/>
          <p:cNvSpPr txBox="1"/>
          <p:nvPr/>
        </p:nvSpPr>
        <p:spPr>
          <a:xfrm>
            <a:off x="3838575" y="4832941"/>
            <a:ext cx="843458" cy="186689"/>
          </a:xfrm>
          <a:prstGeom prst="rect">
            <a:avLst/>
          </a:prstGeom>
          <a:noFill/>
        </p:spPr>
        <p:txBody>
          <a:bodyPr wrap="none" lIns="0" rIns="0" tIns="0" bIns="0">
            <a:spAutoFit/>
          </a:bodyPr>
          <a:lstStyle/>
          <a:p>
            <a:r>
              <a:rPr sz="1100" b="0">
                <a:solidFill>
                  <a:srgbClr val="2E2E2E"/>
                </a:solidFill>
                <a:latin typeface="Calibri"/>
              </a:rPr>
              <a:t>● Chewables:</a:t>
            </a:r>
          </a:p>
        </p:txBody>
      </p:sp>
      <p:pic>
        <p:nvPicPr>
          <p:cNvPr id="130" name="Picture 129" descr="lock.png"/>
          <p:cNvPicPr>
            <a:picLocks noChangeAspect="1"/>
          </p:cNvPicPr>
          <p:nvPr/>
        </p:nvPicPr>
        <p:blipFill>
          <a:blip r:embed="rId22"/>
          <a:stretch>
            <a:fillRect/>
          </a:stretch>
        </p:blipFill>
        <p:spPr>
          <a:xfrm>
            <a:off x="4630085" y="4823162"/>
            <a:ext cx="128699" cy="187198"/>
          </a:xfrm>
          <a:prstGeom prst="rect">
            <a:avLst/>
          </a:prstGeom>
        </p:spPr>
      </p:pic>
      <p:sp>
        <p:nvSpPr>
          <p:cNvPr id="131" name="TextBox 130"/>
          <p:cNvSpPr txBox="1"/>
          <p:nvPr/>
        </p:nvSpPr>
        <p:spPr>
          <a:xfrm>
            <a:off x="4797581"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2" name="Picture 131" descr="lock.png"/>
          <p:cNvPicPr>
            <a:picLocks noChangeAspect="1"/>
          </p:cNvPicPr>
          <p:nvPr/>
        </p:nvPicPr>
        <p:blipFill>
          <a:blip r:embed="rId22"/>
          <a:stretch>
            <a:fillRect/>
          </a:stretch>
        </p:blipFill>
        <p:spPr>
          <a:xfrm>
            <a:off x="5657031" y="4823162"/>
            <a:ext cx="128699" cy="187198"/>
          </a:xfrm>
          <a:prstGeom prst="rect">
            <a:avLst/>
          </a:prstGeom>
        </p:spPr>
      </p:pic>
      <p:sp>
        <p:nvSpPr>
          <p:cNvPr id="133" name="TextBox 132"/>
          <p:cNvSpPr txBox="1"/>
          <p:nvPr/>
        </p:nvSpPr>
        <p:spPr>
          <a:xfrm>
            <a:off x="5824527" y="483294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4" name="TextBox 133"/>
          <p:cNvSpPr txBox="1"/>
          <p:nvPr/>
        </p:nvSpPr>
        <p:spPr>
          <a:xfrm>
            <a:off x="3838575" y="5050872"/>
            <a:ext cx="1115764" cy="186689"/>
          </a:xfrm>
          <a:prstGeom prst="rect">
            <a:avLst/>
          </a:prstGeom>
          <a:noFill/>
        </p:spPr>
        <p:txBody>
          <a:bodyPr wrap="none" lIns="0" rIns="0" tIns="0" bIns="0">
            <a:spAutoFit/>
          </a:bodyPr>
          <a:lstStyle/>
          <a:p>
            <a:r>
              <a:rPr sz="1100" b="0">
                <a:solidFill>
                  <a:srgbClr val="2E2E2E"/>
                </a:solidFill>
                <a:latin typeface="Calibri"/>
              </a:rPr>
              <a:t>● Gels and Pastes:</a:t>
            </a:r>
          </a:p>
        </p:txBody>
      </p:sp>
      <p:pic>
        <p:nvPicPr>
          <p:cNvPr id="135" name="Picture 134" descr="lock.png"/>
          <p:cNvPicPr>
            <a:picLocks noChangeAspect="1"/>
          </p:cNvPicPr>
          <p:nvPr/>
        </p:nvPicPr>
        <p:blipFill>
          <a:blip r:embed="rId22"/>
          <a:stretch>
            <a:fillRect/>
          </a:stretch>
        </p:blipFill>
        <p:spPr>
          <a:xfrm>
            <a:off x="4902391" y="5041093"/>
            <a:ext cx="128699" cy="187198"/>
          </a:xfrm>
          <a:prstGeom prst="rect">
            <a:avLst/>
          </a:prstGeom>
        </p:spPr>
      </p:pic>
      <p:sp>
        <p:nvSpPr>
          <p:cNvPr id="136" name="TextBox 135"/>
          <p:cNvSpPr txBox="1"/>
          <p:nvPr/>
        </p:nvSpPr>
        <p:spPr>
          <a:xfrm>
            <a:off x="5069886" y="5050872"/>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7" name="Picture 136" descr="lock.png"/>
          <p:cNvPicPr>
            <a:picLocks noChangeAspect="1"/>
          </p:cNvPicPr>
          <p:nvPr/>
        </p:nvPicPr>
        <p:blipFill>
          <a:blip r:embed="rId22"/>
          <a:stretch>
            <a:fillRect/>
          </a:stretch>
        </p:blipFill>
        <p:spPr>
          <a:xfrm>
            <a:off x="5929337" y="5041093"/>
            <a:ext cx="128699" cy="187198"/>
          </a:xfrm>
          <a:prstGeom prst="rect">
            <a:avLst/>
          </a:prstGeom>
        </p:spPr>
      </p:pic>
      <p:sp>
        <p:nvSpPr>
          <p:cNvPr id="138" name="TextBox 137"/>
          <p:cNvSpPr txBox="1"/>
          <p:nvPr/>
        </p:nvSpPr>
        <p:spPr>
          <a:xfrm>
            <a:off x="6096832" y="5050872"/>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9" name="TextBox 138"/>
          <p:cNvSpPr txBox="1"/>
          <p:nvPr/>
        </p:nvSpPr>
        <p:spPr>
          <a:xfrm>
            <a:off x="3838575" y="5268804"/>
            <a:ext cx="627360" cy="186689"/>
          </a:xfrm>
          <a:prstGeom prst="rect">
            <a:avLst/>
          </a:prstGeom>
          <a:noFill/>
        </p:spPr>
        <p:txBody>
          <a:bodyPr wrap="none" lIns="0" rIns="0" tIns="0" bIns="0">
            <a:spAutoFit/>
          </a:bodyPr>
          <a:lstStyle/>
          <a:p>
            <a:r>
              <a:rPr sz="1100" b="0">
                <a:solidFill>
                  <a:srgbClr val="2E2E2E"/>
                </a:solidFill>
                <a:latin typeface="Calibri"/>
              </a:rPr>
              <a:t>● Liquids:</a:t>
            </a:r>
          </a:p>
        </p:txBody>
      </p:sp>
      <p:pic>
        <p:nvPicPr>
          <p:cNvPr id="140" name="Picture 139" descr="lock.png"/>
          <p:cNvPicPr>
            <a:picLocks noChangeAspect="1"/>
          </p:cNvPicPr>
          <p:nvPr/>
        </p:nvPicPr>
        <p:blipFill>
          <a:blip r:embed="rId22"/>
          <a:stretch>
            <a:fillRect/>
          </a:stretch>
        </p:blipFill>
        <p:spPr>
          <a:xfrm>
            <a:off x="4413986" y="5259025"/>
            <a:ext cx="128699" cy="187198"/>
          </a:xfrm>
          <a:prstGeom prst="rect">
            <a:avLst/>
          </a:prstGeom>
        </p:spPr>
      </p:pic>
      <p:sp>
        <p:nvSpPr>
          <p:cNvPr id="141" name="TextBox 140"/>
          <p:cNvSpPr txBox="1"/>
          <p:nvPr/>
        </p:nvSpPr>
        <p:spPr>
          <a:xfrm>
            <a:off x="4581482" y="5268804"/>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2" name="Picture 141" descr="lock.png"/>
          <p:cNvPicPr>
            <a:picLocks noChangeAspect="1"/>
          </p:cNvPicPr>
          <p:nvPr/>
        </p:nvPicPr>
        <p:blipFill>
          <a:blip r:embed="rId22"/>
          <a:stretch>
            <a:fillRect/>
          </a:stretch>
        </p:blipFill>
        <p:spPr>
          <a:xfrm>
            <a:off x="5440932" y="5259025"/>
            <a:ext cx="128699" cy="187198"/>
          </a:xfrm>
          <a:prstGeom prst="rect">
            <a:avLst/>
          </a:prstGeom>
        </p:spPr>
      </p:pic>
      <p:sp>
        <p:nvSpPr>
          <p:cNvPr id="143" name="TextBox 142"/>
          <p:cNvSpPr txBox="1"/>
          <p:nvPr/>
        </p:nvSpPr>
        <p:spPr>
          <a:xfrm>
            <a:off x="5608428" y="5268804"/>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4" name="TextBox 143"/>
          <p:cNvSpPr txBox="1"/>
          <p:nvPr/>
        </p:nvSpPr>
        <p:spPr>
          <a:xfrm>
            <a:off x="3838575" y="5486736"/>
            <a:ext cx="1505669" cy="186689"/>
          </a:xfrm>
          <a:prstGeom prst="rect">
            <a:avLst/>
          </a:prstGeom>
          <a:noFill/>
        </p:spPr>
        <p:txBody>
          <a:bodyPr wrap="none" lIns="0" rIns="0" tIns="0" bIns="0">
            <a:spAutoFit/>
          </a:bodyPr>
          <a:lstStyle/>
          <a:p>
            <a:r>
              <a:rPr sz="1100" b="0">
                <a:solidFill>
                  <a:srgbClr val="2E2E2E"/>
                </a:solidFill>
                <a:latin typeface="Calibri"/>
              </a:rPr>
              <a:t>● Powders and Granules:</a:t>
            </a:r>
          </a:p>
        </p:txBody>
      </p:sp>
      <p:pic>
        <p:nvPicPr>
          <p:cNvPr id="145" name="Picture 144" descr="lock.png"/>
          <p:cNvPicPr>
            <a:picLocks noChangeAspect="1"/>
          </p:cNvPicPr>
          <p:nvPr/>
        </p:nvPicPr>
        <p:blipFill>
          <a:blip r:embed="rId22"/>
          <a:stretch>
            <a:fillRect/>
          </a:stretch>
        </p:blipFill>
        <p:spPr>
          <a:xfrm>
            <a:off x="5292295" y="5476957"/>
            <a:ext cx="128699" cy="187198"/>
          </a:xfrm>
          <a:prstGeom prst="rect">
            <a:avLst/>
          </a:prstGeom>
        </p:spPr>
      </p:pic>
      <p:sp>
        <p:nvSpPr>
          <p:cNvPr id="146" name="TextBox 145"/>
          <p:cNvSpPr txBox="1"/>
          <p:nvPr/>
        </p:nvSpPr>
        <p:spPr>
          <a:xfrm>
            <a:off x="5459791" y="5486736"/>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7" name="Picture 146" descr="lock.png"/>
          <p:cNvPicPr>
            <a:picLocks noChangeAspect="1"/>
          </p:cNvPicPr>
          <p:nvPr/>
        </p:nvPicPr>
        <p:blipFill>
          <a:blip r:embed="rId22"/>
          <a:stretch>
            <a:fillRect/>
          </a:stretch>
        </p:blipFill>
        <p:spPr>
          <a:xfrm>
            <a:off x="6319241" y="5476957"/>
            <a:ext cx="128699" cy="187198"/>
          </a:xfrm>
          <a:prstGeom prst="rect">
            <a:avLst/>
          </a:prstGeom>
        </p:spPr>
      </p:pic>
      <p:sp>
        <p:nvSpPr>
          <p:cNvPr id="148" name="TextBox 147"/>
          <p:cNvSpPr txBox="1"/>
          <p:nvPr/>
        </p:nvSpPr>
        <p:spPr>
          <a:xfrm>
            <a:off x="6486737" y="5486736"/>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9" name="TextBox 148"/>
          <p:cNvSpPr txBox="1"/>
          <p:nvPr/>
        </p:nvSpPr>
        <p:spPr>
          <a:xfrm>
            <a:off x="8524875" y="5842641"/>
            <a:ext cx="3042243" cy="194310"/>
          </a:xfrm>
          <a:prstGeom prst="rect">
            <a:avLst/>
          </a:prstGeom>
          <a:noFill/>
        </p:spPr>
        <p:txBody>
          <a:bodyPr wrap="none" lIns="0" rIns="0" tIns="0" bIns="0">
            <a:spAutoFit/>
          </a:bodyPr>
          <a:lstStyle/>
          <a:p>
            <a:r>
              <a:rPr sz="1150" b="1">
                <a:solidFill>
                  <a:srgbClr val="0B2E4A"/>
                </a:solidFill>
                <a:latin typeface="Calibri"/>
              </a:rPr>
              <a:t>The Form Type segment is projected to grow at a</a:t>
            </a:r>
          </a:p>
        </p:txBody>
      </p:sp>
      <p:sp>
        <p:nvSpPr>
          <p:cNvPr id="150" name="TextBox 149"/>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51" name="Picture 150" descr="lock.png"/>
          <p:cNvPicPr>
            <a:picLocks noChangeAspect="1"/>
          </p:cNvPicPr>
          <p:nvPr/>
        </p:nvPicPr>
        <p:blipFill>
          <a:blip r:embed="rId22"/>
          <a:stretch>
            <a:fillRect/>
          </a:stretch>
        </p:blipFill>
        <p:spPr>
          <a:xfrm>
            <a:off x="9048826" y="6007677"/>
            <a:ext cx="134549" cy="195707"/>
          </a:xfrm>
          <a:prstGeom prst="rect">
            <a:avLst/>
          </a:prstGeom>
        </p:spPr>
      </p:pic>
      <p:sp>
        <p:nvSpPr>
          <p:cNvPr id="152" name="TextBox 151"/>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Form Type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Form Type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Form Type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Form Type · Bubble size represents 2036 value</a:t>
            </a:r>
          </a:p>
        </p:txBody>
      </p:sp>
      <p:graphicFrame>
        <p:nvGraphicFramePr>
          <p:cNvPr id="15" name="Chart 14"/>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677650" cy="186689"/>
          </a:xfrm>
          <a:prstGeom prst="rect">
            <a:avLst/>
          </a:prstGeom>
          <a:noFill/>
        </p:spPr>
        <p:txBody>
          <a:bodyPr wrap="none" lIns="0" rIns="0" tIns="0" bIns="0">
            <a:spAutoFit/>
          </a:bodyPr>
          <a:lstStyle/>
          <a:p>
            <a:r>
              <a:rPr sz="1100" b="0">
                <a:solidFill>
                  <a:srgbClr val="2E2E2E"/>
                </a:solidFill>
                <a:latin typeface="Calibri"/>
              </a:rPr>
              <a:t>Capsules and softgels followed by chewables are expected to be the two most attractive form type segments in the global senior dog cognitive supplement market in terms of value over the forecast period.</a:t>
            </a:r>
          </a:p>
        </p:txBody>
      </p:sp>
      <p:sp>
        <p:nvSpPr>
          <p:cNvPr id="20" name="TextBox 19"/>
          <p:cNvSpPr txBox="1"/>
          <p:nvPr/>
        </p:nvSpPr>
        <p:spPr>
          <a:xfrm>
            <a:off x="257175" y="5861685"/>
            <a:ext cx="3525572" cy="186689"/>
          </a:xfrm>
          <a:prstGeom prst="rect">
            <a:avLst/>
          </a:prstGeom>
          <a:noFill/>
        </p:spPr>
        <p:txBody>
          <a:bodyPr wrap="none" lIns="0" rIns="0" tIns="0" bIns="0">
            <a:spAutoFit/>
          </a:bodyPr>
          <a:lstStyle/>
          <a:p>
            <a:r>
              <a:rPr sz="1100" b="0">
                <a:solidFill>
                  <a:srgbClr val="2E2E2E"/>
                </a:solidFill>
                <a:latin typeface="Calibri"/>
              </a:rPr>
              <a:t>Capsules and softgels and chewables exhibit a CAGR index of</a:t>
            </a:r>
          </a:p>
        </p:txBody>
      </p:sp>
      <p:pic>
        <p:nvPicPr>
          <p:cNvPr id="21" name="Picture 20" descr="lock.png"/>
          <p:cNvPicPr>
            <a:picLocks noChangeAspect="1"/>
          </p:cNvPicPr>
          <p:nvPr/>
        </p:nvPicPr>
        <p:blipFill>
          <a:blip r:embed="rId6"/>
          <a:stretch>
            <a:fillRect/>
          </a:stretch>
        </p:blipFill>
        <p:spPr>
          <a:xfrm>
            <a:off x="3730798" y="5851905"/>
            <a:ext cx="128699" cy="187198"/>
          </a:xfrm>
          <a:prstGeom prst="rect">
            <a:avLst/>
          </a:prstGeom>
        </p:spPr>
      </p:pic>
      <p:sp>
        <p:nvSpPr>
          <p:cNvPr id="22" name="TextBox 21"/>
          <p:cNvSpPr txBox="1"/>
          <p:nvPr/>
        </p:nvSpPr>
        <p:spPr>
          <a:xfrm>
            <a:off x="3898294"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4136189" y="5851905"/>
            <a:ext cx="128699" cy="187198"/>
          </a:xfrm>
          <a:prstGeom prst="rect">
            <a:avLst/>
          </a:prstGeom>
        </p:spPr>
      </p:pic>
      <p:sp>
        <p:nvSpPr>
          <p:cNvPr id="24" name="TextBox 23"/>
          <p:cNvSpPr txBox="1"/>
          <p:nvPr/>
        </p:nvSpPr>
        <p:spPr>
          <a:xfrm>
            <a:off x="4303685"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5912658" y="5851905"/>
            <a:ext cx="128699" cy="187198"/>
          </a:xfrm>
          <a:prstGeom prst="rect">
            <a:avLst/>
          </a:prstGeom>
        </p:spPr>
      </p:pic>
      <p:sp>
        <p:nvSpPr>
          <p:cNvPr id="26" name="TextBox 25"/>
          <p:cNvSpPr txBox="1"/>
          <p:nvPr/>
        </p:nvSpPr>
        <p:spPr>
          <a:xfrm>
            <a:off x="6080154"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6318048" y="5851905"/>
            <a:ext cx="128699" cy="187198"/>
          </a:xfrm>
          <a:prstGeom prst="rect">
            <a:avLst/>
          </a:prstGeom>
        </p:spPr>
      </p:pic>
      <p:sp>
        <p:nvSpPr>
          <p:cNvPr id="28" name="TextBox 27"/>
          <p:cNvSpPr txBox="1"/>
          <p:nvPr/>
        </p:nvSpPr>
        <p:spPr>
          <a:xfrm>
            <a:off x="6485544"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9039948" y="5851905"/>
            <a:ext cx="128699" cy="187198"/>
          </a:xfrm>
          <a:prstGeom prst="rect">
            <a:avLst/>
          </a:prstGeom>
        </p:spPr>
      </p:pic>
      <p:sp>
        <p:nvSpPr>
          <p:cNvPr id="30" name="TextBox 29"/>
          <p:cNvSpPr txBox="1"/>
          <p:nvPr/>
        </p:nvSpPr>
        <p:spPr>
          <a:xfrm>
            <a:off x="9207444" y="5861685"/>
            <a:ext cx="2282204" cy="186689"/>
          </a:xfrm>
          <a:prstGeom prst="rect">
            <a:avLst/>
          </a:prstGeom>
          <a:noFill/>
        </p:spPr>
        <p:txBody>
          <a:bodyPr wrap="none" lIns="0" rIns="0" tIns="0" bIns="0">
            <a:spAutoFit/>
          </a:bodyPr>
          <a:lstStyle/>
          <a:p>
            <a:r>
              <a:rPr sz="1100" b="0">
                <a:solidFill>
                  <a:srgbClr val="2E2E2E"/>
                </a:solidFill>
                <a:latin typeface="Calibri"/>
              </a:rPr>
              <a:t>. The powders and granules segment is</a:t>
            </a:r>
          </a:p>
        </p:txBody>
      </p:sp>
      <p:sp>
        <p:nvSpPr>
          <p:cNvPr id="31" name="TextBox 30"/>
          <p:cNvSpPr txBox="1"/>
          <p:nvPr/>
        </p:nvSpPr>
        <p:spPr>
          <a:xfrm>
            <a:off x="257175" y="6029325"/>
            <a:ext cx="11421333" cy="186689"/>
          </a:xfrm>
          <a:prstGeom prst="rect">
            <a:avLst/>
          </a:prstGeom>
          <a:noFill/>
        </p:spPr>
        <p:txBody>
          <a:bodyPr wrap="none" lIns="0" rIns="0" tIns="0" bIns="0">
            <a:spAutoFit/>
          </a:bodyPr>
          <a:lstStyle/>
          <a:p>
            <a:r>
              <a:rPr sz="1100" b="0">
                <a:solidFill>
                  <a:srgbClr val="2E2E2E"/>
                </a:solidFill>
                <a:latin typeface="Calibri"/>
              </a:rPr>
              <a:t>expected to be less attractive as compared to other segments over the forecast period, owing to its lower CAGR and incremental opportunity. Bubbles right of the CAGR-Index line grow faster than the</a:t>
            </a:r>
          </a:p>
        </p:txBody>
      </p:sp>
      <p:sp>
        <p:nvSpPr>
          <p:cNvPr id="32" name="TextBox 31"/>
          <p:cNvSpPr txBox="1"/>
          <p:nvPr/>
        </p:nvSpPr>
        <p:spPr>
          <a:xfrm>
            <a:off x="257175" y="6196965"/>
            <a:ext cx="1084932" cy="186689"/>
          </a:xfrm>
          <a:prstGeom prst="rect">
            <a:avLst/>
          </a:prstGeom>
          <a:noFill/>
        </p:spPr>
        <p:txBody>
          <a:bodyPr wrap="none" lIns="0" rIns="0" tIns="0" bIns="0">
            <a:spAutoFit/>
          </a:bodyPr>
          <a:lstStyle/>
          <a:p>
            <a:r>
              <a:rPr sz="1100" b="0">
                <a:solidFill>
                  <a:srgbClr val="2E2E2E"/>
                </a:solidFill>
                <a:latin typeface="Calibri"/>
              </a:rPr>
              <a:t>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Form Type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Form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Chewables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Tablets</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Capsules and Softgels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Powders and Granules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Form Type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Form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Liquids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Gels and Pastes</a:t>
            </a:r>
          </a:p>
        </p:txBody>
      </p:sp>
      <p:graphicFrame>
        <p:nvGraphicFramePr>
          <p:cNvPr id="15" name="Chart 14"/>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Form Type</a:t>
            </a:r>
          </a:p>
        </p:txBody>
      </p:sp>
      <p:sp>
        <p:nvSpPr>
          <p:cNvPr id="18" name="Rectangle 17"/>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5550" y="1390650"/>
            <a:ext cx="5610225"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6"/>
          <a:stretch>
            <a:fillRect/>
          </a:stretch>
        </p:blipFill>
        <p:spPr>
          <a:xfrm>
            <a:off x="3094826" y="2237234"/>
            <a:ext cx="263506" cy="383281"/>
          </a:xfrm>
          <a:prstGeom prst="rect">
            <a:avLst/>
          </a:prstGeom>
        </p:spPr>
      </p:pic>
      <p:pic>
        <p:nvPicPr>
          <p:cNvPr id="22" name="Picture 21" descr="lock.png"/>
          <p:cNvPicPr>
            <a:picLocks noChangeAspect="1"/>
          </p:cNvPicPr>
          <p:nvPr/>
        </p:nvPicPr>
        <p:blipFill>
          <a:blip r:embed="rId6"/>
          <a:stretch>
            <a:fillRect/>
          </a:stretch>
        </p:blipFill>
        <p:spPr>
          <a:xfrm>
            <a:off x="3094826" y="5123309"/>
            <a:ext cx="263506" cy="383281"/>
          </a:xfrm>
          <a:prstGeom prst="rect">
            <a:avLst/>
          </a:prstGeom>
        </p:spPr>
      </p:pic>
      <p:sp>
        <p:nvSpPr>
          <p:cNvPr id="23" name="TextBox 22"/>
          <p:cNvSpPr txBox="1"/>
          <p:nvPr/>
        </p:nvSpPr>
        <p:spPr>
          <a:xfrm>
            <a:off x="6305550" y="1400175"/>
            <a:ext cx="4756338" cy="194310"/>
          </a:xfrm>
          <a:prstGeom prst="rect">
            <a:avLst/>
          </a:prstGeom>
          <a:noFill/>
        </p:spPr>
        <p:txBody>
          <a:bodyPr wrap="none" lIns="0" rIns="0" tIns="0" bIns="0">
            <a:spAutoFit/>
          </a:bodyPr>
          <a:lstStyle/>
          <a:p>
            <a:r>
              <a:rPr sz="1150" b="0">
                <a:solidFill>
                  <a:srgbClr val="2E2E2E"/>
                </a:solidFill>
                <a:latin typeface="Calibri"/>
              </a:rPr>
              <a:t>By 2036, capsules and softgels segment is anticipated to witness an increase of</a:t>
            </a:r>
          </a:p>
        </p:txBody>
      </p:sp>
      <p:pic>
        <p:nvPicPr>
          <p:cNvPr id="24" name="Picture 23" descr="lock.png"/>
          <p:cNvPicPr>
            <a:picLocks noChangeAspect="1"/>
          </p:cNvPicPr>
          <p:nvPr/>
        </p:nvPicPr>
        <p:blipFill>
          <a:blip r:embed="rId6"/>
          <a:stretch>
            <a:fillRect/>
          </a:stretch>
        </p:blipFill>
        <p:spPr>
          <a:xfrm>
            <a:off x="11011042" y="1389951"/>
            <a:ext cx="134549" cy="195707"/>
          </a:xfrm>
          <a:prstGeom prst="rect">
            <a:avLst/>
          </a:prstGeom>
        </p:spPr>
      </p:pic>
      <p:sp>
        <p:nvSpPr>
          <p:cNvPr id="25" name="TextBox 24"/>
          <p:cNvSpPr txBox="1"/>
          <p:nvPr/>
        </p:nvSpPr>
        <p:spPr>
          <a:xfrm>
            <a:off x="11186151" y="1400175"/>
            <a:ext cx="675233" cy="194310"/>
          </a:xfrm>
          <a:prstGeom prst="rect">
            <a:avLst/>
          </a:prstGeom>
          <a:noFill/>
        </p:spPr>
        <p:txBody>
          <a:bodyPr wrap="none" lIns="0" rIns="0" tIns="0" bIns="0">
            <a:spAutoFit/>
          </a:bodyPr>
          <a:lstStyle/>
          <a:p>
            <a:r>
              <a:rPr sz="1150" b="0">
                <a:solidFill>
                  <a:srgbClr val="2E2E2E"/>
                </a:solidFill>
                <a:latin typeface="Calibri"/>
              </a:rPr>
              <a:t>X in terms</a:t>
            </a:r>
          </a:p>
        </p:txBody>
      </p:sp>
      <p:sp>
        <p:nvSpPr>
          <p:cNvPr id="26" name="TextBox 25"/>
          <p:cNvSpPr txBox="1"/>
          <p:nvPr/>
        </p:nvSpPr>
        <p:spPr>
          <a:xfrm>
            <a:off x="6305550" y="1575435"/>
            <a:ext cx="5412444" cy="194310"/>
          </a:xfrm>
          <a:prstGeom prst="rect">
            <a:avLst/>
          </a:prstGeom>
          <a:noFill/>
        </p:spPr>
        <p:txBody>
          <a:bodyPr wrap="none" lIns="0" rIns="0" tIns="0" bIns="0">
            <a:spAutoFit/>
          </a:bodyPr>
          <a:lstStyle/>
          <a:p>
            <a:r>
              <a:rPr sz="1150" b="0">
                <a:solidFill>
                  <a:srgbClr val="2E2E2E"/>
                </a:solidFill>
                <a:latin typeface="Calibri"/>
              </a:rPr>
              <a:t>of value as compared to 2026. The capsules and softgels segment is expected to create an</a:t>
            </a:r>
          </a:p>
        </p:txBody>
      </p:sp>
      <p:sp>
        <p:nvSpPr>
          <p:cNvPr id="27" name="TextBox 26"/>
          <p:cNvSpPr txBox="1"/>
          <p:nvPr/>
        </p:nvSpPr>
        <p:spPr>
          <a:xfrm>
            <a:off x="6305550" y="1750695"/>
            <a:ext cx="1956879" cy="194310"/>
          </a:xfrm>
          <a:prstGeom prst="rect">
            <a:avLst/>
          </a:prstGeom>
          <a:noFill/>
        </p:spPr>
        <p:txBody>
          <a:bodyPr wrap="none" lIns="0" rIns="0" tIns="0" bIns="0">
            <a:spAutoFit/>
          </a:bodyPr>
          <a:lstStyle/>
          <a:p>
            <a:r>
              <a:rPr sz="1150" b="0">
                <a:solidFill>
                  <a:srgbClr val="2E2E2E"/>
                </a:solidFill>
                <a:latin typeface="Calibri"/>
              </a:rPr>
              <a:t>incremental opportunity of US$</a:t>
            </a:r>
          </a:p>
        </p:txBody>
      </p:sp>
      <p:pic>
        <p:nvPicPr>
          <p:cNvPr id="28" name="Picture 27" descr="lock.png"/>
          <p:cNvPicPr>
            <a:picLocks noChangeAspect="1"/>
          </p:cNvPicPr>
          <p:nvPr/>
        </p:nvPicPr>
        <p:blipFill>
          <a:blip r:embed="rId6"/>
          <a:stretch>
            <a:fillRect/>
          </a:stretch>
        </p:blipFill>
        <p:spPr>
          <a:xfrm>
            <a:off x="8211582" y="1740471"/>
            <a:ext cx="134549" cy="195707"/>
          </a:xfrm>
          <a:prstGeom prst="rect">
            <a:avLst/>
          </a:prstGeom>
        </p:spPr>
      </p:pic>
      <p:sp>
        <p:nvSpPr>
          <p:cNvPr id="29" name="TextBox 28"/>
          <p:cNvSpPr txBox="1"/>
          <p:nvPr/>
        </p:nvSpPr>
        <p:spPr>
          <a:xfrm>
            <a:off x="8386692" y="1750695"/>
            <a:ext cx="3123567" cy="194310"/>
          </a:xfrm>
          <a:prstGeom prst="rect">
            <a:avLst/>
          </a:prstGeom>
          <a:noFill/>
        </p:spPr>
        <p:txBody>
          <a:bodyPr wrap="none" lIns="0" rIns="0" tIns="0" bIns="0">
            <a:spAutoFit/>
          </a:bodyPr>
          <a:lstStyle/>
          <a:p>
            <a:r>
              <a:rPr sz="1150" b="0">
                <a:solidFill>
                  <a:srgbClr val="2E2E2E"/>
                </a:solidFill>
                <a:latin typeface="Calibri"/>
              </a:rPr>
              <a:t>Mn for the overall senior dog cognitive supplement</a:t>
            </a:r>
          </a:p>
        </p:txBody>
      </p:sp>
      <p:sp>
        <p:nvSpPr>
          <p:cNvPr id="30" name="TextBox 29"/>
          <p:cNvSpPr txBox="1"/>
          <p:nvPr/>
        </p:nvSpPr>
        <p:spPr>
          <a:xfrm>
            <a:off x="6305550" y="1925955"/>
            <a:ext cx="1679897" cy="194310"/>
          </a:xfrm>
          <a:prstGeom prst="rect">
            <a:avLst/>
          </a:prstGeom>
          <a:noFill/>
        </p:spPr>
        <p:txBody>
          <a:bodyPr wrap="none" lIns="0" rIns="0" tIns="0" bIns="0">
            <a:spAutoFit/>
          </a:bodyPr>
          <a:lstStyle/>
          <a:p>
            <a:r>
              <a:rPr sz="1150" b="0">
                <a:solidFill>
                  <a:srgbClr val="2E2E2E"/>
                </a:solidFill>
                <a:latin typeface="Calibri"/>
              </a:rPr>
              <a:t>market from 2026 to 2036.</a:t>
            </a:r>
          </a:p>
        </p:txBody>
      </p:sp>
      <p:sp>
        <p:nvSpPr>
          <p:cNvPr id="31" name="TextBox 30"/>
          <p:cNvSpPr txBox="1"/>
          <p:nvPr/>
        </p:nvSpPr>
        <p:spPr>
          <a:xfrm>
            <a:off x="6305550" y="2153793"/>
            <a:ext cx="4868750" cy="194310"/>
          </a:xfrm>
          <a:prstGeom prst="rect">
            <a:avLst/>
          </a:prstGeom>
          <a:noFill/>
        </p:spPr>
        <p:txBody>
          <a:bodyPr wrap="none" lIns="0" rIns="0" tIns="0" bIns="0">
            <a:spAutoFit/>
          </a:bodyPr>
          <a:lstStyle/>
          <a:p>
            <a:r>
              <a:rPr sz="1150" b="0">
                <a:solidFill>
                  <a:srgbClr val="2E2E2E"/>
                </a:solidFill>
                <a:latin typeface="Calibri"/>
              </a:rPr>
              <a:t>The chewables segment is expected to create an incremental opportunity of US$</a:t>
            </a:r>
          </a:p>
        </p:txBody>
      </p:sp>
      <p:pic>
        <p:nvPicPr>
          <p:cNvPr id="32" name="Picture 31" descr="lock.png"/>
          <p:cNvPicPr>
            <a:picLocks noChangeAspect="1"/>
          </p:cNvPicPr>
          <p:nvPr/>
        </p:nvPicPr>
        <p:blipFill>
          <a:blip r:embed="rId6"/>
          <a:stretch>
            <a:fillRect/>
          </a:stretch>
        </p:blipFill>
        <p:spPr>
          <a:xfrm>
            <a:off x="11123454" y="2143569"/>
            <a:ext cx="134549" cy="195707"/>
          </a:xfrm>
          <a:prstGeom prst="rect">
            <a:avLst/>
          </a:prstGeom>
        </p:spPr>
      </p:pic>
      <p:sp>
        <p:nvSpPr>
          <p:cNvPr id="33" name="TextBox 32"/>
          <p:cNvSpPr txBox="1"/>
          <p:nvPr/>
        </p:nvSpPr>
        <p:spPr>
          <a:xfrm>
            <a:off x="11298564" y="2153793"/>
            <a:ext cx="483542" cy="194310"/>
          </a:xfrm>
          <a:prstGeom prst="rect">
            <a:avLst/>
          </a:prstGeom>
          <a:noFill/>
        </p:spPr>
        <p:txBody>
          <a:bodyPr wrap="none" lIns="0" rIns="0" tIns="0" bIns="0">
            <a:spAutoFit/>
          </a:bodyPr>
          <a:lstStyle/>
          <a:p>
            <a:r>
              <a:rPr sz="1150" b="0">
                <a:solidFill>
                  <a:srgbClr val="2E2E2E"/>
                </a:solidFill>
                <a:latin typeface="Calibri"/>
              </a:rPr>
              <a:t>Mn for</a:t>
            </a:r>
          </a:p>
        </p:txBody>
      </p:sp>
      <p:sp>
        <p:nvSpPr>
          <p:cNvPr id="34" name="TextBox 33"/>
          <p:cNvSpPr txBox="1"/>
          <p:nvPr/>
        </p:nvSpPr>
        <p:spPr>
          <a:xfrm>
            <a:off x="6305550" y="2329053"/>
            <a:ext cx="5561917" cy="194310"/>
          </a:xfrm>
          <a:prstGeom prst="rect">
            <a:avLst/>
          </a:prstGeom>
          <a:noFill/>
        </p:spPr>
        <p:txBody>
          <a:bodyPr wrap="none" lIns="0" rIns="0" tIns="0" bIns="0">
            <a:spAutoFit/>
          </a:bodyPr>
          <a:lstStyle/>
          <a:p>
            <a:r>
              <a:rPr sz="1150" b="0">
                <a:solidFill>
                  <a:srgbClr val="2E2E2E"/>
                </a:solidFill>
                <a:latin typeface="Calibri"/>
              </a:rPr>
              <a:t>the overall senior dog cognitive supplement market from 2026 to 2036. The tablets segment</a:t>
            </a:r>
          </a:p>
        </p:txBody>
      </p:sp>
      <p:sp>
        <p:nvSpPr>
          <p:cNvPr id="35" name="TextBox 34"/>
          <p:cNvSpPr txBox="1"/>
          <p:nvPr/>
        </p:nvSpPr>
        <p:spPr>
          <a:xfrm>
            <a:off x="6305550" y="2504313"/>
            <a:ext cx="3409106" cy="194310"/>
          </a:xfrm>
          <a:prstGeom prst="rect">
            <a:avLst/>
          </a:prstGeom>
          <a:noFill/>
        </p:spPr>
        <p:txBody>
          <a:bodyPr wrap="none" lIns="0" rIns="0" tIns="0" bIns="0">
            <a:spAutoFit/>
          </a:bodyPr>
          <a:lstStyle/>
          <a:p>
            <a:r>
              <a:rPr sz="1150" b="0">
                <a:solidFill>
                  <a:srgbClr val="2E2E2E"/>
                </a:solidFill>
                <a:latin typeface="Calibri"/>
              </a:rPr>
              <a:t>is expected to create an incremental opportunity of US$</a:t>
            </a:r>
          </a:p>
        </p:txBody>
      </p:sp>
      <p:pic>
        <p:nvPicPr>
          <p:cNvPr id="36" name="Picture 35" descr="lock.png"/>
          <p:cNvPicPr>
            <a:picLocks noChangeAspect="1"/>
          </p:cNvPicPr>
          <p:nvPr/>
        </p:nvPicPr>
        <p:blipFill>
          <a:blip r:embed="rId6"/>
          <a:stretch>
            <a:fillRect/>
          </a:stretch>
        </p:blipFill>
        <p:spPr>
          <a:xfrm>
            <a:off x="9663810" y="2494089"/>
            <a:ext cx="134549" cy="195707"/>
          </a:xfrm>
          <a:prstGeom prst="rect">
            <a:avLst/>
          </a:prstGeom>
        </p:spPr>
      </p:pic>
      <p:sp>
        <p:nvSpPr>
          <p:cNvPr id="37" name="TextBox 36"/>
          <p:cNvSpPr txBox="1"/>
          <p:nvPr/>
        </p:nvSpPr>
        <p:spPr>
          <a:xfrm>
            <a:off x="9838919" y="2504313"/>
            <a:ext cx="1809117" cy="194310"/>
          </a:xfrm>
          <a:prstGeom prst="rect">
            <a:avLst/>
          </a:prstGeom>
          <a:noFill/>
        </p:spPr>
        <p:txBody>
          <a:bodyPr wrap="none" lIns="0" rIns="0" tIns="0" bIns="0">
            <a:spAutoFit/>
          </a:bodyPr>
          <a:lstStyle/>
          <a:p>
            <a:r>
              <a:rPr sz="1150" b="0">
                <a:solidFill>
                  <a:srgbClr val="2E2E2E"/>
                </a:solidFill>
                <a:latin typeface="Calibri"/>
              </a:rPr>
              <a:t>Mn for the overall senior dog</a:t>
            </a:r>
          </a:p>
        </p:txBody>
      </p:sp>
      <p:sp>
        <p:nvSpPr>
          <p:cNvPr id="38" name="TextBox 37"/>
          <p:cNvSpPr txBox="1"/>
          <p:nvPr/>
        </p:nvSpPr>
        <p:spPr>
          <a:xfrm>
            <a:off x="6305550" y="2679573"/>
            <a:ext cx="2994347" cy="194310"/>
          </a:xfrm>
          <a:prstGeom prst="rect">
            <a:avLst/>
          </a:prstGeom>
          <a:noFill/>
        </p:spPr>
        <p:txBody>
          <a:bodyPr wrap="none" lIns="0" rIns="0" tIns="0" bIns="0">
            <a:spAutoFit/>
          </a:bodyPr>
          <a:lstStyle/>
          <a:p>
            <a:r>
              <a:rPr sz="1150" b="0">
                <a:solidFill>
                  <a:srgbClr val="2E2E2E"/>
                </a:solidFill>
                <a:latin typeface="Calibri"/>
              </a:rPr>
              <a:t>cognitive supplement market from 2026 to 2036.</a:t>
            </a:r>
          </a:p>
        </p:txBody>
      </p:sp>
      <p:sp>
        <p:nvSpPr>
          <p:cNvPr id="3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lockshield_15"/>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Form Type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Form Type, 2021–2036, highlighting the sub-segments driving growth</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Form Type (US$ Mn)</a:t>
            </a:r>
          </a:p>
        </p:txBody>
      </p:sp>
      <p:graphicFrame>
        <p:nvGraphicFramePr>
          <p:cNvPr id="12" name="Table 11"/>
          <p:cNvGraphicFramePr>
            <a:graphicFrameLocks noGrp="1"/>
          </p:cNvGraphicFramePr>
          <p:nvPr/>
        </p:nvGraphicFramePr>
        <p:xfrm>
          <a:off x="152400" y="1238250"/>
          <a:ext cx="11887195" cy="1971675"/>
        </p:xfrm>
        <a:graphic>
          <a:graphicData uri="http://schemas.openxmlformats.org/drawingml/2006/table">
            <a:tbl>
              <a:tblPr>
                <a:tableStyleId>{5C22544A-7EE6-4342-B048-85BDC9FD1C3A}</a:tableStyleId>
              </a:tblPr>
              <a:tblGrid>
                <a:gridCol w="1597554"/>
                <a:gridCol w="605273"/>
                <a:gridCol w="605273"/>
                <a:gridCol w="605273"/>
                <a:gridCol w="605273"/>
                <a:gridCol w="605273"/>
                <a:gridCol w="605273"/>
                <a:gridCol w="605273"/>
                <a:gridCol w="605273"/>
                <a:gridCol w="605273"/>
                <a:gridCol w="605273"/>
                <a:gridCol w="605273"/>
                <a:gridCol w="605273"/>
                <a:gridCol w="605273"/>
                <a:gridCol w="605273"/>
                <a:gridCol w="605273"/>
                <a:gridCol w="605273"/>
                <a:gridCol w="605273"/>
              </a:tblGrid>
              <a:tr h="246126">
                <a:tc>
                  <a:txBody>
                    <a:bodyPr wrap="none"/>
                    <a:lstStyle/>
                    <a:p>
                      <a:pPr algn="l"/>
                      <a:r>
                        <a:rPr sz="1100" b="1">
                          <a:solidFill>
                            <a:srgbClr val="0B2E4A"/>
                          </a:solidFill>
                          <a:latin typeface="Calibri"/>
                        </a:rPr>
                        <a:t>Form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Chewables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Tablets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Capsules and Softgels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Powders and Granules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Liquids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Gels and Pastes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Form Type</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708084" y="2080450"/>
            <a:ext cx="366712" cy="533400"/>
          </a:xfrm>
          <a:prstGeom prst="rect">
            <a:avLst/>
          </a:prstGeom>
        </p:spPr>
      </p:pic>
      <p:sp>
        <p:nvSpPr>
          <p:cNvPr id="20" name="TextBox 19"/>
          <p:cNvSpPr txBox="1"/>
          <p:nvPr/>
        </p:nvSpPr>
        <p:spPr>
          <a:xfrm>
            <a:off x="276225" y="3971925"/>
            <a:ext cx="3272470" cy="194310"/>
          </a:xfrm>
          <a:prstGeom prst="rect">
            <a:avLst/>
          </a:prstGeom>
          <a:noFill/>
        </p:spPr>
        <p:txBody>
          <a:bodyPr wrap="none" lIns="0" rIns="0" tIns="0" bIns="0">
            <a:spAutoFit/>
          </a:bodyPr>
          <a:lstStyle/>
          <a:p>
            <a:r>
              <a:rPr sz="1150" b="0">
                <a:solidFill>
                  <a:srgbClr val="2E2E2E"/>
                </a:solidFill>
                <a:latin typeface="Calibri"/>
              </a:rPr>
              <a:t>Capsules and softgels segment is projected to register</a:t>
            </a:r>
          </a:p>
        </p:txBody>
      </p:sp>
      <p:pic>
        <p:nvPicPr>
          <p:cNvPr id="21" name="Picture 20" descr="lock.png"/>
          <p:cNvPicPr>
            <a:picLocks noChangeAspect="1"/>
          </p:cNvPicPr>
          <p:nvPr/>
        </p:nvPicPr>
        <p:blipFill>
          <a:blip r:embed="rId4"/>
          <a:stretch>
            <a:fillRect/>
          </a:stretch>
        </p:blipFill>
        <p:spPr>
          <a:xfrm>
            <a:off x="3497848" y="3961701"/>
            <a:ext cx="134549" cy="195707"/>
          </a:xfrm>
          <a:prstGeom prst="rect">
            <a:avLst/>
          </a:prstGeom>
        </p:spPr>
      </p:pic>
      <p:sp>
        <p:nvSpPr>
          <p:cNvPr id="22" name="TextBox 21"/>
          <p:cNvSpPr txBox="1"/>
          <p:nvPr/>
        </p:nvSpPr>
        <p:spPr>
          <a:xfrm>
            <a:off x="3672958" y="3971925"/>
            <a:ext cx="8049046" cy="194310"/>
          </a:xfrm>
          <a:prstGeom prst="rect">
            <a:avLst/>
          </a:prstGeom>
          <a:noFill/>
        </p:spPr>
        <p:txBody>
          <a:bodyPr wrap="none" lIns="0" rIns="0" tIns="0" bIns="0">
            <a:spAutoFit/>
          </a:bodyPr>
          <a:lstStyle/>
          <a:p>
            <a:r>
              <a:rPr sz="1150" b="0">
                <a:solidFill>
                  <a:srgbClr val="2E2E2E"/>
                </a:solidFill>
                <a:latin typeface="Calibri"/>
              </a:rPr>
              <a:t>X higher value than tablets segment in 2036. Among senior dog cognitive supplement by form type, chewables segment is expected to</a:t>
            </a:r>
          </a:p>
        </p:txBody>
      </p:sp>
      <p:sp>
        <p:nvSpPr>
          <p:cNvPr id="23" name="TextBox 22"/>
          <p:cNvSpPr txBox="1"/>
          <p:nvPr/>
        </p:nvSpPr>
        <p:spPr>
          <a:xfrm>
            <a:off x="276225" y="414718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24" name="Picture 23" descr="lock.png"/>
          <p:cNvPicPr>
            <a:picLocks noChangeAspect="1"/>
          </p:cNvPicPr>
          <p:nvPr/>
        </p:nvPicPr>
        <p:blipFill>
          <a:blip r:embed="rId4"/>
          <a:stretch>
            <a:fillRect/>
          </a:stretch>
        </p:blipFill>
        <p:spPr>
          <a:xfrm>
            <a:off x="1973149" y="4136961"/>
            <a:ext cx="134549" cy="195707"/>
          </a:xfrm>
          <a:prstGeom prst="rect">
            <a:avLst/>
          </a:prstGeom>
        </p:spPr>
      </p:pic>
      <p:sp>
        <p:nvSpPr>
          <p:cNvPr id="25" name="TextBox 24"/>
          <p:cNvSpPr txBox="1"/>
          <p:nvPr/>
        </p:nvSpPr>
        <p:spPr>
          <a:xfrm>
            <a:off x="2148258"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6991895" cy="194310"/>
          </a:xfrm>
          <a:prstGeom prst="rect">
            <a:avLst/>
          </a:prstGeom>
          <a:noFill/>
        </p:spPr>
        <p:txBody>
          <a:bodyPr wrap="none" lIns="0" rIns="0" tIns="0" bIns="0">
            <a:spAutoFit/>
          </a:bodyPr>
          <a:lstStyle/>
          <a:p>
            <a:r>
              <a:rPr sz="1150" b="0">
                <a:solidFill>
                  <a:srgbClr val="2E2E2E"/>
                </a:solidFill>
                <a:latin typeface="Calibri"/>
              </a:rPr>
              <a:t>In terms of value share by form type, the capsules and softgels segment is expected to dominate the market, gaining</a:t>
            </a:r>
          </a:p>
        </p:txBody>
      </p:sp>
      <p:pic>
        <p:nvPicPr>
          <p:cNvPr id="27" name="Picture 26" descr="lock.png"/>
          <p:cNvPicPr>
            <a:picLocks noChangeAspect="1"/>
          </p:cNvPicPr>
          <p:nvPr/>
        </p:nvPicPr>
        <p:blipFill>
          <a:blip r:embed="rId4"/>
          <a:stretch>
            <a:fillRect/>
          </a:stretch>
        </p:blipFill>
        <p:spPr>
          <a:xfrm>
            <a:off x="7217274" y="4364799"/>
            <a:ext cx="134549" cy="195707"/>
          </a:xfrm>
          <a:prstGeom prst="rect">
            <a:avLst/>
          </a:prstGeom>
        </p:spPr>
      </p:pic>
      <p:sp>
        <p:nvSpPr>
          <p:cNvPr id="28" name="TextBox 27"/>
          <p:cNvSpPr txBox="1"/>
          <p:nvPr/>
        </p:nvSpPr>
        <p:spPr>
          <a:xfrm>
            <a:off x="7392383"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787527" y="4364799"/>
            <a:ext cx="134549" cy="195707"/>
          </a:xfrm>
          <a:prstGeom prst="rect">
            <a:avLst/>
          </a:prstGeom>
        </p:spPr>
      </p:pic>
      <p:sp>
        <p:nvSpPr>
          <p:cNvPr id="30" name="TextBox 29"/>
          <p:cNvSpPr txBox="1"/>
          <p:nvPr/>
        </p:nvSpPr>
        <p:spPr>
          <a:xfrm>
            <a:off x="8962636" y="4375022"/>
            <a:ext cx="2684276" cy="194310"/>
          </a:xfrm>
          <a:prstGeom prst="rect">
            <a:avLst/>
          </a:prstGeom>
          <a:noFill/>
        </p:spPr>
        <p:txBody>
          <a:bodyPr wrap="none" lIns="0" rIns="0" tIns="0" bIns="0">
            <a:spAutoFit/>
          </a:bodyPr>
          <a:lstStyle/>
          <a:p>
            <a:r>
              <a:rPr sz="1150" b="0">
                <a:solidFill>
                  <a:srgbClr val="2E2E2E"/>
                </a:solidFill>
                <a:latin typeface="Calibri"/>
              </a:rPr>
              <a:t>share by 2036. The gels and pastes segment</a:t>
            </a:r>
          </a:p>
        </p:txBody>
      </p:sp>
      <p:sp>
        <p:nvSpPr>
          <p:cNvPr id="31" name="TextBox 30"/>
          <p:cNvSpPr txBox="1"/>
          <p:nvPr/>
        </p:nvSpPr>
        <p:spPr>
          <a:xfrm>
            <a:off x="276225" y="4550282"/>
            <a:ext cx="1178706" cy="194310"/>
          </a:xfrm>
          <a:prstGeom prst="rect">
            <a:avLst/>
          </a:prstGeom>
          <a:noFill/>
        </p:spPr>
        <p:txBody>
          <a:bodyPr wrap="none" lIns="0" rIns="0" tIns="0" bIns="0">
            <a:spAutoFit/>
          </a:bodyPr>
          <a:lstStyle/>
          <a:p>
            <a:r>
              <a:rPr sz="1150" b="0">
                <a:solidFill>
                  <a:srgbClr val="2E2E2E"/>
                </a:solidFill>
                <a:latin typeface="Calibri"/>
              </a:rPr>
              <a:t>is expected to lose</a:t>
            </a:r>
          </a:p>
        </p:txBody>
      </p:sp>
      <p:pic>
        <p:nvPicPr>
          <p:cNvPr id="32" name="Picture 31" descr="lock.png"/>
          <p:cNvPicPr>
            <a:picLocks noChangeAspect="1"/>
          </p:cNvPicPr>
          <p:nvPr/>
        </p:nvPicPr>
        <p:blipFill>
          <a:blip r:embed="rId4"/>
          <a:stretch>
            <a:fillRect/>
          </a:stretch>
        </p:blipFill>
        <p:spPr>
          <a:xfrm>
            <a:off x="1404085" y="4540059"/>
            <a:ext cx="134549" cy="195707"/>
          </a:xfrm>
          <a:prstGeom prst="rect">
            <a:avLst/>
          </a:prstGeom>
        </p:spPr>
      </p:pic>
      <p:sp>
        <p:nvSpPr>
          <p:cNvPr id="33" name="TextBox 32"/>
          <p:cNvSpPr txBox="1"/>
          <p:nvPr/>
        </p:nvSpPr>
        <p:spPr>
          <a:xfrm>
            <a:off x="1579194" y="45502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4166699" y="4540059"/>
            <a:ext cx="134549" cy="195707"/>
          </a:xfrm>
          <a:prstGeom prst="rect">
            <a:avLst/>
          </a:prstGeom>
        </p:spPr>
      </p:pic>
      <p:sp>
        <p:nvSpPr>
          <p:cNvPr id="35" name="TextBox 34"/>
          <p:cNvSpPr txBox="1"/>
          <p:nvPr/>
        </p:nvSpPr>
        <p:spPr>
          <a:xfrm>
            <a:off x="4341808"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Form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Form Type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Form Type ·  2021 / 2026 / 2036 (US$ Mn)  ·  right axis = BPS share shift</a:t>
            </a:r>
          </a:p>
        </p:txBody>
      </p:sp>
      <p:graphicFrame>
        <p:nvGraphicFramePr>
          <p:cNvPr id="12" name="Chart 11"/>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3932301"/>
            <a:ext cx="38100" cy="38100"/>
          </a:xfrm>
          <a:prstGeom prst="rect">
            <a:avLst/>
          </a:prstGeom>
          <a:noFill/>
        </p:spPr>
        <p:txBody>
          <a:bodyPr wrap="none">
            <a:spAutoFit/>
          </a:bodyPr>
          <a:lstStyle/>
          <a:p/>
        </p:txBody>
      </p:sp>
      <p:sp>
        <p:nvSpPr>
          <p:cNvPr id="15" name="FMI Legend Chip"/>
          <p:cNvSpPr/>
          <p:nvPr/>
        </p:nvSpPr>
        <p:spPr>
          <a:xfrm>
            <a:off x="4928997" y="1613875"/>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60911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53291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Powders and Granules</a:t>
            </a:r>
          </a:p>
        </p:txBody>
      </p:sp>
      <p:sp>
        <p:nvSpPr>
          <p:cNvPr id="18" name="BPS Value 1"/>
          <p:cNvSpPr txBox="1"/>
          <p:nvPr/>
        </p:nvSpPr>
        <p:spPr>
          <a:xfrm>
            <a:off x="6896100" y="159482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1904677"/>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189991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182371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Liquids</a:t>
            </a:r>
          </a:p>
        </p:txBody>
      </p:sp>
      <p:sp>
        <p:nvSpPr>
          <p:cNvPr id="22" name="BPS Value 2"/>
          <p:cNvSpPr txBox="1"/>
          <p:nvPr/>
        </p:nvSpPr>
        <p:spPr>
          <a:xfrm>
            <a:off x="6896100" y="188562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2333022"/>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232826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25206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Gels and Pastes</a:t>
            </a:r>
          </a:p>
        </p:txBody>
      </p:sp>
      <p:sp>
        <p:nvSpPr>
          <p:cNvPr id="26" name="BPS Value 3"/>
          <p:cNvSpPr txBox="1"/>
          <p:nvPr/>
        </p:nvSpPr>
        <p:spPr>
          <a:xfrm>
            <a:off x="6896100" y="231397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3019511"/>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090922" y="301474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293854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Chewables</a:t>
            </a:r>
          </a:p>
        </p:txBody>
      </p:sp>
      <p:sp>
        <p:nvSpPr>
          <p:cNvPr id="30" name="BPS Value 4"/>
          <p:cNvSpPr txBox="1"/>
          <p:nvPr/>
        </p:nvSpPr>
        <p:spPr>
          <a:xfrm>
            <a:off x="6896100" y="300046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928997" y="3961024"/>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5090922" y="395626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388006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Tablets</a:t>
            </a:r>
          </a:p>
        </p:txBody>
      </p:sp>
      <p:sp>
        <p:nvSpPr>
          <p:cNvPr id="34" name="BPS Value 5"/>
          <p:cNvSpPr txBox="1"/>
          <p:nvPr/>
        </p:nvSpPr>
        <p:spPr>
          <a:xfrm>
            <a:off x="6896100" y="394197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928997" y="5352219"/>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5090922" y="534745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527125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Capsules and Softgels</a:t>
            </a:r>
          </a:p>
        </p:txBody>
      </p:sp>
      <p:sp>
        <p:nvSpPr>
          <p:cNvPr id="38" name="BPS Value 6"/>
          <p:cNvSpPr txBox="1"/>
          <p:nvPr/>
        </p:nvSpPr>
        <p:spPr>
          <a:xfrm>
            <a:off x="6896100" y="533316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Rounded Rectangle 38"/>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Form Type</a:t>
            </a:r>
          </a:p>
        </p:txBody>
      </p:sp>
      <p:sp>
        <p:nvSpPr>
          <p:cNvPr id="41" name="Rectangle 40"/>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TextBox 4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4" name="Picture 43" descr="lock.png"/>
          <p:cNvPicPr>
            <a:picLocks noChangeAspect="1"/>
          </p:cNvPicPr>
          <p:nvPr/>
        </p:nvPicPr>
        <p:blipFill>
          <a:blip r:embed="rId5"/>
          <a:stretch>
            <a:fillRect/>
          </a:stretch>
        </p:blipFill>
        <p:spPr>
          <a:xfrm>
            <a:off x="2557843" y="3751325"/>
            <a:ext cx="275034" cy="400050"/>
          </a:xfrm>
          <a:prstGeom prst="rect">
            <a:avLst/>
          </a:prstGeom>
        </p:spPr>
      </p:pic>
      <p:sp>
        <p:nvSpPr>
          <p:cNvPr id="45" name="TextBox 44"/>
          <p:cNvSpPr txBox="1"/>
          <p:nvPr/>
        </p:nvSpPr>
        <p:spPr>
          <a:xfrm>
            <a:off x="7829550" y="1400175"/>
            <a:ext cx="3962784" cy="194310"/>
          </a:xfrm>
          <a:prstGeom prst="rect">
            <a:avLst/>
          </a:prstGeom>
          <a:noFill/>
        </p:spPr>
        <p:txBody>
          <a:bodyPr wrap="none" lIns="0" rIns="0" tIns="0" bIns="0">
            <a:spAutoFit/>
          </a:bodyPr>
          <a:lstStyle/>
          <a:p>
            <a:r>
              <a:rPr sz="1150" b="0">
                <a:solidFill>
                  <a:srgbClr val="2E2E2E"/>
                </a:solidFill>
                <a:latin typeface="Calibri"/>
              </a:rPr>
              <a:t>Among senior dog cognitive supplement by form type, chewables</a:t>
            </a:r>
          </a:p>
        </p:txBody>
      </p:sp>
      <p:sp>
        <p:nvSpPr>
          <p:cNvPr id="46" name="TextBox 45"/>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47" name="Picture 46" descr="lock.png"/>
          <p:cNvPicPr>
            <a:picLocks noChangeAspect="1"/>
          </p:cNvPicPr>
          <p:nvPr/>
        </p:nvPicPr>
        <p:blipFill>
          <a:blip r:embed="rId5"/>
          <a:stretch>
            <a:fillRect/>
          </a:stretch>
        </p:blipFill>
        <p:spPr>
          <a:xfrm>
            <a:off x="10935343" y="1565211"/>
            <a:ext cx="134549" cy="195707"/>
          </a:xfrm>
          <a:prstGeom prst="rect">
            <a:avLst/>
          </a:prstGeom>
        </p:spPr>
      </p:pic>
      <p:sp>
        <p:nvSpPr>
          <p:cNvPr id="48" name="TextBox 47"/>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49" name="TextBox 48"/>
          <p:cNvSpPr txBox="1"/>
          <p:nvPr/>
        </p:nvSpPr>
        <p:spPr>
          <a:xfrm>
            <a:off x="7829550" y="1750695"/>
            <a:ext cx="4013844" cy="194310"/>
          </a:xfrm>
          <a:prstGeom prst="rect">
            <a:avLst/>
          </a:prstGeom>
          <a:noFill/>
        </p:spPr>
        <p:txBody>
          <a:bodyPr wrap="none" lIns="0" rIns="0" tIns="0" bIns="0">
            <a:spAutoFit/>
          </a:bodyPr>
          <a:lstStyle/>
          <a:p>
            <a:r>
              <a:rPr sz="1150" b="0">
                <a:solidFill>
                  <a:srgbClr val="2E2E2E"/>
                </a:solidFill>
                <a:latin typeface="Calibri"/>
              </a:rPr>
              <a:t>forecast period. In terms of value share by form type, the capsules</a:t>
            </a:r>
          </a:p>
        </p:txBody>
      </p:sp>
      <p:sp>
        <p:nvSpPr>
          <p:cNvPr id="50" name="TextBox 49"/>
          <p:cNvSpPr txBox="1"/>
          <p:nvPr/>
        </p:nvSpPr>
        <p:spPr>
          <a:xfrm>
            <a:off x="7829550" y="1925955"/>
            <a:ext cx="3995303" cy="194310"/>
          </a:xfrm>
          <a:prstGeom prst="rect">
            <a:avLst/>
          </a:prstGeom>
          <a:noFill/>
        </p:spPr>
        <p:txBody>
          <a:bodyPr wrap="none" lIns="0" rIns="0" tIns="0" bIns="0">
            <a:spAutoFit/>
          </a:bodyPr>
          <a:lstStyle/>
          <a:p>
            <a:r>
              <a:rPr sz="1150" b="0">
                <a:solidFill>
                  <a:srgbClr val="2E2E2E"/>
                </a:solidFill>
                <a:latin typeface="Calibri"/>
              </a:rPr>
              <a:t>and softgels segment is expected to dominate the market, gaining</a:t>
            </a:r>
          </a:p>
        </p:txBody>
      </p:sp>
      <p:pic>
        <p:nvPicPr>
          <p:cNvPr id="51" name="Picture 50" descr="lock.png"/>
          <p:cNvPicPr>
            <a:picLocks noChangeAspect="1"/>
          </p:cNvPicPr>
          <p:nvPr/>
        </p:nvPicPr>
        <p:blipFill>
          <a:blip r:embed="rId5"/>
          <a:stretch>
            <a:fillRect/>
          </a:stretch>
        </p:blipFill>
        <p:spPr>
          <a:xfrm>
            <a:off x="7815470" y="2090991"/>
            <a:ext cx="134549" cy="195707"/>
          </a:xfrm>
          <a:prstGeom prst="rect">
            <a:avLst/>
          </a:prstGeom>
        </p:spPr>
      </p:pic>
      <p:sp>
        <p:nvSpPr>
          <p:cNvPr id="52" name="TextBox 51"/>
          <p:cNvSpPr txBox="1"/>
          <p:nvPr/>
        </p:nvSpPr>
        <p:spPr>
          <a:xfrm>
            <a:off x="7990579"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3" name="Picture 52" descr="lock.png"/>
          <p:cNvPicPr>
            <a:picLocks noChangeAspect="1"/>
          </p:cNvPicPr>
          <p:nvPr/>
        </p:nvPicPr>
        <p:blipFill>
          <a:blip r:embed="rId5"/>
          <a:stretch>
            <a:fillRect/>
          </a:stretch>
        </p:blipFill>
        <p:spPr>
          <a:xfrm>
            <a:off x="9385722" y="2090991"/>
            <a:ext cx="134549" cy="195707"/>
          </a:xfrm>
          <a:prstGeom prst="rect">
            <a:avLst/>
          </a:prstGeom>
        </p:spPr>
      </p:pic>
      <p:sp>
        <p:nvSpPr>
          <p:cNvPr id="54" name="TextBox 53"/>
          <p:cNvSpPr txBox="1"/>
          <p:nvPr/>
        </p:nvSpPr>
        <p:spPr>
          <a:xfrm>
            <a:off x="9560832"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5" name="TextBox 54"/>
          <p:cNvSpPr txBox="1"/>
          <p:nvPr/>
        </p:nvSpPr>
        <p:spPr>
          <a:xfrm>
            <a:off x="7829550" y="2329053"/>
            <a:ext cx="2916758" cy="194310"/>
          </a:xfrm>
          <a:prstGeom prst="rect">
            <a:avLst/>
          </a:prstGeom>
          <a:noFill/>
        </p:spPr>
        <p:txBody>
          <a:bodyPr wrap="none" lIns="0" rIns="0" tIns="0" bIns="0">
            <a:spAutoFit/>
          </a:bodyPr>
          <a:lstStyle/>
          <a:p>
            <a:r>
              <a:rPr sz="1150" b="0">
                <a:solidFill>
                  <a:srgbClr val="2E2E2E"/>
                </a:solidFill>
                <a:latin typeface="Calibri"/>
              </a:rPr>
              <a:t>The gels and pastes segment is expected to lose</a:t>
            </a:r>
          </a:p>
        </p:txBody>
      </p:sp>
      <p:pic>
        <p:nvPicPr>
          <p:cNvPr id="56" name="Picture 55" descr="lock.png"/>
          <p:cNvPicPr>
            <a:picLocks noChangeAspect="1"/>
          </p:cNvPicPr>
          <p:nvPr/>
        </p:nvPicPr>
        <p:blipFill>
          <a:blip r:embed="rId5"/>
          <a:stretch>
            <a:fillRect/>
          </a:stretch>
        </p:blipFill>
        <p:spPr>
          <a:xfrm>
            <a:off x="10695462" y="2318829"/>
            <a:ext cx="134549" cy="195707"/>
          </a:xfrm>
          <a:prstGeom prst="rect">
            <a:avLst/>
          </a:prstGeom>
        </p:spPr>
      </p:pic>
      <p:sp>
        <p:nvSpPr>
          <p:cNvPr id="57" name="TextBox 56"/>
          <p:cNvSpPr txBox="1"/>
          <p:nvPr/>
        </p:nvSpPr>
        <p:spPr>
          <a:xfrm>
            <a:off x="10870571"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58" name="TextBox 57"/>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59" name="Picture 58" descr="lock.png"/>
          <p:cNvPicPr>
            <a:picLocks noChangeAspect="1"/>
          </p:cNvPicPr>
          <p:nvPr/>
        </p:nvPicPr>
        <p:blipFill>
          <a:blip r:embed="rId5"/>
          <a:stretch>
            <a:fillRect/>
          </a:stretch>
        </p:blipFill>
        <p:spPr>
          <a:xfrm>
            <a:off x="9630324" y="2494089"/>
            <a:ext cx="134549" cy="195707"/>
          </a:xfrm>
          <a:prstGeom prst="rect">
            <a:avLst/>
          </a:prstGeom>
        </p:spPr>
      </p:pic>
      <p:sp>
        <p:nvSpPr>
          <p:cNvPr id="60" name="TextBox 59"/>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1" name="lockshield_12"/>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Active Ingredient</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Active Ingredient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Active Ingredient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Active Ingredient,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Active Ingredient segment categorizes the market by active ingredient.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Antioxidant Ingredients</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Cellular Energy Support Ingredien…</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Omega-3 Fatty Acids</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Microbiome-Targeted Ingredients</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Botanical Ingredients</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Neurofunctional Nutrients</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Active Ingredient split shows how demand is distributed across active ingredient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7" name="Picture 76" descr="2_319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4_080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5_8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2_254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3_955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5_8__605E5C.png"/>
          <p:cNvPicPr>
            <a:picLocks noChangeAspect="1"/>
          </p:cNvPicPr>
          <p:nvPr/>
        </p:nvPicPr>
        <p:blipFill>
          <a:blip r:embed="rId6"/>
          <a:stretch>
            <a:fillRect/>
          </a:stretch>
        </p:blipFill>
        <p:spPr>
          <a:xfrm>
            <a:off x="3847419" y="3272281"/>
            <a:ext cx="982436" cy="361950"/>
          </a:xfrm>
          <a:prstGeom prst="rect">
            <a:avLst/>
          </a:prstGeom>
        </p:spPr>
      </p:pic>
      <p:pic>
        <p:nvPicPr>
          <p:cNvPr id="83" name="Picture 82" descr="1_870_605E5C.png"/>
          <p:cNvPicPr>
            <a:picLocks noChangeAspect="1"/>
          </p:cNvPicPr>
          <p:nvPr/>
        </p:nvPicPr>
        <p:blipFill>
          <a:blip r:embed="rId9"/>
          <a:stretch>
            <a:fillRect/>
          </a:stretch>
        </p:blipFill>
        <p:spPr>
          <a:xfrm>
            <a:off x="5426698" y="2286582"/>
            <a:ext cx="1195728" cy="361950"/>
          </a:xfrm>
          <a:prstGeom prst="rect">
            <a:avLst/>
          </a:prstGeom>
        </p:spPr>
      </p:pic>
      <p:pic>
        <p:nvPicPr>
          <p:cNvPr id="84" name="Picture 83" descr="2_941_605E5C.png"/>
          <p:cNvPicPr>
            <a:picLocks noChangeAspect="1"/>
          </p:cNvPicPr>
          <p:nvPr/>
        </p:nvPicPr>
        <p:blipFill>
          <a:blip r:embed="rId10"/>
          <a:stretch>
            <a:fillRect/>
          </a:stretch>
        </p:blipFill>
        <p:spPr>
          <a:xfrm>
            <a:off x="5426698" y="2779432"/>
            <a:ext cx="1195728" cy="361950"/>
          </a:xfrm>
          <a:prstGeom prst="rect">
            <a:avLst/>
          </a:prstGeom>
        </p:spPr>
      </p:pic>
      <p:pic>
        <p:nvPicPr>
          <p:cNvPr id="85" name="Picture 84" descr="4_6__605E5C.png"/>
          <p:cNvPicPr>
            <a:picLocks noChangeAspect="1"/>
          </p:cNvPicPr>
          <p:nvPr/>
        </p:nvPicPr>
        <p:blipFill>
          <a:blip r:embed="rId11"/>
          <a:stretch>
            <a:fillRect/>
          </a:stretch>
        </p:blipFill>
        <p:spPr>
          <a:xfrm>
            <a:off x="5533344" y="3272281"/>
            <a:ext cx="982436" cy="361950"/>
          </a:xfrm>
          <a:prstGeom prst="rect">
            <a:avLst/>
          </a:prstGeom>
        </p:spPr>
      </p:pic>
      <p:pic>
        <p:nvPicPr>
          <p:cNvPr id="86" name="Picture 85" descr="1_699_605E5C.png"/>
          <p:cNvPicPr>
            <a:picLocks noChangeAspect="1"/>
          </p:cNvPicPr>
          <p:nvPr/>
        </p:nvPicPr>
        <p:blipFill>
          <a:blip r:embed="rId12"/>
          <a:stretch>
            <a:fillRect/>
          </a:stretch>
        </p:blipFill>
        <p:spPr>
          <a:xfrm>
            <a:off x="7112623" y="2286582"/>
            <a:ext cx="1195728" cy="361950"/>
          </a:xfrm>
          <a:prstGeom prst="rect">
            <a:avLst/>
          </a:prstGeom>
        </p:spPr>
      </p:pic>
      <p:pic>
        <p:nvPicPr>
          <p:cNvPr id="87" name="Picture 86" descr="2_621_605E5C.png"/>
          <p:cNvPicPr>
            <a:picLocks noChangeAspect="1"/>
          </p:cNvPicPr>
          <p:nvPr/>
        </p:nvPicPr>
        <p:blipFill>
          <a:blip r:embed="rId13"/>
          <a:stretch>
            <a:fillRect/>
          </a:stretch>
        </p:blipFill>
        <p:spPr>
          <a:xfrm>
            <a:off x="7112623" y="2779432"/>
            <a:ext cx="1195728" cy="361950"/>
          </a:xfrm>
          <a:prstGeom prst="rect">
            <a:avLst/>
          </a:prstGeom>
        </p:spPr>
      </p:pic>
      <p:pic>
        <p:nvPicPr>
          <p:cNvPr id="88" name="Picture 87" descr="4_4__605E5C.png"/>
          <p:cNvPicPr>
            <a:picLocks noChangeAspect="1"/>
          </p:cNvPicPr>
          <p:nvPr/>
        </p:nvPicPr>
        <p:blipFill>
          <a:blip r:embed="rId14"/>
          <a:stretch>
            <a:fillRect/>
          </a:stretch>
        </p:blipFill>
        <p:spPr>
          <a:xfrm>
            <a:off x="7219269" y="3272281"/>
            <a:ext cx="982436" cy="361950"/>
          </a:xfrm>
          <a:prstGeom prst="rect">
            <a:avLst/>
          </a:prstGeom>
        </p:spPr>
      </p:pic>
      <p:pic>
        <p:nvPicPr>
          <p:cNvPr id="89" name="Picture 88" descr="1_410_605E5C.png"/>
          <p:cNvPicPr>
            <a:picLocks noChangeAspect="1"/>
          </p:cNvPicPr>
          <p:nvPr/>
        </p:nvPicPr>
        <p:blipFill>
          <a:blip r:embed="rId15"/>
          <a:stretch>
            <a:fillRect/>
          </a:stretch>
        </p:blipFill>
        <p:spPr>
          <a:xfrm>
            <a:off x="8798548" y="2286582"/>
            <a:ext cx="1195728" cy="361950"/>
          </a:xfrm>
          <a:prstGeom prst="rect">
            <a:avLst/>
          </a:prstGeom>
        </p:spPr>
      </p:pic>
      <p:pic>
        <p:nvPicPr>
          <p:cNvPr id="90" name="Picture 89" descr="2_107_605E5C.png"/>
          <p:cNvPicPr>
            <a:picLocks noChangeAspect="1"/>
          </p:cNvPicPr>
          <p:nvPr/>
        </p:nvPicPr>
        <p:blipFill>
          <a:blip r:embed="rId16"/>
          <a:stretch>
            <a:fillRect/>
          </a:stretch>
        </p:blipFill>
        <p:spPr>
          <a:xfrm>
            <a:off x="8798548" y="2779432"/>
            <a:ext cx="1195728" cy="361950"/>
          </a:xfrm>
          <a:prstGeom prst="rect">
            <a:avLst/>
          </a:prstGeom>
        </p:spPr>
      </p:pic>
      <p:pic>
        <p:nvPicPr>
          <p:cNvPr id="91" name="Picture 90" descr="4_1__605E5C.png"/>
          <p:cNvPicPr>
            <a:picLocks noChangeAspect="1"/>
          </p:cNvPicPr>
          <p:nvPr/>
        </p:nvPicPr>
        <p:blipFill>
          <a:blip r:embed="rId17"/>
          <a:stretch>
            <a:fillRect/>
          </a:stretch>
        </p:blipFill>
        <p:spPr>
          <a:xfrm>
            <a:off x="8905194" y="3272281"/>
            <a:ext cx="982436" cy="361950"/>
          </a:xfrm>
          <a:prstGeom prst="rect">
            <a:avLst/>
          </a:prstGeom>
        </p:spPr>
      </p:pic>
      <p:pic>
        <p:nvPicPr>
          <p:cNvPr id="92" name="Picture 91" descr="1_348_605E5C.png"/>
          <p:cNvPicPr>
            <a:picLocks noChangeAspect="1"/>
          </p:cNvPicPr>
          <p:nvPr/>
        </p:nvPicPr>
        <p:blipFill>
          <a:blip r:embed="rId18"/>
          <a:stretch>
            <a:fillRect/>
          </a:stretch>
        </p:blipFill>
        <p:spPr>
          <a:xfrm>
            <a:off x="10484473" y="2286582"/>
            <a:ext cx="1195728" cy="361950"/>
          </a:xfrm>
          <a:prstGeom prst="rect">
            <a:avLst/>
          </a:prstGeom>
        </p:spPr>
      </p:pic>
      <p:pic>
        <p:nvPicPr>
          <p:cNvPr id="93" name="Picture 92" descr="2_042_605E5C.png"/>
          <p:cNvPicPr>
            <a:picLocks noChangeAspect="1"/>
          </p:cNvPicPr>
          <p:nvPr/>
        </p:nvPicPr>
        <p:blipFill>
          <a:blip r:embed="rId19"/>
          <a:stretch>
            <a:fillRect/>
          </a:stretch>
        </p:blipFill>
        <p:spPr>
          <a:xfrm>
            <a:off x="10484473" y="2779432"/>
            <a:ext cx="1195728" cy="361950"/>
          </a:xfrm>
          <a:prstGeom prst="rect">
            <a:avLst/>
          </a:prstGeom>
        </p:spPr>
      </p:pic>
      <p:pic>
        <p:nvPicPr>
          <p:cNvPr id="94" name="Picture 93" descr="4_2__605E5C.png"/>
          <p:cNvPicPr>
            <a:picLocks noChangeAspect="1"/>
          </p:cNvPicPr>
          <p:nvPr/>
        </p:nvPicPr>
        <p:blipFill>
          <a:blip r:embed="rId20"/>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1"/>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1"/>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1"/>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1"/>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1"/>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1"/>
          <a:stretch>
            <a:fillRect/>
          </a:stretch>
        </p:blipFill>
        <p:spPr>
          <a:xfrm>
            <a:off x="10988992" y="2827057"/>
            <a:ext cx="183356" cy="266700"/>
          </a:xfrm>
          <a:prstGeom prst="rect">
            <a:avLst/>
          </a:prstGeom>
        </p:spPr>
      </p:pic>
      <p:sp>
        <p:nvSpPr>
          <p:cNvPr id="101" name="TextBox 100"/>
          <p:cNvSpPr txBox="1"/>
          <p:nvPr/>
        </p:nvSpPr>
        <p:spPr>
          <a:xfrm>
            <a:off x="485775" y="4229437"/>
            <a:ext cx="2904852" cy="186689"/>
          </a:xfrm>
          <a:prstGeom prst="rect">
            <a:avLst/>
          </a:prstGeom>
          <a:noFill/>
        </p:spPr>
        <p:txBody>
          <a:bodyPr wrap="none" lIns="0" rIns="0" tIns="0" bIns="0">
            <a:spAutoFit/>
          </a:bodyPr>
          <a:lstStyle/>
          <a:p>
            <a:r>
              <a:rPr sz="1100" b="0">
                <a:solidFill>
                  <a:srgbClr val="2E2E2E"/>
                </a:solidFill>
                <a:latin typeface="Calibri"/>
              </a:rPr>
              <a:t>Among senior dog cognitive supplement by active</a:t>
            </a:r>
          </a:p>
        </p:txBody>
      </p:sp>
      <p:sp>
        <p:nvSpPr>
          <p:cNvPr id="102" name="TextBox 101"/>
          <p:cNvSpPr txBox="1"/>
          <p:nvPr/>
        </p:nvSpPr>
        <p:spPr>
          <a:xfrm>
            <a:off x="485775" y="4397077"/>
            <a:ext cx="2687389" cy="186689"/>
          </a:xfrm>
          <a:prstGeom prst="rect">
            <a:avLst/>
          </a:prstGeom>
          <a:noFill/>
        </p:spPr>
        <p:txBody>
          <a:bodyPr wrap="none" lIns="0" rIns="0" tIns="0" bIns="0">
            <a:spAutoFit/>
          </a:bodyPr>
          <a:lstStyle/>
          <a:p>
            <a:r>
              <a:rPr sz="1100" b="0">
                <a:solidFill>
                  <a:srgbClr val="2E2E2E"/>
                </a:solidFill>
                <a:latin typeface="Calibri"/>
              </a:rPr>
              <a:t>ingredient, antioxidant ingredients segment is</a:t>
            </a:r>
          </a:p>
        </p:txBody>
      </p:sp>
      <p:sp>
        <p:nvSpPr>
          <p:cNvPr id="103" name="TextBox 102"/>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104" name="Picture 103" descr="lock.png"/>
          <p:cNvPicPr>
            <a:picLocks noChangeAspect="1"/>
          </p:cNvPicPr>
          <p:nvPr/>
        </p:nvPicPr>
        <p:blipFill>
          <a:blip r:embed="rId21"/>
          <a:stretch>
            <a:fillRect/>
          </a:stretch>
        </p:blipFill>
        <p:spPr>
          <a:xfrm>
            <a:off x="2815059" y="4554938"/>
            <a:ext cx="128699" cy="187198"/>
          </a:xfrm>
          <a:prstGeom prst="rect">
            <a:avLst/>
          </a:prstGeom>
        </p:spPr>
      </p:pic>
      <p:sp>
        <p:nvSpPr>
          <p:cNvPr id="105" name="TextBox 104"/>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106" name="TextBox 105"/>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107" name="TextBox 106"/>
          <p:cNvSpPr txBox="1"/>
          <p:nvPr/>
        </p:nvSpPr>
        <p:spPr>
          <a:xfrm>
            <a:off x="485775" y="4899997"/>
            <a:ext cx="2636911" cy="186689"/>
          </a:xfrm>
          <a:prstGeom prst="rect">
            <a:avLst/>
          </a:prstGeom>
          <a:noFill/>
        </p:spPr>
        <p:txBody>
          <a:bodyPr wrap="none" lIns="0" rIns="0" tIns="0" bIns="0">
            <a:spAutoFit/>
          </a:bodyPr>
          <a:lstStyle/>
          <a:p>
            <a:r>
              <a:rPr sz="1100" b="0">
                <a:solidFill>
                  <a:srgbClr val="2E2E2E"/>
                </a:solidFill>
                <a:latin typeface="Calibri"/>
              </a:rPr>
              <a:t>active ingredient, the antioxidant ingredients</a:t>
            </a:r>
          </a:p>
        </p:txBody>
      </p:sp>
      <p:sp>
        <p:nvSpPr>
          <p:cNvPr id="108" name="TextBox 107"/>
          <p:cNvSpPr txBox="1"/>
          <p:nvPr/>
        </p:nvSpPr>
        <p:spPr>
          <a:xfrm>
            <a:off x="485775" y="5067637"/>
            <a:ext cx="2666925" cy="186689"/>
          </a:xfrm>
          <a:prstGeom prst="rect">
            <a:avLst/>
          </a:prstGeom>
          <a:noFill/>
        </p:spPr>
        <p:txBody>
          <a:bodyPr wrap="none" lIns="0" rIns="0" tIns="0" bIns="0">
            <a:spAutoFit/>
          </a:bodyPr>
          <a:lstStyle/>
          <a:p>
            <a:r>
              <a:rPr sz="1100" b="0">
                <a:solidFill>
                  <a:srgbClr val="2E2E2E"/>
                </a:solidFill>
                <a:latin typeface="Calibri"/>
              </a:rPr>
              <a:t>segment is expected to dominate the market,</a:t>
            </a:r>
          </a:p>
        </p:txBody>
      </p:sp>
      <p:sp>
        <p:nvSpPr>
          <p:cNvPr id="109" name="TextBox 108"/>
          <p:cNvSpPr txBox="1"/>
          <p:nvPr/>
        </p:nvSpPr>
        <p:spPr>
          <a:xfrm>
            <a:off x="485775" y="5235277"/>
            <a:ext cx="485750" cy="186689"/>
          </a:xfrm>
          <a:prstGeom prst="rect">
            <a:avLst/>
          </a:prstGeom>
          <a:noFill/>
        </p:spPr>
        <p:txBody>
          <a:bodyPr wrap="none" lIns="0" rIns="0" tIns="0" bIns="0">
            <a:spAutoFit/>
          </a:bodyPr>
          <a:lstStyle/>
          <a:p>
            <a:r>
              <a:rPr sz="1100" b="0">
                <a:solidFill>
                  <a:srgbClr val="2E2E2E"/>
                </a:solidFill>
                <a:latin typeface="Calibri"/>
              </a:rPr>
              <a:t>gaining</a:t>
            </a:r>
          </a:p>
        </p:txBody>
      </p:sp>
      <p:pic>
        <p:nvPicPr>
          <p:cNvPr id="110" name="Picture 109" descr="lock.png"/>
          <p:cNvPicPr>
            <a:picLocks noChangeAspect="1"/>
          </p:cNvPicPr>
          <p:nvPr/>
        </p:nvPicPr>
        <p:blipFill>
          <a:blip r:embed="rId21"/>
          <a:stretch>
            <a:fillRect/>
          </a:stretch>
        </p:blipFill>
        <p:spPr>
          <a:xfrm>
            <a:off x="919576" y="5225498"/>
            <a:ext cx="128699" cy="187198"/>
          </a:xfrm>
          <a:prstGeom prst="rect">
            <a:avLst/>
          </a:prstGeom>
        </p:spPr>
      </p:pic>
      <p:sp>
        <p:nvSpPr>
          <p:cNvPr id="111" name="TextBox 110"/>
          <p:cNvSpPr txBox="1"/>
          <p:nvPr/>
        </p:nvSpPr>
        <p:spPr>
          <a:xfrm>
            <a:off x="1087072"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112" name="Picture 111" descr="lock.png"/>
          <p:cNvPicPr>
            <a:picLocks noChangeAspect="1"/>
          </p:cNvPicPr>
          <p:nvPr/>
        </p:nvPicPr>
        <p:blipFill>
          <a:blip r:embed="rId21"/>
          <a:stretch>
            <a:fillRect/>
          </a:stretch>
        </p:blipFill>
        <p:spPr>
          <a:xfrm>
            <a:off x="2421557" y="5225498"/>
            <a:ext cx="128699" cy="187198"/>
          </a:xfrm>
          <a:prstGeom prst="rect">
            <a:avLst/>
          </a:prstGeom>
        </p:spPr>
      </p:pic>
      <p:sp>
        <p:nvSpPr>
          <p:cNvPr id="113" name="TextBox 112"/>
          <p:cNvSpPr txBox="1"/>
          <p:nvPr/>
        </p:nvSpPr>
        <p:spPr>
          <a:xfrm>
            <a:off x="2589053" y="5235277"/>
            <a:ext cx="557783" cy="186689"/>
          </a:xfrm>
          <a:prstGeom prst="rect">
            <a:avLst/>
          </a:prstGeom>
          <a:noFill/>
        </p:spPr>
        <p:txBody>
          <a:bodyPr wrap="none" lIns="0" rIns="0" tIns="0" bIns="0">
            <a:spAutoFit/>
          </a:bodyPr>
          <a:lstStyle/>
          <a:p>
            <a:r>
              <a:rPr sz="1100" b="0">
                <a:solidFill>
                  <a:srgbClr val="2E2E2E"/>
                </a:solidFill>
                <a:latin typeface="Calibri"/>
              </a:rPr>
              <a:t>share by</a:t>
            </a:r>
          </a:p>
        </p:txBody>
      </p:sp>
      <p:sp>
        <p:nvSpPr>
          <p:cNvPr id="114" name="TextBox 113"/>
          <p:cNvSpPr txBox="1"/>
          <p:nvPr/>
        </p:nvSpPr>
        <p:spPr>
          <a:xfrm>
            <a:off x="485775" y="5402917"/>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115" name="TextBox 114"/>
          <p:cNvSpPr txBox="1"/>
          <p:nvPr/>
        </p:nvSpPr>
        <p:spPr>
          <a:xfrm>
            <a:off x="485775" y="5620849"/>
            <a:ext cx="2781523" cy="186689"/>
          </a:xfrm>
          <a:prstGeom prst="rect">
            <a:avLst/>
          </a:prstGeom>
          <a:noFill/>
        </p:spPr>
        <p:txBody>
          <a:bodyPr wrap="none" lIns="0" rIns="0" tIns="0" bIns="0">
            <a:spAutoFit/>
          </a:bodyPr>
          <a:lstStyle/>
          <a:p>
            <a:r>
              <a:rPr sz="1100" b="0">
                <a:solidFill>
                  <a:srgbClr val="2E2E2E"/>
                </a:solidFill>
                <a:latin typeface="Calibri"/>
              </a:rPr>
              <a:t>Antioxidant ingredients segment is projected to</a:t>
            </a:r>
          </a:p>
        </p:txBody>
      </p:sp>
      <p:sp>
        <p:nvSpPr>
          <p:cNvPr id="116" name="TextBox 115"/>
          <p:cNvSpPr txBox="1"/>
          <p:nvPr/>
        </p:nvSpPr>
        <p:spPr>
          <a:xfrm>
            <a:off x="485775" y="578848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117" name="Picture 116" descr="lock.png"/>
          <p:cNvPicPr>
            <a:picLocks noChangeAspect="1"/>
          </p:cNvPicPr>
          <p:nvPr/>
        </p:nvPicPr>
        <p:blipFill>
          <a:blip r:embed="rId21"/>
          <a:stretch>
            <a:fillRect/>
          </a:stretch>
        </p:blipFill>
        <p:spPr>
          <a:xfrm>
            <a:off x="946316" y="5778710"/>
            <a:ext cx="128699" cy="187198"/>
          </a:xfrm>
          <a:prstGeom prst="rect">
            <a:avLst/>
          </a:prstGeom>
        </p:spPr>
      </p:pic>
      <p:sp>
        <p:nvSpPr>
          <p:cNvPr id="118" name="TextBox 117"/>
          <p:cNvSpPr txBox="1"/>
          <p:nvPr/>
        </p:nvSpPr>
        <p:spPr>
          <a:xfrm>
            <a:off x="1113812" y="5788489"/>
            <a:ext cx="2040731" cy="186689"/>
          </a:xfrm>
          <a:prstGeom prst="rect">
            <a:avLst/>
          </a:prstGeom>
          <a:noFill/>
        </p:spPr>
        <p:txBody>
          <a:bodyPr wrap="none" lIns="0" rIns="0" tIns="0" bIns="0">
            <a:spAutoFit/>
          </a:bodyPr>
          <a:lstStyle/>
          <a:p>
            <a:r>
              <a:rPr sz="1100" b="0">
                <a:solidFill>
                  <a:srgbClr val="2E2E2E"/>
                </a:solidFill>
                <a:latin typeface="Calibri"/>
              </a:rPr>
              <a:t>X higher value than cellular energy</a:t>
            </a:r>
          </a:p>
        </p:txBody>
      </p:sp>
      <p:sp>
        <p:nvSpPr>
          <p:cNvPr id="119" name="TextBox 118"/>
          <p:cNvSpPr txBox="1"/>
          <p:nvPr/>
        </p:nvSpPr>
        <p:spPr>
          <a:xfrm>
            <a:off x="485775" y="5956129"/>
            <a:ext cx="2202805" cy="186689"/>
          </a:xfrm>
          <a:prstGeom prst="rect">
            <a:avLst/>
          </a:prstGeom>
          <a:noFill/>
        </p:spPr>
        <p:txBody>
          <a:bodyPr wrap="none" lIns="0" rIns="0" tIns="0" bIns="0">
            <a:spAutoFit/>
          </a:bodyPr>
          <a:lstStyle/>
          <a:p>
            <a:r>
              <a:rPr sz="1100" b="0">
                <a:solidFill>
                  <a:srgbClr val="2E2E2E"/>
                </a:solidFill>
                <a:latin typeface="Calibri"/>
              </a:rPr>
              <a:t>support ingredients segment in 2036.</a:t>
            </a:r>
          </a:p>
        </p:txBody>
      </p:sp>
      <p:sp>
        <p:nvSpPr>
          <p:cNvPr id="120" name="TextBox 119"/>
          <p:cNvSpPr txBox="1"/>
          <p:nvPr/>
        </p:nvSpPr>
        <p:spPr>
          <a:xfrm>
            <a:off x="3838575" y="4229437"/>
            <a:ext cx="1564332" cy="186689"/>
          </a:xfrm>
          <a:prstGeom prst="rect">
            <a:avLst/>
          </a:prstGeom>
          <a:noFill/>
        </p:spPr>
        <p:txBody>
          <a:bodyPr wrap="none" lIns="0" rIns="0" tIns="0" bIns="0">
            <a:spAutoFit/>
          </a:bodyPr>
          <a:lstStyle/>
          <a:p>
            <a:r>
              <a:rPr sz="1100" b="0">
                <a:solidFill>
                  <a:srgbClr val="2E2E2E"/>
                </a:solidFill>
                <a:latin typeface="Calibri"/>
              </a:rPr>
              <a:t>● Antioxidant Ingredients:</a:t>
            </a:r>
          </a:p>
        </p:txBody>
      </p:sp>
      <p:pic>
        <p:nvPicPr>
          <p:cNvPr id="121" name="Picture 120" descr="lock.png"/>
          <p:cNvPicPr>
            <a:picLocks noChangeAspect="1"/>
          </p:cNvPicPr>
          <p:nvPr/>
        </p:nvPicPr>
        <p:blipFill>
          <a:blip r:embed="rId21"/>
          <a:stretch>
            <a:fillRect/>
          </a:stretch>
        </p:blipFill>
        <p:spPr>
          <a:xfrm>
            <a:off x="5350959" y="4219658"/>
            <a:ext cx="128699" cy="187198"/>
          </a:xfrm>
          <a:prstGeom prst="rect">
            <a:avLst/>
          </a:prstGeom>
        </p:spPr>
      </p:pic>
      <p:sp>
        <p:nvSpPr>
          <p:cNvPr id="122" name="TextBox 121"/>
          <p:cNvSpPr txBox="1"/>
          <p:nvPr/>
        </p:nvSpPr>
        <p:spPr>
          <a:xfrm>
            <a:off x="5518454"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3" name="Picture 122" descr="lock.png"/>
          <p:cNvPicPr>
            <a:picLocks noChangeAspect="1"/>
          </p:cNvPicPr>
          <p:nvPr/>
        </p:nvPicPr>
        <p:blipFill>
          <a:blip r:embed="rId21"/>
          <a:stretch>
            <a:fillRect/>
          </a:stretch>
        </p:blipFill>
        <p:spPr>
          <a:xfrm>
            <a:off x="6377905" y="4219658"/>
            <a:ext cx="128699" cy="187198"/>
          </a:xfrm>
          <a:prstGeom prst="rect">
            <a:avLst/>
          </a:prstGeom>
        </p:spPr>
      </p:pic>
      <p:sp>
        <p:nvSpPr>
          <p:cNvPr id="124" name="TextBox 123"/>
          <p:cNvSpPr txBox="1"/>
          <p:nvPr/>
        </p:nvSpPr>
        <p:spPr>
          <a:xfrm>
            <a:off x="6545400"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25" name="TextBox 124"/>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26" name="TextBox 125"/>
          <p:cNvSpPr txBox="1"/>
          <p:nvPr/>
        </p:nvSpPr>
        <p:spPr>
          <a:xfrm>
            <a:off x="3838575" y="4615009"/>
            <a:ext cx="2239912" cy="186689"/>
          </a:xfrm>
          <a:prstGeom prst="rect">
            <a:avLst/>
          </a:prstGeom>
          <a:noFill/>
        </p:spPr>
        <p:txBody>
          <a:bodyPr wrap="none" lIns="0" rIns="0" tIns="0" bIns="0">
            <a:spAutoFit/>
          </a:bodyPr>
          <a:lstStyle/>
          <a:p>
            <a:r>
              <a:rPr sz="1100" b="0">
                <a:solidFill>
                  <a:srgbClr val="2E2E2E"/>
                </a:solidFill>
                <a:latin typeface="Calibri"/>
              </a:rPr>
              <a:t>● Cellular Energy Support Ingredients:</a:t>
            </a:r>
          </a:p>
        </p:txBody>
      </p:sp>
      <p:pic>
        <p:nvPicPr>
          <p:cNvPr id="127" name="Picture 126" descr="lock.png"/>
          <p:cNvPicPr>
            <a:picLocks noChangeAspect="1"/>
          </p:cNvPicPr>
          <p:nvPr/>
        </p:nvPicPr>
        <p:blipFill>
          <a:blip r:embed="rId21"/>
          <a:stretch>
            <a:fillRect/>
          </a:stretch>
        </p:blipFill>
        <p:spPr>
          <a:xfrm>
            <a:off x="6026539" y="4605230"/>
            <a:ext cx="128699" cy="187198"/>
          </a:xfrm>
          <a:prstGeom prst="rect">
            <a:avLst/>
          </a:prstGeom>
        </p:spPr>
      </p:pic>
      <p:sp>
        <p:nvSpPr>
          <p:cNvPr id="128" name="TextBox 127"/>
          <p:cNvSpPr txBox="1"/>
          <p:nvPr/>
        </p:nvSpPr>
        <p:spPr>
          <a:xfrm>
            <a:off x="6194035"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9" name="Picture 128" descr="lock.png"/>
          <p:cNvPicPr>
            <a:picLocks noChangeAspect="1"/>
          </p:cNvPicPr>
          <p:nvPr/>
        </p:nvPicPr>
        <p:blipFill>
          <a:blip r:embed="rId21"/>
          <a:stretch>
            <a:fillRect/>
          </a:stretch>
        </p:blipFill>
        <p:spPr>
          <a:xfrm>
            <a:off x="7053485" y="4605230"/>
            <a:ext cx="128699" cy="187198"/>
          </a:xfrm>
          <a:prstGeom prst="rect">
            <a:avLst/>
          </a:prstGeom>
        </p:spPr>
      </p:pic>
      <p:sp>
        <p:nvSpPr>
          <p:cNvPr id="130" name="TextBox 129"/>
          <p:cNvSpPr txBox="1"/>
          <p:nvPr/>
        </p:nvSpPr>
        <p:spPr>
          <a:xfrm>
            <a:off x="7220981" y="4615009"/>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31" name="TextBox 130"/>
          <p:cNvSpPr txBox="1"/>
          <p:nvPr/>
        </p:nvSpPr>
        <p:spPr>
          <a:xfrm>
            <a:off x="3838575" y="4782649"/>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32" name="TextBox 131"/>
          <p:cNvSpPr txBox="1"/>
          <p:nvPr/>
        </p:nvSpPr>
        <p:spPr>
          <a:xfrm>
            <a:off x="3838575" y="5000581"/>
            <a:ext cx="1401107" cy="186689"/>
          </a:xfrm>
          <a:prstGeom prst="rect">
            <a:avLst/>
          </a:prstGeom>
          <a:noFill/>
        </p:spPr>
        <p:txBody>
          <a:bodyPr wrap="none" lIns="0" rIns="0" tIns="0" bIns="0">
            <a:spAutoFit/>
          </a:bodyPr>
          <a:lstStyle/>
          <a:p>
            <a:r>
              <a:rPr sz="1100" b="0">
                <a:solidFill>
                  <a:srgbClr val="2E2E2E"/>
                </a:solidFill>
                <a:latin typeface="Calibri"/>
              </a:rPr>
              <a:t>● Omega-3 Fatty Acids:</a:t>
            </a:r>
          </a:p>
        </p:txBody>
      </p:sp>
      <p:pic>
        <p:nvPicPr>
          <p:cNvPr id="133" name="Picture 132" descr="lock.png"/>
          <p:cNvPicPr>
            <a:picLocks noChangeAspect="1"/>
          </p:cNvPicPr>
          <p:nvPr/>
        </p:nvPicPr>
        <p:blipFill>
          <a:blip r:embed="rId21"/>
          <a:stretch>
            <a:fillRect/>
          </a:stretch>
        </p:blipFill>
        <p:spPr>
          <a:xfrm>
            <a:off x="5187734" y="4990801"/>
            <a:ext cx="128699" cy="187198"/>
          </a:xfrm>
          <a:prstGeom prst="rect">
            <a:avLst/>
          </a:prstGeom>
        </p:spPr>
      </p:pic>
      <p:sp>
        <p:nvSpPr>
          <p:cNvPr id="134" name="TextBox 133"/>
          <p:cNvSpPr txBox="1"/>
          <p:nvPr/>
        </p:nvSpPr>
        <p:spPr>
          <a:xfrm>
            <a:off x="5355229"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5" name="Picture 134" descr="lock.png"/>
          <p:cNvPicPr>
            <a:picLocks noChangeAspect="1"/>
          </p:cNvPicPr>
          <p:nvPr/>
        </p:nvPicPr>
        <p:blipFill>
          <a:blip r:embed="rId21"/>
          <a:stretch>
            <a:fillRect/>
          </a:stretch>
        </p:blipFill>
        <p:spPr>
          <a:xfrm>
            <a:off x="6214680" y="4990801"/>
            <a:ext cx="128699" cy="187198"/>
          </a:xfrm>
          <a:prstGeom prst="rect">
            <a:avLst/>
          </a:prstGeom>
        </p:spPr>
      </p:pic>
      <p:sp>
        <p:nvSpPr>
          <p:cNvPr id="136" name="TextBox 135"/>
          <p:cNvSpPr txBox="1"/>
          <p:nvPr/>
        </p:nvSpPr>
        <p:spPr>
          <a:xfrm>
            <a:off x="6382175" y="500058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7" name="TextBox 136"/>
          <p:cNvSpPr txBox="1"/>
          <p:nvPr/>
        </p:nvSpPr>
        <p:spPr>
          <a:xfrm>
            <a:off x="3838575" y="5218513"/>
            <a:ext cx="2149871" cy="186689"/>
          </a:xfrm>
          <a:prstGeom prst="rect">
            <a:avLst/>
          </a:prstGeom>
          <a:noFill/>
        </p:spPr>
        <p:txBody>
          <a:bodyPr wrap="none" lIns="0" rIns="0" tIns="0" bIns="0">
            <a:spAutoFit/>
          </a:bodyPr>
          <a:lstStyle/>
          <a:p>
            <a:r>
              <a:rPr sz="1100" b="0">
                <a:solidFill>
                  <a:srgbClr val="2E2E2E"/>
                </a:solidFill>
                <a:latin typeface="Calibri"/>
              </a:rPr>
              <a:t>● Microbiome-Targeted Ingredients:</a:t>
            </a:r>
          </a:p>
        </p:txBody>
      </p:sp>
      <p:pic>
        <p:nvPicPr>
          <p:cNvPr id="138" name="Picture 137" descr="lock.png"/>
          <p:cNvPicPr>
            <a:picLocks noChangeAspect="1"/>
          </p:cNvPicPr>
          <p:nvPr/>
        </p:nvPicPr>
        <p:blipFill>
          <a:blip r:embed="rId21"/>
          <a:stretch>
            <a:fillRect/>
          </a:stretch>
        </p:blipFill>
        <p:spPr>
          <a:xfrm>
            <a:off x="5936498" y="5208733"/>
            <a:ext cx="128699" cy="187198"/>
          </a:xfrm>
          <a:prstGeom prst="rect">
            <a:avLst/>
          </a:prstGeom>
        </p:spPr>
      </p:pic>
      <p:sp>
        <p:nvSpPr>
          <p:cNvPr id="139" name="TextBox 138"/>
          <p:cNvSpPr txBox="1"/>
          <p:nvPr/>
        </p:nvSpPr>
        <p:spPr>
          <a:xfrm>
            <a:off x="6103994" y="521851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0" name="Picture 139" descr="lock.png"/>
          <p:cNvPicPr>
            <a:picLocks noChangeAspect="1"/>
          </p:cNvPicPr>
          <p:nvPr/>
        </p:nvPicPr>
        <p:blipFill>
          <a:blip r:embed="rId21"/>
          <a:stretch>
            <a:fillRect/>
          </a:stretch>
        </p:blipFill>
        <p:spPr>
          <a:xfrm>
            <a:off x="6963444" y="5208733"/>
            <a:ext cx="128699" cy="187198"/>
          </a:xfrm>
          <a:prstGeom prst="rect">
            <a:avLst/>
          </a:prstGeom>
        </p:spPr>
      </p:pic>
      <p:sp>
        <p:nvSpPr>
          <p:cNvPr id="141" name="TextBox 140"/>
          <p:cNvSpPr txBox="1"/>
          <p:nvPr/>
        </p:nvSpPr>
        <p:spPr>
          <a:xfrm>
            <a:off x="7130940" y="5218513"/>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42" name="TextBox 141"/>
          <p:cNvSpPr txBox="1"/>
          <p:nvPr/>
        </p:nvSpPr>
        <p:spPr>
          <a:xfrm>
            <a:off x="3838575" y="5386153"/>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43" name="TextBox 142"/>
          <p:cNvSpPr txBox="1"/>
          <p:nvPr/>
        </p:nvSpPr>
        <p:spPr>
          <a:xfrm>
            <a:off x="3838575" y="5604085"/>
            <a:ext cx="1431453" cy="186689"/>
          </a:xfrm>
          <a:prstGeom prst="rect">
            <a:avLst/>
          </a:prstGeom>
          <a:noFill/>
        </p:spPr>
        <p:txBody>
          <a:bodyPr wrap="none" lIns="0" rIns="0" tIns="0" bIns="0">
            <a:spAutoFit/>
          </a:bodyPr>
          <a:lstStyle/>
          <a:p>
            <a:r>
              <a:rPr sz="1100" b="0">
                <a:solidFill>
                  <a:srgbClr val="2E2E2E"/>
                </a:solidFill>
                <a:latin typeface="Calibri"/>
              </a:rPr>
              <a:t>● Botanical Ingredients:</a:t>
            </a:r>
          </a:p>
        </p:txBody>
      </p:sp>
      <p:pic>
        <p:nvPicPr>
          <p:cNvPr id="144" name="Picture 143" descr="lock.png"/>
          <p:cNvPicPr>
            <a:picLocks noChangeAspect="1"/>
          </p:cNvPicPr>
          <p:nvPr/>
        </p:nvPicPr>
        <p:blipFill>
          <a:blip r:embed="rId21"/>
          <a:stretch>
            <a:fillRect/>
          </a:stretch>
        </p:blipFill>
        <p:spPr>
          <a:xfrm>
            <a:off x="5218080" y="5594305"/>
            <a:ext cx="128699" cy="187198"/>
          </a:xfrm>
          <a:prstGeom prst="rect">
            <a:avLst/>
          </a:prstGeom>
        </p:spPr>
      </p:pic>
      <p:sp>
        <p:nvSpPr>
          <p:cNvPr id="145" name="TextBox 144"/>
          <p:cNvSpPr txBox="1"/>
          <p:nvPr/>
        </p:nvSpPr>
        <p:spPr>
          <a:xfrm>
            <a:off x="5385576" y="560408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6" name="Picture 145" descr="lock.png"/>
          <p:cNvPicPr>
            <a:picLocks noChangeAspect="1"/>
          </p:cNvPicPr>
          <p:nvPr/>
        </p:nvPicPr>
        <p:blipFill>
          <a:blip r:embed="rId21"/>
          <a:stretch>
            <a:fillRect/>
          </a:stretch>
        </p:blipFill>
        <p:spPr>
          <a:xfrm>
            <a:off x="6245026" y="5594305"/>
            <a:ext cx="128699" cy="187198"/>
          </a:xfrm>
          <a:prstGeom prst="rect">
            <a:avLst/>
          </a:prstGeom>
        </p:spPr>
      </p:pic>
      <p:sp>
        <p:nvSpPr>
          <p:cNvPr id="147" name="TextBox 146"/>
          <p:cNvSpPr txBox="1"/>
          <p:nvPr/>
        </p:nvSpPr>
        <p:spPr>
          <a:xfrm>
            <a:off x="6412522" y="5604085"/>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8" name="TextBox 147"/>
          <p:cNvSpPr txBox="1"/>
          <p:nvPr/>
        </p:nvSpPr>
        <p:spPr>
          <a:xfrm>
            <a:off x="3838575" y="5822017"/>
            <a:ext cx="1726951" cy="186689"/>
          </a:xfrm>
          <a:prstGeom prst="rect">
            <a:avLst/>
          </a:prstGeom>
          <a:noFill/>
        </p:spPr>
        <p:txBody>
          <a:bodyPr wrap="none" lIns="0" rIns="0" tIns="0" bIns="0">
            <a:spAutoFit/>
          </a:bodyPr>
          <a:lstStyle/>
          <a:p>
            <a:r>
              <a:rPr sz="1100" b="0">
                <a:solidFill>
                  <a:srgbClr val="2E2E2E"/>
                </a:solidFill>
                <a:latin typeface="Calibri"/>
              </a:rPr>
              <a:t>● Neurofunctional Nutrients:</a:t>
            </a:r>
          </a:p>
        </p:txBody>
      </p:sp>
      <p:pic>
        <p:nvPicPr>
          <p:cNvPr id="149" name="Picture 148" descr="lock.png"/>
          <p:cNvPicPr>
            <a:picLocks noChangeAspect="1"/>
          </p:cNvPicPr>
          <p:nvPr/>
        </p:nvPicPr>
        <p:blipFill>
          <a:blip r:embed="rId21"/>
          <a:stretch>
            <a:fillRect/>
          </a:stretch>
        </p:blipFill>
        <p:spPr>
          <a:xfrm>
            <a:off x="5513578" y="5812237"/>
            <a:ext cx="128699" cy="187198"/>
          </a:xfrm>
          <a:prstGeom prst="rect">
            <a:avLst/>
          </a:prstGeom>
        </p:spPr>
      </p:pic>
      <p:sp>
        <p:nvSpPr>
          <p:cNvPr id="150" name="TextBox 149"/>
          <p:cNvSpPr txBox="1"/>
          <p:nvPr/>
        </p:nvSpPr>
        <p:spPr>
          <a:xfrm>
            <a:off x="5681074" y="582201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51" name="Picture 150" descr="lock.png"/>
          <p:cNvPicPr>
            <a:picLocks noChangeAspect="1"/>
          </p:cNvPicPr>
          <p:nvPr/>
        </p:nvPicPr>
        <p:blipFill>
          <a:blip r:embed="rId21"/>
          <a:stretch>
            <a:fillRect/>
          </a:stretch>
        </p:blipFill>
        <p:spPr>
          <a:xfrm>
            <a:off x="6540524" y="5812237"/>
            <a:ext cx="128699" cy="187198"/>
          </a:xfrm>
          <a:prstGeom prst="rect">
            <a:avLst/>
          </a:prstGeom>
        </p:spPr>
      </p:pic>
      <p:sp>
        <p:nvSpPr>
          <p:cNvPr id="152" name="TextBox 151"/>
          <p:cNvSpPr txBox="1"/>
          <p:nvPr/>
        </p:nvSpPr>
        <p:spPr>
          <a:xfrm>
            <a:off x="6708020" y="5822017"/>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53" name="TextBox 152"/>
          <p:cNvSpPr txBox="1"/>
          <p:nvPr/>
        </p:nvSpPr>
        <p:spPr>
          <a:xfrm>
            <a:off x="3838575" y="5989657"/>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54" name="TextBox 153"/>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Active Ingredient segment is projected to grow</a:t>
            </a:r>
          </a:p>
        </p:txBody>
      </p:sp>
      <p:sp>
        <p:nvSpPr>
          <p:cNvPr id="155" name="TextBox 154"/>
          <p:cNvSpPr txBox="1"/>
          <p:nvPr/>
        </p:nvSpPr>
        <p:spPr>
          <a:xfrm>
            <a:off x="8524875" y="6017901"/>
            <a:ext cx="836089" cy="194310"/>
          </a:xfrm>
          <a:prstGeom prst="rect">
            <a:avLst/>
          </a:prstGeom>
          <a:noFill/>
        </p:spPr>
        <p:txBody>
          <a:bodyPr wrap="none" lIns="0" rIns="0" tIns="0" bIns="0">
            <a:spAutoFit/>
          </a:bodyPr>
          <a:lstStyle/>
          <a:p>
            <a:r>
              <a:rPr sz="1150" b="1">
                <a:solidFill>
                  <a:srgbClr val="0B2E4A"/>
                </a:solidFill>
                <a:latin typeface="Calibri"/>
              </a:rPr>
              <a:t>at a CAGR of</a:t>
            </a:r>
          </a:p>
        </p:txBody>
      </p:sp>
      <p:pic>
        <p:nvPicPr>
          <p:cNvPr id="156" name="Picture 155" descr="lock.png"/>
          <p:cNvPicPr>
            <a:picLocks noChangeAspect="1"/>
          </p:cNvPicPr>
          <p:nvPr/>
        </p:nvPicPr>
        <p:blipFill>
          <a:blip r:embed="rId21"/>
          <a:stretch>
            <a:fillRect/>
          </a:stretch>
        </p:blipFill>
        <p:spPr>
          <a:xfrm>
            <a:off x="9310118" y="6007677"/>
            <a:ext cx="134549" cy="195707"/>
          </a:xfrm>
          <a:prstGeom prst="rect">
            <a:avLst/>
          </a:prstGeom>
        </p:spPr>
      </p:pic>
      <p:sp>
        <p:nvSpPr>
          <p:cNvPr id="157" name="TextBox 156"/>
          <p:cNvSpPr txBox="1"/>
          <p:nvPr/>
        </p:nvSpPr>
        <p:spPr>
          <a:xfrm>
            <a:off x="9485227"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Active Ingredient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Active Ingredient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Active Ingredient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Active Ingredient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677650" cy="186689"/>
          </a:xfrm>
          <a:prstGeom prst="rect">
            <a:avLst/>
          </a:prstGeom>
          <a:noFill/>
        </p:spPr>
        <p:txBody>
          <a:bodyPr wrap="none" lIns="0" rIns="0" tIns="0" bIns="0">
            <a:spAutoFit/>
          </a:bodyPr>
          <a:lstStyle/>
          <a:p>
            <a:r>
              <a:rPr sz="1100" b="0">
                <a:solidFill>
                  <a:srgbClr val="2E2E2E"/>
                </a:solidFill>
                <a:latin typeface="Calibri"/>
              </a:rPr>
              <a:t>Antioxidant ingredients followed by cellular energy support ingredients are expected to be the two most attractive active ingredient segments in the global senior dog cognitive supplement market in terms</a:t>
            </a:r>
          </a:p>
        </p:txBody>
      </p:sp>
      <p:sp>
        <p:nvSpPr>
          <p:cNvPr id="20" name="TextBox 19"/>
          <p:cNvSpPr txBox="1"/>
          <p:nvPr/>
        </p:nvSpPr>
        <p:spPr>
          <a:xfrm>
            <a:off x="257175" y="5861685"/>
            <a:ext cx="6951496" cy="186689"/>
          </a:xfrm>
          <a:prstGeom prst="rect">
            <a:avLst/>
          </a:prstGeom>
          <a:noFill/>
        </p:spPr>
        <p:txBody>
          <a:bodyPr wrap="none" lIns="0" rIns="0" tIns="0" bIns="0">
            <a:spAutoFit/>
          </a:bodyPr>
          <a:lstStyle/>
          <a:p>
            <a:r>
              <a:rPr sz="1100" b="0">
                <a:solidFill>
                  <a:srgbClr val="2E2E2E"/>
                </a:solidFill>
                <a:latin typeface="Calibri"/>
              </a:rPr>
              <a:t>of value over the forecast period. Antioxidant ingredients and cellular energy support ingredients exhibit a CAGR index of</a:t>
            </a:r>
          </a:p>
        </p:txBody>
      </p:sp>
      <p:pic>
        <p:nvPicPr>
          <p:cNvPr id="21" name="Picture 20" descr="lock.png"/>
          <p:cNvPicPr>
            <a:picLocks noChangeAspect="1"/>
          </p:cNvPicPr>
          <p:nvPr/>
        </p:nvPicPr>
        <p:blipFill>
          <a:blip r:embed="rId6"/>
          <a:stretch>
            <a:fillRect/>
          </a:stretch>
        </p:blipFill>
        <p:spPr>
          <a:xfrm>
            <a:off x="7156723" y="5851905"/>
            <a:ext cx="128699" cy="187198"/>
          </a:xfrm>
          <a:prstGeom prst="rect">
            <a:avLst/>
          </a:prstGeom>
        </p:spPr>
      </p:pic>
      <p:sp>
        <p:nvSpPr>
          <p:cNvPr id="22" name="TextBox 21"/>
          <p:cNvSpPr txBox="1"/>
          <p:nvPr/>
        </p:nvSpPr>
        <p:spPr>
          <a:xfrm>
            <a:off x="7324219"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7562113" y="5851905"/>
            <a:ext cx="128699" cy="187198"/>
          </a:xfrm>
          <a:prstGeom prst="rect">
            <a:avLst/>
          </a:prstGeom>
        </p:spPr>
      </p:pic>
      <p:sp>
        <p:nvSpPr>
          <p:cNvPr id="24" name="TextBox 23"/>
          <p:cNvSpPr txBox="1"/>
          <p:nvPr/>
        </p:nvSpPr>
        <p:spPr>
          <a:xfrm>
            <a:off x="7729609"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9338582" y="5851905"/>
            <a:ext cx="128699" cy="187198"/>
          </a:xfrm>
          <a:prstGeom prst="rect">
            <a:avLst/>
          </a:prstGeom>
        </p:spPr>
      </p:pic>
      <p:sp>
        <p:nvSpPr>
          <p:cNvPr id="26" name="TextBox 25"/>
          <p:cNvSpPr txBox="1"/>
          <p:nvPr/>
        </p:nvSpPr>
        <p:spPr>
          <a:xfrm>
            <a:off x="9506078"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9743972" y="5851905"/>
            <a:ext cx="128699" cy="187198"/>
          </a:xfrm>
          <a:prstGeom prst="rect">
            <a:avLst/>
          </a:prstGeom>
        </p:spPr>
      </p:pic>
      <p:sp>
        <p:nvSpPr>
          <p:cNvPr id="28" name="TextBox 27"/>
          <p:cNvSpPr txBox="1"/>
          <p:nvPr/>
        </p:nvSpPr>
        <p:spPr>
          <a:xfrm>
            <a:off x="9911468" y="5861685"/>
            <a:ext cx="1453281" cy="186689"/>
          </a:xfrm>
          <a:prstGeom prst="rect">
            <a:avLst/>
          </a:prstGeom>
          <a:noFill/>
        </p:spPr>
        <p:txBody>
          <a:bodyPr wrap="none" lIns="0" rIns="0" tIns="0" bIns="0">
            <a:spAutoFit/>
          </a:bodyPr>
          <a:lstStyle/>
          <a:p>
            <a:r>
              <a:rPr sz="1100" b="0">
                <a:solidFill>
                  <a:srgbClr val="2E2E2E"/>
                </a:solidFill>
                <a:latin typeface="Calibri"/>
              </a:rPr>
              <a:t>respectively, against the</a:t>
            </a:r>
          </a:p>
        </p:txBody>
      </p:sp>
      <p:sp>
        <p:nvSpPr>
          <p:cNvPr id="29" name="TextBox 28"/>
          <p:cNvSpPr txBox="1"/>
          <p:nvPr/>
        </p:nvSpPr>
        <p:spPr>
          <a:xfrm>
            <a:off x="257175" y="6029325"/>
            <a:ext cx="1197619" cy="186689"/>
          </a:xfrm>
          <a:prstGeom prst="rect">
            <a:avLst/>
          </a:prstGeom>
          <a:noFill/>
        </p:spPr>
        <p:txBody>
          <a:bodyPr wrap="none" lIns="0" rIns="0" tIns="0" bIns="0">
            <a:spAutoFit/>
          </a:bodyPr>
          <a:lstStyle/>
          <a:p>
            <a:r>
              <a:rPr sz="1100" b="0">
                <a:solidFill>
                  <a:srgbClr val="2E2E2E"/>
                </a:solidFill>
                <a:latin typeface="Calibri"/>
              </a:rPr>
              <a:t>segment average of</a:t>
            </a:r>
          </a:p>
        </p:txBody>
      </p:sp>
      <p:pic>
        <p:nvPicPr>
          <p:cNvPr id="30" name="Picture 29" descr="lock.png"/>
          <p:cNvPicPr>
            <a:picLocks noChangeAspect="1"/>
          </p:cNvPicPr>
          <p:nvPr/>
        </p:nvPicPr>
        <p:blipFill>
          <a:blip r:embed="rId6"/>
          <a:stretch>
            <a:fillRect/>
          </a:stretch>
        </p:blipFill>
        <p:spPr>
          <a:xfrm>
            <a:off x="1402846" y="6019545"/>
            <a:ext cx="128699" cy="187198"/>
          </a:xfrm>
          <a:prstGeom prst="rect">
            <a:avLst/>
          </a:prstGeom>
        </p:spPr>
      </p:pic>
      <p:sp>
        <p:nvSpPr>
          <p:cNvPr id="31" name="TextBox 30"/>
          <p:cNvSpPr txBox="1"/>
          <p:nvPr/>
        </p:nvSpPr>
        <p:spPr>
          <a:xfrm>
            <a:off x="1570342" y="6029325"/>
            <a:ext cx="9829807" cy="186689"/>
          </a:xfrm>
          <a:prstGeom prst="rect">
            <a:avLst/>
          </a:prstGeom>
          <a:noFill/>
        </p:spPr>
        <p:txBody>
          <a:bodyPr wrap="none" lIns="0" rIns="0" tIns="0" bIns="0">
            <a:spAutoFit/>
          </a:bodyPr>
          <a:lstStyle/>
          <a:p>
            <a:r>
              <a:rPr sz="1100" b="0">
                <a:solidFill>
                  <a:srgbClr val="2E2E2E"/>
                </a:solidFill>
                <a:latin typeface="Calibri"/>
              </a:rPr>
              <a:t>. The neurofunctional nutrients segment is expected to be less attractive as compared to other segments over the forecast period, owing to its lower CAGR and incremental</a:t>
            </a:r>
          </a:p>
        </p:txBody>
      </p:sp>
      <p:sp>
        <p:nvSpPr>
          <p:cNvPr id="32" name="TextBox 31"/>
          <p:cNvSpPr txBox="1"/>
          <p:nvPr/>
        </p:nvSpPr>
        <p:spPr>
          <a:xfrm>
            <a:off x="257175" y="6196965"/>
            <a:ext cx="5122845" cy="186689"/>
          </a:xfrm>
          <a:prstGeom prst="rect">
            <a:avLst/>
          </a:prstGeom>
          <a:noFill/>
        </p:spPr>
        <p:txBody>
          <a:bodyPr wrap="none" lIns="0" rIns="0" tIns="0" bIns="0">
            <a:spAutoFit/>
          </a:bodyPr>
          <a:lstStyle/>
          <a:p>
            <a:r>
              <a:rPr sz="1100" b="0">
                <a:solidFill>
                  <a:srgbClr val="2E2E2E"/>
                </a:solidFill>
                <a:latin typeface="Calibri"/>
              </a:rPr>
              <a:t>opportunity. Bubbles right of the CAGR-Index line 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Active Ingredient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Active Ingredient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Omega-3 Fatty Acids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Antioxidant Ingredients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Neurofunctional Nutrients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Cellular Energy Support Ingredients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Active Ingredient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Active Ingredient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Botanical Ingredients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Microbiome-Targeted Ingredients</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Active Ingredient</a:t>
            </a:r>
          </a:p>
        </p:txBody>
      </p:sp>
      <p:sp>
        <p:nvSpPr>
          <p:cNvPr id="18" name="Rectangle 17"/>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6"/>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6"/>
          <a:stretch>
            <a:fillRect/>
          </a:stretch>
        </p:blipFill>
        <p:spPr>
          <a:xfrm>
            <a:off x="3100230" y="5216754"/>
            <a:ext cx="252890" cy="367840"/>
          </a:xfrm>
          <a:prstGeom prst="rect">
            <a:avLst/>
          </a:prstGeom>
        </p:spPr>
      </p:pic>
      <p:sp>
        <p:nvSpPr>
          <p:cNvPr id="23" name="TextBox 22"/>
          <p:cNvSpPr txBox="1"/>
          <p:nvPr/>
        </p:nvSpPr>
        <p:spPr>
          <a:xfrm>
            <a:off x="6305550" y="1598245"/>
            <a:ext cx="4878997" cy="194310"/>
          </a:xfrm>
          <a:prstGeom prst="rect">
            <a:avLst/>
          </a:prstGeom>
          <a:noFill/>
        </p:spPr>
        <p:txBody>
          <a:bodyPr wrap="none" lIns="0" rIns="0" tIns="0" bIns="0">
            <a:spAutoFit/>
          </a:bodyPr>
          <a:lstStyle/>
          <a:p>
            <a:r>
              <a:rPr sz="1150" b="0">
                <a:solidFill>
                  <a:srgbClr val="2E2E2E"/>
                </a:solidFill>
                <a:latin typeface="Calibri"/>
              </a:rPr>
              <a:t>By 2036, antioxidant ingredients segment is anticipated to witness an increase of</a:t>
            </a:r>
          </a:p>
        </p:txBody>
      </p:sp>
      <p:pic>
        <p:nvPicPr>
          <p:cNvPr id="24" name="Picture 23" descr="lock.png"/>
          <p:cNvPicPr>
            <a:picLocks noChangeAspect="1"/>
          </p:cNvPicPr>
          <p:nvPr/>
        </p:nvPicPr>
        <p:blipFill>
          <a:blip r:embed="rId6"/>
          <a:stretch>
            <a:fillRect/>
          </a:stretch>
        </p:blipFill>
        <p:spPr>
          <a:xfrm>
            <a:off x="11133701" y="1588021"/>
            <a:ext cx="134549" cy="195707"/>
          </a:xfrm>
          <a:prstGeom prst="rect">
            <a:avLst/>
          </a:prstGeom>
        </p:spPr>
      </p:pic>
      <p:sp>
        <p:nvSpPr>
          <p:cNvPr id="25" name="TextBox 24"/>
          <p:cNvSpPr txBox="1"/>
          <p:nvPr/>
        </p:nvSpPr>
        <p:spPr>
          <a:xfrm>
            <a:off x="11308810" y="1598245"/>
            <a:ext cx="295560" cy="194310"/>
          </a:xfrm>
          <a:prstGeom prst="rect">
            <a:avLst/>
          </a:prstGeom>
          <a:noFill/>
        </p:spPr>
        <p:txBody>
          <a:bodyPr wrap="none" lIns="0" rIns="0" tIns="0" bIns="0">
            <a:spAutoFit/>
          </a:bodyPr>
          <a:lstStyle/>
          <a:p>
            <a:r>
              <a:rPr sz="1150" b="0">
                <a:solidFill>
                  <a:srgbClr val="2E2E2E"/>
                </a:solidFill>
                <a:latin typeface="Calibri"/>
              </a:rPr>
              <a:t>X in</a:t>
            </a:r>
          </a:p>
        </p:txBody>
      </p:sp>
      <p:sp>
        <p:nvSpPr>
          <p:cNvPr id="26" name="TextBox 25"/>
          <p:cNvSpPr txBox="1"/>
          <p:nvPr/>
        </p:nvSpPr>
        <p:spPr>
          <a:xfrm>
            <a:off x="6305550" y="1773505"/>
            <a:ext cx="5324586" cy="194310"/>
          </a:xfrm>
          <a:prstGeom prst="rect">
            <a:avLst/>
          </a:prstGeom>
          <a:noFill/>
        </p:spPr>
        <p:txBody>
          <a:bodyPr wrap="none" lIns="0" rIns="0" tIns="0" bIns="0">
            <a:spAutoFit/>
          </a:bodyPr>
          <a:lstStyle/>
          <a:p>
            <a:r>
              <a:rPr sz="1150" b="0">
                <a:solidFill>
                  <a:srgbClr val="2E2E2E"/>
                </a:solidFill>
                <a:latin typeface="Calibri"/>
              </a:rPr>
              <a:t>terms of value as compared to 2026. The antioxidant ingredients segment is expected to</a:t>
            </a:r>
          </a:p>
        </p:txBody>
      </p:sp>
      <p:sp>
        <p:nvSpPr>
          <p:cNvPr id="27" name="TextBox 26"/>
          <p:cNvSpPr txBox="1"/>
          <p:nvPr/>
        </p:nvSpPr>
        <p:spPr>
          <a:xfrm>
            <a:off x="6305550" y="1948765"/>
            <a:ext cx="2547069" cy="194310"/>
          </a:xfrm>
          <a:prstGeom prst="rect">
            <a:avLst/>
          </a:prstGeom>
          <a:noFill/>
        </p:spPr>
        <p:txBody>
          <a:bodyPr wrap="none" lIns="0" rIns="0" tIns="0" bIns="0">
            <a:spAutoFit/>
          </a:bodyPr>
          <a:lstStyle/>
          <a:p>
            <a:r>
              <a:rPr sz="1150" b="0">
                <a:solidFill>
                  <a:srgbClr val="2E2E2E"/>
                </a:solidFill>
                <a:latin typeface="Calibri"/>
              </a:rPr>
              <a:t>create an incremental opportunity of US$</a:t>
            </a:r>
          </a:p>
        </p:txBody>
      </p:sp>
      <p:pic>
        <p:nvPicPr>
          <p:cNvPr id="28" name="Picture 27" descr="lock.png"/>
          <p:cNvPicPr>
            <a:picLocks noChangeAspect="1"/>
          </p:cNvPicPr>
          <p:nvPr/>
        </p:nvPicPr>
        <p:blipFill>
          <a:blip r:embed="rId6"/>
          <a:stretch>
            <a:fillRect/>
          </a:stretch>
        </p:blipFill>
        <p:spPr>
          <a:xfrm>
            <a:off x="8801773" y="1938541"/>
            <a:ext cx="134549" cy="195707"/>
          </a:xfrm>
          <a:prstGeom prst="rect">
            <a:avLst/>
          </a:prstGeom>
        </p:spPr>
      </p:pic>
      <p:sp>
        <p:nvSpPr>
          <p:cNvPr id="29" name="TextBox 28"/>
          <p:cNvSpPr txBox="1"/>
          <p:nvPr/>
        </p:nvSpPr>
        <p:spPr>
          <a:xfrm>
            <a:off x="8976882" y="1948765"/>
            <a:ext cx="2381622" cy="194310"/>
          </a:xfrm>
          <a:prstGeom prst="rect">
            <a:avLst/>
          </a:prstGeom>
          <a:noFill/>
        </p:spPr>
        <p:txBody>
          <a:bodyPr wrap="none" lIns="0" rIns="0" tIns="0" bIns="0">
            <a:spAutoFit/>
          </a:bodyPr>
          <a:lstStyle/>
          <a:p>
            <a:r>
              <a:rPr sz="1150" b="0">
                <a:solidFill>
                  <a:srgbClr val="2E2E2E"/>
                </a:solidFill>
                <a:latin typeface="Calibri"/>
              </a:rPr>
              <a:t>Mn for the overall senior dog cognitive</a:t>
            </a:r>
          </a:p>
        </p:txBody>
      </p:sp>
      <p:sp>
        <p:nvSpPr>
          <p:cNvPr id="30" name="TextBox 29"/>
          <p:cNvSpPr txBox="1"/>
          <p:nvPr/>
        </p:nvSpPr>
        <p:spPr>
          <a:xfrm>
            <a:off x="6305550" y="2124025"/>
            <a:ext cx="2421842" cy="194310"/>
          </a:xfrm>
          <a:prstGeom prst="rect">
            <a:avLst/>
          </a:prstGeom>
          <a:noFill/>
        </p:spPr>
        <p:txBody>
          <a:bodyPr wrap="none" lIns="0" rIns="0" tIns="0" bIns="0">
            <a:spAutoFit/>
          </a:bodyPr>
          <a:lstStyle/>
          <a:p>
            <a:r>
              <a:rPr sz="1150" b="0">
                <a:solidFill>
                  <a:srgbClr val="2E2E2E"/>
                </a:solidFill>
                <a:latin typeface="Calibri"/>
              </a:rPr>
              <a:t>supplement market from 2026 to 2036.</a:t>
            </a:r>
          </a:p>
        </p:txBody>
      </p:sp>
      <p:sp>
        <p:nvSpPr>
          <p:cNvPr id="31" name="TextBox 30"/>
          <p:cNvSpPr txBox="1"/>
          <p:nvPr/>
        </p:nvSpPr>
        <p:spPr>
          <a:xfrm>
            <a:off x="6305550" y="2351863"/>
            <a:ext cx="5151152" cy="194310"/>
          </a:xfrm>
          <a:prstGeom prst="rect">
            <a:avLst/>
          </a:prstGeom>
          <a:noFill/>
        </p:spPr>
        <p:txBody>
          <a:bodyPr wrap="none" lIns="0" rIns="0" tIns="0" bIns="0">
            <a:spAutoFit/>
          </a:bodyPr>
          <a:lstStyle/>
          <a:p>
            <a:r>
              <a:rPr sz="1150" b="0">
                <a:solidFill>
                  <a:srgbClr val="2E2E2E"/>
                </a:solidFill>
                <a:latin typeface="Calibri"/>
              </a:rPr>
              <a:t>The cellular energy support ingredients segment is expected to create an incremental</a:t>
            </a:r>
          </a:p>
        </p:txBody>
      </p:sp>
      <p:sp>
        <p:nvSpPr>
          <p:cNvPr id="32" name="TextBox 31"/>
          <p:cNvSpPr txBox="1"/>
          <p:nvPr/>
        </p:nvSpPr>
        <p:spPr>
          <a:xfrm>
            <a:off x="6305550" y="2527123"/>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33" name="Picture 32" descr="lock.png"/>
          <p:cNvPicPr>
            <a:picLocks noChangeAspect="1"/>
          </p:cNvPicPr>
          <p:nvPr/>
        </p:nvPicPr>
        <p:blipFill>
          <a:blip r:embed="rId6"/>
          <a:stretch>
            <a:fillRect/>
          </a:stretch>
        </p:blipFill>
        <p:spPr>
          <a:xfrm>
            <a:off x="7463647" y="2516899"/>
            <a:ext cx="134549" cy="195707"/>
          </a:xfrm>
          <a:prstGeom prst="rect">
            <a:avLst/>
          </a:prstGeom>
        </p:spPr>
      </p:pic>
      <p:sp>
        <p:nvSpPr>
          <p:cNvPr id="34" name="TextBox 33"/>
          <p:cNvSpPr txBox="1"/>
          <p:nvPr/>
        </p:nvSpPr>
        <p:spPr>
          <a:xfrm>
            <a:off x="7638756" y="2527123"/>
            <a:ext cx="4234631" cy="194310"/>
          </a:xfrm>
          <a:prstGeom prst="rect">
            <a:avLst/>
          </a:prstGeom>
          <a:noFill/>
        </p:spPr>
        <p:txBody>
          <a:bodyPr wrap="none" lIns="0" rIns="0" tIns="0" bIns="0">
            <a:spAutoFit/>
          </a:bodyPr>
          <a:lstStyle/>
          <a:p>
            <a:r>
              <a:rPr sz="1150" b="0">
                <a:solidFill>
                  <a:srgbClr val="2E2E2E"/>
                </a:solidFill>
                <a:latin typeface="Calibri"/>
              </a:rPr>
              <a:t>Mn for the overall senior dog cognitive supplement market from 2026</a:t>
            </a:r>
          </a:p>
        </p:txBody>
      </p:sp>
      <p:sp>
        <p:nvSpPr>
          <p:cNvPr id="35" name="TextBox 34"/>
          <p:cNvSpPr txBox="1"/>
          <p:nvPr/>
        </p:nvSpPr>
        <p:spPr>
          <a:xfrm>
            <a:off x="6305550" y="2702383"/>
            <a:ext cx="5533677" cy="194310"/>
          </a:xfrm>
          <a:prstGeom prst="rect">
            <a:avLst/>
          </a:prstGeom>
          <a:noFill/>
        </p:spPr>
        <p:txBody>
          <a:bodyPr wrap="none" lIns="0" rIns="0" tIns="0" bIns="0">
            <a:spAutoFit/>
          </a:bodyPr>
          <a:lstStyle/>
          <a:p>
            <a:r>
              <a:rPr sz="1150" b="0">
                <a:solidFill>
                  <a:srgbClr val="2E2E2E"/>
                </a:solidFill>
                <a:latin typeface="Calibri"/>
              </a:rPr>
              <a:t>to 2036. The Omega-3 fatty acids segment is expected to create an incremental opportunity</a:t>
            </a:r>
          </a:p>
        </p:txBody>
      </p:sp>
      <p:sp>
        <p:nvSpPr>
          <p:cNvPr id="36" name="TextBox 35"/>
          <p:cNvSpPr txBox="1"/>
          <p:nvPr/>
        </p:nvSpPr>
        <p:spPr>
          <a:xfrm>
            <a:off x="6305550" y="2877643"/>
            <a:ext cx="465856" cy="194310"/>
          </a:xfrm>
          <a:prstGeom prst="rect">
            <a:avLst/>
          </a:prstGeom>
          <a:noFill/>
        </p:spPr>
        <p:txBody>
          <a:bodyPr wrap="none" lIns="0" rIns="0" tIns="0" bIns="0">
            <a:spAutoFit/>
          </a:bodyPr>
          <a:lstStyle/>
          <a:p>
            <a:r>
              <a:rPr sz="1150" b="0">
                <a:solidFill>
                  <a:srgbClr val="2E2E2E"/>
                </a:solidFill>
                <a:latin typeface="Calibri"/>
              </a:rPr>
              <a:t>of US$</a:t>
            </a:r>
          </a:p>
        </p:txBody>
      </p:sp>
      <p:pic>
        <p:nvPicPr>
          <p:cNvPr id="37" name="Picture 36" descr="lock.png"/>
          <p:cNvPicPr>
            <a:picLocks noChangeAspect="1"/>
          </p:cNvPicPr>
          <p:nvPr/>
        </p:nvPicPr>
        <p:blipFill>
          <a:blip r:embed="rId6"/>
          <a:stretch>
            <a:fillRect/>
          </a:stretch>
        </p:blipFill>
        <p:spPr>
          <a:xfrm>
            <a:off x="6720560" y="2867419"/>
            <a:ext cx="134549" cy="195707"/>
          </a:xfrm>
          <a:prstGeom prst="rect">
            <a:avLst/>
          </a:prstGeom>
        </p:spPr>
      </p:pic>
      <p:sp>
        <p:nvSpPr>
          <p:cNvPr id="38" name="TextBox 37"/>
          <p:cNvSpPr txBox="1"/>
          <p:nvPr/>
        </p:nvSpPr>
        <p:spPr>
          <a:xfrm>
            <a:off x="6895670" y="2877643"/>
            <a:ext cx="4760354" cy="194310"/>
          </a:xfrm>
          <a:prstGeom prst="rect">
            <a:avLst/>
          </a:prstGeom>
          <a:noFill/>
        </p:spPr>
        <p:txBody>
          <a:bodyPr wrap="none" lIns="0" rIns="0" tIns="0" bIns="0">
            <a:spAutoFit/>
          </a:bodyPr>
          <a:lstStyle/>
          <a:p>
            <a:r>
              <a:rPr sz="1150" b="0">
                <a:solidFill>
                  <a:srgbClr val="2E2E2E"/>
                </a:solidFill>
                <a:latin typeface="Calibri"/>
              </a:rPr>
              <a:t>Mn for the overall senior dog cognitive supplement market from 2026 to 2036.</a:t>
            </a:r>
          </a:p>
        </p:txBody>
      </p:sp>
      <p:sp>
        <p:nvSpPr>
          <p:cNvPr id="39"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Active Ingredient (US$ Mn)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Active Ingredient, 2021–2036, highlighting the sub-segments driving growth</a:t>
            </a:r>
          </a:p>
        </p:txBody>
      </p:sp>
      <p:sp>
        <p:nvSpPr>
          <p:cNvPr id="10" name="Rounded Rectangle 9"/>
          <p:cNvSpPr/>
          <p:nvPr/>
        </p:nvSpPr>
        <p:spPr>
          <a:xfrm>
            <a:off x="142875" y="981075"/>
            <a:ext cx="11906250" cy="5638800"/>
          </a:xfrm>
          <a:prstGeom prst="roundRect">
            <a:avLst>
              <a:gd name="adj" fmla="val 13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Active Ingredient (US$ Mn)</a:t>
            </a:r>
          </a:p>
        </p:txBody>
      </p:sp>
      <p:graphicFrame>
        <p:nvGraphicFramePr>
          <p:cNvPr id="12" name="Table 11"/>
          <p:cNvGraphicFramePr>
            <a:graphicFrameLocks noGrp="1"/>
          </p:cNvGraphicFramePr>
          <p:nvPr/>
        </p:nvGraphicFramePr>
        <p:xfrm>
          <a:off x="152400" y="1238250"/>
          <a:ext cx="11887193" cy="5172066"/>
        </p:xfrm>
        <a:graphic>
          <a:graphicData uri="http://schemas.openxmlformats.org/drawingml/2006/table">
            <a:tbl>
              <a:tblPr>
                <a:tableStyleId>{5C22544A-7EE6-4342-B048-85BDC9FD1C3A}</a:tableStyleId>
              </a:tblPr>
              <a:tblGrid>
                <a:gridCol w="2280255"/>
                <a:gridCol w="565114"/>
                <a:gridCol w="565114"/>
                <a:gridCol w="565114"/>
                <a:gridCol w="565114"/>
                <a:gridCol w="565114"/>
                <a:gridCol w="565114"/>
                <a:gridCol w="565114"/>
                <a:gridCol w="565114"/>
                <a:gridCol w="565114"/>
                <a:gridCol w="565114"/>
                <a:gridCol w="565114"/>
                <a:gridCol w="565114"/>
                <a:gridCol w="565114"/>
                <a:gridCol w="565114"/>
                <a:gridCol w="565114"/>
                <a:gridCol w="565114"/>
                <a:gridCol w="565114"/>
              </a:tblGrid>
              <a:tr h="246126">
                <a:tc>
                  <a:txBody>
                    <a:bodyPr wrap="none"/>
                    <a:lstStyle/>
                    <a:p>
                      <a:pPr algn="l"/>
                      <a:r>
                        <a:rPr sz="1100" b="1">
                          <a:solidFill>
                            <a:srgbClr val="0B2E4A"/>
                          </a:solidFill>
                          <a:latin typeface="Calibri"/>
                        </a:rPr>
                        <a:t>Active Ingredient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297">
                <a:tc>
                  <a:txBody>
                    <a:bodyPr wrap="none"/>
                    <a:lstStyle/>
                    <a:p>
                      <a:pPr algn="l"/>
                      <a:r>
                        <a:rPr sz="1100" b="1">
                          <a:solidFill>
                            <a:srgbClr val="2E2E2E"/>
                          </a:solidFill>
                          <a:latin typeface="Calibri"/>
                        </a:rPr>
                        <a:t>Omega-3 Fatty Acids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DHA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EPA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DHA–EPA Combinations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Antioxidant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Vitamin 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Vitamin 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Selenium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Other Antioxidants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Neurofunctional Nutrients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Phosphatidylserine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B Vitamins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Choline-Related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Cellular Energy Support Ingredients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L-Carnitine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Acetyl-L-Carnitine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Coenzyme Q10</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Alpha-Lipoic Acid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Botanical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Ginkgo Biloba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64198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049433" y="3680645"/>
            <a:ext cx="366712" cy="5334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Active Ingredient (US$ Mn)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Active Ingredient, 2021–2036, highlighting the sub-segments driving growth</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Active Ingredient (US$ Mn)</a:t>
            </a:r>
          </a:p>
        </p:txBody>
      </p:sp>
      <p:graphicFrame>
        <p:nvGraphicFramePr>
          <p:cNvPr id="12" name="Table 11"/>
          <p:cNvGraphicFramePr>
            <a:graphicFrameLocks noGrp="1"/>
          </p:cNvGraphicFramePr>
          <p:nvPr/>
        </p:nvGraphicFramePr>
        <p:xfrm>
          <a:off x="152400" y="1238250"/>
          <a:ext cx="11887199" cy="1971675"/>
        </p:xfrm>
        <a:graphic>
          <a:graphicData uri="http://schemas.openxmlformats.org/drawingml/2006/table">
            <a:tbl>
              <a:tblPr>
                <a:tableStyleId>{5C22544A-7EE6-4342-B048-85BDC9FD1C3A}</a:tableStyleId>
              </a:tblPr>
              <a:tblGrid>
                <a:gridCol w="2358529"/>
                <a:gridCol w="560510"/>
                <a:gridCol w="560510"/>
                <a:gridCol w="560510"/>
                <a:gridCol w="560510"/>
                <a:gridCol w="560510"/>
                <a:gridCol w="560510"/>
                <a:gridCol w="560510"/>
                <a:gridCol w="560510"/>
                <a:gridCol w="560510"/>
                <a:gridCol w="560510"/>
                <a:gridCol w="560510"/>
                <a:gridCol w="560510"/>
                <a:gridCol w="560510"/>
                <a:gridCol w="560510"/>
                <a:gridCol w="560510"/>
                <a:gridCol w="560510"/>
                <a:gridCol w="560510"/>
              </a:tblGrid>
              <a:tr h="246126">
                <a:tc>
                  <a:txBody>
                    <a:bodyPr wrap="none"/>
                    <a:lstStyle/>
                    <a:p>
                      <a:pPr algn="l"/>
                      <a:r>
                        <a:rPr sz="1100" b="1">
                          <a:solidFill>
                            <a:srgbClr val="0B2E4A"/>
                          </a:solidFill>
                          <a:latin typeface="Calibri"/>
                        </a:rPr>
                        <a:t>Active Ingredient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 Resveratrol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 Other Cognitive-Support Botanicals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Microbiome-Targeted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 Prebiotics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 Probiotics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 Postbiotics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Active Ingredient</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088574" y="2080450"/>
            <a:ext cx="366712" cy="533400"/>
          </a:xfrm>
          <a:prstGeom prst="rect">
            <a:avLst/>
          </a:prstGeom>
        </p:spPr>
      </p:pic>
      <p:sp>
        <p:nvSpPr>
          <p:cNvPr id="20" name="TextBox 19"/>
          <p:cNvSpPr txBox="1"/>
          <p:nvPr/>
        </p:nvSpPr>
        <p:spPr>
          <a:xfrm>
            <a:off x="276225" y="3971925"/>
            <a:ext cx="3393702" cy="194310"/>
          </a:xfrm>
          <a:prstGeom prst="rect">
            <a:avLst/>
          </a:prstGeom>
          <a:noFill/>
        </p:spPr>
        <p:txBody>
          <a:bodyPr wrap="none" lIns="0" rIns="0" tIns="0" bIns="0">
            <a:spAutoFit/>
          </a:bodyPr>
          <a:lstStyle/>
          <a:p>
            <a:r>
              <a:rPr sz="1150" b="0">
                <a:solidFill>
                  <a:srgbClr val="2E2E2E"/>
                </a:solidFill>
                <a:latin typeface="Calibri"/>
              </a:rPr>
              <a:t>Antioxidant ingredients segment is projected to register</a:t>
            </a:r>
          </a:p>
        </p:txBody>
      </p:sp>
      <p:pic>
        <p:nvPicPr>
          <p:cNvPr id="21" name="Picture 20" descr="lock.png"/>
          <p:cNvPicPr>
            <a:picLocks noChangeAspect="1"/>
          </p:cNvPicPr>
          <p:nvPr/>
        </p:nvPicPr>
        <p:blipFill>
          <a:blip r:embed="rId4"/>
          <a:stretch>
            <a:fillRect/>
          </a:stretch>
        </p:blipFill>
        <p:spPr>
          <a:xfrm>
            <a:off x="3619081" y="3961701"/>
            <a:ext cx="134549" cy="195707"/>
          </a:xfrm>
          <a:prstGeom prst="rect">
            <a:avLst/>
          </a:prstGeom>
        </p:spPr>
      </p:pic>
      <p:sp>
        <p:nvSpPr>
          <p:cNvPr id="22" name="TextBox 21"/>
          <p:cNvSpPr txBox="1"/>
          <p:nvPr/>
        </p:nvSpPr>
        <p:spPr>
          <a:xfrm>
            <a:off x="3794191" y="3971925"/>
            <a:ext cx="8058174" cy="194310"/>
          </a:xfrm>
          <a:prstGeom prst="rect">
            <a:avLst/>
          </a:prstGeom>
          <a:noFill/>
        </p:spPr>
        <p:txBody>
          <a:bodyPr wrap="none" lIns="0" rIns="0" tIns="0" bIns="0">
            <a:spAutoFit/>
          </a:bodyPr>
          <a:lstStyle/>
          <a:p>
            <a:r>
              <a:rPr sz="1150" b="0">
                <a:solidFill>
                  <a:srgbClr val="2E2E2E"/>
                </a:solidFill>
                <a:latin typeface="Calibri"/>
              </a:rPr>
              <a:t>X higher value than cellular energy support ingredients segment in 2036. Among senior dog cognitive supplement by active ingredient,</a:t>
            </a:r>
          </a:p>
        </p:txBody>
      </p:sp>
      <p:sp>
        <p:nvSpPr>
          <p:cNvPr id="23" name="TextBox 22"/>
          <p:cNvSpPr txBox="1"/>
          <p:nvPr/>
        </p:nvSpPr>
        <p:spPr>
          <a:xfrm>
            <a:off x="276225" y="4147185"/>
            <a:ext cx="4567504" cy="194310"/>
          </a:xfrm>
          <a:prstGeom prst="rect">
            <a:avLst/>
          </a:prstGeom>
          <a:noFill/>
        </p:spPr>
        <p:txBody>
          <a:bodyPr wrap="none" lIns="0" rIns="0" tIns="0" bIns="0">
            <a:spAutoFit/>
          </a:bodyPr>
          <a:lstStyle/>
          <a:p>
            <a:r>
              <a:rPr sz="1150" b="0">
                <a:solidFill>
                  <a:srgbClr val="2E2E2E"/>
                </a:solidFill>
                <a:latin typeface="Calibri"/>
              </a:rPr>
              <a:t>antioxidant ingredients segment is expected to witness the highest CAGR of</a:t>
            </a:r>
          </a:p>
        </p:txBody>
      </p:sp>
      <p:pic>
        <p:nvPicPr>
          <p:cNvPr id="24" name="Picture 23" descr="lock.png"/>
          <p:cNvPicPr>
            <a:picLocks noChangeAspect="1"/>
          </p:cNvPicPr>
          <p:nvPr/>
        </p:nvPicPr>
        <p:blipFill>
          <a:blip r:embed="rId4"/>
          <a:stretch>
            <a:fillRect/>
          </a:stretch>
        </p:blipFill>
        <p:spPr>
          <a:xfrm>
            <a:off x="4792883" y="4136961"/>
            <a:ext cx="134549" cy="195707"/>
          </a:xfrm>
          <a:prstGeom prst="rect">
            <a:avLst/>
          </a:prstGeom>
        </p:spPr>
      </p:pic>
      <p:sp>
        <p:nvSpPr>
          <p:cNvPr id="25" name="TextBox 24"/>
          <p:cNvSpPr txBox="1"/>
          <p:nvPr/>
        </p:nvSpPr>
        <p:spPr>
          <a:xfrm>
            <a:off x="4967993"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7525605" cy="194310"/>
          </a:xfrm>
          <a:prstGeom prst="rect">
            <a:avLst/>
          </a:prstGeom>
          <a:noFill/>
        </p:spPr>
        <p:txBody>
          <a:bodyPr wrap="none" lIns="0" rIns="0" tIns="0" bIns="0">
            <a:spAutoFit/>
          </a:bodyPr>
          <a:lstStyle/>
          <a:p>
            <a:r>
              <a:rPr sz="1150" b="0">
                <a:solidFill>
                  <a:srgbClr val="2E2E2E"/>
                </a:solidFill>
                <a:latin typeface="Calibri"/>
              </a:rPr>
              <a:t>In terms of value share by active ingredient, the antioxidant ingredients segment is expected to dominate the market, gaining</a:t>
            </a:r>
          </a:p>
        </p:txBody>
      </p:sp>
      <p:pic>
        <p:nvPicPr>
          <p:cNvPr id="27" name="Picture 26" descr="lock.png"/>
          <p:cNvPicPr>
            <a:picLocks noChangeAspect="1"/>
          </p:cNvPicPr>
          <p:nvPr/>
        </p:nvPicPr>
        <p:blipFill>
          <a:blip r:embed="rId4"/>
          <a:stretch>
            <a:fillRect/>
          </a:stretch>
        </p:blipFill>
        <p:spPr>
          <a:xfrm>
            <a:off x="7750984" y="4364799"/>
            <a:ext cx="134549" cy="195707"/>
          </a:xfrm>
          <a:prstGeom prst="rect">
            <a:avLst/>
          </a:prstGeom>
        </p:spPr>
      </p:pic>
      <p:sp>
        <p:nvSpPr>
          <p:cNvPr id="28" name="TextBox 27"/>
          <p:cNvSpPr txBox="1"/>
          <p:nvPr/>
        </p:nvSpPr>
        <p:spPr>
          <a:xfrm>
            <a:off x="7926093"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321237" y="4364799"/>
            <a:ext cx="134549" cy="195707"/>
          </a:xfrm>
          <a:prstGeom prst="rect">
            <a:avLst/>
          </a:prstGeom>
        </p:spPr>
      </p:pic>
      <p:sp>
        <p:nvSpPr>
          <p:cNvPr id="30" name="TextBox 29"/>
          <p:cNvSpPr txBox="1"/>
          <p:nvPr/>
        </p:nvSpPr>
        <p:spPr>
          <a:xfrm>
            <a:off x="9496346" y="4375022"/>
            <a:ext cx="1781733" cy="194310"/>
          </a:xfrm>
          <a:prstGeom prst="rect">
            <a:avLst/>
          </a:prstGeom>
          <a:noFill/>
        </p:spPr>
        <p:txBody>
          <a:bodyPr wrap="none" lIns="0" rIns="0" tIns="0" bIns="0">
            <a:spAutoFit/>
          </a:bodyPr>
          <a:lstStyle/>
          <a:p>
            <a:r>
              <a:rPr sz="1150" b="0">
                <a:solidFill>
                  <a:srgbClr val="2E2E2E"/>
                </a:solidFill>
                <a:latin typeface="Calibri"/>
              </a:rPr>
              <a:t>share by 2036. The botanical</a:t>
            </a:r>
          </a:p>
        </p:txBody>
      </p:sp>
      <p:sp>
        <p:nvSpPr>
          <p:cNvPr id="31" name="TextBox 30"/>
          <p:cNvSpPr txBox="1"/>
          <p:nvPr/>
        </p:nvSpPr>
        <p:spPr>
          <a:xfrm>
            <a:off x="276225" y="4550282"/>
            <a:ext cx="2427547" cy="194310"/>
          </a:xfrm>
          <a:prstGeom prst="rect">
            <a:avLst/>
          </a:prstGeom>
          <a:noFill/>
        </p:spPr>
        <p:txBody>
          <a:bodyPr wrap="none" lIns="0" rIns="0" tIns="0" bIns="0">
            <a:spAutoFit/>
          </a:bodyPr>
          <a:lstStyle/>
          <a:p>
            <a:r>
              <a:rPr sz="1150" b="0">
                <a:solidFill>
                  <a:srgbClr val="2E2E2E"/>
                </a:solidFill>
                <a:latin typeface="Calibri"/>
              </a:rPr>
              <a:t>ingredients segment is expected to lose</a:t>
            </a:r>
          </a:p>
        </p:txBody>
      </p:sp>
      <p:pic>
        <p:nvPicPr>
          <p:cNvPr id="32" name="Picture 31" descr="lock.png"/>
          <p:cNvPicPr>
            <a:picLocks noChangeAspect="1"/>
          </p:cNvPicPr>
          <p:nvPr/>
        </p:nvPicPr>
        <p:blipFill>
          <a:blip r:embed="rId4"/>
          <a:stretch>
            <a:fillRect/>
          </a:stretch>
        </p:blipFill>
        <p:spPr>
          <a:xfrm>
            <a:off x="2652926" y="4540059"/>
            <a:ext cx="134549" cy="195707"/>
          </a:xfrm>
          <a:prstGeom prst="rect">
            <a:avLst/>
          </a:prstGeom>
        </p:spPr>
      </p:pic>
      <p:sp>
        <p:nvSpPr>
          <p:cNvPr id="33" name="TextBox 32"/>
          <p:cNvSpPr txBox="1"/>
          <p:nvPr/>
        </p:nvSpPr>
        <p:spPr>
          <a:xfrm>
            <a:off x="2828036" y="45502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5415540" y="4540059"/>
            <a:ext cx="134549" cy="195707"/>
          </a:xfrm>
          <a:prstGeom prst="rect">
            <a:avLst/>
          </a:prstGeom>
        </p:spPr>
      </p:pic>
      <p:sp>
        <p:nvSpPr>
          <p:cNvPr id="35" name="TextBox 34"/>
          <p:cNvSpPr txBox="1"/>
          <p:nvPr/>
        </p:nvSpPr>
        <p:spPr>
          <a:xfrm>
            <a:off x="5590649"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Active Ingredient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Active Ingredient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Active Ingredient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934380"/>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92961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85341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Neurofunctional Nutrients</a:t>
            </a:r>
          </a:p>
        </p:txBody>
      </p:sp>
      <p:sp>
        <p:nvSpPr>
          <p:cNvPr id="18" name="BPS Value 1"/>
          <p:cNvSpPr txBox="1"/>
          <p:nvPr/>
        </p:nvSpPr>
        <p:spPr>
          <a:xfrm>
            <a:off x="6896100" y="191533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468899"/>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46413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38793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Botanical Ingredients</a:t>
            </a:r>
          </a:p>
        </p:txBody>
      </p:sp>
      <p:sp>
        <p:nvSpPr>
          <p:cNvPr id="22" name="BPS Value 2"/>
          <p:cNvSpPr txBox="1"/>
          <p:nvPr/>
        </p:nvSpPr>
        <p:spPr>
          <a:xfrm>
            <a:off x="6896100" y="244984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3077928"/>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307316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99696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Microbiome-Targeted Ingredients</a:t>
            </a:r>
          </a:p>
        </p:txBody>
      </p:sp>
      <p:sp>
        <p:nvSpPr>
          <p:cNvPr id="26" name="BPS Value 3"/>
          <p:cNvSpPr txBox="1"/>
          <p:nvPr/>
        </p:nvSpPr>
        <p:spPr>
          <a:xfrm>
            <a:off x="6896100" y="305887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3794497"/>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378973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371353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Omega-3 Fatty Acids</a:t>
            </a:r>
          </a:p>
        </p:txBody>
      </p:sp>
      <p:sp>
        <p:nvSpPr>
          <p:cNvPr id="30" name="BPS Value 4"/>
          <p:cNvSpPr txBox="1"/>
          <p:nvPr/>
        </p:nvSpPr>
        <p:spPr>
          <a:xfrm>
            <a:off x="6896100" y="377544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928997" y="4682941"/>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5090922" y="467817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460197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Cellular Energy Support Ingredients</a:t>
            </a:r>
          </a:p>
        </p:txBody>
      </p:sp>
      <p:sp>
        <p:nvSpPr>
          <p:cNvPr id="34" name="BPS Value 5"/>
          <p:cNvSpPr txBox="1"/>
          <p:nvPr/>
        </p:nvSpPr>
        <p:spPr>
          <a:xfrm>
            <a:off x="6896100" y="466389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FMI Legend Chip"/>
          <p:cNvSpPr/>
          <p:nvPr/>
        </p:nvSpPr>
        <p:spPr>
          <a:xfrm>
            <a:off x="4928997" y="5718042"/>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5090922" y="571328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563708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Antioxidant Ingredients</a:t>
            </a:r>
          </a:p>
        </p:txBody>
      </p:sp>
      <p:sp>
        <p:nvSpPr>
          <p:cNvPr id="38" name="BPS Value 6"/>
          <p:cNvSpPr txBox="1"/>
          <p:nvPr/>
        </p:nvSpPr>
        <p:spPr>
          <a:xfrm>
            <a:off x="6896100" y="569899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Rounded Rectangle 38"/>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Active Ingredient</a:t>
            </a:r>
          </a:p>
        </p:txBody>
      </p:sp>
      <p:sp>
        <p:nvSpPr>
          <p:cNvPr id="41" name="Rectangle 40"/>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TextBox 4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4" name="Picture 43" descr="lock.png"/>
          <p:cNvPicPr>
            <a:picLocks noChangeAspect="1"/>
          </p:cNvPicPr>
          <p:nvPr/>
        </p:nvPicPr>
        <p:blipFill>
          <a:blip r:embed="rId5"/>
          <a:stretch>
            <a:fillRect/>
          </a:stretch>
        </p:blipFill>
        <p:spPr>
          <a:xfrm>
            <a:off x="2557843" y="3833622"/>
            <a:ext cx="275034" cy="400050"/>
          </a:xfrm>
          <a:prstGeom prst="rect">
            <a:avLst/>
          </a:prstGeom>
        </p:spPr>
      </p:pic>
      <p:sp>
        <p:nvSpPr>
          <p:cNvPr id="45" name="TextBox 44"/>
          <p:cNvSpPr txBox="1"/>
          <p:nvPr/>
        </p:nvSpPr>
        <p:spPr>
          <a:xfrm>
            <a:off x="7829550" y="1400175"/>
            <a:ext cx="3714898" cy="194310"/>
          </a:xfrm>
          <a:prstGeom prst="rect">
            <a:avLst/>
          </a:prstGeom>
          <a:noFill/>
        </p:spPr>
        <p:txBody>
          <a:bodyPr wrap="none" lIns="0" rIns="0" tIns="0" bIns="0">
            <a:spAutoFit/>
          </a:bodyPr>
          <a:lstStyle/>
          <a:p>
            <a:r>
              <a:rPr sz="1150" b="0">
                <a:solidFill>
                  <a:srgbClr val="2E2E2E"/>
                </a:solidFill>
                <a:latin typeface="Calibri"/>
              </a:rPr>
              <a:t>Among senior dog cognitive supplement by active ingredient,</a:t>
            </a:r>
          </a:p>
        </p:txBody>
      </p:sp>
      <p:sp>
        <p:nvSpPr>
          <p:cNvPr id="46" name="TextBox 45"/>
          <p:cNvSpPr txBox="1"/>
          <p:nvPr/>
        </p:nvSpPr>
        <p:spPr>
          <a:xfrm>
            <a:off x="7829550" y="1575435"/>
            <a:ext cx="4046078" cy="194310"/>
          </a:xfrm>
          <a:prstGeom prst="rect">
            <a:avLst/>
          </a:prstGeom>
          <a:noFill/>
        </p:spPr>
        <p:txBody>
          <a:bodyPr wrap="none" lIns="0" rIns="0" tIns="0" bIns="0">
            <a:spAutoFit/>
          </a:bodyPr>
          <a:lstStyle/>
          <a:p>
            <a:r>
              <a:rPr sz="1150" b="0">
                <a:solidFill>
                  <a:srgbClr val="2E2E2E"/>
                </a:solidFill>
                <a:latin typeface="Calibri"/>
              </a:rPr>
              <a:t>antioxidant ingredients segment is expected to witness the highest</a:t>
            </a:r>
          </a:p>
        </p:txBody>
      </p:sp>
      <p:sp>
        <p:nvSpPr>
          <p:cNvPr id="47" name="TextBox 46"/>
          <p:cNvSpPr txBox="1"/>
          <p:nvPr/>
        </p:nvSpPr>
        <p:spPr>
          <a:xfrm>
            <a:off x="7829550" y="1750695"/>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48" name="Picture 47" descr="lock.png"/>
          <p:cNvPicPr>
            <a:picLocks noChangeAspect="1"/>
          </p:cNvPicPr>
          <p:nvPr/>
        </p:nvPicPr>
        <p:blipFill>
          <a:blip r:embed="rId5"/>
          <a:stretch>
            <a:fillRect/>
          </a:stretch>
        </p:blipFill>
        <p:spPr>
          <a:xfrm>
            <a:off x="8343240" y="1740471"/>
            <a:ext cx="134549" cy="195707"/>
          </a:xfrm>
          <a:prstGeom prst="rect">
            <a:avLst/>
          </a:prstGeom>
        </p:spPr>
      </p:pic>
      <p:sp>
        <p:nvSpPr>
          <p:cNvPr id="49" name="TextBox 48"/>
          <p:cNvSpPr txBox="1"/>
          <p:nvPr/>
        </p:nvSpPr>
        <p:spPr>
          <a:xfrm>
            <a:off x="8518350" y="1750695"/>
            <a:ext cx="3118147"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a:t>
            </a:r>
          </a:p>
        </p:txBody>
      </p:sp>
      <p:sp>
        <p:nvSpPr>
          <p:cNvPr id="50" name="TextBox 49"/>
          <p:cNvSpPr txBox="1"/>
          <p:nvPr/>
        </p:nvSpPr>
        <p:spPr>
          <a:xfrm>
            <a:off x="7829550" y="1925955"/>
            <a:ext cx="4003005" cy="194310"/>
          </a:xfrm>
          <a:prstGeom prst="rect">
            <a:avLst/>
          </a:prstGeom>
          <a:noFill/>
        </p:spPr>
        <p:txBody>
          <a:bodyPr wrap="none" lIns="0" rIns="0" tIns="0" bIns="0">
            <a:spAutoFit/>
          </a:bodyPr>
          <a:lstStyle/>
          <a:p>
            <a:r>
              <a:rPr sz="1150" b="0">
                <a:solidFill>
                  <a:srgbClr val="2E2E2E"/>
                </a:solidFill>
                <a:latin typeface="Calibri"/>
              </a:rPr>
              <a:t>active ingredient, the antioxidant ingredients segment is expected</a:t>
            </a:r>
          </a:p>
        </p:txBody>
      </p:sp>
      <p:sp>
        <p:nvSpPr>
          <p:cNvPr id="51" name="TextBox 50"/>
          <p:cNvSpPr txBox="1"/>
          <p:nvPr/>
        </p:nvSpPr>
        <p:spPr>
          <a:xfrm>
            <a:off x="7829550" y="2101215"/>
            <a:ext cx="1996244" cy="194310"/>
          </a:xfrm>
          <a:prstGeom prst="rect">
            <a:avLst/>
          </a:prstGeom>
          <a:noFill/>
        </p:spPr>
        <p:txBody>
          <a:bodyPr wrap="none" lIns="0" rIns="0" tIns="0" bIns="0">
            <a:spAutoFit/>
          </a:bodyPr>
          <a:lstStyle/>
          <a:p>
            <a:r>
              <a:rPr sz="1150" b="0">
                <a:solidFill>
                  <a:srgbClr val="2E2E2E"/>
                </a:solidFill>
                <a:latin typeface="Calibri"/>
              </a:rPr>
              <a:t>to dominate the market, gaining</a:t>
            </a:r>
          </a:p>
        </p:txBody>
      </p:sp>
      <p:pic>
        <p:nvPicPr>
          <p:cNvPr id="52" name="Picture 51" descr="lock.png"/>
          <p:cNvPicPr>
            <a:picLocks noChangeAspect="1"/>
          </p:cNvPicPr>
          <p:nvPr/>
        </p:nvPicPr>
        <p:blipFill>
          <a:blip r:embed="rId5"/>
          <a:stretch>
            <a:fillRect/>
          </a:stretch>
        </p:blipFill>
        <p:spPr>
          <a:xfrm>
            <a:off x="9774947" y="2090991"/>
            <a:ext cx="134549" cy="195707"/>
          </a:xfrm>
          <a:prstGeom prst="rect">
            <a:avLst/>
          </a:prstGeom>
        </p:spPr>
      </p:pic>
      <p:sp>
        <p:nvSpPr>
          <p:cNvPr id="53" name="TextBox 52"/>
          <p:cNvSpPr txBox="1"/>
          <p:nvPr/>
        </p:nvSpPr>
        <p:spPr>
          <a:xfrm>
            <a:off x="9950057"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4" name="Picture 53" descr="lock.png"/>
          <p:cNvPicPr>
            <a:picLocks noChangeAspect="1"/>
          </p:cNvPicPr>
          <p:nvPr/>
        </p:nvPicPr>
        <p:blipFill>
          <a:blip r:embed="rId5"/>
          <a:stretch>
            <a:fillRect/>
          </a:stretch>
        </p:blipFill>
        <p:spPr>
          <a:xfrm>
            <a:off x="11345200" y="2090991"/>
            <a:ext cx="134549" cy="195707"/>
          </a:xfrm>
          <a:prstGeom prst="rect">
            <a:avLst/>
          </a:prstGeom>
        </p:spPr>
      </p:pic>
      <p:sp>
        <p:nvSpPr>
          <p:cNvPr id="55" name="TextBox 54"/>
          <p:cNvSpPr txBox="1"/>
          <p:nvPr/>
        </p:nvSpPr>
        <p:spPr>
          <a:xfrm>
            <a:off x="7829550" y="227647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6" name="TextBox 55"/>
          <p:cNvSpPr txBox="1"/>
          <p:nvPr/>
        </p:nvSpPr>
        <p:spPr>
          <a:xfrm>
            <a:off x="7829550" y="2504313"/>
            <a:ext cx="3263056" cy="194310"/>
          </a:xfrm>
          <a:prstGeom prst="rect">
            <a:avLst/>
          </a:prstGeom>
          <a:noFill/>
        </p:spPr>
        <p:txBody>
          <a:bodyPr wrap="none" lIns="0" rIns="0" tIns="0" bIns="0">
            <a:spAutoFit/>
          </a:bodyPr>
          <a:lstStyle/>
          <a:p>
            <a:r>
              <a:rPr sz="1150" b="0">
                <a:solidFill>
                  <a:srgbClr val="2E2E2E"/>
                </a:solidFill>
                <a:latin typeface="Calibri"/>
              </a:rPr>
              <a:t>The botanical ingredients segment is expected to lose</a:t>
            </a:r>
          </a:p>
        </p:txBody>
      </p:sp>
      <p:pic>
        <p:nvPicPr>
          <p:cNvPr id="57" name="Picture 56" descr="lock.png"/>
          <p:cNvPicPr>
            <a:picLocks noChangeAspect="1"/>
          </p:cNvPicPr>
          <p:nvPr/>
        </p:nvPicPr>
        <p:blipFill>
          <a:blip r:embed="rId5"/>
          <a:stretch>
            <a:fillRect/>
          </a:stretch>
        </p:blipFill>
        <p:spPr>
          <a:xfrm>
            <a:off x="11041760" y="2494089"/>
            <a:ext cx="134549" cy="195707"/>
          </a:xfrm>
          <a:prstGeom prst="rect">
            <a:avLst/>
          </a:prstGeom>
        </p:spPr>
      </p:pic>
      <p:sp>
        <p:nvSpPr>
          <p:cNvPr id="58" name="TextBox 57"/>
          <p:cNvSpPr txBox="1"/>
          <p:nvPr/>
        </p:nvSpPr>
        <p:spPr>
          <a:xfrm>
            <a:off x="11216869" y="2504313"/>
            <a:ext cx="598214" cy="194310"/>
          </a:xfrm>
          <a:prstGeom prst="rect">
            <a:avLst/>
          </a:prstGeom>
          <a:noFill/>
        </p:spPr>
        <p:txBody>
          <a:bodyPr wrap="none" lIns="0" rIns="0" tIns="0" bIns="0">
            <a:spAutoFit/>
          </a:bodyPr>
          <a:lstStyle/>
          <a:p>
            <a:r>
              <a:rPr sz="1150" b="0">
                <a:solidFill>
                  <a:srgbClr val="2E2E2E"/>
                </a:solidFill>
                <a:latin typeface="Calibri"/>
              </a:rPr>
              <a:t>BPS over</a:t>
            </a:r>
          </a:p>
        </p:txBody>
      </p:sp>
      <p:sp>
        <p:nvSpPr>
          <p:cNvPr id="59" name="TextBox 58"/>
          <p:cNvSpPr txBox="1"/>
          <p:nvPr/>
        </p:nvSpPr>
        <p:spPr>
          <a:xfrm>
            <a:off x="7829550" y="2679573"/>
            <a:ext cx="2083246" cy="194310"/>
          </a:xfrm>
          <a:prstGeom prst="rect">
            <a:avLst/>
          </a:prstGeom>
          <a:noFill/>
        </p:spPr>
        <p:txBody>
          <a:bodyPr wrap="none" lIns="0" rIns="0" tIns="0" bIns="0">
            <a:spAutoFit/>
          </a:bodyPr>
          <a:lstStyle/>
          <a:p>
            <a:r>
              <a:rPr sz="1150" b="0">
                <a:solidFill>
                  <a:srgbClr val="2E2E2E"/>
                </a:solidFill>
                <a:latin typeface="Calibri"/>
              </a:rPr>
              <a:t>the forecast period to account for</a:t>
            </a:r>
          </a:p>
        </p:txBody>
      </p:sp>
      <p:pic>
        <p:nvPicPr>
          <p:cNvPr id="60" name="Picture 59" descr="lock.png"/>
          <p:cNvPicPr>
            <a:picLocks noChangeAspect="1"/>
          </p:cNvPicPr>
          <p:nvPr/>
        </p:nvPicPr>
        <p:blipFill>
          <a:blip r:embed="rId5"/>
          <a:stretch>
            <a:fillRect/>
          </a:stretch>
        </p:blipFill>
        <p:spPr>
          <a:xfrm>
            <a:off x="9861950" y="2669349"/>
            <a:ext cx="134549" cy="195707"/>
          </a:xfrm>
          <a:prstGeom prst="rect">
            <a:avLst/>
          </a:prstGeom>
        </p:spPr>
      </p:pic>
      <p:sp>
        <p:nvSpPr>
          <p:cNvPr id="61" name="TextBox 60"/>
          <p:cNvSpPr txBox="1"/>
          <p:nvPr/>
        </p:nvSpPr>
        <p:spPr>
          <a:xfrm>
            <a:off x="10037059"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2"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End-use Application</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End-use Application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End-use Application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End-use Application,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End-use Application segment categorizes the market by end-use application.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Support for Observable Age-Relate…</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Routine Cognitive Wellness</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Preventive Cognitive Support for…</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Veterinary-Guided Cognitive Dysfu…</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E2E2E"/>
                </a:solidFill>
                <a:latin typeface="Calibri"/>
              </a:rPr>
              <a:t/>
            </a:r>
          </a:p>
          <a:p>
            <a:pPr algn="l">
              <a:lnSpc>
                <a:spcPct val="105000"/>
              </a:lnSpc>
              <a:spcBef>
                <a:spcPts val="0"/>
              </a:spcBef>
              <a:spcAft>
                <a:spcPts val="300"/>
              </a:spcAft>
            </a:pPr>
            <a:r>
              <a:rPr sz="1100" b="0">
                <a:solidFill>
                  <a:srgbClr val="2E2E2E"/>
                </a:solidFill>
                <a:latin typeface="Calibri"/>
              </a:rPr>
              <a:t/>
            </a: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End-use Application split shows how demand is distributed across end-use application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6_858_605E5C.png"/>
          <p:cNvPicPr>
            <a:picLocks noChangeAspect="1"/>
          </p:cNvPicPr>
          <p:nvPr/>
        </p:nvPicPr>
        <p:blipFill>
          <a:blip r:embed="rId4"/>
          <a:stretch>
            <a:fillRect/>
          </a:stretch>
        </p:blipFill>
        <p:spPr>
          <a:xfrm>
            <a:off x="2476330" y="2286582"/>
            <a:ext cx="1195728" cy="361950"/>
          </a:xfrm>
          <a:prstGeom prst="rect">
            <a:avLst/>
          </a:prstGeom>
        </p:spPr>
      </p:pic>
      <p:pic>
        <p:nvPicPr>
          <p:cNvPr id="64" name="Picture 63" descr="9_989_605E5C.png"/>
          <p:cNvPicPr>
            <a:picLocks noChangeAspect="1"/>
          </p:cNvPicPr>
          <p:nvPr/>
        </p:nvPicPr>
        <p:blipFill>
          <a:blip r:embed="rId5"/>
          <a:stretch>
            <a:fillRect/>
          </a:stretch>
        </p:blipFill>
        <p:spPr>
          <a:xfrm>
            <a:off x="2476330" y="2779432"/>
            <a:ext cx="1195728" cy="361950"/>
          </a:xfrm>
          <a:prstGeom prst="rect">
            <a:avLst/>
          </a:prstGeom>
        </p:spPr>
      </p:pic>
      <p:pic>
        <p:nvPicPr>
          <p:cNvPr id="65" name="Picture 64" descr="3_8__605E5C.png"/>
          <p:cNvPicPr>
            <a:picLocks noChangeAspect="1"/>
          </p:cNvPicPr>
          <p:nvPr/>
        </p:nvPicPr>
        <p:blipFill>
          <a:blip r:embed="rId6"/>
          <a:stretch>
            <a:fillRect/>
          </a:stretch>
        </p:blipFill>
        <p:spPr>
          <a:xfrm>
            <a:off x="2582976" y="3272281"/>
            <a:ext cx="982436" cy="361950"/>
          </a:xfrm>
          <a:prstGeom prst="rect">
            <a:avLst/>
          </a:prstGeom>
        </p:spPr>
      </p:pic>
      <p:pic>
        <p:nvPicPr>
          <p:cNvPr id="66" name="Picture 65" descr="2_363_605E5C.png"/>
          <p:cNvPicPr>
            <a:picLocks noChangeAspect="1"/>
          </p:cNvPicPr>
          <p:nvPr/>
        </p:nvPicPr>
        <p:blipFill>
          <a:blip r:embed="rId7"/>
          <a:stretch>
            <a:fillRect/>
          </a:stretch>
        </p:blipFill>
        <p:spPr>
          <a:xfrm>
            <a:off x="5005218" y="2286582"/>
            <a:ext cx="1195728" cy="361950"/>
          </a:xfrm>
          <a:prstGeom prst="rect">
            <a:avLst/>
          </a:prstGeom>
        </p:spPr>
      </p:pic>
      <p:pic>
        <p:nvPicPr>
          <p:cNvPr id="67" name="Picture 66" descr="3_969_605E5C.png"/>
          <p:cNvPicPr>
            <a:picLocks noChangeAspect="1"/>
          </p:cNvPicPr>
          <p:nvPr/>
        </p:nvPicPr>
        <p:blipFill>
          <a:blip r:embed="rId8"/>
          <a:stretch>
            <a:fillRect/>
          </a:stretch>
        </p:blipFill>
        <p:spPr>
          <a:xfrm>
            <a:off x="5005218" y="2779432"/>
            <a:ext cx="1195728" cy="361950"/>
          </a:xfrm>
          <a:prstGeom prst="rect">
            <a:avLst/>
          </a:prstGeom>
        </p:spPr>
      </p:pic>
      <p:pic>
        <p:nvPicPr>
          <p:cNvPr id="68" name="Picture 67" descr="5_3__605E5C.png"/>
          <p:cNvPicPr>
            <a:picLocks noChangeAspect="1"/>
          </p:cNvPicPr>
          <p:nvPr/>
        </p:nvPicPr>
        <p:blipFill>
          <a:blip r:embed="rId9"/>
          <a:stretch>
            <a:fillRect/>
          </a:stretch>
        </p:blipFill>
        <p:spPr>
          <a:xfrm>
            <a:off x="5111864" y="3272281"/>
            <a:ext cx="982436" cy="361950"/>
          </a:xfrm>
          <a:prstGeom prst="rect">
            <a:avLst/>
          </a:prstGeom>
        </p:spPr>
      </p:pic>
      <p:pic>
        <p:nvPicPr>
          <p:cNvPr id="69" name="Picture 68" descr="867_5_605E5C.png"/>
          <p:cNvPicPr>
            <a:picLocks noChangeAspect="1"/>
          </p:cNvPicPr>
          <p:nvPr/>
        </p:nvPicPr>
        <p:blipFill>
          <a:blip r:embed="rId10"/>
          <a:stretch>
            <a:fillRect/>
          </a:stretch>
        </p:blipFill>
        <p:spPr>
          <a:xfrm>
            <a:off x="7534105" y="2286582"/>
            <a:ext cx="1195728" cy="361950"/>
          </a:xfrm>
          <a:prstGeom prst="rect">
            <a:avLst/>
          </a:prstGeom>
        </p:spPr>
      </p:pic>
      <p:pic>
        <p:nvPicPr>
          <p:cNvPr id="70" name="Picture 69" descr="1_910_605E5C.png"/>
          <p:cNvPicPr>
            <a:picLocks noChangeAspect="1"/>
          </p:cNvPicPr>
          <p:nvPr/>
        </p:nvPicPr>
        <p:blipFill>
          <a:blip r:embed="rId11"/>
          <a:stretch>
            <a:fillRect/>
          </a:stretch>
        </p:blipFill>
        <p:spPr>
          <a:xfrm>
            <a:off x="7534105" y="2779432"/>
            <a:ext cx="1195728" cy="361950"/>
          </a:xfrm>
          <a:prstGeom prst="rect">
            <a:avLst/>
          </a:prstGeom>
        </p:spPr>
      </p:pic>
      <p:pic>
        <p:nvPicPr>
          <p:cNvPr id="71" name="Picture 70" descr="8_2__605E5C.png"/>
          <p:cNvPicPr>
            <a:picLocks noChangeAspect="1"/>
          </p:cNvPicPr>
          <p:nvPr/>
        </p:nvPicPr>
        <p:blipFill>
          <a:blip r:embed="rId12"/>
          <a:stretch>
            <a:fillRect/>
          </a:stretch>
        </p:blipFill>
        <p:spPr>
          <a:xfrm>
            <a:off x="7640751" y="3272281"/>
            <a:ext cx="982436" cy="361950"/>
          </a:xfrm>
          <a:prstGeom prst="rect">
            <a:avLst/>
          </a:prstGeom>
        </p:spPr>
      </p:pic>
      <p:pic>
        <p:nvPicPr>
          <p:cNvPr id="72" name="Picture 71" descr="811_3_605E5C.png"/>
          <p:cNvPicPr>
            <a:picLocks noChangeAspect="1"/>
          </p:cNvPicPr>
          <p:nvPr/>
        </p:nvPicPr>
        <p:blipFill>
          <a:blip r:embed="rId13"/>
          <a:stretch>
            <a:fillRect/>
          </a:stretch>
        </p:blipFill>
        <p:spPr>
          <a:xfrm>
            <a:off x="10062992" y="2286582"/>
            <a:ext cx="1195728" cy="361950"/>
          </a:xfrm>
          <a:prstGeom prst="rect">
            <a:avLst/>
          </a:prstGeom>
        </p:spPr>
      </p:pic>
      <p:pic>
        <p:nvPicPr>
          <p:cNvPr id="73" name="Picture 72" descr="1_878_605E5C.png"/>
          <p:cNvPicPr>
            <a:picLocks noChangeAspect="1"/>
          </p:cNvPicPr>
          <p:nvPr/>
        </p:nvPicPr>
        <p:blipFill>
          <a:blip r:embed="rId14"/>
          <a:stretch>
            <a:fillRect/>
          </a:stretch>
        </p:blipFill>
        <p:spPr>
          <a:xfrm>
            <a:off x="10062992" y="2779432"/>
            <a:ext cx="1195728" cy="361950"/>
          </a:xfrm>
          <a:prstGeom prst="rect">
            <a:avLst/>
          </a:prstGeom>
        </p:spPr>
      </p:pic>
      <p:pic>
        <p:nvPicPr>
          <p:cNvPr id="74" name="Picture 73" descr="8_8__605E5C.png"/>
          <p:cNvPicPr>
            <a:picLocks noChangeAspect="1"/>
          </p:cNvPicPr>
          <p:nvPr/>
        </p:nvPicPr>
        <p:blipFill>
          <a:blip r:embed="rId15"/>
          <a:stretch>
            <a:fillRect/>
          </a:stretch>
        </p:blipFill>
        <p:spPr>
          <a:xfrm>
            <a:off x="10169638" y="3272281"/>
            <a:ext cx="982436" cy="361950"/>
          </a:xfrm>
          <a:prstGeom prst="rect">
            <a:avLst/>
          </a:prstGeom>
        </p:spPr>
      </p:pic>
      <p:pic>
        <p:nvPicPr>
          <p:cNvPr id="75" name="Picture 74" descr="lock.png"/>
          <p:cNvPicPr>
            <a:picLocks noChangeAspect="1"/>
          </p:cNvPicPr>
          <p:nvPr/>
        </p:nvPicPr>
        <p:blipFill>
          <a:blip r:embed="rId16"/>
          <a:stretch>
            <a:fillRect/>
          </a:stretch>
        </p:blipFill>
        <p:spPr>
          <a:xfrm>
            <a:off x="2980848"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5509737" y="2827057"/>
            <a:ext cx="183356" cy="266700"/>
          </a:xfrm>
          <a:prstGeom prst="rect">
            <a:avLst/>
          </a:prstGeom>
        </p:spPr>
      </p:pic>
      <p:pic>
        <p:nvPicPr>
          <p:cNvPr id="77" name="Picture 76" descr="lock.png"/>
          <p:cNvPicPr>
            <a:picLocks noChangeAspect="1"/>
          </p:cNvPicPr>
          <p:nvPr/>
        </p:nvPicPr>
        <p:blipFill>
          <a:blip r:embed="rId16"/>
          <a:stretch>
            <a:fillRect/>
          </a:stretch>
        </p:blipFill>
        <p:spPr>
          <a:xfrm>
            <a:off x="8038624" y="2827057"/>
            <a:ext cx="183356" cy="266700"/>
          </a:xfrm>
          <a:prstGeom prst="rect">
            <a:avLst/>
          </a:prstGeom>
        </p:spPr>
      </p:pic>
      <p:pic>
        <p:nvPicPr>
          <p:cNvPr id="78" name="Picture 77" descr="lock.png"/>
          <p:cNvPicPr>
            <a:picLocks noChangeAspect="1"/>
          </p:cNvPicPr>
          <p:nvPr/>
        </p:nvPicPr>
        <p:blipFill>
          <a:blip r:embed="rId16"/>
          <a:stretch>
            <a:fillRect/>
          </a:stretch>
        </p:blipFill>
        <p:spPr>
          <a:xfrm>
            <a:off x="10567511" y="2827057"/>
            <a:ext cx="183356" cy="266700"/>
          </a:xfrm>
          <a:prstGeom prst="rect">
            <a:avLst/>
          </a:prstGeom>
        </p:spPr>
      </p:pic>
      <p:sp>
        <p:nvSpPr>
          <p:cNvPr id="79" name="TextBox 78"/>
          <p:cNvSpPr txBox="1"/>
          <p:nvPr/>
        </p:nvSpPr>
        <p:spPr>
          <a:xfrm>
            <a:off x="485775" y="4229437"/>
            <a:ext cx="2905910" cy="179984"/>
          </a:xfrm>
          <a:prstGeom prst="rect">
            <a:avLst/>
          </a:prstGeom>
          <a:noFill/>
        </p:spPr>
        <p:txBody>
          <a:bodyPr wrap="none" lIns="0" rIns="0" tIns="0" bIns="0">
            <a:spAutoFit/>
          </a:bodyPr>
          <a:lstStyle/>
          <a:p>
            <a:r>
              <a:rPr sz="1055" b="0">
                <a:solidFill>
                  <a:srgbClr val="2E2E2E"/>
                </a:solidFill>
                <a:latin typeface="Calibri"/>
              </a:rPr>
              <a:t>Among senior dog cognitive supplement by end-use</a:t>
            </a:r>
          </a:p>
        </p:txBody>
      </p:sp>
      <p:sp>
        <p:nvSpPr>
          <p:cNvPr id="80" name="TextBox 79"/>
          <p:cNvSpPr txBox="1"/>
          <p:nvPr/>
        </p:nvSpPr>
        <p:spPr>
          <a:xfrm>
            <a:off x="485775" y="4390371"/>
            <a:ext cx="2913245" cy="179984"/>
          </a:xfrm>
          <a:prstGeom prst="rect">
            <a:avLst/>
          </a:prstGeom>
          <a:noFill/>
        </p:spPr>
        <p:txBody>
          <a:bodyPr wrap="none" lIns="0" rIns="0" tIns="0" bIns="0">
            <a:spAutoFit/>
          </a:bodyPr>
          <a:lstStyle/>
          <a:p>
            <a:r>
              <a:rPr sz="1055" b="0">
                <a:solidFill>
                  <a:srgbClr val="2E2E2E"/>
                </a:solidFill>
                <a:latin typeface="Calibri"/>
              </a:rPr>
              <a:t>application, veterinary-guided cognitive dysfunction</a:t>
            </a:r>
          </a:p>
        </p:txBody>
      </p:sp>
      <p:sp>
        <p:nvSpPr>
          <p:cNvPr id="81" name="TextBox 80"/>
          <p:cNvSpPr txBox="1"/>
          <p:nvPr/>
        </p:nvSpPr>
        <p:spPr>
          <a:xfrm>
            <a:off x="485775" y="4551305"/>
            <a:ext cx="2882860" cy="179984"/>
          </a:xfrm>
          <a:prstGeom prst="rect">
            <a:avLst/>
          </a:prstGeom>
          <a:noFill/>
        </p:spPr>
        <p:txBody>
          <a:bodyPr wrap="none" lIns="0" rIns="0" tIns="0" bIns="0">
            <a:spAutoFit/>
          </a:bodyPr>
          <a:lstStyle/>
          <a:p>
            <a:r>
              <a:rPr sz="1055" b="0">
                <a:solidFill>
                  <a:srgbClr val="2E2E2E"/>
                </a:solidFill>
                <a:latin typeface="Calibri"/>
              </a:rPr>
              <a:t>support segment is expected to witness the highest</a:t>
            </a:r>
          </a:p>
        </p:txBody>
      </p:sp>
      <p:sp>
        <p:nvSpPr>
          <p:cNvPr id="82" name="TextBox 81"/>
          <p:cNvSpPr txBox="1"/>
          <p:nvPr/>
        </p:nvSpPr>
        <p:spPr>
          <a:xfrm>
            <a:off x="485775" y="4712240"/>
            <a:ext cx="524620" cy="179984"/>
          </a:xfrm>
          <a:prstGeom prst="rect">
            <a:avLst/>
          </a:prstGeom>
          <a:noFill/>
        </p:spPr>
        <p:txBody>
          <a:bodyPr wrap="none" lIns="0" rIns="0" tIns="0" bIns="0">
            <a:spAutoFit/>
          </a:bodyPr>
          <a:lstStyle/>
          <a:p>
            <a:r>
              <a:rPr sz="1055" b="0">
                <a:solidFill>
                  <a:srgbClr val="2E2E2E"/>
                </a:solidFill>
                <a:latin typeface="Calibri"/>
              </a:rPr>
              <a:t>CAGR of</a:t>
            </a:r>
          </a:p>
        </p:txBody>
      </p:sp>
      <p:pic>
        <p:nvPicPr>
          <p:cNvPr id="83" name="Picture 82" descr="lock.png"/>
          <p:cNvPicPr>
            <a:picLocks noChangeAspect="1"/>
          </p:cNvPicPr>
          <p:nvPr/>
        </p:nvPicPr>
        <p:blipFill>
          <a:blip r:embed="rId16"/>
          <a:stretch>
            <a:fillRect/>
          </a:stretch>
        </p:blipFill>
        <p:spPr>
          <a:xfrm>
            <a:off x="957477" y="4702852"/>
            <a:ext cx="123551" cy="179710"/>
          </a:xfrm>
          <a:prstGeom prst="rect">
            <a:avLst/>
          </a:prstGeom>
        </p:spPr>
      </p:pic>
      <p:sp>
        <p:nvSpPr>
          <p:cNvPr id="84" name="TextBox 83"/>
          <p:cNvSpPr txBox="1"/>
          <p:nvPr/>
        </p:nvSpPr>
        <p:spPr>
          <a:xfrm>
            <a:off x="1118273" y="4712240"/>
            <a:ext cx="2053566" cy="179984"/>
          </a:xfrm>
          <a:prstGeom prst="rect">
            <a:avLst/>
          </a:prstGeom>
          <a:noFill/>
        </p:spPr>
        <p:txBody>
          <a:bodyPr wrap="none" lIns="0" rIns="0" tIns="0" bIns="0">
            <a:spAutoFit/>
          </a:bodyPr>
          <a:lstStyle/>
          <a:p>
            <a:r>
              <a:rPr sz="1055" b="0">
                <a:solidFill>
                  <a:srgbClr val="2E2E2E"/>
                </a:solidFill>
                <a:latin typeface="Calibri"/>
              </a:rPr>
              <a:t>over the forecast period. In terms of</a:t>
            </a:r>
          </a:p>
        </p:txBody>
      </p:sp>
      <p:sp>
        <p:nvSpPr>
          <p:cNvPr id="85" name="TextBox 84"/>
          <p:cNvSpPr txBox="1"/>
          <p:nvPr/>
        </p:nvSpPr>
        <p:spPr>
          <a:xfrm>
            <a:off x="485775" y="4873174"/>
            <a:ext cx="2857976" cy="179984"/>
          </a:xfrm>
          <a:prstGeom prst="rect">
            <a:avLst/>
          </a:prstGeom>
          <a:noFill/>
        </p:spPr>
        <p:txBody>
          <a:bodyPr wrap="none" lIns="0" rIns="0" tIns="0" bIns="0">
            <a:spAutoFit/>
          </a:bodyPr>
          <a:lstStyle/>
          <a:p>
            <a:r>
              <a:rPr sz="1055" b="0">
                <a:solidFill>
                  <a:srgbClr val="2E2E2E"/>
                </a:solidFill>
                <a:latin typeface="Calibri"/>
              </a:rPr>
              <a:t>value share by end-use application, the support for</a:t>
            </a:r>
          </a:p>
        </p:txBody>
      </p:sp>
      <p:sp>
        <p:nvSpPr>
          <p:cNvPr id="86" name="TextBox 85"/>
          <p:cNvSpPr txBox="1"/>
          <p:nvPr/>
        </p:nvSpPr>
        <p:spPr>
          <a:xfrm>
            <a:off x="485775" y="5034109"/>
            <a:ext cx="2914650" cy="179984"/>
          </a:xfrm>
          <a:prstGeom prst="rect">
            <a:avLst/>
          </a:prstGeom>
          <a:noFill/>
        </p:spPr>
        <p:txBody>
          <a:bodyPr wrap="none" lIns="0" rIns="0" tIns="0" bIns="0">
            <a:spAutoFit/>
          </a:bodyPr>
          <a:lstStyle/>
          <a:p>
            <a:r>
              <a:rPr sz="1055" b="0">
                <a:solidFill>
                  <a:srgbClr val="2E2E2E"/>
                </a:solidFill>
                <a:latin typeface="Calibri"/>
              </a:rPr>
              <a:t>observable age-related cognitive changes segment is</a:t>
            </a:r>
          </a:p>
        </p:txBody>
      </p:sp>
      <p:sp>
        <p:nvSpPr>
          <p:cNvPr id="87" name="TextBox 86"/>
          <p:cNvSpPr txBox="1"/>
          <p:nvPr/>
        </p:nvSpPr>
        <p:spPr>
          <a:xfrm>
            <a:off x="485775" y="5195043"/>
            <a:ext cx="2296382" cy="179984"/>
          </a:xfrm>
          <a:prstGeom prst="rect">
            <a:avLst/>
          </a:prstGeom>
          <a:noFill/>
        </p:spPr>
        <p:txBody>
          <a:bodyPr wrap="none" lIns="0" rIns="0" tIns="0" bIns="0">
            <a:spAutoFit/>
          </a:bodyPr>
          <a:lstStyle/>
          <a:p>
            <a:r>
              <a:rPr sz="1055" b="0">
                <a:solidFill>
                  <a:srgbClr val="2E2E2E"/>
                </a:solidFill>
                <a:latin typeface="Calibri"/>
              </a:rPr>
              <a:t>expected to dominate the market, losing</a:t>
            </a:r>
          </a:p>
        </p:txBody>
      </p:sp>
      <p:pic>
        <p:nvPicPr>
          <p:cNvPr id="88" name="Picture 87" descr="lock.png"/>
          <p:cNvPicPr>
            <a:picLocks noChangeAspect="1"/>
          </p:cNvPicPr>
          <p:nvPr/>
        </p:nvPicPr>
        <p:blipFill>
          <a:blip r:embed="rId16"/>
          <a:stretch>
            <a:fillRect/>
          </a:stretch>
        </p:blipFill>
        <p:spPr>
          <a:xfrm>
            <a:off x="2729238" y="5185655"/>
            <a:ext cx="123551" cy="179710"/>
          </a:xfrm>
          <a:prstGeom prst="rect">
            <a:avLst/>
          </a:prstGeom>
        </p:spPr>
      </p:pic>
      <p:sp>
        <p:nvSpPr>
          <p:cNvPr id="89" name="TextBox 88"/>
          <p:cNvSpPr txBox="1"/>
          <p:nvPr/>
        </p:nvSpPr>
        <p:spPr>
          <a:xfrm>
            <a:off x="2890034" y="5195043"/>
            <a:ext cx="280249" cy="179984"/>
          </a:xfrm>
          <a:prstGeom prst="rect">
            <a:avLst/>
          </a:prstGeom>
          <a:noFill/>
        </p:spPr>
        <p:txBody>
          <a:bodyPr wrap="none" lIns="0" rIns="0" tIns="0" bIns="0">
            <a:spAutoFit/>
          </a:bodyPr>
          <a:lstStyle/>
          <a:p>
            <a:r>
              <a:rPr sz="1055" b="0">
                <a:solidFill>
                  <a:srgbClr val="2E2E2E"/>
                </a:solidFill>
                <a:latin typeface="Calibri"/>
              </a:rPr>
              <a:t>BPS</a:t>
            </a:r>
          </a:p>
        </p:txBody>
      </p:sp>
      <p:sp>
        <p:nvSpPr>
          <p:cNvPr id="90" name="TextBox 89"/>
          <p:cNvSpPr txBox="1"/>
          <p:nvPr/>
        </p:nvSpPr>
        <p:spPr>
          <a:xfrm>
            <a:off x="485775" y="5355977"/>
            <a:ext cx="1099589" cy="179984"/>
          </a:xfrm>
          <a:prstGeom prst="rect">
            <a:avLst/>
          </a:prstGeom>
          <a:noFill/>
        </p:spPr>
        <p:txBody>
          <a:bodyPr wrap="none" lIns="0" rIns="0" tIns="0" bIns="0">
            <a:spAutoFit/>
          </a:bodyPr>
          <a:lstStyle/>
          <a:p>
            <a:r>
              <a:rPr sz="1055" b="0">
                <a:solidFill>
                  <a:srgbClr val="2E2E2E"/>
                </a:solidFill>
                <a:latin typeface="Calibri"/>
              </a:rPr>
              <a:t>and accounting for</a:t>
            </a:r>
          </a:p>
        </p:txBody>
      </p:sp>
      <p:pic>
        <p:nvPicPr>
          <p:cNvPr id="91" name="Picture 90" descr="lock.png"/>
          <p:cNvPicPr>
            <a:picLocks noChangeAspect="1"/>
          </p:cNvPicPr>
          <p:nvPr/>
        </p:nvPicPr>
        <p:blipFill>
          <a:blip r:embed="rId16"/>
          <a:stretch>
            <a:fillRect/>
          </a:stretch>
        </p:blipFill>
        <p:spPr>
          <a:xfrm>
            <a:off x="1532446" y="5346589"/>
            <a:ext cx="123551" cy="179710"/>
          </a:xfrm>
          <a:prstGeom prst="rect">
            <a:avLst/>
          </a:prstGeom>
        </p:spPr>
      </p:pic>
      <p:sp>
        <p:nvSpPr>
          <p:cNvPr id="92" name="TextBox 91"/>
          <p:cNvSpPr txBox="1"/>
          <p:nvPr/>
        </p:nvSpPr>
        <p:spPr>
          <a:xfrm>
            <a:off x="1693242" y="5355977"/>
            <a:ext cx="875109" cy="179984"/>
          </a:xfrm>
          <a:prstGeom prst="rect">
            <a:avLst/>
          </a:prstGeom>
          <a:noFill/>
        </p:spPr>
        <p:txBody>
          <a:bodyPr wrap="none" lIns="0" rIns="0" tIns="0" bIns="0">
            <a:spAutoFit/>
          </a:bodyPr>
          <a:lstStyle/>
          <a:p>
            <a:r>
              <a:rPr sz="1055" b="0">
                <a:solidFill>
                  <a:srgbClr val="2E2E2E"/>
                </a:solidFill>
                <a:latin typeface="Calibri"/>
              </a:rPr>
              <a:t>share by 2036.</a:t>
            </a:r>
          </a:p>
        </p:txBody>
      </p:sp>
      <p:sp>
        <p:nvSpPr>
          <p:cNvPr id="93" name="TextBox 92"/>
          <p:cNvSpPr txBox="1"/>
          <p:nvPr/>
        </p:nvSpPr>
        <p:spPr>
          <a:xfrm>
            <a:off x="485775" y="5565192"/>
            <a:ext cx="2914650" cy="179984"/>
          </a:xfrm>
          <a:prstGeom prst="rect">
            <a:avLst/>
          </a:prstGeom>
          <a:noFill/>
        </p:spPr>
        <p:txBody>
          <a:bodyPr wrap="none" lIns="0" rIns="0" tIns="0" bIns="0">
            <a:spAutoFit/>
          </a:bodyPr>
          <a:lstStyle/>
          <a:p>
            <a:r>
              <a:rPr sz="1055" b="0">
                <a:solidFill>
                  <a:srgbClr val="2E2E2E"/>
                </a:solidFill>
                <a:latin typeface="Calibri"/>
              </a:rPr>
              <a:t>Support for observable age-related cognitive changes</a:t>
            </a:r>
          </a:p>
        </p:txBody>
      </p:sp>
      <p:sp>
        <p:nvSpPr>
          <p:cNvPr id="94" name="TextBox 93"/>
          <p:cNvSpPr txBox="1"/>
          <p:nvPr/>
        </p:nvSpPr>
        <p:spPr>
          <a:xfrm>
            <a:off x="485775" y="5726126"/>
            <a:ext cx="1813631" cy="179984"/>
          </a:xfrm>
          <a:prstGeom prst="rect">
            <a:avLst/>
          </a:prstGeom>
          <a:noFill/>
        </p:spPr>
        <p:txBody>
          <a:bodyPr wrap="none" lIns="0" rIns="0" tIns="0" bIns="0">
            <a:spAutoFit/>
          </a:bodyPr>
          <a:lstStyle/>
          <a:p>
            <a:r>
              <a:rPr sz="1055" b="0">
                <a:solidFill>
                  <a:srgbClr val="2E2E2E"/>
                </a:solidFill>
                <a:latin typeface="Calibri"/>
              </a:rPr>
              <a:t>segment is projected to register</a:t>
            </a:r>
          </a:p>
        </p:txBody>
      </p:sp>
      <p:pic>
        <p:nvPicPr>
          <p:cNvPr id="95" name="Picture 94" descr="lock.png"/>
          <p:cNvPicPr>
            <a:picLocks noChangeAspect="1"/>
          </p:cNvPicPr>
          <p:nvPr/>
        </p:nvPicPr>
        <p:blipFill>
          <a:blip r:embed="rId16"/>
          <a:stretch>
            <a:fillRect/>
          </a:stretch>
        </p:blipFill>
        <p:spPr>
          <a:xfrm>
            <a:off x="2246487" y="5716739"/>
            <a:ext cx="123551" cy="179710"/>
          </a:xfrm>
          <a:prstGeom prst="rect">
            <a:avLst/>
          </a:prstGeom>
        </p:spPr>
      </p:pic>
      <p:sp>
        <p:nvSpPr>
          <p:cNvPr id="96" name="TextBox 95"/>
          <p:cNvSpPr txBox="1"/>
          <p:nvPr/>
        </p:nvSpPr>
        <p:spPr>
          <a:xfrm>
            <a:off x="2407283" y="5726126"/>
            <a:ext cx="848129" cy="179984"/>
          </a:xfrm>
          <a:prstGeom prst="rect">
            <a:avLst/>
          </a:prstGeom>
          <a:noFill/>
        </p:spPr>
        <p:txBody>
          <a:bodyPr wrap="none" lIns="0" rIns="0" tIns="0" bIns="0">
            <a:spAutoFit/>
          </a:bodyPr>
          <a:lstStyle/>
          <a:p>
            <a:r>
              <a:rPr sz="1055" b="0">
                <a:solidFill>
                  <a:srgbClr val="2E2E2E"/>
                </a:solidFill>
                <a:latin typeface="Calibri"/>
              </a:rPr>
              <a:t>X higher value</a:t>
            </a:r>
          </a:p>
        </p:txBody>
      </p:sp>
      <p:sp>
        <p:nvSpPr>
          <p:cNvPr id="97" name="TextBox 96"/>
          <p:cNvSpPr txBox="1"/>
          <p:nvPr/>
        </p:nvSpPr>
        <p:spPr>
          <a:xfrm>
            <a:off x="485775" y="5887061"/>
            <a:ext cx="2751105" cy="179984"/>
          </a:xfrm>
          <a:prstGeom prst="rect">
            <a:avLst/>
          </a:prstGeom>
          <a:noFill/>
        </p:spPr>
        <p:txBody>
          <a:bodyPr wrap="none" lIns="0" rIns="0" tIns="0" bIns="0">
            <a:spAutoFit/>
          </a:bodyPr>
          <a:lstStyle/>
          <a:p>
            <a:r>
              <a:rPr sz="1055" b="0">
                <a:solidFill>
                  <a:srgbClr val="2E2E2E"/>
                </a:solidFill>
                <a:latin typeface="Calibri"/>
              </a:rPr>
              <a:t>than routine cognitive wellness segment in 2036.</a:t>
            </a:r>
          </a:p>
        </p:txBody>
      </p:sp>
      <p:sp>
        <p:nvSpPr>
          <p:cNvPr id="98" name="TextBox 97"/>
          <p:cNvSpPr txBox="1"/>
          <p:nvPr/>
        </p:nvSpPr>
        <p:spPr>
          <a:xfrm>
            <a:off x="3838575" y="4229437"/>
            <a:ext cx="3422178" cy="186689"/>
          </a:xfrm>
          <a:prstGeom prst="rect">
            <a:avLst/>
          </a:prstGeom>
          <a:noFill/>
        </p:spPr>
        <p:txBody>
          <a:bodyPr wrap="none" lIns="0" rIns="0" tIns="0" bIns="0">
            <a:spAutoFit/>
          </a:bodyPr>
          <a:lstStyle/>
          <a:p>
            <a:r>
              <a:rPr sz="1100" b="1">
                <a:solidFill>
                  <a:srgbClr val="0B2E4A"/>
                </a:solidFill>
                <a:latin typeface="Calibri"/>
              </a:rPr>
              <a:t>● Support for Observable Age-Related Cognitive Changes:</a:t>
            </a:r>
          </a:p>
        </p:txBody>
      </p:sp>
      <p:pic>
        <p:nvPicPr>
          <p:cNvPr id="99" name="Picture 98" descr="lock.png"/>
          <p:cNvPicPr>
            <a:picLocks noChangeAspect="1"/>
          </p:cNvPicPr>
          <p:nvPr/>
        </p:nvPicPr>
        <p:blipFill>
          <a:blip r:embed="rId16"/>
          <a:stretch>
            <a:fillRect/>
          </a:stretch>
        </p:blipFill>
        <p:spPr>
          <a:xfrm>
            <a:off x="7208805" y="4219658"/>
            <a:ext cx="128699" cy="187198"/>
          </a:xfrm>
          <a:prstGeom prst="rect">
            <a:avLst/>
          </a:prstGeom>
        </p:spPr>
      </p:pic>
      <p:sp>
        <p:nvSpPr>
          <p:cNvPr id="100" name="TextBox 99"/>
          <p:cNvSpPr txBox="1"/>
          <p:nvPr/>
        </p:nvSpPr>
        <p:spPr>
          <a:xfrm>
            <a:off x="7376301" y="4229437"/>
            <a:ext cx="510852" cy="186689"/>
          </a:xfrm>
          <a:prstGeom prst="rect">
            <a:avLst/>
          </a:prstGeom>
          <a:noFill/>
        </p:spPr>
        <p:txBody>
          <a:bodyPr wrap="none" lIns="0" rIns="0" tIns="0" bIns="0">
            <a:spAutoFit/>
          </a:bodyPr>
          <a:lstStyle/>
          <a:p>
            <a:r>
              <a:rPr sz="1100" b="1">
                <a:solidFill>
                  <a:srgbClr val="0B2E4A"/>
                </a:solidFill>
                <a:latin typeface="Calibri"/>
              </a:rPr>
              <a:t>of 2026</a:t>
            </a:r>
          </a:p>
        </p:txBody>
      </p:sp>
      <p:sp>
        <p:nvSpPr>
          <p:cNvPr id="101" name="TextBox 100"/>
          <p:cNvSpPr txBox="1"/>
          <p:nvPr/>
        </p:nvSpPr>
        <p:spPr>
          <a:xfrm>
            <a:off x="3838575" y="4397077"/>
            <a:ext cx="460102" cy="186689"/>
          </a:xfrm>
          <a:prstGeom prst="rect">
            <a:avLst/>
          </a:prstGeom>
          <a:noFill/>
        </p:spPr>
        <p:txBody>
          <a:bodyPr wrap="none" lIns="0" rIns="0" tIns="0" bIns="0">
            <a:spAutoFit/>
          </a:bodyPr>
          <a:lstStyle/>
          <a:p>
            <a:r>
              <a:rPr sz="1100" b="1">
                <a:solidFill>
                  <a:srgbClr val="0B2E4A"/>
                </a:solidFill>
                <a:latin typeface="Calibri"/>
              </a:rPr>
              <a:t>value ·</a:t>
            </a:r>
          </a:p>
        </p:txBody>
      </p:sp>
      <p:pic>
        <p:nvPicPr>
          <p:cNvPr id="102" name="Picture 101" descr="lock.png"/>
          <p:cNvPicPr>
            <a:picLocks noChangeAspect="1"/>
          </p:cNvPicPr>
          <p:nvPr/>
        </p:nvPicPr>
        <p:blipFill>
          <a:blip r:embed="rId16"/>
          <a:stretch>
            <a:fillRect/>
          </a:stretch>
        </p:blipFill>
        <p:spPr>
          <a:xfrm>
            <a:off x="4246728" y="4387298"/>
            <a:ext cx="128699" cy="187198"/>
          </a:xfrm>
          <a:prstGeom prst="rect">
            <a:avLst/>
          </a:prstGeom>
        </p:spPr>
      </p:pic>
      <p:sp>
        <p:nvSpPr>
          <p:cNvPr id="103" name="TextBox 102"/>
          <p:cNvSpPr txBox="1"/>
          <p:nvPr/>
        </p:nvSpPr>
        <p:spPr>
          <a:xfrm>
            <a:off x="4414224" y="4397077"/>
            <a:ext cx="1533201" cy="186689"/>
          </a:xfrm>
          <a:prstGeom prst="rect">
            <a:avLst/>
          </a:prstGeom>
          <a:noFill/>
        </p:spPr>
        <p:txBody>
          <a:bodyPr wrap="none" lIns="0" rIns="0" tIns="0" bIns="0">
            <a:spAutoFit/>
          </a:bodyPr>
          <a:lstStyle/>
          <a:p>
            <a:r>
              <a:rPr sz="1100" b="1">
                <a:solidFill>
                  <a:srgbClr val="0B2E4A"/>
                </a:solidFill>
                <a:latin typeface="Calibri"/>
              </a:rPr>
              <a:t>CAGR leads the segment.</a:t>
            </a:r>
          </a:p>
        </p:txBody>
      </p:sp>
      <p:sp>
        <p:nvSpPr>
          <p:cNvPr id="104" name="TextBox 103"/>
          <p:cNvSpPr txBox="1"/>
          <p:nvPr/>
        </p:nvSpPr>
        <p:spPr>
          <a:xfrm>
            <a:off x="3838575" y="4615009"/>
            <a:ext cx="1779612" cy="186689"/>
          </a:xfrm>
          <a:prstGeom prst="rect">
            <a:avLst/>
          </a:prstGeom>
          <a:noFill/>
        </p:spPr>
        <p:txBody>
          <a:bodyPr wrap="none" lIns="0" rIns="0" tIns="0" bIns="0">
            <a:spAutoFit/>
          </a:bodyPr>
          <a:lstStyle/>
          <a:p>
            <a:r>
              <a:rPr sz="1100" b="0">
                <a:solidFill>
                  <a:srgbClr val="2E2E2E"/>
                </a:solidFill>
                <a:latin typeface="Calibri"/>
              </a:rPr>
              <a:t>● Routine Cognitive Wellness:</a:t>
            </a:r>
          </a:p>
        </p:txBody>
      </p:sp>
      <p:pic>
        <p:nvPicPr>
          <p:cNvPr id="105" name="Picture 104" descr="lock.png"/>
          <p:cNvPicPr>
            <a:picLocks noChangeAspect="1"/>
          </p:cNvPicPr>
          <p:nvPr/>
        </p:nvPicPr>
        <p:blipFill>
          <a:blip r:embed="rId16"/>
          <a:stretch>
            <a:fillRect/>
          </a:stretch>
        </p:blipFill>
        <p:spPr>
          <a:xfrm>
            <a:off x="5566238" y="4605230"/>
            <a:ext cx="128699" cy="187198"/>
          </a:xfrm>
          <a:prstGeom prst="rect">
            <a:avLst/>
          </a:prstGeom>
        </p:spPr>
      </p:pic>
      <p:sp>
        <p:nvSpPr>
          <p:cNvPr id="106" name="TextBox 105"/>
          <p:cNvSpPr txBox="1"/>
          <p:nvPr/>
        </p:nvSpPr>
        <p:spPr>
          <a:xfrm>
            <a:off x="5733734"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7" name="Picture 106" descr="lock.png"/>
          <p:cNvPicPr>
            <a:picLocks noChangeAspect="1"/>
          </p:cNvPicPr>
          <p:nvPr/>
        </p:nvPicPr>
        <p:blipFill>
          <a:blip r:embed="rId16"/>
          <a:stretch>
            <a:fillRect/>
          </a:stretch>
        </p:blipFill>
        <p:spPr>
          <a:xfrm>
            <a:off x="6593184" y="4605230"/>
            <a:ext cx="128699" cy="187198"/>
          </a:xfrm>
          <a:prstGeom prst="rect">
            <a:avLst/>
          </a:prstGeom>
        </p:spPr>
      </p:pic>
      <p:sp>
        <p:nvSpPr>
          <p:cNvPr id="108" name="TextBox 107"/>
          <p:cNvSpPr txBox="1"/>
          <p:nvPr/>
        </p:nvSpPr>
        <p:spPr>
          <a:xfrm>
            <a:off x="6760680" y="4615009"/>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09" name="TextBox 108"/>
          <p:cNvSpPr txBox="1"/>
          <p:nvPr/>
        </p:nvSpPr>
        <p:spPr>
          <a:xfrm>
            <a:off x="3838575" y="4782649"/>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10" name="TextBox 109"/>
          <p:cNvSpPr txBox="1"/>
          <p:nvPr/>
        </p:nvSpPr>
        <p:spPr>
          <a:xfrm>
            <a:off x="3838575" y="5000581"/>
            <a:ext cx="2847280" cy="186689"/>
          </a:xfrm>
          <a:prstGeom prst="rect">
            <a:avLst/>
          </a:prstGeom>
          <a:noFill/>
        </p:spPr>
        <p:txBody>
          <a:bodyPr wrap="none" lIns="0" rIns="0" tIns="0" bIns="0">
            <a:spAutoFit/>
          </a:bodyPr>
          <a:lstStyle/>
          <a:p>
            <a:r>
              <a:rPr sz="1100" b="1">
                <a:solidFill>
                  <a:srgbClr val="008189"/>
                </a:solidFill>
                <a:latin typeface="Calibri"/>
              </a:rPr>
              <a:t>● Preventive Cognitive Support for Senior Dogs:</a:t>
            </a:r>
          </a:p>
        </p:txBody>
      </p:sp>
      <p:pic>
        <p:nvPicPr>
          <p:cNvPr id="111" name="Picture 110" descr="lock.png"/>
          <p:cNvPicPr>
            <a:picLocks noChangeAspect="1"/>
          </p:cNvPicPr>
          <p:nvPr/>
        </p:nvPicPr>
        <p:blipFill>
          <a:blip r:embed="rId16"/>
          <a:stretch>
            <a:fillRect/>
          </a:stretch>
        </p:blipFill>
        <p:spPr>
          <a:xfrm>
            <a:off x="6633907" y="4990801"/>
            <a:ext cx="128699" cy="187198"/>
          </a:xfrm>
          <a:prstGeom prst="rect">
            <a:avLst/>
          </a:prstGeom>
        </p:spPr>
      </p:pic>
      <p:sp>
        <p:nvSpPr>
          <p:cNvPr id="112" name="TextBox 111"/>
          <p:cNvSpPr txBox="1"/>
          <p:nvPr/>
        </p:nvSpPr>
        <p:spPr>
          <a:xfrm>
            <a:off x="6801402" y="5000581"/>
            <a:ext cx="926405" cy="186689"/>
          </a:xfrm>
          <a:prstGeom prst="rect">
            <a:avLst/>
          </a:prstGeom>
          <a:noFill/>
        </p:spPr>
        <p:txBody>
          <a:bodyPr wrap="none" lIns="0" rIns="0" tIns="0" bIns="0">
            <a:spAutoFit/>
          </a:bodyPr>
          <a:lstStyle/>
          <a:p>
            <a:r>
              <a:rPr sz="1100" b="1">
                <a:solidFill>
                  <a:srgbClr val="008189"/>
                </a:solidFill>
                <a:latin typeface="Calibri"/>
              </a:rPr>
              <a:t>of 2026 value ·</a:t>
            </a:r>
          </a:p>
        </p:txBody>
      </p:sp>
      <p:pic>
        <p:nvPicPr>
          <p:cNvPr id="113" name="Picture 112" descr="lock.png"/>
          <p:cNvPicPr>
            <a:picLocks noChangeAspect="1"/>
          </p:cNvPicPr>
          <p:nvPr/>
        </p:nvPicPr>
        <p:blipFill>
          <a:blip r:embed="rId16"/>
          <a:stretch>
            <a:fillRect/>
          </a:stretch>
        </p:blipFill>
        <p:spPr>
          <a:xfrm>
            <a:off x="3825107" y="5158441"/>
            <a:ext cx="128699" cy="187198"/>
          </a:xfrm>
          <a:prstGeom prst="rect">
            <a:avLst/>
          </a:prstGeom>
        </p:spPr>
      </p:pic>
      <p:sp>
        <p:nvSpPr>
          <p:cNvPr id="114" name="TextBox 113"/>
          <p:cNvSpPr txBox="1"/>
          <p:nvPr/>
        </p:nvSpPr>
        <p:spPr>
          <a:xfrm>
            <a:off x="3992603" y="5168221"/>
            <a:ext cx="1284633" cy="186689"/>
          </a:xfrm>
          <a:prstGeom prst="rect">
            <a:avLst/>
          </a:prstGeom>
          <a:noFill/>
        </p:spPr>
        <p:txBody>
          <a:bodyPr wrap="none" lIns="0" rIns="0" tIns="0" bIns="0">
            <a:spAutoFit/>
          </a:bodyPr>
          <a:lstStyle/>
          <a:p>
            <a:r>
              <a:rPr sz="1100" b="1">
                <a:solidFill>
                  <a:srgbClr val="008189"/>
                </a:solidFill>
                <a:latin typeface="Calibri"/>
              </a:rPr>
              <a:t>CAGR serves a niche.</a:t>
            </a:r>
          </a:p>
        </p:txBody>
      </p:sp>
      <p:sp>
        <p:nvSpPr>
          <p:cNvPr id="115" name="TextBox 114"/>
          <p:cNvSpPr txBox="1"/>
          <p:nvPr/>
        </p:nvSpPr>
        <p:spPr>
          <a:xfrm>
            <a:off x="3838575" y="5386153"/>
            <a:ext cx="3107580" cy="186689"/>
          </a:xfrm>
          <a:prstGeom prst="rect">
            <a:avLst/>
          </a:prstGeom>
          <a:noFill/>
        </p:spPr>
        <p:txBody>
          <a:bodyPr wrap="none" lIns="0" rIns="0" tIns="0" bIns="0">
            <a:spAutoFit/>
          </a:bodyPr>
          <a:lstStyle/>
          <a:p>
            <a:r>
              <a:rPr sz="1100" b="1">
                <a:solidFill>
                  <a:srgbClr val="6F3CC2"/>
                </a:solidFill>
                <a:latin typeface="Calibri"/>
              </a:rPr>
              <a:t>● Veterinary-Guided Cognitive Dysfunction Support:</a:t>
            </a:r>
          </a:p>
        </p:txBody>
      </p:sp>
      <p:pic>
        <p:nvPicPr>
          <p:cNvPr id="116" name="Picture 115" descr="lock.png"/>
          <p:cNvPicPr>
            <a:picLocks noChangeAspect="1"/>
          </p:cNvPicPr>
          <p:nvPr/>
        </p:nvPicPr>
        <p:blipFill>
          <a:blip r:embed="rId16"/>
          <a:stretch>
            <a:fillRect/>
          </a:stretch>
        </p:blipFill>
        <p:spPr>
          <a:xfrm>
            <a:off x="6894207" y="5376373"/>
            <a:ext cx="128699" cy="187198"/>
          </a:xfrm>
          <a:prstGeom prst="rect">
            <a:avLst/>
          </a:prstGeom>
        </p:spPr>
      </p:pic>
      <p:sp>
        <p:nvSpPr>
          <p:cNvPr id="117" name="TextBox 116"/>
          <p:cNvSpPr txBox="1"/>
          <p:nvPr/>
        </p:nvSpPr>
        <p:spPr>
          <a:xfrm>
            <a:off x="7061703" y="5386153"/>
            <a:ext cx="857374" cy="186689"/>
          </a:xfrm>
          <a:prstGeom prst="rect">
            <a:avLst/>
          </a:prstGeom>
          <a:noFill/>
        </p:spPr>
        <p:txBody>
          <a:bodyPr wrap="none" lIns="0" rIns="0" tIns="0" bIns="0">
            <a:spAutoFit/>
          </a:bodyPr>
          <a:lstStyle/>
          <a:p>
            <a:r>
              <a:rPr sz="1100" b="1">
                <a:solidFill>
                  <a:srgbClr val="6F3CC2"/>
                </a:solidFill>
                <a:latin typeface="Calibri"/>
              </a:rPr>
              <a:t>of 2026 value</a:t>
            </a:r>
          </a:p>
        </p:txBody>
      </p:sp>
      <p:sp>
        <p:nvSpPr>
          <p:cNvPr id="118" name="TextBox 117"/>
          <p:cNvSpPr txBox="1"/>
          <p:nvPr/>
        </p:nvSpPr>
        <p:spPr>
          <a:xfrm>
            <a:off x="3838575" y="5553793"/>
            <a:ext cx="113580" cy="186689"/>
          </a:xfrm>
          <a:prstGeom prst="rect">
            <a:avLst/>
          </a:prstGeom>
          <a:noFill/>
        </p:spPr>
        <p:txBody>
          <a:bodyPr wrap="none" lIns="0" rIns="0" tIns="0" bIns="0">
            <a:spAutoFit/>
          </a:bodyPr>
          <a:lstStyle/>
          <a:p>
            <a:r>
              <a:rPr sz="1100" b="1">
                <a:solidFill>
                  <a:srgbClr val="6F3CC2"/>
                </a:solidFill>
                <a:latin typeface="Calibri"/>
              </a:rPr>
              <a:t>·</a:t>
            </a:r>
          </a:p>
        </p:txBody>
      </p:sp>
      <p:pic>
        <p:nvPicPr>
          <p:cNvPr id="119" name="Picture 118" descr="lock.png"/>
          <p:cNvPicPr>
            <a:picLocks noChangeAspect="1"/>
          </p:cNvPicPr>
          <p:nvPr/>
        </p:nvPicPr>
        <p:blipFill>
          <a:blip r:embed="rId16"/>
          <a:stretch>
            <a:fillRect/>
          </a:stretch>
        </p:blipFill>
        <p:spPr>
          <a:xfrm>
            <a:off x="3900207" y="5544013"/>
            <a:ext cx="128699" cy="187198"/>
          </a:xfrm>
          <a:prstGeom prst="rect">
            <a:avLst/>
          </a:prstGeom>
        </p:spPr>
      </p:pic>
      <p:sp>
        <p:nvSpPr>
          <p:cNvPr id="120" name="TextBox 119"/>
          <p:cNvSpPr txBox="1"/>
          <p:nvPr/>
        </p:nvSpPr>
        <p:spPr>
          <a:xfrm>
            <a:off x="4067703" y="5553793"/>
            <a:ext cx="1245889" cy="186689"/>
          </a:xfrm>
          <a:prstGeom prst="rect">
            <a:avLst/>
          </a:prstGeom>
          <a:noFill/>
        </p:spPr>
        <p:txBody>
          <a:bodyPr wrap="none" lIns="0" rIns="0" tIns="0" bIns="0">
            <a:spAutoFit/>
          </a:bodyPr>
          <a:lstStyle/>
          <a:p>
            <a:r>
              <a:rPr sz="1100" b="1">
                <a:solidFill>
                  <a:srgbClr val="6F3CC2"/>
                </a:solidFill>
                <a:latin typeface="Calibri"/>
              </a:rPr>
              <a:t>CAGR grows fastest.</a:t>
            </a:r>
          </a:p>
        </p:txBody>
      </p:sp>
      <p:sp>
        <p:nvSpPr>
          <p:cNvPr id="121" name="TextBox 120"/>
          <p:cNvSpPr txBox="1"/>
          <p:nvPr/>
        </p:nvSpPr>
        <p:spPr>
          <a:xfrm>
            <a:off x="8524875" y="5842641"/>
            <a:ext cx="3006328" cy="194310"/>
          </a:xfrm>
          <a:prstGeom prst="rect">
            <a:avLst/>
          </a:prstGeom>
          <a:noFill/>
        </p:spPr>
        <p:txBody>
          <a:bodyPr wrap="none" lIns="0" rIns="0" tIns="0" bIns="0">
            <a:spAutoFit/>
          </a:bodyPr>
          <a:lstStyle/>
          <a:p>
            <a:r>
              <a:rPr sz="1150" b="1">
                <a:solidFill>
                  <a:srgbClr val="0B2E4A"/>
                </a:solidFill>
                <a:latin typeface="Calibri"/>
              </a:rPr>
              <a:t>The End-use Application segment is projected to</a:t>
            </a:r>
          </a:p>
        </p:txBody>
      </p:sp>
      <p:sp>
        <p:nvSpPr>
          <p:cNvPr id="122" name="TextBox 121"/>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123" name="Picture 122" descr="lock.png"/>
          <p:cNvPicPr>
            <a:picLocks noChangeAspect="1"/>
          </p:cNvPicPr>
          <p:nvPr/>
        </p:nvPicPr>
        <p:blipFill>
          <a:blip r:embed="rId16"/>
          <a:stretch>
            <a:fillRect/>
          </a:stretch>
        </p:blipFill>
        <p:spPr>
          <a:xfrm>
            <a:off x="9651852" y="6007677"/>
            <a:ext cx="134549" cy="195707"/>
          </a:xfrm>
          <a:prstGeom prst="rect">
            <a:avLst/>
          </a:prstGeom>
        </p:spPr>
      </p:pic>
      <p:sp>
        <p:nvSpPr>
          <p:cNvPr id="124" name="TextBox 123"/>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End-use Application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End-use Application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End-use Application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End-use Application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503769" cy="186689"/>
          </a:xfrm>
          <a:prstGeom prst="rect">
            <a:avLst/>
          </a:prstGeom>
          <a:noFill/>
        </p:spPr>
        <p:txBody>
          <a:bodyPr wrap="none" lIns="0" rIns="0" tIns="0" bIns="0">
            <a:spAutoFit/>
          </a:bodyPr>
          <a:lstStyle/>
          <a:p>
            <a:r>
              <a:rPr sz="1100" b="0">
                <a:solidFill>
                  <a:srgbClr val="2E2E2E"/>
                </a:solidFill>
                <a:latin typeface="Calibri"/>
              </a:rPr>
              <a:t>Support for observable age-related cognitive changes followed by veterinary-guided cognitive dysfunction support are expected to be the two most attractive end-use application segments in the global</a:t>
            </a:r>
          </a:p>
        </p:txBody>
      </p:sp>
      <p:sp>
        <p:nvSpPr>
          <p:cNvPr id="20" name="TextBox 19"/>
          <p:cNvSpPr txBox="1"/>
          <p:nvPr/>
        </p:nvSpPr>
        <p:spPr>
          <a:xfrm>
            <a:off x="257175" y="5861685"/>
            <a:ext cx="11468571" cy="186689"/>
          </a:xfrm>
          <a:prstGeom prst="rect">
            <a:avLst/>
          </a:prstGeom>
          <a:noFill/>
        </p:spPr>
        <p:txBody>
          <a:bodyPr wrap="none" lIns="0" rIns="0" tIns="0" bIns="0">
            <a:spAutoFit/>
          </a:bodyPr>
          <a:lstStyle/>
          <a:p>
            <a:r>
              <a:rPr sz="1100" b="0">
                <a:solidFill>
                  <a:srgbClr val="2E2E2E"/>
                </a:solidFill>
                <a:latin typeface="Calibri"/>
              </a:rPr>
              <a:t>senior dog cognitive supplement market in terms of value over the forecast period. Support for observable Age-Related cognitive changes and Veterinary-Guided cognitive dysfunction support exhibit a</a:t>
            </a:r>
          </a:p>
        </p:txBody>
      </p:sp>
      <p:sp>
        <p:nvSpPr>
          <p:cNvPr id="21" name="TextBox 20"/>
          <p:cNvSpPr txBox="1"/>
          <p:nvPr/>
        </p:nvSpPr>
        <p:spPr>
          <a:xfrm>
            <a:off x="257175" y="6029325"/>
            <a:ext cx="884096" cy="186689"/>
          </a:xfrm>
          <a:prstGeom prst="rect">
            <a:avLst/>
          </a:prstGeom>
          <a:noFill/>
        </p:spPr>
        <p:txBody>
          <a:bodyPr wrap="none" lIns="0" rIns="0" tIns="0" bIns="0">
            <a:spAutoFit/>
          </a:bodyPr>
          <a:lstStyle/>
          <a:p>
            <a:r>
              <a:rPr sz="1100" b="0">
                <a:solidFill>
                  <a:srgbClr val="2E2E2E"/>
                </a:solidFill>
                <a:latin typeface="Calibri"/>
              </a:rPr>
              <a:t>CAGR index of</a:t>
            </a:r>
          </a:p>
        </p:txBody>
      </p:sp>
      <p:pic>
        <p:nvPicPr>
          <p:cNvPr id="22" name="Picture 21" descr="lock.png"/>
          <p:cNvPicPr>
            <a:picLocks noChangeAspect="1"/>
          </p:cNvPicPr>
          <p:nvPr/>
        </p:nvPicPr>
        <p:blipFill>
          <a:blip r:embed="rId6"/>
          <a:stretch>
            <a:fillRect/>
          </a:stretch>
        </p:blipFill>
        <p:spPr>
          <a:xfrm>
            <a:off x="1089323" y="6019545"/>
            <a:ext cx="128699" cy="187198"/>
          </a:xfrm>
          <a:prstGeom prst="rect">
            <a:avLst/>
          </a:prstGeom>
        </p:spPr>
      </p:pic>
      <p:sp>
        <p:nvSpPr>
          <p:cNvPr id="23" name="TextBox 22"/>
          <p:cNvSpPr txBox="1"/>
          <p:nvPr/>
        </p:nvSpPr>
        <p:spPr>
          <a:xfrm>
            <a:off x="1256818" y="602932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1494713" y="6019545"/>
            <a:ext cx="128699" cy="187198"/>
          </a:xfrm>
          <a:prstGeom prst="rect">
            <a:avLst/>
          </a:prstGeom>
        </p:spPr>
      </p:pic>
      <p:sp>
        <p:nvSpPr>
          <p:cNvPr id="25" name="TextBox 24"/>
          <p:cNvSpPr txBox="1"/>
          <p:nvPr/>
        </p:nvSpPr>
        <p:spPr>
          <a:xfrm>
            <a:off x="1662209" y="602932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3271182" y="6019545"/>
            <a:ext cx="128699" cy="187198"/>
          </a:xfrm>
          <a:prstGeom prst="rect">
            <a:avLst/>
          </a:prstGeom>
        </p:spPr>
      </p:pic>
      <p:sp>
        <p:nvSpPr>
          <p:cNvPr id="27" name="TextBox 26"/>
          <p:cNvSpPr txBox="1"/>
          <p:nvPr/>
        </p:nvSpPr>
        <p:spPr>
          <a:xfrm>
            <a:off x="3438678" y="602932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3676572" y="6019545"/>
            <a:ext cx="128699" cy="187198"/>
          </a:xfrm>
          <a:prstGeom prst="rect">
            <a:avLst/>
          </a:prstGeom>
        </p:spPr>
      </p:pic>
      <p:sp>
        <p:nvSpPr>
          <p:cNvPr id="29" name="TextBox 28"/>
          <p:cNvSpPr txBox="1"/>
          <p:nvPr/>
        </p:nvSpPr>
        <p:spPr>
          <a:xfrm>
            <a:off x="3844068" y="602932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30" name="Picture 29" descr="lock.png"/>
          <p:cNvPicPr>
            <a:picLocks noChangeAspect="1"/>
          </p:cNvPicPr>
          <p:nvPr/>
        </p:nvPicPr>
        <p:blipFill>
          <a:blip r:embed="rId6"/>
          <a:stretch>
            <a:fillRect/>
          </a:stretch>
        </p:blipFill>
        <p:spPr>
          <a:xfrm>
            <a:off x="6398472" y="6019545"/>
            <a:ext cx="128699" cy="187198"/>
          </a:xfrm>
          <a:prstGeom prst="rect">
            <a:avLst/>
          </a:prstGeom>
        </p:spPr>
      </p:pic>
      <p:sp>
        <p:nvSpPr>
          <p:cNvPr id="31" name="TextBox 30"/>
          <p:cNvSpPr txBox="1"/>
          <p:nvPr/>
        </p:nvSpPr>
        <p:spPr>
          <a:xfrm>
            <a:off x="6565968" y="6029325"/>
            <a:ext cx="4365972" cy="186689"/>
          </a:xfrm>
          <a:prstGeom prst="rect">
            <a:avLst/>
          </a:prstGeom>
          <a:noFill/>
        </p:spPr>
        <p:txBody>
          <a:bodyPr wrap="none" lIns="0" rIns="0" tIns="0" bIns="0">
            <a:spAutoFit/>
          </a:bodyPr>
          <a:lstStyle/>
          <a:p>
            <a:r>
              <a:rPr sz="1100" b="0">
                <a:solidFill>
                  <a:srgbClr val="2E2E2E"/>
                </a:solidFill>
                <a:latin typeface="Calibri"/>
              </a:rPr>
              <a:t>. The routine cognitive wellness segment is expected to be less attractive as</a:t>
            </a:r>
          </a:p>
        </p:txBody>
      </p:sp>
      <p:sp>
        <p:nvSpPr>
          <p:cNvPr id="32" name="TextBox 31"/>
          <p:cNvSpPr txBox="1"/>
          <p:nvPr/>
        </p:nvSpPr>
        <p:spPr>
          <a:xfrm>
            <a:off x="257175" y="6196965"/>
            <a:ext cx="10606326" cy="186689"/>
          </a:xfrm>
          <a:prstGeom prst="rect">
            <a:avLst/>
          </a:prstGeom>
          <a:noFill/>
        </p:spPr>
        <p:txBody>
          <a:bodyPr wrap="none" lIns="0" rIns="0" tIns="0" bIns="0">
            <a:spAutoFit/>
          </a:bodyPr>
          <a:lstStyle/>
          <a:p>
            <a:r>
              <a:rPr sz="1100" b="0">
                <a:solidFill>
                  <a:srgbClr val="2E2E2E"/>
                </a:solidFill>
                <a:latin typeface="Calibri"/>
              </a:rPr>
              <a:t>compared to other segments over the forecast period, owing to its lower CAGR and incremental opportunity. Bubbles right of the CAGR-Index line 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End-use Application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End-use Application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Routine Cognitive Wellness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Preventive Cognitive Support for Senior Dogs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Support for Observable Age-Related Cognitive Changes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Veterinary-Guided Cognitive Dysfunction Support</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End-use Application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End-use Application, 2021–2036, highlighting the sub-segments driving growth</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End-use Application (US$ Mn)</a:t>
            </a:r>
          </a:p>
        </p:txBody>
      </p:sp>
      <p:graphicFrame>
        <p:nvGraphicFramePr>
          <p:cNvPr id="12" name="Table 11"/>
          <p:cNvGraphicFramePr>
            <a:graphicFrameLocks noGrp="1"/>
          </p:cNvGraphicFramePr>
          <p:nvPr/>
        </p:nvGraphicFramePr>
        <p:xfrm>
          <a:off x="152400" y="1238250"/>
          <a:ext cx="11887200" cy="1485896"/>
        </p:xfrm>
        <a:graphic>
          <a:graphicData uri="http://schemas.openxmlformats.org/drawingml/2006/table">
            <a:tbl>
              <a:tblPr>
                <a:tableStyleId>{5C22544A-7EE6-4342-B048-85BDC9FD1C3A}</a:tableStyleId>
              </a:tblPr>
              <a:tblGrid>
                <a:gridCol w="3445942"/>
                <a:gridCol w="475456"/>
                <a:gridCol w="475456"/>
                <a:gridCol w="475456"/>
                <a:gridCol w="497865"/>
                <a:gridCol w="497865"/>
                <a:gridCol w="497865"/>
                <a:gridCol w="497865"/>
                <a:gridCol w="497865"/>
                <a:gridCol w="497865"/>
                <a:gridCol w="497865"/>
                <a:gridCol w="497865"/>
                <a:gridCol w="497865"/>
                <a:gridCol w="497865"/>
                <a:gridCol w="497865"/>
                <a:gridCol w="497865"/>
                <a:gridCol w="497865"/>
                <a:gridCol w="542645"/>
              </a:tblGrid>
              <a:tr h="246126">
                <a:tc>
                  <a:txBody>
                    <a:bodyPr wrap="none"/>
                    <a:lstStyle/>
                    <a:p>
                      <a:pPr algn="l"/>
                      <a:r>
                        <a:rPr sz="1100" b="1">
                          <a:solidFill>
                            <a:srgbClr val="0B2E4A"/>
                          </a:solidFill>
                          <a:latin typeface="Calibri"/>
                        </a:rPr>
                        <a:t>End-use Application</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2021A</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2022A</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2023A</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2024A</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2025A</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2026E</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2027F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2028F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2029F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2030F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2031F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2032F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2033F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2034F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2035F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2036F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F-CAGR</a:t>
                      </a:r>
                      <a:endParaRPr sz="1100"/>
                    </a:p>
                  </a:txBody>
                  <a:tcPr marL="38100" marR="28575" marT="19050" marB="19050" anchor="ctr">
                    <a:solidFill>
                      <a:srgbClr val="E0E8EF"/>
                    </a:solidFill>
                  </a:tcPr>
                </a:tc>
              </a:tr>
              <a:tr h="247954">
                <a:tc>
                  <a:txBody>
                    <a:bodyPr wrap="none"/>
                    <a:lstStyle/>
                    <a:p>
                      <a:pPr algn="l"/>
                      <a:r>
                        <a:rPr sz="1100" b="1">
                          <a:solidFill>
                            <a:srgbClr val="2E2E2E"/>
                          </a:solidFill>
                          <a:latin typeface="Calibri"/>
                        </a:rPr>
                        <a:t>Routine Cognitive Wellness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7954">
                <a:tc>
                  <a:txBody>
                    <a:bodyPr wrap="none"/>
                    <a:lstStyle/>
                    <a:p>
                      <a:pPr algn="l"/>
                      <a:r>
                        <a:rPr sz="1100" b="1">
                          <a:solidFill>
                            <a:srgbClr val="2E2E2E"/>
                          </a:solidFill>
                          <a:latin typeface="Calibri"/>
                        </a:rPr>
                        <a:t>Preventive Cognitive Support for Senior Dogs</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r>
              <a:tr h="247954">
                <a:tc>
                  <a:txBody>
                    <a:bodyPr wrap="none"/>
                    <a:lstStyle/>
                    <a:p>
                      <a:pPr algn="l"/>
                      <a:r>
                        <a:rPr sz="1100" b="1">
                          <a:solidFill>
                            <a:srgbClr val="2E2E2E"/>
                          </a:solidFill>
                          <a:latin typeface="Calibri"/>
                        </a:rPr>
                        <a:t>Support for Observable Age-Related Cognitive Changes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7954">
                <a:tc>
                  <a:txBody>
                    <a:bodyPr wrap="none"/>
                    <a:lstStyle/>
                    <a:p>
                      <a:pPr algn="l"/>
                      <a:r>
                        <a:rPr sz="1100" b="1">
                          <a:solidFill>
                            <a:srgbClr val="2E2E2E"/>
                          </a:solidFill>
                          <a:latin typeface="Calibri"/>
                        </a:rPr>
                        <a:t>Veterinary-Guided Cognitive Dysfunction Support</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r>
              <a:tr h="247954">
                <a:tc>
                  <a:txBody>
                    <a:bodyPr wrap="none"/>
                    <a:lstStyle/>
                    <a:p>
                      <a:pPr algn="l"/>
                      <a:r>
                        <a:rPr sz="1100" b="1">
                          <a:solidFill>
                            <a:srgbClr val="2E2E2E"/>
                          </a:solidFill>
                          <a:latin typeface="Calibri"/>
                        </a:rPr>
                        <a:t>Total</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67050"/>
            <a:ext cx="11906250"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1527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End-use Application</a:t>
            </a:r>
          </a:p>
        </p:txBody>
      </p:sp>
      <p:sp>
        <p:nvSpPr>
          <p:cNvPr id="16" name="Rectangle 15"/>
          <p:cNvSpPr/>
          <p:nvPr/>
        </p:nvSpPr>
        <p:spPr>
          <a:xfrm>
            <a:off x="276225" y="33909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476625"/>
            <a:ext cx="1163955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632281" y="1837563"/>
            <a:ext cx="366712" cy="533400"/>
          </a:xfrm>
          <a:prstGeom prst="rect">
            <a:avLst/>
          </a:prstGeom>
        </p:spPr>
      </p:pic>
      <p:sp>
        <p:nvSpPr>
          <p:cNvPr id="20" name="TextBox 19"/>
          <p:cNvSpPr txBox="1"/>
          <p:nvPr/>
        </p:nvSpPr>
        <p:spPr>
          <a:xfrm>
            <a:off x="276225" y="3486150"/>
            <a:ext cx="5172546" cy="194310"/>
          </a:xfrm>
          <a:prstGeom prst="rect">
            <a:avLst/>
          </a:prstGeom>
          <a:noFill/>
        </p:spPr>
        <p:txBody>
          <a:bodyPr wrap="none" lIns="0" rIns="0" tIns="0" bIns="0">
            <a:spAutoFit/>
          </a:bodyPr>
          <a:lstStyle/>
          <a:p>
            <a:r>
              <a:rPr sz="1150" b="0">
                <a:solidFill>
                  <a:srgbClr val="2E2E2E"/>
                </a:solidFill>
                <a:latin typeface="Calibri"/>
              </a:rPr>
              <a:t>Support for observable age-related cognitive changes segment is projected to register</a:t>
            </a:r>
          </a:p>
        </p:txBody>
      </p:sp>
      <p:pic>
        <p:nvPicPr>
          <p:cNvPr id="21" name="Picture 20" descr="lock.png"/>
          <p:cNvPicPr>
            <a:picLocks noChangeAspect="1"/>
          </p:cNvPicPr>
          <p:nvPr/>
        </p:nvPicPr>
        <p:blipFill>
          <a:blip r:embed="rId4"/>
          <a:stretch>
            <a:fillRect/>
          </a:stretch>
        </p:blipFill>
        <p:spPr>
          <a:xfrm>
            <a:off x="5397925" y="3475926"/>
            <a:ext cx="134549" cy="195707"/>
          </a:xfrm>
          <a:prstGeom prst="rect">
            <a:avLst/>
          </a:prstGeom>
        </p:spPr>
      </p:pic>
      <p:sp>
        <p:nvSpPr>
          <p:cNvPr id="22" name="TextBox 21"/>
          <p:cNvSpPr txBox="1"/>
          <p:nvPr/>
        </p:nvSpPr>
        <p:spPr>
          <a:xfrm>
            <a:off x="5573034" y="3486150"/>
            <a:ext cx="6291026" cy="194310"/>
          </a:xfrm>
          <a:prstGeom prst="rect">
            <a:avLst/>
          </a:prstGeom>
          <a:noFill/>
        </p:spPr>
        <p:txBody>
          <a:bodyPr wrap="none" lIns="0" rIns="0" tIns="0" bIns="0">
            <a:spAutoFit/>
          </a:bodyPr>
          <a:lstStyle/>
          <a:p>
            <a:r>
              <a:rPr sz="1150" b="0">
                <a:solidFill>
                  <a:srgbClr val="2E2E2E"/>
                </a:solidFill>
                <a:latin typeface="Calibri"/>
              </a:rPr>
              <a:t>X higher value than routine cognitive wellness segment in 2036. Among senior dog cognitive supplement</a:t>
            </a:r>
          </a:p>
        </p:txBody>
      </p:sp>
      <p:sp>
        <p:nvSpPr>
          <p:cNvPr id="23" name="TextBox 22"/>
          <p:cNvSpPr txBox="1"/>
          <p:nvPr/>
        </p:nvSpPr>
        <p:spPr>
          <a:xfrm>
            <a:off x="276225" y="3661410"/>
            <a:ext cx="7463402" cy="194310"/>
          </a:xfrm>
          <a:prstGeom prst="rect">
            <a:avLst/>
          </a:prstGeom>
          <a:noFill/>
        </p:spPr>
        <p:txBody>
          <a:bodyPr wrap="none" lIns="0" rIns="0" tIns="0" bIns="0">
            <a:spAutoFit/>
          </a:bodyPr>
          <a:lstStyle/>
          <a:p>
            <a:r>
              <a:rPr sz="1150" b="0">
                <a:solidFill>
                  <a:srgbClr val="2E2E2E"/>
                </a:solidFill>
                <a:latin typeface="Calibri"/>
              </a:rPr>
              <a:t>by end-use application, veterinary-guided cognitive dysfunction support segment is expected to witness the highest CAGR of</a:t>
            </a:r>
          </a:p>
        </p:txBody>
      </p:sp>
      <p:pic>
        <p:nvPicPr>
          <p:cNvPr id="24" name="Picture 23" descr="lock.png"/>
          <p:cNvPicPr>
            <a:picLocks noChangeAspect="1"/>
          </p:cNvPicPr>
          <p:nvPr/>
        </p:nvPicPr>
        <p:blipFill>
          <a:blip r:embed="rId4"/>
          <a:stretch>
            <a:fillRect/>
          </a:stretch>
        </p:blipFill>
        <p:spPr>
          <a:xfrm>
            <a:off x="7688781" y="3651186"/>
            <a:ext cx="134549" cy="195707"/>
          </a:xfrm>
          <a:prstGeom prst="rect">
            <a:avLst/>
          </a:prstGeom>
        </p:spPr>
      </p:pic>
      <p:sp>
        <p:nvSpPr>
          <p:cNvPr id="25" name="TextBox 24"/>
          <p:cNvSpPr txBox="1"/>
          <p:nvPr/>
        </p:nvSpPr>
        <p:spPr>
          <a:xfrm>
            <a:off x="7863890" y="36614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889247"/>
            <a:ext cx="9399153" cy="194310"/>
          </a:xfrm>
          <a:prstGeom prst="rect">
            <a:avLst/>
          </a:prstGeom>
          <a:noFill/>
        </p:spPr>
        <p:txBody>
          <a:bodyPr wrap="none" lIns="0" rIns="0" tIns="0" bIns="0">
            <a:spAutoFit/>
          </a:bodyPr>
          <a:lstStyle/>
          <a:p>
            <a:r>
              <a:rPr sz="1150" b="0">
                <a:solidFill>
                  <a:srgbClr val="2E2E2E"/>
                </a:solidFill>
                <a:latin typeface="Calibri"/>
              </a:rPr>
              <a:t>In terms of value share by end-use application, the support for observable age-related cognitive changes segment is expected to dominate the market, losing</a:t>
            </a:r>
          </a:p>
        </p:txBody>
      </p:sp>
      <p:pic>
        <p:nvPicPr>
          <p:cNvPr id="27" name="Picture 26" descr="lock.png"/>
          <p:cNvPicPr>
            <a:picLocks noChangeAspect="1"/>
          </p:cNvPicPr>
          <p:nvPr/>
        </p:nvPicPr>
        <p:blipFill>
          <a:blip r:embed="rId4"/>
          <a:stretch>
            <a:fillRect/>
          </a:stretch>
        </p:blipFill>
        <p:spPr>
          <a:xfrm>
            <a:off x="9624532" y="3879024"/>
            <a:ext cx="134549" cy="195707"/>
          </a:xfrm>
          <a:prstGeom prst="rect">
            <a:avLst/>
          </a:prstGeom>
        </p:spPr>
      </p:pic>
      <p:sp>
        <p:nvSpPr>
          <p:cNvPr id="28" name="TextBox 27"/>
          <p:cNvSpPr txBox="1"/>
          <p:nvPr/>
        </p:nvSpPr>
        <p:spPr>
          <a:xfrm>
            <a:off x="9799641" y="38892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11194784" y="3879024"/>
            <a:ext cx="134549" cy="195707"/>
          </a:xfrm>
          <a:prstGeom prst="rect">
            <a:avLst/>
          </a:prstGeom>
        </p:spPr>
      </p:pic>
      <p:sp>
        <p:nvSpPr>
          <p:cNvPr id="30" name="TextBox 29"/>
          <p:cNvSpPr txBox="1"/>
          <p:nvPr/>
        </p:nvSpPr>
        <p:spPr>
          <a:xfrm>
            <a:off x="276225" y="40645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End-use Application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End-use Application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End-use Application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913196"/>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190843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83223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Veterinary-Guided Cognitive Dysfunction Support</a:t>
            </a:r>
          </a:p>
        </p:txBody>
      </p:sp>
      <p:sp>
        <p:nvSpPr>
          <p:cNvPr id="18" name="BPS Value 1"/>
          <p:cNvSpPr txBox="1"/>
          <p:nvPr/>
        </p:nvSpPr>
        <p:spPr>
          <a:xfrm>
            <a:off x="6896100" y="189414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2401235"/>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239647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32027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Preventive Cognitive Support for Senior Dogs</a:t>
            </a:r>
          </a:p>
        </p:txBody>
      </p:sp>
      <p:sp>
        <p:nvSpPr>
          <p:cNvPr id="22" name="BPS Value 2"/>
          <p:cNvSpPr txBox="1"/>
          <p:nvPr/>
        </p:nvSpPr>
        <p:spPr>
          <a:xfrm>
            <a:off x="6896100" y="238218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3158646"/>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315388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307768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Routine Cognitive Wellness</a:t>
            </a:r>
          </a:p>
        </p:txBody>
      </p:sp>
      <p:sp>
        <p:nvSpPr>
          <p:cNvPr id="26" name="BPS Value 3"/>
          <p:cNvSpPr txBox="1"/>
          <p:nvPr/>
        </p:nvSpPr>
        <p:spPr>
          <a:xfrm>
            <a:off x="6896100" y="313959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928997" y="495679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495203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487583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Support for Observable Age-Related Cognitive Changes</a:t>
            </a:r>
          </a:p>
        </p:txBody>
      </p:sp>
      <p:sp>
        <p:nvSpPr>
          <p:cNvPr id="30" name="BPS Value 4"/>
          <p:cNvSpPr txBox="1"/>
          <p:nvPr/>
        </p:nvSpPr>
        <p:spPr>
          <a:xfrm>
            <a:off x="6896100" y="493774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Rounded Rectangle 30"/>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End-use Application</a:t>
            </a:r>
          </a:p>
        </p:txBody>
      </p:sp>
      <p:sp>
        <p:nvSpPr>
          <p:cNvPr id="33" name="Rectangle 32"/>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5"/>
          <a:stretch>
            <a:fillRect/>
          </a:stretch>
        </p:blipFill>
        <p:spPr>
          <a:xfrm>
            <a:off x="2557843" y="3833622"/>
            <a:ext cx="275034" cy="400050"/>
          </a:xfrm>
          <a:prstGeom prst="rect">
            <a:avLst/>
          </a:prstGeom>
        </p:spPr>
      </p:pic>
      <p:sp>
        <p:nvSpPr>
          <p:cNvPr id="37" name="TextBox 36"/>
          <p:cNvSpPr txBox="1"/>
          <p:nvPr/>
        </p:nvSpPr>
        <p:spPr>
          <a:xfrm>
            <a:off x="7829550" y="1400175"/>
            <a:ext cx="3886336" cy="194310"/>
          </a:xfrm>
          <a:prstGeom prst="rect">
            <a:avLst/>
          </a:prstGeom>
          <a:noFill/>
        </p:spPr>
        <p:txBody>
          <a:bodyPr wrap="none" lIns="0" rIns="0" tIns="0" bIns="0">
            <a:spAutoFit/>
          </a:bodyPr>
          <a:lstStyle/>
          <a:p>
            <a:r>
              <a:rPr sz="1150" b="0">
                <a:solidFill>
                  <a:srgbClr val="2E2E2E"/>
                </a:solidFill>
                <a:latin typeface="Calibri"/>
              </a:rPr>
              <a:t>Among senior dog cognitive supplement by end-use application,</a:t>
            </a:r>
          </a:p>
        </p:txBody>
      </p:sp>
      <p:sp>
        <p:nvSpPr>
          <p:cNvPr id="38" name="TextBox 37"/>
          <p:cNvSpPr txBox="1"/>
          <p:nvPr/>
        </p:nvSpPr>
        <p:spPr>
          <a:xfrm>
            <a:off x="7829550" y="1575435"/>
            <a:ext cx="3605361" cy="194310"/>
          </a:xfrm>
          <a:prstGeom prst="rect">
            <a:avLst/>
          </a:prstGeom>
          <a:noFill/>
        </p:spPr>
        <p:txBody>
          <a:bodyPr wrap="none" lIns="0" rIns="0" tIns="0" bIns="0">
            <a:spAutoFit/>
          </a:bodyPr>
          <a:lstStyle/>
          <a:p>
            <a:r>
              <a:rPr sz="1150" b="0">
                <a:solidFill>
                  <a:srgbClr val="2E2E2E"/>
                </a:solidFill>
                <a:latin typeface="Calibri"/>
              </a:rPr>
              <a:t>veterinary-guided cognitive dysfunction support segment is</a:t>
            </a:r>
          </a:p>
        </p:txBody>
      </p:sp>
      <p:sp>
        <p:nvSpPr>
          <p:cNvPr id="39" name="TextBox 38"/>
          <p:cNvSpPr txBox="1"/>
          <p:nvPr/>
        </p:nvSpPr>
        <p:spPr>
          <a:xfrm>
            <a:off x="7829550" y="175069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40" name="Picture 39" descr="lock.png"/>
          <p:cNvPicPr>
            <a:picLocks noChangeAspect="1"/>
          </p:cNvPicPr>
          <p:nvPr/>
        </p:nvPicPr>
        <p:blipFill>
          <a:blip r:embed="rId5"/>
          <a:stretch>
            <a:fillRect/>
          </a:stretch>
        </p:blipFill>
        <p:spPr>
          <a:xfrm>
            <a:off x="10264711" y="1740471"/>
            <a:ext cx="134549" cy="195707"/>
          </a:xfrm>
          <a:prstGeom prst="rect">
            <a:avLst/>
          </a:prstGeom>
        </p:spPr>
      </p:pic>
      <p:sp>
        <p:nvSpPr>
          <p:cNvPr id="41" name="TextBox 40"/>
          <p:cNvSpPr txBox="1"/>
          <p:nvPr/>
        </p:nvSpPr>
        <p:spPr>
          <a:xfrm>
            <a:off x="10439820" y="175069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42" name="TextBox 41"/>
          <p:cNvSpPr txBox="1"/>
          <p:nvPr/>
        </p:nvSpPr>
        <p:spPr>
          <a:xfrm>
            <a:off x="7829550" y="1925955"/>
            <a:ext cx="500943" cy="194310"/>
          </a:xfrm>
          <a:prstGeom prst="rect">
            <a:avLst/>
          </a:prstGeom>
          <a:noFill/>
        </p:spPr>
        <p:txBody>
          <a:bodyPr wrap="none" lIns="0" rIns="0" tIns="0" bIns="0">
            <a:spAutoFit/>
          </a:bodyPr>
          <a:lstStyle/>
          <a:p>
            <a:r>
              <a:rPr sz="1150" b="0">
                <a:solidFill>
                  <a:srgbClr val="2E2E2E"/>
                </a:solidFill>
                <a:latin typeface="Calibri"/>
              </a:rPr>
              <a:t>period.</a:t>
            </a:r>
          </a:p>
        </p:txBody>
      </p:sp>
      <p:sp>
        <p:nvSpPr>
          <p:cNvPr id="43" name="TextBox 42"/>
          <p:cNvSpPr txBox="1"/>
          <p:nvPr/>
        </p:nvSpPr>
        <p:spPr>
          <a:xfrm>
            <a:off x="7829550" y="2153793"/>
            <a:ext cx="3786497" cy="194310"/>
          </a:xfrm>
          <a:prstGeom prst="rect">
            <a:avLst/>
          </a:prstGeom>
          <a:noFill/>
        </p:spPr>
        <p:txBody>
          <a:bodyPr wrap="none" lIns="0" rIns="0" tIns="0" bIns="0">
            <a:spAutoFit/>
          </a:bodyPr>
          <a:lstStyle/>
          <a:p>
            <a:r>
              <a:rPr sz="1150" b="0">
                <a:solidFill>
                  <a:srgbClr val="2E2E2E"/>
                </a:solidFill>
                <a:latin typeface="Calibri"/>
              </a:rPr>
              <a:t>In terms of value share by end-use application, the support for</a:t>
            </a:r>
          </a:p>
        </p:txBody>
      </p:sp>
      <p:sp>
        <p:nvSpPr>
          <p:cNvPr id="44" name="TextBox 43"/>
          <p:cNvSpPr txBox="1"/>
          <p:nvPr/>
        </p:nvSpPr>
        <p:spPr>
          <a:xfrm>
            <a:off x="7829550" y="2329053"/>
            <a:ext cx="3943101" cy="194310"/>
          </a:xfrm>
          <a:prstGeom prst="rect">
            <a:avLst/>
          </a:prstGeom>
          <a:noFill/>
        </p:spPr>
        <p:txBody>
          <a:bodyPr wrap="none" lIns="0" rIns="0" tIns="0" bIns="0">
            <a:spAutoFit/>
          </a:bodyPr>
          <a:lstStyle/>
          <a:p>
            <a:r>
              <a:rPr sz="1150" b="0">
                <a:solidFill>
                  <a:srgbClr val="2E2E2E"/>
                </a:solidFill>
                <a:latin typeface="Calibri"/>
              </a:rPr>
              <a:t>observable age-related cognitive changes segment is expected to</a:t>
            </a:r>
          </a:p>
        </p:txBody>
      </p:sp>
      <p:sp>
        <p:nvSpPr>
          <p:cNvPr id="45" name="TextBox 44"/>
          <p:cNvSpPr txBox="1"/>
          <p:nvPr/>
        </p:nvSpPr>
        <p:spPr>
          <a:xfrm>
            <a:off x="7829550" y="2504313"/>
            <a:ext cx="1755774" cy="194310"/>
          </a:xfrm>
          <a:prstGeom prst="rect">
            <a:avLst/>
          </a:prstGeom>
          <a:noFill/>
        </p:spPr>
        <p:txBody>
          <a:bodyPr wrap="none" lIns="0" rIns="0" tIns="0" bIns="0">
            <a:spAutoFit/>
          </a:bodyPr>
          <a:lstStyle/>
          <a:p>
            <a:r>
              <a:rPr sz="1150" b="0">
                <a:solidFill>
                  <a:srgbClr val="2E2E2E"/>
                </a:solidFill>
                <a:latin typeface="Calibri"/>
              </a:rPr>
              <a:t>dominate the market, losing</a:t>
            </a:r>
          </a:p>
        </p:txBody>
      </p:sp>
      <p:pic>
        <p:nvPicPr>
          <p:cNvPr id="46" name="Picture 45" descr="lock.png"/>
          <p:cNvPicPr>
            <a:picLocks noChangeAspect="1"/>
          </p:cNvPicPr>
          <p:nvPr/>
        </p:nvPicPr>
        <p:blipFill>
          <a:blip r:embed="rId5"/>
          <a:stretch>
            <a:fillRect/>
          </a:stretch>
        </p:blipFill>
        <p:spPr>
          <a:xfrm>
            <a:off x="9534478" y="2494089"/>
            <a:ext cx="134549" cy="195707"/>
          </a:xfrm>
          <a:prstGeom prst="rect">
            <a:avLst/>
          </a:prstGeom>
        </p:spPr>
      </p:pic>
      <p:sp>
        <p:nvSpPr>
          <p:cNvPr id="47" name="TextBox 46"/>
          <p:cNvSpPr txBox="1"/>
          <p:nvPr/>
        </p:nvSpPr>
        <p:spPr>
          <a:xfrm>
            <a:off x="9709588" y="250431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8" name="Picture 47" descr="lock.png"/>
          <p:cNvPicPr>
            <a:picLocks noChangeAspect="1"/>
          </p:cNvPicPr>
          <p:nvPr/>
        </p:nvPicPr>
        <p:blipFill>
          <a:blip r:embed="rId5"/>
          <a:stretch>
            <a:fillRect/>
          </a:stretch>
        </p:blipFill>
        <p:spPr>
          <a:xfrm>
            <a:off x="11104731" y="2494089"/>
            <a:ext cx="134549" cy="195707"/>
          </a:xfrm>
          <a:prstGeom prst="rect">
            <a:avLst/>
          </a:prstGeom>
        </p:spPr>
      </p:pic>
      <p:sp>
        <p:nvSpPr>
          <p:cNvPr id="49" name="TextBox 48"/>
          <p:cNvSpPr txBox="1"/>
          <p:nvPr/>
        </p:nvSpPr>
        <p:spPr>
          <a:xfrm>
            <a:off x="11279840" y="2504313"/>
            <a:ext cx="403671" cy="194310"/>
          </a:xfrm>
          <a:prstGeom prst="rect">
            <a:avLst/>
          </a:prstGeom>
          <a:noFill/>
        </p:spPr>
        <p:txBody>
          <a:bodyPr wrap="none" lIns="0" rIns="0" tIns="0" bIns="0">
            <a:spAutoFit/>
          </a:bodyPr>
          <a:lstStyle/>
          <a:p>
            <a:r>
              <a:rPr sz="1150" b="0">
                <a:solidFill>
                  <a:srgbClr val="2E2E2E"/>
                </a:solidFill>
                <a:latin typeface="Calibri"/>
              </a:rPr>
              <a:t>share</a:t>
            </a:r>
          </a:p>
        </p:txBody>
      </p:sp>
      <p:sp>
        <p:nvSpPr>
          <p:cNvPr id="50" name="TextBox 49"/>
          <p:cNvSpPr txBox="1"/>
          <p:nvPr/>
        </p:nvSpPr>
        <p:spPr>
          <a:xfrm>
            <a:off x="7829550" y="2679573"/>
            <a:ext cx="585663" cy="194310"/>
          </a:xfrm>
          <a:prstGeom prst="rect">
            <a:avLst/>
          </a:prstGeom>
          <a:noFill/>
        </p:spPr>
        <p:txBody>
          <a:bodyPr wrap="none" lIns="0" rIns="0" tIns="0" bIns="0">
            <a:spAutoFit/>
          </a:bodyPr>
          <a:lstStyle/>
          <a:p>
            <a:r>
              <a:rPr sz="1150" b="0">
                <a:solidFill>
                  <a:srgbClr val="2E2E2E"/>
                </a:solidFill>
                <a:latin typeface="Calibri"/>
              </a:rPr>
              <a:t>by 2036.</a:t>
            </a:r>
          </a:p>
        </p:txBody>
      </p:sp>
      <p:sp>
        <p:nvSpPr>
          <p:cNvPr id="51"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Packaging Format</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Packaging Format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Packaging Format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Packaging Format,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Packaging Format segment categorizes the market by packaging format.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Sachets</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Blister Packs</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Canisters</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Pouches</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Bottles</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Jars and Tubs</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Packaging Format split shows how demand is distributed across packaging format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7" name="Picture 76" descr="2_493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3_296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2_8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2_374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3_478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3_9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2_256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3_601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4_8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1_963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4_268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8_1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907_9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1_313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3_8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906_5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1_790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7_0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535411" cy="186689"/>
          </a:xfrm>
          <a:prstGeom prst="rect">
            <a:avLst/>
          </a:prstGeom>
          <a:noFill/>
        </p:spPr>
        <p:txBody>
          <a:bodyPr wrap="none" lIns="0" rIns="0" tIns="0" bIns="0">
            <a:spAutoFit/>
          </a:bodyPr>
          <a:lstStyle/>
          <a:p>
            <a:r>
              <a:rPr sz="1100" b="0">
                <a:solidFill>
                  <a:srgbClr val="2E2E2E"/>
                </a:solidFill>
                <a:latin typeface="Calibri"/>
              </a:rPr>
              <a:t>Among senior dog cognitive supplement by</a:t>
            </a:r>
          </a:p>
        </p:txBody>
      </p:sp>
      <p:sp>
        <p:nvSpPr>
          <p:cNvPr id="102" name="TextBox 101"/>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packaging format, pouches segment is expected to</a:t>
            </a:r>
          </a:p>
        </p:txBody>
      </p:sp>
      <p:sp>
        <p:nvSpPr>
          <p:cNvPr id="103" name="TextBox 102"/>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104" name="Picture 103" descr="lock.png"/>
          <p:cNvPicPr>
            <a:picLocks noChangeAspect="1"/>
          </p:cNvPicPr>
          <p:nvPr/>
        </p:nvPicPr>
        <p:blipFill>
          <a:blip r:embed="rId22"/>
          <a:stretch>
            <a:fillRect/>
          </a:stretch>
        </p:blipFill>
        <p:spPr>
          <a:xfrm>
            <a:off x="2108919" y="4554938"/>
            <a:ext cx="128699" cy="187198"/>
          </a:xfrm>
          <a:prstGeom prst="rect">
            <a:avLst/>
          </a:prstGeom>
        </p:spPr>
      </p:pic>
      <p:sp>
        <p:nvSpPr>
          <p:cNvPr id="105" name="TextBox 104"/>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106" name="TextBox 105"/>
          <p:cNvSpPr txBox="1"/>
          <p:nvPr/>
        </p:nvSpPr>
        <p:spPr>
          <a:xfrm>
            <a:off x="485775" y="4732357"/>
            <a:ext cx="2582341" cy="186689"/>
          </a:xfrm>
          <a:prstGeom prst="rect">
            <a:avLst/>
          </a:prstGeom>
          <a:noFill/>
        </p:spPr>
        <p:txBody>
          <a:bodyPr wrap="none" lIns="0" rIns="0" tIns="0" bIns="0">
            <a:spAutoFit/>
          </a:bodyPr>
          <a:lstStyle/>
          <a:p>
            <a:r>
              <a:rPr sz="1100" b="0">
                <a:solidFill>
                  <a:srgbClr val="2E2E2E"/>
                </a:solidFill>
                <a:latin typeface="Calibri"/>
              </a:rPr>
              <a:t>period. In terms of value share by packaging</a:t>
            </a:r>
          </a:p>
        </p:txBody>
      </p:sp>
      <p:sp>
        <p:nvSpPr>
          <p:cNvPr id="107" name="TextBox 106"/>
          <p:cNvSpPr txBox="1"/>
          <p:nvPr/>
        </p:nvSpPr>
        <p:spPr>
          <a:xfrm>
            <a:off x="485775" y="4899997"/>
            <a:ext cx="2579613" cy="186689"/>
          </a:xfrm>
          <a:prstGeom prst="rect">
            <a:avLst/>
          </a:prstGeom>
          <a:noFill/>
        </p:spPr>
        <p:txBody>
          <a:bodyPr wrap="none" lIns="0" rIns="0" tIns="0" bIns="0">
            <a:spAutoFit/>
          </a:bodyPr>
          <a:lstStyle/>
          <a:p>
            <a:r>
              <a:rPr sz="1100" b="0">
                <a:solidFill>
                  <a:srgbClr val="2E2E2E"/>
                </a:solidFill>
                <a:latin typeface="Calibri"/>
              </a:rPr>
              <a:t>format, the pouches segment is expected to</a:t>
            </a:r>
          </a:p>
        </p:txBody>
      </p:sp>
      <p:sp>
        <p:nvSpPr>
          <p:cNvPr id="108" name="TextBox 107"/>
          <p:cNvSpPr txBox="1"/>
          <p:nvPr/>
        </p:nvSpPr>
        <p:spPr>
          <a:xfrm>
            <a:off x="485775" y="5067637"/>
            <a:ext cx="1760512" cy="186689"/>
          </a:xfrm>
          <a:prstGeom prst="rect">
            <a:avLst/>
          </a:prstGeom>
          <a:noFill/>
        </p:spPr>
        <p:txBody>
          <a:bodyPr wrap="none" lIns="0" rIns="0" tIns="0" bIns="0">
            <a:spAutoFit/>
          </a:bodyPr>
          <a:lstStyle/>
          <a:p>
            <a:r>
              <a:rPr sz="1100" b="0">
                <a:solidFill>
                  <a:srgbClr val="2E2E2E"/>
                </a:solidFill>
                <a:latin typeface="Calibri"/>
              </a:rPr>
              <a:t>dominate the market, gaining</a:t>
            </a:r>
          </a:p>
        </p:txBody>
      </p:sp>
      <p:pic>
        <p:nvPicPr>
          <p:cNvPr id="109" name="Picture 108" descr="lock.png"/>
          <p:cNvPicPr>
            <a:picLocks noChangeAspect="1"/>
          </p:cNvPicPr>
          <p:nvPr/>
        </p:nvPicPr>
        <p:blipFill>
          <a:blip r:embed="rId22"/>
          <a:stretch>
            <a:fillRect/>
          </a:stretch>
        </p:blipFill>
        <p:spPr>
          <a:xfrm>
            <a:off x="2194339" y="5057858"/>
            <a:ext cx="128699" cy="187198"/>
          </a:xfrm>
          <a:prstGeom prst="rect">
            <a:avLst/>
          </a:prstGeom>
        </p:spPr>
      </p:pic>
      <p:sp>
        <p:nvSpPr>
          <p:cNvPr id="110" name="TextBox 109"/>
          <p:cNvSpPr txBox="1"/>
          <p:nvPr/>
        </p:nvSpPr>
        <p:spPr>
          <a:xfrm>
            <a:off x="2361835"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111" name="TextBox 110"/>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112" name="Picture 111" descr="lock.png"/>
          <p:cNvPicPr>
            <a:picLocks noChangeAspect="1"/>
          </p:cNvPicPr>
          <p:nvPr/>
        </p:nvPicPr>
        <p:blipFill>
          <a:blip r:embed="rId22"/>
          <a:stretch>
            <a:fillRect/>
          </a:stretch>
        </p:blipFill>
        <p:spPr>
          <a:xfrm>
            <a:off x="1330764" y="5225498"/>
            <a:ext cx="128699" cy="187198"/>
          </a:xfrm>
          <a:prstGeom prst="rect">
            <a:avLst/>
          </a:prstGeom>
        </p:spPr>
      </p:pic>
      <p:sp>
        <p:nvSpPr>
          <p:cNvPr id="113" name="TextBox 112"/>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4" name="TextBox 113"/>
          <p:cNvSpPr txBox="1"/>
          <p:nvPr/>
        </p:nvSpPr>
        <p:spPr>
          <a:xfrm>
            <a:off x="485775" y="5453209"/>
            <a:ext cx="2393801" cy="186689"/>
          </a:xfrm>
          <a:prstGeom prst="rect">
            <a:avLst/>
          </a:prstGeom>
          <a:noFill/>
        </p:spPr>
        <p:txBody>
          <a:bodyPr wrap="none" lIns="0" rIns="0" tIns="0" bIns="0">
            <a:spAutoFit/>
          </a:bodyPr>
          <a:lstStyle/>
          <a:p>
            <a:r>
              <a:rPr sz="1100" b="0">
                <a:solidFill>
                  <a:srgbClr val="2E2E2E"/>
                </a:solidFill>
                <a:latin typeface="Calibri"/>
              </a:rPr>
              <a:t>Pouches segment is projected to register</a:t>
            </a:r>
          </a:p>
        </p:txBody>
      </p:sp>
      <p:pic>
        <p:nvPicPr>
          <p:cNvPr id="115" name="Picture 114" descr="lock.png"/>
          <p:cNvPicPr>
            <a:picLocks noChangeAspect="1"/>
          </p:cNvPicPr>
          <p:nvPr/>
        </p:nvPicPr>
        <p:blipFill>
          <a:blip r:embed="rId22"/>
          <a:stretch>
            <a:fillRect/>
          </a:stretch>
        </p:blipFill>
        <p:spPr>
          <a:xfrm>
            <a:off x="2827627" y="5443430"/>
            <a:ext cx="128699" cy="187198"/>
          </a:xfrm>
          <a:prstGeom prst="rect">
            <a:avLst/>
          </a:prstGeom>
        </p:spPr>
      </p:pic>
      <p:sp>
        <p:nvSpPr>
          <p:cNvPr id="116" name="TextBox 115"/>
          <p:cNvSpPr txBox="1"/>
          <p:nvPr/>
        </p:nvSpPr>
        <p:spPr>
          <a:xfrm>
            <a:off x="2995123" y="545320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117" name="TextBox 116"/>
          <p:cNvSpPr txBox="1"/>
          <p:nvPr/>
        </p:nvSpPr>
        <p:spPr>
          <a:xfrm>
            <a:off x="485775" y="5620849"/>
            <a:ext cx="2616993" cy="186689"/>
          </a:xfrm>
          <a:prstGeom prst="rect">
            <a:avLst/>
          </a:prstGeom>
          <a:noFill/>
        </p:spPr>
        <p:txBody>
          <a:bodyPr wrap="none" lIns="0" rIns="0" tIns="0" bIns="0">
            <a:spAutoFit/>
          </a:bodyPr>
          <a:lstStyle/>
          <a:p>
            <a:r>
              <a:rPr sz="1100" b="0">
                <a:solidFill>
                  <a:srgbClr val="2E2E2E"/>
                </a:solidFill>
                <a:latin typeface="Calibri"/>
              </a:rPr>
              <a:t>higher value than canisters segment in 2036.</a:t>
            </a:r>
          </a:p>
        </p:txBody>
      </p:sp>
      <p:sp>
        <p:nvSpPr>
          <p:cNvPr id="118" name="TextBox 117"/>
          <p:cNvSpPr txBox="1"/>
          <p:nvPr/>
        </p:nvSpPr>
        <p:spPr>
          <a:xfrm>
            <a:off x="3838575" y="4229437"/>
            <a:ext cx="664195" cy="186689"/>
          </a:xfrm>
          <a:prstGeom prst="rect">
            <a:avLst/>
          </a:prstGeom>
          <a:noFill/>
        </p:spPr>
        <p:txBody>
          <a:bodyPr wrap="none" lIns="0" rIns="0" tIns="0" bIns="0">
            <a:spAutoFit/>
          </a:bodyPr>
          <a:lstStyle/>
          <a:p>
            <a:r>
              <a:rPr sz="1100" b="0">
                <a:solidFill>
                  <a:srgbClr val="2E2E2E"/>
                </a:solidFill>
                <a:latin typeface="Calibri"/>
              </a:rPr>
              <a:t>● Sachets:</a:t>
            </a:r>
          </a:p>
        </p:txBody>
      </p:sp>
      <p:pic>
        <p:nvPicPr>
          <p:cNvPr id="119" name="Picture 118" descr="lock.png"/>
          <p:cNvPicPr>
            <a:picLocks noChangeAspect="1"/>
          </p:cNvPicPr>
          <p:nvPr/>
        </p:nvPicPr>
        <p:blipFill>
          <a:blip r:embed="rId22"/>
          <a:stretch>
            <a:fillRect/>
          </a:stretch>
        </p:blipFill>
        <p:spPr>
          <a:xfrm>
            <a:off x="4450821" y="4219658"/>
            <a:ext cx="128699" cy="187198"/>
          </a:xfrm>
          <a:prstGeom prst="rect">
            <a:avLst/>
          </a:prstGeom>
        </p:spPr>
      </p:pic>
      <p:sp>
        <p:nvSpPr>
          <p:cNvPr id="120" name="TextBox 119"/>
          <p:cNvSpPr txBox="1"/>
          <p:nvPr/>
        </p:nvSpPr>
        <p:spPr>
          <a:xfrm>
            <a:off x="4618317"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1" name="Picture 120" descr="lock.png"/>
          <p:cNvPicPr>
            <a:picLocks noChangeAspect="1"/>
          </p:cNvPicPr>
          <p:nvPr/>
        </p:nvPicPr>
        <p:blipFill>
          <a:blip r:embed="rId22"/>
          <a:stretch>
            <a:fillRect/>
          </a:stretch>
        </p:blipFill>
        <p:spPr>
          <a:xfrm>
            <a:off x="5477767" y="4219658"/>
            <a:ext cx="128699" cy="187198"/>
          </a:xfrm>
          <a:prstGeom prst="rect">
            <a:avLst/>
          </a:prstGeom>
        </p:spPr>
      </p:pic>
      <p:sp>
        <p:nvSpPr>
          <p:cNvPr id="122" name="TextBox 121"/>
          <p:cNvSpPr txBox="1"/>
          <p:nvPr/>
        </p:nvSpPr>
        <p:spPr>
          <a:xfrm>
            <a:off x="5645263"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23" name="TextBox 122"/>
          <p:cNvSpPr txBox="1"/>
          <p:nvPr/>
        </p:nvSpPr>
        <p:spPr>
          <a:xfrm>
            <a:off x="3838575" y="4447369"/>
            <a:ext cx="938138" cy="186689"/>
          </a:xfrm>
          <a:prstGeom prst="rect">
            <a:avLst/>
          </a:prstGeom>
          <a:noFill/>
        </p:spPr>
        <p:txBody>
          <a:bodyPr wrap="none" lIns="0" rIns="0" tIns="0" bIns="0">
            <a:spAutoFit/>
          </a:bodyPr>
          <a:lstStyle/>
          <a:p>
            <a:r>
              <a:rPr sz="1100" b="0">
                <a:solidFill>
                  <a:srgbClr val="2E2E2E"/>
                </a:solidFill>
                <a:latin typeface="Calibri"/>
              </a:rPr>
              <a:t>● Blister Packs:</a:t>
            </a:r>
          </a:p>
        </p:txBody>
      </p:sp>
      <p:pic>
        <p:nvPicPr>
          <p:cNvPr id="124" name="Picture 123" descr="lock.png"/>
          <p:cNvPicPr>
            <a:picLocks noChangeAspect="1"/>
          </p:cNvPicPr>
          <p:nvPr/>
        </p:nvPicPr>
        <p:blipFill>
          <a:blip r:embed="rId22"/>
          <a:stretch>
            <a:fillRect/>
          </a:stretch>
        </p:blipFill>
        <p:spPr>
          <a:xfrm>
            <a:off x="4724764" y="4437590"/>
            <a:ext cx="128699" cy="187198"/>
          </a:xfrm>
          <a:prstGeom prst="rect">
            <a:avLst/>
          </a:prstGeom>
        </p:spPr>
      </p:pic>
      <p:sp>
        <p:nvSpPr>
          <p:cNvPr id="125" name="TextBox 124"/>
          <p:cNvSpPr txBox="1"/>
          <p:nvPr/>
        </p:nvSpPr>
        <p:spPr>
          <a:xfrm>
            <a:off x="4892260"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6" name="Picture 125" descr="lock.png"/>
          <p:cNvPicPr>
            <a:picLocks noChangeAspect="1"/>
          </p:cNvPicPr>
          <p:nvPr/>
        </p:nvPicPr>
        <p:blipFill>
          <a:blip r:embed="rId22"/>
          <a:stretch>
            <a:fillRect/>
          </a:stretch>
        </p:blipFill>
        <p:spPr>
          <a:xfrm>
            <a:off x="5751710" y="4437590"/>
            <a:ext cx="128699" cy="187198"/>
          </a:xfrm>
          <a:prstGeom prst="rect">
            <a:avLst/>
          </a:prstGeom>
        </p:spPr>
      </p:pic>
      <p:sp>
        <p:nvSpPr>
          <p:cNvPr id="127" name="TextBox 126"/>
          <p:cNvSpPr txBox="1"/>
          <p:nvPr/>
        </p:nvSpPr>
        <p:spPr>
          <a:xfrm>
            <a:off x="5919206"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8" name="TextBox 127"/>
          <p:cNvSpPr txBox="1"/>
          <p:nvPr/>
        </p:nvSpPr>
        <p:spPr>
          <a:xfrm>
            <a:off x="3838575" y="4665301"/>
            <a:ext cx="750961" cy="186689"/>
          </a:xfrm>
          <a:prstGeom prst="rect">
            <a:avLst/>
          </a:prstGeom>
          <a:noFill/>
        </p:spPr>
        <p:txBody>
          <a:bodyPr wrap="none" lIns="0" rIns="0" tIns="0" bIns="0">
            <a:spAutoFit/>
          </a:bodyPr>
          <a:lstStyle/>
          <a:p>
            <a:r>
              <a:rPr sz="1100" b="0">
                <a:solidFill>
                  <a:srgbClr val="2E2E2E"/>
                </a:solidFill>
                <a:latin typeface="Calibri"/>
              </a:rPr>
              <a:t>● Canisters:</a:t>
            </a:r>
          </a:p>
        </p:txBody>
      </p:sp>
      <p:pic>
        <p:nvPicPr>
          <p:cNvPr id="129" name="Picture 128" descr="lock.png"/>
          <p:cNvPicPr>
            <a:picLocks noChangeAspect="1"/>
          </p:cNvPicPr>
          <p:nvPr/>
        </p:nvPicPr>
        <p:blipFill>
          <a:blip r:embed="rId22"/>
          <a:stretch>
            <a:fillRect/>
          </a:stretch>
        </p:blipFill>
        <p:spPr>
          <a:xfrm>
            <a:off x="4537588" y="4655522"/>
            <a:ext cx="128699" cy="187198"/>
          </a:xfrm>
          <a:prstGeom prst="rect">
            <a:avLst/>
          </a:prstGeom>
        </p:spPr>
      </p:pic>
      <p:sp>
        <p:nvSpPr>
          <p:cNvPr id="130" name="TextBox 129"/>
          <p:cNvSpPr txBox="1"/>
          <p:nvPr/>
        </p:nvSpPr>
        <p:spPr>
          <a:xfrm>
            <a:off x="4705084"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1" name="Picture 130" descr="lock.png"/>
          <p:cNvPicPr>
            <a:picLocks noChangeAspect="1"/>
          </p:cNvPicPr>
          <p:nvPr/>
        </p:nvPicPr>
        <p:blipFill>
          <a:blip r:embed="rId22"/>
          <a:stretch>
            <a:fillRect/>
          </a:stretch>
        </p:blipFill>
        <p:spPr>
          <a:xfrm>
            <a:off x="5564534" y="4655522"/>
            <a:ext cx="128699" cy="187198"/>
          </a:xfrm>
          <a:prstGeom prst="rect">
            <a:avLst/>
          </a:prstGeom>
        </p:spPr>
      </p:pic>
      <p:sp>
        <p:nvSpPr>
          <p:cNvPr id="132" name="TextBox 131"/>
          <p:cNvSpPr txBox="1"/>
          <p:nvPr/>
        </p:nvSpPr>
        <p:spPr>
          <a:xfrm>
            <a:off x="5732030"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3" name="TextBox 132"/>
          <p:cNvSpPr txBox="1"/>
          <p:nvPr/>
        </p:nvSpPr>
        <p:spPr>
          <a:xfrm>
            <a:off x="3838575" y="4883233"/>
            <a:ext cx="705668" cy="186689"/>
          </a:xfrm>
          <a:prstGeom prst="rect">
            <a:avLst/>
          </a:prstGeom>
          <a:noFill/>
        </p:spPr>
        <p:txBody>
          <a:bodyPr wrap="none" lIns="0" rIns="0" tIns="0" bIns="0">
            <a:spAutoFit/>
          </a:bodyPr>
          <a:lstStyle/>
          <a:p>
            <a:r>
              <a:rPr sz="1100" b="0">
                <a:solidFill>
                  <a:srgbClr val="2E2E2E"/>
                </a:solidFill>
                <a:latin typeface="Calibri"/>
              </a:rPr>
              <a:t>● Pouches:</a:t>
            </a:r>
          </a:p>
        </p:txBody>
      </p:sp>
      <p:pic>
        <p:nvPicPr>
          <p:cNvPr id="134" name="Picture 133" descr="lock.png"/>
          <p:cNvPicPr>
            <a:picLocks noChangeAspect="1"/>
          </p:cNvPicPr>
          <p:nvPr/>
        </p:nvPicPr>
        <p:blipFill>
          <a:blip r:embed="rId22"/>
          <a:stretch>
            <a:fillRect/>
          </a:stretch>
        </p:blipFill>
        <p:spPr>
          <a:xfrm>
            <a:off x="4492295" y="4873454"/>
            <a:ext cx="128699" cy="187198"/>
          </a:xfrm>
          <a:prstGeom prst="rect">
            <a:avLst/>
          </a:prstGeom>
        </p:spPr>
      </p:pic>
      <p:sp>
        <p:nvSpPr>
          <p:cNvPr id="135" name="TextBox 134"/>
          <p:cNvSpPr txBox="1"/>
          <p:nvPr/>
        </p:nvSpPr>
        <p:spPr>
          <a:xfrm>
            <a:off x="4659790"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6" name="Picture 135" descr="lock.png"/>
          <p:cNvPicPr>
            <a:picLocks noChangeAspect="1"/>
          </p:cNvPicPr>
          <p:nvPr/>
        </p:nvPicPr>
        <p:blipFill>
          <a:blip r:embed="rId22"/>
          <a:stretch>
            <a:fillRect/>
          </a:stretch>
        </p:blipFill>
        <p:spPr>
          <a:xfrm>
            <a:off x="5519241" y="4873454"/>
            <a:ext cx="128699" cy="187198"/>
          </a:xfrm>
          <a:prstGeom prst="rect">
            <a:avLst/>
          </a:prstGeom>
        </p:spPr>
      </p:pic>
      <p:sp>
        <p:nvSpPr>
          <p:cNvPr id="137" name="TextBox 136"/>
          <p:cNvSpPr txBox="1"/>
          <p:nvPr/>
        </p:nvSpPr>
        <p:spPr>
          <a:xfrm>
            <a:off x="5686737" y="4883233"/>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8" name="TextBox 137"/>
          <p:cNvSpPr txBox="1"/>
          <p:nvPr/>
        </p:nvSpPr>
        <p:spPr>
          <a:xfrm>
            <a:off x="3838575" y="5101165"/>
            <a:ext cx="629542" cy="186689"/>
          </a:xfrm>
          <a:prstGeom prst="rect">
            <a:avLst/>
          </a:prstGeom>
          <a:noFill/>
        </p:spPr>
        <p:txBody>
          <a:bodyPr wrap="none" lIns="0" rIns="0" tIns="0" bIns="0">
            <a:spAutoFit/>
          </a:bodyPr>
          <a:lstStyle/>
          <a:p>
            <a:r>
              <a:rPr sz="1100" b="0">
                <a:solidFill>
                  <a:srgbClr val="2E2E2E"/>
                </a:solidFill>
                <a:latin typeface="Calibri"/>
              </a:rPr>
              <a:t>● Bottles:</a:t>
            </a:r>
          </a:p>
        </p:txBody>
      </p:sp>
      <p:pic>
        <p:nvPicPr>
          <p:cNvPr id="139" name="Picture 138" descr="lock.png"/>
          <p:cNvPicPr>
            <a:picLocks noChangeAspect="1"/>
          </p:cNvPicPr>
          <p:nvPr/>
        </p:nvPicPr>
        <p:blipFill>
          <a:blip r:embed="rId22"/>
          <a:stretch>
            <a:fillRect/>
          </a:stretch>
        </p:blipFill>
        <p:spPr>
          <a:xfrm>
            <a:off x="4416169" y="5091385"/>
            <a:ext cx="128699" cy="187198"/>
          </a:xfrm>
          <a:prstGeom prst="rect">
            <a:avLst/>
          </a:prstGeom>
        </p:spPr>
      </p:pic>
      <p:sp>
        <p:nvSpPr>
          <p:cNvPr id="140" name="TextBox 139"/>
          <p:cNvSpPr txBox="1"/>
          <p:nvPr/>
        </p:nvSpPr>
        <p:spPr>
          <a:xfrm>
            <a:off x="4583665"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1" name="Picture 140" descr="lock.png"/>
          <p:cNvPicPr>
            <a:picLocks noChangeAspect="1"/>
          </p:cNvPicPr>
          <p:nvPr/>
        </p:nvPicPr>
        <p:blipFill>
          <a:blip r:embed="rId22"/>
          <a:stretch>
            <a:fillRect/>
          </a:stretch>
        </p:blipFill>
        <p:spPr>
          <a:xfrm>
            <a:off x="5443115" y="5091385"/>
            <a:ext cx="128699" cy="187198"/>
          </a:xfrm>
          <a:prstGeom prst="rect">
            <a:avLst/>
          </a:prstGeom>
        </p:spPr>
      </p:pic>
      <p:sp>
        <p:nvSpPr>
          <p:cNvPr id="142" name="TextBox 141"/>
          <p:cNvSpPr txBox="1"/>
          <p:nvPr/>
        </p:nvSpPr>
        <p:spPr>
          <a:xfrm>
            <a:off x="5610611" y="5101165"/>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3" name="TextBox 142"/>
          <p:cNvSpPr txBox="1"/>
          <p:nvPr/>
        </p:nvSpPr>
        <p:spPr>
          <a:xfrm>
            <a:off x="3838575" y="5319097"/>
            <a:ext cx="990798" cy="186689"/>
          </a:xfrm>
          <a:prstGeom prst="rect">
            <a:avLst/>
          </a:prstGeom>
          <a:noFill/>
        </p:spPr>
        <p:txBody>
          <a:bodyPr wrap="none" lIns="0" rIns="0" tIns="0" bIns="0">
            <a:spAutoFit/>
          </a:bodyPr>
          <a:lstStyle/>
          <a:p>
            <a:r>
              <a:rPr sz="1100" b="0">
                <a:solidFill>
                  <a:srgbClr val="2E2E2E"/>
                </a:solidFill>
                <a:latin typeface="Calibri"/>
              </a:rPr>
              <a:t>● Jars and Tubs:</a:t>
            </a:r>
          </a:p>
        </p:txBody>
      </p:sp>
      <p:pic>
        <p:nvPicPr>
          <p:cNvPr id="144" name="Picture 143" descr="lock.png"/>
          <p:cNvPicPr>
            <a:picLocks noChangeAspect="1"/>
          </p:cNvPicPr>
          <p:nvPr/>
        </p:nvPicPr>
        <p:blipFill>
          <a:blip r:embed="rId22"/>
          <a:stretch>
            <a:fillRect/>
          </a:stretch>
        </p:blipFill>
        <p:spPr>
          <a:xfrm>
            <a:off x="4777425" y="5309317"/>
            <a:ext cx="128699" cy="187198"/>
          </a:xfrm>
          <a:prstGeom prst="rect">
            <a:avLst/>
          </a:prstGeom>
        </p:spPr>
      </p:pic>
      <p:sp>
        <p:nvSpPr>
          <p:cNvPr id="145" name="TextBox 144"/>
          <p:cNvSpPr txBox="1"/>
          <p:nvPr/>
        </p:nvSpPr>
        <p:spPr>
          <a:xfrm>
            <a:off x="4944920" y="531909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6" name="Picture 145" descr="lock.png"/>
          <p:cNvPicPr>
            <a:picLocks noChangeAspect="1"/>
          </p:cNvPicPr>
          <p:nvPr/>
        </p:nvPicPr>
        <p:blipFill>
          <a:blip r:embed="rId22"/>
          <a:stretch>
            <a:fillRect/>
          </a:stretch>
        </p:blipFill>
        <p:spPr>
          <a:xfrm>
            <a:off x="5804371" y="5309317"/>
            <a:ext cx="128699" cy="187198"/>
          </a:xfrm>
          <a:prstGeom prst="rect">
            <a:avLst/>
          </a:prstGeom>
        </p:spPr>
      </p:pic>
      <p:sp>
        <p:nvSpPr>
          <p:cNvPr id="147" name="TextBox 146"/>
          <p:cNvSpPr txBox="1"/>
          <p:nvPr/>
        </p:nvSpPr>
        <p:spPr>
          <a:xfrm>
            <a:off x="5971866" y="531909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8" name="TextBox 147"/>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Packaging Format segment is projected to grow</a:t>
            </a:r>
          </a:p>
        </p:txBody>
      </p:sp>
      <p:sp>
        <p:nvSpPr>
          <p:cNvPr id="149" name="TextBox 148"/>
          <p:cNvSpPr txBox="1"/>
          <p:nvPr/>
        </p:nvSpPr>
        <p:spPr>
          <a:xfrm>
            <a:off x="8524875" y="6017901"/>
            <a:ext cx="836089" cy="194310"/>
          </a:xfrm>
          <a:prstGeom prst="rect">
            <a:avLst/>
          </a:prstGeom>
          <a:noFill/>
        </p:spPr>
        <p:txBody>
          <a:bodyPr wrap="none" lIns="0" rIns="0" tIns="0" bIns="0">
            <a:spAutoFit/>
          </a:bodyPr>
          <a:lstStyle/>
          <a:p>
            <a:r>
              <a:rPr sz="1150" b="1">
                <a:solidFill>
                  <a:srgbClr val="0B2E4A"/>
                </a:solidFill>
                <a:latin typeface="Calibri"/>
              </a:rPr>
              <a:t>at a CAGR of</a:t>
            </a:r>
          </a:p>
        </p:txBody>
      </p:sp>
      <p:pic>
        <p:nvPicPr>
          <p:cNvPr id="150" name="Picture 149" descr="lock.png"/>
          <p:cNvPicPr>
            <a:picLocks noChangeAspect="1"/>
          </p:cNvPicPr>
          <p:nvPr/>
        </p:nvPicPr>
        <p:blipFill>
          <a:blip r:embed="rId22"/>
          <a:stretch>
            <a:fillRect/>
          </a:stretch>
        </p:blipFill>
        <p:spPr>
          <a:xfrm>
            <a:off x="9310118" y="6007677"/>
            <a:ext cx="134549" cy="195707"/>
          </a:xfrm>
          <a:prstGeom prst="rect">
            <a:avLst/>
          </a:prstGeom>
        </p:spPr>
      </p:pic>
      <p:sp>
        <p:nvSpPr>
          <p:cNvPr id="151" name="TextBox 150"/>
          <p:cNvSpPr txBox="1"/>
          <p:nvPr/>
        </p:nvSpPr>
        <p:spPr>
          <a:xfrm>
            <a:off x="9485227"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Packaging Format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Packaging Format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Packaging Format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Packaging Format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338693" cy="186689"/>
          </a:xfrm>
          <a:prstGeom prst="rect">
            <a:avLst/>
          </a:prstGeom>
          <a:noFill/>
        </p:spPr>
        <p:txBody>
          <a:bodyPr wrap="none" lIns="0" rIns="0" tIns="0" bIns="0">
            <a:spAutoFit/>
          </a:bodyPr>
          <a:lstStyle/>
          <a:p>
            <a:r>
              <a:rPr sz="1100" b="0">
                <a:solidFill>
                  <a:srgbClr val="2E2E2E"/>
                </a:solidFill>
                <a:latin typeface="Calibri"/>
              </a:rPr>
              <a:t>Pouches followed by canisters are expected to be the two most attractive packaging format segments in the global senior dog cognitive supplement market in terms of value over the forecast period.</a:t>
            </a:r>
          </a:p>
        </p:txBody>
      </p:sp>
      <p:sp>
        <p:nvSpPr>
          <p:cNvPr id="20" name="TextBox 19"/>
          <p:cNvSpPr txBox="1"/>
          <p:nvPr/>
        </p:nvSpPr>
        <p:spPr>
          <a:xfrm>
            <a:off x="257175" y="5945505"/>
            <a:ext cx="2693375" cy="186689"/>
          </a:xfrm>
          <a:prstGeom prst="rect">
            <a:avLst/>
          </a:prstGeom>
          <a:noFill/>
        </p:spPr>
        <p:txBody>
          <a:bodyPr wrap="none" lIns="0" rIns="0" tIns="0" bIns="0">
            <a:spAutoFit/>
          </a:bodyPr>
          <a:lstStyle/>
          <a:p>
            <a:r>
              <a:rPr sz="1100" b="0">
                <a:solidFill>
                  <a:srgbClr val="2E2E2E"/>
                </a:solidFill>
                <a:latin typeface="Calibri"/>
              </a:rPr>
              <a:t>Pouches and canisters exhibit a CAGR index of</a:t>
            </a:r>
          </a:p>
        </p:txBody>
      </p:sp>
      <p:pic>
        <p:nvPicPr>
          <p:cNvPr id="21" name="Picture 20" descr="lock.png"/>
          <p:cNvPicPr>
            <a:picLocks noChangeAspect="1"/>
          </p:cNvPicPr>
          <p:nvPr/>
        </p:nvPicPr>
        <p:blipFill>
          <a:blip r:embed="rId6"/>
          <a:stretch>
            <a:fillRect/>
          </a:stretch>
        </p:blipFill>
        <p:spPr>
          <a:xfrm>
            <a:off x="2898601" y="5935726"/>
            <a:ext cx="128699" cy="187198"/>
          </a:xfrm>
          <a:prstGeom prst="rect">
            <a:avLst/>
          </a:prstGeom>
        </p:spPr>
      </p:pic>
      <p:sp>
        <p:nvSpPr>
          <p:cNvPr id="22" name="TextBox 21"/>
          <p:cNvSpPr txBox="1"/>
          <p:nvPr/>
        </p:nvSpPr>
        <p:spPr>
          <a:xfrm>
            <a:off x="3066097"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3303991" y="5935726"/>
            <a:ext cx="128699" cy="187198"/>
          </a:xfrm>
          <a:prstGeom prst="rect">
            <a:avLst/>
          </a:prstGeom>
        </p:spPr>
      </p:pic>
      <p:sp>
        <p:nvSpPr>
          <p:cNvPr id="24" name="TextBox 23"/>
          <p:cNvSpPr txBox="1"/>
          <p:nvPr/>
        </p:nvSpPr>
        <p:spPr>
          <a:xfrm>
            <a:off x="3471487"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5080461" y="5935726"/>
            <a:ext cx="128699" cy="187198"/>
          </a:xfrm>
          <a:prstGeom prst="rect">
            <a:avLst/>
          </a:prstGeom>
        </p:spPr>
      </p:pic>
      <p:sp>
        <p:nvSpPr>
          <p:cNvPr id="26" name="TextBox 25"/>
          <p:cNvSpPr txBox="1"/>
          <p:nvPr/>
        </p:nvSpPr>
        <p:spPr>
          <a:xfrm>
            <a:off x="5247957"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5485851" y="5935726"/>
            <a:ext cx="128699" cy="187198"/>
          </a:xfrm>
          <a:prstGeom prst="rect">
            <a:avLst/>
          </a:prstGeom>
        </p:spPr>
      </p:pic>
      <p:sp>
        <p:nvSpPr>
          <p:cNvPr id="28" name="TextBox 27"/>
          <p:cNvSpPr txBox="1"/>
          <p:nvPr/>
        </p:nvSpPr>
        <p:spPr>
          <a:xfrm>
            <a:off x="5653347"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8207751" y="5935726"/>
            <a:ext cx="128699" cy="187198"/>
          </a:xfrm>
          <a:prstGeom prst="rect">
            <a:avLst/>
          </a:prstGeom>
        </p:spPr>
      </p:pic>
      <p:sp>
        <p:nvSpPr>
          <p:cNvPr id="30" name="TextBox 29"/>
          <p:cNvSpPr txBox="1"/>
          <p:nvPr/>
        </p:nvSpPr>
        <p:spPr>
          <a:xfrm>
            <a:off x="8375247" y="5945505"/>
            <a:ext cx="2547962" cy="186689"/>
          </a:xfrm>
          <a:prstGeom prst="rect">
            <a:avLst/>
          </a:prstGeom>
          <a:noFill/>
        </p:spPr>
        <p:txBody>
          <a:bodyPr wrap="none" lIns="0" rIns="0" tIns="0" bIns="0">
            <a:spAutoFit/>
          </a:bodyPr>
          <a:lstStyle/>
          <a:p>
            <a:r>
              <a:rPr sz="1100" b="0">
                <a:solidFill>
                  <a:srgbClr val="2E2E2E"/>
                </a:solidFill>
                <a:latin typeface="Calibri"/>
              </a:rPr>
              <a:t>. The bottles segment is expected to be less</a:t>
            </a:r>
          </a:p>
        </p:txBody>
      </p:sp>
      <p:sp>
        <p:nvSpPr>
          <p:cNvPr id="31" name="TextBox 30"/>
          <p:cNvSpPr txBox="1"/>
          <p:nvPr/>
        </p:nvSpPr>
        <p:spPr>
          <a:xfrm>
            <a:off x="257175" y="6113145"/>
            <a:ext cx="11338386" cy="186689"/>
          </a:xfrm>
          <a:prstGeom prst="rect">
            <a:avLst/>
          </a:prstGeom>
          <a:noFill/>
        </p:spPr>
        <p:txBody>
          <a:bodyPr wrap="none" lIns="0" rIns="0" tIns="0" bIns="0">
            <a:spAutoFit/>
          </a:bodyPr>
          <a:lstStyle/>
          <a:p>
            <a:r>
              <a:rPr sz="1100" b="0">
                <a:solidFill>
                  <a:srgbClr val="2E2E2E"/>
                </a:solidFill>
                <a:latin typeface="Calibri"/>
              </a:rPr>
              <a:t>attractive as compared to other segments over the forecast period, owing to its lower CAGR and incremental opportunity.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Packaging Format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Packaging Format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Bottles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Jars and Tubs</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Pouches</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Sachets</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Packaging Format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Packaging Format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Blister Packs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Canisters</a:t>
            </a:r>
          </a:p>
        </p:txBody>
      </p:sp>
      <p:graphicFrame>
        <p:nvGraphicFramePr>
          <p:cNvPr id="15" name="Chart 14"/>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Packaging Format</a:t>
            </a:r>
          </a:p>
        </p:txBody>
      </p:sp>
      <p:sp>
        <p:nvSpPr>
          <p:cNvPr id="18" name="Rectangle 17"/>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6"/>
          <a:stretch>
            <a:fillRect/>
          </a:stretch>
        </p:blipFill>
        <p:spPr>
          <a:xfrm>
            <a:off x="3094826" y="2237234"/>
            <a:ext cx="263506" cy="383281"/>
          </a:xfrm>
          <a:prstGeom prst="rect">
            <a:avLst/>
          </a:prstGeom>
        </p:spPr>
      </p:pic>
      <p:pic>
        <p:nvPicPr>
          <p:cNvPr id="22" name="Picture 21" descr="lock.png"/>
          <p:cNvPicPr>
            <a:picLocks noChangeAspect="1"/>
          </p:cNvPicPr>
          <p:nvPr/>
        </p:nvPicPr>
        <p:blipFill>
          <a:blip r:embed="rId6"/>
          <a:stretch>
            <a:fillRect/>
          </a:stretch>
        </p:blipFill>
        <p:spPr>
          <a:xfrm>
            <a:off x="3094826" y="5123309"/>
            <a:ext cx="263506" cy="383281"/>
          </a:xfrm>
          <a:prstGeom prst="rect">
            <a:avLst/>
          </a:prstGeom>
        </p:spPr>
      </p:pic>
      <p:sp>
        <p:nvSpPr>
          <p:cNvPr id="23" name="TextBox 22"/>
          <p:cNvSpPr txBox="1"/>
          <p:nvPr/>
        </p:nvSpPr>
        <p:spPr>
          <a:xfrm>
            <a:off x="6305550" y="1598245"/>
            <a:ext cx="4000130" cy="194310"/>
          </a:xfrm>
          <a:prstGeom prst="rect">
            <a:avLst/>
          </a:prstGeom>
          <a:noFill/>
        </p:spPr>
        <p:txBody>
          <a:bodyPr wrap="none" lIns="0" rIns="0" tIns="0" bIns="0">
            <a:spAutoFit/>
          </a:bodyPr>
          <a:lstStyle/>
          <a:p>
            <a:r>
              <a:rPr sz="1150" b="0">
                <a:solidFill>
                  <a:srgbClr val="2E2E2E"/>
                </a:solidFill>
                <a:latin typeface="Calibri"/>
              </a:rPr>
              <a:t>By 2036, pouches segment is anticipated to witness an increase of</a:t>
            </a:r>
          </a:p>
        </p:txBody>
      </p:sp>
      <p:pic>
        <p:nvPicPr>
          <p:cNvPr id="24" name="Picture 23" descr="lock.png"/>
          <p:cNvPicPr>
            <a:picLocks noChangeAspect="1"/>
          </p:cNvPicPr>
          <p:nvPr/>
        </p:nvPicPr>
        <p:blipFill>
          <a:blip r:embed="rId6"/>
          <a:stretch>
            <a:fillRect/>
          </a:stretch>
        </p:blipFill>
        <p:spPr>
          <a:xfrm>
            <a:off x="10254834" y="1588021"/>
            <a:ext cx="134549" cy="195707"/>
          </a:xfrm>
          <a:prstGeom prst="rect">
            <a:avLst/>
          </a:prstGeom>
        </p:spPr>
      </p:pic>
      <p:sp>
        <p:nvSpPr>
          <p:cNvPr id="25" name="TextBox 24"/>
          <p:cNvSpPr txBox="1"/>
          <p:nvPr/>
        </p:nvSpPr>
        <p:spPr>
          <a:xfrm>
            <a:off x="10429943" y="1598245"/>
            <a:ext cx="1341871" cy="194310"/>
          </a:xfrm>
          <a:prstGeom prst="rect">
            <a:avLst/>
          </a:prstGeom>
          <a:noFill/>
        </p:spPr>
        <p:txBody>
          <a:bodyPr wrap="none" lIns="0" rIns="0" tIns="0" bIns="0">
            <a:spAutoFit/>
          </a:bodyPr>
          <a:lstStyle/>
          <a:p>
            <a:r>
              <a:rPr sz="1150" b="0">
                <a:solidFill>
                  <a:srgbClr val="2E2E2E"/>
                </a:solidFill>
                <a:latin typeface="Calibri"/>
              </a:rPr>
              <a:t>X in terms of value as</a:t>
            </a:r>
          </a:p>
        </p:txBody>
      </p:sp>
      <p:sp>
        <p:nvSpPr>
          <p:cNvPr id="26" name="TextBox 25"/>
          <p:cNvSpPr txBox="1"/>
          <p:nvPr/>
        </p:nvSpPr>
        <p:spPr>
          <a:xfrm>
            <a:off x="6305550" y="1773505"/>
            <a:ext cx="5591175" cy="194310"/>
          </a:xfrm>
          <a:prstGeom prst="rect">
            <a:avLst/>
          </a:prstGeom>
          <a:noFill/>
        </p:spPr>
        <p:txBody>
          <a:bodyPr wrap="none" lIns="0" rIns="0" tIns="0" bIns="0">
            <a:spAutoFit/>
          </a:bodyPr>
          <a:lstStyle/>
          <a:p>
            <a:r>
              <a:rPr sz="1150" b="0">
                <a:solidFill>
                  <a:srgbClr val="2E2E2E"/>
                </a:solidFill>
                <a:latin typeface="Calibri"/>
              </a:rPr>
              <a:t>compared to 2026. The pouches segment is expected to create an incremental opportunity of</a:t>
            </a:r>
          </a:p>
        </p:txBody>
      </p:sp>
      <p:sp>
        <p:nvSpPr>
          <p:cNvPr id="27" name="TextBox 26"/>
          <p:cNvSpPr txBox="1"/>
          <p:nvPr/>
        </p:nvSpPr>
        <p:spPr>
          <a:xfrm>
            <a:off x="6305550" y="1948765"/>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28" name="Picture 27" descr="lock.png"/>
          <p:cNvPicPr>
            <a:picLocks noChangeAspect="1"/>
          </p:cNvPicPr>
          <p:nvPr/>
        </p:nvPicPr>
        <p:blipFill>
          <a:blip r:embed="rId6"/>
          <a:stretch>
            <a:fillRect/>
          </a:stretch>
        </p:blipFill>
        <p:spPr>
          <a:xfrm>
            <a:off x="6565953" y="1938541"/>
            <a:ext cx="134549" cy="195707"/>
          </a:xfrm>
          <a:prstGeom prst="rect">
            <a:avLst/>
          </a:prstGeom>
        </p:spPr>
      </p:pic>
      <p:sp>
        <p:nvSpPr>
          <p:cNvPr id="29" name="TextBox 28"/>
          <p:cNvSpPr txBox="1"/>
          <p:nvPr/>
        </p:nvSpPr>
        <p:spPr>
          <a:xfrm>
            <a:off x="6741062" y="1948765"/>
            <a:ext cx="4760354" cy="194310"/>
          </a:xfrm>
          <a:prstGeom prst="rect">
            <a:avLst/>
          </a:prstGeom>
          <a:noFill/>
        </p:spPr>
        <p:txBody>
          <a:bodyPr wrap="none" lIns="0" rIns="0" tIns="0" bIns="0">
            <a:spAutoFit/>
          </a:bodyPr>
          <a:lstStyle/>
          <a:p>
            <a:r>
              <a:rPr sz="1150" b="0">
                <a:solidFill>
                  <a:srgbClr val="2E2E2E"/>
                </a:solidFill>
                <a:latin typeface="Calibri"/>
              </a:rPr>
              <a:t>Mn for the overall senior dog cognitive supplement market from 2026 to 2036.</a:t>
            </a:r>
          </a:p>
        </p:txBody>
      </p:sp>
      <p:sp>
        <p:nvSpPr>
          <p:cNvPr id="30" name="TextBox 29"/>
          <p:cNvSpPr txBox="1"/>
          <p:nvPr/>
        </p:nvSpPr>
        <p:spPr>
          <a:xfrm>
            <a:off x="6305550" y="2176603"/>
            <a:ext cx="4772049" cy="194310"/>
          </a:xfrm>
          <a:prstGeom prst="rect">
            <a:avLst/>
          </a:prstGeom>
          <a:noFill/>
        </p:spPr>
        <p:txBody>
          <a:bodyPr wrap="none" lIns="0" rIns="0" tIns="0" bIns="0">
            <a:spAutoFit/>
          </a:bodyPr>
          <a:lstStyle/>
          <a:p>
            <a:r>
              <a:rPr sz="1150" b="0">
                <a:solidFill>
                  <a:srgbClr val="2E2E2E"/>
                </a:solidFill>
                <a:latin typeface="Calibri"/>
              </a:rPr>
              <a:t>The canisters segment is expected to create an incremental opportunity of US$</a:t>
            </a:r>
          </a:p>
        </p:txBody>
      </p:sp>
      <p:pic>
        <p:nvPicPr>
          <p:cNvPr id="31" name="Picture 30" descr="lock.png"/>
          <p:cNvPicPr>
            <a:picLocks noChangeAspect="1"/>
          </p:cNvPicPr>
          <p:nvPr/>
        </p:nvPicPr>
        <p:blipFill>
          <a:blip r:embed="rId6"/>
          <a:stretch>
            <a:fillRect/>
          </a:stretch>
        </p:blipFill>
        <p:spPr>
          <a:xfrm>
            <a:off x="11026753" y="2166379"/>
            <a:ext cx="134549" cy="195707"/>
          </a:xfrm>
          <a:prstGeom prst="rect">
            <a:avLst/>
          </a:prstGeom>
        </p:spPr>
      </p:pic>
      <p:sp>
        <p:nvSpPr>
          <p:cNvPr id="32" name="TextBox 31"/>
          <p:cNvSpPr txBox="1"/>
          <p:nvPr/>
        </p:nvSpPr>
        <p:spPr>
          <a:xfrm>
            <a:off x="11201863" y="2176603"/>
            <a:ext cx="483542" cy="194310"/>
          </a:xfrm>
          <a:prstGeom prst="rect">
            <a:avLst/>
          </a:prstGeom>
          <a:noFill/>
        </p:spPr>
        <p:txBody>
          <a:bodyPr wrap="none" lIns="0" rIns="0" tIns="0" bIns="0">
            <a:spAutoFit/>
          </a:bodyPr>
          <a:lstStyle/>
          <a:p>
            <a:r>
              <a:rPr sz="1150" b="0">
                <a:solidFill>
                  <a:srgbClr val="2E2E2E"/>
                </a:solidFill>
                <a:latin typeface="Calibri"/>
              </a:rPr>
              <a:t>Mn for</a:t>
            </a:r>
          </a:p>
        </p:txBody>
      </p:sp>
      <p:sp>
        <p:nvSpPr>
          <p:cNvPr id="33" name="TextBox 32"/>
          <p:cNvSpPr txBox="1"/>
          <p:nvPr/>
        </p:nvSpPr>
        <p:spPr>
          <a:xfrm>
            <a:off x="6305550" y="2351863"/>
            <a:ext cx="5345980" cy="194310"/>
          </a:xfrm>
          <a:prstGeom prst="rect">
            <a:avLst/>
          </a:prstGeom>
          <a:noFill/>
        </p:spPr>
        <p:txBody>
          <a:bodyPr wrap="none" lIns="0" rIns="0" tIns="0" bIns="0">
            <a:spAutoFit/>
          </a:bodyPr>
          <a:lstStyle/>
          <a:p>
            <a:r>
              <a:rPr sz="1150" b="0">
                <a:solidFill>
                  <a:srgbClr val="2E2E2E"/>
                </a:solidFill>
                <a:latin typeface="Calibri"/>
              </a:rPr>
              <a:t>the overall senior dog cognitive supplement market from 2026 to 2036. The blister packs</a:t>
            </a:r>
          </a:p>
        </p:txBody>
      </p:sp>
      <p:sp>
        <p:nvSpPr>
          <p:cNvPr id="34" name="TextBox 33"/>
          <p:cNvSpPr txBox="1"/>
          <p:nvPr/>
        </p:nvSpPr>
        <p:spPr>
          <a:xfrm>
            <a:off x="6305550" y="2527123"/>
            <a:ext cx="3955938" cy="194310"/>
          </a:xfrm>
          <a:prstGeom prst="rect">
            <a:avLst/>
          </a:prstGeom>
          <a:noFill/>
        </p:spPr>
        <p:txBody>
          <a:bodyPr wrap="none" lIns="0" rIns="0" tIns="0" bIns="0">
            <a:spAutoFit/>
          </a:bodyPr>
          <a:lstStyle/>
          <a:p>
            <a:r>
              <a:rPr sz="1150" b="0">
                <a:solidFill>
                  <a:srgbClr val="2E2E2E"/>
                </a:solidFill>
                <a:latin typeface="Calibri"/>
              </a:rPr>
              <a:t>segment is expected to create an incremental opportunity of US$</a:t>
            </a:r>
          </a:p>
        </p:txBody>
      </p:sp>
      <p:pic>
        <p:nvPicPr>
          <p:cNvPr id="35" name="Picture 34" descr="lock.png"/>
          <p:cNvPicPr>
            <a:picLocks noChangeAspect="1"/>
          </p:cNvPicPr>
          <p:nvPr/>
        </p:nvPicPr>
        <p:blipFill>
          <a:blip r:embed="rId6"/>
          <a:stretch>
            <a:fillRect/>
          </a:stretch>
        </p:blipFill>
        <p:spPr>
          <a:xfrm>
            <a:off x="10210642" y="2516899"/>
            <a:ext cx="134549" cy="195707"/>
          </a:xfrm>
          <a:prstGeom prst="rect">
            <a:avLst/>
          </a:prstGeom>
        </p:spPr>
      </p:pic>
      <p:sp>
        <p:nvSpPr>
          <p:cNvPr id="36" name="TextBox 35"/>
          <p:cNvSpPr txBox="1"/>
          <p:nvPr/>
        </p:nvSpPr>
        <p:spPr>
          <a:xfrm>
            <a:off x="10385751" y="2527123"/>
            <a:ext cx="1152177" cy="194310"/>
          </a:xfrm>
          <a:prstGeom prst="rect">
            <a:avLst/>
          </a:prstGeom>
          <a:noFill/>
        </p:spPr>
        <p:txBody>
          <a:bodyPr wrap="none" lIns="0" rIns="0" tIns="0" bIns="0">
            <a:spAutoFit/>
          </a:bodyPr>
          <a:lstStyle/>
          <a:p>
            <a:r>
              <a:rPr sz="1150" b="0">
                <a:solidFill>
                  <a:srgbClr val="2E2E2E"/>
                </a:solidFill>
                <a:latin typeface="Calibri"/>
              </a:rPr>
              <a:t>Mn for the overall</a:t>
            </a:r>
          </a:p>
        </p:txBody>
      </p:sp>
      <p:sp>
        <p:nvSpPr>
          <p:cNvPr id="37" name="TextBox 36"/>
          <p:cNvSpPr txBox="1"/>
          <p:nvPr/>
        </p:nvSpPr>
        <p:spPr>
          <a:xfrm>
            <a:off x="6305550" y="2702383"/>
            <a:ext cx="3651287" cy="194310"/>
          </a:xfrm>
          <a:prstGeom prst="rect">
            <a:avLst/>
          </a:prstGeom>
          <a:noFill/>
        </p:spPr>
        <p:txBody>
          <a:bodyPr wrap="none" lIns="0" rIns="0" tIns="0" bIns="0">
            <a:spAutoFit/>
          </a:bodyPr>
          <a:lstStyle/>
          <a:p>
            <a:r>
              <a:rPr sz="1150" b="0">
                <a:solidFill>
                  <a:srgbClr val="2E2E2E"/>
                </a:solidFill>
                <a:latin typeface="Calibri"/>
              </a:rPr>
              <a:t>senior dog cognitive supplement market from 2026 to 2036.</a:t>
            </a:r>
          </a:p>
        </p:txBody>
      </p:sp>
      <p:sp>
        <p:nvSpPr>
          <p:cNvPr id="38"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ockshield_15"/>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Packaging Format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Packaging Format, 2021–2036, highlighting the sub-segments driving growth</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Packaging Format (US$ Mn)</a:t>
            </a:r>
          </a:p>
        </p:txBody>
      </p:sp>
      <p:graphicFrame>
        <p:nvGraphicFramePr>
          <p:cNvPr id="12" name="Table 11"/>
          <p:cNvGraphicFramePr>
            <a:graphicFrameLocks noGrp="1"/>
          </p:cNvGraphicFramePr>
          <p:nvPr/>
        </p:nvGraphicFramePr>
        <p:xfrm>
          <a:off x="152400" y="1238250"/>
          <a:ext cx="11887199" cy="1971675"/>
        </p:xfrm>
        <a:graphic>
          <a:graphicData uri="http://schemas.openxmlformats.org/drawingml/2006/table">
            <a:tbl>
              <a:tblPr>
                <a:tableStyleId>{5C22544A-7EE6-4342-B048-85BDC9FD1C3A}</a:tableStyleId>
              </a:tblPr>
              <a:tblGrid>
                <a:gridCol w="1313658"/>
                <a:gridCol w="621973"/>
                <a:gridCol w="621973"/>
                <a:gridCol w="621973"/>
                <a:gridCol w="621973"/>
                <a:gridCol w="621973"/>
                <a:gridCol w="621973"/>
                <a:gridCol w="621973"/>
                <a:gridCol w="621973"/>
                <a:gridCol w="621973"/>
                <a:gridCol w="621973"/>
                <a:gridCol w="621973"/>
                <a:gridCol w="621973"/>
                <a:gridCol w="621973"/>
                <a:gridCol w="621973"/>
                <a:gridCol w="621973"/>
                <a:gridCol w="621973"/>
                <a:gridCol w="621973"/>
              </a:tblGrid>
              <a:tr h="246126">
                <a:tc>
                  <a:txBody>
                    <a:bodyPr wrap="none"/>
                    <a:lstStyle/>
                    <a:p>
                      <a:pPr algn="l"/>
                      <a:r>
                        <a:rPr sz="1100" b="1">
                          <a:solidFill>
                            <a:srgbClr val="0B2E4A"/>
                          </a:solidFill>
                          <a:latin typeface="Calibri"/>
                        </a:rPr>
                        <a:t>Packaging Format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Bottles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Jars and Tubs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Pouches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Sachets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Blister Packs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Canisters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Packaging Format</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66138" y="2080450"/>
            <a:ext cx="366712" cy="533400"/>
          </a:xfrm>
          <a:prstGeom prst="rect">
            <a:avLst/>
          </a:prstGeom>
        </p:spPr>
      </p:pic>
      <p:sp>
        <p:nvSpPr>
          <p:cNvPr id="20" name="TextBox 19"/>
          <p:cNvSpPr txBox="1"/>
          <p:nvPr/>
        </p:nvSpPr>
        <p:spPr>
          <a:xfrm>
            <a:off x="276225" y="3971925"/>
            <a:ext cx="2499146" cy="194310"/>
          </a:xfrm>
          <a:prstGeom prst="rect">
            <a:avLst/>
          </a:prstGeom>
          <a:noFill/>
        </p:spPr>
        <p:txBody>
          <a:bodyPr wrap="none" lIns="0" rIns="0" tIns="0" bIns="0">
            <a:spAutoFit/>
          </a:bodyPr>
          <a:lstStyle/>
          <a:p>
            <a:r>
              <a:rPr sz="1150" b="0">
                <a:solidFill>
                  <a:srgbClr val="2E2E2E"/>
                </a:solidFill>
                <a:latin typeface="Calibri"/>
              </a:rPr>
              <a:t>Pouches segment is projected to register</a:t>
            </a:r>
          </a:p>
        </p:txBody>
      </p:sp>
      <p:pic>
        <p:nvPicPr>
          <p:cNvPr id="21" name="Picture 20" descr="lock.png"/>
          <p:cNvPicPr>
            <a:picLocks noChangeAspect="1"/>
          </p:cNvPicPr>
          <p:nvPr/>
        </p:nvPicPr>
        <p:blipFill>
          <a:blip r:embed="rId4"/>
          <a:stretch>
            <a:fillRect/>
          </a:stretch>
        </p:blipFill>
        <p:spPr>
          <a:xfrm>
            <a:off x="2724525" y="3961701"/>
            <a:ext cx="134549" cy="195707"/>
          </a:xfrm>
          <a:prstGeom prst="rect">
            <a:avLst/>
          </a:prstGeom>
        </p:spPr>
      </p:pic>
      <p:sp>
        <p:nvSpPr>
          <p:cNvPr id="22" name="TextBox 21"/>
          <p:cNvSpPr txBox="1"/>
          <p:nvPr/>
        </p:nvSpPr>
        <p:spPr>
          <a:xfrm>
            <a:off x="2899634" y="3971925"/>
            <a:ext cx="8973839" cy="194310"/>
          </a:xfrm>
          <a:prstGeom prst="rect">
            <a:avLst/>
          </a:prstGeom>
          <a:noFill/>
        </p:spPr>
        <p:txBody>
          <a:bodyPr wrap="none" lIns="0" rIns="0" tIns="0" bIns="0">
            <a:spAutoFit/>
          </a:bodyPr>
          <a:lstStyle/>
          <a:p>
            <a:r>
              <a:rPr sz="1150" b="0">
                <a:solidFill>
                  <a:srgbClr val="2E2E2E"/>
                </a:solidFill>
                <a:latin typeface="Calibri"/>
              </a:rPr>
              <a:t>X higher value than canisters segment in 2036. Among senior dog cognitive supplement by packaging format, pouches segment is expected to witness</a:t>
            </a:r>
          </a:p>
        </p:txBody>
      </p:sp>
      <p:sp>
        <p:nvSpPr>
          <p:cNvPr id="23" name="TextBox 22"/>
          <p:cNvSpPr txBox="1"/>
          <p:nvPr/>
        </p:nvSpPr>
        <p:spPr>
          <a:xfrm>
            <a:off x="276225" y="4147185"/>
            <a:ext cx="1263979" cy="194310"/>
          </a:xfrm>
          <a:prstGeom prst="rect">
            <a:avLst/>
          </a:prstGeom>
          <a:noFill/>
        </p:spPr>
        <p:txBody>
          <a:bodyPr wrap="none" lIns="0" rIns="0" tIns="0" bIns="0">
            <a:spAutoFit/>
          </a:bodyPr>
          <a:lstStyle/>
          <a:p>
            <a:r>
              <a:rPr sz="1150" b="0">
                <a:solidFill>
                  <a:srgbClr val="2E2E2E"/>
                </a:solidFill>
                <a:latin typeface="Calibri"/>
              </a:rPr>
              <a:t>the highest CAGR of</a:t>
            </a:r>
          </a:p>
        </p:txBody>
      </p:sp>
      <p:pic>
        <p:nvPicPr>
          <p:cNvPr id="24" name="Picture 23" descr="lock.png"/>
          <p:cNvPicPr>
            <a:picLocks noChangeAspect="1"/>
          </p:cNvPicPr>
          <p:nvPr/>
        </p:nvPicPr>
        <p:blipFill>
          <a:blip r:embed="rId4"/>
          <a:stretch>
            <a:fillRect/>
          </a:stretch>
        </p:blipFill>
        <p:spPr>
          <a:xfrm>
            <a:off x="1489358" y="4136961"/>
            <a:ext cx="134549" cy="195707"/>
          </a:xfrm>
          <a:prstGeom prst="rect">
            <a:avLst/>
          </a:prstGeom>
        </p:spPr>
      </p:pic>
      <p:sp>
        <p:nvSpPr>
          <p:cNvPr id="25" name="TextBox 24"/>
          <p:cNvSpPr txBox="1"/>
          <p:nvPr/>
        </p:nvSpPr>
        <p:spPr>
          <a:xfrm>
            <a:off x="1664467"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6682680" cy="194310"/>
          </a:xfrm>
          <a:prstGeom prst="rect">
            <a:avLst/>
          </a:prstGeom>
          <a:noFill/>
        </p:spPr>
        <p:txBody>
          <a:bodyPr wrap="none" lIns="0" rIns="0" tIns="0" bIns="0">
            <a:spAutoFit/>
          </a:bodyPr>
          <a:lstStyle/>
          <a:p>
            <a:r>
              <a:rPr sz="1150" b="0">
                <a:solidFill>
                  <a:srgbClr val="2E2E2E"/>
                </a:solidFill>
                <a:latin typeface="Calibri"/>
              </a:rPr>
              <a:t>In terms of value share by packaging format, the pouches segment is expected to dominate the market, gaining</a:t>
            </a:r>
          </a:p>
        </p:txBody>
      </p:sp>
      <p:pic>
        <p:nvPicPr>
          <p:cNvPr id="27" name="Picture 26" descr="lock.png"/>
          <p:cNvPicPr>
            <a:picLocks noChangeAspect="1"/>
          </p:cNvPicPr>
          <p:nvPr/>
        </p:nvPicPr>
        <p:blipFill>
          <a:blip r:embed="rId4"/>
          <a:stretch>
            <a:fillRect/>
          </a:stretch>
        </p:blipFill>
        <p:spPr>
          <a:xfrm>
            <a:off x="6908059" y="4364799"/>
            <a:ext cx="134549" cy="195707"/>
          </a:xfrm>
          <a:prstGeom prst="rect">
            <a:avLst/>
          </a:prstGeom>
        </p:spPr>
      </p:pic>
      <p:sp>
        <p:nvSpPr>
          <p:cNvPr id="28" name="TextBox 27"/>
          <p:cNvSpPr txBox="1"/>
          <p:nvPr/>
        </p:nvSpPr>
        <p:spPr>
          <a:xfrm>
            <a:off x="7083168"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478311" y="4364799"/>
            <a:ext cx="134549" cy="195707"/>
          </a:xfrm>
          <a:prstGeom prst="rect">
            <a:avLst/>
          </a:prstGeom>
        </p:spPr>
      </p:pic>
      <p:sp>
        <p:nvSpPr>
          <p:cNvPr id="30" name="TextBox 29"/>
          <p:cNvSpPr txBox="1"/>
          <p:nvPr/>
        </p:nvSpPr>
        <p:spPr>
          <a:xfrm>
            <a:off x="8653421" y="4375022"/>
            <a:ext cx="3086484" cy="194310"/>
          </a:xfrm>
          <a:prstGeom prst="rect">
            <a:avLst/>
          </a:prstGeom>
          <a:noFill/>
        </p:spPr>
        <p:txBody>
          <a:bodyPr wrap="none" lIns="0" rIns="0" tIns="0" bIns="0">
            <a:spAutoFit/>
          </a:bodyPr>
          <a:lstStyle/>
          <a:p>
            <a:r>
              <a:rPr sz="1150" b="0">
                <a:solidFill>
                  <a:srgbClr val="2E2E2E"/>
                </a:solidFill>
                <a:latin typeface="Calibri"/>
              </a:rPr>
              <a:t>share by 2036. The sachets segment is expected to</a:t>
            </a:r>
          </a:p>
        </p:txBody>
      </p:sp>
      <p:sp>
        <p:nvSpPr>
          <p:cNvPr id="31" name="TextBox 30"/>
          <p:cNvSpPr txBox="1"/>
          <p:nvPr/>
        </p:nvSpPr>
        <p:spPr>
          <a:xfrm>
            <a:off x="276225" y="4550282"/>
            <a:ext cx="316669" cy="194310"/>
          </a:xfrm>
          <a:prstGeom prst="rect">
            <a:avLst/>
          </a:prstGeom>
          <a:noFill/>
        </p:spPr>
        <p:txBody>
          <a:bodyPr wrap="none" lIns="0" rIns="0" tIns="0" bIns="0">
            <a:spAutoFit/>
          </a:bodyPr>
          <a:lstStyle/>
          <a:p>
            <a:r>
              <a:rPr sz="1150" b="0">
                <a:solidFill>
                  <a:srgbClr val="2E2E2E"/>
                </a:solidFill>
                <a:latin typeface="Calibri"/>
              </a:rPr>
              <a:t>lose</a:t>
            </a:r>
          </a:p>
        </p:txBody>
      </p:sp>
      <p:pic>
        <p:nvPicPr>
          <p:cNvPr id="32" name="Picture 31" descr="lock.png"/>
          <p:cNvPicPr>
            <a:picLocks noChangeAspect="1"/>
          </p:cNvPicPr>
          <p:nvPr/>
        </p:nvPicPr>
        <p:blipFill>
          <a:blip r:embed="rId4"/>
          <a:stretch>
            <a:fillRect/>
          </a:stretch>
        </p:blipFill>
        <p:spPr>
          <a:xfrm>
            <a:off x="542047" y="4540059"/>
            <a:ext cx="134549" cy="195707"/>
          </a:xfrm>
          <a:prstGeom prst="rect">
            <a:avLst/>
          </a:prstGeom>
        </p:spPr>
      </p:pic>
      <p:sp>
        <p:nvSpPr>
          <p:cNvPr id="33" name="TextBox 32"/>
          <p:cNvSpPr txBox="1"/>
          <p:nvPr/>
        </p:nvSpPr>
        <p:spPr>
          <a:xfrm>
            <a:off x="717157" y="45502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3304661" y="4540059"/>
            <a:ext cx="134549" cy="195707"/>
          </a:xfrm>
          <a:prstGeom prst="rect">
            <a:avLst/>
          </a:prstGeom>
        </p:spPr>
      </p:pic>
      <p:sp>
        <p:nvSpPr>
          <p:cNvPr id="35" name="TextBox 34"/>
          <p:cNvSpPr txBox="1"/>
          <p:nvPr/>
        </p:nvSpPr>
        <p:spPr>
          <a:xfrm>
            <a:off x="3479771"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Packaging Format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Packaging Format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Packaging Format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840368"/>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83560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5940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Bottles</a:t>
            </a:r>
          </a:p>
        </p:txBody>
      </p:sp>
      <p:sp>
        <p:nvSpPr>
          <p:cNvPr id="18" name="BPS Value 1"/>
          <p:cNvSpPr txBox="1"/>
          <p:nvPr/>
        </p:nvSpPr>
        <p:spPr>
          <a:xfrm>
            <a:off x="6896100" y="182131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240070"/>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223530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15910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Jars and Tubs</a:t>
            </a:r>
          </a:p>
        </p:txBody>
      </p:sp>
      <p:sp>
        <p:nvSpPr>
          <p:cNvPr id="22" name="BPS Value 2"/>
          <p:cNvSpPr txBox="1"/>
          <p:nvPr/>
        </p:nvSpPr>
        <p:spPr>
          <a:xfrm>
            <a:off x="6896100" y="222102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2895251"/>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289048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81428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Sachets</a:t>
            </a:r>
          </a:p>
        </p:txBody>
      </p:sp>
      <p:sp>
        <p:nvSpPr>
          <p:cNvPr id="26" name="BPS Value 3"/>
          <p:cNvSpPr txBox="1"/>
          <p:nvPr/>
        </p:nvSpPr>
        <p:spPr>
          <a:xfrm>
            <a:off x="6896100" y="287620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3767960"/>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376319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368699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Blister Packs</a:t>
            </a:r>
          </a:p>
        </p:txBody>
      </p:sp>
      <p:sp>
        <p:nvSpPr>
          <p:cNvPr id="30" name="BPS Value 4"/>
          <p:cNvSpPr txBox="1"/>
          <p:nvPr/>
        </p:nvSpPr>
        <p:spPr>
          <a:xfrm>
            <a:off x="6896100" y="374891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928997" y="4679963"/>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5090922" y="467520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459900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Canisters</a:t>
            </a:r>
          </a:p>
        </p:txBody>
      </p:sp>
      <p:sp>
        <p:nvSpPr>
          <p:cNvPr id="34" name="BPS Value 5"/>
          <p:cNvSpPr txBox="1"/>
          <p:nvPr/>
        </p:nvSpPr>
        <p:spPr>
          <a:xfrm>
            <a:off x="6896100" y="466091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928997" y="5693743"/>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5090922" y="568898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561278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Pouches</a:t>
            </a:r>
          </a:p>
        </p:txBody>
      </p:sp>
      <p:sp>
        <p:nvSpPr>
          <p:cNvPr id="38" name="BPS Value 6"/>
          <p:cNvSpPr txBox="1"/>
          <p:nvPr/>
        </p:nvSpPr>
        <p:spPr>
          <a:xfrm>
            <a:off x="6896100" y="567469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Rounded Rectangle 38"/>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Packaging Format</a:t>
            </a:r>
          </a:p>
        </p:txBody>
      </p:sp>
      <p:sp>
        <p:nvSpPr>
          <p:cNvPr id="41" name="Rectangle 40"/>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TextBox 4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4" name="Picture 43" descr="lock.png"/>
          <p:cNvPicPr>
            <a:picLocks noChangeAspect="1"/>
          </p:cNvPicPr>
          <p:nvPr/>
        </p:nvPicPr>
        <p:blipFill>
          <a:blip r:embed="rId5"/>
          <a:stretch>
            <a:fillRect/>
          </a:stretch>
        </p:blipFill>
        <p:spPr>
          <a:xfrm>
            <a:off x="2557843" y="3833622"/>
            <a:ext cx="275034" cy="400050"/>
          </a:xfrm>
          <a:prstGeom prst="rect">
            <a:avLst/>
          </a:prstGeom>
        </p:spPr>
      </p:pic>
      <p:sp>
        <p:nvSpPr>
          <p:cNvPr id="45" name="TextBox 44"/>
          <p:cNvSpPr txBox="1"/>
          <p:nvPr/>
        </p:nvSpPr>
        <p:spPr>
          <a:xfrm>
            <a:off x="7829550" y="1400175"/>
            <a:ext cx="3750840" cy="194310"/>
          </a:xfrm>
          <a:prstGeom prst="rect">
            <a:avLst/>
          </a:prstGeom>
          <a:noFill/>
        </p:spPr>
        <p:txBody>
          <a:bodyPr wrap="none" lIns="0" rIns="0" tIns="0" bIns="0">
            <a:spAutoFit/>
          </a:bodyPr>
          <a:lstStyle/>
          <a:p>
            <a:r>
              <a:rPr sz="1150" b="0">
                <a:solidFill>
                  <a:srgbClr val="2E2E2E"/>
                </a:solidFill>
                <a:latin typeface="Calibri"/>
              </a:rPr>
              <a:t>Among senior dog cognitive supplement by packaging format,</a:t>
            </a:r>
          </a:p>
        </p:txBody>
      </p:sp>
      <p:sp>
        <p:nvSpPr>
          <p:cNvPr id="46" name="TextBox 45"/>
          <p:cNvSpPr txBox="1"/>
          <p:nvPr/>
        </p:nvSpPr>
        <p:spPr>
          <a:xfrm>
            <a:off x="7829550" y="1575435"/>
            <a:ext cx="3688637" cy="194310"/>
          </a:xfrm>
          <a:prstGeom prst="rect">
            <a:avLst/>
          </a:prstGeom>
          <a:noFill/>
        </p:spPr>
        <p:txBody>
          <a:bodyPr wrap="none" lIns="0" rIns="0" tIns="0" bIns="0">
            <a:spAutoFit/>
          </a:bodyPr>
          <a:lstStyle/>
          <a:p>
            <a:r>
              <a:rPr sz="1150" b="0">
                <a:solidFill>
                  <a:srgbClr val="2E2E2E"/>
                </a:solidFill>
                <a:latin typeface="Calibri"/>
              </a:rPr>
              <a:t>pouches segment is expected to witness the highest CAGR of</a:t>
            </a:r>
          </a:p>
        </p:txBody>
      </p:sp>
      <p:pic>
        <p:nvPicPr>
          <p:cNvPr id="47" name="Picture 46" descr="lock.png"/>
          <p:cNvPicPr>
            <a:picLocks noChangeAspect="1"/>
          </p:cNvPicPr>
          <p:nvPr/>
        </p:nvPicPr>
        <p:blipFill>
          <a:blip r:embed="rId5"/>
          <a:stretch>
            <a:fillRect/>
          </a:stretch>
        </p:blipFill>
        <p:spPr>
          <a:xfrm>
            <a:off x="11467341" y="1565211"/>
            <a:ext cx="134549" cy="195707"/>
          </a:xfrm>
          <a:prstGeom prst="rect">
            <a:avLst/>
          </a:prstGeom>
        </p:spPr>
      </p:pic>
      <p:sp>
        <p:nvSpPr>
          <p:cNvPr id="48" name="TextBox 47"/>
          <p:cNvSpPr txBox="1"/>
          <p:nvPr/>
        </p:nvSpPr>
        <p:spPr>
          <a:xfrm>
            <a:off x="7829550" y="1750695"/>
            <a:ext cx="3743994"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packaging</a:t>
            </a:r>
          </a:p>
        </p:txBody>
      </p:sp>
      <p:sp>
        <p:nvSpPr>
          <p:cNvPr id="49" name="TextBox 48"/>
          <p:cNvSpPr txBox="1"/>
          <p:nvPr/>
        </p:nvSpPr>
        <p:spPr>
          <a:xfrm>
            <a:off x="7829550" y="1925955"/>
            <a:ext cx="4026110" cy="194310"/>
          </a:xfrm>
          <a:prstGeom prst="rect">
            <a:avLst/>
          </a:prstGeom>
          <a:noFill/>
        </p:spPr>
        <p:txBody>
          <a:bodyPr wrap="none" lIns="0" rIns="0" tIns="0" bIns="0">
            <a:spAutoFit/>
          </a:bodyPr>
          <a:lstStyle/>
          <a:p>
            <a:r>
              <a:rPr sz="1150" b="0">
                <a:solidFill>
                  <a:srgbClr val="2E2E2E"/>
                </a:solidFill>
                <a:latin typeface="Calibri"/>
              </a:rPr>
              <a:t>format, the pouches segment is expected to dominate the market,</a:t>
            </a:r>
          </a:p>
        </p:txBody>
      </p:sp>
      <p:sp>
        <p:nvSpPr>
          <p:cNvPr id="50" name="TextBox 49"/>
          <p:cNvSpPr txBox="1"/>
          <p:nvPr/>
        </p:nvSpPr>
        <p:spPr>
          <a:xfrm>
            <a:off x="7829550" y="2101215"/>
            <a:ext cx="504366" cy="194310"/>
          </a:xfrm>
          <a:prstGeom prst="rect">
            <a:avLst/>
          </a:prstGeom>
          <a:noFill/>
        </p:spPr>
        <p:txBody>
          <a:bodyPr wrap="none" lIns="0" rIns="0" tIns="0" bIns="0">
            <a:spAutoFit/>
          </a:bodyPr>
          <a:lstStyle/>
          <a:p>
            <a:r>
              <a:rPr sz="1150" b="0">
                <a:solidFill>
                  <a:srgbClr val="2E2E2E"/>
                </a:solidFill>
                <a:latin typeface="Calibri"/>
              </a:rPr>
              <a:t>gaining</a:t>
            </a:r>
          </a:p>
        </p:txBody>
      </p:sp>
      <p:pic>
        <p:nvPicPr>
          <p:cNvPr id="51" name="Picture 50" descr="lock.png"/>
          <p:cNvPicPr>
            <a:picLocks noChangeAspect="1"/>
          </p:cNvPicPr>
          <p:nvPr/>
        </p:nvPicPr>
        <p:blipFill>
          <a:blip r:embed="rId5"/>
          <a:stretch>
            <a:fillRect/>
          </a:stretch>
        </p:blipFill>
        <p:spPr>
          <a:xfrm>
            <a:off x="8283070" y="2090991"/>
            <a:ext cx="134549" cy="195707"/>
          </a:xfrm>
          <a:prstGeom prst="rect">
            <a:avLst/>
          </a:prstGeom>
        </p:spPr>
      </p:pic>
      <p:sp>
        <p:nvSpPr>
          <p:cNvPr id="52" name="TextBox 51"/>
          <p:cNvSpPr txBox="1"/>
          <p:nvPr/>
        </p:nvSpPr>
        <p:spPr>
          <a:xfrm>
            <a:off x="8458179"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3" name="Picture 52" descr="lock.png"/>
          <p:cNvPicPr>
            <a:picLocks noChangeAspect="1"/>
          </p:cNvPicPr>
          <p:nvPr/>
        </p:nvPicPr>
        <p:blipFill>
          <a:blip r:embed="rId5"/>
          <a:stretch>
            <a:fillRect/>
          </a:stretch>
        </p:blipFill>
        <p:spPr>
          <a:xfrm>
            <a:off x="9853322" y="2090991"/>
            <a:ext cx="134549" cy="195707"/>
          </a:xfrm>
          <a:prstGeom prst="rect">
            <a:avLst/>
          </a:prstGeom>
        </p:spPr>
      </p:pic>
      <p:sp>
        <p:nvSpPr>
          <p:cNvPr id="54" name="TextBox 53"/>
          <p:cNvSpPr txBox="1"/>
          <p:nvPr/>
        </p:nvSpPr>
        <p:spPr>
          <a:xfrm>
            <a:off x="10028431"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5" name="TextBox 54"/>
          <p:cNvSpPr txBox="1"/>
          <p:nvPr/>
        </p:nvSpPr>
        <p:spPr>
          <a:xfrm>
            <a:off x="7829550" y="2329053"/>
            <a:ext cx="2456929" cy="194310"/>
          </a:xfrm>
          <a:prstGeom prst="rect">
            <a:avLst/>
          </a:prstGeom>
          <a:noFill/>
        </p:spPr>
        <p:txBody>
          <a:bodyPr wrap="none" lIns="0" rIns="0" tIns="0" bIns="0">
            <a:spAutoFit/>
          </a:bodyPr>
          <a:lstStyle/>
          <a:p>
            <a:r>
              <a:rPr sz="1150" b="0">
                <a:solidFill>
                  <a:srgbClr val="2E2E2E"/>
                </a:solidFill>
                <a:latin typeface="Calibri"/>
              </a:rPr>
              <a:t>The sachets segment is expected to lose</a:t>
            </a:r>
          </a:p>
        </p:txBody>
      </p:sp>
      <p:pic>
        <p:nvPicPr>
          <p:cNvPr id="56" name="Picture 55" descr="lock.png"/>
          <p:cNvPicPr>
            <a:picLocks noChangeAspect="1"/>
          </p:cNvPicPr>
          <p:nvPr/>
        </p:nvPicPr>
        <p:blipFill>
          <a:blip r:embed="rId5"/>
          <a:stretch>
            <a:fillRect/>
          </a:stretch>
        </p:blipFill>
        <p:spPr>
          <a:xfrm>
            <a:off x="10235633" y="2318829"/>
            <a:ext cx="134549" cy="195707"/>
          </a:xfrm>
          <a:prstGeom prst="rect">
            <a:avLst/>
          </a:prstGeom>
        </p:spPr>
      </p:pic>
      <p:sp>
        <p:nvSpPr>
          <p:cNvPr id="57" name="TextBox 56"/>
          <p:cNvSpPr txBox="1"/>
          <p:nvPr/>
        </p:nvSpPr>
        <p:spPr>
          <a:xfrm>
            <a:off x="10410742" y="2329053"/>
            <a:ext cx="1346150" cy="194310"/>
          </a:xfrm>
          <a:prstGeom prst="rect">
            <a:avLst/>
          </a:prstGeom>
          <a:noFill/>
        </p:spPr>
        <p:txBody>
          <a:bodyPr wrap="none" lIns="0" rIns="0" tIns="0" bIns="0">
            <a:spAutoFit/>
          </a:bodyPr>
          <a:lstStyle/>
          <a:p>
            <a:r>
              <a:rPr sz="1150" b="0">
                <a:solidFill>
                  <a:srgbClr val="2E2E2E"/>
                </a:solidFill>
                <a:latin typeface="Calibri"/>
              </a:rPr>
              <a:t>BPS over the forecast</a:t>
            </a:r>
          </a:p>
        </p:txBody>
      </p:sp>
      <p:sp>
        <p:nvSpPr>
          <p:cNvPr id="58" name="TextBox 57"/>
          <p:cNvSpPr txBox="1"/>
          <p:nvPr/>
        </p:nvSpPr>
        <p:spPr>
          <a:xfrm>
            <a:off x="7829550" y="2504313"/>
            <a:ext cx="1335310" cy="194310"/>
          </a:xfrm>
          <a:prstGeom prst="rect">
            <a:avLst/>
          </a:prstGeom>
          <a:noFill/>
        </p:spPr>
        <p:txBody>
          <a:bodyPr wrap="none" lIns="0" rIns="0" tIns="0" bIns="0">
            <a:spAutoFit/>
          </a:bodyPr>
          <a:lstStyle/>
          <a:p>
            <a:r>
              <a:rPr sz="1150" b="0">
                <a:solidFill>
                  <a:srgbClr val="2E2E2E"/>
                </a:solidFill>
                <a:latin typeface="Calibri"/>
              </a:rPr>
              <a:t>period to account for</a:t>
            </a:r>
          </a:p>
        </p:txBody>
      </p:sp>
      <p:pic>
        <p:nvPicPr>
          <p:cNvPr id="59" name="Picture 58" descr="lock.png"/>
          <p:cNvPicPr>
            <a:picLocks noChangeAspect="1"/>
          </p:cNvPicPr>
          <p:nvPr/>
        </p:nvPicPr>
        <p:blipFill>
          <a:blip r:embed="rId5"/>
          <a:stretch>
            <a:fillRect/>
          </a:stretch>
        </p:blipFill>
        <p:spPr>
          <a:xfrm>
            <a:off x="9114014" y="2494089"/>
            <a:ext cx="134549" cy="195707"/>
          </a:xfrm>
          <a:prstGeom prst="rect">
            <a:avLst/>
          </a:prstGeom>
        </p:spPr>
      </p:pic>
      <p:sp>
        <p:nvSpPr>
          <p:cNvPr id="60" name="TextBox 59"/>
          <p:cNvSpPr txBox="1"/>
          <p:nvPr/>
        </p:nvSpPr>
        <p:spPr>
          <a:xfrm>
            <a:off x="928912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1"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Sales Channel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Sales Channel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Sales Channel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Sales Channel,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Sales Channel segment categorizes the market by sales channel.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Veterinary Channels</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Brand-Owned E-commerce</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Third-Party E-commerce</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Specialist Pet Retail</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General Retail</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Direct Sales</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Sales Channel split shows how demand is distributed across sales channel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7" name="Picture 76" descr="2_884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4_394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4_3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2_248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3_020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3_0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1_898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3_959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7_6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1_896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3_787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7_2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1_009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1_238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2_1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964_4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1_348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3_4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844824" cy="186689"/>
          </a:xfrm>
          <a:prstGeom prst="rect">
            <a:avLst/>
          </a:prstGeom>
          <a:noFill/>
        </p:spPr>
        <p:txBody>
          <a:bodyPr wrap="none" lIns="0" rIns="0" tIns="0" bIns="0">
            <a:spAutoFit/>
          </a:bodyPr>
          <a:lstStyle/>
          <a:p>
            <a:r>
              <a:rPr sz="1100" b="0">
                <a:solidFill>
                  <a:srgbClr val="2E2E2E"/>
                </a:solidFill>
                <a:latin typeface="Calibri"/>
              </a:rPr>
              <a:t>Among senior dog cognitive supplement by sales</a:t>
            </a:r>
          </a:p>
        </p:txBody>
      </p:sp>
      <p:sp>
        <p:nvSpPr>
          <p:cNvPr id="102" name="TextBox 101"/>
          <p:cNvSpPr txBox="1"/>
          <p:nvPr/>
        </p:nvSpPr>
        <p:spPr>
          <a:xfrm>
            <a:off x="485775" y="4397077"/>
            <a:ext cx="2596529" cy="186689"/>
          </a:xfrm>
          <a:prstGeom prst="rect">
            <a:avLst/>
          </a:prstGeom>
          <a:noFill/>
        </p:spPr>
        <p:txBody>
          <a:bodyPr wrap="none" lIns="0" rIns="0" tIns="0" bIns="0">
            <a:spAutoFit/>
          </a:bodyPr>
          <a:lstStyle/>
          <a:p>
            <a:r>
              <a:rPr sz="1100" b="0">
                <a:solidFill>
                  <a:srgbClr val="2E2E2E"/>
                </a:solidFill>
                <a:latin typeface="Calibri"/>
              </a:rPr>
              <a:t>channel, third-party e-commerce segment is</a:t>
            </a:r>
          </a:p>
        </p:txBody>
      </p:sp>
      <p:sp>
        <p:nvSpPr>
          <p:cNvPr id="103" name="TextBox 102"/>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104" name="Picture 103" descr="lock.png"/>
          <p:cNvPicPr>
            <a:picLocks noChangeAspect="1"/>
          </p:cNvPicPr>
          <p:nvPr/>
        </p:nvPicPr>
        <p:blipFill>
          <a:blip r:embed="rId22"/>
          <a:stretch>
            <a:fillRect/>
          </a:stretch>
        </p:blipFill>
        <p:spPr>
          <a:xfrm>
            <a:off x="2815059" y="4554938"/>
            <a:ext cx="128699" cy="187198"/>
          </a:xfrm>
          <a:prstGeom prst="rect">
            <a:avLst/>
          </a:prstGeom>
        </p:spPr>
      </p:pic>
      <p:sp>
        <p:nvSpPr>
          <p:cNvPr id="105" name="TextBox 104"/>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106" name="TextBox 105"/>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107" name="TextBox 106"/>
          <p:cNvSpPr txBox="1"/>
          <p:nvPr/>
        </p:nvSpPr>
        <p:spPr>
          <a:xfrm>
            <a:off x="485775" y="4899997"/>
            <a:ext cx="2880022" cy="186689"/>
          </a:xfrm>
          <a:prstGeom prst="rect">
            <a:avLst/>
          </a:prstGeom>
          <a:noFill/>
        </p:spPr>
        <p:txBody>
          <a:bodyPr wrap="none" lIns="0" rIns="0" tIns="0" bIns="0">
            <a:spAutoFit/>
          </a:bodyPr>
          <a:lstStyle/>
          <a:p>
            <a:r>
              <a:rPr sz="1100" b="0">
                <a:solidFill>
                  <a:srgbClr val="2E2E2E"/>
                </a:solidFill>
                <a:latin typeface="Calibri"/>
              </a:rPr>
              <a:t>sales channel, the veterinary channels segment is</a:t>
            </a:r>
          </a:p>
        </p:txBody>
      </p:sp>
      <p:sp>
        <p:nvSpPr>
          <p:cNvPr id="108" name="TextBox 107"/>
          <p:cNvSpPr txBox="1"/>
          <p:nvPr/>
        </p:nvSpPr>
        <p:spPr>
          <a:xfrm>
            <a:off x="485775" y="5067637"/>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109" name="Picture 108" descr="lock.png"/>
          <p:cNvPicPr>
            <a:picLocks noChangeAspect="1"/>
          </p:cNvPicPr>
          <p:nvPr/>
        </p:nvPicPr>
        <p:blipFill>
          <a:blip r:embed="rId22"/>
          <a:stretch>
            <a:fillRect/>
          </a:stretch>
        </p:blipFill>
        <p:spPr>
          <a:xfrm>
            <a:off x="2822716" y="5057858"/>
            <a:ext cx="128699" cy="187198"/>
          </a:xfrm>
          <a:prstGeom prst="rect">
            <a:avLst/>
          </a:prstGeom>
        </p:spPr>
      </p:pic>
      <p:sp>
        <p:nvSpPr>
          <p:cNvPr id="110" name="TextBox 109"/>
          <p:cNvSpPr txBox="1"/>
          <p:nvPr/>
        </p:nvSpPr>
        <p:spPr>
          <a:xfrm>
            <a:off x="2990212" y="506763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11" name="TextBox 110"/>
          <p:cNvSpPr txBox="1"/>
          <p:nvPr/>
        </p:nvSpPr>
        <p:spPr>
          <a:xfrm>
            <a:off x="485775" y="523527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12" name="Picture 111" descr="lock.png"/>
          <p:cNvPicPr>
            <a:picLocks noChangeAspect="1"/>
          </p:cNvPicPr>
          <p:nvPr/>
        </p:nvPicPr>
        <p:blipFill>
          <a:blip r:embed="rId22"/>
          <a:stretch>
            <a:fillRect/>
          </a:stretch>
        </p:blipFill>
        <p:spPr>
          <a:xfrm>
            <a:off x="1576057" y="5225498"/>
            <a:ext cx="128699" cy="187198"/>
          </a:xfrm>
          <a:prstGeom prst="rect">
            <a:avLst/>
          </a:prstGeom>
        </p:spPr>
      </p:pic>
      <p:sp>
        <p:nvSpPr>
          <p:cNvPr id="113" name="TextBox 112"/>
          <p:cNvSpPr txBox="1"/>
          <p:nvPr/>
        </p:nvSpPr>
        <p:spPr>
          <a:xfrm>
            <a:off x="174355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4" name="TextBox 113"/>
          <p:cNvSpPr txBox="1"/>
          <p:nvPr/>
        </p:nvSpPr>
        <p:spPr>
          <a:xfrm>
            <a:off x="485775" y="5453209"/>
            <a:ext cx="2582887" cy="186689"/>
          </a:xfrm>
          <a:prstGeom prst="rect">
            <a:avLst/>
          </a:prstGeom>
          <a:noFill/>
        </p:spPr>
        <p:txBody>
          <a:bodyPr wrap="none" lIns="0" rIns="0" tIns="0" bIns="0">
            <a:spAutoFit/>
          </a:bodyPr>
          <a:lstStyle/>
          <a:p>
            <a:r>
              <a:rPr sz="1100" b="0">
                <a:solidFill>
                  <a:srgbClr val="2E2E2E"/>
                </a:solidFill>
                <a:latin typeface="Calibri"/>
              </a:rPr>
              <a:t>Veterinary channels segment is projected to</a:t>
            </a:r>
          </a:p>
        </p:txBody>
      </p:sp>
      <p:sp>
        <p:nvSpPr>
          <p:cNvPr id="115" name="TextBox 114"/>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116" name="Picture 115" descr="lock.png"/>
          <p:cNvPicPr>
            <a:picLocks noChangeAspect="1"/>
          </p:cNvPicPr>
          <p:nvPr/>
        </p:nvPicPr>
        <p:blipFill>
          <a:blip r:embed="rId22"/>
          <a:stretch>
            <a:fillRect/>
          </a:stretch>
        </p:blipFill>
        <p:spPr>
          <a:xfrm>
            <a:off x="946316" y="5611070"/>
            <a:ext cx="128699" cy="187198"/>
          </a:xfrm>
          <a:prstGeom prst="rect">
            <a:avLst/>
          </a:prstGeom>
        </p:spPr>
      </p:pic>
      <p:sp>
        <p:nvSpPr>
          <p:cNvPr id="117" name="TextBox 116"/>
          <p:cNvSpPr txBox="1"/>
          <p:nvPr/>
        </p:nvSpPr>
        <p:spPr>
          <a:xfrm>
            <a:off x="1113812" y="5620849"/>
            <a:ext cx="1821085" cy="186689"/>
          </a:xfrm>
          <a:prstGeom prst="rect">
            <a:avLst/>
          </a:prstGeom>
          <a:noFill/>
        </p:spPr>
        <p:txBody>
          <a:bodyPr wrap="none" lIns="0" rIns="0" tIns="0" bIns="0">
            <a:spAutoFit/>
          </a:bodyPr>
          <a:lstStyle/>
          <a:p>
            <a:r>
              <a:rPr sz="1100" b="0">
                <a:solidFill>
                  <a:srgbClr val="2E2E2E"/>
                </a:solidFill>
                <a:latin typeface="Calibri"/>
              </a:rPr>
              <a:t>X higher value than third-party</a:t>
            </a:r>
          </a:p>
        </p:txBody>
      </p:sp>
      <p:sp>
        <p:nvSpPr>
          <p:cNvPr id="118" name="TextBox 117"/>
          <p:cNvSpPr txBox="1"/>
          <p:nvPr/>
        </p:nvSpPr>
        <p:spPr>
          <a:xfrm>
            <a:off x="485775" y="5788489"/>
            <a:ext cx="1802804" cy="186689"/>
          </a:xfrm>
          <a:prstGeom prst="rect">
            <a:avLst/>
          </a:prstGeom>
          <a:noFill/>
        </p:spPr>
        <p:txBody>
          <a:bodyPr wrap="none" lIns="0" rIns="0" tIns="0" bIns="0">
            <a:spAutoFit/>
          </a:bodyPr>
          <a:lstStyle/>
          <a:p>
            <a:r>
              <a:rPr sz="1100" b="0">
                <a:solidFill>
                  <a:srgbClr val="2E2E2E"/>
                </a:solidFill>
                <a:latin typeface="Calibri"/>
              </a:rPr>
              <a:t>e-commerce segment in 2036.</a:t>
            </a:r>
          </a:p>
        </p:txBody>
      </p:sp>
      <p:sp>
        <p:nvSpPr>
          <p:cNvPr id="119" name="TextBox 118"/>
          <p:cNvSpPr txBox="1"/>
          <p:nvPr/>
        </p:nvSpPr>
        <p:spPr>
          <a:xfrm>
            <a:off x="3838575" y="4229437"/>
            <a:ext cx="1377974" cy="186689"/>
          </a:xfrm>
          <a:prstGeom prst="rect">
            <a:avLst/>
          </a:prstGeom>
          <a:noFill/>
        </p:spPr>
        <p:txBody>
          <a:bodyPr wrap="none" lIns="0" rIns="0" tIns="0" bIns="0">
            <a:spAutoFit/>
          </a:bodyPr>
          <a:lstStyle/>
          <a:p>
            <a:r>
              <a:rPr sz="1100" b="0">
                <a:solidFill>
                  <a:srgbClr val="2E2E2E"/>
                </a:solidFill>
                <a:latin typeface="Calibri"/>
              </a:rPr>
              <a:t>● Veterinary Channels:</a:t>
            </a:r>
          </a:p>
        </p:txBody>
      </p:sp>
      <p:pic>
        <p:nvPicPr>
          <p:cNvPr id="120" name="Picture 119" descr="lock.png"/>
          <p:cNvPicPr>
            <a:picLocks noChangeAspect="1"/>
          </p:cNvPicPr>
          <p:nvPr/>
        </p:nvPicPr>
        <p:blipFill>
          <a:blip r:embed="rId22"/>
          <a:stretch>
            <a:fillRect/>
          </a:stretch>
        </p:blipFill>
        <p:spPr>
          <a:xfrm>
            <a:off x="5164601" y="4219658"/>
            <a:ext cx="128699" cy="187198"/>
          </a:xfrm>
          <a:prstGeom prst="rect">
            <a:avLst/>
          </a:prstGeom>
        </p:spPr>
      </p:pic>
      <p:sp>
        <p:nvSpPr>
          <p:cNvPr id="121" name="TextBox 120"/>
          <p:cNvSpPr txBox="1"/>
          <p:nvPr/>
        </p:nvSpPr>
        <p:spPr>
          <a:xfrm>
            <a:off x="5332097"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2" name="Picture 121" descr="lock.png"/>
          <p:cNvPicPr>
            <a:picLocks noChangeAspect="1"/>
          </p:cNvPicPr>
          <p:nvPr/>
        </p:nvPicPr>
        <p:blipFill>
          <a:blip r:embed="rId22"/>
          <a:stretch>
            <a:fillRect/>
          </a:stretch>
        </p:blipFill>
        <p:spPr>
          <a:xfrm>
            <a:off x="6191547" y="4219658"/>
            <a:ext cx="128699" cy="187198"/>
          </a:xfrm>
          <a:prstGeom prst="rect">
            <a:avLst/>
          </a:prstGeom>
        </p:spPr>
      </p:pic>
      <p:sp>
        <p:nvSpPr>
          <p:cNvPr id="123" name="TextBox 122"/>
          <p:cNvSpPr txBox="1"/>
          <p:nvPr/>
        </p:nvSpPr>
        <p:spPr>
          <a:xfrm>
            <a:off x="6359043"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24" name="TextBox 123"/>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25" name="TextBox 124"/>
          <p:cNvSpPr txBox="1"/>
          <p:nvPr/>
        </p:nvSpPr>
        <p:spPr>
          <a:xfrm>
            <a:off x="3838575" y="4615009"/>
            <a:ext cx="1765667" cy="186689"/>
          </a:xfrm>
          <a:prstGeom prst="rect">
            <a:avLst/>
          </a:prstGeom>
          <a:noFill/>
        </p:spPr>
        <p:txBody>
          <a:bodyPr wrap="none" lIns="0" rIns="0" tIns="0" bIns="0">
            <a:spAutoFit/>
          </a:bodyPr>
          <a:lstStyle/>
          <a:p>
            <a:r>
              <a:rPr sz="1100" b="0">
                <a:solidFill>
                  <a:srgbClr val="2E2E2E"/>
                </a:solidFill>
                <a:latin typeface="Calibri"/>
              </a:rPr>
              <a:t>● Brand-Owned E-commerce:</a:t>
            </a:r>
          </a:p>
        </p:txBody>
      </p:sp>
      <p:pic>
        <p:nvPicPr>
          <p:cNvPr id="126" name="Picture 125" descr="lock.png"/>
          <p:cNvPicPr>
            <a:picLocks noChangeAspect="1"/>
          </p:cNvPicPr>
          <p:nvPr/>
        </p:nvPicPr>
        <p:blipFill>
          <a:blip r:embed="rId22"/>
          <a:stretch>
            <a:fillRect/>
          </a:stretch>
        </p:blipFill>
        <p:spPr>
          <a:xfrm>
            <a:off x="5552293" y="4605230"/>
            <a:ext cx="128699" cy="187198"/>
          </a:xfrm>
          <a:prstGeom prst="rect">
            <a:avLst/>
          </a:prstGeom>
        </p:spPr>
      </p:pic>
      <p:sp>
        <p:nvSpPr>
          <p:cNvPr id="127" name="TextBox 126"/>
          <p:cNvSpPr txBox="1"/>
          <p:nvPr/>
        </p:nvSpPr>
        <p:spPr>
          <a:xfrm>
            <a:off x="5719789"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8" name="Picture 127" descr="lock.png"/>
          <p:cNvPicPr>
            <a:picLocks noChangeAspect="1"/>
          </p:cNvPicPr>
          <p:nvPr/>
        </p:nvPicPr>
        <p:blipFill>
          <a:blip r:embed="rId22"/>
          <a:stretch>
            <a:fillRect/>
          </a:stretch>
        </p:blipFill>
        <p:spPr>
          <a:xfrm>
            <a:off x="6579239" y="4605230"/>
            <a:ext cx="128699" cy="187198"/>
          </a:xfrm>
          <a:prstGeom prst="rect">
            <a:avLst/>
          </a:prstGeom>
        </p:spPr>
      </p:pic>
      <p:sp>
        <p:nvSpPr>
          <p:cNvPr id="129" name="TextBox 128"/>
          <p:cNvSpPr txBox="1"/>
          <p:nvPr/>
        </p:nvSpPr>
        <p:spPr>
          <a:xfrm>
            <a:off x="6746735" y="4615009"/>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30" name="TextBox 129"/>
          <p:cNvSpPr txBox="1"/>
          <p:nvPr/>
        </p:nvSpPr>
        <p:spPr>
          <a:xfrm>
            <a:off x="3838575" y="4782649"/>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31" name="TextBox 130"/>
          <p:cNvSpPr txBox="1"/>
          <p:nvPr/>
        </p:nvSpPr>
        <p:spPr>
          <a:xfrm>
            <a:off x="3838575" y="5000581"/>
            <a:ext cx="1612597" cy="186689"/>
          </a:xfrm>
          <a:prstGeom prst="rect">
            <a:avLst/>
          </a:prstGeom>
          <a:noFill/>
        </p:spPr>
        <p:txBody>
          <a:bodyPr wrap="none" lIns="0" rIns="0" tIns="0" bIns="0">
            <a:spAutoFit/>
          </a:bodyPr>
          <a:lstStyle/>
          <a:p>
            <a:r>
              <a:rPr sz="1100" b="0">
                <a:solidFill>
                  <a:srgbClr val="2E2E2E"/>
                </a:solidFill>
                <a:latin typeface="Calibri"/>
              </a:rPr>
              <a:t>● Third-Party E-commerce:</a:t>
            </a:r>
          </a:p>
        </p:txBody>
      </p:sp>
      <p:pic>
        <p:nvPicPr>
          <p:cNvPr id="132" name="Picture 131" descr="lock.png"/>
          <p:cNvPicPr>
            <a:picLocks noChangeAspect="1"/>
          </p:cNvPicPr>
          <p:nvPr/>
        </p:nvPicPr>
        <p:blipFill>
          <a:blip r:embed="rId22"/>
          <a:stretch>
            <a:fillRect/>
          </a:stretch>
        </p:blipFill>
        <p:spPr>
          <a:xfrm>
            <a:off x="5399223" y="4990801"/>
            <a:ext cx="128699" cy="187198"/>
          </a:xfrm>
          <a:prstGeom prst="rect">
            <a:avLst/>
          </a:prstGeom>
        </p:spPr>
      </p:pic>
      <p:sp>
        <p:nvSpPr>
          <p:cNvPr id="133" name="TextBox 132"/>
          <p:cNvSpPr txBox="1"/>
          <p:nvPr/>
        </p:nvSpPr>
        <p:spPr>
          <a:xfrm>
            <a:off x="5566719"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4" name="Picture 133" descr="lock.png"/>
          <p:cNvPicPr>
            <a:picLocks noChangeAspect="1"/>
          </p:cNvPicPr>
          <p:nvPr/>
        </p:nvPicPr>
        <p:blipFill>
          <a:blip r:embed="rId22"/>
          <a:stretch>
            <a:fillRect/>
          </a:stretch>
        </p:blipFill>
        <p:spPr>
          <a:xfrm>
            <a:off x="6426169" y="4990801"/>
            <a:ext cx="128699" cy="187198"/>
          </a:xfrm>
          <a:prstGeom prst="rect">
            <a:avLst/>
          </a:prstGeom>
        </p:spPr>
      </p:pic>
      <p:sp>
        <p:nvSpPr>
          <p:cNvPr id="135" name="TextBox 134"/>
          <p:cNvSpPr txBox="1"/>
          <p:nvPr/>
        </p:nvSpPr>
        <p:spPr>
          <a:xfrm>
            <a:off x="6593665" y="500058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6" name="TextBox 135"/>
          <p:cNvSpPr txBox="1"/>
          <p:nvPr/>
        </p:nvSpPr>
        <p:spPr>
          <a:xfrm>
            <a:off x="3838575" y="5218513"/>
            <a:ext cx="1336501" cy="186689"/>
          </a:xfrm>
          <a:prstGeom prst="rect">
            <a:avLst/>
          </a:prstGeom>
          <a:noFill/>
        </p:spPr>
        <p:txBody>
          <a:bodyPr wrap="none" lIns="0" rIns="0" tIns="0" bIns="0">
            <a:spAutoFit/>
          </a:bodyPr>
          <a:lstStyle/>
          <a:p>
            <a:r>
              <a:rPr sz="1100" b="0">
                <a:solidFill>
                  <a:srgbClr val="2E2E2E"/>
                </a:solidFill>
                <a:latin typeface="Calibri"/>
              </a:rPr>
              <a:t>● Specialist Pet Retail:</a:t>
            </a:r>
          </a:p>
        </p:txBody>
      </p:sp>
      <p:pic>
        <p:nvPicPr>
          <p:cNvPr id="137" name="Picture 136" descr="lock.png"/>
          <p:cNvPicPr>
            <a:picLocks noChangeAspect="1"/>
          </p:cNvPicPr>
          <p:nvPr/>
        </p:nvPicPr>
        <p:blipFill>
          <a:blip r:embed="rId22"/>
          <a:stretch>
            <a:fillRect/>
          </a:stretch>
        </p:blipFill>
        <p:spPr>
          <a:xfrm>
            <a:off x="5123127" y="5208733"/>
            <a:ext cx="128699" cy="187198"/>
          </a:xfrm>
          <a:prstGeom prst="rect">
            <a:avLst/>
          </a:prstGeom>
        </p:spPr>
      </p:pic>
      <p:sp>
        <p:nvSpPr>
          <p:cNvPr id="138" name="TextBox 137"/>
          <p:cNvSpPr txBox="1"/>
          <p:nvPr/>
        </p:nvSpPr>
        <p:spPr>
          <a:xfrm>
            <a:off x="5290623" y="521851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9" name="Picture 138" descr="lock.png"/>
          <p:cNvPicPr>
            <a:picLocks noChangeAspect="1"/>
          </p:cNvPicPr>
          <p:nvPr/>
        </p:nvPicPr>
        <p:blipFill>
          <a:blip r:embed="rId22"/>
          <a:stretch>
            <a:fillRect/>
          </a:stretch>
        </p:blipFill>
        <p:spPr>
          <a:xfrm>
            <a:off x="6150074" y="5208733"/>
            <a:ext cx="128699" cy="187198"/>
          </a:xfrm>
          <a:prstGeom prst="rect">
            <a:avLst/>
          </a:prstGeom>
        </p:spPr>
      </p:pic>
      <p:sp>
        <p:nvSpPr>
          <p:cNvPr id="140" name="TextBox 139"/>
          <p:cNvSpPr txBox="1"/>
          <p:nvPr/>
        </p:nvSpPr>
        <p:spPr>
          <a:xfrm>
            <a:off x="6317569" y="521851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1" name="TextBox 140"/>
          <p:cNvSpPr txBox="1"/>
          <p:nvPr/>
        </p:nvSpPr>
        <p:spPr>
          <a:xfrm>
            <a:off x="3838575" y="5436445"/>
            <a:ext cx="1033363" cy="186689"/>
          </a:xfrm>
          <a:prstGeom prst="rect">
            <a:avLst/>
          </a:prstGeom>
          <a:noFill/>
        </p:spPr>
        <p:txBody>
          <a:bodyPr wrap="none" lIns="0" rIns="0" tIns="0" bIns="0">
            <a:spAutoFit/>
          </a:bodyPr>
          <a:lstStyle/>
          <a:p>
            <a:r>
              <a:rPr sz="1100" b="0">
                <a:solidFill>
                  <a:srgbClr val="2E2E2E"/>
                </a:solidFill>
                <a:latin typeface="Calibri"/>
              </a:rPr>
              <a:t>● General Retail:</a:t>
            </a:r>
          </a:p>
        </p:txBody>
      </p:sp>
      <p:pic>
        <p:nvPicPr>
          <p:cNvPr id="142" name="Picture 141" descr="lock.png"/>
          <p:cNvPicPr>
            <a:picLocks noChangeAspect="1"/>
          </p:cNvPicPr>
          <p:nvPr/>
        </p:nvPicPr>
        <p:blipFill>
          <a:blip r:embed="rId22"/>
          <a:stretch>
            <a:fillRect/>
          </a:stretch>
        </p:blipFill>
        <p:spPr>
          <a:xfrm>
            <a:off x="4819989" y="5426665"/>
            <a:ext cx="128699" cy="187198"/>
          </a:xfrm>
          <a:prstGeom prst="rect">
            <a:avLst/>
          </a:prstGeom>
        </p:spPr>
      </p:pic>
      <p:sp>
        <p:nvSpPr>
          <p:cNvPr id="143" name="TextBox 142"/>
          <p:cNvSpPr txBox="1"/>
          <p:nvPr/>
        </p:nvSpPr>
        <p:spPr>
          <a:xfrm>
            <a:off x="4987485" y="543644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4" name="Picture 143" descr="lock.png"/>
          <p:cNvPicPr>
            <a:picLocks noChangeAspect="1"/>
          </p:cNvPicPr>
          <p:nvPr/>
        </p:nvPicPr>
        <p:blipFill>
          <a:blip r:embed="rId22"/>
          <a:stretch>
            <a:fillRect/>
          </a:stretch>
        </p:blipFill>
        <p:spPr>
          <a:xfrm>
            <a:off x="5846935" y="5426665"/>
            <a:ext cx="128699" cy="187198"/>
          </a:xfrm>
          <a:prstGeom prst="rect">
            <a:avLst/>
          </a:prstGeom>
        </p:spPr>
      </p:pic>
      <p:sp>
        <p:nvSpPr>
          <p:cNvPr id="145" name="TextBox 144"/>
          <p:cNvSpPr txBox="1"/>
          <p:nvPr/>
        </p:nvSpPr>
        <p:spPr>
          <a:xfrm>
            <a:off x="6014431" y="5436445"/>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6" name="TextBox 145"/>
          <p:cNvSpPr txBox="1"/>
          <p:nvPr/>
        </p:nvSpPr>
        <p:spPr>
          <a:xfrm>
            <a:off x="3838575" y="5654377"/>
            <a:ext cx="1254100" cy="186689"/>
          </a:xfrm>
          <a:prstGeom prst="rect">
            <a:avLst/>
          </a:prstGeom>
          <a:noFill/>
        </p:spPr>
        <p:txBody>
          <a:bodyPr wrap="none" lIns="0" rIns="0" tIns="0" bIns="0">
            <a:spAutoFit/>
          </a:bodyPr>
          <a:lstStyle/>
          <a:p>
            <a:r>
              <a:rPr sz="1100" b="0">
                <a:solidFill>
                  <a:srgbClr val="2E2E2E"/>
                </a:solidFill>
                <a:latin typeface="Calibri"/>
              </a:rPr>
              <a:t>● Other Direct Sales:</a:t>
            </a:r>
          </a:p>
        </p:txBody>
      </p:sp>
      <p:pic>
        <p:nvPicPr>
          <p:cNvPr id="147" name="Picture 146" descr="lock.png"/>
          <p:cNvPicPr>
            <a:picLocks noChangeAspect="1"/>
          </p:cNvPicPr>
          <p:nvPr/>
        </p:nvPicPr>
        <p:blipFill>
          <a:blip r:embed="rId22"/>
          <a:stretch>
            <a:fillRect/>
          </a:stretch>
        </p:blipFill>
        <p:spPr>
          <a:xfrm>
            <a:off x="5040726" y="5644597"/>
            <a:ext cx="128699" cy="187198"/>
          </a:xfrm>
          <a:prstGeom prst="rect">
            <a:avLst/>
          </a:prstGeom>
        </p:spPr>
      </p:pic>
      <p:sp>
        <p:nvSpPr>
          <p:cNvPr id="148" name="TextBox 147"/>
          <p:cNvSpPr txBox="1"/>
          <p:nvPr/>
        </p:nvSpPr>
        <p:spPr>
          <a:xfrm>
            <a:off x="5208222" y="565437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9" name="Picture 148" descr="lock.png"/>
          <p:cNvPicPr>
            <a:picLocks noChangeAspect="1"/>
          </p:cNvPicPr>
          <p:nvPr/>
        </p:nvPicPr>
        <p:blipFill>
          <a:blip r:embed="rId22"/>
          <a:stretch>
            <a:fillRect/>
          </a:stretch>
        </p:blipFill>
        <p:spPr>
          <a:xfrm>
            <a:off x="6067672" y="5644597"/>
            <a:ext cx="128699" cy="187198"/>
          </a:xfrm>
          <a:prstGeom prst="rect">
            <a:avLst/>
          </a:prstGeom>
        </p:spPr>
      </p:pic>
      <p:sp>
        <p:nvSpPr>
          <p:cNvPr id="150" name="TextBox 149"/>
          <p:cNvSpPr txBox="1"/>
          <p:nvPr/>
        </p:nvSpPr>
        <p:spPr>
          <a:xfrm>
            <a:off x="6235168" y="565437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51" name="TextBox 150"/>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Sales Channel segment is projected to grow at a</a:t>
            </a:r>
          </a:p>
        </p:txBody>
      </p:sp>
      <p:sp>
        <p:nvSpPr>
          <p:cNvPr id="152" name="TextBox 151"/>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53" name="Picture 152" descr="lock.png"/>
          <p:cNvPicPr>
            <a:picLocks noChangeAspect="1"/>
          </p:cNvPicPr>
          <p:nvPr/>
        </p:nvPicPr>
        <p:blipFill>
          <a:blip r:embed="rId22"/>
          <a:stretch>
            <a:fillRect/>
          </a:stretch>
        </p:blipFill>
        <p:spPr>
          <a:xfrm>
            <a:off x="9048826" y="6007677"/>
            <a:ext cx="134549" cy="195707"/>
          </a:xfrm>
          <a:prstGeom prst="rect">
            <a:avLst/>
          </a:prstGeom>
        </p:spPr>
      </p:pic>
      <p:sp>
        <p:nvSpPr>
          <p:cNvPr id="154" name="TextBox 153"/>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Sales Channel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Sales Channel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Sales Channel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Sales Channel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650017" cy="186689"/>
          </a:xfrm>
          <a:prstGeom prst="rect">
            <a:avLst/>
          </a:prstGeom>
          <a:noFill/>
        </p:spPr>
        <p:txBody>
          <a:bodyPr wrap="none" lIns="0" rIns="0" tIns="0" bIns="0">
            <a:spAutoFit/>
          </a:bodyPr>
          <a:lstStyle/>
          <a:p>
            <a:r>
              <a:rPr sz="1100" b="0">
                <a:solidFill>
                  <a:srgbClr val="2E2E2E"/>
                </a:solidFill>
                <a:latin typeface="Calibri"/>
              </a:rPr>
              <a:t>Third-party e-commerce followed by specialist pet retail are expected to be the two most attractive sales channel segments in the global senior dog cognitive supplement market in terms of value over the</a:t>
            </a:r>
          </a:p>
        </p:txBody>
      </p:sp>
      <p:sp>
        <p:nvSpPr>
          <p:cNvPr id="20" name="TextBox 19"/>
          <p:cNvSpPr txBox="1"/>
          <p:nvPr/>
        </p:nvSpPr>
        <p:spPr>
          <a:xfrm>
            <a:off x="257175" y="5861685"/>
            <a:ext cx="5098834" cy="186689"/>
          </a:xfrm>
          <a:prstGeom prst="rect">
            <a:avLst/>
          </a:prstGeom>
          <a:noFill/>
        </p:spPr>
        <p:txBody>
          <a:bodyPr wrap="none" lIns="0" rIns="0" tIns="0" bIns="0">
            <a:spAutoFit/>
          </a:bodyPr>
          <a:lstStyle/>
          <a:p>
            <a:r>
              <a:rPr sz="1100" b="0">
                <a:solidFill>
                  <a:srgbClr val="2E2E2E"/>
                </a:solidFill>
                <a:latin typeface="Calibri"/>
              </a:rPr>
              <a:t>forecast period. Third-Party e-commerce and specialist pet retail exhibit a CAGR index of</a:t>
            </a:r>
          </a:p>
        </p:txBody>
      </p:sp>
      <p:pic>
        <p:nvPicPr>
          <p:cNvPr id="21" name="Picture 20" descr="lock.png"/>
          <p:cNvPicPr>
            <a:picLocks noChangeAspect="1"/>
          </p:cNvPicPr>
          <p:nvPr/>
        </p:nvPicPr>
        <p:blipFill>
          <a:blip r:embed="rId6"/>
          <a:stretch>
            <a:fillRect/>
          </a:stretch>
        </p:blipFill>
        <p:spPr>
          <a:xfrm>
            <a:off x="5304061" y="5851905"/>
            <a:ext cx="128699" cy="187198"/>
          </a:xfrm>
          <a:prstGeom prst="rect">
            <a:avLst/>
          </a:prstGeom>
        </p:spPr>
      </p:pic>
      <p:sp>
        <p:nvSpPr>
          <p:cNvPr id="22" name="TextBox 21"/>
          <p:cNvSpPr txBox="1"/>
          <p:nvPr/>
        </p:nvSpPr>
        <p:spPr>
          <a:xfrm>
            <a:off x="5471556"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5709451" y="5851905"/>
            <a:ext cx="128699" cy="187198"/>
          </a:xfrm>
          <a:prstGeom prst="rect">
            <a:avLst/>
          </a:prstGeom>
        </p:spPr>
      </p:pic>
      <p:sp>
        <p:nvSpPr>
          <p:cNvPr id="24" name="TextBox 23"/>
          <p:cNvSpPr txBox="1"/>
          <p:nvPr/>
        </p:nvSpPr>
        <p:spPr>
          <a:xfrm>
            <a:off x="5876947"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7485920" y="5851905"/>
            <a:ext cx="128699" cy="187198"/>
          </a:xfrm>
          <a:prstGeom prst="rect">
            <a:avLst/>
          </a:prstGeom>
        </p:spPr>
      </p:pic>
      <p:sp>
        <p:nvSpPr>
          <p:cNvPr id="26" name="TextBox 25"/>
          <p:cNvSpPr txBox="1"/>
          <p:nvPr/>
        </p:nvSpPr>
        <p:spPr>
          <a:xfrm>
            <a:off x="7653416"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7891310" y="5851905"/>
            <a:ext cx="128699" cy="187198"/>
          </a:xfrm>
          <a:prstGeom prst="rect">
            <a:avLst/>
          </a:prstGeom>
        </p:spPr>
      </p:pic>
      <p:sp>
        <p:nvSpPr>
          <p:cNvPr id="28" name="TextBox 27"/>
          <p:cNvSpPr txBox="1"/>
          <p:nvPr/>
        </p:nvSpPr>
        <p:spPr>
          <a:xfrm>
            <a:off x="8058806"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10613210" y="5851905"/>
            <a:ext cx="128699" cy="187198"/>
          </a:xfrm>
          <a:prstGeom prst="rect">
            <a:avLst/>
          </a:prstGeom>
        </p:spPr>
      </p:pic>
      <p:sp>
        <p:nvSpPr>
          <p:cNvPr id="30" name="TextBox 29"/>
          <p:cNvSpPr txBox="1"/>
          <p:nvPr/>
        </p:nvSpPr>
        <p:spPr>
          <a:xfrm>
            <a:off x="10780706" y="5861685"/>
            <a:ext cx="354235" cy="186689"/>
          </a:xfrm>
          <a:prstGeom prst="rect">
            <a:avLst/>
          </a:prstGeom>
          <a:noFill/>
        </p:spPr>
        <p:txBody>
          <a:bodyPr wrap="none" lIns="0" rIns="0" tIns="0" bIns="0">
            <a:spAutoFit/>
          </a:bodyPr>
          <a:lstStyle/>
          <a:p>
            <a:r>
              <a:rPr sz="1100" b="0">
                <a:solidFill>
                  <a:srgbClr val="2E2E2E"/>
                </a:solidFill>
                <a:latin typeface="Calibri"/>
              </a:rPr>
              <a:t>. The</a:t>
            </a:r>
          </a:p>
        </p:txBody>
      </p:sp>
      <p:sp>
        <p:nvSpPr>
          <p:cNvPr id="31" name="TextBox 30"/>
          <p:cNvSpPr txBox="1"/>
          <p:nvPr/>
        </p:nvSpPr>
        <p:spPr>
          <a:xfrm>
            <a:off x="257175" y="6029325"/>
            <a:ext cx="11654349" cy="186689"/>
          </a:xfrm>
          <a:prstGeom prst="rect">
            <a:avLst/>
          </a:prstGeom>
          <a:noFill/>
        </p:spPr>
        <p:txBody>
          <a:bodyPr wrap="none" lIns="0" rIns="0" tIns="0" bIns="0">
            <a:spAutoFit/>
          </a:bodyPr>
          <a:lstStyle/>
          <a:p>
            <a:r>
              <a:rPr sz="1100" b="0">
                <a:solidFill>
                  <a:srgbClr val="2E2E2E"/>
                </a:solidFill>
                <a:latin typeface="Calibri"/>
              </a:rPr>
              <a:t>general retail segment is expected to be less attractive as compared to other segments over the forecast period, owing to its lower CAGR and incremental opportunity. Bubbles right of the CAGR-Index line</a:t>
            </a:r>
          </a:p>
        </p:txBody>
      </p:sp>
      <p:sp>
        <p:nvSpPr>
          <p:cNvPr id="32" name="TextBox 31"/>
          <p:cNvSpPr txBox="1"/>
          <p:nvPr/>
        </p:nvSpPr>
        <p:spPr>
          <a:xfrm>
            <a:off x="257175" y="6196965"/>
            <a:ext cx="2279476" cy="186689"/>
          </a:xfrm>
          <a:prstGeom prst="rect">
            <a:avLst/>
          </a:prstGeom>
          <a:noFill/>
        </p:spPr>
        <p:txBody>
          <a:bodyPr wrap="none" lIns="0" rIns="0" tIns="0" bIns="0">
            <a:spAutoFit/>
          </a:bodyPr>
          <a:lstStyle/>
          <a:p>
            <a:r>
              <a:rPr sz="1100" b="0">
                <a:solidFill>
                  <a:srgbClr val="2E2E2E"/>
                </a:solidFill>
                <a:latin typeface="Calibri"/>
              </a:rPr>
              <a:t>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Sales Channel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Sales Channel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Veterinary Channels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Specialist Pet Retail</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General Retail</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Brand-Owned E-commerce</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Sales Channel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Sales Channel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Third-Party E-commerce</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Other Direct Sales</a:t>
            </a:r>
          </a:p>
        </p:txBody>
      </p:sp>
      <p:graphicFrame>
        <p:nvGraphicFramePr>
          <p:cNvPr id="15" name="Chart 14"/>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Sales Channel</a:t>
            </a:r>
          </a:p>
        </p:txBody>
      </p:sp>
      <p:sp>
        <p:nvSpPr>
          <p:cNvPr id="18" name="Rectangle 17"/>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5550" y="1390650"/>
            <a:ext cx="5610225"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6"/>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6"/>
          <a:stretch>
            <a:fillRect/>
          </a:stretch>
        </p:blipFill>
        <p:spPr>
          <a:xfrm>
            <a:off x="3094826" y="5123309"/>
            <a:ext cx="263506" cy="383281"/>
          </a:xfrm>
          <a:prstGeom prst="rect">
            <a:avLst/>
          </a:prstGeom>
        </p:spPr>
      </p:pic>
      <p:sp>
        <p:nvSpPr>
          <p:cNvPr id="23" name="TextBox 22"/>
          <p:cNvSpPr txBox="1"/>
          <p:nvPr/>
        </p:nvSpPr>
        <p:spPr>
          <a:xfrm>
            <a:off x="6305550" y="1400175"/>
            <a:ext cx="4927490" cy="194310"/>
          </a:xfrm>
          <a:prstGeom prst="rect">
            <a:avLst/>
          </a:prstGeom>
          <a:noFill/>
        </p:spPr>
        <p:txBody>
          <a:bodyPr wrap="none" lIns="0" rIns="0" tIns="0" bIns="0">
            <a:spAutoFit/>
          </a:bodyPr>
          <a:lstStyle/>
          <a:p>
            <a:r>
              <a:rPr sz="1150" b="0">
                <a:solidFill>
                  <a:srgbClr val="2E2E2E"/>
                </a:solidFill>
                <a:latin typeface="Calibri"/>
              </a:rPr>
              <a:t>By 2036, third-party e-commerce segment is anticipated to witness an increase of</a:t>
            </a:r>
          </a:p>
        </p:txBody>
      </p:sp>
      <p:pic>
        <p:nvPicPr>
          <p:cNvPr id="24" name="Picture 23" descr="lock.png"/>
          <p:cNvPicPr>
            <a:picLocks noChangeAspect="1"/>
          </p:cNvPicPr>
          <p:nvPr/>
        </p:nvPicPr>
        <p:blipFill>
          <a:blip r:embed="rId6"/>
          <a:stretch>
            <a:fillRect/>
          </a:stretch>
        </p:blipFill>
        <p:spPr>
          <a:xfrm>
            <a:off x="11182194" y="1389951"/>
            <a:ext cx="134549" cy="195707"/>
          </a:xfrm>
          <a:prstGeom prst="rect">
            <a:avLst/>
          </a:prstGeom>
        </p:spPr>
      </p:pic>
      <p:sp>
        <p:nvSpPr>
          <p:cNvPr id="25" name="TextBox 24"/>
          <p:cNvSpPr txBox="1"/>
          <p:nvPr/>
        </p:nvSpPr>
        <p:spPr>
          <a:xfrm>
            <a:off x="11357304" y="1400175"/>
            <a:ext cx="295560" cy="194310"/>
          </a:xfrm>
          <a:prstGeom prst="rect">
            <a:avLst/>
          </a:prstGeom>
          <a:noFill/>
        </p:spPr>
        <p:txBody>
          <a:bodyPr wrap="none" lIns="0" rIns="0" tIns="0" bIns="0">
            <a:spAutoFit/>
          </a:bodyPr>
          <a:lstStyle/>
          <a:p>
            <a:r>
              <a:rPr sz="1150" b="0">
                <a:solidFill>
                  <a:srgbClr val="2E2E2E"/>
                </a:solidFill>
                <a:latin typeface="Calibri"/>
              </a:rPr>
              <a:t>X in</a:t>
            </a:r>
          </a:p>
        </p:txBody>
      </p:sp>
      <p:sp>
        <p:nvSpPr>
          <p:cNvPr id="26" name="TextBox 25"/>
          <p:cNvSpPr txBox="1"/>
          <p:nvPr/>
        </p:nvSpPr>
        <p:spPr>
          <a:xfrm>
            <a:off x="6305550" y="1575435"/>
            <a:ext cx="5394188" cy="194310"/>
          </a:xfrm>
          <a:prstGeom prst="rect">
            <a:avLst/>
          </a:prstGeom>
          <a:noFill/>
        </p:spPr>
        <p:txBody>
          <a:bodyPr wrap="none" lIns="0" rIns="0" tIns="0" bIns="0">
            <a:spAutoFit/>
          </a:bodyPr>
          <a:lstStyle/>
          <a:p>
            <a:r>
              <a:rPr sz="1150" b="0">
                <a:solidFill>
                  <a:srgbClr val="2E2E2E"/>
                </a:solidFill>
                <a:latin typeface="Calibri"/>
              </a:rPr>
              <a:t>terms of value as compared to 2026. The Third-Party e-commerce segment is expected to</a:t>
            </a:r>
          </a:p>
        </p:txBody>
      </p:sp>
      <p:sp>
        <p:nvSpPr>
          <p:cNvPr id="27" name="TextBox 26"/>
          <p:cNvSpPr txBox="1"/>
          <p:nvPr/>
        </p:nvSpPr>
        <p:spPr>
          <a:xfrm>
            <a:off x="6305550" y="1750695"/>
            <a:ext cx="2547069" cy="194310"/>
          </a:xfrm>
          <a:prstGeom prst="rect">
            <a:avLst/>
          </a:prstGeom>
          <a:noFill/>
        </p:spPr>
        <p:txBody>
          <a:bodyPr wrap="none" lIns="0" rIns="0" tIns="0" bIns="0">
            <a:spAutoFit/>
          </a:bodyPr>
          <a:lstStyle/>
          <a:p>
            <a:r>
              <a:rPr sz="1150" b="0">
                <a:solidFill>
                  <a:srgbClr val="2E2E2E"/>
                </a:solidFill>
                <a:latin typeface="Calibri"/>
              </a:rPr>
              <a:t>create an incremental opportunity of US$</a:t>
            </a:r>
          </a:p>
        </p:txBody>
      </p:sp>
      <p:pic>
        <p:nvPicPr>
          <p:cNvPr id="28" name="Picture 27" descr="lock.png"/>
          <p:cNvPicPr>
            <a:picLocks noChangeAspect="1"/>
          </p:cNvPicPr>
          <p:nvPr/>
        </p:nvPicPr>
        <p:blipFill>
          <a:blip r:embed="rId6"/>
          <a:stretch>
            <a:fillRect/>
          </a:stretch>
        </p:blipFill>
        <p:spPr>
          <a:xfrm>
            <a:off x="8801773" y="1740471"/>
            <a:ext cx="134549" cy="195707"/>
          </a:xfrm>
          <a:prstGeom prst="rect">
            <a:avLst/>
          </a:prstGeom>
        </p:spPr>
      </p:pic>
      <p:sp>
        <p:nvSpPr>
          <p:cNvPr id="29" name="TextBox 28"/>
          <p:cNvSpPr txBox="1"/>
          <p:nvPr/>
        </p:nvSpPr>
        <p:spPr>
          <a:xfrm>
            <a:off x="8976882" y="1750695"/>
            <a:ext cx="2381622" cy="194310"/>
          </a:xfrm>
          <a:prstGeom prst="rect">
            <a:avLst/>
          </a:prstGeom>
          <a:noFill/>
        </p:spPr>
        <p:txBody>
          <a:bodyPr wrap="none" lIns="0" rIns="0" tIns="0" bIns="0">
            <a:spAutoFit/>
          </a:bodyPr>
          <a:lstStyle/>
          <a:p>
            <a:r>
              <a:rPr sz="1150" b="0">
                <a:solidFill>
                  <a:srgbClr val="2E2E2E"/>
                </a:solidFill>
                <a:latin typeface="Calibri"/>
              </a:rPr>
              <a:t>Mn for the overall senior dog cognitive</a:t>
            </a:r>
          </a:p>
        </p:txBody>
      </p:sp>
      <p:sp>
        <p:nvSpPr>
          <p:cNvPr id="30" name="TextBox 29"/>
          <p:cNvSpPr txBox="1"/>
          <p:nvPr/>
        </p:nvSpPr>
        <p:spPr>
          <a:xfrm>
            <a:off x="6305550" y="1925955"/>
            <a:ext cx="2421842" cy="194310"/>
          </a:xfrm>
          <a:prstGeom prst="rect">
            <a:avLst/>
          </a:prstGeom>
          <a:noFill/>
        </p:spPr>
        <p:txBody>
          <a:bodyPr wrap="none" lIns="0" rIns="0" tIns="0" bIns="0">
            <a:spAutoFit/>
          </a:bodyPr>
          <a:lstStyle/>
          <a:p>
            <a:r>
              <a:rPr sz="1150" b="0">
                <a:solidFill>
                  <a:srgbClr val="2E2E2E"/>
                </a:solidFill>
                <a:latin typeface="Calibri"/>
              </a:rPr>
              <a:t>supplement market from 2026 to 2036.</a:t>
            </a:r>
          </a:p>
        </p:txBody>
      </p:sp>
      <p:sp>
        <p:nvSpPr>
          <p:cNvPr id="31" name="TextBox 30"/>
          <p:cNvSpPr txBox="1"/>
          <p:nvPr/>
        </p:nvSpPr>
        <p:spPr>
          <a:xfrm>
            <a:off x="6305550" y="2153793"/>
            <a:ext cx="5363095" cy="194310"/>
          </a:xfrm>
          <a:prstGeom prst="rect">
            <a:avLst/>
          </a:prstGeom>
          <a:noFill/>
        </p:spPr>
        <p:txBody>
          <a:bodyPr wrap="none" lIns="0" rIns="0" tIns="0" bIns="0">
            <a:spAutoFit/>
          </a:bodyPr>
          <a:lstStyle/>
          <a:p>
            <a:r>
              <a:rPr sz="1150" b="0">
                <a:solidFill>
                  <a:srgbClr val="2E2E2E"/>
                </a:solidFill>
                <a:latin typeface="Calibri"/>
              </a:rPr>
              <a:t>The specialist pet retail segment is expected to create an incremental opportunity of US$</a:t>
            </a:r>
          </a:p>
        </p:txBody>
      </p:sp>
      <p:pic>
        <p:nvPicPr>
          <p:cNvPr id="32" name="Picture 31" descr="lock.png"/>
          <p:cNvPicPr>
            <a:picLocks noChangeAspect="1"/>
          </p:cNvPicPr>
          <p:nvPr/>
        </p:nvPicPr>
        <p:blipFill>
          <a:blip r:embed="rId6"/>
          <a:stretch>
            <a:fillRect/>
          </a:stretch>
        </p:blipFill>
        <p:spPr>
          <a:xfrm>
            <a:off x="6291470" y="2318829"/>
            <a:ext cx="134549" cy="195707"/>
          </a:xfrm>
          <a:prstGeom prst="rect">
            <a:avLst/>
          </a:prstGeom>
        </p:spPr>
      </p:pic>
      <p:sp>
        <p:nvSpPr>
          <p:cNvPr id="33" name="TextBox 32"/>
          <p:cNvSpPr txBox="1"/>
          <p:nvPr/>
        </p:nvSpPr>
        <p:spPr>
          <a:xfrm>
            <a:off x="6466579" y="2329053"/>
            <a:ext cx="5014230" cy="194310"/>
          </a:xfrm>
          <a:prstGeom prst="rect">
            <a:avLst/>
          </a:prstGeom>
          <a:noFill/>
        </p:spPr>
        <p:txBody>
          <a:bodyPr wrap="none" lIns="0" rIns="0" tIns="0" bIns="0">
            <a:spAutoFit/>
          </a:bodyPr>
          <a:lstStyle/>
          <a:p>
            <a:r>
              <a:rPr sz="1150" b="0">
                <a:solidFill>
                  <a:srgbClr val="2E2E2E"/>
                </a:solidFill>
                <a:latin typeface="Calibri"/>
              </a:rPr>
              <a:t>Mn for the overall senior dog cognitive supplement market from 2026 to 2036. The</a:t>
            </a:r>
          </a:p>
        </p:txBody>
      </p:sp>
      <p:sp>
        <p:nvSpPr>
          <p:cNvPr id="34" name="TextBox 33"/>
          <p:cNvSpPr txBox="1"/>
          <p:nvPr/>
        </p:nvSpPr>
        <p:spPr>
          <a:xfrm>
            <a:off x="6305550" y="2504313"/>
            <a:ext cx="5156572" cy="194310"/>
          </a:xfrm>
          <a:prstGeom prst="rect">
            <a:avLst/>
          </a:prstGeom>
          <a:noFill/>
        </p:spPr>
        <p:txBody>
          <a:bodyPr wrap="none" lIns="0" rIns="0" tIns="0" bIns="0">
            <a:spAutoFit/>
          </a:bodyPr>
          <a:lstStyle/>
          <a:p>
            <a:r>
              <a:rPr sz="1150" b="0">
                <a:solidFill>
                  <a:srgbClr val="2E2E2E"/>
                </a:solidFill>
                <a:latin typeface="Calibri"/>
              </a:rPr>
              <a:t>veterinary channels segment is expected to create an incremental opportunity of US$</a:t>
            </a:r>
          </a:p>
        </p:txBody>
      </p:sp>
      <p:pic>
        <p:nvPicPr>
          <p:cNvPr id="35" name="Picture 34" descr="lock.png"/>
          <p:cNvPicPr>
            <a:picLocks noChangeAspect="1"/>
          </p:cNvPicPr>
          <p:nvPr/>
        </p:nvPicPr>
        <p:blipFill>
          <a:blip r:embed="rId6"/>
          <a:stretch>
            <a:fillRect/>
          </a:stretch>
        </p:blipFill>
        <p:spPr>
          <a:xfrm>
            <a:off x="11411276" y="2494089"/>
            <a:ext cx="134549" cy="195707"/>
          </a:xfrm>
          <a:prstGeom prst="rect">
            <a:avLst/>
          </a:prstGeom>
        </p:spPr>
      </p:pic>
      <p:sp>
        <p:nvSpPr>
          <p:cNvPr id="36" name="TextBox 35"/>
          <p:cNvSpPr txBox="1"/>
          <p:nvPr/>
        </p:nvSpPr>
        <p:spPr>
          <a:xfrm>
            <a:off x="11586385" y="2504313"/>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37" name="TextBox 36"/>
          <p:cNvSpPr txBox="1"/>
          <p:nvPr/>
        </p:nvSpPr>
        <p:spPr>
          <a:xfrm>
            <a:off x="6305550" y="2679573"/>
            <a:ext cx="4525590" cy="194310"/>
          </a:xfrm>
          <a:prstGeom prst="rect">
            <a:avLst/>
          </a:prstGeom>
          <a:noFill/>
        </p:spPr>
        <p:txBody>
          <a:bodyPr wrap="none" lIns="0" rIns="0" tIns="0" bIns="0">
            <a:spAutoFit/>
          </a:bodyPr>
          <a:lstStyle/>
          <a:p>
            <a:r>
              <a:rPr sz="1150" b="0">
                <a:solidFill>
                  <a:srgbClr val="2E2E2E"/>
                </a:solidFill>
                <a:latin typeface="Calibri"/>
              </a:rPr>
              <a:t>for the overall senior dog cognitive supplement market from 2026 to 2036.</a:t>
            </a:r>
          </a:p>
        </p:txBody>
      </p:sp>
      <p:sp>
        <p:nvSpPr>
          <p:cNvPr id="38"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ockshield_15"/>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Sales Channel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Sales Channel, 2021–2036, highlighting the sub-segments driving growth</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Sales Channel (US$ Mn)</a:t>
            </a:r>
          </a:p>
        </p:txBody>
      </p:sp>
      <p:graphicFrame>
        <p:nvGraphicFramePr>
          <p:cNvPr id="12" name="Table 11"/>
          <p:cNvGraphicFramePr>
            <a:graphicFrameLocks noGrp="1"/>
          </p:cNvGraphicFramePr>
          <p:nvPr/>
        </p:nvGraphicFramePr>
        <p:xfrm>
          <a:off x="152400" y="1238250"/>
          <a:ext cx="11887204" cy="1971675"/>
        </p:xfrm>
        <a:graphic>
          <a:graphicData uri="http://schemas.openxmlformats.org/drawingml/2006/table">
            <a:tbl>
              <a:tblPr>
                <a:tableStyleId>{5C22544A-7EE6-4342-B048-85BDC9FD1C3A}</a:tableStyleId>
              </a:tblPr>
              <a:tblGrid>
                <a:gridCol w="1844471"/>
                <a:gridCol w="590749"/>
                <a:gridCol w="590749"/>
                <a:gridCol w="590749"/>
                <a:gridCol w="590749"/>
                <a:gridCol w="590749"/>
                <a:gridCol w="590749"/>
                <a:gridCol w="590749"/>
                <a:gridCol w="590749"/>
                <a:gridCol w="590749"/>
                <a:gridCol w="590749"/>
                <a:gridCol w="590749"/>
                <a:gridCol w="590749"/>
                <a:gridCol w="590749"/>
                <a:gridCol w="590749"/>
                <a:gridCol w="590749"/>
                <a:gridCol w="590749"/>
                <a:gridCol w="590749"/>
              </a:tblGrid>
              <a:tr h="246126">
                <a:tc>
                  <a:txBody>
                    <a:bodyPr wrap="none"/>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Veterinary Channels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Specialist Pet Retail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General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Brand-Owned E-commerce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Third-Party E-commerce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Other Direct Sales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Sales Channel</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831547" y="2080450"/>
            <a:ext cx="366712" cy="533400"/>
          </a:xfrm>
          <a:prstGeom prst="rect">
            <a:avLst/>
          </a:prstGeom>
        </p:spPr>
      </p:pic>
      <p:sp>
        <p:nvSpPr>
          <p:cNvPr id="20" name="TextBox 19"/>
          <p:cNvSpPr txBox="1"/>
          <p:nvPr/>
        </p:nvSpPr>
        <p:spPr>
          <a:xfrm>
            <a:off x="276225" y="3971925"/>
            <a:ext cx="3186038" cy="194310"/>
          </a:xfrm>
          <a:prstGeom prst="rect">
            <a:avLst/>
          </a:prstGeom>
          <a:noFill/>
        </p:spPr>
        <p:txBody>
          <a:bodyPr wrap="none" lIns="0" rIns="0" tIns="0" bIns="0">
            <a:spAutoFit/>
          </a:bodyPr>
          <a:lstStyle/>
          <a:p>
            <a:r>
              <a:rPr sz="1150" b="0">
                <a:solidFill>
                  <a:srgbClr val="2E2E2E"/>
                </a:solidFill>
                <a:latin typeface="Calibri"/>
              </a:rPr>
              <a:t>Veterinary channels segment is projected to register</a:t>
            </a:r>
          </a:p>
        </p:txBody>
      </p:sp>
      <p:pic>
        <p:nvPicPr>
          <p:cNvPr id="21" name="Picture 20" descr="lock.png"/>
          <p:cNvPicPr>
            <a:picLocks noChangeAspect="1"/>
          </p:cNvPicPr>
          <p:nvPr/>
        </p:nvPicPr>
        <p:blipFill>
          <a:blip r:embed="rId4"/>
          <a:stretch>
            <a:fillRect/>
          </a:stretch>
        </p:blipFill>
        <p:spPr>
          <a:xfrm>
            <a:off x="3411417" y="3961701"/>
            <a:ext cx="134549" cy="195707"/>
          </a:xfrm>
          <a:prstGeom prst="rect">
            <a:avLst/>
          </a:prstGeom>
        </p:spPr>
      </p:pic>
      <p:sp>
        <p:nvSpPr>
          <p:cNvPr id="22" name="TextBox 21"/>
          <p:cNvSpPr txBox="1"/>
          <p:nvPr/>
        </p:nvSpPr>
        <p:spPr>
          <a:xfrm>
            <a:off x="3586526" y="3971925"/>
            <a:ext cx="7882173" cy="194310"/>
          </a:xfrm>
          <a:prstGeom prst="rect">
            <a:avLst/>
          </a:prstGeom>
          <a:noFill/>
        </p:spPr>
        <p:txBody>
          <a:bodyPr wrap="none" lIns="0" rIns="0" tIns="0" bIns="0">
            <a:spAutoFit/>
          </a:bodyPr>
          <a:lstStyle/>
          <a:p>
            <a:r>
              <a:rPr sz="1150" b="0">
                <a:solidFill>
                  <a:srgbClr val="2E2E2E"/>
                </a:solidFill>
                <a:latin typeface="Calibri"/>
              </a:rPr>
              <a:t>X higher value than third-party e-commerce segment in 2036. Among senior dog cognitive supplement by sales channel, third-party</a:t>
            </a:r>
          </a:p>
        </p:txBody>
      </p:sp>
      <p:sp>
        <p:nvSpPr>
          <p:cNvPr id="23" name="TextBox 22"/>
          <p:cNvSpPr txBox="1"/>
          <p:nvPr/>
        </p:nvSpPr>
        <p:spPr>
          <a:xfrm>
            <a:off x="276225" y="4147185"/>
            <a:ext cx="3937949" cy="194310"/>
          </a:xfrm>
          <a:prstGeom prst="rect">
            <a:avLst/>
          </a:prstGeom>
          <a:noFill/>
        </p:spPr>
        <p:txBody>
          <a:bodyPr wrap="none" lIns="0" rIns="0" tIns="0" bIns="0">
            <a:spAutoFit/>
          </a:bodyPr>
          <a:lstStyle/>
          <a:p>
            <a:r>
              <a:rPr sz="1150" b="0">
                <a:solidFill>
                  <a:srgbClr val="2E2E2E"/>
                </a:solidFill>
                <a:latin typeface="Calibri"/>
              </a:rPr>
              <a:t>e-commerce segment is expected to witness the highest CAGR of</a:t>
            </a:r>
          </a:p>
        </p:txBody>
      </p:sp>
      <p:pic>
        <p:nvPicPr>
          <p:cNvPr id="24" name="Picture 23" descr="lock.png"/>
          <p:cNvPicPr>
            <a:picLocks noChangeAspect="1"/>
          </p:cNvPicPr>
          <p:nvPr/>
        </p:nvPicPr>
        <p:blipFill>
          <a:blip r:embed="rId4"/>
          <a:stretch>
            <a:fillRect/>
          </a:stretch>
        </p:blipFill>
        <p:spPr>
          <a:xfrm>
            <a:off x="4163328" y="4136961"/>
            <a:ext cx="134549" cy="195707"/>
          </a:xfrm>
          <a:prstGeom prst="rect">
            <a:avLst/>
          </a:prstGeom>
        </p:spPr>
      </p:pic>
      <p:sp>
        <p:nvSpPr>
          <p:cNvPr id="25" name="TextBox 24"/>
          <p:cNvSpPr txBox="1"/>
          <p:nvPr/>
        </p:nvSpPr>
        <p:spPr>
          <a:xfrm>
            <a:off x="4338437"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7027837" cy="194310"/>
          </a:xfrm>
          <a:prstGeom prst="rect">
            <a:avLst/>
          </a:prstGeom>
          <a:noFill/>
        </p:spPr>
        <p:txBody>
          <a:bodyPr wrap="none" lIns="0" rIns="0" tIns="0" bIns="0">
            <a:spAutoFit/>
          </a:bodyPr>
          <a:lstStyle/>
          <a:p>
            <a:r>
              <a:rPr sz="1150" b="0">
                <a:solidFill>
                  <a:srgbClr val="2E2E2E"/>
                </a:solidFill>
                <a:latin typeface="Calibri"/>
              </a:rPr>
              <a:t>In terms of value share by sales channel, the veterinary channels segment is expected to dominate the market, losing</a:t>
            </a:r>
          </a:p>
        </p:txBody>
      </p:sp>
      <p:pic>
        <p:nvPicPr>
          <p:cNvPr id="27" name="Picture 26" descr="lock.png"/>
          <p:cNvPicPr>
            <a:picLocks noChangeAspect="1"/>
          </p:cNvPicPr>
          <p:nvPr/>
        </p:nvPicPr>
        <p:blipFill>
          <a:blip r:embed="rId4"/>
          <a:stretch>
            <a:fillRect/>
          </a:stretch>
        </p:blipFill>
        <p:spPr>
          <a:xfrm>
            <a:off x="7253216" y="4364799"/>
            <a:ext cx="134549" cy="195707"/>
          </a:xfrm>
          <a:prstGeom prst="rect">
            <a:avLst/>
          </a:prstGeom>
        </p:spPr>
      </p:pic>
      <p:sp>
        <p:nvSpPr>
          <p:cNvPr id="28" name="TextBox 27"/>
          <p:cNvSpPr txBox="1"/>
          <p:nvPr/>
        </p:nvSpPr>
        <p:spPr>
          <a:xfrm>
            <a:off x="7428325"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823469" y="4364799"/>
            <a:ext cx="134549" cy="195707"/>
          </a:xfrm>
          <a:prstGeom prst="rect">
            <a:avLst/>
          </a:prstGeom>
        </p:spPr>
      </p:pic>
      <p:sp>
        <p:nvSpPr>
          <p:cNvPr id="30" name="TextBox 29"/>
          <p:cNvSpPr txBox="1"/>
          <p:nvPr/>
        </p:nvSpPr>
        <p:spPr>
          <a:xfrm>
            <a:off x="8998578" y="4375022"/>
            <a:ext cx="2036750" cy="194310"/>
          </a:xfrm>
          <a:prstGeom prst="rect">
            <a:avLst/>
          </a:prstGeom>
          <a:noFill/>
        </p:spPr>
        <p:txBody>
          <a:bodyPr wrap="none" lIns="0" rIns="0" tIns="0" bIns="0">
            <a:spAutoFit/>
          </a:bodyPr>
          <a:lstStyle/>
          <a:p>
            <a:r>
              <a:rPr sz="1150" b="0">
                <a:solidFill>
                  <a:srgbClr val="2E2E2E"/>
                </a:solidFill>
                <a:latin typeface="Calibri"/>
              </a:rPr>
              <a:t>share by 2036. The brand-owned</a:t>
            </a:r>
          </a:p>
        </p:txBody>
      </p:sp>
      <p:sp>
        <p:nvSpPr>
          <p:cNvPr id="31" name="TextBox 30"/>
          <p:cNvSpPr txBox="1"/>
          <p:nvPr/>
        </p:nvSpPr>
        <p:spPr>
          <a:xfrm>
            <a:off x="276225" y="4550282"/>
            <a:ext cx="2506848" cy="194310"/>
          </a:xfrm>
          <a:prstGeom prst="rect">
            <a:avLst/>
          </a:prstGeom>
          <a:noFill/>
        </p:spPr>
        <p:txBody>
          <a:bodyPr wrap="none" lIns="0" rIns="0" tIns="0" bIns="0">
            <a:spAutoFit/>
          </a:bodyPr>
          <a:lstStyle/>
          <a:p>
            <a:r>
              <a:rPr sz="1150" b="0">
                <a:solidFill>
                  <a:srgbClr val="2E2E2E"/>
                </a:solidFill>
                <a:latin typeface="Calibri"/>
              </a:rPr>
              <a:t>e-commerce segment is expected to lose</a:t>
            </a:r>
          </a:p>
        </p:txBody>
      </p:sp>
      <p:pic>
        <p:nvPicPr>
          <p:cNvPr id="32" name="Picture 31" descr="lock.png"/>
          <p:cNvPicPr>
            <a:picLocks noChangeAspect="1"/>
          </p:cNvPicPr>
          <p:nvPr/>
        </p:nvPicPr>
        <p:blipFill>
          <a:blip r:embed="rId4"/>
          <a:stretch>
            <a:fillRect/>
          </a:stretch>
        </p:blipFill>
        <p:spPr>
          <a:xfrm>
            <a:off x="2732227" y="4540059"/>
            <a:ext cx="134549" cy="195707"/>
          </a:xfrm>
          <a:prstGeom prst="rect">
            <a:avLst/>
          </a:prstGeom>
        </p:spPr>
      </p:pic>
      <p:sp>
        <p:nvSpPr>
          <p:cNvPr id="33" name="TextBox 32"/>
          <p:cNvSpPr txBox="1"/>
          <p:nvPr/>
        </p:nvSpPr>
        <p:spPr>
          <a:xfrm>
            <a:off x="2907336" y="45502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5494841" y="4540059"/>
            <a:ext cx="134549" cy="195707"/>
          </a:xfrm>
          <a:prstGeom prst="rect">
            <a:avLst/>
          </a:prstGeom>
        </p:spPr>
      </p:pic>
      <p:sp>
        <p:nvSpPr>
          <p:cNvPr id="35" name="TextBox 34"/>
          <p:cNvSpPr txBox="1"/>
          <p:nvPr/>
        </p:nvSpPr>
        <p:spPr>
          <a:xfrm>
            <a:off x="5669950"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Sales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Sales Channel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Sales Channel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830743"/>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82598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4978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General Retail</a:t>
            </a:r>
          </a:p>
        </p:txBody>
      </p:sp>
      <p:sp>
        <p:nvSpPr>
          <p:cNvPr id="18" name="BPS Value 1"/>
          <p:cNvSpPr txBox="1"/>
          <p:nvPr/>
        </p:nvSpPr>
        <p:spPr>
          <a:xfrm>
            <a:off x="6896100" y="181169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163850"/>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15908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08288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Direct Sales</a:t>
            </a:r>
          </a:p>
        </p:txBody>
      </p:sp>
      <p:sp>
        <p:nvSpPr>
          <p:cNvPr id="22" name="BPS Value 2"/>
          <p:cNvSpPr txBox="1"/>
          <p:nvPr/>
        </p:nvSpPr>
        <p:spPr>
          <a:xfrm>
            <a:off x="6896100" y="214480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2726553"/>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272179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64559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Brand-Owned E-commerce</a:t>
            </a:r>
          </a:p>
        </p:txBody>
      </p:sp>
      <p:sp>
        <p:nvSpPr>
          <p:cNvPr id="26" name="BPS Value 3"/>
          <p:cNvSpPr txBox="1"/>
          <p:nvPr/>
        </p:nvSpPr>
        <p:spPr>
          <a:xfrm>
            <a:off x="6896100" y="270750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3603534"/>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090922" y="359877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352257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Specialist Pet Retail</a:t>
            </a:r>
          </a:p>
        </p:txBody>
      </p:sp>
      <p:sp>
        <p:nvSpPr>
          <p:cNvPr id="30" name="BPS Value 4"/>
          <p:cNvSpPr txBox="1"/>
          <p:nvPr/>
        </p:nvSpPr>
        <p:spPr>
          <a:xfrm>
            <a:off x="6896100" y="358448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928997" y="4601431"/>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5090922" y="459666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452046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Third-Party E-commerce</a:t>
            </a:r>
          </a:p>
        </p:txBody>
      </p:sp>
      <p:sp>
        <p:nvSpPr>
          <p:cNvPr id="34" name="BPS Value 5"/>
          <p:cNvSpPr txBox="1"/>
          <p:nvPr/>
        </p:nvSpPr>
        <p:spPr>
          <a:xfrm>
            <a:off x="6896100" y="458238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FMI Legend Chip"/>
          <p:cNvSpPr/>
          <p:nvPr/>
        </p:nvSpPr>
        <p:spPr>
          <a:xfrm>
            <a:off x="4928997" y="5677533"/>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rot="10800000">
            <a:off x="5090922" y="567277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559657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Veterinary Channels</a:t>
            </a:r>
          </a:p>
        </p:txBody>
      </p:sp>
      <p:sp>
        <p:nvSpPr>
          <p:cNvPr id="38" name="BPS Value 6"/>
          <p:cNvSpPr txBox="1"/>
          <p:nvPr/>
        </p:nvSpPr>
        <p:spPr>
          <a:xfrm>
            <a:off x="6896100" y="565848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9" name="Rounded Rectangle 38"/>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Sales Channel</a:t>
            </a:r>
          </a:p>
        </p:txBody>
      </p:sp>
      <p:sp>
        <p:nvSpPr>
          <p:cNvPr id="41" name="Rectangle 40"/>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TextBox 4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4" name="Picture 43" descr="lock.png"/>
          <p:cNvPicPr>
            <a:picLocks noChangeAspect="1"/>
          </p:cNvPicPr>
          <p:nvPr/>
        </p:nvPicPr>
        <p:blipFill>
          <a:blip r:embed="rId5"/>
          <a:stretch>
            <a:fillRect/>
          </a:stretch>
        </p:blipFill>
        <p:spPr>
          <a:xfrm>
            <a:off x="2557843" y="3833622"/>
            <a:ext cx="275034" cy="400050"/>
          </a:xfrm>
          <a:prstGeom prst="rect">
            <a:avLst/>
          </a:prstGeom>
        </p:spPr>
      </p:pic>
      <p:sp>
        <p:nvSpPr>
          <p:cNvPr id="45" name="TextBox 44"/>
          <p:cNvSpPr txBox="1"/>
          <p:nvPr/>
        </p:nvSpPr>
        <p:spPr>
          <a:xfrm>
            <a:off x="7829550" y="1400175"/>
            <a:ext cx="3508660" cy="194310"/>
          </a:xfrm>
          <a:prstGeom prst="rect">
            <a:avLst/>
          </a:prstGeom>
          <a:noFill/>
        </p:spPr>
        <p:txBody>
          <a:bodyPr wrap="none" lIns="0" rIns="0" tIns="0" bIns="0">
            <a:spAutoFit/>
          </a:bodyPr>
          <a:lstStyle/>
          <a:p>
            <a:r>
              <a:rPr sz="1150" b="0">
                <a:solidFill>
                  <a:srgbClr val="2E2E2E"/>
                </a:solidFill>
                <a:latin typeface="Calibri"/>
              </a:rPr>
              <a:t>Among senior dog cognitive supplement by sales channel,</a:t>
            </a:r>
          </a:p>
        </p:txBody>
      </p:sp>
      <p:sp>
        <p:nvSpPr>
          <p:cNvPr id="46" name="TextBox 45"/>
          <p:cNvSpPr txBox="1"/>
          <p:nvPr/>
        </p:nvSpPr>
        <p:spPr>
          <a:xfrm>
            <a:off x="7829550" y="1575435"/>
            <a:ext cx="4057650" cy="194310"/>
          </a:xfrm>
          <a:prstGeom prst="rect">
            <a:avLst/>
          </a:prstGeom>
          <a:noFill/>
        </p:spPr>
        <p:txBody>
          <a:bodyPr wrap="none" lIns="0" rIns="0" tIns="0" bIns="0">
            <a:spAutoFit/>
          </a:bodyPr>
          <a:lstStyle/>
          <a:p>
            <a:r>
              <a:rPr sz="1150" b="0">
                <a:solidFill>
                  <a:srgbClr val="2E2E2E"/>
                </a:solidFill>
                <a:latin typeface="Calibri"/>
              </a:rPr>
              <a:t>third-party e-commerce segment is expected to witness the highest</a:t>
            </a:r>
          </a:p>
        </p:txBody>
      </p:sp>
      <p:sp>
        <p:nvSpPr>
          <p:cNvPr id="47" name="TextBox 46"/>
          <p:cNvSpPr txBox="1"/>
          <p:nvPr/>
        </p:nvSpPr>
        <p:spPr>
          <a:xfrm>
            <a:off x="7829550" y="1750695"/>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48" name="Picture 47" descr="lock.png"/>
          <p:cNvPicPr>
            <a:picLocks noChangeAspect="1"/>
          </p:cNvPicPr>
          <p:nvPr/>
        </p:nvPicPr>
        <p:blipFill>
          <a:blip r:embed="rId5"/>
          <a:stretch>
            <a:fillRect/>
          </a:stretch>
        </p:blipFill>
        <p:spPr>
          <a:xfrm>
            <a:off x="8343240" y="1740471"/>
            <a:ext cx="134549" cy="195707"/>
          </a:xfrm>
          <a:prstGeom prst="rect">
            <a:avLst/>
          </a:prstGeom>
        </p:spPr>
      </p:pic>
      <p:sp>
        <p:nvSpPr>
          <p:cNvPr id="49" name="TextBox 48"/>
          <p:cNvSpPr txBox="1"/>
          <p:nvPr/>
        </p:nvSpPr>
        <p:spPr>
          <a:xfrm>
            <a:off x="8518350" y="1750695"/>
            <a:ext cx="3118147"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a:t>
            </a:r>
          </a:p>
        </p:txBody>
      </p:sp>
      <p:sp>
        <p:nvSpPr>
          <p:cNvPr id="50" name="TextBox 49"/>
          <p:cNvSpPr txBox="1"/>
          <p:nvPr/>
        </p:nvSpPr>
        <p:spPr>
          <a:xfrm>
            <a:off x="7829550" y="1925955"/>
            <a:ext cx="3745706" cy="194310"/>
          </a:xfrm>
          <a:prstGeom prst="rect">
            <a:avLst/>
          </a:prstGeom>
          <a:noFill/>
        </p:spPr>
        <p:txBody>
          <a:bodyPr wrap="none" lIns="0" rIns="0" tIns="0" bIns="0">
            <a:spAutoFit/>
          </a:bodyPr>
          <a:lstStyle/>
          <a:p>
            <a:r>
              <a:rPr sz="1150" b="0">
                <a:solidFill>
                  <a:srgbClr val="2E2E2E"/>
                </a:solidFill>
                <a:latin typeface="Calibri"/>
              </a:rPr>
              <a:t>sales channel, the veterinary channels segment is expected to</a:t>
            </a:r>
          </a:p>
        </p:txBody>
      </p:sp>
      <p:sp>
        <p:nvSpPr>
          <p:cNvPr id="51" name="TextBox 50"/>
          <p:cNvSpPr txBox="1"/>
          <p:nvPr/>
        </p:nvSpPr>
        <p:spPr>
          <a:xfrm>
            <a:off x="7829550" y="2101215"/>
            <a:ext cx="1755774" cy="194310"/>
          </a:xfrm>
          <a:prstGeom prst="rect">
            <a:avLst/>
          </a:prstGeom>
          <a:noFill/>
        </p:spPr>
        <p:txBody>
          <a:bodyPr wrap="none" lIns="0" rIns="0" tIns="0" bIns="0">
            <a:spAutoFit/>
          </a:bodyPr>
          <a:lstStyle/>
          <a:p>
            <a:r>
              <a:rPr sz="1150" b="0">
                <a:solidFill>
                  <a:srgbClr val="2E2E2E"/>
                </a:solidFill>
                <a:latin typeface="Calibri"/>
              </a:rPr>
              <a:t>dominate the market, losing</a:t>
            </a:r>
          </a:p>
        </p:txBody>
      </p:sp>
      <p:pic>
        <p:nvPicPr>
          <p:cNvPr id="52" name="Picture 51" descr="lock.png"/>
          <p:cNvPicPr>
            <a:picLocks noChangeAspect="1"/>
          </p:cNvPicPr>
          <p:nvPr/>
        </p:nvPicPr>
        <p:blipFill>
          <a:blip r:embed="rId5"/>
          <a:stretch>
            <a:fillRect/>
          </a:stretch>
        </p:blipFill>
        <p:spPr>
          <a:xfrm>
            <a:off x="9534478" y="2090991"/>
            <a:ext cx="134549" cy="195707"/>
          </a:xfrm>
          <a:prstGeom prst="rect">
            <a:avLst/>
          </a:prstGeom>
        </p:spPr>
      </p:pic>
      <p:sp>
        <p:nvSpPr>
          <p:cNvPr id="53" name="TextBox 52"/>
          <p:cNvSpPr txBox="1"/>
          <p:nvPr/>
        </p:nvSpPr>
        <p:spPr>
          <a:xfrm>
            <a:off x="9709588"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4" name="Picture 53" descr="lock.png"/>
          <p:cNvPicPr>
            <a:picLocks noChangeAspect="1"/>
          </p:cNvPicPr>
          <p:nvPr/>
        </p:nvPicPr>
        <p:blipFill>
          <a:blip r:embed="rId5"/>
          <a:stretch>
            <a:fillRect/>
          </a:stretch>
        </p:blipFill>
        <p:spPr>
          <a:xfrm>
            <a:off x="11104731" y="2090991"/>
            <a:ext cx="134549" cy="195707"/>
          </a:xfrm>
          <a:prstGeom prst="rect">
            <a:avLst/>
          </a:prstGeom>
        </p:spPr>
      </p:pic>
      <p:sp>
        <p:nvSpPr>
          <p:cNvPr id="55" name="TextBox 54"/>
          <p:cNvSpPr txBox="1"/>
          <p:nvPr/>
        </p:nvSpPr>
        <p:spPr>
          <a:xfrm>
            <a:off x="11279840" y="2101215"/>
            <a:ext cx="403671" cy="194310"/>
          </a:xfrm>
          <a:prstGeom prst="rect">
            <a:avLst/>
          </a:prstGeom>
          <a:noFill/>
        </p:spPr>
        <p:txBody>
          <a:bodyPr wrap="none" lIns="0" rIns="0" tIns="0" bIns="0">
            <a:spAutoFit/>
          </a:bodyPr>
          <a:lstStyle/>
          <a:p>
            <a:r>
              <a:rPr sz="1150" b="0">
                <a:solidFill>
                  <a:srgbClr val="2E2E2E"/>
                </a:solidFill>
                <a:latin typeface="Calibri"/>
              </a:rPr>
              <a:t>share</a:t>
            </a:r>
          </a:p>
        </p:txBody>
      </p:sp>
      <p:sp>
        <p:nvSpPr>
          <p:cNvPr id="56" name="TextBox 55"/>
          <p:cNvSpPr txBox="1"/>
          <p:nvPr/>
        </p:nvSpPr>
        <p:spPr>
          <a:xfrm>
            <a:off x="7829550" y="2276475"/>
            <a:ext cx="585663" cy="194310"/>
          </a:xfrm>
          <a:prstGeom prst="rect">
            <a:avLst/>
          </a:prstGeom>
          <a:noFill/>
        </p:spPr>
        <p:txBody>
          <a:bodyPr wrap="none" lIns="0" rIns="0" tIns="0" bIns="0">
            <a:spAutoFit/>
          </a:bodyPr>
          <a:lstStyle/>
          <a:p>
            <a:r>
              <a:rPr sz="1150" b="0">
                <a:solidFill>
                  <a:srgbClr val="2E2E2E"/>
                </a:solidFill>
                <a:latin typeface="Calibri"/>
              </a:rPr>
              <a:t>by 2036.</a:t>
            </a:r>
          </a:p>
        </p:txBody>
      </p:sp>
      <p:sp>
        <p:nvSpPr>
          <p:cNvPr id="57" name="TextBox 56"/>
          <p:cNvSpPr txBox="1"/>
          <p:nvPr/>
        </p:nvSpPr>
        <p:spPr>
          <a:xfrm>
            <a:off x="7829550" y="2504313"/>
            <a:ext cx="3597374" cy="194310"/>
          </a:xfrm>
          <a:prstGeom prst="rect">
            <a:avLst/>
          </a:prstGeom>
          <a:noFill/>
        </p:spPr>
        <p:txBody>
          <a:bodyPr wrap="none" lIns="0" rIns="0" tIns="0" bIns="0">
            <a:spAutoFit/>
          </a:bodyPr>
          <a:lstStyle/>
          <a:p>
            <a:r>
              <a:rPr sz="1150" b="0">
                <a:solidFill>
                  <a:srgbClr val="2E2E2E"/>
                </a:solidFill>
                <a:latin typeface="Calibri"/>
              </a:rPr>
              <a:t>The brand-owned e-commerce segment is expected to lose</a:t>
            </a:r>
          </a:p>
        </p:txBody>
      </p:sp>
      <p:pic>
        <p:nvPicPr>
          <p:cNvPr id="58" name="Picture 57" descr="lock.png"/>
          <p:cNvPicPr>
            <a:picLocks noChangeAspect="1"/>
          </p:cNvPicPr>
          <p:nvPr/>
        </p:nvPicPr>
        <p:blipFill>
          <a:blip r:embed="rId5"/>
          <a:stretch>
            <a:fillRect/>
          </a:stretch>
        </p:blipFill>
        <p:spPr>
          <a:xfrm>
            <a:off x="11376078" y="2494089"/>
            <a:ext cx="134549" cy="195707"/>
          </a:xfrm>
          <a:prstGeom prst="rect">
            <a:avLst/>
          </a:prstGeom>
        </p:spPr>
      </p:pic>
      <p:sp>
        <p:nvSpPr>
          <p:cNvPr id="59" name="TextBox 58"/>
          <p:cNvSpPr txBox="1"/>
          <p:nvPr/>
        </p:nvSpPr>
        <p:spPr>
          <a:xfrm>
            <a:off x="7829550" y="267957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60" name="Picture 59" descr="lock.png"/>
          <p:cNvPicPr>
            <a:picLocks noChangeAspect="1"/>
          </p:cNvPicPr>
          <p:nvPr/>
        </p:nvPicPr>
        <p:blipFill>
          <a:blip r:embed="rId5"/>
          <a:stretch>
            <a:fillRect/>
          </a:stretch>
        </p:blipFill>
        <p:spPr>
          <a:xfrm>
            <a:off x="10417054" y="2669349"/>
            <a:ext cx="134549" cy="195707"/>
          </a:xfrm>
          <a:prstGeom prst="rect">
            <a:avLst/>
          </a:prstGeom>
        </p:spPr>
      </p:pic>
      <p:sp>
        <p:nvSpPr>
          <p:cNvPr id="61" name="TextBox 60"/>
          <p:cNvSpPr txBox="1"/>
          <p:nvPr/>
        </p:nvSpPr>
        <p:spPr>
          <a:xfrm>
            <a:off x="10592163"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2"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Cross-sectional Assessment</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Form Type × Active Ingredient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End-use Application × Active Ingredient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Sales Channel × End-use Application</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Form Type × Active Ingredient</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Form Type × Active Ingredient, 2026E vs 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form type sub-segment across active ingredient sub-segments</a:t>
            </a:r>
          </a:p>
        </p:txBody>
      </p:sp>
      <p:sp>
        <p:nvSpPr>
          <p:cNvPr id="10" name="Rounded Rectangle 9"/>
          <p:cNvSpPr/>
          <p:nvPr/>
        </p:nvSpPr>
        <p:spPr>
          <a:xfrm>
            <a:off x="142875" y="981075"/>
            <a:ext cx="11906250" cy="2876550"/>
          </a:xfrm>
          <a:prstGeom prst="roundRect">
            <a:avLst>
              <a:gd name="adj" fmla="val 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Value, Form Type × Active Ingredient, 2026E and 2036F (US$ Mn)</a:t>
            </a:r>
          </a:p>
        </p:txBody>
      </p:sp>
      <p:graphicFrame>
        <p:nvGraphicFramePr>
          <p:cNvPr id="12" name="Table 11"/>
          <p:cNvGraphicFramePr>
            <a:graphicFrameLocks noGrp="1"/>
          </p:cNvGraphicFramePr>
          <p:nvPr/>
        </p:nvGraphicFramePr>
        <p:xfrm>
          <a:off x="152400" y="1238250"/>
          <a:ext cx="11887205" cy="2409824"/>
        </p:xfrm>
        <a:graphic>
          <a:graphicData uri="http://schemas.openxmlformats.org/drawingml/2006/table">
            <a:tbl>
              <a:tblPr>
                <a:tableStyleId>{5C22544A-7EE6-4342-B048-85BDC9FD1C3A}</a:tableStyleId>
              </a:tblPr>
              <a:tblGrid>
                <a:gridCol w="2021083"/>
                <a:gridCol w="704723"/>
                <a:gridCol w="704723"/>
                <a:gridCol w="704723"/>
                <a:gridCol w="704723"/>
                <a:gridCol w="704723"/>
                <a:gridCol w="704723"/>
                <a:gridCol w="704723"/>
                <a:gridCol w="704723"/>
                <a:gridCol w="704723"/>
                <a:gridCol w="704723"/>
                <a:gridCol w="704723"/>
                <a:gridCol w="704723"/>
                <a:gridCol w="704723"/>
                <a:gridCol w="704723"/>
              </a:tblGrid>
              <a:tr h="438912">
                <a:tc rowSpan="2">
                  <a:txBody>
                    <a:bodyPr wrap="none"/>
                    <a:lstStyle/>
                    <a:p>
                      <a:pPr algn="l"/>
                      <a:r>
                        <a:rPr sz="1100" b="1">
                          <a:solidFill>
                            <a:srgbClr val="0B2E4A"/>
                          </a:solidFill>
                          <a:latin typeface="Calibri"/>
                        </a:rPr>
                        <a:t>Form Type</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Omega-3 Fatty Acids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Antioxidant</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Neurofunctional</a:t>
                      </a:r>
                      <a:endParaRPr sz="1100"/>
                    </a:p>
                    <a:p>
                      <a:pPr algn="ctr"/>
                      <a:r>
                        <a:rPr sz="1100" b="1">
                          <a:solidFill>
                            <a:srgbClr val="0B2E4A"/>
                          </a:solidFill>
                          <a:latin typeface="Calibri"/>
                        </a:rPr>
                        <a:t>Nutrients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Cellular Energy</a:t>
                      </a:r>
                      <a:endParaRPr sz="1100"/>
                    </a:p>
                    <a:p>
                      <a:pPr algn="ctr"/>
                      <a:r>
                        <a:rPr sz="1100" b="1">
                          <a:solidFill>
                            <a:srgbClr val="0B2E4A"/>
                          </a:solidFill>
                          <a:latin typeface="Calibri"/>
                        </a:rPr>
                        <a:t>Support 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Botanical 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Microbiome-</a:t>
                      </a:r>
                      <a:endParaRPr sz="1100"/>
                    </a:p>
                    <a:p>
                      <a:pPr algn="ctr"/>
                      <a:r>
                        <a:rPr sz="1100" b="1">
                          <a:solidFill>
                            <a:srgbClr val="0B2E4A"/>
                          </a:solidFill>
                          <a:latin typeface="Calibri"/>
                        </a:rPr>
                        <a:t>Targeted 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364">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6364">
                <a:tc>
                  <a:txBody>
                    <a:bodyPr wrap="none"/>
                    <a:lstStyle/>
                    <a:p>
                      <a:pPr algn="l"/>
                      <a:r>
                        <a:rPr sz="1100" b="1">
                          <a:solidFill>
                            <a:srgbClr val="2E2E2E"/>
                          </a:solidFill>
                          <a:latin typeface="Calibri"/>
                        </a:rPr>
                        <a:t>Chewables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64">
                <a:tc>
                  <a:txBody>
                    <a:bodyPr wrap="none"/>
                    <a:lstStyle/>
                    <a:p>
                      <a:pPr algn="l"/>
                      <a:r>
                        <a:rPr sz="1100" b="1">
                          <a:solidFill>
                            <a:srgbClr val="2E2E2E"/>
                          </a:solidFill>
                          <a:latin typeface="Calibri"/>
                        </a:rPr>
                        <a:t>Tablets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64">
                <a:tc>
                  <a:txBody>
                    <a:bodyPr wrap="none"/>
                    <a:lstStyle/>
                    <a:p>
                      <a:pPr algn="l"/>
                      <a:r>
                        <a:rPr sz="1100" b="1">
                          <a:solidFill>
                            <a:srgbClr val="2E2E2E"/>
                          </a:solidFill>
                          <a:latin typeface="Calibri"/>
                        </a:rPr>
                        <a:t>Capsules and Softgels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64">
                <a:tc>
                  <a:txBody>
                    <a:bodyPr wrap="none"/>
                    <a:lstStyle/>
                    <a:p>
                      <a:pPr algn="l"/>
                      <a:r>
                        <a:rPr sz="1100" b="1">
                          <a:solidFill>
                            <a:srgbClr val="2E2E2E"/>
                          </a:solidFill>
                          <a:latin typeface="Calibri"/>
                        </a:rPr>
                        <a:t>Powders and Granules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64">
                <a:tc>
                  <a:txBody>
                    <a:bodyPr wrap="none"/>
                    <a:lstStyle/>
                    <a:p>
                      <a:pPr algn="l"/>
                      <a:r>
                        <a:rPr sz="1100" b="1">
                          <a:solidFill>
                            <a:srgbClr val="2E2E2E"/>
                          </a:solidFill>
                          <a:latin typeface="Calibri"/>
                        </a:rPr>
                        <a:t>Liquids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64">
                <a:tc>
                  <a:txBody>
                    <a:bodyPr wrap="none"/>
                    <a:lstStyle/>
                    <a:p>
                      <a:pPr algn="l"/>
                      <a:r>
                        <a:rPr sz="1100" b="1">
                          <a:solidFill>
                            <a:srgbClr val="2E2E2E"/>
                          </a:solidFill>
                          <a:latin typeface="Calibri"/>
                        </a:rPr>
                        <a:t>Gels and Pastes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6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6576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990975"/>
            <a:ext cx="7286625" cy="2638425"/>
          </a:xfrm>
          <a:prstGeom prst="roundRect">
            <a:avLst>
              <a:gd name="adj" fmla="val 288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40481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Flow, Form Type → Active Ingredient, 2036F (US$ Mn)</a:t>
            </a:r>
          </a:p>
        </p:txBody>
      </p:sp>
      <p:sp>
        <p:nvSpPr>
          <p:cNvPr id="16" name="Freeform 15"/>
          <p:cNvSpPr/>
          <p:nvPr/>
        </p:nvSpPr>
        <p:spPr>
          <a:xfrm>
            <a:off x="2057400" y="4314825"/>
            <a:ext cx="3743325" cy="171450"/>
          </a:xfrm>
          <a:custGeom>
            <a:avLst/>
            <a:gdLst/>
            <a:ahLst/>
            <a:cxnLst/>
            <a:rect l="l" t="t" r="r" b="b"/>
            <a:pathLst>
              <a:path w="393" h="18">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18"/>
                </a:lnTo>
                <a:lnTo>
                  <a:pt x="377" y="18"/>
                </a:lnTo>
                <a:lnTo>
                  <a:pt x="360" y="18"/>
                </a:lnTo>
                <a:lnTo>
                  <a:pt x="344" y="18"/>
                </a:lnTo>
                <a:lnTo>
                  <a:pt x="327" y="18"/>
                </a:lnTo>
                <a:lnTo>
                  <a:pt x="311" y="18"/>
                </a:lnTo>
                <a:lnTo>
                  <a:pt x="295" y="18"/>
                </a:lnTo>
                <a:lnTo>
                  <a:pt x="278" y="18"/>
                </a:lnTo>
                <a:lnTo>
                  <a:pt x="262" y="18"/>
                </a:lnTo>
                <a:lnTo>
                  <a:pt x="246" y="18"/>
                </a:lnTo>
                <a:lnTo>
                  <a:pt x="229" y="18"/>
                </a:lnTo>
                <a:lnTo>
                  <a:pt x="213" y="18"/>
                </a:lnTo>
                <a:lnTo>
                  <a:pt x="196" y="18"/>
                </a:lnTo>
                <a:lnTo>
                  <a:pt x="180" y="18"/>
                </a:lnTo>
                <a:lnTo>
                  <a:pt x="164" y="18"/>
                </a:lnTo>
                <a:lnTo>
                  <a:pt x="147" y="18"/>
                </a:lnTo>
                <a:lnTo>
                  <a:pt x="131" y="18"/>
                </a:lnTo>
                <a:lnTo>
                  <a:pt x="114" y="18"/>
                </a:lnTo>
                <a:lnTo>
                  <a:pt x="98" y="18"/>
                </a:lnTo>
                <a:lnTo>
                  <a:pt x="82" y="18"/>
                </a:lnTo>
                <a:lnTo>
                  <a:pt x="65" y="18"/>
                </a:lnTo>
                <a:lnTo>
                  <a:pt x="49" y="18"/>
                </a:lnTo>
                <a:lnTo>
                  <a:pt x="33" y="18"/>
                </a:lnTo>
                <a:lnTo>
                  <a:pt x="16" y="18"/>
                </a:lnTo>
                <a:lnTo>
                  <a:pt x="0" y="18"/>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4486275"/>
            <a:ext cx="3743325" cy="485775"/>
          </a:xfrm>
          <a:custGeom>
            <a:avLst/>
            <a:gdLst/>
            <a:ahLst/>
            <a:cxnLst/>
            <a:rect l="l" t="t" r="r" b="b"/>
            <a:pathLst>
              <a:path w="393" h="51">
                <a:moveTo>
                  <a:pt x="0" y="0"/>
                </a:moveTo>
                <a:lnTo>
                  <a:pt x="16" y="0"/>
                </a:lnTo>
                <a:lnTo>
                  <a:pt x="33" y="1"/>
                </a:lnTo>
                <a:lnTo>
                  <a:pt x="49" y="1"/>
                </a:lnTo>
                <a:lnTo>
                  <a:pt x="65" y="3"/>
                </a:lnTo>
                <a:lnTo>
                  <a:pt x="82" y="4"/>
                </a:lnTo>
                <a:lnTo>
                  <a:pt x="98" y="5"/>
                </a:lnTo>
                <a:lnTo>
                  <a:pt x="114" y="7"/>
                </a:lnTo>
                <a:lnTo>
                  <a:pt x="131" y="9"/>
                </a:lnTo>
                <a:lnTo>
                  <a:pt x="147" y="11"/>
                </a:lnTo>
                <a:lnTo>
                  <a:pt x="164" y="13"/>
                </a:lnTo>
                <a:lnTo>
                  <a:pt x="180" y="15"/>
                </a:lnTo>
                <a:lnTo>
                  <a:pt x="196" y="17"/>
                </a:lnTo>
                <a:lnTo>
                  <a:pt x="213" y="19"/>
                </a:lnTo>
                <a:lnTo>
                  <a:pt x="229" y="22"/>
                </a:lnTo>
                <a:lnTo>
                  <a:pt x="246" y="24"/>
                </a:lnTo>
                <a:lnTo>
                  <a:pt x="262" y="26"/>
                </a:lnTo>
                <a:lnTo>
                  <a:pt x="278" y="28"/>
                </a:lnTo>
                <a:lnTo>
                  <a:pt x="295" y="29"/>
                </a:lnTo>
                <a:lnTo>
                  <a:pt x="311" y="31"/>
                </a:lnTo>
                <a:lnTo>
                  <a:pt x="327" y="32"/>
                </a:lnTo>
                <a:lnTo>
                  <a:pt x="344" y="33"/>
                </a:lnTo>
                <a:lnTo>
                  <a:pt x="360" y="34"/>
                </a:lnTo>
                <a:lnTo>
                  <a:pt x="377" y="34"/>
                </a:lnTo>
                <a:lnTo>
                  <a:pt x="393" y="35"/>
                </a:lnTo>
                <a:lnTo>
                  <a:pt x="393" y="51"/>
                </a:lnTo>
                <a:lnTo>
                  <a:pt x="377" y="51"/>
                </a:lnTo>
                <a:lnTo>
                  <a:pt x="360" y="50"/>
                </a:lnTo>
                <a:lnTo>
                  <a:pt x="344" y="50"/>
                </a:lnTo>
                <a:lnTo>
                  <a:pt x="327" y="49"/>
                </a:lnTo>
                <a:lnTo>
                  <a:pt x="311" y="47"/>
                </a:lnTo>
                <a:lnTo>
                  <a:pt x="295" y="46"/>
                </a:lnTo>
                <a:lnTo>
                  <a:pt x="278" y="44"/>
                </a:lnTo>
                <a:lnTo>
                  <a:pt x="262" y="42"/>
                </a:lnTo>
                <a:lnTo>
                  <a:pt x="246" y="40"/>
                </a:lnTo>
                <a:lnTo>
                  <a:pt x="229" y="38"/>
                </a:lnTo>
                <a:lnTo>
                  <a:pt x="213" y="36"/>
                </a:lnTo>
                <a:lnTo>
                  <a:pt x="196" y="34"/>
                </a:lnTo>
                <a:lnTo>
                  <a:pt x="180" y="32"/>
                </a:lnTo>
                <a:lnTo>
                  <a:pt x="164" y="29"/>
                </a:lnTo>
                <a:lnTo>
                  <a:pt x="147" y="27"/>
                </a:lnTo>
                <a:lnTo>
                  <a:pt x="131" y="25"/>
                </a:lnTo>
                <a:lnTo>
                  <a:pt x="114" y="24"/>
                </a:lnTo>
                <a:lnTo>
                  <a:pt x="98" y="22"/>
                </a:lnTo>
                <a:lnTo>
                  <a:pt x="82" y="20"/>
                </a:lnTo>
                <a:lnTo>
                  <a:pt x="65" y="19"/>
                </a:lnTo>
                <a:lnTo>
                  <a:pt x="49" y="18"/>
                </a:lnTo>
                <a:lnTo>
                  <a:pt x="33" y="17"/>
                </a:lnTo>
                <a:lnTo>
                  <a:pt x="16" y="17"/>
                </a:lnTo>
                <a:lnTo>
                  <a:pt x="0" y="16"/>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4638675"/>
            <a:ext cx="3743325" cy="781050"/>
          </a:xfrm>
          <a:custGeom>
            <a:avLst/>
            <a:gdLst/>
            <a:ahLst/>
            <a:cxnLst/>
            <a:rect l="l" t="t" r="r" b="b"/>
            <a:pathLst>
              <a:path w="393" h="82">
                <a:moveTo>
                  <a:pt x="0" y="0"/>
                </a:moveTo>
                <a:lnTo>
                  <a:pt x="16" y="1"/>
                </a:lnTo>
                <a:lnTo>
                  <a:pt x="33" y="2"/>
                </a:lnTo>
                <a:lnTo>
                  <a:pt x="49" y="3"/>
                </a:lnTo>
                <a:lnTo>
                  <a:pt x="65" y="6"/>
                </a:lnTo>
                <a:lnTo>
                  <a:pt x="82" y="8"/>
                </a:lnTo>
                <a:lnTo>
                  <a:pt x="98" y="11"/>
                </a:lnTo>
                <a:lnTo>
                  <a:pt x="114" y="15"/>
                </a:lnTo>
                <a:lnTo>
                  <a:pt x="131" y="18"/>
                </a:lnTo>
                <a:lnTo>
                  <a:pt x="147" y="22"/>
                </a:lnTo>
                <a:lnTo>
                  <a:pt x="164" y="27"/>
                </a:lnTo>
                <a:lnTo>
                  <a:pt x="180" y="31"/>
                </a:lnTo>
                <a:lnTo>
                  <a:pt x="196" y="35"/>
                </a:lnTo>
                <a:lnTo>
                  <a:pt x="213" y="40"/>
                </a:lnTo>
                <a:lnTo>
                  <a:pt x="229" y="44"/>
                </a:lnTo>
                <a:lnTo>
                  <a:pt x="246" y="48"/>
                </a:lnTo>
                <a:lnTo>
                  <a:pt x="262" y="52"/>
                </a:lnTo>
                <a:lnTo>
                  <a:pt x="278" y="56"/>
                </a:lnTo>
                <a:lnTo>
                  <a:pt x="295" y="59"/>
                </a:lnTo>
                <a:lnTo>
                  <a:pt x="311" y="62"/>
                </a:lnTo>
                <a:lnTo>
                  <a:pt x="327" y="65"/>
                </a:lnTo>
                <a:lnTo>
                  <a:pt x="344" y="67"/>
                </a:lnTo>
                <a:lnTo>
                  <a:pt x="360" y="69"/>
                </a:lnTo>
                <a:lnTo>
                  <a:pt x="377" y="70"/>
                </a:lnTo>
                <a:lnTo>
                  <a:pt x="393" y="70"/>
                </a:lnTo>
                <a:lnTo>
                  <a:pt x="393" y="82"/>
                </a:lnTo>
                <a:lnTo>
                  <a:pt x="377" y="81"/>
                </a:lnTo>
                <a:lnTo>
                  <a:pt x="360" y="80"/>
                </a:lnTo>
                <a:lnTo>
                  <a:pt x="344" y="79"/>
                </a:lnTo>
                <a:lnTo>
                  <a:pt x="327" y="77"/>
                </a:lnTo>
                <a:lnTo>
                  <a:pt x="311" y="74"/>
                </a:lnTo>
                <a:lnTo>
                  <a:pt x="295" y="71"/>
                </a:lnTo>
                <a:lnTo>
                  <a:pt x="278" y="67"/>
                </a:lnTo>
                <a:lnTo>
                  <a:pt x="262" y="64"/>
                </a:lnTo>
                <a:lnTo>
                  <a:pt x="246" y="60"/>
                </a:lnTo>
                <a:lnTo>
                  <a:pt x="229" y="56"/>
                </a:lnTo>
                <a:lnTo>
                  <a:pt x="213" y="51"/>
                </a:lnTo>
                <a:lnTo>
                  <a:pt x="196" y="47"/>
                </a:lnTo>
                <a:lnTo>
                  <a:pt x="180" y="43"/>
                </a:lnTo>
                <a:lnTo>
                  <a:pt x="164" y="38"/>
                </a:lnTo>
                <a:lnTo>
                  <a:pt x="147" y="34"/>
                </a:lnTo>
                <a:lnTo>
                  <a:pt x="131" y="30"/>
                </a:lnTo>
                <a:lnTo>
                  <a:pt x="114" y="27"/>
                </a:lnTo>
                <a:lnTo>
                  <a:pt x="98" y="23"/>
                </a:lnTo>
                <a:lnTo>
                  <a:pt x="82" y="20"/>
                </a:lnTo>
                <a:lnTo>
                  <a:pt x="65" y="17"/>
                </a:lnTo>
                <a:lnTo>
                  <a:pt x="49" y="15"/>
                </a:lnTo>
                <a:lnTo>
                  <a:pt x="33" y="14"/>
                </a:lnTo>
                <a:lnTo>
                  <a:pt x="16" y="13"/>
                </a:lnTo>
                <a:lnTo>
                  <a:pt x="0" y="12"/>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4752975"/>
            <a:ext cx="3743325" cy="1038225"/>
          </a:xfrm>
          <a:custGeom>
            <a:avLst/>
            <a:gdLst/>
            <a:ahLst/>
            <a:cxnLst/>
            <a:rect l="l" t="t" r="r" b="b"/>
            <a:pathLst>
              <a:path w="393" h="109">
                <a:moveTo>
                  <a:pt x="0" y="0"/>
                </a:moveTo>
                <a:lnTo>
                  <a:pt x="16" y="1"/>
                </a:lnTo>
                <a:lnTo>
                  <a:pt x="33" y="2"/>
                </a:lnTo>
                <a:lnTo>
                  <a:pt x="49" y="4"/>
                </a:lnTo>
                <a:lnTo>
                  <a:pt x="65" y="7"/>
                </a:lnTo>
                <a:lnTo>
                  <a:pt x="82" y="11"/>
                </a:lnTo>
                <a:lnTo>
                  <a:pt x="98" y="15"/>
                </a:lnTo>
                <a:lnTo>
                  <a:pt x="114" y="20"/>
                </a:lnTo>
                <a:lnTo>
                  <a:pt x="131" y="25"/>
                </a:lnTo>
                <a:lnTo>
                  <a:pt x="147" y="31"/>
                </a:lnTo>
                <a:lnTo>
                  <a:pt x="164" y="37"/>
                </a:lnTo>
                <a:lnTo>
                  <a:pt x="180" y="43"/>
                </a:lnTo>
                <a:lnTo>
                  <a:pt x="196" y="49"/>
                </a:lnTo>
                <a:lnTo>
                  <a:pt x="213" y="55"/>
                </a:lnTo>
                <a:lnTo>
                  <a:pt x="229" y="61"/>
                </a:lnTo>
                <a:lnTo>
                  <a:pt x="246" y="67"/>
                </a:lnTo>
                <a:lnTo>
                  <a:pt x="262" y="72"/>
                </a:lnTo>
                <a:lnTo>
                  <a:pt x="278" y="78"/>
                </a:lnTo>
                <a:lnTo>
                  <a:pt x="295" y="82"/>
                </a:lnTo>
                <a:lnTo>
                  <a:pt x="311" y="87"/>
                </a:lnTo>
                <a:lnTo>
                  <a:pt x="327" y="90"/>
                </a:lnTo>
                <a:lnTo>
                  <a:pt x="344" y="93"/>
                </a:lnTo>
                <a:lnTo>
                  <a:pt x="360" y="96"/>
                </a:lnTo>
                <a:lnTo>
                  <a:pt x="377" y="97"/>
                </a:lnTo>
                <a:lnTo>
                  <a:pt x="393" y="98"/>
                </a:lnTo>
                <a:lnTo>
                  <a:pt x="393" y="109"/>
                </a:lnTo>
                <a:lnTo>
                  <a:pt x="377" y="109"/>
                </a:lnTo>
                <a:lnTo>
                  <a:pt x="360" y="107"/>
                </a:lnTo>
                <a:lnTo>
                  <a:pt x="344" y="105"/>
                </a:lnTo>
                <a:lnTo>
                  <a:pt x="327" y="102"/>
                </a:lnTo>
                <a:lnTo>
                  <a:pt x="311" y="98"/>
                </a:lnTo>
                <a:lnTo>
                  <a:pt x="295" y="94"/>
                </a:lnTo>
                <a:lnTo>
                  <a:pt x="278" y="89"/>
                </a:lnTo>
                <a:lnTo>
                  <a:pt x="262" y="84"/>
                </a:lnTo>
                <a:lnTo>
                  <a:pt x="246" y="78"/>
                </a:lnTo>
                <a:lnTo>
                  <a:pt x="229" y="72"/>
                </a:lnTo>
                <a:lnTo>
                  <a:pt x="213" y="66"/>
                </a:lnTo>
                <a:lnTo>
                  <a:pt x="196" y="60"/>
                </a:lnTo>
                <a:lnTo>
                  <a:pt x="180" y="54"/>
                </a:lnTo>
                <a:lnTo>
                  <a:pt x="164" y="48"/>
                </a:lnTo>
                <a:lnTo>
                  <a:pt x="147" y="43"/>
                </a:lnTo>
                <a:lnTo>
                  <a:pt x="131" y="37"/>
                </a:lnTo>
                <a:lnTo>
                  <a:pt x="114" y="32"/>
                </a:lnTo>
                <a:lnTo>
                  <a:pt x="98" y="27"/>
                </a:lnTo>
                <a:lnTo>
                  <a:pt x="82" y="23"/>
                </a:lnTo>
                <a:lnTo>
                  <a:pt x="65" y="19"/>
                </a:lnTo>
                <a:lnTo>
                  <a:pt x="49" y="16"/>
                </a:lnTo>
                <a:lnTo>
                  <a:pt x="33" y="14"/>
                </a:lnTo>
                <a:lnTo>
                  <a:pt x="16" y="12"/>
                </a:lnTo>
                <a:lnTo>
                  <a:pt x="0" y="12"/>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4867275"/>
            <a:ext cx="3743325" cy="1247775"/>
          </a:xfrm>
          <a:custGeom>
            <a:avLst/>
            <a:gdLst/>
            <a:ahLst/>
            <a:cxnLst/>
            <a:rect l="l" t="t" r="r" b="b"/>
            <a:pathLst>
              <a:path w="393" h="131">
                <a:moveTo>
                  <a:pt x="0" y="0"/>
                </a:moveTo>
                <a:lnTo>
                  <a:pt x="16" y="0"/>
                </a:lnTo>
                <a:lnTo>
                  <a:pt x="33" y="2"/>
                </a:lnTo>
                <a:lnTo>
                  <a:pt x="49" y="5"/>
                </a:lnTo>
                <a:lnTo>
                  <a:pt x="65" y="9"/>
                </a:lnTo>
                <a:lnTo>
                  <a:pt x="82" y="13"/>
                </a:lnTo>
                <a:lnTo>
                  <a:pt x="98" y="19"/>
                </a:lnTo>
                <a:lnTo>
                  <a:pt x="114" y="25"/>
                </a:lnTo>
                <a:lnTo>
                  <a:pt x="131" y="31"/>
                </a:lnTo>
                <a:lnTo>
                  <a:pt x="147" y="38"/>
                </a:lnTo>
                <a:lnTo>
                  <a:pt x="164" y="46"/>
                </a:lnTo>
                <a:lnTo>
                  <a:pt x="180" y="53"/>
                </a:lnTo>
                <a:lnTo>
                  <a:pt x="196" y="61"/>
                </a:lnTo>
                <a:lnTo>
                  <a:pt x="213" y="68"/>
                </a:lnTo>
                <a:lnTo>
                  <a:pt x="229" y="76"/>
                </a:lnTo>
                <a:lnTo>
                  <a:pt x="246" y="83"/>
                </a:lnTo>
                <a:lnTo>
                  <a:pt x="262" y="90"/>
                </a:lnTo>
                <a:lnTo>
                  <a:pt x="278" y="96"/>
                </a:lnTo>
                <a:lnTo>
                  <a:pt x="295" y="103"/>
                </a:lnTo>
                <a:lnTo>
                  <a:pt x="311" y="108"/>
                </a:lnTo>
                <a:lnTo>
                  <a:pt x="327" y="113"/>
                </a:lnTo>
                <a:lnTo>
                  <a:pt x="344" y="116"/>
                </a:lnTo>
                <a:lnTo>
                  <a:pt x="360" y="119"/>
                </a:lnTo>
                <a:lnTo>
                  <a:pt x="377" y="121"/>
                </a:lnTo>
                <a:lnTo>
                  <a:pt x="393" y="122"/>
                </a:lnTo>
                <a:lnTo>
                  <a:pt x="393" y="131"/>
                </a:lnTo>
                <a:lnTo>
                  <a:pt x="377" y="130"/>
                </a:lnTo>
                <a:lnTo>
                  <a:pt x="360" y="128"/>
                </a:lnTo>
                <a:lnTo>
                  <a:pt x="344" y="126"/>
                </a:lnTo>
                <a:lnTo>
                  <a:pt x="327" y="122"/>
                </a:lnTo>
                <a:lnTo>
                  <a:pt x="311" y="117"/>
                </a:lnTo>
                <a:lnTo>
                  <a:pt x="295" y="112"/>
                </a:lnTo>
                <a:lnTo>
                  <a:pt x="278" y="106"/>
                </a:lnTo>
                <a:lnTo>
                  <a:pt x="262" y="99"/>
                </a:lnTo>
                <a:lnTo>
                  <a:pt x="246" y="92"/>
                </a:lnTo>
                <a:lnTo>
                  <a:pt x="229" y="85"/>
                </a:lnTo>
                <a:lnTo>
                  <a:pt x="213" y="77"/>
                </a:lnTo>
                <a:lnTo>
                  <a:pt x="196" y="70"/>
                </a:lnTo>
                <a:lnTo>
                  <a:pt x="180" y="62"/>
                </a:lnTo>
                <a:lnTo>
                  <a:pt x="164" y="55"/>
                </a:lnTo>
                <a:lnTo>
                  <a:pt x="147" y="48"/>
                </a:lnTo>
                <a:lnTo>
                  <a:pt x="131" y="41"/>
                </a:lnTo>
                <a:lnTo>
                  <a:pt x="114" y="34"/>
                </a:lnTo>
                <a:lnTo>
                  <a:pt x="98" y="28"/>
                </a:lnTo>
                <a:lnTo>
                  <a:pt x="82" y="23"/>
                </a:lnTo>
                <a:lnTo>
                  <a:pt x="65" y="18"/>
                </a:lnTo>
                <a:lnTo>
                  <a:pt x="49" y="14"/>
                </a:lnTo>
                <a:lnTo>
                  <a:pt x="33" y="11"/>
                </a:lnTo>
                <a:lnTo>
                  <a:pt x="16" y="10"/>
                </a:lnTo>
                <a:lnTo>
                  <a:pt x="0" y="9"/>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4953000"/>
            <a:ext cx="3743325" cy="1447800"/>
          </a:xfrm>
          <a:custGeom>
            <a:avLst/>
            <a:gdLst/>
            <a:ahLst/>
            <a:cxnLst/>
            <a:rect l="l" t="t" r="r" b="b"/>
            <a:pathLst>
              <a:path w="393" h="152">
                <a:moveTo>
                  <a:pt x="0" y="0"/>
                </a:moveTo>
                <a:lnTo>
                  <a:pt x="16" y="1"/>
                </a:lnTo>
                <a:lnTo>
                  <a:pt x="33" y="3"/>
                </a:lnTo>
                <a:lnTo>
                  <a:pt x="49" y="6"/>
                </a:lnTo>
                <a:lnTo>
                  <a:pt x="65" y="11"/>
                </a:lnTo>
                <a:lnTo>
                  <a:pt x="82" y="16"/>
                </a:lnTo>
                <a:lnTo>
                  <a:pt x="98" y="22"/>
                </a:lnTo>
                <a:lnTo>
                  <a:pt x="114" y="29"/>
                </a:lnTo>
                <a:lnTo>
                  <a:pt x="131" y="37"/>
                </a:lnTo>
                <a:lnTo>
                  <a:pt x="147" y="45"/>
                </a:lnTo>
                <a:lnTo>
                  <a:pt x="164" y="54"/>
                </a:lnTo>
                <a:lnTo>
                  <a:pt x="180" y="62"/>
                </a:lnTo>
                <a:lnTo>
                  <a:pt x="196" y="71"/>
                </a:lnTo>
                <a:lnTo>
                  <a:pt x="213" y="80"/>
                </a:lnTo>
                <a:lnTo>
                  <a:pt x="229" y="89"/>
                </a:lnTo>
                <a:lnTo>
                  <a:pt x="246" y="97"/>
                </a:lnTo>
                <a:lnTo>
                  <a:pt x="262" y="106"/>
                </a:lnTo>
                <a:lnTo>
                  <a:pt x="278" y="113"/>
                </a:lnTo>
                <a:lnTo>
                  <a:pt x="295" y="120"/>
                </a:lnTo>
                <a:lnTo>
                  <a:pt x="311" y="127"/>
                </a:lnTo>
                <a:lnTo>
                  <a:pt x="327" y="132"/>
                </a:lnTo>
                <a:lnTo>
                  <a:pt x="344" y="137"/>
                </a:lnTo>
                <a:lnTo>
                  <a:pt x="360" y="140"/>
                </a:lnTo>
                <a:lnTo>
                  <a:pt x="377" y="142"/>
                </a:lnTo>
                <a:lnTo>
                  <a:pt x="393" y="143"/>
                </a:lnTo>
                <a:lnTo>
                  <a:pt x="393" y="152"/>
                </a:lnTo>
                <a:lnTo>
                  <a:pt x="377" y="151"/>
                </a:lnTo>
                <a:lnTo>
                  <a:pt x="360" y="149"/>
                </a:lnTo>
                <a:lnTo>
                  <a:pt x="344" y="146"/>
                </a:lnTo>
                <a:lnTo>
                  <a:pt x="327" y="141"/>
                </a:lnTo>
                <a:lnTo>
                  <a:pt x="311" y="136"/>
                </a:lnTo>
                <a:lnTo>
                  <a:pt x="295" y="130"/>
                </a:lnTo>
                <a:lnTo>
                  <a:pt x="278" y="123"/>
                </a:lnTo>
                <a:lnTo>
                  <a:pt x="262" y="115"/>
                </a:lnTo>
                <a:lnTo>
                  <a:pt x="246" y="107"/>
                </a:lnTo>
                <a:lnTo>
                  <a:pt x="229" y="98"/>
                </a:lnTo>
                <a:lnTo>
                  <a:pt x="213" y="90"/>
                </a:lnTo>
                <a:lnTo>
                  <a:pt x="196" y="81"/>
                </a:lnTo>
                <a:lnTo>
                  <a:pt x="180" y="72"/>
                </a:lnTo>
                <a:lnTo>
                  <a:pt x="164" y="63"/>
                </a:lnTo>
                <a:lnTo>
                  <a:pt x="147" y="55"/>
                </a:lnTo>
                <a:lnTo>
                  <a:pt x="131" y="46"/>
                </a:lnTo>
                <a:lnTo>
                  <a:pt x="114" y="39"/>
                </a:lnTo>
                <a:lnTo>
                  <a:pt x="98" y="32"/>
                </a:lnTo>
                <a:lnTo>
                  <a:pt x="82" y="25"/>
                </a:lnTo>
                <a:lnTo>
                  <a:pt x="65" y="20"/>
                </a:lnTo>
                <a:lnTo>
                  <a:pt x="49" y="16"/>
                </a:lnTo>
                <a:lnTo>
                  <a:pt x="33" y="12"/>
                </a:lnTo>
                <a:lnTo>
                  <a:pt x="16" y="10"/>
                </a:lnTo>
                <a:lnTo>
                  <a:pt x="0" y="9"/>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4486275"/>
            <a:ext cx="3743325" cy="704850"/>
          </a:xfrm>
          <a:custGeom>
            <a:avLst/>
            <a:gdLst/>
            <a:ahLst/>
            <a:cxnLst/>
            <a:rect l="l" t="t" r="r" b="b"/>
            <a:pathLst>
              <a:path w="393" h="74">
                <a:moveTo>
                  <a:pt x="0" y="64"/>
                </a:moveTo>
                <a:lnTo>
                  <a:pt x="16" y="64"/>
                </a:lnTo>
                <a:lnTo>
                  <a:pt x="33" y="63"/>
                </a:lnTo>
                <a:lnTo>
                  <a:pt x="49" y="62"/>
                </a:lnTo>
                <a:lnTo>
                  <a:pt x="65" y="60"/>
                </a:lnTo>
                <a:lnTo>
                  <a:pt x="82" y="57"/>
                </a:lnTo>
                <a:lnTo>
                  <a:pt x="98" y="54"/>
                </a:lnTo>
                <a:lnTo>
                  <a:pt x="114" y="51"/>
                </a:lnTo>
                <a:lnTo>
                  <a:pt x="131" y="48"/>
                </a:lnTo>
                <a:lnTo>
                  <a:pt x="147" y="44"/>
                </a:lnTo>
                <a:lnTo>
                  <a:pt x="164" y="40"/>
                </a:lnTo>
                <a:lnTo>
                  <a:pt x="180" y="36"/>
                </a:lnTo>
                <a:lnTo>
                  <a:pt x="196" y="32"/>
                </a:lnTo>
                <a:lnTo>
                  <a:pt x="213" y="28"/>
                </a:lnTo>
                <a:lnTo>
                  <a:pt x="229" y="24"/>
                </a:lnTo>
                <a:lnTo>
                  <a:pt x="246" y="20"/>
                </a:lnTo>
                <a:lnTo>
                  <a:pt x="262" y="17"/>
                </a:lnTo>
                <a:lnTo>
                  <a:pt x="278" y="13"/>
                </a:lnTo>
                <a:lnTo>
                  <a:pt x="295" y="10"/>
                </a:lnTo>
                <a:lnTo>
                  <a:pt x="311" y="7"/>
                </a:lnTo>
                <a:lnTo>
                  <a:pt x="327" y="5"/>
                </a:lnTo>
                <a:lnTo>
                  <a:pt x="344" y="3"/>
                </a:lnTo>
                <a:lnTo>
                  <a:pt x="360" y="1"/>
                </a:lnTo>
                <a:lnTo>
                  <a:pt x="377" y="0"/>
                </a:lnTo>
                <a:lnTo>
                  <a:pt x="393" y="0"/>
                </a:lnTo>
                <a:lnTo>
                  <a:pt x="393" y="10"/>
                </a:lnTo>
                <a:lnTo>
                  <a:pt x="377" y="10"/>
                </a:lnTo>
                <a:lnTo>
                  <a:pt x="360" y="11"/>
                </a:lnTo>
                <a:lnTo>
                  <a:pt x="344" y="13"/>
                </a:lnTo>
                <a:lnTo>
                  <a:pt x="327" y="15"/>
                </a:lnTo>
                <a:lnTo>
                  <a:pt x="311" y="17"/>
                </a:lnTo>
                <a:lnTo>
                  <a:pt x="295" y="20"/>
                </a:lnTo>
                <a:lnTo>
                  <a:pt x="278" y="23"/>
                </a:lnTo>
                <a:lnTo>
                  <a:pt x="262" y="27"/>
                </a:lnTo>
                <a:lnTo>
                  <a:pt x="246" y="30"/>
                </a:lnTo>
                <a:lnTo>
                  <a:pt x="229" y="34"/>
                </a:lnTo>
                <a:lnTo>
                  <a:pt x="213" y="38"/>
                </a:lnTo>
                <a:lnTo>
                  <a:pt x="196" y="42"/>
                </a:lnTo>
                <a:lnTo>
                  <a:pt x="180" y="46"/>
                </a:lnTo>
                <a:lnTo>
                  <a:pt x="164" y="50"/>
                </a:lnTo>
                <a:lnTo>
                  <a:pt x="147" y="54"/>
                </a:lnTo>
                <a:lnTo>
                  <a:pt x="131" y="58"/>
                </a:lnTo>
                <a:lnTo>
                  <a:pt x="114" y="61"/>
                </a:lnTo>
                <a:lnTo>
                  <a:pt x="98" y="64"/>
                </a:lnTo>
                <a:lnTo>
                  <a:pt x="82" y="67"/>
                </a:lnTo>
                <a:lnTo>
                  <a:pt x="65" y="70"/>
                </a:lnTo>
                <a:lnTo>
                  <a:pt x="49" y="72"/>
                </a:lnTo>
                <a:lnTo>
                  <a:pt x="33" y="73"/>
                </a:lnTo>
                <a:lnTo>
                  <a:pt x="16" y="74"/>
                </a:lnTo>
                <a:lnTo>
                  <a:pt x="0" y="74"/>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4972050"/>
            <a:ext cx="3743325" cy="314325"/>
          </a:xfrm>
          <a:custGeom>
            <a:avLst/>
            <a:gdLst/>
            <a:ahLst/>
            <a:cxnLst/>
            <a:rect l="l" t="t" r="r" b="b"/>
            <a:pathLst>
              <a:path w="393" h="33">
                <a:moveTo>
                  <a:pt x="0" y="23"/>
                </a:moveTo>
                <a:lnTo>
                  <a:pt x="16" y="23"/>
                </a:lnTo>
                <a:lnTo>
                  <a:pt x="33" y="23"/>
                </a:lnTo>
                <a:lnTo>
                  <a:pt x="49" y="22"/>
                </a:lnTo>
                <a:lnTo>
                  <a:pt x="65" y="22"/>
                </a:lnTo>
                <a:lnTo>
                  <a:pt x="82" y="21"/>
                </a:lnTo>
                <a:lnTo>
                  <a:pt x="98" y="20"/>
                </a:lnTo>
                <a:lnTo>
                  <a:pt x="114" y="19"/>
                </a:lnTo>
                <a:lnTo>
                  <a:pt x="131" y="17"/>
                </a:lnTo>
                <a:lnTo>
                  <a:pt x="147" y="16"/>
                </a:lnTo>
                <a:lnTo>
                  <a:pt x="164" y="15"/>
                </a:lnTo>
                <a:lnTo>
                  <a:pt x="180" y="13"/>
                </a:lnTo>
                <a:lnTo>
                  <a:pt x="196" y="12"/>
                </a:lnTo>
                <a:lnTo>
                  <a:pt x="213" y="10"/>
                </a:lnTo>
                <a:lnTo>
                  <a:pt x="229" y="9"/>
                </a:lnTo>
                <a:lnTo>
                  <a:pt x="246" y="7"/>
                </a:lnTo>
                <a:lnTo>
                  <a:pt x="262" y="6"/>
                </a:lnTo>
                <a:lnTo>
                  <a:pt x="278" y="5"/>
                </a:lnTo>
                <a:lnTo>
                  <a:pt x="295" y="4"/>
                </a:lnTo>
                <a:lnTo>
                  <a:pt x="311" y="3"/>
                </a:lnTo>
                <a:lnTo>
                  <a:pt x="327" y="2"/>
                </a:lnTo>
                <a:lnTo>
                  <a:pt x="344" y="1"/>
                </a:lnTo>
                <a:lnTo>
                  <a:pt x="360" y="1"/>
                </a:lnTo>
                <a:lnTo>
                  <a:pt x="377" y="0"/>
                </a:lnTo>
                <a:lnTo>
                  <a:pt x="393" y="0"/>
                </a:lnTo>
                <a:lnTo>
                  <a:pt x="393" y="9"/>
                </a:lnTo>
                <a:lnTo>
                  <a:pt x="377" y="9"/>
                </a:lnTo>
                <a:lnTo>
                  <a:pt x="360" y="10"/>
                </a:lnTo>
                <a:lnTo>
                  <a:pt x="344" y="10"/>
                </a:lnTo>
                <a:lnTo>
                  <a:pt x="327" y="11"/>
                </a:lnTo>
                <a:lnTo>
                  <a:pt x="311" y="12"/>
                </a:lnTo>
                <a:lnTo>
                  <a:pt x="295" y="13"/>
                </a:lnTo>
                <a:lnTo>
                  <a:pt x="278" y="14"/>
                </a:lnTo>
                <a:lnTo>
                  <a:pt x="262" y="15"/>
                </a:lnTo>
                <a:lnTo>
                  <a:pt x="246" y="17"/>
                </a:lnTo>
                <a:lnTo>
                  <a:pt x="229" y="18"/>
                </a:lnTo>
                <a:lnTo>
                  <a:pt x="213" y="19"/>
                </a:lnTo>
                <a:lnTo>
                  <a:pt x="196" y="21"/>
                </a:lnTo>
                <a:lnTo>
                  <a:pt x="180" y="22"/>
                </a:lnTo>
                <a:lnTo>
                  <a:pt x="164" y="24"/>
                </a:lnTo>
                <a:lnTo>
                  <a:pt x="147" y="25"/>
                </a:lnTo>
                <a:lnTo>
                  <a:pt x="131" y="27"/>
                </a:lnTo>
                <a:lnTo>
                  <a:pt x="114" y="28"/>
                </a:lnTo>
                <a:lnTo>
                  <a:pt x="98" y="29"/>
                </a:lnTo>
                <a:lnTo>
                  <a:pt x="82" y="30"/>
                </a:lnTo>
                <a:lnTo>
                  <a:pt x="65" y="31"/>
                </a:lnTo>
                <a:lnTo>
                  <a:pt x="49" y="32"/>
                </a:lnTo>
                <a:lnTo>
                  <a:pt x="33" y="32"/>
                </a:lnTo>
                <a:lnTo>
                  <a:pt x="16" y="32"/>
                </a:lnTo>
                <a:lnTo>
                  <a:pt x="0" y="33"/>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5286375"/>
            <a:ext cx="3743325" cy="200025"/>
          </a:xfrm>
          <a:custGeom>
            <a:avLst/>
            <a:gdLst/>
            <a:ahLst/>
            <a:cxnLst/>
            <a:rect l="l" t="t" r="r" b="b"/>
            <a:pathLst>
              <a:path w="393" h="21">
                <a:moveTo>
                  <a:pt x="0" y="0"/>
                </a:moveTo>
                <a:lnTo>
                  <a:pt x="16" y="0"/>
                </a:lnTo>
                <a:lnTo>
                  <a:pt x="33" y="0"/>
                </a:lnTo>
                <a:lnTo>
                  <a:pt x="49" y="0"/>
                </a:lnTo>
                <a:lnTo>
                  <a:pt x="65" y="1"/>
                </a:lnTo>
                <a:lnTo>
                  <a:pt x="82" y="1"/>
                </a:lnTo>
                <a:lnTo>
                  <a:pt x="98" y="2"/>
                </a:lnTo>
                <a:lnTo>
                  <a:pt x="114" y="2"/>
                </a:lnTo>
                <a:lnTo>
                  <a:pt x="131" y="3"/>
                </a:lnTo>
                <a:lnTo>
                  <a:pt x="147" y="4"/>
                </a:lnTo>
                <a:lnTo>
                  <a:pt x="164" y="5"/>
                </a:lnTo>
                <a:lnTo>
                  <a:pt x="180" y="6"/>
                </a:lnTo>
                <a:lnTo>
                  <a:pt x="196" y="7"/>
                </a:lnTo>
                <a:lnTo>
                  <a:pt x="213" y="8"/>
                </a:lnTo>
                <a:lnTo>
                  <a:pt x="229" y="8"/>
                </a:lnTo>
                <a:lnTo>
                  <a:pt x="246" y="9"/>
                </a:lnTo>
                <a:lnTo>
                  <a:pt x="262" y="10"/>
                </a:lnTo>
                <a:lnTo>
                  <a:pt x="278" y="11"/>
                </a:lnTo>
                <a:lnTo>
                  <a:pt x="295" y="12"/>
                </a:lnTo>
                <a:lnTo>
                  <a:pt x="311" y="12"/>
                </a:lnTo>
                <a:lnTo>
                  <a:pt x="327" y="13"/>
                </a:lnTo>
                <a:lnTo>
                  <a:pt x="344" y="13"/>
                </a:lnTo>
                <a:lnTo>
                  <a:pt x="360" y="13"/>
                </a:lnTo>
                <a:lnTo>
                  <a:pt x="377" y="14"/>
                </a:lnTo>
                <a:lnTo>
                  <a:pt x="393" y="14"/>
                </a:lnTo>
                <a:lnTo>
                  <a:pt x="393" y="21"/>
                </a:lnTo>
                <a:lnTo>
                  <a:pt x="377" y="21"/>
                </a:lnTo>
                <a:lnTo>
                  <a:pt x="360" y="21"/>
                </a:lnTo>
                <a:lnTo>
                  <a:pt x="344" y="21"/>
                </a:lnTo>
                <a:lnTo>
                  <a:pt x="327" y="20"/>
                </a:lnTo>
                <a:lnTo>
                  <a:pt x="311" y="20"/>
                </a:lnTo>
                <a:lnTo>
                  <a:pt x="295" y="19"/>
                </a:lnTo>
                <a:lnTo>
                  <a:pt x="278" y="18"/>
                </a:lnTo>
                <a:lnTo>
                  <a:pt x="262" y="18"/>
                </a:lnTo>
                <a:lnTo>
                  <a:pt x="246" y="17"/>
                </a:lnTo>
                <a:lnTo>
                  <a:pt x="229" y="16"/>
                </a:lnTo>
                <a:lnTo>
                  <a:pt x="213" y="15"/>
                </a:lnTo>
                <a:lnTo>
                  <a:pt x="196" y="14"/>
                </a:lnTo>
                <a:lnTo>
                  <a:pt x="180" y="13"/>
                </a:lnTo>
                <a:lnTo>
                  <a:pt x="164" y="13"/>
                </a:lnTo>
                <a:lnTo>
                  <a:pt x="147" y="12"/>
                </a:lnTo>
                <a:lnTo>
                  <a:pt x="131" y="11"/>
                </a:lnTo>
                <a:lnTo>
                  <a:pt x="114" y="10"/>
                </a:lnTo>
                <a:lnTo>
                  <a:pt x="98" y="9"/>
                </a:lnTo>
                <a:lnTo>
                  <a:pt x="82" y="9"/>
                </a:lnTo>
                <a:lnTo>
                  <a:pt x="65" y="8"/>
                </a:lnTo>
                <a:lnTo>
                  <a:pt x="49" y="8"/>
                </a:lnTo>
                <a:lnTo>
                  <a:pt x="33" y="7"/>
                </a:lnTo>
                <a:lnTo>
                  <a:pt x="16" y="7"/>
                </a:lnTo>
                <a:lnTo>
                  <a:pt x="0" y="7"/>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5353050"/>
            <a:ext cx="3743325" cy="504825"/>
          </a:xfrm>
          <a:custGeom>
            <a:avLst/>
            <a:gdLst/>
            <a:ahLst/>
            <a:cxnLst/>
            <a:rect l="l" t="t" r="r" b="b"/>
            <a:pathLst>
              <a:path w="393" h="53">
                <a:moveTo>
                  <a:pt x="0" y="0"/>
                </a:moveTo>
                <a:lnTo>
                  <a:pt x="16" y="0"/>
                </a:lnTo>
                <a:lnTo>
                  <a:pt x="33" y="1"/>
                </a:lnTo>
                <a:lnTo>
                  <a:pt x="49" y="2"/>
                </a:lnTo>
                <a:lnTo>
                  <a:pt x="65" y="4"/>
                </a:lnTo>
                <a:lnTo>
                  <a:pt x="82" y="5"/>
                </a:lnTo>
                <a:lnTo>
                  <a:pt x="98" y="7"/>
                </a:lnTo>
                <a:lnTo>
                  <a:pt x="114" y="10"/>
                </a:lnTo>
                <a:lnTo>
                  <a:pt x="131" y="12"/>
                </a:lnTo>
                <a:lnTo>
                  <a:pt x="147" y="15"/>
                </a:lnTo>
                <a:lnTo>
                  <a:pt x="164" y="17"/>
                </a:lnTo>
                <a:lnTo>
                  <a:pt x="180" y="20"/>
                </a:lnTo>
                <a:lnTo>
                  <a:pt x="196" y="23"/>
                </a:lnTo>
                <a:lnTo>
                  <a:pt x="213" y="26"/>
                </a:lnTo>
                <a:lnTo>
                  <a:pt x="229" y="29"/>
                </a:lnTo>
                <a:lnTo>
                  <a:pt x="246" y="32"/>
                </a:lnTo>
                <a:lnTo>
                  <a:pt x="262" y="34"/>
                </a:lnTo>
                <a:lnTo>
                  <a:pt x="278" y="37"/>
                </a:lnTo>
                <a:lnTo>
                  <a:pt x="295" y="39"/>
                </a:lnTo>
                <a:lnTo>
                  <a:pt x="311" y="41"/>
                </a:lnTo>
                <a:lnTo>
                  <a:pt x="327" y="43"/>
                </a:lnTo>
                <a:lnTo>
                  <a:pt x="344" y="44"/>
                </a:lnTo>
                <a:lnTo>
                  <a:pt x="360" y="45"/>
                </a:lnTo>
                <a:lnTo>
                  <a:pt x="377" y="46"/>
                </a:lnTo>
                <a:lnTo>
                  <a:pt x="393" y="46"/>
                </a:lnTo>
                <a:lnTo>
                  <a:pt x="393" y="53"/>
                </a:lnTo>
                <a:lnTo>
                  <a:pt x="377" y="53"/>
                </a:lnTo>
                <a:lnTo>
                  <a:pt x="360" y="52"/>
                </a:lnTo>
                <a:lnTo>
                  <a:pt x="344" y="51"/>
                </a:lnTo>
                <a:lnTo>
                  <a:pt x="327" y="49"/>
                </a:lnTo>
                <a:lnTo>
                  <a:pt x="311" y="48"/>
                </a:lnTo>
                <a:lnTo>
                  <a:pt x="295" y="46"/>
                </a:lnTo>
                <a:lnTo>
                  <a:pt x="278" y="43"/>
                </a:lnTo>
                <a:lnTo>
                  <a:pt x="262" y="41"/>
                </a:lnTo>
                <a:lnTo>
                  <a:pt x="246" y="38"/>
                </a:lnTo>
                <a:lnTo>
                  <a:pt x="229" y="36"/>
                </a:lnTo>
                <a:lnTo>
                  <a:pt x="213" y="33"/>
                </a:lnTo>
                <a:lnTo>
                  <a:pt x="196" y="30"/>
                </a:lnTo>
                <a:lnTo>
                  <a:pt x="180" y="27"/>
                </a:lnTo>
                <a:lnTo>
                  <a:pt x="164" y="24"/>
                </a:lnTo>
                <a:lnTo>
                  <a:pt x="147" y="21"/>
                </a:lnTo>
                <a:lnTo>
                  <a:pt x="131" y="19"/>
                </a:lnTo>
                <a:lnTo>
                  <a:pt x="114" y="16"/>
                </a:lnTo>
                <a:lnTo>
                  <a:pt x="98" y="14"/>
                </a:lnTo>
                <a:lnTo>
                  <a:pt x="82" y="12"/>
                </a:lnTo>
                <a:lnTo>
                  <a:pt x="65" y="10"/>
                </a:lnTo>
                <a:lnTo>
                  <a:pt x="49" y="9"/>
                </a:lnTo>
                <a:lnTo>
                  <a:pt x="33" y="8"/>
                </a:lnTo>
                <a:lnTo>
                  <a:pt x="16" y="7"/>
                </a:lnTo>
                <a:lnTo>
                  <a:pt x="0" y="7"/>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5419725"/>
            <a:ext cx="3743325" cy="742950"/>
          </a:xfrm>
          <a:custGeom>
            <a:avLst/>
            <a:gdLst/>
            <a:ahLst/>
            <a:cxnLst/>
            <a:rect l="l" t="t" r="r" b="b"/>
            <a:pathLst>
              <a:path w="393" h="78">
                <a:moveTo>
                  <a:pt x="0" y="0"/>
                </a:moveTo>
                <a:lnTo>
                  <a:pt x="16" y="0"/>
                </a:lnTo>
                <a:lnTo>
                  <a:pt x="33" y="1"/>
                </a:lnTo>
                <a:lnTo>
                  <a:pt x="49" y="3"/>
                </a:lnTo>
                <a:lnTo>
                  <a:pt x="65" y="5"/>
                </a:lnTo>
                <a:lnTo>
                  <a:pt x="82" y="8"/>
                </a:lnTo>
                <a:lnTo>
                  <a:pt x="98" y="11"/>
                </a:lnTo>
                <a:lnTo>
                  <a:pt x="114" y="15"/>
                </a:lnTo>
                <a:lnTo>
                  <a:pt x="131" y="19"/>
                </a:lnTo>
                <a:lnTo>
                  <a:pt x="147" y="23"/>
                </a:lnTo>
                <a:lnTo>
                  <a:pt x="164" y="27"/>
                </a:lnTo>
                <a:lnTo>
                  <a:pt x="180" y="32"/>
                </a:lnTo>
                <a:lnTo>
                  <a:pt x="196" y="36"/>
                </a:lnTo>
                <a:lnTo>
                  <a:pt x="213" y="41"/>
                </a:lnTo>
                <a:lnTo>
                  <a:pt x="229" y="45"/>
                </a:lnTo>
                <a:lnTo>
                  <a:pt x="246" y="50"/>
                </a:lnTo>
                <a:lnTo>
                  <a:pt x="262" y="54"/>
                </a:lnTo>
                <a:lnTo>
                  <a:pt x="278" y="58"/>
                </a:lnTo>
                <a:lnTo>
                  <a:pt x="295" y="61"/>
                </a:lnTo>
                <a:lnTo>
                  <a:pt x="311" y="65"/>
                </a:lnTo>
                <a:lnTo>
                  <a:pt x="327" y="67"/>
                </a:lnTo>
                <a:lnTo>
                  <a:pt x="344" y="70"/>
                </a:lnTo>
                <a:lnTo>
                  <a:pt x="360" y="71"/>
                </a:lnTo>
                <a:lnTo>
                  <a:pt x="377" y="72"/>
                </a:lnTo>
                <a:lnTo>
                  <a:pt x="393" y="73"/>
                </a:lnTo>
                <a:lnTo>
                  <a:pt x="393" y="78"/>
                </a:lnTo>
                <a:lnTo>
                  <a:pt x="377" y="77"/>
                </a:lnTo>
                <a:lnTo>
                  <a:pt x="360" y="76"/>
                </a:lnTo>
                <a:lnTo>
                  <a:pt x="344" y="74"/>
                </a:lnTo>
                <a:lnTo>
                  <a:pt x="327" y="72"/>
                </a:lnTo>
                <a:lnTo>
                  <a:pt x="311" y="69"/>
                </a:lnTo>
                <a:lnTo>
                  <a:pt x="295" y="66"/>
                </a:lnTo>
                <a:lnTo>
                  <a:pt x="278" y="63"/>
                </a:lnTo>
                <a:lnTo>
                  <a:pt x="262" y="59"/>
                </a:lnTo>
                <a:lnTo>
                  <a:pt x="246" y="55"/>
                </a:lnTo>
                <a:lnTo>
                  <a:pt x="229" y="50"/>
                </a:lnTo>
                <a:lnTo>
                  <a:pt x="213" y="46"/>
                </a:lnTo>
                <a:lnTo>
                  <a:pt x="196" y="41"/>
                </a:lnTo>
                <a:lnTo>
                  <a:pt x="180" y="37"/>
                </a:lnTo>
                <a:lnTo>
                  <a:pt x="164" y="32"/>
                </a:lnTo>
                <a:lnTo>
                  <a:pt x="147" y="28"/>
                </a:lnTo>
                <a:lnTo>
                  <a:pt x="131" y="24"/>
                </a:lnTo>
                <a:lnTo>
                  <a:pt x="114" y="20"/>
                </a:lnTo>
                <a:lnTo>
                  <a:pt x="98" y="16"/>
                </a:lnTo>
                <a:lnTo>
                  <a:pt x="82" y="13"/>
                </a:lnTo>
                <a:lnTo>
                  <a:pt x="65" y="10"/>
                </a:lnTo>
                <a:lnTo>
                  <a:pt x="49" y="8"/>
                </a:lnTo>
                <a:lnTo>
                  <a:pt x="33" y="6"/>
                </a:lnTo>
                <a:lnTo>
                  <a:pt x="16" y="5"/>
                </a:lnTo>
                <a:lnTo>
                  <a:pt x="0" y="5"/>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5467350"/>
            <a:ext cx="3743325" cy="981075"/>
          </a:xfrm>
          <a:custGeom>
            <a:avLst/>
            <a:gdLst/>
            <a:ahLst/>
            <a:cxnLst/>
            <a:rect l="l" t="t" r="r" b="b"/>
            <a:pathLst>
              <a:path w="393" h="103">
                <a:moveTo>
                  <a:pt x="0" y="0"/>
                </a:moveTo>
                <a:lnTo>
                  <a:pt x="16" y="0"/>
                </a:lnTo>
                <a:lnTo>
                  <a:pt x="33" y="2"/>
                </a:lnTo>
                <a:lnTo>
                  <a:pt x="49" y="4"/>
                </a:lnTo>
                <a:lnTo>
                  <a:pt x="65" y="7"/>
                </a:lnTo>
                <a:lnTo>
                  <a:pt x="82" y="11"/>
                </a:lnTo>
                <a:lnTo>
                  <a:pt x="98" y="15"/>
                </a:lnTo>
                <a:lnTo>
                  <a:pt x="114" y="20"/>
                </a:lnTo>
                <a:lnTo>
                  <a:pt x="131" y="25"/>
                </a:lnTo>
                <a:lnTo>
                  <a:pt x="147" y="31"/>
                </a:lnTo>
                <a:lnTo>
                  <a:pt x="164" y="37"/>
                </a:lnTo>
                <a:lnTo>
                  <a:pt x="180" y="43"/>
                </a:lnTo>
                <a:lnTo>
                  <a:pt x="196" y="49"/>
                </a:lnTo>
                <a:lnTo>
                  <a:pt x="213" y="55"/>
                </a:lnTo>
                <a:lnTo>
                  <a:pt x="229" y="61"/>
                </a:lnTo>
                <a:lnTo>
                  <a:pt x="246" y="67"/>
                </a:lnTo>
                <a:lnTo>
                  <a:pt x="262" y="73"/>
                </a:lnTo>
                <a:lnTo>
                  <a:pt x="278" y="78"/>
                </a:lnTo>
                <a:lnTo>
                  <a:pt x="295" y="83"/>
                </a:lnTo>
                <a:lnTo>
                  <a:pt x="311" y="87"/>
                </a:lnTo>
                <a:lnTo>
                  <a:pt x="327" y="91"/>
                </a:lnTo>
                <a:lnTo>
                  <a:pt x="344" y="94"/>
                </a:lnTo>
                <a:lnTo>
                  <a:pt x="360" y="96"/>
                </a:lnTo>
                <a:lnTo>
                  <a:pt x="377" y="98"/>
                </a:lnTo>
                <a:lnTo>
                  <a:pt x="393" y="98"/>
                </a:lnTo>
                <a:lnTo>
                  <a:pt x="393" y="103"/>
                </a:lnTo>
                <a:lnTo>
                  <a:pt x="377" y="102"/>
                </a:lnTo>
                <a:lnTo>
                  <a:pt x="360" y="101"/>
                </a:lnTo>
                <a:lnTo>
                  <a:pt x="344" y="98"/>
                </a:lnTo>
                <a:lnTo>
                  <a:pt x="327" y="95"/>
                </a:lnTo>
                <a:lnTo>
                  <a:pt x="311" y="92"/>
                </a:lnTo>
                <a:lnTo>
                  <a:pt x="295" y="87"/>
                </a:lnTo>
                <a:lnTo>
                  <a:pt x="278" y="82"/>
                </a:lnTo>
                <a:lnTo>
                  <a:pt x="262" y="77"/>
                </a:lnTo>
                <a:lnTo>
                  <a:pt x="246" y="71"/>
                </a:lnTo>
                <a:lnTo>
                  <a:pt x="229" y="66"/>
                </a:lnTo>
                <a:lnTo>
                  <a:pt x="213" y="60"/>
                </a:lnTo>
                <a:lnTo>
                  <a:pt x="196" y="53"/>
                </a:lnTo>
                <a:lnTo>
                  <a:pt x="180" y="47"/>
                </a:lnTo>
                <a:lnTo>
                  <a:pt x="164" y="41"/>
                </a:lnTo>
                <a:lnTo>
                  <a:pt x="147" y="35"/>
                </a:lnTo>
                <a:lnTo>
                  <a:pt x="131" y="30"/>
                </a:lnTo>
                <a:lnTo>
                  <a:pt x="114" y="24"/>
                </a:lnTo>
                <a:lnTo>
                  <a:pt x="98" y="20"/>
                </a:lnTo>
                <a:lnTo>
                  <a:pt x="82" y="15"/>
                </a:lnTo>
                <a:lnTo>
                  <a:pt x="65" y="12"/>
                </a:lnTo>
                <a:lnTo>
                  <a:pt x="49" y="8"/>
                </a:lnTo>
                <a:lnTo>
                  <a:pt x="33" y="6"/>
                </a:lnTo>
                <a:lnTo>
                  <a:pt x="16" y="5"/>
                </a:lnTo>
                <a:lnTo>
                  <a:pt x="0" y="4"/>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4581525"/>
            <a:ext cx="3743325" cy="1066800"/>
          </a:xfrm>
          <a:custGeom>
            <a:avLst/>
            <a:gdLst/>
            <a:ahLst/>
            <a:cxnLst/>
            <a:rect l="l" t="t" r="r" b="b"/>
            <a:pathLst>
              <a:path w="393" h="112">
                <a:moveTo>
                  <a:pt x="0" y="103"/>
                </a:moveTo>
                <a:lnTo>
                  <a:pt x="16" y="103"/>
                </a:lnTo>
                <a:lnTo>
                  <a:pt x="33" y="101"/>
                </a:lnTo>
                <a:lnTo>
                  <a:pt x="49" y="99"/>
                </a:lnTo>
                <a:lnTo>
                  <a:pt x="65" y="96"/>
                </a:lnTo>
                <a:lnTo>
                  <a:pt x="82" y="92"/>
                </a:lnTo>
                <a:lnTo>
                  <a:pt x="98" y="87"/>
                </a:lnTo>
                <a:lnTo>
                  <a:pt x="114" y="82"/>
                </a:lnTo>
                <a:lnTo>
                  <a:pt x="131" y="76"/>
                </a:lnTo>
                <a:lnTo>
                  <a:pt x="147" y="71"/>
                </a:lnTo>
                <a:lnTo>
                  <a:pt x="164" y="64"/>
                </a:lnTo>
                <a:lnTo>
                  <a:pt x="180" y="58"/>
                </a:lnTo>
                <a:lnTo>
                  <a:pt x="196" y="52"/>
                </a:lnTo>
                <a:lnTo>
                  <a:pt x="213" y="45"/>
                </a:lnTo>
                <a:lnTo>
                  <a:pt x="229" y="39"/>
                </a:lnTo>
                <a:lnTo>
                  <a:pt x="246" y="33"/>
                </a:lnTo>
                <a:lnTo>
                  <a:pt x="262" y="27"/>
                </a:lnTo>
                <a:lnTo>
                  <a:pt x="278" y="21"/>
                </a:lnTo>
                <a:lnTo>
                  <a:pt x="295" y="16"/>
                </a:lnTo>
                <a:lnTo>
                  <a:pt x="311" y="12"/>
                </a:lnTo>
                <a:lnTo>
                  <a:pt x="327" y="8"/>
                </a:lnTo>
                <a:lnTo>
                  <a:pt x="344" y="4"/>
                </a:lnTo>
                <a:lnTo>
                  <a:pt x="360" y="2"/>
                </a:lnTo>
                <a:lnTo>
                  <a:pt x="377" y="1"/>
                </a:lnTo>
                <a:lnTo>
                  <a:pt x="393" y="0"/>
                </a:lnTo>
                <a:lnTo>
                  <a:pt x="393" y="8"/>
                </a:lnTo>
                <a:lnTo>
                  <a:pt x="377" y="9"/>
                </a:lnTo>
                <a:lnTo>
                  <a:pt x="360" y="10"/>
                </a:lnTo>
                <a:lnTo>
                  <a:pt x="344" y="13"/>
                </a:lnTo>
                <a:lnTo>
                  <a:pt x="327" y="16"/>
                </a:lnTo>
                <a:lnTo>
                  <a:pt x="311" y="20"/>
                </a:lnTo>
                <a:lnTo>
                  <a:pt x="295" y="25"/>
                </a:lnTo>
                <a:lnTo>
                  <a:pt x="278" y="30"/>
                </a:lnTo>
                <a:lnTo>
                  <a:pt x="262" y="35"/>
                </a:lnTo>
                <a:lnTo>
                  <a:pt x="246" y="41"/>
                </a:lnTo>
                <a:lnTo>
                  <a:pt x="229" y="47"/>
                </a:lnTo>
                <a:lnTo>
                  <a:pt x="213" y="54"/>
                </a:lnTo>
                <a:lnTo>
                  <a:pt x="196" y="60"/>
                </a:lnTo>
                <a:lnTo>
                  <a:pt x="180" y="66"/>
                </a:lnTo>
                <a:lnTo>
                  <a:pt x="164" y="73"/>
                </a:lnTo>
                <a:lnTo>
                  <a:pt x="147" y="79"/>
                </a:lnTo>
                <a:lnTo>
                  <a:pt x="131" y="85"/>
                </a:lnTo>
                <a:lnTo>
                  <a:pt x="114" y="90"/>
                </a:lnTo>
                <a:lnTo>
                  <a:pt x="98" y="96"/>
                </a:lnTo>
                <a:lnTo>
                  <a:pt x="82" y="100"/>
                </a:lnTo>
                <a:lnTo>
                  <a:pt x="65" y="104"/>
                </a:lnTo>
                <a:lnTo>
                  <a:pt x="49" y="107"/>
                </a:lnTo>
                <a:lnTo>
                  <a:pt x="33" y="110"/>
                </a:lnTo>
                <a:lnTo>
                  <a:pt x="16" y="111"/>
                </a:lnTo>
                <a:lnTo>
                  <a:pt x="0" y="112"/>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5057775"/>
            <a:ext cx="3743325" cy="676275"/>
          </a:xfrm>
          <a:custGeom>
            <a:avLst/>
            <a:gdLst/>
            <a:ahLst/>
            <a:cxnLst/>
            <a:rect l="l" t="t" r="r" b="b"/>
            <a:pathLst>
              <a:path w="393" h="71">
                <a:moveTo>
                  <a:pt x="0" y="62"/>
                </a:moveTo>
                <a:lnTo>
                  <a:pt x="16" y="61"/>
                </a:lnTo>
                <a:lnTo>
                  <a:pt x="33" y="60"/>
                </a:lnTo>
                <a:lnTo>
                  <a:pt x="49" y="59"/>
                </a:lnTo>
                <a:lnTo>
                  <a:pt x="65" y="57"/>
                </a:lnTo>
                <a:lnTo>
                  <a:pt x="82" y="55"/>
                </a:lnTo>
                <a:lnTo>
                  <a:pt x="98" y="52"/>
                </a:lnTo>
                <a:lnTo>
                  <a:pt x="114" y="49"/>
                </a:lnTo>
                <a:lnTo>
                  <a:pt x="131" y="46"/>
                </a:lnTo>
                <a:lnTo>
                  <a:pt x="147" y="42"/>
                </a:lnTo>
                <a:lnTo>
                  <a:pt x="164" y="39"/>
                </a:lnTo>
                <a:lnTo>
                  <a:pt x="180" y="35"/>
                </a:lnTo>
                <a:lnTo>
                  <a:pt x="196" y="31"/>
                </a:lnTo>
                <a:lnTo>
                  <a:pt x="213" y="27"/>
                </a:lnTo>
                <a:lnTo>
                  <a:pt x="229" y="23"/>
                </a:lnTo>
                <a:lnTo>
                  <a:pt x="246" y="20"/>
                </a:lnTo>
                <a:lnTo>
                  <a:pt x="262" y="16"/>
                </a:lnTo>
                <a:lnTo>
                  <a:pt x="278" y="13"/>
                </a:lnTo>
                <a:lnTo>
                  <a:pt x="295" y="10"/>
                </a:lnTo>
                <a:lnTo>
                  <a:pt x="311" y="7"/>
                </a:lnTo>
                <a:lnTo>
                  <a:pt x="327" y="5"/>
                </a:lnTo>
                <a:lnTo>
                  <a:pt x="344" y="3"/>
                </a:lnTo>
                <a:lnTo>
                  <a:pt x="360" y="1"/>
                </a:lnTo>
                <a:lnTo>
                  <a:pt x="377" y="1"/>
                </a:lnTo>
                <a:lnTo>
                  <a:pt x="393" y="0"/>
                </a:lnTo>
                <a:lnTo>
                  <a:pt x="393" y="10"/>
                </a:lnTo>
                <a:lnTo>
                  <a:pt x="377" y="10"/>
                </a:lnTo>
                <a:lnTo>
                  <a:pt x="360" y="11"/>
                </a:lnTo>
                <a:lnTo>
                  <a:pt x="344" y="12"/>
                </a:lnTo>
                <a:lnTo>
                  <a:pt x="327" y="14"/>
                </a:lnTo>
                <a:lnTo>
                  <a:pt x="311" y="16"/>
                </a:lnTo>
                <a:lnTo>
                  <a:pt x="295" y="19"/>
                </a:lnTo>
                <a:lnTo>
                  <a:pt x="278" y="22"/>
                </a:lnTo>
                <a:lnTo>
                  <a:pt x="262" y="25"/>
                </a:lnTo>
                <a:lnTo>
                  <a:pt x="246" y="29"/>
                </a:lnTo>
                <a:lnTo>
                  <a:pt x="229" y="33"/>
                </a:lnTo>
                <a:lnTo>
                  <a:pt x="213" y="36"/>
                </a:lnTo>
                <a:lnTo>
                  <a:pt x="196" y="40"/>
                </a:lnTo>
                <a:lnTo>
                  <a:pt x="180" y="44"/>
                </a:lnTo>
                <a:lnTo>
                  <a:pt x="164" y="48"/>
                </a:lnTo>
                <a:lnTo>
                  <a:pt x="147" y="52"/>
                </a:lnTo>
                <a:lnTo>
                  <a:pt x="131" y="55"/>
                </a:lnTo>
                <a:lnTo>
                  <a:pt x="114" y="58"/>
                </a:lnTo>
                <a:lnTo>
                  <a:pt x="98" y="61"/>
                </a:lnTo>
                <a:lnTo>
                  <a:pt x="82" y="64"/>
                </a:lnTo>
                <a:lnTo>
                  <a:pt x="65" y="66"/>
                </a:lnTo>
                <a:lnTo>
                  <a:pt x="49" y="68"/>
                </a:lnTo>
                <a:lnTo>
                  <a:pt x="33" y="70"/>
                </a:lnTo>
                <a:lnTo>
                  <a:pt x="16" y="71"/>
                </a:lnTo>
                <a:lnTo>
                  <a:pt x="0" y="71"/>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5486400"/>
            <a:ext cx="3743325" cy="304800"/>
          </a:xfrm>
          <a:custGeom>
            <a:avLst/>
            <a:gdLst/>
            <a:ahLst/>
            <a:cxnLst/>
            <a:rect l="l" t="t" r="r" b="b"/>
            <a:pathLst>
              <a:path w="393" h="32">
                <a:moveTo>
                  <a:pt x="0" y="26"/>
                </a:moveTo>
                <a:lnTo>
                  <a:pt x="16" y="26"/>
                </a:lnTo>
                <a:lnTo>
                  <a:pt x="33" y="25"/>
                </a:lnTo>
                <a:lnTo>
                  <a:pt x="49" y="25"/>
                </a:lnTo>
                <a:lnTo>
                  <a:pt x="65" y="24"/>
                </a:lnTo>
                <a:lnTo>
                  <a:pt x="82" y="23"/>
                </a:lnTo>
                <a:lnTo>
                  <a:pt x="98" y="22"/>
                </a:lnTo>
                <a:lnTo>
                  <a:pt x="114" y="21"/>
                </a:lnTo>
                <a:lnTo>
                  <a:pt x="131" y="19"/>
                </a:lnTo>
                <a:lnTo>
                  <a:pt x="147" y="18"/>
                </a:lnTo>
                <a:lnTo>
                  <a:pt x="164" y="16"/>
                </a:lnTo>
                <a:lnTo>
                  <a:pt x="180" y="15"/>
                </a:lnTo>
                <a:lnTo>
                  <a:pt x="196" y="13"/>
                </a:lnTo>
                <a:lnTo>
                  <a:pt x="213" y="12"/>
                </a:lnTo>
                <a:lnTo>
                  <a:pt x="229" y="10"/>
                </a:lnTo>
                <a:lnTo>
                  <a:pt x="246" y="8"/>
                </a:lnTo>
                <a:lnTo>
                  <a:pt x="262" y="7"/>
                </a:lnTo>
                <a:lnTo>
                  <a:pt x="278" y="6"/>
                </a:lnTo>
                <a:lnTo>
                  <a:pt x="295" y="4"/>
                </a:lnTo>
                <a:lnTo>
                  <a:pt x="311" y="3"/>
                </a:lnTo>
                <a:lnTo>
                  <a:pt x="327" y="2"/>
                </a:lnTo>
                <a:lnTo>
                  <a:pt x="344" y="1"/>
                </a:lnTo>
                <a:lnTo>
                  <a:pt x="360" y="1"/>
                </a:lnTo>
                <a:lnTo>
                  <a:pt x="377" y="1"/>
                </a:lnTo>
                <a:lnTo>
                  <a:pt x="393" y="0"/>
                </a:lnTo>
                <a:lnTo>
                  <a:pt x="393" y="7"/>
                </a:lnTo>
                <a:lnTo>
                  <a:pt x="377" y="7"/>
                </a:lnTo>
                <a:lnTo>
                  <a:pt x="360" y="7"/>
                </a:lnTo>
                <a:lnTo>
                  <a:pt x="344" y="8"/>
                </a:lnTo>
                <a:lnTo>
                  <a:pt x="327" y="9"/>
                </a:lnTo>
                <a:lnTo>
                  <a:pt x="311" y="10"/>
                </a:lnTo>
                <a:lnTo>
                  <a:pt x="295" y="11"/>
                </a:lnTo>
                <a:lnTo>
                  <a:pt x="278" y="12"/>
                </a:lnTo>
                <a:lnTo>
                  <a:pt x="262" y="13"/>
                </a:lnTo>
                <a:lnTo>
                  <a:pt x="246" y="15"/>
                </a:lnTo>
                <a:lnTo>
                  <a:pt x="229" y="16"/>
                </a:lnTo>
                <a:lnTo>
                  <a:pt x="213" y="18"/>
                </a:lnTo>
                <a:lnTo>
                  <a:pt x="196" y="19"/>
                </a:lnTo>
                <a:lnTo>
                  <a:pt x="180" y="21"/>
                </a:lnTo>
                <a:lnTo>
                  <a:pt x="164" y="23"/>
                </a:lnTo>
                <a:lnTo>
                  <a:pt x="147" y="24"/>
                </a:lnTo>
                <a:lnTo>
                  <a:pt x="131" y="26"/>
                </a:lnTo>
                <a:lnTo>
                  <a:pt x="114" y="27"/>
                </a:lnTo>
                <a:lnTo>
                  <a:pt x="98" y="28"/>
                </a:lnTo>
                <a:lnTo>
                  <a:pt x="82" y="29"/>
                </a:lnTo>
                <a:lnTo>
                  <a:pt x="65" y="30"/>
                </a:lnTo>
                <a:lnTo>
                  <a:pt x="49" y="31"/>
                </a:lnTo>
                <a:lnTo>
                  <a:pt x="33" y="32"/>
                </a:lnTo>
                <a:lnTo>
                  <a:pt x="16" y="32"/>
                </a:lnTo>
                <a:lnTo>
                  <a:pt x="0" y="32"/>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5791200"/>
            <a:ext cx="3743325" cy="114300"/>
          </a:xfrm>
          <a:custGeom>
            <a:avLst/>
            <a:gdLst/>
            <a:ahLst/>
            <a:cxnLst/>
            <a:rect l="l" t="t" r="r" b="b"/>
            <a:pathLst>
              <a:path w="393" h="12">
                <a:moveTo>
                  <a:pt x="0" y="0"/>
                </a:moveTo>
                <a:lnTo>
                  <a:pt x="16" y="0"/>
                </a:lnTo>
                <a:lnTo>
                  <a:pt x="33" y="0"/>
                </a:lnTo>
                <a:lnTo>
                  <a:pt x="49" y="1"/>
                </a:lnTo>
                <a:lnTo>
                  <a:pt x="65" y="1"/>
                </a:lnTo>
                <a:lnTo>
                  <a:pt x="82" y="1"/>
                </a:lnTo>
                <a:lnTo>
                  <a:pt x="98" y="1"/>
                </a:lnTo>
                <a:lnTo>
                  <a:pt x="114" y="2"/>
                </a:lnTo>
                <a:lnTo>
                  <a:pt x="131" y="2"/>
                </a:lnTo>
                <a:lnTo>
                  <a:pt x="147" y="2"/>
                </a:lnTo>
                <a:lnTo>
                  <a:pt x="164" y="3"/>
                </a:lnTo>
                <a:lnTo>
                  <a:pt x="180" y="3"/>
                </a:lnTo>
                <a:lnTo>
                  <a:pt x="196" y="4"/>
                </a:lnTo>
                <a:lnTo>
                  <a:pt x="213" y="4"/>
                </a:lnTo>
                <a:lnTo>
                  <a:pt x="229" y="4"/>
                </a:lnTo>
                <a:lnTo>
                  <a:pt x="246" y="5"/>
                </a:lnTo>
                <a:lnTo>
                  <a:pt x="262" y="5"/>
                </a:lnTo>
                <a:lnTo>
                  <a:pt x="278" y="5"/>
                </a:lnTo>
                <a:lnTo>
                  <a:pt x="295" y="6"/>
                </a:lnTo>
                <a:lnTo>
                  <a:pt x="311" y="6"/>
                </a:lnTo>
                <a:lnTo>
                  <a:pt x="327" y="6"/>
                </a:lnTo>
                <a:lnTo>
                  <a:pt x="344" y="7"/>
                </a:lnTo>
                <a:lnTo>
                  <a:pt x="360" y="7"/>
                </a:lnTo>
                <a:lnTo>
                  <a:pt x="377" y="7"/>
                </a:lnTo>
                <a:lnTo>
                  <a:pt x="393" y="7"/>
                </a:lnTo>
                <a:lnTo>
                  <a:pt x="393" y="12"/>
                </a:lnTo>
                <a:lnTo>
                  <a:pt x="377" y="12"/>
                </a:lnTo>
                <a:lnTo>
                  <a:pt x="360" y="12"/>
                </a:lnTo>
                <a:lnTo>
                  <a:pt x="344" y="12"/>
                </a:lnTo>
                <a:lnTo>
                  <a:pt x="327" y="11"/>
                </a:lnTo>
                <a:lnTo>
                  <a:pt x="311" y="11"/>
                </a:lnTo>
                <a:lnTo>
                  <a:pt x="295" y="11"/>
                </a:lnTo>
                <a:lnTo>
                  <a:pt x="278" y="11"/>
                </a:lnTo>
                <a:lnTo>
                  <a:pt x="262" y="10"/>
                </a:lnTo>
                <a:lnTo>
                  <a:pt x="246" y="10"/>
                </a:lnTo>
                <a:lnTo>
                  <a:pt x="229" y="10"/>
                </a:lnTo>
                <a:lnTo>
                  <a:pt x="213" y="9"/>
                </a:lnTo>
                <a:lnTo>
                  <a:pt x="196" y="9"/>
                </a:lnTo>
                <a:lnTo>
                  <a:pt x="180" y="8"/>
                </a:lnTo>
                <a:lnTo>
                  <a:pt x="164" y="8"/>
                </a:lnTo>
                <a:lnTo>
                  <a:pt x="147" y="7"/>
                </a:lnTo>
                <a:lnTo>
                  <a:pt x="131" y="7"/>
                </a:lnTo>
                <a:lnTo>
                  <a:pt x="114" y="7"/>
                </a:lnTo>
                <a:lnTo>
                  <a:pt x="98" y="6"/>
                </a:lnTo>
                <a:lnTo>
                  <a:pt x="82" y="6"/>
                </a:lnTo>
                <a:lnTo>
                  <a:pt x="65" y="6"/>
                </a:lnTo>
                <a:lnTo>
                  <a:pt x="49" y="6"/>
                </a:lnTo>
                <a:lnTo>
                  <a:pt x="33" y="6"/>
                </a:lnTo>
                <a:lnTo>
                  <a:pt x="16" y="5"/>
                </a:lnTo>
                <a:lnTo>
                  <a:pt x="0" y="5"/>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057400" y="5838825"/>
            <a:ext cx="3743325" cy="361950"/>
          </a:xfrm>
          <a:custGeom>
            <a:avLst/>
            <a:gdLst/>
            <a:ahLst/>
            <a:cxnLst/>
            <a:rect l="l" t="t" r="r" b="b"/>
            <a:pathLst>
              <a:path w="393" h="38">
                <a:moveTo>
                  <a:pt x="0" y="0"/>
                </a:moveTo>
                <a:lnTo>
                  <a:pt x="16" y="1"/>
                </a:lnTo>
                <a:lnTo>
                  <a:pt x="33" y="1"/>
                </a:lnTo>
                <a:lnTo>
                  <a:pt x="49" y="2"/>
                </a:lnTo>
                <a:lnTo>
                  <a:pt x="65" y="3"/>
                </a:lnTo>
                <a:lnTo>
                  <a:pt x="82" y="4"/>
                </a:lnTo>
                <a:lnTo>
                  <a:pt x="98" y="6"/>
                </a:lnTo>
                <a:lnTo>
                  <a:pt x="114" y="7"/>
                </a:lnTo>
                <a:lnTo>
                  <a:pt x="131" y="9"/>
                </a:lnTo>
                <a:lnTo>
                  <a:pt x="147" y="11"/>
                </a:lnTo>
                <a:lnTo>
                  <a:pt x="164" y="13"/>
                </a:lnTo>
                <a:lnTo>
                  <a:pt x="180" y="15"/>
                </a:lnTo>
                <a:lnTo>
                  <a:pt x="196" y="17"/>
                </a:lnTo>
                <a:lnTo>
                  <a:pt x="213" y="19"/>
                </a:lnTo>
                <a:lnTo>
                  <a:pt x="229" y="21"/>
                </a:lnTo>
                <a:lnTo>
                  <a:pt x="246" y="23"/>
                </a:lnTo>
                <a:lnTo>
                  <a:pt x="262" y="25"/>
                </a:lnTo>
                <a:lnTo>
                  <a:pt x="278" y="27"/>
                </a:lnTo>
                <a:lnTo>
                  <a:pt x="295" y="28"/>
                </a:lnTo>
                <a:lnTo>
                  <a:pt x="311" y="30"/>
                </a:lnTo>
                <a:lnTo>
                  <a:pt x="327" y="31"/>
                </a:lnTo>
                <a:lnTo>
                  <a:pt x="344" y="32"/>
                </a:lnTo>
                <a:lnTo>
                  <a:pt x="360" y="33"/>
                </a:lnTo>
                <a:lnTo>
                  <a:pt x="377" y="33"/>
                </a:lnTo>
                <a:lnTo>
                  <a:pt x="393" y="34"/>
                </a:lnTo>
                <a:lnTo>
                  <a:pt x="393" y="38"/>
                </a:lnTo>
                <a:lnTo>
                  <a:pt x="377" y="38"/>
                </a:lnTo>
                <a:lnTo>
                  <a:pt x="360" y="37"/>
                </a:lnTo>
                <a:lnTo>
                  <a:pt x="344" y="37"/>
                </a:lnTo>
                <a:lnTo>
                  <a:pt x="327" y="36"/>
                </a:lnTo>
                <a:lnTo>
                  <a:pt x="311" y="34"/>
                </a:lnTo>
                <a:lnTo>
                  <a:pt x="295" y="33"/>
                </a:lnTo>
                <a:lnTo>
                  <a:pt x="278" y="31"/>
                </a:lnTo>
                <a:lnTo>
                  <a:pt x="262" y="29"/>
                </a:lnTo>
                <a:lnTo>
                  <a:pt x="246" y="28"/>
                </a:lnTo>
                <a:lnTo>
                  <a:pt x="229" y="26"/>
                </a:lnTo>
                <a:lnTo>
                  <a:pt x="213" y="23"/>
                </a:lnTo>
                <a:lnTo>
                  <a:pt x="196" y="21"/>
                </a:lnTo>
                <a:lnTo>
                  <a:pt x="180" y="19"/>
                </a:lnTo>
                <a:lnTo>
                  <a:pt x="164" y="17"/>
                </a:lnTo>
                <a:lnTo>
                  <a:pt x="147" y="15"/>
                </a:lnTo>
                <a:lnTo>
                  <a:pt x="131" y="13"/>
                </a:lnTo>
                <a:lnTo>
                  <a:pt x="114" y="12"/>
                </a:lnTo>
                <a:lnTo>
                  <a:pt x="98" y="10"/>
                </a:lnTo>
                <a:lnTo>
                  <a:pt x="82" y="9"/>
                </a:lnTo>
                <a:lnTo>
                  <a:pt x="65" y="7"/>
                </a:lnTo>
                <a:lnTo>
                  <a:pt x="49" y="6"/>
                </a:lnTo>
                <a:lnTo>
                  <a:pt x="33" y="5"/>
                </a:lnTo>
                <a:lnTo>
                  <a:pt x="16" y="5"/>
                </a:lnTo>
                <a:lnTo>
                  <a:pt x="0" y="5"/>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057400" y="5886450"/>
            <a:ext cx="3743325" cy="600075"/>
          </a:xfrm>
          <a:custGeom>
            <a:avLst/>
            <a:gdLst/>
            <a:ahLst/>
            <a:cxnLst/>
            <a:rect l="l" t="t" r="r" b="b"/>
            <a:pathLst>
              <a:path w="393" h="63">
                <a:moveTo>
                  <a:pt x="0" y="0"/>
                </a:moveTo>
                <a:lnTo>
                  <a:pt x="16" y="0"/>
                </a:lnTo>
                <a:lnTo>
                  <a:pt x="33" y="1"/>
                </a:lnTo>
                <a:lnTo>
                  <a:pt x="49" y="2"/>
                </a:lnTo>
                <a:lnTo>
                  <a:pt x="65" y="4"/>
                </a:lnTo>
                <a:lnTo>
                  <a:pt x="82" y="6"/>
                </a:lnTo>
                <a:lnTo>
                  <a:pt x="98" y="9"/>
                </a:lnTo>
                <a:lnTo>
                  <a:pt x="114" y="12"/>
                </a:lnTo>
                <a:lnTo>
                  <a:pt x="131" y="15"/>
                </a:lnTo>
                <a:lnTo>
                  <a:pt x="147" y="18"/>
                </a:lnTo>
                <a:lnTo>
                  <a:pt x="164" y="22"/>
                </a:lnTo>
                <a:lnTo>
                  <a:pt x="180" y="26"/>
                </a:lnTo>
                <a:lnTo>
                  <a:pt x="196" y="29"/>
                </a:lnTo>
                <a:lnTo>
                  <a:pt x="213" y="33"/>
                </a:lnTo>
                <a:lnTo>
                  <a:pt x="229" y="36"/>
                </a:lnTo>
                <a:lnTo>
                  <a:pt x="246" y="40"/>
                </a:lnTo>
                <a:lnTo>
                  <a:pt x="262" y="43"/>
                </a:lnTo>
                <a:lnTo>
                  <a:pt x="278" y="46"/>
                </a:lnTo>
                <a:lnTo>
                  <a:pt x="295" y="49"/>
                </a:lnTo>
                <a:lnTo>
                  <a:pt x="311" y="52"/>
                </a:lnTo>
                <a:lnTo>
                  <a:pt x="327" y="54"/>
                </a:lnTo>
                <a:lnTo>
                  <a:pt x="344" y="56"/>
                </a:lnTo>
                <a:lnTo>
                  <a:pt x="360" y="57"/>
                </a:lnTo>
                <a:lnTo>
                  <a:pt x="377" y="58"/>
                </a:lnTo>
                <a:lnTo>
                  <a:pt x="393" y="59"/>
                </a:lnTo>
                <a:lnTo>
                  <a:pt x="393" y="63"/>
                </a:lnTo>
                <a:lnTo>
                  <a:pt x="377" y="63"/>
                </a:lnTo>
                <a:lnTo>
                  <a:pt x="360" y="62"/>
                </a:lnTo>
                <a:lnTo>
                  <a:pt x="344" y="60"/>
                </a:lnTo>
                <a:lnTo>
                  <a:pt x="327" y="58"/>
                </a:lnTo>
                <a:lnTo>
                  <a:pt x="311" y="56"/>
                </a:lnTo>
                <a:lnTo>
                  <a:pt x="295" y="54"/>
                </a:lnTo>
                <a:lnTo>
                  <a:pt x="278" y="51"/>
                </a:lnTo>
                <a:lnTo>
                  <a:pt x="262" y="48"/>
                </a:lnTo>
                <a:lnTo>
                  <a:pt x="246" y="44"/>
                </a:lnTo>
                <a:lnTo>
                  <a:pt x="229" y="41"/>
                </a:lnTo>
                <a:lnTo>
                  <a:pt x="213" y="37"/>
                </a:lnTo>
                <a:lnTo>
                  <a:pt x="196" y="33"/>
                </a:lnTo>
                <a:lnTo>
                  <a:pt x="180" y="30"/>
                </a:lnTo>
                <a:lnTo>
                  <a:pt x="164" y="26"/>
                </a:lnTo>
                <a:lnTo>
                  <a:pt x="147" y="23"/>
                </a:lnTo>
                <a:lnTo>
                  <a:pt x="131" y="19"/>
                </a:lnTo>
                <a:lnTo>
                  <a:pt x="114" y="16"/>
                </a:lnTo>
                <a:lnTo>
                  <a:pt x="98" y="13"/>
                </a:lnTo>
                <a:lnTo>
                  <a:pt x="82" y="11"/>
                </a:lnTo>
                <a:lnTo>
                  <a:pt x="65" y="8"/>
                </a:lnTo>
                <a:lnTo>
                  <a:pt x="49" y="7"/>
                </a:lnTo>
                <a:lnTo>
                  <a:pt x="33" y="5"/>
                </a:lnTo>
                <a:lnTo>
                  <a:pt x="16" y="4"/>
                </a:lnTo>
                <a:lnTo>
                  <a:pt x="0" y="4"/>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2057400" y="4657725"/>
            <a:ext cx="3743325" cy="1371600"/>
          </a:xfrm>
          <a:custGeom>
            <a:avLst/>
            <a:gdLst/>
            <a:ahLst/>
            <a:cxnLst/>
            <a:rect l="l" t="t" r="r" b="b"/>
            <a:pathLst>
              <a:path w="393" h="144">
                <a:moveTo>
                  <a:pt x="0" y="139"/>
                </a:moveTo>
                <a:lnTo>
                  <a:pt x="16" y="138"/>
                </a:lnTo>
                <a:lnTo>
                  <a:pt x="33" y="136"/>
                </a:lnTo>
                <a:lnTo>
                  <a:pt x="49" y="133"/>
                </a:lnTo>
                <a:lnTo>
                  <a:pt x="65" y="129"/>
                </a:lnTo>
                <a:lnTo>
                  <a:pt x="82" y="124"/>
                </a:lnTo>
                <a:lnTo>
                  <a:pt x="98" y="117"/>
                </a:lnTo>
                <a:lnTo>
                  <a:pt x="114" y="111"/>
                </a:lnTo>
                <a:lnTo>
                  <a:pt x="131" y="103"/>
                </a:lnTo>
                <a:lnTo>
                  <a:pt x="147" y="95"/>
                </a:lnTo>
                <a:lnTo>
                  <a:pt x="164" y="87"/>
                </a:lnTo>
                <a:lnTo>
                  <a:pt x="180" y="78"/>
                </a:lnTo>
                <a:lnTo>
                  <a:pt x="196" y="70"/>
                </a:lnTo>
                <a:lnTo>
                  <a:pt x="213" y="61"/>
                </a:lnTo>
                <a:lnTo>
                  <a:pt x="229" y="53"/>
                </a:lnTo>
                <a:lnTo>
                  <a:pt x="246" y="44"/>
                </a:lnTo>
                <a:lnTo>
                  <a:pt x="262" y="36"/>
                </a:lnTo>
                <a:lnTo>
                  <a:pt x="278" y="29"/>
                </a:lnTo>
                <a:lnTo>
                  <a:pt x="295" y="22"/>
                </a:lnTo>
                <a:lnTo>
                  <a:pt x="311" y="16"/>
                </a:lnTo>
                <a:lnTo>
                  <a:pt x="327" y="11"/>
                </a:lnTo>
                <a:lnTo>
                  <a:pt x="344" y="6"/>
                </a:lnTo>
                <a:lnTo>
                  <a:pt x="360" y="3"/>
                </a:lnTo>
                <a:lnTo>
                  <a:pt x="377" y="1"/>
                </a:lnTo>
                <a:lnTo>
                  <a:pt x="393" y="0"/>
                </a:lnTo>
                <a:lnTo>
                  <a:pt x="393" y="5"/>
                </a:lnTo>
                <a:lnTo>
                  <a:pt x="377" y="6"/>
                </a:lnTo>
                <a:lnTo>
                  <a:pt x="360" y="8"/>
                </a:lnTo>
                <a:lnTo>
                  <a:pt x="344" y="11"/>
                </a:lnTo>
                <a:lnTo>
                  <a:pt x="327" y="15"/>
                </a:lnTo>
                <a:lnTo>
                  <a:pt x="311" y="20"/>
                </a:lnTo>
                <a:lnTo>
                  <a:pt x="295" y="27"/>
                </a:lnTo>
                <a:lnTo>
                  <a:pt x="278" y="33"/>
                </a:lnTo>
                <a:lnTo>
                  <a:pt x="262" y="41"/>
                </a:lnTo>
                <a:lnTo>
                  <a:pt x="246" y="49"/>
                </a:lnTo>
                <a:lnTo>
                  <a:pt x="229" y="57"/>
                </a:lnTo>
                <a:lnTo>
                  <a:pt x="213" y="66"/>
                </a:lnTo>
                <a:lnTo>
                  <a:pt x="196" y="74"/>
                </a:lnTo>
                <a:lnTo>
                  <a:pt x="180" y="83"/>
                </a:lnTo>
                <a:lnTo>
                  <a:pt x="164" y="91"/>
                </a:lnTo>
                <a:lnTo>
                  <a:pt x="147" y="100"/>
                </a:lnTo>
                <a:lnTo>
                  <a:pt x="131" y="108"/>
                </a:lnTo>
                <a:lnTo>
                  <a:pt x="114" y="115"/>
                </a:lnTo>
                <a:lnTo>
                  <a:pt x="98" y="122"/>
                </a:lnTo>
                <a:lnTo>
                  <a:pt x="82" y="128"/>
                </a:lnTo>
                <a:lnTo>
                  <a:pt x="65" y="133"/>
                </a:lnTo>
                <a:lnTo>
                  <a:pt x="49" y="138"/>
                </a:lnTo>
                <a:lnTo>
                  <a:pt x="33" y="141"/>
                </a:lnTo>
                <a:lnTo>
                  <a:pt x="16" y="143"/>
                </a:lnTo>
                <a:lnTo>
                  <a:pt x="0" y="144"/>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057400" y="5153025"/>
            <a:ext cx="3743325" cy="923925"/>
          </a:xfrm>
          <a:custGeom>
            <a:avLst/>
            <a:gdLst/>
            <a:ahLst/>
            <a:cxnLst/>
            <a:rect l="l" t="t" r="r" b="b"/>
            <a:pathLst>
              <a:path w="393" h="97">
                <a:moveTo>
                  <a:pt x="0" y="92"/>
                </a:moveTo>
                <a:lnTo>
                  <a:pt x="16" y="91"/>
                </a:lnTo>
                <a:lnTo>
                  <a:pt x="33" y="90"/>
                </a:lnTo>
                <a:lnTo>
                  <a:pt x="49" y="88"/>
                </a:lnTo>
                <a:lnTo>
                  <a:pt x="65" y="85"/>
                </a:lnTo>
                <a:lnTo>
                  <a:pt x="82" y="81"/>
                </a:lnTo>
                <a:lnTo>
                  <a:pt x="98" y="77"/>
                </a:lnTo>
                <a:lnTo>
                  <a:pt x="114" y="73"/>
                </a:lnTo>
                <a:lnTo>
                  <a:pt x="131" y="68"/>
                </a:lnTo>
                <a:lnTo>
                  <a:pt x="147" y="62"/>
                </a:lnTo>
                <a:lnTo>
                  <a:pt x="164" y="57"/>
                </a:lnTo>
                <a:lnTo>
                  <a:pt x="180" y="51"/>
                </a:lnTo>
                <a:lnTo>
                  <a:pt x="196" y="46"/>
                </a:lnTo>
                <a:lnTo>
                  <a:pt x="213" y="40"/>
                </a:lnTo>
                <a:lnTo>
                  <a:pt x="229" y="34"/>
                </a:lnTo>
                <a:lnTo>
                  <a:pt x="246" y="29"/>
                </a:lnTo>
                <a:lnTo>
                  <a:pt x="262" y="23"/>
                </a:lnTo>
                <a:lnTo>
                  <a:pt x="278" y="18"/>
                </a:lnTo>
                <a:lnTo>
                  <a:pt x="295" y="14"/>
                </a:lnTo>
                <a:lnTo>
                  <a:pt x="311" y="10"/>
                </a:lnTo>
                <a:lnTo>
                  <a:pt x="327" y="6"/>
                </a:lnTo>
                <a:lnTo>
                  <a:pt x="344" y="3"/>
                </a:lnTo>
                <a:lnTo>
                  <a:pt x="360" y="1"/>
                </a:lnTo>
                <a:lnTo>
                  <a:pt x="377" y="0"/>
                </a:lnTo>
                <a:lnTo>
                  <a:pt x="393" y="0"/>
                </a:lnTo>
                <a:lnTo>
                  <a:pt x="393" y="4"/>
                </a:lnTo>
                <a:lnTo>
                  <a:pt x="377" y="5"/>
                </a:lnTo>
                <a:lnTo>
                  <a:pt x="360" y="6"/>
                </a:lnTo>
                <a:lnTo>
                  <a:pt x="344" y="8"/>
                </a:lnTo>
                <a:lnTo>
                  <a:pt x="327" y="11"/>
                </a:lnTo>
                <a:lnTo>
                  <a:pt x="311" y="15"/>
                </a:lnTo>
                <a:lnTo>
                  <a:pt x="295" y="19"/>
                </a:lnTo>
                <a:lnTo>
                  <a:pt x="278" y="23"/>
                </a:lnTo>
                <a:lnTo>
                  <a:pt x="262" y="28"/>
                </a:lnTo>
                <a:lnTo>
                  <a:pt x="246" y="34"/>
                </a:lnTo>
                <a:lnTo>
                  <a:pt x="229" y="39"/>
                </a:lnTo>
                <a:lnTo>
                  <a:pt x="213" y="45"/>
                </a:lnTo>
                <a:lnTo>
                  <a:pt x="196" y="50"/>
                </a:lnTo>
                <a:lnTo>
                  <a:pt x="180" y="56"/>
                </a:lnTo>
                <a:lnTo>
                  <a:pt x="164" y="62"/>
                </a:lnTo>
                <a:lnTo>
                  <a:pt x="147" y="67"/>
                </a:lnTo>
                <a:lnTo>
                  <a:pt x="131" y="73"/>
                </a:lnTo>
                <a:lnTo>
                  <a:pt x="114" y="78"/>
                </a:lnTo>
                <a:lnTo>
                  <a:pt x="98" y="82"/>
                </a:lnTo>
                <a:lnTo>
                  <a:pt x="82" y="86"/>
                </a:lnTo>
                <a:lnTo>
                  <a:pt x="65" y="90"/>
                </a:lnTo>
                <a:lnTo>
                  <a:pt x="49" y="93"/>
                </a:lnTo>
                <a:lnTo>
                  <a:pt x="33" y="95"/>
                </a:lnTo>
                <a:lnTo>
                  <a:pt x="16" y="96"/>
                </a:lnTo>
                <a:lnTo>
                  <a:pt x="0" y="97"/>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057400" y="5553075"/>
            <a:ext cx="3743325" cy="552450"/>
          </a:xfrm>
          <a:custGeom>
            <a:avLst/>
            <a:gdLst/>
            <a:ahLst/>
            <a:cxnLst/>
            <a:rect l="l" t="t" r="r" b="b"/>
            <a:pathLst>
              <a:path w="393" h="58">
                <a:moveTo>
                  <a:pt x="0" y="55"/>
                </a:moveTo>
                <a:lnTo>
                  <a:pt x="16" y="54"/>
                </a:lnTo>
                <a:lnTo>
                  <a:pt x="33" y="53"/>
                </a:lnTo>
                <a:lnTo>
                  <a:pt x="49" y="52"/>
                </a:lnTo>
                <a:lnTo>
                  <a:pt x="65" y="50"/>
                </a:lnTo>
                <a:lnTo>
                  <a:pt x="82" y="48"/>
                </a:lnTo>
                <a:lnTo>
                  <a:pt x="98" y="46"/>
                </a:lnTo>
                <a:lnTo>
                  <a:pt x="114" y="43"/>
                </a:lnTo>
                <a:lnTo>
                  <a:pt x="131" y="40"/>
                </a:lnTo>
                <a:lnTo>
                  <a:pt x="147" y="37"/>
                </a:lnTo>
                <a:lnTo>
                  <a:pt x="164" y="34"/>
                </a:lnTo>
                <a:lnTo>
                  <a:pt x="180" y="31"/>
                </a:lnTo>
                <a:lnTo>
                  <a:pt x="196" y="27"/>
                </a:lnTo>
                <a:lnTo>
                  <a:pt x="213" y="24"/>
                </a:lnTo>
                <a:lnTo>
                  <a:pt x="229" y="20"/>
                </a:lnTo>
                <a:lnTo>
                  <a:pt x="246" y="17"/>
                </a:lnTo>
                <a:lnTo>
                  <a:pt x="262" y="14"/>
                </a:lnTo>
                <a:lnTo>
                  <a:pt x="278" y="11"/>
                </a:lnTo>
                <a:lnTo>
                  <a:pt x="295" y="8"/>
                </a:lnTo>
                <a:lnTo>
                  <a:pt x="311" y="6"/>
                </a:lnTo>
                <a:lnTo>
                  <a:pt x="327" y="4"/>
                </a:lnTo>
                <a:lnTo>
                  <a:pt x="344" y="2"/>
                </a:lnTo>
                <a:lnTo>
                  <a:pt x="360" y="1"/>
                </a:lnTo>
                <a:lnTo>
                  <a:pt x="377" y="0"/>
                </a:lnTo>
                <a:lnTo>
                  <a:pt x="393" y="0"/>
                </a:lnTo>
                <a:lnTo>
                  <a:pt x="393" y="3"/>
                </a:lnTo>
                <a:lnTo>
                  <a:pt x="377" y="3"/>
                </a:lnTo>
                <a:lnTo>
                  <a:pt x="360" y="4"/>
                </a:lnTo>
                <a:lnTo>
                  <a:pt x="344" y="6"/>
                </a:lnTo>
                <a:lnTo>
                  <a:pt x="327" y="7"/>
                </a:lnTo>
                <a:lnTo>
                  <a:pt x="311" y="9"/>
                </a:lnTo>
                <a:lnTo>
                  <a:pt x="295" y="12"/>
                </a:lnTo>
                <a:lnTo>
                  <a:pt x="278" y="14"/>
                </a:lnTo>
                <a:lnTo>
                  <a:pt x="262" y="17"/>
                </a:lnTo>
                <a:lnTo>
                  <a:pt x="246" y="21"/>
                </a:lnTo>
                <a:lnTo>
                  <a:pt x="229" y="24"/>
                </a:lnTo>
                <a:lnTo>
                  <a:pt x="213" y="27"/>
                </a:lnTo>
                <a:lnTo>
                  <a:pt x="196" y="31"/>
                </a:lnTo>
                <a:lnTo>
                  <a:pt x="180" y="34"/>
                </a:lnTo>
                <a:lnTo>
                  <a:pt x="164" y="37"/>
                </a:lnTo>
                <a:lnTo>
                  <a:pt x="147" y="41"/>
                </a:lnTo>
                <a:lnTo>
                  <a:pt x="131" y="44"/>
                </a:lnTo>
                <a:lnTo>
                  <a:pt x="114" y="47"/>
                </a:lnTo>
                <a:lnTo>
                  <a:pt x="98" y="49"/>
                </a:lnTo>
                <a:lnTo>
                  <a:pt x="82" y="52"/>
                </a:lnTo>
                <a:lnTo>
                  <a:pt x="65" y="54"/>
                </a:lnTo>
                <a:lnTo>
                  <a:pt x="49" y="56"/>
                </a:lnTo>
                <a:lnTo>
                  <a:pt x="33" y="57"/>
                </a:lnTo>
                <a:lnTo>
                  <a:pt x="16" y="58"/>
                </a:lnTo>
                <a:lnTo>
                  <a:pt x="0" y="58"/>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057400" y="5905500"/>
            <a:ext cx="3743325" cy="228600"/>
          </a:xfrm>
          <a:custGeom>
            <a:avLst/>
            <a:gdLst/>
            <a:ahLst/>
            <a:cxnLst/>
            <a:rect l="l" t="t" r="r" b="b"/>
            <a:pathLst>
              <a:path w="393" h="24">
                <a:moveTo>
                  <a:pt x="0" y="21"/>
                </a:moveTo>
                <a:lnTo>
                  <a:pt x="16" y="21"/>
                </a:lnTo>
                <a:lnTo>
                  <a:pt x="33" y="21"/>
                </a:lnTo>
                <a:lnTo>
                  <a:pt x="49" y="20"/>
                </a:lnTo>
                <a:lnTo>
                  <a:pt x="65" y="19"/>
                </a:lnTo>
                <a:lnTo>
                  <a:pt x="82" y="19"/>
                </a:lnTo>
                <a:lnTo>
                  <a:pt x="98" y="18"/>
                </a:lnTo>
                <a:lnTo>
                  <a:pt x="114" y="17"/>
                </a:lnTo>
                <a:lnTo>
                  <a:pt x="131" y="16"/>
                </a:lnTo>
                <a:lnTo>
                  <a:pt x="147" y="14"/>
                </a:lnTo>
                <a:lnTo>
                  <a:pt x="164" y="13"/>
                </a:lnTo>
                <a:lnTo>
                  <a:pt x="180" y="12"/>
                </a:lnTo>
                <a:lnTo>
                  <a:pt x="196" y="10"/>
                </a:lnTo>
                <a:lnTo>
                  <a:pt x="213" y="9"/>
                </a:lnTo>
                <a:lnTo>
                  <a:pt x="229" y="8"/>
                </a:lnTo>
                <a:lnTo>
                  <a:pt x="246" y="7"/>
                </a:lnTo>
                <a:lnTo>
                  <a:pt x="262" y="5"/>
                </a:lnTo>
                <a:lnTo>
                  <a:pt x="278" y="4"/>
                </a:lnTo>
                <a:lnTo>
                  <a:pt x="295" y="3"/>
                </a:lnTo>
                <a:lnTo>
                  <a:pt x="311" y="2"/>
                </a:lnTo>
                <a:lnTo>
                  <a:pt x="327" y="2"/>
                </a:lnTo>
                <a:lnTo>
                  <a:pt x="344" y="1"/>
                </a:lnTo>
                <a:lnTo>
                  <a:pt x="360" y="0"/>
                </a:lnTo>
                <a:lnTo>
                  <a:pt x="377" y="0"/>
                </a:lnTo>
                <a:lnTo>
                  <a:pt x="393" y="0"/>
                </a:lnTo>
                <a:lnTo>
                  <a:pt x="393" y="3"/>
                </a:lnTo>
                <a:lnTo>
                  <a:pt x="377" y="3"/>
                </a:lnTo>
                <a:lnTo>
                  <a:pt x="360" y="4"/>
                </a:lnTo>
                <a:lnTo>
                  <a:pt x="344" y="4"/>
                </a:lnTo>
                <a:lnTo>
                  <a:pt x="327" y="5"/>
                </a:lnTo>
                <a:lnTo>
                  <a:pt x="311" y="6"/>
                </a:lnTo>
                <a:lnTo>
                  <a:pt x="295" y="6"/>
                </a:lnTo>
                <a:lnTo>
                  <a:pt x="278" y="7"/>
                </a:lnTo>
                <a:lnTo>
                  <a:pt x="262" y="9"/>
                </a:lnTo>
                <a:lnTo>
                  <a:pt x="246" y="10"/>
                </a:lnTo>
                <a:lnTo>
                  <a:pt x="229" y="11"/>
                </a:lnTo>
                <a:lnTo>
                  <a:pt x="213" y="12"/>
                </a:lnTo>
                <a:lnTo>
                  <a:pt x="196" y="14"/>
                </a:lnTo>
                <a:lnTo>
                  <a:pt x="180" y="15"/>
                </a:lnTo>
                <a:lnTo>
                  <a:pt x="164" y="16"/>
                </a:lnTo>
                <a:lnTo>
                  <a:pt x="147" y="18"/>
                </a:lnTo>
                <a:lnTo>
                  <a:pt x="131" y="19"/>
                </a:lnTo>
                <a:lnTo>
                  <a:pt x="114" y="20"/>
                </a:lnTo>
                <a:lnTo>
                  <a:pt x="98" y="21"/>
                </a:lnTo>
                <a:lnTo>
                  <a:pt x="82" y="22"/>
                </a:lnTo>
                <a:lnTo>
                  <a:pt x="65" y="23"/>
                </a:lnTo>
                <a:lnTo>
                  <a:pt x="49" y="23"/>
                </a:lnTo>
                <a:lnTo>
                  <a:pt x="33" y="24"/>
                </a:lnTo>
                <a:lnTo>
                  <a:pt x="16" y="24"/>
                </a:lnTo>
                <a:lnTo>
                  <a:pt x="0" y="24"/>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057400" y="6134100"/>
            <a:ext cx="3743325" cy="95250"/>
          </a:xfrm>
          <a:custGeom>
            <a:avLst/>
            <a:gdLst/>
            <a:ahLst/>
            <a:cxnLst/>
            <a:rect l="l" t="t" r="r" b="b"/>
            <a:pathLst>
              <a:path w="393" h="10">
                <a:moveTo>
                  <a:pt x="0" y="0"/>
                </a:moveTo>
                <a:lnTo>
                  <a:pt x="16" y="0"/>
                </a:lnTo>
                <a:lnTo>
                  <a:pt x="33" y="0"/>
                </a:lnTo>
                <a:lnTo>
                  <a:pt x="49" y="0"/>
                </a:lnTo>
                <a:lnTo>
                  <a:pt x="65" y="1"/>
                </a:lnTo>
                <a:lnTo>
                  <a:pt x="82" y="1"/>
                </a:lnTo>
                <a:lnTo>
                  <a:pt x="98" y="1"/>
                </a:lnTo>
                <a:lnTo>
                  <a:pt x="114" y="2"/>
                </a:lnTo>
                <a:lnTo>
                  <a:pt x="131" y="2"/>
                </a:lnTo>
                <a:lnTo>
                  <a:pt x="147" y="2"/>
                </a:lnTo>
                <a:lnTo>
                  <a:pt x="164" y="3"/>
                </a:lnTo>
                <a:lnTo>
                  <a:pt x="180" y="3"/>
                </a:lnTo>
                <a:lnTo>
                  <a:pt x="196" y="4"/>
                </a:lnTo>
                <a:lnTo>
                  <a:pt x="213" y="4"/>
                </a:lnTo>
                <a:lnTo>
                  <a:pt x="229" y="4"/>
                </a:lnTo>
                <a:lnTo>
                  <a:pt x="246" y="5"/>
                </a:lnTo>
                <a:lnTo>
                  <a:pt x="262" y="5"/>
                </a:lnTo>
                <a:lnTo>
                  <a:pt x="278" y="6"/>
                </a:lnTo>
                <a:lnTo>
                  <a:pt x="295" y="6"/>
                </a:lnTo>
                <a:lnTo>
                  <a:pt x="311" y="6"/>
                </a:lnTo>
                <a:lnTo>
                  <a:pt x="327" y="6"/>
                </a:lnTo>
                <a:lnTo>
                  <a:pt x="344" y="7"/>
                </a:lnTo>
                <a:lnTo>
                  <a:pt x="360" y="7"/>
                </a:lnTo>
                <a:lnTo>
                  <a:pt x="377" y="7"/>
                </a:lnTo>
                <a:lnTo>
                  <a:pt x="393" y="7"/>
                </a:lnTo>
                <a:lnTo>
                  <a:pt x="393" y="10"/>
                </a:lnTo>
                <a:lnTo>
                  <a:pt x="377" y="10"/>
                </a:lnTo>
                <a:lnTo>
                  <a:pt x="360" y="9"/>
                </a:lnTo>
                <a:lnTo>
                  <a:pt x="344" y="9"/>
                </a:lnTo>
                <a:lnTo>
                  <a:pt x="327" y="9"/>
                </a:lnTo>
                <a:lnTo>
                  <a:pt x="311" y="9"/>
                </a:lnTo>
                <a:lnTo>
                  <a:pt x="295" y="8"/>
                </a:lnTo>
                <a:lnTo>
                  <a:pt x="278" y="8"/>
                </a:lnTo>
                <a:lnTo>
                  <a:pt x="262" y="8"/>
                </a:lnTo>
                <a:lnTo>
                  <a:pt x="246" y="7"/>
                </a:lnTo>
                <a:lnTo>
                  <a:pt x="229" y="7"/>
                </a:lnTo>
                <a:lnTo>
                  <a:pt x="213" y="7"/>
                </a:lnTo>
                <a:lnTo>
                  <a:pt x="196" y="6"/>
                </a:lnTo>
                <a:lnTo>
                  <a:pt x="180" y="6"/>
                </a:lnTo>
                <a:lnTo>
                  <a:pt x="164" y="5"/>
                </a:lnTo>
                <a:lnTo>
                  <a:pt x="147" y="5"/>
                </a:lnTo>
                <a:lnTo>
                  <a:pt x="131" y="4"/>
                </a:lnTo>
                <a:lnTo>
                  <a:pt x="114" y="4"/>
                </a:lnTo>
                <a:lnTo>
                  <a:pt x="98" y="4"/>
                </a:lnTo>
                <a:lnTo>
                  <a:pt x="82" y="3"/>
                </a:lnTo>
                <a:lnTo>
                  <a:pt x="65" y="3"/>
                </a:lnTo>
                <a:lnTo>
                  <a:pt x="49" y="3"/>
                </a:lnTo>
                <a:lnTo>
                  <a:pt x="33" y="3"/>
                </a:lnTo>
                <a:lnTo>
                  <a:pt x="16" y="3"/>
                </a:lnTo>
                <a:lnTo>
                  <a:pt x="0" y="3"/>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057400" y="6162675"/>
            <a:ext cx="3743325" cy="342900"/>
          </a:xfrm>
          <a:custGeom>
            <a:avLst/>
            <a:gdLst/>
            <a:ahLst/>
            <a:cxnLst/>
            <a:rect l="l" t="t" r="r" b="b"/>
            <a:pathLst>
              <a:path w="393" h="36">
                <a:moveTo>
                  <a:pt x="0" y="0"/>
                </a:moveTo>
                <a:lnTo>
                  <a:pt x="16" y="0"/>
                </a:lnTo>
                <a:lnTo>
                  <a:pt x="33" y="0"/>
                </a:lnTo>
                <a:lnTo>
                  <a:pt x="49" y="1"/>
                </a:lnTo>
                <a:lnTo>
                  <a:pt x="65" y="2"/>
                </a:lnTo>
                <a:lnTo>
                  <a:pt x="82" y="4"/>
                </a:lnTo>
                <a:lnTo>
                  <a:pt x="98" y="5"/>
                </a:lnTo>
                <a:lnTo>
                  <a:pt x="114" y="7"/>
                </a:lnTo>
                <a:lnTo>
                  <a:pt x="131" y="9"/>
                </a:lnTo>
                <a:lnTo>
                  <a:pt x="147" y="11"/>
                </a:lnTo>
                <a:lnTo>
                  <a:pt x="164" y="13"/>
                </a:lnTo>
                <a:lnTo>
                  <a:pt x="180" y="15"/>
                </a:lnTo>
                <a:lnTo>
                  <a:pt x="196" y="17"/>
                </a:lnTo>
                <a:lnTo>
                  <a:pt x="213" y="19"/>
                </a:lnTo>
                <a:lnTo>
                  <a:pt x="229" y="21"/>
                </a:lnTo>
                <a:lnTo>
                  <a:pt x="246" y="23"/>
                </a:lnTo>
                <a:lnTo>
                  <a:pt x="262" y="25"/>
                </a:lnTo>
                <a:lnTo>
                  <a:pt x="278" y="27"/>
                </a:lnTo>
                <a:lnTo>
                  <a:pt x="295" y="28"/>
                </a:lnTo>
                <a:lnTo>
                  <a:pt x="311" y="30"/>
                </a:lnTo>
                <a:lnTo>
                  <a:pt x="327" y="31"/>
                </a:lnTo>
                <a:lnTo>
                  <a:pt x="344" y="32"/>
                </a:lnTo>
                <a:lnTo>
                  <a:pt x="360" y="33"/>
                </a:lnTo>
                <a:lnTo>
                  <a:pt x="377" y="34"/>
                </a:lnTo>
                <a:lnTo>
                  <a:pt x="393" y="34"/>
                </a:lnTo>
                <a:lnTo>
                  <a:pt x="393" y="36"/>
                </a:lnTo>
                <a:lnTo>
                  <a:pt x="377" y="36"/>
                </a:lnTo>
                <a:lnTo>
                  <a:pt x="360" y="35"/>
                </a:lnTo>
                <a:lnTo>
                  <a:pt x="344" y="35"/>
                </a:lnTo>
                <a:lnTo>
                  <a:pt x="327" y="34"/>
                </a:lnTo>
                <a:lnTo>
                  <a:pt x="311" y="32"/>
                </a:lnTo>
                <a:lnTo>
                  <a:pt x="295" y="31"/>
                </a:lnTo>
                <a:lnTo>
                  <a:pt x="278" y="29"/>
                </a:lnTo>
                <a:lnTo>
                  <a:pt x="262" y="27"/>
                </a:lnTo>
                <a:lnTo>
                  <a:pt x="246" y="25"/>
                </a:lnTo>
                <a:lnTo>
                  <a:pt x="229" y="23"/>
                </a:lnTo>
                <a:lnTo>
                  <a:pt x="213" y="21"/>
                </a:lnTo>
                <a:lnTo>
                  <a:pt x="196" y="19"/>
                </a:lnTo>
                <a:lnTo>
                  <a:pt x="180" y="17"/>
                </a:lnTo>
                <a:lnTo>
                  <a:pt x="164" y="15"/>
                </a:lnTo>
                <a:lnTo>
                  <a:pt x="147" y="13"/>
                </a:lnTo>
                <a:lnTo>
                  <a:pt x="131" y="11"/>
                </a:lnTo>
                <a:lnTo>
                  <a:pt x="114" y="9"/>
                </a:lnTo>
                <a:lnTo>
                  <a:pt x="98" y="7"/>
                </a:lnTo>
                <a:lnTo>
                  <a:pt x="82" y="6"/>
                </a:lnTo>
                <a:lnTo>
                  <a:pt x="65" y="5"/>
                </a:lnTo>
                <a:lnTo>
                  <a:pt x="49" y="4"/>
                </a:lnTo>
                <a:lnTo>
                  <a:pt x="33" y="3"/>
                </a:lnTo>
                <a:lnTo>
                  <a:pt x="16" y="2"/>
                </a:lnTo>
                <a:lnTo>
                  <a:pt x="0" y="2"/>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057400" y="4705350"/>
            <a:ext cx="3743325" cy="1571625"/>
          </a:xfrm>
          <a:custGeom>
            <a:avLst/>
            <a:gdLst/>
            <a:ahLst/>
            <a:cxnLst/>
            <a:rect l="l" t="t" r="r" b="b"/>
            <a:pathLst>
              <a:path w="393" h="165">
                <a:moveTo>
                  <a:pt x="0" y="161"/>
                </a:moveTo>
                <a:lnTo>
                  <a:pt x="16" y="160"/>
                </a:lnTo>
                <a:lnTo>
                  <a:pt x="33" y="158"/>
                </a:lnTo>
                <a:lnTo>
                  <a:pt x="49" y="154"/>
                </a:lnTo>
                <a:lnTo>
                  <a:pt x="65" y="149"/>
                </a:lnTo>
                <a:lnTo>
                  <a:pt x="82" y="143"/>
                </a:lnTo>
                <a:lnTo>
                  <a:pt x="98" y="136"/>
                </a:lnTo>
                <a:lnTo>
                  <a:pt x="114" y="128"/>
                </a:lnTo>
                <a:lnTo>
                  <a:pt x="131" y="119"/>
                </a:lnTo>
                <a:lnTo>
                  <a:pt x="147" y="110"/>
                </a:lnTo>
                <a:lnTo>
                  <a:pt x="164" y="100"/>
                </a:lnTo>
                <a:lnTo>
                  <a:pt x="180" y="91"/>
                </a:lnTo>
                <a:lnTo>
                  <a:pt x="196" y="80"/>
                </a:lnTo>
                <a:lnTo>
                  <a:pt x="213" y="70"/>
                </a:lnTo>
                <a:lnTo>
                  <a:pt x="229" y="61"/>
                </a:lnTo>
                <a:lnTo>
                  <a:pt x="246" y="51"/>
                </a:lnTo>
                <a:lnTo>
                  <a:pt x="262" y="42"/>
                </a:lnTo>
                <a:lnTo>
                  <a:pt x="278" y="33"/>
                </a:lnTo>
                <a:lnTo>
                  <a:pt x="295" y="25"/>
                </a:lnTo>
                <a:lnTo>
                  <a:pt x="311" y="18"/>
                </a:lnTo>
                <a:lnTo>
                  <a:pt x="327" y="12"/>
                </a:lnTo>
                <a:lnTo>
                  <a:pt x="344" y="7"/>
                </a:lnTo>
                <a:lnTo>
                  <a:pt x="360" y="3"/>
                </a:lnTo>
                <a:lnTo>
                  <a:pt x="377" y="1"/>
                </a:lnTo>
                <a:lnTo>
                  <a:pt x="393" y="0"/>
                </a:lnTo>
                <a:lnTo>
                  <a:pt x="393" y="4"/>
                </a:lnTo>
                <a:lnTo>
                  <a:pt x="377" y="4"/>
                </a:lnTo>
                <a:lnTo>
                  <a:pt x="360" y="7"/>
                </a:lnTo>
                <a:lnTo>
                  <a:pt x="344" y="10"/>
                </a:lnTo>
                <a:lnTo>
                  <a:pt x="327" y="15"/>
                </a:lnTo>
                <a:lnTo>
                  <a:pt x="311" y="22"/>
                </a:lnTo>
                <a:lnTo>
                  <a:pt x="295" y="29"/>
                </a:lnTo>
                <a:lnTo>
                  <a:pt x="278" y="37"/>
                </a:lnTo>
                <a:lnTo>
                  <a:pt x="262" y="45"/>
                </a:lnTo>
                <a:lnTo>
                  <a:pt x="246" y="55"/>
                </a:lnTo>
                <a:lnTo>
                  <a:pt x="229" y="64"/>
                </a:lnTo>
                <a:lnTo>
                  <a:pt x="213" y="74"/>
                </a:lnTo>
                <a:lnTo>
                  <a:pt x="196" y="84"/>
                </a:lnTo>
                <a:lnTo>
                  <a:pt x="180" y="94"/>
                </a:lnTo>
                <a:lnTo>
                  <a:pt x="164" y="104"/>
                </a:lnTo>
                <a:lnTo>
                  <a:pt x="147" y="114"/>
                </a:lnTo>
                <a:lnTo>
                  <a:pt x="131" y="123"/>
                </a:lnTo>
                <a:lnTo>
                  <a:pt x="114" y="132"/>
                </a:lnTo>
                <a:lnTo>
                  <a:pt x="98" y="140"/>
                </a:lnTo>
                <a:lnTo>
                  <a:pt x="82" y="147"/>
                </a:lnTo>
                <a:lnTo>
                  <a:pt x="65" y="153"/>
                </a:lnTo>
                <a:lnTo>
                  <a:pt x="49" y="158"/>
                </a:lnTo>
                <a:lnTo>
                  <a:pt x="33" y="162"/>
                </a:lnTo>
                <a:lnTo>
                  <a:pt x="16" y="164"/>
                </a:lnTo>
                <a:lnTo>
                  <a:pt x="0" y="165"/>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057400" y="5191125"/>
            <a:ext cx="3743325" cy="1114425"/>
          </a:xfrm>
          <a:custGeom>
            <a:avLst/>
            <a:gdLst/>
            <a:ahLst/>
            <a:cxnLst/>
            <a:rect l="l" t="t" r="r" b="b"/>
            <a:pathLst>
              <a:path w="393" h="117">
                <a:moveTo>
                  <a:pt x="0" y="114"/>
                </a:moveTo>
                <a:lnTo>
                  <a:pt x="16" y="113"/>
                </a:lnTo>
                <a:lnTo>
                  <a:pt x="33" y="111"/>
                </a:lnTo>
                <a:lnTo>
                  <a:pt x="49" y="109"/>
                </a:lnTo>
                <a:lnTo>
                  <a:pt x="65" y="105"/>
                </a:lnTo>
                <a:lnTo>
                  <a:pt x="82" y="101"/>
                </a:lnTo>
                <a:lnTo>
                  <a:pt x="98" y="96"/>
                </a:lnTo>
                <a:lnTo>
                  <a:pt x="114" y="90"/>
                </a:lnTo>
                <a:lnTo>
                  <a:pt x="131" y="84"/>
                </a:lnTo>
                <a:lnTo>
                  <a:pt x="147" y="78"/>
                </a:lnTo>
                <a:lnTo>
                  <a:pt x="164" y="71"/>
                </a:lnTo>
                <a:lnTo>
                  <a:pt x="180" y="64"/>
                </a:lnTo>
                <a:lnTo>
                  <a:pt x="196" y="57"/>
                </a:lnTo>
                <a:lnTo>
                  <a:pt x="213" y="50"/>
                </a:lnTo>
                <a:lnTo>
                  <a:pt x="229" y="43"/>
                </a:lnTo>
                <a:lnTo>
                  <a:pt x="246" y="36"/>
                </a:lnTo>
                <a:lnTo>
                  <a:pt x="262" y="30"/>
                </a:lnTo>
                <a:lnTo>
                  <a:pt x="278" y="24"/>
                </a:lnTo>
                <a:lnTo>
                  <a:pt x="295" y="18"/>
                </a:lnTo>
                <a:lnTo>
                  <a:pt x="311" y="13"/>
                </a:lnTo>
                <a:lnTo>
                  <a:pt x="327" y="9"/>
                </a:lnTo>
                <a:lnTo>
                  <a:pt x="344" y="5"/>
                </a:lnTo>
                <a:lnTo>
                  <a:pt x="360" y="3"/>
                </a:lnTo>
                <a:lnTo>
                  <a:pt x="377" y="1"/>
                </a:lnTo>
                <a:lnTo>
                  <a:pt x="393" y="0"/>
                </a:lnTo>
                <a:lnTo>
                  <a:pt x="393" y="4"/>
                </a:lnTo>
                <a:lnTo>
                  <a:pt x="377" y="4"/>
                </a:lnTo>
                <a:lnTo>
                  <a:pt x="360" y="6"/>
                </a:lnTo>
                <a:lnTo>
                  <a:pt x="344" y="9"/>
                </a:lnTo>
                <a:lnTo>
                  <a:pt x="327" y="12"/>
                </a:lnTo>
                <a:lnTo>
                  <a:pt x="311" y="17"/>
                </a:lnTo>
                <a:lnTo>
                  <a:pt x="295" y="22"/>
                </a:lnTo>
                <a:lnTo>
                  <a:pt x="278" y="27"/>
                </a:lnTo>
                <a:lnTo>
                  <a:pt x="262" y="33"/>
                </a:lnTo>
                <a:lnTo>
                  <a:pt x="246" y="40"/>
                </a:lnTo>
                <a:lnTo>
                  <a:pt x="229" y="47"/>
                </a:lnTo>
                <a:lnTo>
                  <a:pt x="213" y="53"/>
                </a:lnTo>
                <a:lnTo>
                  <a:pt x="196" y="61"/>
                </a:lnTo>
                <a:lnTo>
                  <a:pt x="180" y="68"/>
                </a:lnTo>
                <a:lnTo>
                  <a:pt x="164" y="75"/>
                </a:lnTo>
                <a:lnTo>
                  <a:pt x="147" y="81"/>
                </a:lnTo>
                <a:lnTo>
                  <a:pt x="131" y="88"/>
                </a:lnTo>
                <a:lnTo>
                  <a:pt x="114" y="94"/>
                </a:lnTo>
                <a:lnTo>
                  <a:pt x="98" y="99"/>
                </a:lnTo>
                <a:lnTo>
                  <a:pt x="82" y="104"/>
                </a:lnTo>
                <a:lnTo>
                  <a:pt x="65" y="109"/>
                </a:lnTo>
                <a:lnTo>
                  <a:pt x="49" y="112"/>
                </a:lnTo>
                <a:lnTo>
                  <a:pt x="33" y="115"/>
                </a:lnTo>
                <a:lnTo>
                  <a:pt x="16" y="117"/>
                </a:lnTo>
                <a:lnTo>
                  <a:pt x="0" y="117"/>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057400" y="5581650"/>
            <a:ext cx="3743325" cy="752475"/>
          </a:xfrm>
          <a:custGeom>
            <a:avLst/>
            <a:gdLst/>
            <a:ahLst/>
            <a:cxnLst/>
            <a:rect l="l" t="t" r="r" b="b"/>
            <a:pathLst>
              <a:path w="393" h="79">
                <a:moveTo>
                  <a:pt x="0" y="76"/>
                </a:moveTo>
                <a:lnTo>
                  <a:pt x="16" y="76"/>
                </a:lnTo>
                <a:lnTo>
                  <a:pt x="33" y="75"/>
                </a:lnTo>
                <a:lnTo>
                  <a:pt x="49" y="73"/>
                </a:lnTo>
                <a:lnTo>
                  <a:pt x="65" y="71"/>
                </a:lnTo>
                <a:lnTo>
                  <a:pt x="82" y="68"/>
                </a:lnTo>
                <a:lnTo>
                  <a:pt x="98" y="64"/>
                </a:lnTo>
                <a:lnTo>
                  <a:pt x="114" y="61"/>
                </a:lnTo>
                <a:lnTo>
                  <a:pt x="131" y="56"/>
                </a:lnTo>
                <a:lnTo>
                  <a:pt x="147" y="52"/>
                </a:lnTo>
                <a:lnTo>
                  <a:pt x="164" y="48"/>
                </a:lnTo>
                <a:lnTo>
                  <a:pt x="180" y="43"/>
                </a:lnTo>
                <a:lnTo>
                  <a:pt x="196" y="38"/>
                </a:lnTo>
                <a:lnTo>
                  <a:pt x="213" y="33"/>
                </a:lnTo>
                <a:lnTo>
                  <a:pt x="229" y="29"/>
                </a:lnTo>
                <a:lnTo>
                  <a:pt x="246" y="24"/>
                </a:lnTo>
                <a:lnTo>
                  <a:pt x="262" y="20"/>
                </a:lnTo>
                <a:lnTo>
                  <a:pt x="278" y="16"/>
                </a:lnTo>
                <a:lnTo>
                  <a:pt x="295" y="12"/>
                </a:lnTo>
                <a:lnTo>
                  <a:pt x="311" y="9"/>
                </a:lnTo>
                <a:lnTo>
                  <a:pt x="327" y="6"/>
                </a:lnTo>
                <a:lnTo>
                  <a:pt x="344" y="3"/>
                </a:lnTo>
                <a:lnTo>
                  <a:pt x="360" y="2"/>
                </a:lnTo>
                <a:lnTo>
                  <a:pt x="377" y="1"/>
                </a:lnTo>
                <a:lnTo>
                  <a:pt x="393" y="0"/>
                </a:lnTo>
                <a:lnTo>
                  <a:pt x="393" y="3"/>
                </a:lnTo>
                <a:lnTo>
                  <a:pt x="377" y="3"/>
                </a:lnTo>
                <a:lnTo>
                  <a:pt x="360" y="4"/>
                </a:lnTo>
                <a:lnTo>
                  <a:pt x="344" y="6"/>
                </a:lnTo>
                <a:lnTo>
                  <a:pt x="327" y="9"/>
                </a:lnTo>
                <a:lnTo>
                  <a:pt x="311" y="11"/>
                </a:lnTo>
                <a:lnTo>
                  <a:pt x="295" y="15"/>
                </a:lnTo>
                <a:lnTo>
                  <a:pt x="278" y="19"/>
                </a:lnTo>
                <a:lnTo>
                  <a:pt x="262" y="23"/>
                </a:lnTo>
                <a:lnTo>
                  <a:pt x="246" y="27"/>
                </a:lnTo>
                <a:lnTo>
                  <a:pt x="229" y="32"/>
                </a:lnTo>
                <a:lnTo>
                  <a:pt x="213" y="36"/>
                </a:lnTo>
                <a:lnTo>
                  <a:pt x="196" y="41"/>
                </a:lnTo>
                <a:lnTo>
                  <a:pt x="180" y="46"/>
                </a:lnTo>
                <a:lnTo>
                  <a:pt x="164" y="50"/>
                </a:lnTo>
                <a:lnTo>
                  <a:pt x="147" y="55"/>
                </a:lnTo>
                <a:lnTo>
                  <a:pt x="131" y="59"/>
                </a:lnTo>
                <a:lnTo>
                  <a:pt x="114" y="63"/>
                </a:lnTo>
                <a:lnTo>
                  <a:pt x="98" y="67"/>
                </a:lnTo>
                <a:lnTo>
                  <a:pt x="82" y="70"/>
                </a:lnTo>
                <a:lnTo>
                  <a:pt x="65" y="73"/>
                </a:lnTo>
                <a:lnTo>
                  <a:pt x="49" y="76"/>
                </a:lnTo>
                <a:lnTo>
                  <a:pt x="33" y="77"/>
                </a:lnTo>
                <a:lnTo>
                  <a:pt x="16" y="79"/>
                </a:lnTo>
                <a:lnTo>
                  <a:pt x="0" y="79"/>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2057400" y="5934075"/>
            <a:ext cx="3743325" cy="419100"/>
          </a:xfrm>
          <a:custGeom>
            <a:avLst/>
            <a:gdLst/>
            <a:ahLst/>
            <a:cxnLst/>
            <a:rect l="l" t="t" r="r" b="b"/>
            <a:pathLst>
              <a:path w="393" h="44">
                <a:moveTo>
                  <a:pt x="0" y="42"/>
                </a:moveTo>
                <a:lnTo>
                  <a:pt x="16" y="42"/>
                </a:lnTo>
                <a:lnTo>
                  <a:pt x="33" y="41"/>
                </a:lnTo>
                <a:lnTo>
                  <a:pt x="49" y="40"/>
                </a:lnTo>
                <a:lnTo>
                  <a:pt x="65" y="39"/>
                </a:lnTo>
                <a:lnTo>
                  <a:pt x="82" y="37"/>
                </a:lnTo>
                <a:lnTo>
                  <a:pt x="98" y="35"/>
                </a:lnTo>
                <a:lnTo>
                  <a:pt x="114" y="33"/>
                </a:lnTo>
                <a:lnTo>
                  <a:pt x="131" y="31"/>
                </a:lnTo>
                <a:lnTo>
                  <a:pt x="147" y="29"/>
                </a:lnTo>
                <a:lnTo>
                  <a:pt x="164" y="26"/>
                </a:lnTo>
                <a:lnTo>
                  <a:pt x="180" y="24"/>
                </a:lnTo>
                <a:lnTo>
                  <a:pt x="196" y="21"/>
                </a:lnTo>
                <a:lnTo>
                  <a:pt x="213" y="18"/>
                </a:lnTo>
                <a:lnTo>
                  <a:pt x="229" y="16"/>
                </a:lnTo>
                <a:lnTo>
                  <a:pt x="246" y="13"/>
                </a:lnTo>
                <a:lnTo>
                  <a:pt x="262" y="11"/>
                </a:lnTo>
                <a:lnTo>
                  <a:pt x="278" y="9"/>
                </a:lnTo>
                <a:lnTo>
                  <a:pt x="295" y="7"/>
                </a:lnTo>
                <a:lnTo>
                  <a:pt x="311" y="5"/>
                </a:lnTo>
                <a:lnTo>
                  <a:pt x="327" y="3"/>
                </a:lnTo>
                <a:lnTo>
                  <a:pt x="344" y="2"/>
                </a:lnTo>
                <a:lnTo>
                  <a:pt x="360" y="1"/>
                </a:lnTo>
                <a:lnTo>
                  <a:pt x="377" y="0"/>
                </a:lnTo>
                <a:lnTo>
                  <a:pt x="393" y="0"/>
                </a:lnTo>
                <a:lnTo>
                  <a:pt x="393" y="2"/>
                </a:lnTo>
                <a:lnTo>
                  <a:pt x="377" y="3"/>
                </a:lnTo>
                <a:lnTo>
                  <a:pt x="360" y="3"/>
                </a:lnTo>
                <a:lnTo>
                  <a:pt x="344" y="4"/>
                </a:lnTo>
                <a:lnTo>
                  <a:pt x="327" y="5"/>
                </a:lnTo>
                <a:lnTo>
                  <a:pt x="311" y="7"/>
                </a:lnTo>
                <a:lnTo>
                  <a:pt x="295" y="9"/>
                </a:lnTo>
                <a:lnTo>
                  <a:pt x="278" y="11"/>
                </a:lnTo>
                <a:lnTo>
                  <a:pt x="262" y="13"/>
                </a:lnTo>
                <a:lnTo>
                  <a:pt x="246" y="16"/>
                </a:lnTo>
                <a:lnTo>
                  <a:pt x="229" y="18"/>
                </a:lnTo>
                <a:lnTo>
                  <a:pt x="213" y="21"/>
                </a:lnTo>
                <a:lnTo>
                  <a:pt x="196" y="23"/>
                </a:lnTo>
                <a:lnTo>
                  <a:pt x="180" y="26"/>
                </a:lnTo>
                <a:lnTo>
                  <a:pt x="164" y="28"/>
                </a:lnTo>
                <a:lnTo>
                  <a:pt x="147" y="31"/>
                </a:lnTo>
                <a:lnTo>
                  <a:pt x="131" y="33"/>
                </a:lnTo>
                <a:lnTo>
                  <a:pt x="114" y="35"/>
                </a:lnTo>
                <a:lnTo>
                  <a:pt x="98" y="38"/>
                </a:lnTo>
                <a:lnTo>
                  <a:pt x="82" y="39"/>
                </a:lnTo>
                <a:lnTo>
                  <a:pt x="65" y="41"/>
                </a:lnTo>
                <a:lnTo>
                  <a:pt x="49" y="42"/>
                </a:lnTo>
                <a:lnTo>
                  <a:pt x="33" y="43"/>
                </a:lnTo>
                <a:lnTo>
                  <a:pt x="16" y="44"/>
                </a:lnTo>
                <a:lnTo>
                  <a:pt x="0" y="44"/>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2057400" y="6229350"/>
            <a:ext cx="3743325" cy="142875"/>
          </a:xfrm>
          <a:custGeom>
            <a:avLst/>
            <a:gdLst/>
            <a:ahLst/>
            <a:cxnLst/>
            <a:rect l="l" t="t" r="r" b="b"/>
            <a:pathLst>
              <a:path w="393" h="15">
                <a:moveTo>
                  <a:pt x="0" y="13"/>
                </a:moveTo>
                <a:lnTo>
                  <a:pt x="16" y="13"/>
                </a:lnTo>
                <a:lnTo>
                  <a:pt x="33" y="13"/>
                </a:lnTo>
                <a:lnTo>
                  <a:pt x="49" y="12"/>
                </a:lnTo>
                <a:lnTo>
                  <a:pt x="65" y="12"/>
                </a:lnTo>
                <a:lnTo>
                  <a:pt x="82" y="12"/>
                </a:lnTo>
                <a:lnTo>
                  <a:pt x="98" y="11"/>
                </a:lnTo>
                <a:lnTo>
                  <a:pt x="114" y="10"/>
                </a:lnTo>
                <a:lnTo>
                  <a:pt x="131" y="10"/>
                </a:lnTo>
                <a:lnTo>
                  <a:pt x="147" y="9"/>
                </a:lnTo>
                <a:lnTo>
                  <a:pt x="164" y="8"/>
                </a:lnTo>
                <a:lnTo>
                  <a:pt x="180" y="7"/>
                </a:lnTo>
                <a:lnTo>
                  <a:pt x="196" y="6"/>
                </a:lnTo>
                <a:lnTo>
                  <a:pt x="213" y="5"/>
                </a:lnTo>
                <a:lnTo>
                  <a:pt x="229" y="5"/>
                </a:lnTo>
                <a:lnTo>
                  <a:pt x="246" y="4"/>
                </a:lnTo>
                <a:lnTo>
                  <a:pt x="262" y="3"/>
                </a:lnTo>
                <a:lnTo>
                  <a:pt x="278" y="2"/>
                </a:lnTo>
                <a:lnTo>
                  <a:pt x="295" y="2"/>
                </a:lnTo>
                <a:lnTo>
                  <a:pt x="311" y="1"/>
                </a:lnTo>
                <a:lnTo>
                  <a:pt x="327" y="1"/>
                </a:lnTo>
                <a:lnTo>
                  <a:pt x="344" y="0"/>
                </a:lnTo>
                <a:lnTo>
                  <a:pt x="360" y="0"/>
                </a:lnTo>
                <a:lnTo>
                  <a:pt x="377" y="0"/>
                </a:lnTo>
                <a:lnTo>
                  <a:pt x="393" y="0"/>
                </a:lnTo>
                <a:lnTo>
                  <a:pt x="393" y="1"/>
                </a:lnTo>
                <a:lnTo>
                  <a:pt x="377" y="2"/>
                </a:lnTo>
                <a:lnTo>
                  <a:pt x="360" y="2"/>
                </a:lnTo>
                <a:lnTo>
                  <a:pt x="344" y="2"/>
                </a:lnTo>
                <a:lnTo>
                  <a:pt x="327" y="2"/>
                </a:lnTo>
                <a:lnTo>
                  <a:pt x="311" y="3"/>
                </a:lnTo>
                <a:lnTo>
                  <a:pt x="295" y="4"/>
                </a:lnTo>
                <a:lnTo>
                  <a:pt x="278" y="4"/>
                </a:lnTo>
                <a:lnTo>
                  <a:pt x="262" y="5"/>
                </a:lnTo>
                <a:lnTo>
                  <a:pt x="246" y="6"/>
                </a:lnTo>
                <a:lnTo>
                  <a:pt x="229" y="7"/>
                </a:lnTo>
                <a:lnTo>
                  <a:pt x="213" y="7"/>
                </a:lnTo>
                <a:lnTo>
                  <a:pt x="196" y="8"/>
                </a:lnTo>
                <a:lnTo>
                  <a:pt x="180" y="9"/>
                </a:lnTo>
                <a:lnTo>
                  <a:pt x="164" y="10"/>
                </a:lnTo>
                <a:lnTo>
                  <a:pt x="147" y="11"/>
                </a:lnTo>
                <a:lnTo>
                  <a:pt x="131" y="11"/>
                </a:lnTo>
                <a:lnTo>
                  <a:pt x="114" y="12"/>
                </a:lnTo>
                <a:lnTo>
                  <a:pt x="98" y="13"/>
                </a:lnTo>
                <a:lnTo>
                  <a:pt x="82" y="13"/>
                </a:lnTo>
                <a:lnTo>
                  <a:pt x="65" y="14"/>
                </a:lnTo>
                <a:lnTo>
                  <a:pt x="49" y="14"/>
                </a:lnTo>
                <a:lnTo>
                  <a:pt x="33" y="15"/>
                </a:lnTo>
                <a:lnTo>
                  <a:pt x="16" y="15"/>
                </a:lnTo>
                <a:lnTo>
                  <a:pt x="0" y="15"/>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2057400" y="6372225"/>
            <a:ext cx="3743325" cy="152400"/>
          </a:xfrm>
          <a:custGeom>
            <a:avLst/>
            <a:gdLst/>
            <a:ahLst/>
            <a:cxnLst/>
            <a:rect l="l" t="t" r="r" b="b"/>
            <a:pathLst>
              <a:path w="393" h="16">
                <a:moveTo>
                  <a:pt x="0" y="0"/>
                </a:moveTo>
                <a:lnTo>
                  <a:pt x="16" y="0"/>
                </a:lnTo>
                <a:lnTo>
                  <a:pt x="33" y="0"/>
                </a:lnTo>
                <a:lnTo>
                  <a:pt x="49" y="1"/>
                </a:lnTo>
                <a:lnTo>
                  <a:pt x="65" y="1"/>
                </a:lnTo>
                <a:lnTo>
                  <a:pt x="82" y="2"/>
                </a:lnTo>
                <a:lnTo>
                  <a:pt x="98" y="2"/>
                </a:lnTo>
                <a:lnTo>
                  <a:pt x="114" y="3"/>
                </a:lnTo>
                <a:lnTo>
                  <a:pt x="131" y="4"/>
                </a:lnTo>
                <a:lnTo>
                  <a:pt x="147" y="4"/>
                </a:lnTo>
                <a:lnTo>
                  <a:pt x="164" y="5"/>
                </a:lnTo>
                <a:lnTo>
                  <a:pt x="180" y="6"/>
                </a:lnTo>
                <a:lnTo>
                  <a:pt x="196" y="7"/>
                </a:lnTo>
                <a:lnTo>
                  <a:pt x="213" y="8"/>
                </a:lnTo>
                <a:lnTo>
                  <a:pt x="229" y="9"/>
                </a:lnTo>
                <a:lnTo>
                  <a:pt x="246" y="10"/>
                </a:lnTo>
                <a:lnTo>
                  <a:pt x="262" y="10"/>
                </a:lnTo>
                <a:lnTo>
                  <a:pt x="278" y="11"/>
                </a:lnTo>
                <a:lnTo>
                  <a:pt x="295" y="12"/>
                </a:lnTo>
                <a:lnTo>
                  <a:pt x="311" y="13"/>
                </a:lnTo>
                <a:lnTo>
                  <a:pt x="327" y="13"/>
                </a:lnTo>
                <a:lnTo>
                  <a:pt x="344" y="14"/>
                </a:lnTo>
                <a:lnTo>
                  <a:pt x="360" y="14"/>
                </a:lnTo>
                <a:lnTo>
                  <a:pt x="377" y="14"/>
                </a:lnTo>
                <a:lnTo>
                  <a:pt x="393" y="14"/>
                </a:lnTo>
                <a:lnTo>
                  <a:pt x="393" y="16"/>
                </a:lnTo>
                <a:lnTo>
                  <a:pt x="377" y="16"/>
                </a:lnTo>
                <a:lnTo>
                  <a:pt x="360" y="16"/>
                </a:lnTo>
                <a:lnTo>
                  <a:pt x="344" y="15"/>
                </a:lnTo>
                <a:lnTo>
                  <a:pt x="327" y="15"/>
                </a:lnTo>
                <a:lnTo>
                  <a:pt x="311" y="14"/>
                </a:lnTo>
                <a:lnTo>
                  <a:pt x="295" y="14"/>
                </a:lnTo>
                <a:lnTo>
                  <a:pt x="278" y="13"/>
                </a:lnTo>
                <a:lnTo>
                  <a:pt x="262" y="12"/>
                </a:lnTo>
                <a:lnTo>
                  <a:pt x="246" y="11"/>
                </a:lnTo>
                <a:lnTo>
                  <a:pt x="229" y="11"/>
                </a:lnTo>
                <a:lnTo>
                  <a:pt x="213" y="10"/>
                </a:lnTo>
                <a:lnTo>
                  <a:pt x="196" y="9"/>
                </a:lnTo>
                <a:lnTo>
                  <a:pt x="180" y="8"/>
                </a:lnTo>
                <a:lnTo>
                  <a:pt x="164" y="7"/>
                </a:lnTo>
                <a:lnTo>
                  <a:pt x="147" y="6"/>
                </a:lnTo>
                <a:lnTo>
                  <a:pt x="131" y="5"/>
                </a:lnTo>
                <a:lnTo>
                  <a:pt x="114" y="5"/>
                </a:lnTo>
                <a:lnTo>
                  <a:pt x="98" y="4"/>
                </a:lnTo>
                <a:lnTo>
                  <a:pt x="82" y="3"/>
                </a:lnTo>
                <a:lnTo>
                  <a:pt x="65" y="3"/>
                </a:lnTo>
                <a:lnTo>
                  <a:pt x="49" y="2"/>
                </a:lnTo>
                <a:lnTo>
                  <a:pt x="33" y="2"/>
                </a:lnTo>
                <a:lnTo>
                  <a:pt x="16" y="2"/>
                </a:lnTo>
                <a:lnTo>
                  <a:pt x="0" y="2"/>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2057400" y="4743450"/>
            <a:ext cx="3743325" cy="1724025"/>
          </a:xfrm>
          <a:custGeom>
            <a:avLst/>
            <a:gdLst/>
            <a:ahLst/>
            <a:cxnLst/>
            <a:rect l="l" t="t" r="r" b="b"/>
            <a:pathLst>
              <a:path w="393" h="181">
                <a:moveTo>
                  <a:pt x="0" y="179"/>
                </a:moveTo>
                <a:lnTo>
                  <a:pt x="16" y="178"/>
                </a:lnTo>
                <a:lnTo>
                  <a:pt x="33" y="175"/>
                </a:lnTo>
                <a:lnTo>
                  <a:pt x="49" y="171"/>
                </a:lnTo>
                <a:lnTo>
                  <a:pt x="65" y="166"/>
                </a:lnTo>
                <a:lnTo>
                  <a:pt x="82" y="159"/>
                </a:lnTo>
                <a:lnTo>
                  <a:pt x="98" y="151"/>
                </a:lnTo>
                <a:lnTo>
                  <a:pt x="114" y="142"/>
                </a:lnTo>
                <a:lnTo>
                  <a:pt x="131" y="132"/>
                </a:lnTo>
                <a:lnTo>
                  <a:pt x="147" y="122"/>
                </a:lnTo>
                <a:lnTo>
                  <a:pt x="164" y="111"/>
                </a:lnTo>
                <a:lnTo>
                  <a:pt x="180" y="100"/>
                </a:lnTo>
                <a:lnTo>
                  <a:pt x="196" y="89"/>
                </a:lnTo>
                <a:lnTo>
                  <a:pt x="213" y="78"/>
                </a:lnTo>
                <a:lnTo>
                  <a:pt x="229" y="67"/>
                </a:lnTo>
                <a:lnTo>
                  <a:pt x="246" y="56"/>
                </a:lnTo>
                <a:lnTo>
                  <a:pt x="262" y="46"/>
                </a:lnTo>
                <a:lnTo>
                  <a:pt x="278" y="36"/>
                </a:lnTo>
                <a:lnTo>
                  <a:pt x="295" y="28"/>
                </a:lnTo>
                <a:lnTo>
                  <a:pt x="311" y="20"/>
                </a:lnTo>
                <a:lnTo>
                  <a:pt x="327" y="13"/>
                </a:lnTo>
                <a:lnTo>
                  <a:pt x="344" y="7"/>
                </a:lnTo>
                <a:lnTo>
                  <a:pt x="360" y="3"/>
                </a:lnTo>
                <a:lnTo>
                  <a:pt x="377" y="0"/>
                </a:lnTo>
                <a:lnTo>
                  <a:pt x="393" y="0"/>
                </a:lnTo>
                <a:lnTo>
                  <a:pt x="393" y="2"/>
                </a:lnTo>
                <a:lnTo>
                  <a:pt x="377" y="3"/>
                </a:lnTo>
                <a:lnTo>
                  <a:pt x="360" y="5"/>
                </a:lnTo>
                <a:lnTo>
                  <a:pt x="344" y="9"/>
                </a:lnTo>
                <a:lnTo>
                  <a:pt x="327" y="15"/>
                </a:lnTo>
                <a:lnTo>
                  <a:pt x="311" y="22"/>
                </a:lnTo>
                <a:lnTo>
                  <a:pt x="295" y="30"/>
                </a:lnTo>
                <a:lnTo>
                  <a:pt x="278" y="39"/>
                </a:lnTo>
                <a:lnTo>
                  <a:pt x="262" y="48"/>
                </a:lnTo>
                <a:lnTo>
                  <a:pt x="246" y="58"/>
                </a:lnTo>
                <a:lnTo>
                  <a:pt x="229" y="69"/>
                </a:lnTo>
                <a:lnTo>
                  <a:pt x="213" y="80"/>
                </a:lnTo>
                <a:lnTo>
                  <a:pt x="196" y="91"/>
                </a:lnTo>
                <a:lnTo>
                  <a:pt x="180" y="102"/>
                </a:lnTo>
                <a:lnTo>
                  <a:pt x="164" y="114"/>
                </a:lnTo>
                <a:lnTo>
                  <a:pt x="147" y="124"/>
                </a:lnTo>
                <a:lnTo>
                  <a:pt x="131" y="134"/>
                </a:lnTo>
                <a:lnTo>
                  <a:pt x="114" y="144"/>
                </a:lnTo>
                <a:lnTo>
                  <a:pt x="98" y="153"/>
                </a:lnTo>
                <a:lnTo>
                  <a:pt x="82" y="161"/>
                </a:lnTo>
                <a:lnTo>
                  <a:pt x="65" y="168"/>
                </a:lnTo>
                <a:lnTo>
                  <a:pt x="49" y="173"/>
                </a:lnTo>
                <a:lnTo>
                  <a:pt x="33" y="177"/>
                </a:lnTo>
                <a:lnTo>
                  <a:pt x="16" y="180"/>
                </a:lnTo>
                <a:lnTo>
                  <a:pt x="0" y="181"/>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2057400" y="5229225"/>
            <a:ext cx="3743325" cy="1257300"/>
          </a:xfrm>
          <a:custGeom>
            <a:avLst/>
            <a:gdLst/>
            <a:ahLst/>
            <a:cxnLst/>
            <a:rect l="l" t="t" r="r" b="b"/>
            <a:pathLst>
              <a:path w="393" h="132">
                <a:moveTo>
                  <a:pt x="0" y="130"/>
                </a:moveTo>
                <a:lnTo>
                  <a:pt x="16" y="129"/>
                </a:lnTo>
                <a:lnTo>
                  <a:pt x="33" y="127"/>
                </a:lnTo>
                <a:lnTo>
                  <a:pt x="49" y="124"/>
                </a:lnTo>
                <a:lnTo>
                  <a:pt x="65" y="120"/>
                </a:lnTo>
                <a:lnTo>
                  <a:pt x="82" y="115"/>
                </a:lnTo>
                <a:lnTo>
                  <a:pt x="98" y="110"/>
                </a:lnTo>
                <a:lnTo>
                  <a:pt x="114" y="103"/>
                </a:lnTo>
                <a:lnTo>
                  <a:pt x="131" y="96"/>
                </a:lnTo>
                <a:lnTo>
                  <a:pt x="147" y="89"/>
                </a:lnTo>
                <a:lnTo>
                  <a:pt x="164" y="81"/>
                </a:lnTo>
                <a:lnTo>
                  <a:pt x="180" y="73"/>
                </a:lnTo>
                <a:lnTo>
                  <a:pt x="196" y="65"/>
                </a:lnTo>
                <a:lnTo>
                  <a:pt x="213" y="57"/>
                </a:lnTo>
                <a:lnTo>
                  <a:pt x="229" y="49"/>
                </a:lnTo>
                <a:lnTo>
                  <a:pt x="246" y="41"/>
                </a:lnTo>
                <a:lnTo>
                  <a:pt x="262" y="34"/>
                </a:lnTo>
                <a:lnTo>
                  <a:pt x="278" y="27"/>
                </a:lnTo>
                <a:lnTo>
                  <a:pt x="295" y="20"/>
                </a:lnTo>
                <a:lnTo>
                  <a:pt x="311" y="14"/>
                </a:lnTo>
                <a:lnTo>
                  <a:pt x="327" y="10"/>
                </a:lnTo>
                <a:lnTo>
                  <a:pt x="344" y="5"/>
                </a:lnTo>
                <a:lnTo>
                  <a:pt x="360" y="2"/>
                </a:lnTo>
                <a:lnTo>
                  <a:pt x="377" y="1"/>
                </a:lnTo>
                <a:lnTo>
                  <a:pt x="393" y="0"/>
                </a:lnTo>
                <a:lnTo>
                  <a:pt x="393" y="2"/>
                </a:lnTo>
                <a:lnTo>
                  <a:pt x="377" y="3"/>
                </a:lnTo>
                <a:lnTo>
                  <a:pt x="360" y="4"/>
                </a:lnTo>
                <a:lnTo>
                  <a:pt x="344" y="7"/>
                </a:lnTo>
                <a:lnTo>
                  <a:pt x="327" y="12"/>
                </a:lnTo>
                <a:lnTo>
                  <a:pt x="311" y="16"/>
                </a:lnTo>
                <a:lnTo>
                  <a:pt x="295" y="22"/>
                </a:lnTo>
                <a:lnTo>
                  <a:pt x="278" y="29"/>
                </a:lnTo>
                <a:lnTo>
                  <a:pt x="262" y="36"/>
                </a:lnTo>
                <a:lnTo>
                  <a:pt x="246" y="43"/>
                </a:lnTo>
                <a:lnTo>
                  <a:pt x="229" y="51"/>
                </a:lnTo>
                <a:lnTo>
                  <a:pt x="213" y="59"/>
                </a:lnTo>
                <a:lnTo>
                  <a:pt x="196" y="67"/>
                </a:lnTo>
                <a:lnTo>
                  <a:pt x="180" y="75"/>
                </a:lnTo>
                <a:lnTo>
                  <a:pt x="164" y="83"/>
                </a:lnTo>
                <a:lnTo>
                  <a:pt x="147" y="91"/>
                </a:lnTo>
                <a:lnTo>
                  <a:pt x="131" y="98"/>
                </a:lnTo>
                <a:lnTo>
                  <a:pt x="114" y="105"/>
                </a:lnTo>
                <a:lnTo>
                  <a:pt x="98" y="112"/>
                </a:lnTo>
                <a:lnTo>
                  <a:pt x="82" y="117"/>
                </a:lnTo>
                <a:lnTo>
                  <a:pt x="65" y="122"/>
                </a:lnTo>
                <a:lnTo>
                  <a:pt x="49" y="126"/>
                </a:lnTo>
                <a:lnTo>
                  <a:pt x="33" y="129"/>
                </a:lnTo>
                <a:lnTo>
                  <a:pt x="16" y="131"/>
                </a:lnTo>
                <a:lnTo>
                  <a:pt x="0" y="132"/>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2057400" y="5610225"/>
            <a:ext cx="3743325" cy="895350"/>
          </a:xfrm>
          <a:custGeom>
            <a:avLst/>
            <a:gdLst/>
            <a:ahLst/>
            <a:cxnLst/>
            <a:rect l="l" t="t" r="r" b="b"/>
            <a:pathLst>
              <a:path w="393" h="94">
                <a:moveTo>
                  <a:pt x="0" y="92"/>
                </a:moveTo>
                <a:lnTo>
                  <a:pt x="16" y="91"/>
                </a:lnTo>
                <a:lnTo>
                  <a:pt x="33" y="90"/>
                </a:lnTo>
                <a:lnTo>
                  <a:pt x="49" y="88"/>
                </a:lnTo>
                <a:lnTo>
                  <a:pt x="65" y="85"/>
                </a:lnTo>
                <a:lnTo>
                  <a:pt x="82" y="82"/>
                </a:lnTo>
                <a:lnTo>
                  <a:pt x="98" y="78"/>
                </a:lnTo>
                <a:lnTo>
                  <a:pt x="114" y="73"/>
                </a:lnTo>
                <a:lnTo>
                  <a:pt x="131" y="68"/>
                </a:lnTo>
                <a:lnTo>
                  <a:pt x="147" y="63"/>
                </a:lnTo>
                <a:lnTo>
                  <a:pt x="164" y="57"/>
                </a:lnTo>
                <a:lnTo>
                  <a:pt x="180" y="52"/>
                </a:lnTo>
                <a:lnTo>
                  <a:pt x="196" y="46"/>
                </a:lnTo>
                <a:lnTo>
                  <a:pt x="213" y="40"/>
                </a:lnTo>
                <a:lnTo>
                  <a:pt x="229" y="35"/>
                </a:lnTo>
                <a:lnTo>
                  <a:pt x="246" y="29"/>
                </a:lnTo>
                <a:lnTo>
                  <a:pt x="262" y="24"/>
                </a:lnTo>
                <a:lnTo>
                  <a:pt x="278" y="19"/>
                </a:lnTo>
                <a:lnTo>
                  <a:pt x="295" y="14"/>
                </a:lnTo>
                <a:lnTo>
                  <a:pt x="311" y="10"/>
                </a:lnTo>
                <a:lnTo>
                  <a:pt x="327" y="7"/>
                </a:lnTo>
                <a:lnTo>
                  <a:pt x="344" y="4"/>
                </a:lnTo>
                <a:lnTo>
                  <a:pt x="360" y="2"/>
                </a:lnTo>
                <a:lnTo>
                  <a:pt x="377" y="0"/>
                </a:lnTo>
                <a:lnTo>
                  <a:pt x="393" y="0"/>
                </a:lnTo>
                <a:lnTo>
                  <a:pt x="393" y="2"/>
                </a:lnTo>
                <a:lnTo>
                  <a:pt x="377" y="2"/>
                </a:lnTo>
                <a:lnTo>
                  <a:pt x="360" y="3"/>
                </a:lnTo>
                <a:lnTo>
                  <a:pt x="344" y="6"/>
                </a:lnTo>
                <a:lnTo>
                  <a:pt x="327" y="8"/>
                </a:lnTo>
                <a:lnTo>
                  <a:pt x="311" y="12"/>
                </a:lnTo>
                <a:lnTo>
                  <a:pt x="295" y="16"/>
                </a:lnTo>
                <a:lnTo>
                  <a:pt x="278" y="20"/>
                </a:lnTo>
                <a:lnTo>
                  <a:pt x="262" y="25"/>
                </a:lnTo>
                <a:lnTo>
                  <a:pt x="246" y="31"/>
                </a:lnTo>
                <a:lnTo>
                  <a:pt x="229" y="36"/>
                </a:lnTo>
                <a:lnTo>
                  <a:pt x="213" y="42"/>
                </a:lnTo>
                <a:lnTo>
                  <a:pt x="196" y="48"/>
                </a:lnTo>
                <a:lnTo>
                  <a:pt x="180" y="53"/>
                </a:lnTo>
                <a:lnTo>
                  <a:pt x="164" y="59"/>
                </a:lnTo>
                <a:lnTo>
                  <a:pt x="147" y="64"/>
                </a:lnTo>
                <a:lnTo>
                  <a:pt x="131" y="70"/>
                </a:lnTo>
                <a:lnTo>
                  <a:pt x="114" y="75"/>
                </a:lnTo>
                <a:lnTo>
                  <a:pt x="98" y="79"/>
                </a:lnTo>
                <a:lnTo>
                  <a:pt x="82" y="83"/>
                </a:lnTo>
                <a:lnTo>
                  <a:pt x="65" y="87"/>
                </a:lnTo>
                <a:lnTo>
                  <a:pt x="49" y="90"/>
                </a:lnTo>
                <a:lnTo>
                  <a:pt x="33" y="92"/>
                </a:lnTo>
                <a:lnTo>
                  <a:pt x="16" y="93"/>
                </a:lnTo>
                <a:lnTo>
                  <a:pt x="0" y="94"/>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2057400" y="5953125"/>
            <a:ext cx="3743325" cy="561975"/>
          </a:xfrm>
          <a:custGeom>
            <a:avLst/>
            <a:gdLst/>
            <a:ahLst/>
            <a:cxnLst/>
            <a:rect l="l" t="t" r="r" b="b"/>
            <a:pathLst>
              <a:path w="393" h="59">
                <a:moveTo>
                  <a:pt x="0" y="58"/>
                </a:moveTo>
                <a:lnTo>
                  <a:pt x="16" y="57"/>
                </a:lnTo>
                <a:lnTo>
                  <a:pt x="33" y="56"/>
                </a:lnTo>
                <a:lnTo>
                  <a:pt x="49" y="55"/>
                </a:lnTo>
                <a:lnTo>
                  <a:pt x="65" y="53"/>
                </a:lnTo>
                <a:lnTo>
                  <a:pt x="82" y="51"/>
                </a:lnTo>
                <a:lnTo>
                  <a:pt x="98" y="49"/>
                </a:lnTo>
                <a:lnTo>
                  <a:pt x="114" y="46"/>
                </a:lnTo>
                <a:lnTo>
                  <a:pt x="131" y="43"/>
                </a:lnTo>
                <a:lnTo>
                  <a:pt x="147" y="39"/>
                </a:lnTo>
                <a:lnTo>
                  <a:pt x="164" y="36"/>
                </a:lnTo>
                <a:lnTo>
                  <a:pt x="180" y="32"/>
                </a:lnTo>
                <a:lnTo>
                  <a:pt x="196" y="29"/>
                </a:lnTo>
                <a:lnTo>
                  <a:pt x="213" y="25"/>
                </a:lnTo>
                <a:lnTo>
                  <a:pt x="229" y="22"/>
                </a:lnTo>
                <a:lnTo>
                  <a:pt x="246" y="18"/>
                </a:lnTo>
                <a:lnTo>
                  <a:pt x="262" y="15"/>
                </a:lnTo>
                <a:lnTo>
                  <a:pt x="278" y="12"/>
                </a:lnTo>
                <a:lnTo>
                  <a:pt x="295" y="9"/>
                </a:lnTo>
                <a:lnTo>
                  <a:pt x="311" y="7"/>
                </a:lnTo>
                <a:lnTo>
                  <a:pt x="327" y="5"/>
                </a:lnTo>
                <a:lnTo>
                  <a:pt x="344" y="3"/>
                </a:lnTo>
                <a:lnTo>
                  <a:pt x="360" y="1"/>
                </a:lnTo>
                <a:lnTo>
                  <a:pt x="377" y="1"/>
                </a:lnTo>
                <a:lnTo>
                  <a:pt x="393" y="0"/>
                </a:lnTo>
                <a:lnTo>
                  <a:pt x="393" y="2"/>
                </a:lnTo>
                <a:lnTo>
                  <a:pt x="377" y="2"/>
                </a:lnTo>
                <a:lnTo>
                  <a:pt x="360" y="3"/>
                </a:lnTo>
                <a:lnTo>
                  <a:pt x="344" y="4"/>
                </a:lnTo>
                <a:lnTo>
                  <a:pt x="327" y="6"/>
                </a:lnTo>
                <a:lnTo>
                  <a:pt x="311" y="8"/>
                </a:lnTo>
                <a:lnTo>
                  <a:pt x="295" y="10"/>
                </a:lnTo>
                <a:lnTo>
                  <a:pt x="278" y="13"/>
                </a:lnTo>
                <a:lnTo>
                  <a:pt x="262" y="16"/>
                </a:lnTo>
                <a:lnTo>
                  <a:pt x="246" y="20"/>
                </a:lnTo>
                <a:lnTo>
                  <a:pt x="229" y="23"/>
                </a:lnTo>
                <a:lnTo>
                  <a:pt x="213" y="27"/>
                </a:lnTo>
                <a:lnTo>
                  <a:pt x="196" y="30"/>
                </a:lnTo>
                <a:lnTo>
                  <a:pt x="180" y="34"/>
                </a:lnTo>
                <a:lnTo>
                  <a:pt x="164" y="37"/>
                </a:lnTo>
                <a:lnTo>
                  <a:pt x="147" y="41"/>
                </a:lnTo>
                <a:lnTo>
                  <a:pt x="131" y="44"/>
                </a:lnTo>
                <a:lnTo>
                  <a:pt x="114" y="47"/>
                </a:lnTo>
                <a:lnTo>
                  <a:pt x="98" y="50"/>
                </a:lnTo>
                <a:lnTo>
                  <a:pt x="82" y="52"/>
                </a:lnTo>
                <a:lnTo>
                  <a:pt x="65" y="55"/>
                </a:lnTo>
                <a:lnTo>
                  <a:pt x="49" y="56"/>
                </a:lnTo>
                <a:lnTo>
                  <a:pt x="33" y="58"/>
                </a:lnTo>
                <a:lnTo>
                  <a:pt x="16" y="59"/>
                </a:lnTo>
                <a:lnTo>
                  <a:pt x="0" y="59"/>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2057400" y="6238875"/>
            <a:ext cx="3743325" cy="285750"/>
          </a:xfrm>
          <a:custGeom>
            <a:avLst/>
            <a:gdLst/>
            <a:ahLst/>
            <a:cxnLst/>
            <a:rect l="l" t="t" r="r" b="b"/>
            <a:pathLst>
              <a:path w="393" h="30">
                <a:moveTo>
                  <a:pt x="0" y="29"/>
                </a:moveTo>
                <a:lnTo>
                  <a:pt x="16" y="29"/>
                </a:lnTo>
                <a:lnTo>
                  <a:pt x="33" y="28"/>
                </a:lnTo>
                <a:lnTo>
                  <a:pt x="49" y="28"/>
                </a:lnTo>
                <a:lnTo>
                  <a:pt x="65" y="27"/>
                </a:lnTo>
                <a:lnTo>
                  <a:pt x="82" y="26"/>
                </a:lnTo>
                <a:lnTo>
                  <a:pt x="98" y="24"/>
                </a:lnTo>
                <a:lnTo>
                  <a:pt x="114" y="23"/>
                </a:lnTo>
                <a:lnTo>
                  <a:pt x="131" y="21"/>
                </a:lnTo>
                <a:lnTo>
                  <a:pt x="147" y="20"/>
                </a:lnTo>
                <a:lnTo>
                  <a:pt x="164" y="18"/>
                </a:lnTo>
                <a:lnTo>
                  <a:pt x="180" y="16"/>
                </a:lnTo>
                <a:lnTo>
                  <a:pt x="196" y="15"/>
                </a:lnTo>
                <a:lnTo>
                  <a:pt x="213" y="13"/>
                </a:lnTo>
                <a:lnTo>
                  <a:pt x="229" y="11"/>
                </a:lnTo>
                <a:lnTo>
                  <a:pt x="246" y="9"/>
                </a:lnTo>
                <a:lnTo>
                  <a:pt x="262" y="8"/>
                </a:lnTo>
                <a:lnTo>
                  <a:pt x="278" y="6"/>
                </a:lnTo>
                <a:lnTo>
                  <a:pt x="295" y="5"/>
                </a:lnTo>
                <a:lnTo>
                  <a:pt x="311" y="4"/>
                </a:lnTo>
                <a:lnTo>
                  <a:pt x="327" y="3"/>
                </a:lnTo>
                <a:lnTo>
                  <a:pt x="344" y="2"/>
                </a:lnTo>
                <a:lnTo>
                  <a:pt x="360" y="1"/>
                </a:lnTo>
                <a:lnTo>
                  <a:pt x="377" y="1"/>
                </a:lnTo>
                <a:lnTo>
                  <a:pt x="393" y="0"/>
                </a:lnTo>
                <a:lnTo>
                  <a:pt x="393" y="2"/>
                </a:lnTo>
                <a:lnTo>
                  <a:pt x="377" y="2"/>
                </a:lnTo>
                <a:lnTo>
                  <a:pt x="360" y="2"/>
                </a:lnTo>
                <a:lnTo>
                  <a:pt x="344" y="3"/>
                </a:lnTo>
                <a:lnTo>
                  <a:pt x="327" y="4"/>
                </a:lnTo>
                <a:lnTo>
                  <a:pt x="311" y="5"/>
                </a:lnTo>
                <a:lnTo>
                  <a:pt x="295" y="6"/>
                </a:lnTo>
                <a:lnTo>
                  <a:pt x="278" y="7"/>
                </a:lnTo>
                <a:lnTo>
                  <a:pt x="262" y="9"/>
                </a:lnTo>
                <a:lnTo>
                  <a:pt x="246" y="11"/>
                </a:lnTo>
                <a:lnTo>
                  <a:pt x="229" y="12"/>
                </a:lnTo>
                <a:lnTo>
                  <a:pt x="213" y="14"/>
                </a:lnTo>
                <a:lnTo>
                  <a:pt x="196" y="16"/>
                </a:lnTo>
                <a:lnTo>
                  <a:pt x="180" y="18"/>
                </a:lnTo>
                <a:lnTo>
                  <a:pt x="164" y="19"/>
                </a:lnTo>
                <a:lnTo>
                  <a:pt x="147" y="21"/>
                </a:lnTo>
                <a:lnTo>
                  <a:pt x="131" y="23"/>
                </a:lnTo>
                <a:lnTo>
                  <a:pt x="114" y="24"/>
                </a:lnTo>
                <a:lnTo>
                  <a:pt x="98" y="26"/>
                </a:lnTo>
                <a:lnTo>
                  <a:pt x="82" y="27"/>
                </a:lnTo>
                <a:lnTo>
                  <a:pt x="65" y="28"/>
                </a:lnTo>
                <a:lnTo>
                  <a:pt x="49" y="29"/>
                </a:lnTo>
                <a:lnTo>
                  <a:pt x="33" y="29"/>
                </a:lnTo>
                <a:lnTo>
                  <a:pt x="16" y="30"/>
                </a:lnTo>
                <a:lnTo>
                  <a:pt x="0" y="30"/>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2057400" y="6524625"/>
            <a:ext cx="3743325" cy="9525"/>
          </a:xfrm>
          <a:custGeom>
            <a:avLst/>
            <a:gdLst/>
            <a:ahLst/>
            <a:cxnLst/>
            <a:rect l="l" t="t" r="r" b="b"/>
            <a:pathLst>
              <a:path w="393" h="1">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1"/>
                </a:lnTo>
                <a:lnTo>
                  <a:pt x="377" y="1"/>
                </a:lnTo>
                <a:lnTo>
                  <a:pt x="360" y="1"/>
                </a:lnTo>
                <a:lnTo>
                  <a:pt x="344" y="1"/>
                </a:lnTo>
                <a:lnTo>
                  <a:pt x="327" y="1"/>
                </a:lnTo>
                <a:lnTo>
                  <a:pt x="311" y="1"/>
                </a:lnTo>
                <a:lnTo>
                  <a:pt x="295" y="1"/>
                </a:lnTo>
                <a:lnTo>
                  <a:pt x="278" y="1"/>
                </a:lnTo>
                <a:lnTo>
                  <a:pt x="262" y="1"/>
                </a:lnTo>
                <a:lnTo>
                  <a:pt x="246" y="1"/>
                </a:lnTo>
                <a:lnTo>
                  <a:pt x="229" y="1"/>
                </a:lnTo>
                <a:lnTo>
                  <a:pt x="213" y="1"/>
                </a:lnTo>
                <a:lnTo>
                  <a:pt x="196" y="1"/>
                </a:lnTo>
                <a:lnTo>
                  <a:pt x="180" y="1"/>
                </a:lnTo>
                <a:lnTo>
                  <a:pt x="164" y="1"/>
                </a:lnTo>
                <a:lnTo>
                  <a:pt x="147" y="1"/>
                </a:lnTo>
                <a:lnTo>
                  <a:pt x="131" y="1"/>
                </a:lnTo>
                <a:lnTo>
                  <a:pt x="114" y="1"/>
                </a:lnTo>
                <a:lnTo>
                  <a:pt x="98" y="1"/>
                </a:lnTo>
                <a:lnTo>
                  <a:pt x="82" y="1"/>
                </a:lnTo>
                <a:lnTo>
                  <a:pt x="65" y="1"/>
                </a:lnTo>
                <a:lnTo>
                  <a:pt x="49" y="1"/>
                </a:lnTo>
                <a:lnTo>
                  <a:pt x="33" y="1"/>
                </a:lnTo>
                <a:lnTo>
                  <a:pt x="16" y="1"/>
                </a:lnTo>
                <a:lnTo>
                  <a:pt x="0" y="1"/>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941195" y="4314825"/>
            <a:ext cx="114300" cy="727732"/>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941195" y="5099707"/>
            <a:ext cx="114300" cy="408006"/>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941195" y="5564863"/>
            <a:ext cx="114300" cy="360623"/>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941195" y="5982636"/>
            <a:ext cx="114300" cy="199811"/>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941195" y="6239596"/>
            <a:ext cx="114300" cy="149880"/>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941195" y="6446626"/>
            <a:ext cx="114300" cy="87524"/>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800725" y="4314825"/>
            <a:ext cx="114300" cy="44452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800725" y="4816504"/>
            <a:ext cx="114300" cy="43092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800725" y="5304576"/>
            <a:ext cx="114300" cy="320490"/>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800725" y="5682216"/>
            <a:ext cx="114300" cy="285557"/>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800725" y="6024923"/>
            <a:ext cx="114300" cy="229537"/>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5800725" y="6311610"/>
            <a:ext cx="114300" cy="222540"/>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57175" y="4607254"/>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5" name="TextBox 64"/>
          <p:cNvSpPr txBox="1"/>
          <p:nvPr/>
        </p:nvSpPr>
        <p:spPr>
          <a:xfrm>
            <a:off x="257175" y="5232273"/>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6" name="TextBox 65"/>
          <p:cNvSpPr txBox="1"/>
          <p:nvPr/>
        </p:nvSpPr>
        <p:spPr>
          <a:xfrm>
            <a:off x="257175" y="5673737"/>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7" name="TextBox 66"/>
          <p:cNvSpPr txBox="1"/>
          <p:nvPr/>
        </p:nvSpPr>
        <p:spPr>
          <a:xfrm>
            <a:off x="257175" y="6011103"/>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8" name="TextBox 67"/>
          <p:cNvSpPr txBox="1"/>
          <p:nvPr/>
        </p:nvSpPr>
        <p:spPr>
          <a:xfrm>
            <a:off x="257175" y="6238875"/>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9" name="TextBox 68"/>
          <p:cNvSpPr txBox="1"/>
          <p:nvPr/>
        </p:nvSpPr>
        <p:spPr>
          <a:xfrm>
            <a:off x="257175" y="6391275"/>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70" name="TextBox 69"/>
          <p:cNvSpPr txBox="1"/>
          <p:nvPr/>
        </p:nvSpPr>
        <p:spPr>
          <a:xfrm>
            <a:off x="5972175" y="4465652"/>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71" name="TextBox 70"/>
          <p:cNvSpPr txBox="1"/>
          <p:nvPr/>
        </p:nvSpPr>
        <p:spPr>
          <a:xfrm>
            <a:off x="5972175" y="4908140"/>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72" name="TextBox 71"/>
          <p:cNvSpPr txBox="1"/>
          <p:nvPr/>
        </p:nvSpPr>
        <p:spPr>
          <a:xfrm>
            <a:off x="5972175" y="5393383"/>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73" name="TextBox 72"/>
          <p:cNvSpPr txBox="1"/>
          <p:nvPr/>
        </p:nvSpPr>
        <p:spPr>
          <a:xfrm>
            <a:off x="5972175" y="5701170"/>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74" name="TextBox 73"/>
          <p:cNvSpPr txBox="1"/>
          <p:nvPr/>
        </p:nvSpPr>
        <p:spPr>
          <a:xfrm>
            <a:off x="5972175" y="6068254"/>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75" name="TextBox 74"/>
          <p:cNvSpPr txBox="1"/>
          <p:nvPr/>
        </p:nvSpPr>
        <p:spPr>
          <a:xfrm>
            <a:off x="5972175" y="6286500"/>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76" name="Rounded Rectangle 75"/>
          <p:cNvSpPr/>
          <p:nvPr/>
        </p:nvSpPr>
        <p:spPr>
          <a:xfrm>
            <a:off x="7581900" y="3990975"/>
            <a:ext cx="4457700" cy="2638425"/>
          </a:xfrm>
          <a:prstGeom prst="roundRect">
            <a:avLst>
              <a:gd name="adj" fmla="val 288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715250" y="4076700"/>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78" name="Rectangle 77"/>
          <p:cNvSpPr/>
          <p:nvPr/>
        </p:nvSpPr>
        <p:spPr>
          <a:xfrm>
            <a:off x="7715250" y="43148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715250" y="4400550"/>
            <a:ext cx="4191000" cy="21526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80" name="TextBox 7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1" name="Picture 80" descr="lock.png"/>
          <p:cNvPicPr>
            <a:picLocks noChangeAspect="1"/>
          </p:cNvPicPr>
          <p:nvPr/>
        </p:nvPicPr>
        <p:blipFill>
          <a:blip r:embed="rId4"/>
          <a:stretch>
            <a:fillRect/>
          </a:stretch>
        </p:blipFill>
        <p:spPr>
          <a:xfrm>
            <a:off x="6919854" y="2519100"/>
            <a:ext cx="366712" cy="533400"/>
          </a:xfrm>
          <a:prstGeom prst="rect">
            <a:avLst/>
          </a:prstGeom>
        </p:spPr>
      </p:pic>
      <p:sp>
        <p:nvSpPr>
          <p:cNvPr id="82" name="TextBox 81"/>
          <p:cNvSpPr txBox="1"/>
          <p:nvPr/>
        </p:nvSpPr>
        <p:spPr>
          <a:xfrm>
            <a:off x="852571" y="4618341"/>
            <a:ext cx="977723" cy="139750"/>
          </a:xfrm>
          <a:prstGeom prst="rect">
            <a:avLst/>
          </a:prstGeom>
          <a:noFill/>
        </p:spPr>
        <p:txBody>
          <a:bodyPr wrap="none" lIns="0" rIns="0" tIns="0" bIns="0">
            <a:spAutoFit/>
          </a:bodyPr>
          <a:lstStyle/>
          <a:p>
            <a:r>
              <a:rPr sz="791" b="1">
                <a:solidFill>
                  <a:srgbClr val="2E2E2E"/>
                </a:solidFill>
                <a:latin typeface="Calibri"/>
              </a:rPr>
              <a:t>Capsules and Softgels</a:t>
            </a:r>
          </a:p>
        </p:txBody>
      </p:sp>
      <p:pic>
        <p:nvPicPr>
          <p:cNvPr id="83" name="Picture 82" descr="lock.png"/>
          <p:cNvPicPr>
            <a:picLocks noChangeAspect="1"/>
          </p:cNvPicPr>
          <p:nvPr/>
        </p:nvPicPr>
        <p:blipFill>
          <a:blip r:embed="rId4"/>
          <a:stretch>
            <a:fillRect/>
          </a:stretch>
        </p:blipFill>
        <p:spPr>
          <a:xfrm>
            <a:off x="1771555" y="4611300"/>
            <a:ext cx="92663" cy="134782"/>
          </a:xfrm>
          <a:prstGeom prst="rect">
            <a:avLst/>
          </a:prstGeom>
        </p:spPr>
      </p:pic>
      <p:sp>
        <p:nvSpPr>
          <p:cNvPr id="84" name="TextBox 83"/>
          <p:cNvSpPr txBox="1"/>
          <p:nvPr/>
        </p:nvSpPr>
        <p:spPr>
          <a:xfrm>
            <a:off x="1449985" y="5243360"/>
            <a:ext cx="380309" cy="139750"/>
          </a:xfrm>
          <a:prstGeom prst="rect">
            <a:avLst/>
          </a:prstGeom>
          <a:noFill/>
        </p:spPr>
        <p:txBody>
          <a:bodyPr wrap="none" lIns="0" rIns="0" tIns="0" bIns="0">
            <a:spAutoFit/>
          </a:bodyPr>
          <a:lstStyle/>
          <a:p>
            <a:r>
              <a:rPr sz="791" b="1">
                <a:solidFill>
                  <a:srgbClr val="2E2E2E"/>
                </a:solidFill>
                <a:latin typeface="Calibri"/>
              </a:rPr>
              <a:t>Tablets</a:t>
            </a:r>
          </a:p>
        </p:txBody>
      </p:sp>
      <p:pic>
        <p:nvPicPr>
          <p:cNvPr id="85" name="Picture 84" descr="lock.png"/>
          <p:cNvPicPr>
            <a:picLocks noChangeAspect="1"/>
          </p:cNvPicPr>
          <p:nvPr/>
        </p:nvPicPr>
        <p:blipFill>
          <a:blip r:embed="rId4"/>
          <a:stretch>
            <a:fillRect/>
          </a:stretch>
        </p:blipFill>
        <p:spPr>
          <a:xfrm>
            <a:off x="1771555" y="5236319"/>
            <a:ext cx="92663" cy="134782"/>
          </a:xfrm>
          <a:prstGeom prst="rect">
            <a:avLst/>
          </a:prstGeom>
        </p:spPr>
      </p:pic>
      <p:sp>
        <p:nvSpPr>
          <p:cNvPr id="86" name="TextBox 85"/>
          <p:cNvSpPr txBox="1"/>
          <p:nvPr/>
        </p:nvSpPr>
        <p:spPr>
          <a:xfrm>
            <a:off x="1301859" y="5684824"/>
            <a:ext cx="528435" cy="139750"/>
          </a:xfrm>
          <a:prstGeom prst="rect">
            <a:avLst/>
          </a:prstGeom>
          <a:noFill/>
        </p:spPr>
        <p:txBody>
          <a:bodyPr wrap="none" lIns="0" rIns="0" tIns="0" bIns="0">
            <a:spAutoFit/>
          </a:bodyPr>
          <a:lstStyle/>
          <a:p>
            <a:r>
              <a:rPr sz="791" b="1">
                <a:solidFill>
                  <a:srgbClr val="2E2E2E"/>
                </a:solidFill>
                <a:latin typeface="Calibri"/>
              </a:rPr>
              <a:t>Chewables</a:t>
            </a:r>
          </a:p>
        </p:txBody>
      </p:sp>
      <p:pic>
        <p:nvPicPr>
          <p:cNvPr id="87" name="Picture 86" descr="lock.png"/>
          <p:cNvPicPr>
            <a:picLocks noChangeAspect="1"/>
          </p:cNvPicPr>
          <p:nvPr/>
        </p:nvPicPr>
        <p:blipFill>
          <a:blip r:embed="rId4"/>
          <a:stretch>
            <a:fillRect/>
          </a:stretch>
        </p:blipFill>
        <p:spPr>
          <a:xfrm>
            <a:off x="1771555" y="5677783"/>
            <a:ext cx="92663" cy="134782"/>
          </a:xfrm>
          <a:prstGeom prst="rect">
            <a:avLst/>
          </a:prstGeom>
        </p:spPr>
      </p:pic>
      <p:sp>
        <p:nvSpPr>
          <p:cNvPr id="88" name="TextBox 87"/>
          <p:cNvSpPr txBox="1"/>
          <p:nvPr/>
        </p:nvSpPr>
        <p:spPr>
          <a:xfrm>
            <a:off x="1102066" y="6022190"/>
            <a:ext cx="728227" cy="139750"/>
          </a:xfrm>
          <a:prstGeom prst="rect">
            <a:avLst/>
          </a:prstGeom>
          <a:noFill/>
        </p:spPr>
        <p:txBody>
          <a:bodyPr wrap="none" lIns="0" rIns="0" tIns="0" bIns="0">
            <a:spAutoFit/>
          </a:bodyPr>
          <a:lstStyle/>
          <a:p>
            <a:r>
              <a:rPr sz="791" b="1">
                <a:solidFill>
                  <a:srgbClr val="2E2E2E"/>
                </a:solidFill>
                <a:latin typeface="Calibri"/>
              </a:rPr>
              <a:t>Gels and Pastes</a:t>
            </a:r>
          </a:p>
        </p:txBody>
      </p:sp>
      <p:pic>
        <p:nvPicPr>
          <p:cNvPr id="89" name="Picture 88" descr="lock.png"/>
          <p:cNvPicPr>
            <a:picLocks noChangeAspect="1"/>
          </p:cNvPicPr>
          <p:nvPr/>
        </p:nvPicPr>
        <p:blipFill>
          <a:blip r:embed="rId4"/>
          <a:stretch>
            <a:fillRect/>
          </a:stretch>
        </p:blipFill>
        <p:spPr>
          <a:xfrm>
            <a:off x="1771555" y="6015149"/>
            <a:ext cx="92663" cy="134782"/>
          </a:xfrm>
          <a:prstGeom prst="rect">
            <a:avLst/>
          </a:prstGeom>
        </p:spPr>
      </p:pic>
      <p:sp>
        <p:nvSpPr>
          <p:cNvPr id="90" name="TextBox 89"/>
          <p:cNvSpPr txBox="1"/>
          <p:nvPr/>
        </p:nvSpPr>
        <p:spPr>
          <a:xfrm>
            <a:off x="1459807" y="6249962"/>
            <a:ext cx="370486" cy="139750"/>
          </a:xfrm>
          <a:prstGeom prst="rect">
            <a:avLst/>
          </a:prstGeom>
          <a:noFill/>
        </p:spPr>
        <p:txBody>
          <a:bodyPr wrap="none" lIns="0" rIns="0" tIns="0" bIns="0">
            <a:spAutoFit/>
          </a:bodyPr>
          <a:lstStyle/>
          <a:p>
            <a:r>
              <a:rPr sz="791" b="1">
                <a:solidFill>
                  <a:srgbClr val="2E2E2E"/>
                </a:solidFill>
                <a:latin typeface="Calibri"/>
              </a:rPr>
              <a:t>Liquids</a:t>
            </a:r>
          </a:p>
        </p:txBody>
      </p:sp>
      <p:pic>
        <p:nvPicPr>
          <p:cNvPr id="91" name="Picture 90" descr="lock.png"/>
          <p:cNvPicPr>
            <a:picLocks noChangeAspect="1"/>
          </p:cNvPicPr>
          <p:nvPr/>
        </p:nvPicPr>
        <p:blipFill>
          <a:blip r:embed="rId4"/>
          <a:stretch>
            <a:fillRect/>
          </a:stretch>
        </p:blipFill>
        <p:spPr>
          <a:xfrm>
            <a:off x="1771555" y="6242921"/>
            <a:ext cx="92663" cy="134782"/>
          </a:xfrm>
          <a:prstGeom prst="rect">
            <a:avLst/>
          </a:prstGeom>
        </p:spPr>
      </p:pic>
      <p:sp>
        <p:nvSpPr>
          <p:cNvPr id="92" name="TextBox 91"/>
          <p:cNvSpPr txBox="1"/>
          <p:nvPr/>
        </p:nvSpPr>
        <p:spPr>
          <a:xfrm>
            <a:off x="814459" y="6402362"/>
            <a:ext cx="1015835" cy="139750"/>
          </a:xfrm>
          <a:prstGeom prst="rect">
            <a:avLst/>
          </a:prstGeom>
          <a:noFill/>
        </p:spPr>
        <p:txBody>
          <a:bodyPr wrap="none" lIns="0" rIns="0" tIns="0" bIns="0">
            <a:spAutoFit/>
          </a:bodyPr>
          <a:lstStyle/>
          <a:p>
            <a:r>
              <a:rPr sz="791" b="1">
                <a:solidFill>
                  <a:srgbClr val="2E2E2E"/>
                </a:solidFill>
                <a:latin typeface="Calibri"/>
              </a:rPr>
              <a:t>Powders and Granules</a:t>
            </a:r>
          </a:p>
        </p:txBody>
      </p:sp>
      <p:pic>
        <p:nvPicPr>
          <p:cNvPr id="93" name="Picture 92" descr="lock.png"/>
          <p:cNvPicPr>
            <a:picLocks noChangeAspect="1"/>
          </p:cNvPicPr>
          <p:nvPr/>
        </p:nvPicPr>
        <p:blipFill>
          <a:blip r:embed="rId4"/>
          <a:stretch>
            <a:fillRect/>
          </a:stretch>
        </p:blipFill>
        <p:spPr>
          <a:xfrm>
            <a:off x="1771555" y="6395321"/>
            <a:ext cx="92663" cy="134782"/>
          </a:xfrm>
          <a:prstGeom prst="rect">
            <a:avLst/>
          </a:prstGeom>
        </p:spPr>
      </p:pic>
      <p:sp>
        <p:nvSpPr>
          <p:cNvPr id="94" name="TextBox 93"/>
          <p:cNvSpPr txBox="1"/>
          <p:nvPr/>
        </p:nvSpPr>
        <p:spPr>
          <a:xfrm>
            <a:off x="5972175" y="4476739"/>
            <a:ext cx="1064948" cy="139750"/>
          </a:xfrm>
          <a:prstGeom prst="rect">
            <a:avLst/>
          </a:prstGeom>
          <a:noFill/>
        </p:spPr>
        <p:txBody>
          <a:bodyPr wrap="none" lIns="0" rIns="0" tIns="0" bIns="0">
            <a:spAutoFit/>
          </a:bodyPr>
          <a:lstStyle/>
          <a:p>
            <a:r>
              <a:rPr sz="791" b="1">
                <a:solidFill>
                  <a:srgbClr val="2E2E2E"/>
                </a:solidFill>
                <a:latin typeface="Calibri"/>
              </a:rPr>
              <a:t>Antioxidant Ingredients</a:t>
            </a:r>
          </a:p>
        </p:txBody>
      </p:sp>
      <p:pic>
        <p:nvPicPr>
          <p:cNvPr id="95" name="Picture 94" descr="lock.png"/>
          <p:cNvPicPr>
            <a:picLocks noChangeAspect="1"/>
          </p:cNvPicPr>
          <p:nvPr/>
        </p:nvPicPr>
        <p:blipFill>
          <a:blip r:embed="rId4"/>
          <a:stretch>
            <a:fillRect/>
          </a:stretch>
        </p:blipFill>
        <p:spPr>
          <a:xfrm>
            <a:off x="6978384" y="4469698"/>
            <a:ext cx="92663" cy="134782"/>
          </a:xfrm>
          <a:prstGeom prst="rect">
            <a:avLst/>
          </a:prstGeom>
        </p:spPr>
      </p:pic>
      <p:sp>
        <p:nvSpPr>
          <p:cNvPr id="96" name="TextBox 95"/>
          <p:cNvSpPr txBox="1"/>
          <p:nvPr/>
        </p:nvSpPr>
        <p:spPr>
          <a:xfrm>
            <a:off x="5972175" y="4911264"/>
            <a:ext cx="1058858" cy="139750"/>
          </a:xfrm>
          <a:prstGeom prst="rect">
            <a:avLst/>
          </a:prstGeom>
          <a:noFill/>
        </p:spPr>
        <p:txBody>
          <a:bodyPr wrap="none" lIns="0" rIns="0" tIns="0" bIns="0">
            <a:spAutoFit/>
          </a:bodyPr>
          <a:lstStyle/>
          <a:p>
            <a:r>
              <a:rPr sz="791" b="1">
                <a:solidFill>
                  <a:srgbClr val="2E2E2E"/>
                </a:solidFill>
                <a:latin typeface="Calibri"/>
              </a:rPr>
              <a:t>Cellular Energy Support</a:t>
            </a:r>
          </a:p>
        </p:txBody>
      </p:sp>
      <p:sp>
        <p:nvSpPr>
          <p:cNvPr id="97" name="TextBox 96"/>
          <p:cNvSpPr txBox="1"/>
          <p:nvPr/>
        </p:nvSpPr>
        <p:spPr>
          <a:xfrm>
            <a:off x="5972175" y="5031965"/>
            <a:ext cx="549848" cy="139750"/>
          </a:xfrm>
          <a:prstGeom prst="rect">
            <a:avLst/>
          </a:prstGeom>
          <a:noFill/>
        </p:spPr>
        <p:txBody>
          <a:bodyPr wrap="none" lIns="0" rIns="0" tIns="0" bIns="0">
            <a:spAutoFit/>
          </a:bodyPr>
          <a:lstStyle/>
          <a:p>
            <a:r>
              <a:rPr sz="791" b="1">
                <a:solidFill>
                  <a:srgbClr val="2E2E2E"/>
                </a:solidFill>
                <a:latin typeface="Calibri"/>
              </a:rPr>
              <a:t>Ingredients</a:t>
            </a:r>
          </a:p>
        </p:txBody>
      </p:sp>
      <p:pic>
        <p:nvPicPr>
          <p:cNvPr id="98" name="Picture 97" descr="lock.png"/>
          <p:cNvPicPr>
            <a:picLocks noChangeAspect="1"/>
          </p:cNvPicPr>
          <p:nvPr/>
        </p:nvPicPr>
        <p:blipFill>
          <a:blip r:embed="rId4"/>
          <a:stretch>
            <a:fillRect/>
          </a:stretch>
        </p:blipFill>
        <p:spPr>
          <a:xfrm>
            <a:off x="6463284" y="5024924"/>
            <a:ext cx="92663" cy="134782"/>
          </a:xfrm>
          <a:prstGeom prst="rect">
            <a:avLst/>
          </a:prstGeom>
        </p:spPr>
      </p:pic>
      <p:sp>
        <p:nvSpPr>
          <p:cNvPr id="99" name="TextBox 98"/>
          <p:cNvSpPr txBox="1"/>
          <p:nvPr/>
        </p:nvSpPr>
        <p:spPr>
          <a:xfrm>
            <a:off x="5972175" y="5404470"/>
            <a:ext cx="937014" cy="139750"/>
          </a:xfrm>
          <a:prstGeom prst="rect">
            <a:avLst/>
          </a:prstGeom>
          <a:noFill/>
        </p:spPr>
        <p:txBody>
          <a:bodyPr wrap="none" lIns="0" rIns="0" tIns="0" bIns="0">
            <a:spAutoFit/>
          </a:bodyPr>
          <a:lstStyle/>
          <a:p>
            <a:r>
              <a:rPr sz="791" b="1">
                <a:solidFill>
                  <a:srgbClr val="2E2E2E"/>
                </a:solidFill>
                <a:latin typeface="Calibri"/>
              </a:rPr>
              <a:t>Omega-3 Fatty Acids</a:t>
            </a:r>
          </a:p>
        </p:txBody>
      </p:sp>
      <p:pic>
        <p:nvPicPr>
          <p:cNvPr id="100" name="Picture 99" descr="lock.png"/>
          <p:cNvPicPr>
            <a:picLocks noChangeAspect="1"/>
          </p:cNvPicPr>
          <p:nvPr/>
        </p:nvPicPr>
        <p:blipFill>
          <a:blip r:embed="rId4"/>
          <a:stretch>
            <a:fillRect/>
          </a:stretch>
        </p:blipFill>
        <p:spPr>
          <a:xfrm>
            <a:off x="6850450" y="5397429"/>
            <a:ext cx="92663" cy="134782"/>
          </a:xfrm>
          <a:prstGeom prst="rect">
            <a:avLst/>
          </a:prstGeom>
        </p:spPr>
      </p:pic>
      <p:sp>
        <p:nvSpPr>
          <p:cNvPr id="101" name="TextBox 100"/>
          <p:cNvSpPr txBox="1"/>
          <p:nvPr/>
        </p:nvSpPr>
        <p:spPr>
          <a:xfrm>
            <a:off x="5972175" y="5704294"/>
            <a:ext cx="990492" cy="139750"/>
          </a:xfrm>
          <a:prstGeom prst="rect">
            <a:avLst/>
          </a:prstGeom>
          <a:noFill/>
        </p:spPr>
        <p:txBody>
          <a:bodyPr wrap="none" lIns="0" rIns="0" tIns="0" bIns="0">
            <a:spAutoFit/>
          </a:bodyPr>
          <a:lstStyle/>
          <a:p>
            <a:r>
              <a:rPr sz="791" b="1">
                <a:solidFill>
                  <a:srgbClr val="2E2E2E"/>
                </a:solidFill>
                <a:latin typeface="Calibri"/>
              </a:rPr>
              <a:t>Microbiome-Targeted</a:t>
            </a:r>
          </a:p>
        </p:txBody>
      </p:sp>
      <p:sp>
        <p:nvSpPr>
          <p:cNvPr id="102" name="TextBox 101"/>
          <p:cNvSpPr txBox="1"/>
          <p:nvPr/>
        </p:nvSpPr>
        <p:spPr>
          <a:xfrm>
            <a:off x="5972175" y="5824995"/>
            <a:ext cx="549848" cy="139750"/>
          </a:xfrm>
          <a:prstGeom prst="rect">
            <a:avLst/>
          </a:prstGeom>
          <a:noFill/>
        </p:spPr>
        <p:txBody>
          <a:bodyPr wrap="none" lIns="0" rIns="0" tIns="0" bIns="0">
            <a:spAutoFit/>
          </a:bodyPr>
          <a:lstStyle/>
          <a:p>
            <a:r>
              <a:rPr sz="791" b="1">
                <a:solidFill>
                  <a:srgbClr val="2E2E2E"/>
                </a:solidFill>
                <a:latin typeface="Calibri"/>
              </a:rPr>
              <a:t>Ingredients</a:t>
            </a:r>
          </a:p>
        </p:txBody>
      </p:sp>
      <p:pic>
        <p:nvPicPr>
          <p:cNvPr id="103" name="Picture 102" descr="lock.png"/>
          <p:cNvPicPr>
            <a:picLocks noChangeAspect="1"/>
          </p:cNvPicPr>
          <p:nvPr/>
        </p:nvPicPr>
        <p:blipFill>
          <a:blip r:embed="rId4"/>
          <a:stretch>
            <a:fillRect/>
          </a:stretch>
        </p:blipFill>
        <p:spPr>
          <a:xfrm>
            <a:off x="6463284" y="5817954"/>
            <a:ext cx="92663" cy="134782"/>
          </a:xfrm>
          <a:prstGeom prst="rect">
            <a:avLst/>
          </a:prstGeom>
        </p:spPr>
      </p:pic>
      <p:sp>
        <p:nvSpPr>
          <p:cNvPr id="104" name="TextBox 103"/>
          <p:cNvSpPr txBox="1"/>
          <p:nvPr/>
        </p:nvSpPr>
        <p:spPr>
          <a:xfrm>
            <a:off x="5972175" y="6079341"/>
            <a:ext cx="962989" cy="139750"/>
          </a:xfrm>
          <a:prstGeom prst="rect">
            <a:avLst/>
          </a:prstGeom>
          <a:noFill/>
        </p:spPr>
        <p:txBody>
          <a:bodyPr wrap="none" lIns="0" rIns="0" tIns="0" bIns="0">
            <a:spAutoFit/>
          </a:bodyPr>
          <a:lstStyle/>
          <a:p>
            <a:r>
              <a:rPr sz="791" b="1">
                <a:solidFill>
                  <a:srgbClr val="2E2E2E"/>
                </a:solidFill>
                <a:latin typeface="Calibri"/>
              </a:rPr>
              <a:t>Botanical Ingredients</a:t>
            </a:r>
          </a:p>
        </p:txBody>
      </p:sp>
      <p:pic>
        <p:nvPicPr>
          <p:cNvPr id="105" name="Picture 104" descr="lock.png"/>
          <p:cNvPicPr>
            <a:picLocks noChangeAspect="1"/>
          </p:cNvPicPr>
          <p:nvPr/>
        </p:nvPicPr>
        <p:blipFill>
          <a:blip r:embed="rId4"/>
          <a:stretch>
            <a:fillRect/>
          </a:stretch>
        </p:blipFill>
        <p:spPr>
          <a:xfrm>
            <a:off x="6876425" y="6072300"/>
            <a:ext cx="92663" cy="134782"/>
          </a:xfrm>
          <a:prstGeom prst="rect">
            <a:avLst/>
          </a:prstGeom>
        </p:spPr>
      </p:pic>
      <p:sp>
        <p:nvSpPr>
          <p:cNvPr id="106" name="TextBox 105"/>
          <p:cNvSpPr txBox="1"/>
          <p:nvPr/>
        </p:nvSpPr>
        <p:spPr>
          <a:xfrm>
            <a:off x="5972175" y="6349974"/>
            <a:ext cx="1179284" cy="139750"/>
          </a:xfrm>
          <a:prstGeom prst="rect">
            <a:avLst/>
          </a:prstGeom>
          <a:noFill/>
        </p:spPr>
        <p:txBody>
          <a:bodyPr wrap="none" lIns="0" rIns="0" tIns="0" bIns="0">
            <a:spAutoFit/>
          </a:bodyPr>
          <a:lstStyle/>
          <a:p>
            <a:r>
              <a:rPr sz="791" b="1">
                <a:solidFill>
                  <a:srgbClr val="2E2E2E"/>
                </a:solidFill>
                <a:latin typeface="Calibri"/>
              </a:rPr>
              <a:t>Neurofunctional Nutrients</a:t>
            </a:r>
          </a:p>
        </p:txBody>
      </p:sp>
      <p:pic>
        <p:nvPicPr>
          <p:cNvPr id="107" name="Picture 106" descr="lock.png"/>
          <p:cNvPicPr>
            <a:picLocks noChangeAspect="1"/>
          </p:cNvPicPr>
          <p:nvPr/>
        </p:nvPicPr>
        <p:blipFill>
          <a:blip r:embed="rId4"/>
          <a:stretch>
            <a:fillRect/>
          </a:stretch>
        </p:blipFill>
        <p:spPr>
          <a:xfrm>
            <a:off x="7092720" y="6342933"/>
            <a:ext cx="92663" cy="134782"/>
          </a:xfrm>
          <a:prstGeom prst="rect">
            <a:avLst/>
          </a:prstGeom>
        </p:spPr>
      </p:pic>
      <p:sp>
        <p:nvSpPr>
          <p:cNvPr id="108" name="TextBox 107"/>
          <p:cNvSpPr txBox="1"/>
          <p:nvPr/>
        </p:nvSpPr>
        <p:spPr>
          <a:xfrm>
            <a:off x="7715250" y="4410075"/>
            <a:ext cx="3984525" cy="186689"/>
          </a:xfrm>
          <a:prstGeom prst="rect">
            <a:avLst/>
          </a:prstGeom>
          <a:noFill/>
        </p:spPr>
        <p:txBody>
          <a:bodyPr wrap="none" lIns="0" rIns="0" tIns="0" bIns="0">
            <a:spAutoFit/>
          </a:bodyPr>
          <a:lstStyle/>
          <a:p>
            <a:r>
              <a:rPr sz="1100" b="0">
                <a:solidFill>
                  <a:srgbClr val="2E2E2E"/>
                </a:solidFill>
                <a:latin typeface="Calibri"/>
              </a:rPr>
              <a:t>Capsules and softgels segment is projected to account for the largest</a:t>
            </a:r>
          </a:p>
        </p:txBody>
      </p:sp>
      <p:sp>
        <p:nvSpPr>
          <p:cNvPr id="109" name="TextBox 108"/>
          <p:cNvSpPr txBox="1"/>
          <p:nvPr/>
        </p:nvSpPr>
        <p:spPr>
          <a:xfrm>
            <a:off x="7715250" y="4577715"/>
            <a:ext cx="3869382" cy="186689"/>
          </a:xfrm>
          <a:prstGeom prst="rect">
            <a:avLst/>
          </a:prstGeom>
          <a:noFill/>
        </p:spPr>
        <p:txBody>
          <a:bodyPr wrap="none" lIns="0" rIns="0" tIns="0" bIns="0">
            <a:spAutoFit/>
          </a:bodyPr>
          <a:lstStyle/>
          <a:p>
            <a:r>
              <a:rPr sz="1100" b="0">
                <a:solidFill>
                  <a:srgbClr val="2E2E2E"/>
                </a:solidFill>
                <a:latin typeface="Calibri"/>
              </a:rPr>
              <a:t>share of the global senior dog cognitive supplement market, led by</a:t>
            </a:r>
          </a:p>
        </p:txBody>
      </p:sp>
      <p:sp>
        <p:nvSpPr>
          <p:cNvPr id="110" name="TextBox 109"/>
          <p:cNvSpPr txBox="1"/>
          <p:nvPr/>
        </p:nvSpPr>
        <p:spPr>
          <a:xfrm>
            <a:off x="7715250" y="4745355"/>
            <a:ext cx="1795983" cy="186689"/>
          </a:xfrm>
          <a:prstGeom prst="rect">
            <a:avLst/>
          </a:prstGeom>
          <a:noFill/>
        </p:spPr>
        <p:txBody>
          <a:bodyPr wrap="none" lIns="0" rIns="0" tIns="0" bIns="0">
            <a:spAutoFit/>
          </a:bodyPr>
          <a:lstStyle/>
          <a:p>
            <a:r>
              <a:rPr sz="1100" b="0">
                <a:solidFill>
                  <a:srgbClr val="2E2E2E"/>
                </a:solidFill>
                <a:latin typeface="Calibri"/>
              </a:rPr>
              <a:t>antioxidant ingredients at US$</a:t>
            </a:r>
          </a:p>
        </p:txBody>
      </p:sp>
      <p:pic>
        <p:nvPicPr>
          <p:cNvPr id="111" name="Picture 110" descr="lock.png"/>
          <p:cNvPicPr>
            <a:picLocks noChangeAspect="1"/>
          </p:cNvPicPr>
          <p:nvPr/>
        </p:nvPicPr>
        <p:blipFill>
          <a:blip r:embed="rId4"/>
          <a:stretch>
            <a:fillRect/>
          </a:stretch>
        </p:blipFill>
        <p:spPr>
          <a:xfrm>
            <a:off x="9459284" y="4735576"/>
            <a:ext cx="128699" cy="187198"/>
          </a:xfrm>
          <a:prstGeom prst="rect">
            <a:avLst/>
          </a:prstGeom>
        </p:spPr>
      </p:pic>
      <p:sp>
        <p:nvSpPr>
          <p:cNvPr id="112" name="TextBox 111"/>
          <p:cNvSpPr txBox="1"/>
          <p:nvPr/>
        </p:nvSpPr>
        <p:spPr>
          <a:xfrm>
            <a:off x="9626780" y="4745355"/>
            <a:ext cx="2146051" cy="186689"/>
          </a:xfrm>
          <a:prstGeom prst="rect">
            <a:avLst/>
          </a:prstGeom>
          <a:noFill/>
        </p:spPr>
        <p:txBody>
          <a:bodyPr wrap="none" lIns="0" rIns="0" tIns="0" bIns="0">
            <a:spAutoFit/>
          </a:bodyPr>
          <a:lstStyle/>
          <a:p>
            <a:r>
              <a:rPr sz="1100" b="0">
                <a:solidFill>
                  <a:srgbClr val="2E2E2E"/>
                </a:solidFill>
                <a:latin typeface="Calibri"/>
              </a:rPr>
              <a:t>Mn in 2036. 'Capsules and Softgels ×</a:t>
            </a:r>
          </a:p>
        </p:txBody>
      </p:sp>
      <p:sp>
        <p:nvSpPr>
          <p:cNvPr id="113" name="TextBox 112"/>
          <p:cNvSpPr txBox="1"/>
          <p:nvPr/>
        </p:nvSpPr>
        <p:spPr>
          <a:xfrm>
            <a:off x="7715250" y="4912995"/>
            <a:ext cx="3730228" cy="186689"/>
          </a:xfrm>
          <a:prstGeom prst="rect">
            <a:avLst/>
          </a:prstGeom>
          <a:noFill/>
        </p:spPr>
        <p:txBody>
          <a:bodyPr wrap="none" lIns="0" rIns="0" tIns="0" bIns="0">
            <a:spAutoFit/>
          </a:bodyPr>
          <a:lstStyle/>
          <a:p>
            <a:r>
              <a:rPr sz="1100" b="0">
                <a:solidFill>
                  <a:srgbClr val="2E2E2E"/>
                </a:solidFill>
                <a:latin typeface="Calibri"/>
              </a:rPr>
              <a:t>Antioxidant Ingredients' is the single largest cross-sectional cell (</a:t>
            </a:r>
          </a:p>
        </p:txBody>
      </p:sp>
      <p:pic>
        <p:nvPicPr>
          <p:cNvPr id="114" name="Picture 113" descr="lock.png"/>
          <p:cNvPicPr>
            <a:picLocks noChangeAspect="1"/>
          </p:cNvPicPr>
          <p:nvPr/>
        </p:nvPicPr>
        <p:blipFill>
          <a:blip r:embed="rId4"/>
          <a:stretch>
            <a:fillRect/>
          </a:stretch>
        </p:blipFill>
        <p:spPr>
          <a:xfrm>
            <a:off x="11393529" y="4903216"/>
            <a:ext cx="128699" cy="187198"/>
          </a:xfrm>
          <a:prstGeom prst="rect">
            <a:avLst/>
          </a:prstGeom>
        </p:spPr>
      </p:pic>
      <p:sp>
        <p:nvSpPr>
          <p:cNvPr id="115" name="TextBox 114"/>
          <p:cNvSpPr txBox="1"/>
          <p:nvPr/>
        </p:nvSpPr>
        <p:spPr>
          <a:xfrm>
            <a:off x="11561025" y="4912995"/>
            <a:ext cx="301029" cy="186689"/>
          </a:xfrm>
          <a:prstGeom prst="rect">
            <a:avLst/>
          </a:prstGeom>
          <a:noFill/>
        </p:spPr>
        <p:txBody>
          <a:bodyPr wrap="none" lIns="0" rIns="0" tIns="0" bIns="0">
            <a:spAutoFit/>
          </a:bodyPr>
          <a:lstStyle/>
          <a:p>
            <a:r>
              <a:rPr sz="1100" b="0">
                <a:solidFill>
                  <a:srgbClr val="2E2E2E"/>
                </a:solidFill>
                <a:latin typeface="Calibri"/>
              </a:rPr>
              <a:t>US$</a:t>
            </a:r>
          </a:p>
        </p:txBody>
      </p:sp>
      <p:sp>
        <p:nvSpPr>
          <p:cNvPr id="116" name="TextBox 115"/>
          <p:cNvSpPr txBox="1"/>
          <p:nvPr/>
        </p:nvSpPr>
        <p:spPr>
          <a:xfrm>
            <a:off x="7715250" y="5080635"/>
            <a:ext cx="3959969" cy="186689"/>
          </a:xfrm>
          <a:prstGeom prst="rect">
            <a:avLst/>
          </a:prstGeom>
          <a:noFill/>
        </p:spPr>
        <p:txBody>
          <a:bodyPr wrap="none" lIns="0" rIns="0" tIns="0" bIns="0">
            <a:spAutoFit/>
          </a:bodyPr>
          <a:lstStyle/>
          <a:p>
            <a:r>
              <a:rPr sz="1100" b="0">
                <a:solidFill>
                  <a:srgbClr val="2E2E2E"/>
                </a:solidFill>
                <a:latin typeface="Calibri"/>
              </a:rPr>
              <a:t>Mn, 2026E), while 'Chewables × Antioxidant Ingredients' records the</a:t>
            </a:r>
          </a:p>
        </p:txBody>
      </p:sp>
      <p:sp>
        <p:nvSpPr>
          <p:cNvPr id="117" name="TextBox 116"/>
          <p:cNvSpPr txBox="1"/>
          <p:nvPr/>
        </p:nvSpPr>
        <p:spPr>
          <a:xfrm>
            <a:off x="7715250" y="5248275"/>
            <a:ext cx="1640986" cy="186689"/>
          </a:xfrm>
          <a:prstGeom prst="rect">
            <a:avLst/>
          </a:prstGeom>
          <a:noFill/>
        </p:spPr>
        <p:txBody>
          <a:bodyPr wrap="none" lIns="0" rIns="0" tIns="0" bIns="0">
            <a:spAutoFit/>
          </a:bodyPr>
          <a:lstStyle/>
          <a:p>
            <a:r>
              <a:rPr sz="1100" b="0">
                <a:solidFill>
                  <a:srgbClr val="2E2E2E"/>
                </a:solidFill>
                <a:latin typeface="Calibri"/>
              </a:rPr>
              <a:t>fastest growth at a CAGR of</a:t>
            </a:r>
          </a:p>
        </p:txBody>
      </p:sp>
      <p:pic>
        <p:nvPicPr>
          <p:cNvPr id="118" name="Picture 117" descr="lock.png"/>
          <p:cNvPicPr>
            <a:picLocks noChangeAspect="1"/>
          </p:cNvPicPr>
          <p:nvPr/>
        </p:nvPicPr>
        <p:blipFill>
          <a:blip r:embed="rId4"/>
          <a:stretch>
            <a:fillRect/>
          </a:stretch>
        </p:blipFill>
        <p:spPr>
          <a:xfrm>
            <a:off x="9304288" y="5238496"/>
            <a:ext cx="128699" cy="187198"/>
          </a:xfrm>
          <a:prstGeom prst="rect">
            <a:avLst/>
          </a:prstGeom>
        </p:spPr>
      </p:pic>
      <p:sp>
        <p:nvSpPr>
          <p:cNvPr id="119" name="TextBox 118"/>
          <p:cNvSpPr txBox="1"/>
          <p:nvPr/>
        </p:nvSpPr>
        <p:spPr>
          <a:xfrm>
            <a:off x="9471784" y="5248275"/>
            <a:ext cx="1167401" cy="186689"/>
          </a:xfrm>
          <a:prstGeom prst="rect">
            <a:avLst/>
          </a:prstGeom>
          <a:noFill/>
        </p:spPr>
        <p:txBody>
          <a:bodyPr wrap="none" lIns="0" rIns="0" tIns="0" bIns="0">
            <a:spAutoFit/>
          </a:bodyPr>
          <a:lstStyle/>
          <a:p>
            <a:r>
              <a:rPr sz="1100" b="0">
                <a:solidFill>
                  <a:srgbClr val="2E2E2E"/>
                </a:solidFill>
                <a:latin typeface="Calibri"/>
              </a:rPr>
              <a:t>over 2026E–2036F.</a:t>
            </a:r>
          </a:p>
        </p:txBody>
      </p:sp>
      <p:sp>
        <p:nvSpPr>
          <p:cNvPr id="120" name="TextBox 119"/>
          <p:cNvSpPr txBox="1"/>
          <p:nvPr/>
        </p:nvSpPr>
        <p:spPr>
          <a:xfrm>
            <a:off x="7715250" y="5466207"/>
            <a:ext cx="4154239" cy="186689"/>
          </a:xfrm>
          <a:prstGeom prst="rect">
            <a:avLst/>
          </a:prstGeom>
          <a:noFill/>
        </p:spPr>
        <p:txBody>
          <a:bodyPr wrap="none" lIns="0" rIns="0" tIns="0" bIns="0">
            <a:spAutoFit/>
          </a:bodyPr>
          <a:lstStyle/>
          <a:p>
            <a:r>
              <a:rPr sz="1100" b="0">
                <a:solidFill>
                  <a:srgbClr val="2E2E2E"/>
                </a:solidFill>
                <a:latin typeface="Calibri"/>
              </a:rPr>
              <a:t>Combined, the top three form type × active ingredient cells generate an</a:t>
            </a:r>
          </a:p>
        </p:txBody>
      </p:sp>
      <p:sp>
        <p:nvSpPr>
          <p:cNvPr id="121" name="TextBox 120"/>
          <p:cNvSpPr txBox="1"/>
          <p:nvPr/>
        </p:nvSpPr>
        <p:spPr>
          <a:xfrm>
            <a:off x="7715250" y="5633847"/>
            <a:ext cx="1528043" cy="186689"/>
          </a:xfrm>
          <a:prstGeom prst="rect">
            <a:avLst/>
          </a:prstGeom>
          <a:noFill/>
        </p:spPr>
        <p:txBody>
          <a:bodyPr wrap="none" lIns="0" rIns="0" tIns="0" bIns="0">
            <a:spAutoFit/>
          </a:bodyPr>
          <a:lstStyle/>
          <a:p>
            <a:r>
              <a:rPr sz="1100" b="0">
                <a:solidFill>
                  <a:srgbClr val="2E2E2E"/>
                </a:solidFill>
                <a:latin typeface="Calibri"/>
              </a:rPr>
              <a:t>absolute $ opportunity of</a:t>
            </a:r>
          </a:p>
        </p:txBody>
      </p:sp>
      <p:pic>
        <p:nvPicPr>
          <p:cNvPr id="122" name="Picture 121" descr="lock.png"/>
          <p:cNvPicPr>
            <a:picLocks noChangeAspect="1"/>
          </p:cNvPicPr>
          <p:nvPr/>
        </p:nvPicPr>
        <p:blipFill>
          <a:blip r:embed="rId4"/>
          <a:stretch>
            <a:fillRect/>
          </a:stretch>
        </p:blipFill>
        <p:spPr>
          <a:xfrm>
            <a:off x="9191344" y="5624068"/>
            <a:ext cx="128699" cy="187198"/>
          </a:xfrm>
          <a:prstGeom prst="rect">
            <a:avLst/>
          </a:prstGeom>
        </p:spPr>
      </p:pic>
      <p:sp>
        <p:nvSpPr>
          <p:cNvPr id="123" name="TextBox 122"/>
          <p:cNvSpPr txBox="1"/>
          <p:nvPr/>
        </p:nvSpPr>
        <p:spPr>
          <a:xfrm>
            <a:off x="9358840" y="5633847"/>
            <a:ext cx="1108465" cy="186689"/>
          </a:xfrm>
          <a:prstGeom prst="rect">
            <a:avLst/>
          </a:prstGeom>
          <a:noFill/>
        </p:spPr>
        <p:txBody>
          <a:bodyPr wrap="none" lIns="0" rIns="0" tIns="0" bIns="0">
            <a:spAutoFit/>
          </a:bodyPr>
          <a:lstStyle/>
          <a:p>
            <a:r>
              <a:rPr sz="1100" b="0">
                <a:solidFill>
                  <a:srgbClr val="2E2E2E"/>
                </a:solidFill>
                <a:latin typeface="Calibri"/>
              </a:rPr>
              <a:t>US$ Mn by 2036F.</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Share Analysis: Form Type × Active Ingredient, 2026E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global market value, each row split across all active ingredient sub-segments</a:t>
            </a:r>
          </a:p>
        </p:txBody>
      </p:sp>
      <p:sp>
        <p:nvSpPr>
          <p:cNvPr id="10" name="Rounded Rectangle 9"/>
          <p:cNvSpPr/>
          <p:nvPr/>
        </p:nvSpPr>
        <p:spPr>
          <a:xfrm>
            <a:off x="142875" y="981075"/>
            <a:ext cx="11906250" cy="2628900"/>
          </a:xfrm>
          <a:prstGeom prst="roundRect">
            <a:avLst>
              <a:gd name="adj" fmla="val 28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Form Type × Active Ingredient, 2026E (% of each row)</a:t>
            </a:r>
          </a:p>
        </p:txBody>
      </p:sp>
      <p:graphicFrame>
        <p:nvGraphicFramePr>
          <p:cNvPr id="12" name="Table 11"/>
          <p:cNvGraphicFramePr>
            <a:graphicFrameLocks noGrp="1"/>
          </p:cNvGraphicFramePr>
          <p:nvPr/>
        </p:nvGraphicFramePr>
        <p:xfrm>
          <a:off x="152400" y="1238250"/>
          <a:ext cx="11889153" cy="2162172"/>
        </p:xfrm>
        <a:graphic>
          <a:graphicData uri="http://schemas.openxmlformats.org/drawingml/2006/table">
            <a:tbl>
              <a:tblPr>
                <a:tableStyleId>{5C22544A-7EE6-4342-B048-85BDC9FD1C3A}</a:tableStyleId>
              </a:tblPr>
              <a:tblGrid>
                <a:gridCol w="1498600"/>
                <a:gridCol w="1274888"/>
                <a:gridCol w="1464428"/>
                <a:gridCol w="1639852"/>
                <a:gridCol w="2109865"/>
                <a:gridCol w="1327823"/>
                <a:gridCol w="2029891"/>
                <a:gridCol w="543806"/>
              </a:tblGrid>
              <a:tr h="438912">
                <a:tc>
                  <a:txBody>
                    <a:bodyPr wrap="none"/>
                    <a:lstStyle/>
                    <a:p>
                      <a:pPr algn="l"/>
                      <a:r>
                        <a:rPr sz="1100" b="1">
                          <a:solidFill>
                            <a:srgbClr val="0B2E4A"/>
                          </a:solidFill>
                          <a:latin typeface="Calibri"/>
                        </a:rPr>
                        <a:t>Form Type</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Omega-3 Fatty Acids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Antioxidant Ingredients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Neurofunctional Nutrients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Cellular Energy Support Ingredients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Botanical Ingredients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Microbiome-Targeted Ingredients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6180">
                <a:tc>
                  <a:txBody>
                    <a:bodyPr wrap="none"/>
                    <a:lstStyle/>
                    <a:p>
                      <a:pPr algn="l"/>
                      <a:r>
                        <a:rPr sz="1100" b="1">
                          <a:solidFill>
                            <a:srgbClr val="2E2E2E"/>
                          </a:solidFill>
                          <a:latin typeface="Calibri"/>
                        </a:rPr>
                        <a:t>Chewables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80">
                <a:tc>
                  <a:txBody>
                    <a:bodyPr wrap="none"/>
                    <a:lstStyle/>
                    <a:p>
                      <a:pPr algn="l"/>
                      <a:r>
                        <a:rPr sz="1100" b="1">
                          <a:solidFill>
                            <a:srgbClr val="2E2E2E"/>
                          </a:solidFill>
                          <a:latin typeface="Calibri"/>
                        </a:rPr>
                        <a:t>Tablets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80">
                <a:tc>
                  <a:txBody>
                    <a:bodyPr wrap="none"/>
                    <a:lstStyle/>
                    <a:p>
                      <a:pPr algn="l"/>
                      <a:r>
                        <a:rPr sz="1100" b="1">
                          <a:solidFill>
                            <a:srgbClr val="2E2E2E"/>
                          </a:solidFill>
                          <a:latin typeface="Calibri"/>
                        </a:rPr>
                        <a:t>Capsules and Softgels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80">
                <a:tc>
                  <a:txBody>
                    <a:bodyPr wrap="none"/>
                    <a:lstStyle/>
                    <a:p>
                      <a:pPr algn="l"/>
                      <a:r>
                        <a:rPr sz="1100" b="1">
                          <a:solidFill>
                            <a:srgbClr val="2E2E2E"/>
                          </a:solidFill>
                          <a:latin typeface="Calibri"/>
                        </a:rPr>
                        <a:t>Powders and Granules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80">
                <a:tc>
                  <a:txBody>
                    <a:bodyPr wrap="none"/>
                    <a:lstStyle/>
                    <a:p>
                      <a:pPr algn="l"/>
                      <a:r>
                        <a:rPr sz="1100" b="1">
                          <a:solidFill>
                            <a:srgbClr val="2E2E2E"/>
                          </a:solidFill>
                          <a:latin typeface="Calibri"/>
                        </a:rPr>
                        <a:t>Liquids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80">
                <a:tc>
                  <a:txBody>
                    <a:bodyPr wrap="none"/>
                    <a:lstStyle/>
                    <a:p>
                      <a:pPr algn="l"/>
                      <a:r>
                        <a:rPr sz="1100" b="1">
                          <a:solidFill>
                            <a:srgbClr val="2E2E2E"/>
                          </a:solidFill>
                          <a:latin typeface="Calibri"/>
                        </a:rPr>
                        <a:t>Gels and Pastes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8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4099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743325"/>
            <a:ext cx="7286625" cy="2886075"/>
          </a:xfrm>
          <a:prstGeom prst="roundRect">
            <a:avLst>
              <a:gd name="adj" fmla="val 2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80047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Active Ingredient Mix by Form Type, 2026E (% share)</a:t>
            </a:r>
          </a:p>
        </p:txBody>
      </p:sp>
      <p:graphicFrame>
        <p:nvGraphicFramePr>
          <p:cNvPr id="16" name="Chart 15"/>
          <p:cNvGraphicFramePr>
            <a:graphicFrameLocks noGrp="1"/>
          </p:cNvGraphicFramePr>
          <p:nvPr/>
        </p:nvGraphicFramePr>
        <p:xfrm>
          <a:off x="238125" y="4029075"/>
          <a:ext cx="7096125" cy="2543175"/>
        </p:xfrm>
        <a:graphic>
          <a:graphicData uri="http://schemas.openxmlformats.org/drawingml/2006/chart">
            <c:chart xmlns:c="http://schemas.openxmlformats.org/drawingml/2006/chart" r:id="rId3"/>
          </a:graphicData>
        </a:graphic>
      </p:graphicFrame>
      <p:sp>
        <p:nvSpPr>
          <p:cNvPr id="17" name="Rounded Rectangle 16"/>
          <p:cNvSpPr/>
          <p:nvPr/>
        </p:nvSpPr>
        <p:spPr>
          <a:xfrm>
            <a:off x="7581900" y="3743325"/>
            <a:ext cx="4457700" cy="2886075"/>
          </a:xfrm>
          <a:prstGeom prst="roundRect">
            <a:avLst>
              <a:gd name="adj" fmla="val 2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5250" y="3829050"/>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9" name="Rectangle 18"/>
          <p:cNvSpPr/>
          <p:nvPr/>
        </p:nvSpPr>
        <p:spPr>
          <a:xfrm>
            <a:off x="7715250" y="406717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5250" y="4152900"/>
            <a:ext cx="4191000" cy="2400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6639864" y="2272092"/>
            <a:ext cx="366712" cy="533400"/>
          </a:xfrm>
          <a:prstGeom prst="rect">
            <a:avLst/>
          </a:prstGeom>
        </p:spPr>
      </p:pic>
      <p:pic>
        <p:nvPicPr>
          <p:cNvPr id="23" name="Picture 22" descr="lock.png"/>
          <p:cNvPicPr>
            <a:picLocks noChangeAspect="1"/>
          </p:cNvPicPr>
          <p:nvPr/>
        </p:nvPicPr>
        <p:blipFill>
          <a:blip r:embed="rId5"/>
          <a:stretch>
            <a:fillRect/>
          </a:stretch>
        </p:blipFill>
        <p:spPr>
          <a:xfrm>
            <a:off x="3775138" y="4568380"/>
            <a:ext cx="311705" cy="453389"/>
          </a:xfrm>
          <a:prstGeom prst="rect">
            <a:avLst/>
          </a:prstGeom>
        </p:spPr>
      </p:pic>
      <p:sp>
        <p:nvSpPr>
          <p:cNvPr id="24" name="TextBox 23"/>
          <p:cNvSpPr txBox="1"/>
          <p:nvPr/>
        </p:nvSpPr>
        <p:spPr>
          <a:xfrm>
            <a:off x="7715250" y="4162425"/>
            <a:ext cx="3896035" cy="194310"/>
          </a:xfrm>
          <a:prstGeom prst="rect">
            <a:avLst/>
          </a:prstGeom>
          <a:noFill/>
        </p:spPr>
        <p:txBody>
          <a:bodyPr wrap="none" lIns="0" rIns="0" tIns="0" bIns="0">
            <a:spAutoFit/>
          </a:bodyPr>
          <a:lstStyle/>
          <a:p>
            <a:r>
              <a:rPr sz="1150" b="0">
                <a:solidFill>
                  <a:srgbClr val="2E2E2E"/>
                </a:solidFill>
                <a:latin typeface="Calibri"/>
              </a:rPr>
              <a:t>▪ 'Cellular Energy Support Ingredients' holds the highest share of</a:t>
            </a:r>
          </a:p>
        </p:txBody>
      </p:sp>
      <p:sp>
        <p:nvSpPr>
          <p:cNvPr id="25" name="TextBox 24"/>
          <p:cNvSpPr txBox="1"/>
          <p:nvPr/>
        </p:nvSpPr>
        <p:spPr>
          <a:xfrm>
            <a:off x="7715250" y="4337685"/>
            <a:ext cx="934529" cy="194310"/>
          </a:xfrm>
          <a:prstGeom prst="rect">
            <a:avLst/>
          </a:prstGeom>
          <a:noFill/>
        </p:spPr>
        <p:txBody>
          <a:bodyPr wrap="none" lIns="0" rIns="0" tIns="0" bIns="0">
            <a:spAutoFit/>
          </a:bodyPr>
          <a:lstStyle/>
          <a:p>
            <a:r>
              <a:rPr sz="1150" b="0">
                <a:solidFill>
                  <a:srgbClr val="2E2E2E"/>
                </a:solidFill>
                <a:latin typeface="Calibri"/>
              </a:rPr>
              <a:t>'Chewables' at</a:t>
            </a:r>
          </a:p>
        </p:txBody>
      </p:sp>
      <p:pic>
        <p:nvPicPr>
          <p:cNvPr id="26" name="Picture 25" descr="lock.png"/>
          <p:cNvPicPr>
            <a:picLocks noChangeAspect="1"/>
          </p:cNvPicPr>
          <p:nvPr/>
        </p:nvPicPr>
        <p:blipFill>
          <a:blip r:embed="rId5"/>
          <a:stretch>
            <a:fillRect/>
          </a:stretch>
        </p:blipFill>
        <p:spPr>
          <a:xfrm>
            <a:off x="8598932" y="4327461"/>
            <a:ext cx="134549" cy="195707"/>
          </a:xfrm>
          <a:prstGeom prst="rect">
            <a:avLst/>
          </a:prstGeom>
        </p:spPr>
      </p:pic>
      <p:sp>
        <p:nvSpPr>
          <p:cNvPr id="27" name="TextBox 26"/>
          <p:cNvSpPr txBox="1"/>
          <p:nvPr/>
        </p:nvSpPr>
        <p:spPr>
          <a:xfrm>
            <a:off x="8774042" y="433768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8" name="TextBox 27"/>
          <p:cNvSpPr txBox="1"/>
          <p:nvPr/>
        </p:nvSpPr>
        <p:spPr>
          <a:xfrm>
            <a:off x="7715250" y="4565522"/>
            <a:ext cx="4139927" cy="194310"/>
          </a:xfrm>
          <a:prstGeom prst="rect">
            <a:avLst/>
          </a:prstGeom>
          <a:noFill/>
        </p:spPr>
        <p:txBody>
          <a:bodyPr wrap="none" lIns="0" rIns="0" tIns="0" bIns="0">
            <a:spAutoFit/>
          </a:bodyPr>
          <a:lstStyle/>
          <a:p>
            <a:r>
              <a:rPr sz="1150" b="0">
                <a:solidFill>
                  <a:srgbClr val="2E2E2E"/>
                </a:solidFill>
                <a:latin typeface="Calibri"/>
              </a:rPr>
              <a:t>▪ 'Chewables' is the most concentrated form type sub-segment, with</a:t>
            </a:r>
          </a:p>
        </p:txBody>
      </p:sp>
      <p:pic>
        <p:nvPicPr>
          <p:cNvPr id="29" name="Picture 28" descr="lock.png"/>
          <p:cNvPicPr>
            <a:picLocks noChangeAspect="1"/>
          </p:cNvPicPr>
          <p:nvPr/>
        </p:nvPicPr>
        <p:blipFill>
          <a:blip r:embed="rId5"/>
          <a:stretch>
            <a:fillRect/>
          </a:stretch>
        </p:blipFill>
        <p:spPr>
          <a:xfrm>
            <a:off x="7701170" y="4730559"/>
            <a:ext cx="134549" cy="195707"/>
          </a:xfrm>
          <a:prstGeom prst="rect">
            <a:avLst/>
          </a:prstGeom>
        </p:spPr>
      </p:pic>
      <p:sp>
        <p:nvSpPr>
          <p:cNvPr id="30" name="TextBox 29"/>
          <p:cNvSpPr txBox="1"/>
          <p:nvPr/>
        </p:nvSpPr>
        <p:spPr>
          <a:xfrm>
            <a:off x="7876279" y="4740782"/>
            <a:ext cx="3161220" cy="194310"/>
          </a:xfrm>
          <a:prstGeom prst="rect">
            <a:avLst/>
          </a:prstGeom>
          <a:noFill/>
        </p:spPr>
        <p:txBody>
          <a:bodyPr wrap="none" lIns="0" rIns="0" tIns="0" bIns="0">
            <a:spAutoFit/>
          </a:bodyPr>
          <a:lstStyle/>
          <a:p>
            <a:r>
              <a:rPr sz="1150" b="0">
                <a:solidFill>
                  <a:srgbClr val="2E2E2E"/>
                </a:solidFill>
                <a:latin typeface="Calibri"/>
              </a:rPr>
              <a:t>of its value via 'Cellular Energy Support Ingredients'.</a:t>
            </a:r>
          </a:p>
        </p:txBody>
      </p:sp>
      <p:sp>
        <p:nvSpPr>
          <p:cNvPr id="31" name="TextBox 30"/>
          <p:cNvSpPr txBox="1"/>
          <p:nvPr/>
        </p:nvSpPr>
        <p:spPr>
          <a:xfrm>
            <a:off x="7715250" y="4968620"/>
            <a:ext cx="2065845" cy="194310"/>
          </a:xfrm>
          <a:prstGeom prst="rect">
            <a:avLst/>
          </a:prstGeom>
          <a:noFill/>
        </p:spPr>
        <p:txBody>
          <a:bodyPr wrap="none" lIns="0" rIns="0" tIns="0" bIns="0">
            <a:spAutoFit/>
          </a:bodyPr>
          <a:lstStyle/>
          <a:p>
            <a:r>
              <a:rPr sz="1150" b="0">
                <a:solidFill>
                  <a:srgbClr val="2E2E2E"/>
                </a:solidFill>
                <a:latin typeface="Calibri"/>
              </a:rPr>
              <a:t>▪ 'Antioxidant Ingredients' gains +</a:t>
            </a:r>
          </a:p>
        </p:txBody>
      </p:sp>
      <p:pic>
        <p:nvPicPr>
          <p:cNvPr id="32" name="Picture 31" descr="lock.png"/>
          <p:cNvPicPr>
            <a:picLocks noChangeAspect="1"/>
          </p:cNvPicPr>
          <p:nvPr/>
        </p:nvPicPr>
        <p:blipFill>
          <a:blip r:embed="rId5"/>
          <a:stretch>
            <a:fillRect/>
          </a:stretch>
        </p:blipFill>
        <p:spPr>
          <a:xfrm>
            <a:off x="9730249" y="4958397"/>
            <a:ext cx="134549" cy="195707"/>
          </a:xfrm>
          <a:prstGeom prst="rect">
            <a:avLst/>
          </a:prstGeom>
        </p:spPr>
      </p:pic>
      <p:sp>
        <p:nvSpPr>
          <p:cNvPr id="33" name="TextBox 32"/>
          <p:cNvSpPr txBox="1"/>
          <p:nvPr/>
        </p:nvSpPr>
        <p:spPr>
          <a:xfrm>
            <a:off x="9905359" y="4968620"/>
            <a:ext cx="1616000" cy="194310"/>
          </a:xfrm>
          <a:prstGeom prst="rect">
            <a:avLst/>
          </a:prstGeom>
          <a:noFill/>
        </p:spPr>
        <p:txBody>
          <a:bodyPr wrap="none" lIns="0" rIns="0" tIns="0" bIns="0">
            <a:spAutoFit/>
          </a:bodyPr>
          <a:lstStyle/>
          <a:p>
            <a:r>
              <a:rPr sz="1150" b="0">
                <a:solidFill>
                  <a:srgbClr val="2E2E2E"/>
                </a:solidFill>
                <a:latin typeface="Calibri"/>
              </a:rPr>
              <a:t>BPS of share of the Global</a:t>
            </a:r>
          </a:p>
        </p:txBody>
      </p:sp>
      <p:sp>
        <p:nvSpPr>
          <p:cNvPr id="34" name="TextBox 33"/>
          <p:cNvSpPr txBox="1"/>
          <p:nvPr/>
        </p:nvSpPr>
        <p:spPr>
          <a:xfrm>
            <a:off x="7715250" y="5143880"/>
            <a:ext cx="1462605" cy="194310"/>
          </a:xfrm>
          <a:prstGeom prst="rect">
            <a:avLst/>
          </a:prstGeom>
          <a:noFill/>
        </p:spPr>
        <p:txBody>
          <a:bodyPr wrap="none" lIns="0" rIns="0" tIns="0" bIns="0">
            <a:spAutoFit/>
          </a:bodyPr>
          <a:lstStyle/>
          <a:p>
            <a:r>
              <a:rPr sz="1150" b="0">
                <a:solidFill>
                  <a:srgbClr val="2E2E2E"/>
                </a:solidFill>
                <a:latin typeface="Calibri"/>
              </a:rPr>
              <a:t>cross-section by 2036F.</a:t>
            </a:r>
          </a:p>
        </p:txBody>
      </p:sp>
      <p:sp>
        <p:nvSpPr>
          <p:cNvPr id="35" name="lockshield_16"/>
          <p:cNvSpPr/>
          <p:nvPr/>
        </p:nvSpPr>
        <p:spPr>
          <a:xfrm>
            <a:off x="238125" y="4029075"/>
            <a:ext cx="7096125" cy="25431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&amp; Attractiveness: Form Type × Active Ingredient,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2876550"/>
          </a:xfrm>
          <a:prstGeom prst="roundRect">
            <a:avLst>
              <a:gd name="adj" fmla="val 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Form Type × Active Ingredient, 2026E–2036F</a:t>
            </a:r>
          </a:p>
        </p:txBody>
      </p:sp>
      <p:graphicFrame>
        <p:nvGraphicFramePr>
          <p:cNvPr id="12" name="Table 11"/>
          <p:cNvGraphicFramePr>
            <a:graphicFrameLocks noGrp="1"/>
          </p:cNvGraphicFramePr>
          <p:nvPr/>
        </p:nvGraphicFramePr>
        <p:xfrm>
          <a:off x="152400" y="1238250"/>
          <a:ext cx="11887205" cy="2409824"/>
        </p:xfrm>
        <a:graphic>
          <a:graphicData uri="http://schemas.openxmlformats.org/drawingml/2006/table">
            <a:tbl>
              <a:tblPr>
                <a:tableStyleId>{5C22544A-7EE6-4342-B048-85BDC9FD1C3A}</a:tableStyleId>
              </a:tblPr>
              <a:tblGrid>
                <a:gridCol w="1811209"/>
                <a:gridCol w="719714"/>
                <a:gridCol w="719714"/>
                <a:gridCol w="719714"/>
                <a:gridCol w="719714"/>
                <a:gridCol w="719714"/>
                <a:gridCol w="719714"/>
                <a:gridCol w="719714"/>
                <a:gridCol w="719714"/>
                <a:gridCol w="719714"/>
                <a:gridCol w="719714"/>
                <a:gridCol w="719714"/>
                <a:gridCol w="719714"/>
                <a:gridCol w="719714"/>
                <a:gridCol w="719714"/>
              </a:tblGrid>
              <a:tr h="438912">
                <a:tc rowSpan="2">
                  <a:txBody>
                    <a:bodyPr wrap="none"/>
                    <a:lstStyle/>
                    <a:p>
                      <a:pPr algn="l"/>
                      <a:r>
                        <a:rPr sz="1100" b="1">
                          <a:solidFill>
                            <a:srgbClr val="0B2E4A"/>
                          </a:solidFill>
                          <a:latin typeface="Calibri"/>
                        </a:rPr>
                        <a:t>Form Type</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Omega-3 Fatty Acids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Antioxidant</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Neurofunctional</a:t>
                      </a:r>
                      <a:endParaRPr sz="1100"/>
                    </a:p>
                    <a:p>
                      <a:pPr algn="ctr"/>
                      <a:r>
                        <a:rPr sz="1100" b="1">
                          <a:solidFill>
                            <a:srgbClr val="0B2E4A"/>
                          </a:solidFill>
                          <a:latin typeface="Calibri"/>
                        </a:rPr>
                        <a:t>Nutrients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Cellular Energy</a:t>
                      </a:r>
                      <a:endParaRPr sz="1100"/>
                    </a:p>
                    <a:p>
                      <a:pPr algn="ctr"/>
                      <a:r>
                        <a:rPr sz="1100" b="1">
                          <a:solidFill>
                            <a:srgbClr val="0B2E4A"/>
                          </a:solidFill>
                          <a:latin typeface="Calibri"/>
                        </a:rPr>
                        <a:t>Support 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Botanical 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Microbiome-Targeted</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364">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6364">
                <a:tc>
                  <a:txBody>
                    <a:bodyPr wrap="none"/>
                    <a:lstStyle/>
                    <a:p>
                      <a:pPr algn="l"/>
                      <a:r>
                        <a:rPr sz="1100" b="1">
                          <a:solidFill>
                            <a:srgbClr val="2E2E2E"/>
                          </a:solidFill>
                          <a:latin typeface="Calibri"/>
                        </a:rPr>
                        <a:t>Chewables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64">
                <a:tc>
                  <a:txBody>
                    <a:bodyPr wrap="none"/>
                    <a:lstStyle/>
                    <a:p>
                      <a:pPr algn="l"/>
                      <a:r>
                        <a:rPr sz="1100" b="1">
                          <a:solidFill>
                            <a:srgbClr val="2E2E2E"/>
                          </a:solidFill>
                          <a:latin typeface="Calibri"/>
                        </a:rPr>
                        <a:t>Tablets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64">
                <a:tc>
                  <a:txBody>
                    <a:bodyPr wrap="none"/>
                    <a:lstStyle/>
                    <a:p>
                      <a:pPr algn="l"/>
                      <a:r>
                        <a:rPr sz="1100" b="1">
                          <a:solidFill>
                            <a:srgbClr val="2E2E2E"/>
                          </a:solidFill>
                          <a:latin typeface="Calibri"/>
                        </a:rPr>
                        <a:t>Capsules and Softgels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64">
                <a:tc>
                  <a:txBody>
                    <a:bodyPr wrap="none"/>
                    <a:lstStyle/>
                    <a:p>
                      <a:pPr algn="l"/>
                      <a:r>
                        <a:rPr sz="1100" b="1">
                          <a:solidFill>
                            <a:srgbClr val="2E2E2E"/>
                          </a:solidFill>
                          <a:latin typeface="Calibri"/>
                        </a:rPr>
                        <a:t>Powders and Granules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64">
                <a:tc>
                  <a:txBody>
                    <a:bodyPr wrap="none"/>
                    <a:lstStyle/>
                    <a:p>
                      <a:pPr algn="l"/>
                      <a:r>
                        <a:rPr sz="1100" b="1">
                          <a:solidFill>
                            <a:srgbClr val="2E2E2E"/>
                          </a:solidFill>
                          <a:latin typeface="Calibri"/>
                        </a:rPr>
                        <a:t>Liquids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64">
                <a:tc>
                  <a:txBody>
                    <a:bodyPr wrap="none"/>
                    <a:lstStyle/>
                    <a:p>
                      <a:pPr algn="l"/>
                      <a:r>
                        <a:rPr sz="1100" b="1">
                          <a:solidFill>
                            <a:srgbClr val="2E2E2E"/>
                          </a:solidFill>
                          <a:latin typeface="Calibri"/>
                        </a:rPr>
                        <a:t>Gels and Pastes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6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6576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990975"/>
            <a:ext cx="5600700" cy="2638425"/>
          </a:xfrm>
          <a:prstGeom prst="roundRect">
            <a:avLst>
              <a:gd name="adj" fmla="val 288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076700"/>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4314825"/>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400550"/>
            <a:ext cx="5334000" cy="21526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5895975" y="3990975"/>
            <a:ext cx="1943100" cy="26384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4076700"/>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43148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4400550"/>
            <a:ext cx="1676400" cy="21526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3990975"/>
            <a:ext cx="1943100" cy="26384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4076700"/>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43148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4400550"/>
            <a:ext cx="1676400" cy="21526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3990975"/>
            <a:ext cx="1943100" cy="26384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4076700"/>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43148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4400550"/>
            <a:ext cx="1676400" cy="21526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'Chewables × Antioxidant Ingredients' ranks highest (5/5); 'Powders and Granules × Neurofunctional Nutrients'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6814916" y="2519100"/>
            <a:ext cx="366712" cy="533400"/>
          </a:xfrm>
          <a:prstGeom prst="rect">
            <a:avLst/>
          </a:prstGeom>
        </p:spPr>
      </p:pic>
      <p:sp>
        <p:nvSpPr>
          <p:cNvPr id="32" name="TextBox 31"/>
          <p:cNvSpPr txBox="1"/>
          <p:nvPr/>
        </p:nvSpPr>
        <p:spPr>
          <a:xfrm>
            <a:off x="276225" y="4410075"/>
            <a:ext cx="3226258" cy="194310"/>
          </a:xfrm>
          <a:prstGeom prst="rect">
            <a:avLst/>
          </a:prstGeom>
          <a:noFill/>
        </p:spPr>
        <p:txBody>
          <a:bodyPr wrap="none" lIns="0" rIns="0" tIns="0" bIns="0">
            <a:spAutoFit/>
          </a:bodyPr>
          <a:lstStyle/>
          <a:p>
            <a:r>
              <a:rPr sz="1150" b="0">
                <a:solidFill>
                  <a:srgbClr val="2E2E2E"/>
                </a:solidFill>
                <a:latin typeface="Calibri"/>
              </a:rPr>
              <a:t>▪ 1. Capsules and Softgels × Antioxidant Ingredients –</a:t>
            </a:r>
          </a:p>
        </p:txBody>
      </p:sp>
      <p:pic>
        <p:nvPicPr>
          <p:cNvPr id="33" name="Picture 32" descr="lock.png"/>
          <p:cNvPicPr>
            <a:picLocks noChangeAspect="1"/>
          </p:cNvPicPr>
          <p:nvPr/>
        </p:nvPicPr>
        <p:blipFill>
          <a:blip r:embed="rId4"/>
          <a:stretch>
            <a:fillRect/>
          </a:stretch>
        </p:blipFill>
        <p:spPr>
          <a:xfrm>
            <a:off x="3451637" y="4399851"/>
            <a:ext cx="134549" cy="195707"/>
          </a:xfrm>
          <a:prstGeom prst="rect">
            <a:avLst/>
          </a:prstGeom>
        </p:spPr>
      </p:pic>
      <p:sp>
        <p:nvSpPr>
          <p:cNvPr id="34" name="TextBox 33"/>
          <p:cNvSpPr txBox="1"/>
          <p:nvPr/>
        </p:nvSpPr>
        <p:spPr>
          <a:xfrm>
            <a:off x="3626747" y="441007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3688898" y="4399851"/>
            <a:ext cx="134549" cy="195707"/>
          </a:xfrm>
          <a:prstGeom prst="rect">
            <a:avLst/>
          </a:prstGeom>
        </p:spPr>
      </p:pic>
      <p:sp>
        <p:nvSpPr>
          <p:cNvPr id="36" name="TextBox 35"/>
          <p:cNvSpPr txBox="1"/>
          <p:nvPr/>
        </p:nvSpPr>
        <p:spPr>
          <a:xfrm>
            <a:off x="3864008" y="4410075"/>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7" name="TextBox 36"/>
          <p:cNvSpPr txBox="1"/>
          <p:nvPr/>
        </p:nvSpPr>
        <p:spPr>
          <a:xfrm>
            <a:off x="276225" y="4637913"/>
            <a:ext cx="3932547" cy="194310"/>
          </a:xfrm>
          <a:prstGeom prst="rect">
            <a:avLst/>
          </a:prstGeom>
          <a:noFill/>
        </p:spPr>
        <p:txBody>
          <a:bodyPr wrap="none" lIns="0" rIns="0" tIns="0" bIns="0">
            <a:spAutoFit/>
          </a:bodyPr>
          <a:lstStyle/>
          <a:p>
            <a:r>
              <a:rPr sz="1150" b="0">
                <a:solidFill>
                  <a:srgbClr val="2E2E2E"/>
                </a:solidFill>
                <a:latin typeface="Calibri"/>
              </a:rPr>
              <a:t>▪ 2. Capsules and Softgels × Cellular Energy Support Ingredients –</a:t>
            </a:r>
          </a:p>
        </p:txBody>
      </p:sp>
      <p:pic>
        <p:nvPicPr>
          <p:cNvPr id="38" name="Picture 37" descr="lock.png"/>
          <p:cNvPicPr>
            <a:picLocks noChangeAspect="1"/>
          </p:cNvPicPr>
          <p:nvPr/>
        </p:nvPicPr>
        <p:blipFill>
          <a:blip r:embed="rId4"/>
          <a:stretch>
            <a:fillRect/>
          </a:stretch>
        </p:blipFill>
        <p:spPr>
          <a:xfrm>
            <a:off x="4157926" y="4627689"/>
            <a:ext cx="134549" cy="195707"/>
          </a:xfrm>
          <a:prstGeom prst="rect">
            <a:avLst/>
          </a:prstGeom>
        </p:spPr>
      </p:pic>
      <p:sp>
        <p:nvSpPr>
          <p:cNvPr id="39" name="TextBox 38"/>
          <p:cNvSpPr txBox="1"/>
          <p:nvPr/>
        </p:nvSpPr>
        <p:spPr>
          <a:xfrm>
            <a:off x="4333035" y="463791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4395187" y="4627689"/>
            <a:ext cx="134549" cy="195707"/>
          </a:xfrm>
          <a:prstGeom prst="rect">
            <a:avLst/>
          </a:prstGeom>
        </p:spPr>
      </p:pic>
      <p:sp>
        <p:nvSpPr>
          <p:cNvPr id="41" name="TextBox 40"/>
          <p:cNvSpPr txBox="1"/>
          <p:nvPr/>
        </p:nvSpPr>
        <p:spPr>
          <a:xfrm>
            <a:off x="4570296" y="4637913"/>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2" name="TextBox 41"/>
          <p:cNvSpPr txBox="1"/>
          <p:nvPr/>
        </p:nvSpPr>
        <p:spPr>
          <a:xfrm>
            <a:off x="276225" y="4865750"/>
            <a:ext cx="3055614" cy="194310"/>
          </a:xfrm>
          <a:prstGeom prst="rect">
            <a:avLst/>
          </a:prstGeom>
          <a:noFill/>
        </p:spPr>
        <p:txBody>
          <a:bodyPr wrap="none" lIns="0" rIns="0" tIns="0" bIns="0">
            <a:spAutoFit/>
          </a:bodyPr>
          <a:lstStyle/>
          <a:p>
            <a:r>
              <a:rPr sz="1150" b="0">
                <a:solidFill>
                  <a:srgbClr val="2E2E2E"/>
                </a:solidFill>
                <a:latin typeface="Calibri"/>
              </a:rPr>
              <a:t>▪ 3. Capsules and Softgels × Omega-3 Fatty Acids –</a:t>
            </a:r>
          </a:p>
        </p:txBody>
      </p:sp>
      <p:pic>
        <p:nvPicPr>
          <p:cNvPr id="43" name="Picture 42" descr="lock.png"/>
          <p:cNvPicPr>
            <a:picLocks noChangeAspect="1"/>
          </p:cNvPicPr>
          <p:nvPr/>
        </p:nvPicPr>
        <p:blipFill>
          <a:blip r:embed="rId4"/>
          <a:stretch>
            <a:fillRect/>
          </a:stretch>
        </p:blipFill>
        <p:spPr>
          <a:xfrm>
            <a:off x="3280993" y="4855527"/>
            <a:ext cx="134549" cy="195707"/>
          </a:xfrm>
          <a:prstGeom prst="rect">
            <a:avLst/>
          </a:prstGeom>
        </p:spPr>
      </p:pic>
      <p:sp>
        <p:nvSpPr>
          <p:cNvPr id="44" name="TextBox 43"/>
          <p:cNvSpPr txBox="1"/>
          <p:nvPr/>
        </p:nvSpPr>
        <p:spPr>
          <a:xfrm>
            <a:off x="3456102" y="4865750"/>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5" name="Picture 44" descr="lock.png"/>
          <p:cNvPicPr>
            <a:picLocks noChangeAspect="1"/>
          </p:cNvPicPr>
          <p:nvPr/>
        </p:nvPicPr>
        <p:blipFill>
          <a:blip r:embed="rId4"/>
          <a:stretch>
            <a:fillRect/>
          </a:stretch>
        </p:blipFill>
        <p:spPr>
          <a:xfrm>
            <a:off x="3518254" y="4855527"/>
            <a:ext cx="134549" cy="195707"/>
          </a:xfrm>
          <a:prstGeom prst="rect">
            <a:avLst/>
          </a:prstGeom>
        </p:spPr>
      </p:pic>
      <p:sp>
        <p:nvSpPr>
          <p:cNvPr id="46" name="TextBox 45"/>
          <p:cNvSpPr txBox="1"/>
          <p:nvPr/>
        </p:nvSpPr>
        <p:spPr>
          <a:xfrm>
            <a:off x="3693363" y="4865750"/>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7" name="TextBox 46"/>
          <p:cNvSpPr txBox="1"/>
          <p:nvPr/>
        </p:nvSpPr>
        <p:spPr>
          <a:xfrm>
            <a:off x="276225" y="5093588"/>
            <a:ext cx="3293293" cy="194310"/>
          </a:xfrm>
          <a:prstGeom prst="rect">
            <a:avLst/>
          </a:prstGeom>
          <a:noFill/>
        </p:spPr>
        <p:txBody>
          <a:bodyPr wrap="none" lIns="0" rIns="0" tIns="0" bIns="0">
            <a:spAutoFit/>
          </a:bodyPr>
          <a:lstStyle/>
          <a:p>
            <a:r>
              <a:rPr sz="1150" b="0">
                <a:solidFill>
                  <a:srgbClr val="2E2E2E"/>
                </a:solidFill>
                <a:latin typeface="Calibri"/>
              </a:rPr>
              <a:t>▪ 4. Chewables × Cellular Energy Support Ingredients –</a:t>
            </a:r>
          </a:p>
        </p:txBody>
      </p:sp>
      <p:pic>
        <p:nvPicPr>
          <p:cNvPr id="48" name="Picture 47" descr="lock.png"/>
          <p:cNvPicPr>
            <a:picLocks noChangeAspect="1"/>
          </p:cNvPicPr>
          <p:nvPr/>
        </p:nvPicPr>
        <p:blipFill>
          <a:blip r:embed="rId4"/>
          <a:stretch>
            <a:fillRect/>
          </a:stretch>
        </p:blipFill>
        <p:spPr>
          <a:xfrm>
            <a:off x="3518672" y="5083365"/>
            <a:ext cx="134549" cy="195707"/>
          </a:xfrm>
          <a:prstGeom prst="rect">
            <a:avLst/>
          </a:prstGeom>
        </p:spPr>
      </p:pic>
      <p:sp>
        <p:nvSpPr>
          <p:cNvPr id="49" name="TextBox 48"/>
          <p:cNvSpPr txBox="1"/>
          <p:nvPr/>
        </p:nvSpPr>
        <p:spPr>
          <a:xfrm>
            <a:off x="3693781" y="5093588"/>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0" name="Picture 49" descr="lock.png"/>
          <p:cNvPicPr>
            <a:picLocks noChangeAspect="1"/>
          </p:cNvPicPr>
          <p:nvPr/>
        </p:nvPicPr>
        <p:blipFill>
          <a:blip r:embed="rId4"/>
          <a:stretch>
            <a:fillRect/>
          </a:stretch>
        </p:blipFill>
        <p:spPr>
          <a:xfrm>
            <a:off x="3755933" y="5083365"/>
            <a:ext cx="134549" cy="195707"/>
          </a:xfrm>
          <a:prstGeom prst="rect">
            <a:avLst/>
          </a:prstGeom>
        </p:spPr>
      </p:pic>
      <p:sp>
        <p:nvSpPr>
          <p:cNvPr id="51" name="TextBox 50"/>
          <p:cNvSpPr txBox="1"/>
          <p:nvPr/>
        </p:nvSpPr>
        <p:spPr>
          <a:xfrm>
            <a:off x="3931042" y="5093588"/>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52" name="TextBox 51"/>
          <p:cNvSpPr txBox="1"/>
          <p:nvPr/>
        </p:nvSpPr>
        <p:spPr>
          <a:xfrm>
            <a:off x="276225" y="5321426"/>
            <a:ext cx="3838413" cy="194310"/>
          </a:xfrm>
          <a:prstGeom prst="rect">
            <a:avLst/>
          </a:prstGeom>
          <a:noFill/>
        </p:spPr>
        <p:txBody>
          <a:bodyPr wrap="none" lIns="0" rIns="0" tIns="0" bIns="0">
            <a:spAutoFit/>
          </a:bodyPr>
          <a:lstStyle/>
          <a:p>
            <a:r>
              <a:rPr sz="1150" b="0">
                <a:solidFill>
                  <a:srgbClr val="2E2E2E"/>
                </a:solidFill>
                <a:latin typeface="Calibri"/>
              </a:rPr>
              <a:t>▪ 5. Capsules and Softgels × Microbiome-Targeted Ingredients –</a:t>
            </a:r>
          </a:p>
        </p:txBody>
      </p:sp>
      <p:pic>
        <p:nvPicPr>
          <p:cNvPr id="53" name="Picture 52" descr="lock.png"/>
          <p:cNvPicPr>
            <a:picLocks noChangeAspect="1"/>
          </p:cNvPicPr>
          <p:nvPr/>
        </p:nvPicPr>
        <p:blipFill>
          <a:blip r:embed="rId4"/>
          <a:stretch>
            <a:fillRect/>
          </a:stretch>
        </p:blipFill>
        <p:spPr>
          <a:xfrm>
            <a:off x="4063792" y="5311203"/>
            <a:ext cx="134549" cy="195707"/>
          </a:xfrm>
          <a:prstGeom prst="rect">
            <a:avLst/>
          </a:prstGeom>
        </p:spPr>
      </p:pic>
      <p:sp>
        <p:nvSpPr>
          <p:cNvPr id="54" name="TextBox 53"/>
          <p:cNvSpPr txBox="1"/>
          <p:nvPr/>
        </p:nvSpPr>
        <p:spPr>
          <a:xfrm>
            <a:off x="4238901" y="5321426"/>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5" name="Picture 54" descr="lock.png"/>
          <p:cNvPicPr>
            <a:picLocks noChangeAspect="1"/>
          </p:cNvPicPr>
          <p:nvPr/>
        </p:nvPicPr>
        <p:blipFill>
          <a:blip r:embed="rId4"/>
          <a:stretch>
            <a:fillRect/>
          </a:stretch>
        </p:blipFill>
        <p:spPr>
          <a:xfrm>
            <a:off x="4301053" y="5311203"/>
            <a:ext cx="134549" cy="195707"/>
          </a:xfrm>
          <a:prstGeom prst="rect">
            <a:avLst/>
          </a:prstGeom>
        </p:spPr>
      </p:pic>
      <p:sp>
        <p:nvSpPr>
          <p:cNvPr id="56" name="TextBox 55"/>
          <p:cNvSpPr txBox="1"/>
          <p:nvPr/>
        </p:nvSpPr>
        <p:spPr>
          <a:xfrm>
            <a:off x="4476162" y="5321426"/>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57" name="TextBox 56"/>
          <p:cNvSpPr txBox="1"/>
          <p:nvPr/>
        </p:nvSpPr>
        <p:spPr>
          <a:xfrm>
            <a:off x="6029325" y="4410075"/>
            <a:ext cx="1580058" cy="194310"/>
          </a:xfrm>
          <a:prstGeom prst="rect">
            <a:avLst/>
          </a:prstGeom>
          <a:noFill/>
        </p:spPr>
        <p:txBody>
          <a:bodyPr wrap="none" lIns="0" rIns="0" tIns="0" bIns="0">
            <a:spAutoFit/>
          </a:bodyPr>
          <a:lstStyle/>
          <a:p>
            <a:r>
              <a:rPr sz="1150" b="0">
                <a:solidFill>
                  <a:srgbClr val="2E2E2E"/>
                </a:solidFill>
                <a:latin typeface="Calibri"/>
              </a:rPr>
              <a:t>▪ 'Capsules and Softgels ×</a:t>
            </a:r>
          </a:p>
        </p:txBody>
      </p:sp>
      <p:sp>
        <p:nvSpPr>
          <p:cNvPr id="58" name="TextBox 57"/>
          <p:cNvSpPr txBox="1"/>
          <p:nvPr/>
        </p:nvSpPr>
        <p:spPr>
          <a:xfrm>
            <a:off x="6029325" y="4585335"/>
            <a:ext cx="1503895" cy="194310"/>
          </a:xfrm>
          <a:prstGeom prst="rect">
            <a:avLst/>
          </a:prstGeom>
          <a:noFill/>
        </p:spPr>
        <p:txBody>
          <a:bodyPr wrap="none" lIns="0" rIns="0" tIns="0" bIns="0">
            <a:spAutoFit/>
          </a:bodyPr>
          <a:lstStyle/>
          <a:p>
            <a:r>
              <a:rPr sz="1150" b="0">
                <a:solidFill>
                  <a:srgbClr val="2E2E2E"/>
                </a:solidFill>
                <a:latin typeface="Calibri"/>
              </a:rPr>
              <a:t>Antioxidant Ingredients'</a:t>
            </a:r>
          </a:p>
        </p:txBody>
      </p:sp>
      <p:sp>
        <p:nvSpPr>
          <p:cNvPr id="59" name="TextBox 58"/>
          <p:cNvSpPr txBox="1"/>
          <p:nvPr/>
        </p:nvSpPr>
        <p:spPr>
          <a:xfrm>
            <a:off x="6029325" y="4760595"/>
            <a:ext cx="356604" cy="194310"/>
          </a:xfrm>
          <a:prstGeom prst="rect">
            <a:avLst/>
          </a:prstGeom>
          <a:noFill/>
        </p:spPr>
        <p:txBody>
          <a:bodyPr wrap="none" lIns="0" rIns="0" tIns="0" bIns="0">
            <a:spAutoFit/>
          </a:bodyPr>
          <a:lstStyle/>
          <a:p>
            <a:r>
              <a:rPr sz="1150" b="0">
                <a:solidFill>
                  <a:srgbClr val="2E2E2E"/>
                </a:solidFill>
                <a:latin typeface="Calibri"/>
              </a:rPr>
              <a:t>adds</a:t>
            </a:r>
          </a:p>
        </p:txBody>
      </p:sp>
      <p:pic>
        <p:nvPicPr>
          <p:cNvPr id="60" name="Picture 59" descr="lock.png"/>
          <p:cNvPicPr>
            <a:picLocks noChangeAspect="1"/>
          </p:cNvPicPr>
          <p:nvPr/>
        </p:nvPicPr>
        <p:blipFill>
          <a:blip r:embed="rId4"/>
          <a:stretch>
            <a:fillRect/>
          </a:stretch>
        </p:blipFill>
        <p:spPr>
          <a:xfrm>
            <a:off x="6335083" y="4750371"/>
            <a:ext cx="134549" cy="195707"/>
          </a:xfrm>
          <a:prstGeom prst="rect">
            <a:avLst/>
          </a:prstGeom>
        </p:spPr>
      </p:pic>
      <p:sp>
        <p:nvSpPr>
          <p:cNvPr id="61" name="TextBox 60"/>
          <p:cNvSpPr txBox="1"/>
          <p:nvPr/>
        </p:nvSpPr>
        <p:spPr>
          <a:xfrm>
            <a:off x="6510192" y="4760595"/>
            <a:ext cx="1118803" cy="194310"/>
          </a:xfrm>
          <a:prstGeom prst="rect">
            <a:avLst/>
          </a:prstGeom>
          <a:noFill/>
        </p:spPr>
        <p:txBody>
          <a:bodyPr wrap="none" lIns="0" rIns="0" tIns="0" bIns="0">
            <a:spAutoFit/>
          </a:bodyPr>
          <a:lstStyle/>
          <a:p>
            <a:r>
              <a:rPr sz="1150" b="0">
                <a:solidFill>
                  <a:srgbClr val="2E2E2E"/>
                </a:solidFill>
                <a:latin typeface="Calibri"/>
              </a:rPr>
              <a:t>US$ Mn by 2036F</a:t>
            </a:r>
          </a:p>
        </p:txBody>
      </p:sp>
      <p:sp>
        <p:nvSpPr>
          <p:cNvPr id="62" name="TextBox 61"/>
          <p:cNvSpPr txBox="1"/>
          <p:nvPr/>
        </p:nvSpPr>
        <p:spPr>
          <a:xfrm>
            <a:off x="6029325" y="4935854"/>
            <a:ext cx="148939"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63" name="Picture 62" descr="lock.png"/>
          <p:cNvPicPr>
            <a:picLocks noChangeAspect="1"/>
          </p:cNvPicPr>
          <p:nvPr/>
        </p:nvPicPr>
        <p:blipFill>
          <a:blip r:embed="rId4"/>
          <a:stretch>
            <a:fillRect/>
          </a:stretch>
        </p:blipFill>
        <p:spPr>
          <a:xfrm>
            <a:off x="6127418" y="4925631"/>
            <a:ext cx="134549" cy="195707"/>
          </a:xfrm>
          <a:prstGeom prst="rect">
            <a:avLst/>
          </a:prstGeom>
        </p:spPr>
      </p:pic>
      <p:sp>
        <p:nvSpPr>
          <p:cNvPr id="64" name="TextBox 63"/>
          <p:cNvSpPr txBox="1"/>
          <p:nvPr/>
        </p:nvSpPr>
        <p:spPr>
          <a:xfrm>
            <a:off x="6302527" y="4935854"/>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65" name="TextBox 64"/>
          <p:cNvSpPr txBox="1"/>
          <p:nvPr/>
        </p:nvSpPr>
        <p:spPr>
          <a:xfrm>
            <a:off x="6029325" y="5111114"/>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66" name="TextBox 65"/>
          <p:cNvSpPr txBox="1"/>
          <p:nvPr/>
        </p:nvSpPr>
        <p:spPr>
          <a:xfrm>
            <a:off x="8124825" y="4410075"/>
            <a:ext cx="1657350" cy="194310"/>
          </a:xfrm>
          <a:prstGeom prst="rect">
            <a:avLst/>
          </a:prstGeom>
          <a:noFill/>
        </p:spPr>
        <p:txBody>
          <a:bodyPr wrap="none" lIns="0" rIns="0" tIns="0" bIns="0">
            <a:spAutoFit/>
          </a:bodyPr>
          <a:lstStyle/>
          <a:p>
            <a:r>
              <a:rPr sz="1150" b="0">
                <a:solidFill>
                  <a:srgbClr val="2E2E2E"/>
                </a:solidFill>
                <a:latin typeface="Calibri"/>
              </a:rPr>
              <a:t>▪ 'Chewables × Antioxidant</a:t>
            </a:r>
          </a:p>
        </p:txBody>
      </p:sp>
      <p:sp>
        <p:nvSpPr>
          <p:cNvPr id="67" name="TextBox 66"/>
          <p:cNvSpPr txBox="1"/>
          <p:nvPr/>
        </p:nvSpPr>
        <p:spPr>
          <a:xfrm>
            <a:off x="8124825" y="4585335"/>
            <a:ext cx="1426877" cy="194310"/>
          </a:xfrm>
          <a:prstGeom prst="rect">
            <a:avLst/>
          </a:prstGeom>
          <a:noFill/>
        </p:spPr>
        <p:txBody>
          <a:bodyPr wrap="none" lIns="0" rIns="0" tIns="0" bIns="0">
            <a:spAutoFit/>
          </a:bodyPr>
          <a:lstStyle/>
          <a:p>
            <a:r>
              <a:rPr sz="1150" b="0">
                <a:solidFill>
                  <a:srgbClr val="2E2E2E"/>
                </a:solidFill>
                <a:latin typeface="Calibri"/>
              </a:rPr>
              <a:t>Ingredients' grows at a</a:t>
            </a:r>
          </a:p>
        </p:txBody>
      </p:sp>
      <p:pic>
        <p:nvPicPr>
          <p:cNvPr id="68" name="Picture 67" descr="lock.png"/>
          <p:cNvPicPr>
            <a:picLocks noChangeAspect="1"/>
          </p:cNvPicPr>
          <p:nvPr/>
        </p:nvPicPr>
        <p:blipFill>
          <a:blip r:embed="rId4"/>
          <a:stretch>
            <a:fillRect/>
          </a:stretch>
        </p:blipFill>
        <p:spPr>
          <a:xfrm>
            <a:off x="9500856" y="4575111"/>
            <a:ext cx="134549" cy="195707"/>
          </a:xfrm>
          <a:prstGeom prst="rect">
            <a:avLst/>
          </a:prstGeom>
        </p:spPr>
      </p:pic>
      <p:sp>
        <p:nvSpPr>
          <p:cNvPr id="69" name="TextBox 68"/>
          <p:cNvSpPr txBox="1"/>
          <p:nvPr/>
        </p:nvSpPr>
        <p:spPr>
          <a:xfrm>
            <a:off x="8124825" y="4760595"/>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70" name="Picture 69" descr="lock.png"/>
          <p:cNvPicPr>
            <a:picLocks noChangeAspect="1"/>
          </p:cNvPicPr>
          <p:nvPr/>
        </p:nvPicPr>
        <p:blipFill>
          <a:blip r:embed="rId4"/>
          <a:stretch>
            <a:fillRect/>
          </a:stretch>
        </p:blipFill>
        <p:spPr>
          <a:xfrm>
            <a:off x="8520420" y="4750371"/>
            <a:ext cx="134549" cy="195707"/>
          </a:xfrm>
          <a:prstGeom prst="rect">
            <a:avLst/>
          </a:prstGeom>
        </p:spPr>
      </p:pic>
      <p:sp>
        <p:nvSpPr>
          <p:cNvPr id="71" name="TextBox 70"/>
          <p:cNvSpPr txBox="1"/>
          <p:nvPr/>
        </p:nvSpPr>
        <p:spPr>
          <a:xfrm>
            <a:off x="8695529" y="4760595"/>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72" name="TextBox 71"/>
          <p:cNvSpPr txBox="1"/>
          <p:nvPr/>
        </p:nvSpPr>
        <p:spPr>
          <a:xfrm>
            <a:off x="8124825" y="4935854"/>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End-use Application × Active Ingredient</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End-use Application × Active Ingredient, 2026E vs 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end-use application sub-segment across active ingredient sub-segments</a:t>
            </a:r>
          </a:p>
        </p:txBody>
      </p:sp>
      <p:sp>
        <p:nvSpPr>
          <p:cNvPr id="10" name="Rounded Rectangle 9"/>
          <p:cNvSpPr/>
          <p:nvPr/>
        </p:nvSpPr>
        <p:spPr>
          <a:xfrm>
            <a:off x="142875" y="981075"/>
            <a:ext cx="11906250" cy="2581275"/>
          </a:xfrm>
          <a:prstGeom prst="roundRect">
            <a:avLst>
              <a:gd name="adj" fmla="val 295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Value, End-use Application × Active Ingredient, 2026E and 2036F (US$ Mn)</a:t>
            </a:r>
          </a:p>
        </p:txBody>
      </p:sp>
      <p:graphicFrame>
        <p:nvGraphicFramePr>
          <p:cNvPr id="12" name="Table 11"/>
          <p:cNvGraphicFramePr>
            <a:graphicFrameLocks noGrp="1"/>
          </p:cNvGraphicFramePr>
          <p:nvPr/>
        </p:nvGraphicFramePr>
        <p:xfrm>
          <a:off x="152400" y="1238250"/>
          <a:ext cx="11887197" cy="2114549"/>
        </p:xfrm>
        <a:graphic>
          <a:graphicData uri="http://schemas.openxmlformats.org/drawingml/2006/table">
            <a:tbl>
              <a:tblPr>
                <a:tableStyleId>{5C22544A-7EE6-4342-B048-85BDC9FD1C3A}</a:tableStyleId>
              </a:tblPr>
              <a:tblGrid>
                <a:gridCol w="3847557"/>
                <a:gridCol w="574260"/>
                <a:gridCol w="574260"/>
                <a:gridCol w="574260"/>
                <a:gridCol w="574260"/>
                <a:gridCol w="574260"/>
                <a:gridCol w="574260"/>
                <a:gridCol w="574260"/>
                <a:gridCol w="574260"/>
                <a:gridCol w="574260"/>
                <a:gridCol w="574260"/>
                <a:gridCol w="574260"/>
                <a:gridCol w="574260"/>
                <a:gridCol w="574260"/>
                <a:gridCol w="574260"/>
              </a:tblGrid>
              <a:tr h="631697">
                <a:tc rowSpan="2">
                  <a:txBody>
                    <a:bodyPr wrap="none"/>
                    <a:lstStyle/>
                    <a:p>
                      <a:pPr algn="l"/>
                      <a:r>
                        <a:rPr sz="1100" b="1">
                          <a:solidFill>
                            <a:srgbClr val="0B2E4A"/>
                          </a:solidFill>
                          <a:latin typeface="Calibri"/>
                        </a:rPr>
                        <a:t>End-use Application</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Omega-3 Fatty</a:t>
                      </a:r>
                      <a:endParaRPr sz="1100"/>
                    </a:p>
                    <a:p>
                      <a:pPr algn="ctr"/>
                      <a:r>
                        <a:rPr sz="1100" b="1">
                          <a:solidFill>
                            <a:srgbClr val="0B2E4A"/>
                          </a:solidFill>
                          <a:latin typeface="Calibri"/>
                        </a:rPr>
                        <a:t>Acids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Antioxidant</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Neurofunctional</a:t>
                      </a:r>
                      <a:endParaRPr sz="1100"/>
                    </a:p>
                    <a:p>
                      <a:pPr algn="ctr"/>
                      <a:r>
                        <a:rPr sz="1100" b="1">
                          <a:solidFill>
                            <a:srgbClr val="0B2E4A"/>
                          </a:solidFill>
                          <a:latin typeface="Calibri"/>
                        </a:rPr>
                        <a:t>Nutrients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Cellular Energy</a:t>
                      </a:r>
                      <a:endParaRPr sz="1100"/>
                    </a:p>
                    <a:p>
                      <a:pPr algn="ctr"/>
                      <a:r>
                        <a:rPr sz="1100" b="1">
                          <a:solidFill>
                            <a:srgbClr val="0B2E4A"/>
                          </a:solidFill>
                          <a:latin typeface="Calibri"/>
                        </a:rPr>
                        <a:t>Support</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Botanical</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Microbiome-</a:t>
                      </a:r>
                      <a:endParaRPr sz="1100"/>
                    </a:p>
                    <a:p>
                      <a:pPr algn="ctr"/>
                      <a:r>
                        <a:rPr sz="1100" b="1">
                          <a:solidFill>
                            <a:srgbClr val="0B2E4A"/>
                          </a:solidFill>
                          <a:latin typeface="Calibri"/>
                        </a:rPr>
                        <a:t>Targeted</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7142">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7142">
                <a:tc>
                  <a:txBody>
                    <a:bodyPr wrap="none"/>
                    <a:lstStyle/>
                    <a:p>
                      <a:pPr algn="l"/>
                      <a:r>
                        <a:rPr sz="1100" b="1">
                          <a:solidFill>
                            <a:srgbClr val="2E2E2E"/>
                          </a:solidFill>
                          <a:latin typeface="Calibri"/>
                        </a:rPr>
                        <a:t>Routine Cognitive Wellness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142">
                <a:tc>
                  <a:txBody>
                    <a:bodyPr wrap="none"/>
                    <a:lstStyle/>
                    <a:p>
                      <a:pPr algn="l"/>
                      <a:r>
                        <a:rPr sz="1100" b="1">
                          <a:solidFill>
                            <a:srgbClr val="2E2E2E"/>
                          </a:solidFill>
                          <a:latin typeface="Calibri"/>
                        </a:rPr>
                        <a:t>Preventive Cognitive Support for Senior Dogs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142">
                <a:tc>
                  <a:txBody>
                    <a:bodyPr wrap="none"/>
                    <a:lstStyle/>
                    <a:p>
                      <a:pPr algn="l"/>
                      <a:r>
                        <a:rPr sz="1100" b="1">
                          <a:solidFill>
                            <a:srgbClr val="2E2E2E"/>
                          </a:solidFill>
                          <a:latin typeface="Calibri"/>
                        </a:rPr>
                        <a:t>Support for Observable Age-Related Cognitive Changes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142">
                <a:tc>
                  <a:txBody>
                    <a:bodyPr wrap="none"/>
                    <a:lstStyle/>
                    <a:p>
                      <a:pPr algn="l"/>
                      <a:r>
                        <a:rPr sz="1100" b="1">
                          <a:solidFill>
                            <a:srgbClr val="2E2E2E"/>
                          </a:solidFill>
                          <a:latin typeface="Calibri"/>
                        </a:rPr>
                        <a:t>Veterinary-Guided Cognitive Dysfunction Support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142">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3623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695700"/>
            <a:ext cx="7286625"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75285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Flow, End-use Application → Active Ingredient, 2036F (US$ Mn)</a:t>
            </a:r>
          </a:p>
        </p:txBody>
      </p:sp>
      <p:sp>
        <p:nvSpPr>
          <p:cNvPr id="16" name="Freeform 15"/>
          <p:cNvSpPr/>
          <p:nvPr/>
        </p:nvSpPr>
        <p:spPr>
          <a:xfrm>
            <a:off x="2057400" y="4019550"/>
            <a:ext cx="3743325" cy="352425"/>
          </a:xfrm>
          <a:custGeom>
            <a:avLst/>
            <a:gdLst/>
            <a:ahLst/>
            <a:cxnLst/>
            <a:rect l="l" t="t" r="r" b="b"/>
            <a:pathLst>
              <a:path w="393" h="37">
                <a:moveTo>
                  <a:pt x="0" y="6"/>
                </a:moveTo>
                <a:lnTo>
                  <a:pt x="16" y="6"/>
                </a:lnTo>
                <a:lnTo>
                  <a:pt x="33" y="6"/>
                </a:lnTo>
                <a:lnTo>
                  <a:pt x="49" y="6"/>
                </a:lnTo>
                <a:lnTo>
                  <a:pt x="65" y="6"/>
                </a:lnTo>
                <a:lnTo>
                  <a:pt x="82" y="5"/>
                </a:lnTo>
                <a:lnTo>
                  <a:pt x="98" y="5"/>
                </a:lnTo>
                <a:lnTo>
                  <a:pt x="114" y="5"/>
                </a:lnTo>
                <a:lnTo>
                  <a:pt x="131" y="4"/>
                </a:lnTo>
                <a:lnTo>
                  <a:pt x="147" y="4"/>
                </a:lnTo>
                <a:lnTo>
                  <a:pt x="164" y="4"/>
                </a:lnTo>
                <a:lnTo>
                  <a:pt x="180" y="3"/>
                </a:lnTo>
                <a:lnTo>
                  <a:pt x="196" y="3"/>
                </a:lnTo>
                <a:lnTo>
                  <a:pt x="213" y="3"/>
                </a:lnTo>
                <a:lnTo>
                  <a:pt x="229" y="2"/>
                </a:lnTo>
                <a:lnTo>
                  <a:pt x="246" y="2"/>
                </a:lnTo>
                <a:lnTo>
                  <a:pt x="262" y="2"/>
                </a:lnTo>
                <a:lnTo>
                  <a:pt x="278" y="1"/>
                </a:lnTo>
                <a:lnTo>
                  <a:pt x="295" y="1"/>
                </a:lnTo>
                <a:lnTo>
                  <a:pt x="311" y="1"/>
                </a:lnTo>
                <a:lnTo>
                  <a:pt x="327" y="0"/>
                </a:lnTo>
                <a:lnTo>
                  <a:pt x="344" y="0"/>
                </a:lnTo>
                <a:lnTo>
                  <a:pt x="360" y="0"/>
                </a:lnTo>
                <a:lnTo>
                  <a:pt x="377" y="0"/>
                </a:lnTo>
                <a:lnTo>
                  <a:pt x="393" y="0"/>
                </a:lnTo>
                <a:lnTo>
                  <a:pt x="393" y="31"/>
                </a:lnTo>
                <a:lnTo>
                  <a:pt x="377" y="31"/>
                </a:lnTo>
                <a:lnTo>
                  <a:pt x="360" y="31"/>
                </a:lnTo>
                <a:lnTo>
                  <a:pt x="344" y="31"/>
                </a:lnTo>
                <a:lnTo>
                  <a:pt x="327" y="32"/>
                </a:lnTo>
                <a:lnTo>
                  <a:pt x="311" y="32"/>
                </a:lnTo>
                <a:lnTo>
                  <a:pt x="295" y="32"/>
                </a:lnTo>
                <a:lnTo>
                  <a:pt x="278" y="32"/>
                </a:lnTo>
                <a:lnTo>
                  <a:pt x="262" y="33"/>
                </a:lnTo>
                <a:lnTo>
                  <a:pt x="246" y="33"/>
                </a:lnTo>
                <a:lnTo>
                  <a:pt x="229" y="33"/>
                </a:lnTo>
                <a:lnTo>
                  <a:pt x="213" y="34"/>
                </a:lnTo>
                <a:lnTo>
                  <a:pt x="196" y="34"/>
                </a:lnTo>
                <a:lnTo>
                  <a:pt x="180" y="35"/>
                </a:lnTo>
                <a:lnTo>
                  <a:pt x="164" y="35"/>
                </a:lnTo>
                <a:lnTo>
                  <a:pt x="147" y="35"/>
                </a:lnTo>
                <a:lnTo>
                  <a:pt x="131" y="36"/>
                </a:lnTo>
                <a:lnTo>
                  <a:pt x="114" y="36"/>
                </a:lnTo>
                <a:lnTo>
                  <a:pt x="98" y="36"/>
                </a:lnTo>
                <a:lnTo>
                  <a:pt x="82" y="37"/>
                </a:lnTo>
                <a:lnTo>
                  <a:pt x="65" y="37"/>
                </a:lnTo>
                <a:lnTo>
                  <a:pt x="49" y="37"/>
                </a:lnTo>
                <a:lnTo>
                  <a:pt x="33" y="37"/>
                </a:lnTo>
                <a:lnTo>
                  <a:pt x="16" y="37"/>
                </a:lnTo>
                <a:lnTo>
                  <a:pt x="0" y="37"/>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4371975"/>
            <a:ext cx="3743325" cy="495300"/>
          </a:xfrm>
          <a:custGeom>
            <a:avLst/>
            <a:gdLst/>
            <a:ahLst/>
            <a:cxnLst/>
            <a:rect l="l" t="t" r="r" b="b"/>
            <a:pathLst>
              <a:path w="393" h="52">
                <a:moveTo>
                  <a:pt x="0" y="0"/>
                </a:moveTo>
                <a:lnTo>
                  <a:pt x="16" y="0"/>
                </a:lnTo>
                <a:lnTo>
                  <a:pt x="33" y="1"/>
                </a:lnTo>
                <a:lnTo>
                  <a:pt x="49" y="1"/>
                </a:lnTo>
                <a:lnTo>
                  <a:pt x="65" y="2"/>
                </a:lnTo>
                <a:lnTo>
                  <a:pt x="82" y="3"/>
                </a:lnTo>
                <a:lnTo>
                  <a:pt x="98" y="4"/>
                </a:lnTo>
                <a:lnTo>
                  <a:pt x="114" y="5"/>
                </a:lnTo>
                <a:lnTo>
                  <a:pt x="131" y="6"/>
                </a:lnTo>
                <a:lnTo>
                  <a:pt x="147" y="7"/>
                </a:lnTo>
                <a:lnTo>
                  <a:pt x="164" y="9"/>
                </a:lnTo>
                <a:lnTo>
                  <a:pt x="180" y="10"/>
                </a:lnTo>
                <a:lnTo>
                  <a:pt x="196" y="12"/>
                </a:lnTo>
                <a:lnTo>
                  <a:pt x="213" y="13"/>
                </a:lnTo>
                <a:lnTo>
                  <a:pt x="229" y="14"/>
                </a:lnTo>
                <a:lnTo>
                  <a:pt x="246" y="16"/>
                </a:lnTo>
                <a:lnTo>
                  <a:pt x="262" y="17"/>
                </a:lnTo>
                <a:lnTo>
                  <a:pt x="278" y="18"/>
                </a:lnTo>
                <a:lnTo>
                  <a:pt x="295" y="19"/>
                </a:lnTo>
                <a:lnTo>
                  <a:pt x="311" y="20"/>
                </a:lnTo>
                <a:lnTo>
                  <a:pt x="327" y="21"/>
                </a:lnTo>
                <a:lnTo>
                  <a:pt x="344" y="22"/>
                </a:lnTo>
                <a:lnTo>
                  <a:pt x="360" y="22"/>
                </a:lnTo>
                <a:lnTo>
                  <a:pt x="377" y="23"/>
                </a:lnTo>
                <a:lnTo>
                  <a:pt x="393" y="23"/>
                </a:lnTo>
                <a:lnTo>
                  <a:pt x="393" y="52"/>
                </a:lnTo>
                <a:lnTo>
                  <a:pt x="377" y="52"/>
                </a:lnTo>
                <a:lnTo>
                  <a:pt x="360" y="52"/>
                </a:lnTo>
                <a:lnTo>
                  <a:pt x="344" y="51"/>
                </a:lnTo>
                <a:lnTo>
                  <a:pt x="327" y="50"/>
                </a:lnTo>
                <a:lnTo>
                  <a:pt x="311" y="50"/>
                </a:lnTo>
                <a:lnTo>
                  <a:pt x="295" y="49"/>
                </a:lnTo>
                <a:lnTo>
                  <a:pt x="278" y="47"/>
                </a:lnTo>
                <a:lnTo>
                  <a:pt x="262" y="46"/>
                </a:lnTo>
                <a:lnTo>
                  <a:pt x="246" y="45"/>
                </a:lnTo>
                <a:lnTo>
                  <a:pt x="229" y="44"/>
                </a:lnTo>
                <a:lnTo>
                  <a:pt x="213" y="42"/>
                </a:lnTo>
                <a:lnTo>
                  <a:pt x="196" y="41"/>
                </a:lnTo>
                <a:lnTo>
                  <a:pt x="180" y="39"/>
                </a:lnTo>
                <a:lnTo>
                  <a:pt x="164" y="38"/>
                </a:lnTo>
                <a:lnTo>
                  <a:pt x="147" y="37"/>
                </a:lnTo>
                <a:lnTo>
                  <a:pt x="131" y="35"/>
                </a:lnTo>
                <a:lnTo>
                  <a:pt x="114" y="34"/>
                </a:lnTo>
                <a:lnTo>
                  <a:pt x="98" y="33"/>
                </a:lnTo>
                <a:lnTo>
                  <a:pt x="82" y="32"/>
                </a:lnTo>
                <a:lnTo>
                  <a:pt x="65" y="31"/>
                </a:lnTo>
                <a:lnTo>
                  <a:pt x="49" y="31"/>
                </a:lnTo>
                <a:lnTo>
                  <a:pt x="33" y="30"/>
                </a:lnTo>
                <a:lnTo>
                  <a:pt x="16" y="30"/>
                </a:lnTo>
                <a:lnTo>
                  <a:pt x="0" y="30"/>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4657725"/>
            <a:ext cx="3743325" cy="685800"/>
          </a:xfrm>
          <a:custGeom>
            <a:avLst/>
            <a:gdLst/>
            <a:ahLst/>
            <a:cxnLst/>
            <a:rect l="l" t="t" r="r" b="b"/>
            <a:pathLst>
              <a:path w="393" h="72">
                <a:moveTo>
                  <a:pt x="0" y="0"/>
                </a:moveTo>
                <a:lnTo>
                  <a:pt x="16" y="0"/>
                </a:lnTo>
                <a:lnTo>
                  <a:pt x="33" y="1"/>
                </a:lnTo>
                <a:lnTo>
                  <a:pt x="49" y="2"/>
                </a:lnTo>
                <a:lnTo>
                  <a:pt x="65" y="3"/>
                </a:lnTo>
                <a:lnTo>
                  <a:pt x="82" y="5"/>
                </a:lnTo>
                <a:lnTo>
                  <a:pt x="98" y="8"/>
                </a:lnTo>
                <a:lnTo>
                  <a:pt x="114" y="10"/>
                </a:lnTo>
                <a:lnTo>
                  <a:pt x="131" y="13"/>
                </a:lnTo>
                <a:lnTo>
                  <a:pt x="147" y="16"/>
                </a:lnTo>
                <a:lnTo>
                  <a:pt x="164" y="19"/>
                </a:lnTo>
                <a:lnTo>
                  <a:pt x="180" y="22"/>
                </a:lnTo>
                <a:lnTo>
                  <a:pt x="196" y="25"/>
                </a:lnTo>
                <a:lnTo>
                  <a:pt x="213" y="28"/>
                </a:lnTo>
                <a:lnTo>
                  <a:pt x="229" y="32"/>
                </a:lnTo>
                <a:lnTo>
                  <a:pt x="246" y="35"/>
                </a:lnTo>
                <a:lnTo>
                  <a:pt x="262" y="38"/>
                </a:lnTo>
                <a:lnTo>
                  <a:pt x="278" y="40"/>
                </a:lnTo>
                <a:lnTo>
                  <a:pt x="295" y="43"/>
                </a:lnTo>
                <a:lnTo>
                  <a:pt x="311" y="45"/>
                </a:lnTo>
                <a:lnTo>
                  <a:pt x="327" y="47"/>
                </a:lnTo>
                <a:lnTo>
                  <a:pt x="344" y="49"/>
                </a:lnTo>
                <a:lnTo>
                  <a:pt x="360" y="50"/>
                </a:lnTo>
                <a:lnTo>
                  <a:pt x="377" y="51"/>
                </a:lnTo>
                <a:lnTo>
                  <a:pt x="393" y="51"/>
                </a:lnTo>
                <a:lnTo>
                  <a:pt x="393" y="72"/>
                </a:lnTo>
                <a:lnTo>
                  <a:pt x="377" y="72"/>
                </a:lnTo>
                <a:lnTo>
                  <a:pt x="360" y="71"/>
                </a:lnTo>
                <a:lnTo>
                  <a:pt x="344" y="70"/>
                </a:lnTo>
                <a:lnTo>
                  <a:pt x="327" y="68"/>
                </a:lnTo>
                <a:lnTo>
                  <a:pt x="311" y="66"/>
                </a:lnTo>
                <a:lnTo>
                  <a:pt x="295" y="64"/>
                </a:lnTo>
                <a:lnTo>
                  <a:pt x="278" y="61"/>
                </a:lnTo>
                <a:lnTo>
                  <a:pt x="262" y="59"/>
                </a:lnTo>
                <a:lnTo>
                  <a:pt x="246" y="56"/>
                </a:lnTo>
                <a:lnTo>
                  <a:pt x="229" y="53"/>
                </a:lnTo>
                <a:lnTo>
                  <a:pt x="213" y="49"/>
                </a:lnTo>
                <a:lnTo>
                  <a:pt x="196" y="46"/>
                </a:lnTo>
                <a:lnTo>
                  <a:pt x="180" y="43"/>
                </a:lnTo>
                <a:lnTo>
                  <a:pt x="164" y="40"/>
                </a:lnTo>
                <a:lnTo>
                  <a:pt x="147" y="37"/>
                </a:lnTo>
                <a:lnTo>
                  <a:pt x="131" y="34"/>
                </a:lnTo>
                <a:lnTo>
                  <a:pt x="114" y="31"/>
                </a:lnTo>
                <a:lnTo>
                  <a:pt x="98" y="29"/>
                </a:lnTo>
                <a:lnTo>
                  <a:pt x="82" y="26"/>
                </a:lnTo>
                <a:lnTo>
                  <a:pt x="65" y="24"/>
                </a:lnTo>
                <a:lnTo>
                  <a:pt x="49" y="23"/>
                </a:lnTo>
                <a:lnTo>
                  <a:pt x="33" y="22"/>
                </a:lnTo>
                <a:lnTo>
                  <a:pt x="16" y="21"/>
                </a:lnTo>
                <a:lnTo>
                  <a:pt x="0" y="21"/>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4857750"/>
            <a:ext cx="3743325" cy="895350"/>
          </a:xfrm>
          <a:custGeom>
            <a:avLst/>
            <a:gdLst/>
            <a:ahLst/>
            <a:cxnLst/>
            <a:rect l="l" t="t" r="r" b="b"/>
            <a:pathLst>
              <a:path w="393" h="94">
                <a:moveTo>
                  <a:pt x="0" y="0"/>
                </a:moveTo>
                <a:lnTo>
                  <a:pt x="16" y="0"/>
                </a:lnTo>
                <a:lnTo>
                  <a:pt x="33" y="1"/>
                </a:lnTo>
                <a:lnTo>
                  <a:pt x="49" y="3"/>
                </a:lnTo>
                <a:lnTo>
                  <a:pt x="65" y="5"/>
                </a:lnTo>
                <a:lnTo>
                  <a:pt x="82" y="8"/>
                </a:lnTo>
                <a:lnTo>
                  <a:pt x="98" y="11"/>
                </a:lnTo>
                <a:lnTo>
                  <a:pt x="114" y="15"/>
                </a:lnTo>
                <a:lnTo>
                  <a:pt x="131" y="19"/>
                </a:lnTo>
                <a:lnTo>
                  <a:pt x="147" y="23"/>
                </a:lnTo>
                <a:lnTo>
                  <a:pt x="164" y="28"/>
                </a:lnTo>
                <a:lnTo>
                  <a:pt x="180" y="32"/>
                </a:lnTo>
                <a:lnTo>
                  <a:pt x="196" y="37"/>
                </a:lnTo>
                <a:lnTo>
                  <a:pt x="213" y="42"/>
                </a:lnTo>
                <a:lnTo>
                  <a:pt x="229" y="46"/>
                </a:lnTo>
                <a:lnTo>
                  <a:pt x="246" y="51"/>
                </a:lnTo>
                <a:lnTo>
                  <a:pt x="262" y="55"/>
                </a:lnTo>
                <a:lnTo>
                  <a:pt x="278" y="59"/>
                </a:lnTo>
                <a:lnTo>
                  <a:pt x="295" y="63"/>
                </a:lnTo>
                <a:lnTo>
                  <a:pt x="311" y="66"/>
                </a:lnTo>
                <a:lnTo>
                  <a:pt x="327" y="69"/>
                </a:lnTo>
                <a:lnTo>
                  <a:pt x="344" y="72"/>
                </a:lnTo>
                <a:lnTo>
                  <a:pt x="360" y="73"/>
                </a:lnTo>
                <a:lnTo>
                  <a:pt x="377" y="74"/>
                </a:lnTo>
                <a:lnTo>
                  <a:pt x="393" y="75"/>
                </a:lnTo>
                <a:lnTo>
                  <a:pt x="393" y="94"/>
                </a:lnTo>
                <a:lnTo>
                  <a:pt x="377" y="93"/>
                </a:lnTo>
                <a:lnTo>
                  <a:pt x="360" y="92"/>
                </a:lnTo>
                <a:lnTo>
                  <a:pt x="344" y="90"/>
                </a:lnTo>
                <a:lnTo>
                  <a:pt x="327" y="88"/>
                </a:lnTo>
                <a:lnTo>
                  <a:pt x="311" y="85"/>
                </a:lnTo>
                <a:lnTo>
                  <a:pt x="295" y="82"/>
                </a:lnTo>
                <a:lnTo>
                  <a:pt x="278" y="78"/>
                </a:lnTo>
                <a:lnTo>
                  <a:pt x="262" y="74"/>
                </a:lnTo>
                <a:lnTo>
                  <a:pt x="246" y="70"/>
                </a:lnTo>
                <a:lnTo>
                  <a:pt x="229" y="65"/>
                </a:lnTo>
                <a:lnTo>
                  <a:pt x="213" y="61"/>
                </a:lnTo>
                <a:lnTo>
                  <a:pt x="196" y="56"/>
                </a:lnTo>
                <a:lnTo>
                  <a:pt x="180" y="51"/>
                </a:lnTo>
                <a:lnTo>
                  <a:pt x="164" y="47"/>
                </a:lnTo>
                <a:lnTo>
                  <a:pt x="147" y="42"/>
                </a:lnTo>
                <a:lnTo>
                  <a:pt x="131" y="38"/>
                </a:lnTo>
                <a:lnTo>
                  <a:pt x="114" y="34"/>
                </a:lnTo>
                <a:lnTo>
                  <a:pt x="98" y="30"/>
                </a:lnTo>
                <a:lnTo>
                  <a:pt x="82" y="27"/>
                </a:lnTo>
                <a:lnTo>
                  <a:pt x="65" y="24"/>
                </a:lnTo>
                <a:lnTo>
                  <a:pt x="49" y="22"/>
                </a:lnTo>
                <a:lnTo>
                  <a:pt x="33" y="20"/>
                </a:lnTo>
                <a:lnTo>
                  <a:pt x="16" y="19"/>
                </a:lnTo>
                <a:lnTo>
                  <a:pt x="0" y="18"/>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5029200"/>
            <a:ext cx="3743325" cy="1076325"/>
          </a:xfrm>
          <a:custGeom>
            <a:avLst/>
            <a:gdLst/>
            <a:ahLst/>
            <a:cxnLst/>
            <a:rect l="l" t="t" r="r" b="b"/>
            <a:pathLst>
              <a:path w="393" h="113">
                <a:moveTo>
                  <a:pt x="0" y="0"/>
                </a:moveTo>
                <a:lnTo>
                  <a:pt x="16" y="1"/>
                </a:lnTo>
                <a:lnTo>
                  <a:pt x="33" y="2"/>
                </a:lnTo>
                <a:lnTo>
                  <a:pt x="49" y="5"/>
                </a:lnTo>
                <a:lnTo>
                  <a:pt x="65" y="8"/>
                </a:lnTo>
                <a:lnTo>
                  <a:pt x="82" y="11"/>
                </a:lnTo>
                <a:lnTo>
                  <a:pt x="98" y="16"/>
                </a:lnTo>
                <a:lnTo>
                  <a:pt x="114" y="20"/>
                </a:lnTo>
                <a:lnTo>
                  <a:pt x="131" y="25"/>
                </a:lnTo>
                <a:lnTo>
                  <a:pt x="147" y="31"/>
                </a:lnTo>
                <a:lnTo>
                  <a:pt x="164" y="37"/>
                </a:lnTo>
                <a:lnTo>
                  <a:pt x="180" y="43"/>
                </a:lnTo>
                <a:lnTo>
                  <a:pt x="196" y="49"/>
                </a:lnTo>
                <a:lnTo>
                  <a:pt x="213" y="55"/>
                </a:lnTo>
                <a:lnTo>
                  <a:pt x="229" y="61"/>
                </a:lnTo>
                <a:lnTo>
                  <a:pt x="246" y="67"/>
                </a:lnTo>
                <a:lnTo>
                  <a:pt x="262" y="72"/>
                </a:lnTo>
                <a:lnTo>
                  <a:pt x="278" y="77"/>
                </a:lnTo>
                <a:lnTo>
                  <a:pt x="295" y="82"/>
                </a:lnTo>
                <a:lnTo>
                  <a:pt x="311" y="86"/>
                </a:lnTo>
                <a:lnTo>
                  <a:pt x="327" y="90"/>
                </a:lnTo>
                <a:lnTo>
                  <a:pt x="344" y="93"/>
                </a:lnTo>
                <a:lnTo>
                  <a:pt x="360" y="95"/>
                </a:lnTo>
                <a:lnTo>
                  <a:pt x="377" y="97"/>
                </a:lnTo>
                <a:lnTo>
                  <a:pt x="393" y="97"/>
                </a:lnTo>
                <a:lnTo>
                  <a:pt x="393" y="113"/>
                </a:lnTo>
                <a:lnTo>
                  <a:pt x="377" y="112"/>
                </a:lnTo>
                <a:lnTo>
                  <a:pt x="360" y="111"/>
                </a:lnTo>
                <a:lnTo>
                  <a:pt x="344" y="109"/>
                </a:lnTo>
                <a:lnTo>
                  <a:pt x="327" y="106"/>
                </a:lnTo>
                <a:lnTo>
                  <a:pt x="311" y="102"/>
                </a:lnTo>
                <a:lnTo>
                  <a:pt x="295" y="98"/>
                </a:lnTo>
                <a:lnTo>
                  <a:pt x="278" y="93"/>
                </a:lnTo>
                <a:lnTo>
                  <a:pt x="262" y="88"/>
                </a:lnTo>
                <a:lnTo>
                  <a:pt x="246" y="82"/>
                </a:lnTo>
                <a:lnTo>
                  <a:pt x="229" y="76"/>
                </a:lnTo>
                <a:lnTo>
                  <a:pt x="213" y="70"/>
                </a:lnTo>
                <a:lnTo>
                  <a:pt x="196" y="64"/>
                </a:lnTo>
                <a:lnTo>
                  <a:pt x="180" y="58"/>
                </a:lnTo>
                <a:lnTo>
                  <a:pt x="164" y="52"/>
                </a:lnTo>
                <a:lnTo>
                  <a:pt x="147" y="47"/>
                </a:lnTo>
                <a:lnTo>
                  <a:pt x="131" y="41"/>
                </a:lnTo>
                <a:lnTo>
                  <a:pt x="114" y="36"/>
                </a:lnTo>
                <a:lnTo>
                  <a:pt x="98" y="31"/>
                </a:lnTo>
                <a:lnTo>
                  <a:pt x="82" y="27"/>
                </a:lnTo>
                <a:lnTo>
                  <a:pt x="65" y="23"/>
                </a:lnTo>
                <a:lnTo>
                  <a:pt x="49" y="20"/>
                </a:lnTo>
                <a:lnTo>
                  <a:pt x="33" y="18"/>
                </a:lnTo>
                <a:lnTo>
                  <a:pt x="16" y="16"/>
                </a:lnTo>
                <a:lnTo>
                  <a:pt x="0" y="16"/>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5181600"/>
            <a:ext cx="3743325" cy="1247775"/>
          </a:xfrm>
          <a:custGeom>
            <a:avLst/>
            <a:gdLst/>
            <a:ahLst/>
            <a:cxnLst/>
            <a:rect l="l" t="t" r="r" b="b"/>
            <a:pathLst>
              <a:path w="393" h="131">
                <a:moveTo>
                  <a:pt x="0" y="0"/>
                </a:moveTo>
                <a:lnTo>
                  <a:pt x="16" y="1"/>
                </a:lnTo>
                <a:lnTo>
                  <a:pt x="33" y="2"/>
                </a:lnTo>
                <a:lnTo>
                  <a:pt x="49" y="5"/>
                </a:lnTo>
                <a:lnTo>
                  <a:pt x="65" y="9"/>
                </a:lnTo>
                <a:lnTo>
                  <a:pt x="82" y="13"/>
                </a:lnTo>
                <a:lnTo>
                  <a:pt x="98" y="18"/>
                </a:lnTo>
                <a:lnTo>
                  <a:pt x="114" y="24"/>
                </a:lnTo>
                <a:lnTo>
                  <a:pt x="131" y="30"/>
                </a:lnTo>
                <a:lnTo>
                  <a:pt x="147" y="36"/>
                </a:lnTo>
                <a:lnTo>
                  <a:pt x="164" y="43"/>
                </a:lnTo>
                <a:lnTo>
                  <a:pt x="180" y="50"/>
                </a:lnTo>
                <a:lnTo>
                  <a:pt x="196" y="58"/>
                </a:lnTo>
                <a:lnTo>
                  <a:pt x="213" y="65"/>
                </a:lnTo>
                <a:lnTo>
                  <a:pt x="229" y="72"/>
                </a:lnTo>
                <a:lnTo>
                  <a:pt x="246" y="79"/>
                </a:lnTo>
                <a:lnTo>
                  <a:pt x="262" y="85"/>
                </a:lnTo>
                <a:lnTo>
                  <a:pt x="278" y="91"/>
                </a:lnTo>
                <a:lnTo>
                  <a:pt x="295" y="97"/>
                </a:lnTo>
                <a:lnTo>
                  <a:pt x="311" y="102"/>
                </a:lnTo>
                <a:lnTo>
                  <a:pt x="327" y="107"/>
                </a:lnTo>
                <a:lnTo>
                  <a:pt x="344" y="110"/>
                </a:lnTo>
                <a:lnTo>
                  <a:pt x="360" y="113"/>
                </a:lnTo>
                <a:lnTo>
                  <a:pt x="377" y="114"/>
                </a:lnTo>
                <a:lnTo>
                  <a:pt x="393" y="115"/>
                </a:lnTo>
                <a:lnTo>
                  <a:pt x="393" y="131"/>
                </a:lnTo>
                <a:lnTo>
                  <a:pt x="377" y="130"/>
                </a:lnTo>
                <a:lnTo>
                  <a:pt x="360" y="129"/>
                </a:lnTo>
                <a:lnTo>
                  <a:pt x="344" y="126"/>
                </a:lnTo>
                <a:lnTo>
                  <a:pt x="327" y="122"/>
                </a:lnTo>
                <a:lnTo>
                  <a:pt x="311" y="118"/>
                </a:lnTo>
                <a:lnTo>
                  <a:pt x="295" y="113"/>
                </a:lnTo>
                <a:lnTo>
                  <a:pt x="278" y="107"/>
                </a:lnTo>
                <a:lnTo>
                  <a:pt x="262" y="101"/>
                </a:lnTo>
                <a:lnTo>
                  <a:pt x="246" y="94"/>
                </a:lnTo>
                <a:lnTo>
                  <a:pt x="229" y="88"/>
                </a:lnTo>
                <a:lnTo>
                  <a:pt x="213" y="80"/>
                </a:lnTo>
                <a:lnTo>
                  <a:pt x="196" y="73"/>
                </a:lnTo>
                <a:lnTo>
                  <a:pt x="180" y="66"/>
                </a:lnTo>
                <a:lnTo>
                  <a:pt x="164" y="59"/>
                </a:lnTo>
                <a:lnTo>
                  <a:pt x="147" y="52"/>
                </a:lnTo>
                <a:lnTo>
                  <a:pt x="131" y="46"/>
                </a:lnTo>
                <a:lnTo>
                  <a:pt x="114" y="39"/>
                </a:lnTo>
                <a:lnTo>
                  <a:pt x="98" y="34"/>
                </a:lnTo>
                <a:lnTo>
                  <a:pt x="82" y="29"/>
                </a:lnTo>
                <a:lnTo>
                  <a:pt x="65" y="24"/>
                </a:lnTo>
                <a:lnTo>
                  <a:pt x="49" y="21"/>
                </a:lnTo>
                <a:lnTo>
                  <a:pt x="33" y="18"/>
                </a:lnTo>
                <a:lnTo>
                  <a:pt x="16" y="16"/>
                </a:lnTo>
                <a:lnTo>
                  <a:pt x="0" y="16"/>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4314825"/>
            <a:ext cx="3743325" cy="1181100"/>
          </a:xfrm>
          <a:custGeom>
            <a:avLst/>
            <a:gdLst/>
            <a:ahLst/>
            <a:cxnLst/>
            <a:rect l="l" t="t" r="r" b="b"/>
            <a:pathLst>
              <a:path w="393" h="124">
                <a:moveTo>
                  <a:pt x="0" y="113"/>
                </a:moveTo>
                <a:lnTo>
                  <a:pt x="16" y="112"/>
                </a:lnTo>
                <a:lnTo>
                  <a:pt x="33" y="110"/>
                </a:lnTo>
                <a:lnTo>
                  <a:pt x="49" y="108"/>
                </a:lnTo>
                <a:lnTo>
                  <a:pt x="65" y="104"/>
                </a:lnTo>
                <a:lnTo>
                  <a:pt x="82" y="100"/>
                </a:lnTo>
                <a:lnTo>
                  <a:pt x="98" y="95"/>
                </a:lnTo>
                <a:lnTo>
                  <a:pt x="114" y="90"/>
                </a:lnTo>
                <a:lnTo>
                  <a:pt x="131" y="84"/>
                </a:lnTo>
                <a:lnTo>
                  <a:pt x="147" y="77"/>
                </a:lnTo>
                <a:lnTo>
                  <a:pt x="164" y="70"/>
                </a:lnTo>
                <a:lnTo>
                  <a:pt x="180" y="63"/>
                </a:lnTo>
                <a:lnTo>
                  <a:pt x="196" y="56"/>
                </a:lnTo>
                <a:lnTo>
                  <a:pt x="213" y="49"/>
                </a:lnTo>
                <a:lnTo>
                  <a:pt x="229" y="43"/>
                </a:lnTo>
                <a:lnTo>
                  <a:pt x="246" y="36"/>
                </a:lnTo>
                <a:lnTo>
                  <a:pt x="262" y="29"/>
                </a:lnTo>
                <a:lnTo>
                  <a:pt x="278" y="23"/>
                </a:lnTo>
                <a:lnTo>
                  <a:pt x="295" y="18"/>
                </a:lnTo>
                <a:lnTo>
                  <a:pt x="311" y="13"/>
                </a:lnTo>
                <a:lnTo>
                  <a:pt x="327" y="9"/>
                </a:lnTo>
                <a:lnTo>
                  <a:pt x="344" y="5"/>
                </a:lnTo>
                <a:lnTo>
                  <a:pt x="360" y="2"/>
                </a:lnTo>
                <a:lnTo>
                  <a:pt x="377" y="1"/>
                </a:lnTo>
                <a:lnTo>
                  <a:pt x="393" y="0"/>
                </a:lnTo>
                <a:lnTo>
                  <a:pt x="393" y="11"/>
                </a:lnTo>
                <a:lnTo>
                  <a:pt x="377" y="12"/>
                </a:lnTo>
                <a:lnTo>
                  <a:pt x="360" y="14"/>
                </a:lnTo>
                <a:lnTo>
                  <a:pt x="344" y="16"/>
                </a:lnTo>
                <a:lnTo>
                  <a:pt x="327" y="20"/>
                </a:lnTo>
                <a:lnTo>
                  <a:pt x="311" y="24"/>
                </a:lnTo>
                <a:lnTo>
                  <a:pt x="295" y="29"/>
                </a:lnTo>
                <a:lnTo>
                  <a:pt x="278" y="34"/>
                </a:lnTo>
                <a:lnTo>
                  <a:pt x="262" y="41"/>
                </a:lnTo>
                <a:lnTo>
                  <a:pt x="246" y="47"/>
                </a:lnTo>
                <a:lnTo>
                  <a:pt x="229" y="54"/>
                </a:lnTo>
                <a:lnTo>
                  <a:pt x="213" y="61"/>
                </a:lnTo>
                <a:lnTo>
                  <a:pt x="196" y="68"/>
                </a:lnTo>
                <a:lnTo>
                  <a:pt x="180" y="75"/>
                </a:lnTo>
                <a:lnTo>
                  <a:pt x="164" y="82"/>
                </a:lnTo>
                <a:lnTo>
                  <a:pt x="147" y="88"/>
                </a:lnTo>
                <a:lnTo>
                  <a:pt x="131" y="95"/>
                </a:lnTo>
                <a:lnTo>
                  <a:pt x="114" y="101"/>
                </a:lnTo>
                <a:lnTo>
                  <a:pt x="98" y="106"/>
                </a:lnTo>
                <a:lnTo>
                  <a:pt x="82" y="111"/>
                </a:lnTo>
                <a:lnTo>
                  <a:pt x="65" y="116"/>
                </a:lnTo>
                <a:lnTo>
                  <a:pt x="49" y="119"/>
                </a:lnTo>
                <a:lnTo>
                  <a:pt x="33" y="122"/>
                </a:lnTo>
                <a:lnTo>
                  <a:pt x="16" y="123"/>
                </a:lnTo>
                <a:lnTo>
                  <a:pt x="0" y="124"/>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4867275"/>
            <a:ext cx="3743325" cy="742950"/>
          </a:xfrm>
          <a:custGeom>
            <a:avLst/>
            <a:gdLst/>
            <a:ahLst/>
            <a:cxnLst/>
            <a:rect l="l" t="t" r="r" b="b"/>
            <a:pathLst>
              <a:path w="393" h="78">
                <a:moveTo>
                  <a:pt x="0" y="66"/>
                </a:moveTo>
                <a:lnTo>
                  <a:pt x="16" y="66"/>
                </a:lnTo>
                <a:lnTo>
                  <a:pt x="33" y="65"/>
                </a:lnTo>
                <a:lnTo>
                  <a:pt x="49" y="63"/>
                </a:lnTo>
                <a:lnTo>
                  <a:pt x="65" y="61"/>
                </a:lnTo>
                <a:lnTo>
                  <a:pt x="82" y="58"/>
                </a:lnTo>
                <a:lnTo>
                  <a:pt x="98" y="56"/>
                </a:lnTo>
                <a:lnTo>
                  <a:pt x="114" y="52"/>
                </a:lnTo>
                <a:lnTo>
                  <a:pt x="131" y="49"/>
                </a:lnTo>
                <a:lnTo>
                  <a:pt x="147" y="45"/>
                </a:lnTo>
                <a:lnTo>
                  <a:pt x="164" y="41"/>
                </a:lnTo>
                <a:lnTo>
                  <a:pt x="180" y="37"/>
                </a:lnTo>
                <a:lnTo>
                  <a:pt x="196" y="33"/>
                </a:lnTo>
                <a:lnTo>
                  <a:pt x="213" y="29"/>
                </a:lnTo>
                <a:lnTo>
                  <a:pt x="229" y="25"/>
                </a:lnTo>
                <a:lnTo>
                  <a:pt x="246" y="21"/>
                </a:lnTo>
                <a:lnTo>
                  <a:pt x="262" y="17"/>
                </a:lnTo>
                <a:lnTo>
                  <a:pt x="278" y="14"/>
                </a:lnTo>
                <a:lnTo>
                  <a:pt x="295" y="10"/>
                </a:lnTo>
                <a:lnTo>
                  <a:pt x="311" y="7"/>
                </a:lnTo>
                <a:lnTo>
                  <a:pt x="327" y="5"/>
                </a:lnTo>
                <a:lnTo>
                  <a:pt x="344" y="3"/>
                </a:lnTo>
                <a:lnTo>
                  <a:pt x="360" y="1"/>
                </a:lnTo>
                <a:lnTo>
                  <a:pt x="377" y="0"/>
                </a:lnTo>
                <a:lnTo>
                  <a:pt x="393" y="0"/>
                </a:lnTo>
                <a:lnTo>
                  <a:pt x="393" y="12"/>
                </a:lnTo>
                <a:lnTo>
                  <a:pt x="377" y="12"/>
                </a:lnTo>
                <a:lnTo>
                  <a:pt x="360" y="13"/>
                </a:lnTo>
                <a:lnTo>
                  <a:pt x="344" y="15"/>
                </a:lnTo>
                <a:lnTo>
                  <a:pt x="327" y="17"/>
                </a:lnTo>
                <a:lnTo>
                  <a:pt x="311" y="19"/>
                </a:lnTo>
                <a:lnTo>
                  <a:pt x="295" y="22"/>
                </a:lnTo>
                <a:lnTo>
                  <a:pt x="278" y="25"/>
                </a:lnTo>
                <a:lnTo>
                  <a:pt x="262" y="29"/>
                </a:lnTo>
                <a:lnTo>
                  <a:pt x="246" y="33"/>
                </a:lnTo>
                <a:lnTo>
                  <a:pt x="229" y="37"/>
                </a:lnTo>
                <a:lnTo>
                  <a:pt x="213" y="41"/>
                </a:lnTo>
                <a:lnTo>
                  <a:pt x="196" y="45"/>
                </a:lnTo>
                <a:lnTo>
                  <a:pt x="180" y="49"/>
                </a:lnTo>
                <a:lnTo>
                  <a:pt x="164" y="53"/>
                </a:lnTo>
                <a:lnTo>
                  <a:pt x="147" y="57"/>
                </a:lnTo>
                <a:lnTo>
                  <a:pt x="131" y="61"/>
                </a:lnTo>
                <a:lnTo>
                  <a:pt x="114" y="64"/>
                </a:lnTo>
                <a:lnTo>
                  <a:pt x="98" y="67"/>
                </a:lnTo>
                <a:lnTo>
                  <a:pt x="82" y="70"/>
                </a:lnTo>
                <a:lnTo>
                  <a:pt x="65" y="73"/>
                </a:lnTo>
                <a:lnTo>
                  <a:pt x="49" y="75"/>
                </a:lnTo>
                <a:lnTo>
                  <a:pt x="33" y="76"/>
                </a:lnTo>
                <a:lnTo>
                  <a:pt x="16" y="77"/>
                </a:lnTo>
                <a:lnTo>
                  <a:pt x="0" y="78"/>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5343525"/>
            <a:ext cx="3743325" cy="352425"/>
          </a:xfrm>
          <a:custGeom>
            <a:avLst/>
            <a:gdLst/>
            <a:ahLst/>
            <a:cxnLst/>
            <a:rect l="l" t="t" r="r" b="b"/>
            <a:pathLst>
              <a:path w="393" h="37">
                <a:moveTo>
                  <a:pt x="0" y="28"/>
                </a:moveTo>
                <a:lnTo>
                  <a:pt x="16" y="28"/>
                </a:lnTo>
                <a:lnTo>
                  <a:pt x="33" y="27"/>
                </a:lnTo>
                <a:lnTo>
                  <a:pt x="49" y="26"/>
                </a:lnTo>
                <a:lnTo>
                  <a:pt x="65" y="26"/>
                </a:lnTo>
                <a:lnTo>
                  <a:pt x="82" y="25"/>
                </a:lnTo>
                <a:lnTo>
                  <a:pt x="98" y="23"/>
                </a:lnTo>
                <a:lnTo>
                  <a:pt x="114" y="22"/>
                </a:lnTo>
                <a:lnTo>
                  <a:pt x="131" y="20"/>
                </a:lnTo>
                <a:lnTo>
                  <a:pt x="147" y="19"/>
                </a:lnTo>
                <a:lnTo>
                  <a:pt x="164" y="17"/>
                </a:lnTo>
                <a:lnTo>
                  <a:pt x="180" y="16"/>
                </a:lnTo>
                <a:lnTo>
                  <a:pt x="196" y="14"/>
                </a:lnTo>
                <a:lnTo>
                  <a:pt x="213" y="12"/>
                </a:lnTo>
                <a:lnTo>
                  <a:pt x="229" y="10"/>
                </a:lnTo>
                <a:lnTo>
                  <a:pt x="246" y="9"/>
                </a:lnTo>
                <a:lnTo>
                  <a:pt x="262" y="7"/>
                </a:lnTo>
                <a:lnTo>
                  <a:pt x="278" y="6"/>
                </a:lnTo>
                <a:lnTo>
                  <a:pt x="295" y="4"/>
                </a:lnTo>
                <a:lnTo>
                  <a:pt x="311" y="3"/>
                </a:lnTo>
                <a:lnTo>
                  <a:pt x="327" y="2"/>
                </a:lnTo>
                <a:lnTo>
                  <a:pt x="344" y="1"/>
                </a:lnTo>
                <a:lnTo>
                  <a:pt x="360" y="0"/>
                </a:lnTo>
                <a:lnTo>
                  <a:pt x="377" y="0"/>
                </a:lnTo>
                <a:lnTo>
                  <a:pt x="393" y="0"/>
                </a:lnTo>
                <a:lnTo>
                  <a:pt x="393" y="9"/>
                </a:lnTo>
                <a:lnTo>
                  <a:pt x="377" y="9"/>
                </a:lnTo>
                <a:lnTo>
                  <a:pt x="360" y="9"/>
                </a:lnTo>
                <a:lnTo>
                  <a:pt x="344" y="10"/>
                </a:lnTo>
                <a:lnTo>
                  <a:pt x="327" y="11"/>
                </a:lnTo>
                <a:lnTo>
                  <a:pt x="311" y="12"/>
                </a:lnTo>
                <a:lnTo>
                  <a:pt x="295" y="13"/>
                </a:lnTo>
                <a:lnTo>
                  <a:pt x="278" y="14"/>
                </a:lnTo>
                <a:lnTo>
                  <a:pt x="262" y="16"/>
                </a:lnTo>
                <a:lnTo>
                  <a:pt x="246" y="18"/>
                </a:lnTo>
                <a:lnTo>
                  <a:pt x="229" y="19"/>
                </a:lnTo>
                <a:lnTo>
                  <a:pt x="213" y="21"/>
                </a:lnTo>
                <a:lnTo>
                  <a:pt x="196" y="23"/>
                </a:lnTo>
                <a:lnTo>
                  <a:pt x="180" y="24"/>
                </a:lnTo>
                <a:lnTo>
                  <a:pt x="164" y="26"/>
                </a:lnTo>
                <a:lnTo>
                  <a:pt x="147" y="28"/>
                </a:lnTo>
                <a:lnTo>
                  <a:pt x="131" y="29"/>
                </a:lnTo>
                <a:lnTo>
                  <a:pt x="114" y="31"/>
                </a:lnTo>
                <a:lnTo>
                  <a:pt x="98" y="32"/>
                </a:lnTo>
                <a:lnTo>
                  <a:pt x="82" y="33"/>
                </a:lnTo>
                <a:lnTo>
                  <a:pt x="65" y="34"/>
                </a:lnTo>
                <a:lnTo>
                  <a:pt x="49" y="35"/>
                </a:lnTo>
                <a:lnTo>
                  <a:pt x="33" y="36"/>
                </a:lnTo>
                <a:lnTo>
                  <a:pt x="16" y="36"/>
                </a:lnTo>
                <a:lnTo>
                  <a:pt x="0" y="37"/>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5695950"/>
            <a:ext cx="3743325" cy="133350"/>
          </a:xfrm>
          <a:custGeom>
            <a:avLst/>
            <a:gdLst/>
            <a:ahLst/>
            <a:cxnLst/>
            <a:rect l="l" t="t" r="r" b="b"/>
            <a:pathLst>
              <a:path w="393" h="14">
                <a:moveTo>
                  <a:pt x="0" y="0"/>
                </a:moveTo>
                <a:lnTo>
                  <a:pt x="16" y="0"/>
                </a:lnTo>
                <a:lnTo>
                  <a:pt x="33" y="0"/>
                </a:lnTo>
                <a:lnTo>
                  <a:pt x="49" y="0"/>
                </a:lnTo>
                <a:lnTo>
                  <a:pt x="65" y="0"/>
                </a:lnTo>
                <a:lnTo>
                  <a:pt x="82" y="0"/>
                </a:lnTo>
                <a:lnTo>
                  <a:pt x="98" y="0"/>
                </a:lnTo>
                <a:lnTo>
                  <a:pt x="114" y="1"/>
                </a:lnTo>
                <a:lnTo>
                  <a:pt x="131" y="1"/>
                </a:lnTo>
                <a:lnTo>
                  <a:pt x="147" y="1"/>
                </a:lnTo>
                <a:lnTo>
                  <a:pt x="164" y="2"/>
                </a:lnTo>
                <a:lnTo>
                  <a:pt x="180" y="2"/>
                </a:lnTo>
                <a:lnTo>
                  <a:pt x="196" y="3"/>
                </a:lnTo>
                <a:lnTo>
                  <a:pt x="213" y="3"/>
                </a:lnTo>
                <a:lnTo>
                  <a:pt x="229" y="3"/>
                </a:lnTo>
                <a:lnTo>
                  <a:pt x="246" y="4"/>
                </a:lnTo>
                <a:lnTo>
                  <a:pt x="262" y="4"/>
                </a:lnTo>
                <a:lnTo>
                  <a:pt x="278" y="4"/>
                </a:lnTo>
                <a:lnTo>
                  <a:pt x="295" y="5"/>
                </a:lnTo>
                <a:lnTo>
                  <a:pt x="311" y="5"/>
                </a:lnTo>
                <a:lnTo>
                  <a:pt x="327" y="5"/>
                </a:lnTo>
                <a:lnTo>
                  <a:pt x="344" y="5"/>
                </a:lnTo>
                <a:lnTo>
                  <a:pt x="360" y="5"/>
                </a:lnTo>
                <a:lnTo>
                  <a:pt x="377" y="6"/>
                </a:lnTo>
                <a:lnTo>
                  <a:pt x="393" y="6"/>
                </a:lnTo>
                <a:lnTo>
                  <a:pt x="393" y="14"/>
                </a:lnTo>
                <a:lnTo>
                  <a:pt x="377" y="14"/>
                </a:lnTo>
                <a:lnTo>
                  <a:pt x="360" y="14"/>
                </a:lnTo>
                <a:lnTo>
                  <a:pt x="344" y="14"/>
                </a:lnTo>
                <a:lnTo>
                  <a:pt x="327" y="14"/>
                </a:lnTo>
                <a:lnTo>
                  <a:pt x="311" y="13"/>
                </a:lnTo>
                <a:lnTo>
                  <a:pt x="295" y="13"/>
                </a:lnTo>
                <a:lnTo>
                  <a:pt x="278" y="13"/>
                </a:lnTo>
                <a:lnTo>
                  <a:pt x="262" y="12"/>
                </a:lnTo>
                <a:lnTo>
                  <a:pt x="246" y="12"/>
                </a:lnTo>
                <a:lnTo>
                  <a:pt x="229" y="12"/>
                </a:lnTo>
                <a:lnTo>
                  <a:pt x="213" y="11"/>
                </a:lnTo>
                <a:lnTo>
                  <a:pt x="196" y="11"/>
                </a:lnTo>
                <a:lnTo>
                  <a:pt x="180" y="11"/>
                </a:lnTo>
                <a:lnTo>
                  <a:pt x="164" y="10"/>
                </a:lnTo>
                <a:lnTo>
                  <a:pt x="147" y="10"/>
                </a:lnTo>
                <a:lnTo>
                  <a:pt x="131" y="10"/>
                </a:lnTo>
                <a:lnTo>
                  <a:pt x="114" y="9"/>
                </a:lnTo>
                <a:lnTo>
                  <a:pt x="98" y="9"/>
                </a:lnTo>
                <a:lnTo>
                  <a:pt x="82" y="9"/>
                </a:lnTo>
                <a:lnTo>
                  <a:pt x="65" y="8"/>
                </a:lnTo>
                <a:lnTo>
                  <a:pt x="49" y="8"/>
                </a:lnTo>
                <a:lnTo>
                  <a:pt x="33" y="8"/>
                </a:lnTo>
                <a:lnTo>
                  <a:pt x="16" y="8"/>
                </a:lnTo>
                <a:lnTo>
                  <a:pt x="0" y="8"/>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5772150"/>
            <a:ext cx="3743325" cy="390525"/>
          </a:xfrm>
          <a:custGeom>
            <a:avLst/>
            <a:gdLst/>
            <a:ahLst/>
            <a:cxnLst/>
            <a:rect l="l" t="t" r="r" b="b"/>
            <a:pathLst>
              <a:path w="393" h="41">
                <a:moveTo>
                  <a:pt x="0" y="0"/>
                </a:moveTo>
                <a:lnTo>
                  <a:pt x="16" y="0"/>
                </a:lnTo>
                <a:lnTo>
                  <a:pt x="33" y="1"/>
                </a:lnTo>
                <a:lnTo>
                  <a:pt x="49" y="1"/>
                </a:lnTo>
                <a:lnTo>
                  <a:pt x="65" y="3"/>
                </a:lnTo>
                <a:lnTo>
                  <a:pt x="82" y="4"/>
                </a:lnTo>
                <a:lnTo>
                  <a:pt x="98" y="5"/>
                </a:lnTo>
                <a:lnTo>
                  <a:pt x="114" y="7"/>
                </a:lnTo>
                <a:lnTo>
                  <a:pt x="131" y="9"/>
                </a:lnTo>
                <a:lnTo>
                  <a:pt x="147" y="11"/>
                </a:lnTo>
                <a:lnTo>
                  <a:pt x="164" y="13"/>
                </a:lnTo>
                <a:lnTo>
                  <a:pt x="180" y="15"/>
                </a:lnTo>
                <a:lnTo>
                  <a:pt x="196" y="17"/>
                </a:lnTo>
                <a:lnTo>
                  <a:pt x="213" y="20"/>
                </a:lnTo>
                <a:lnTo>
                  <a:pt x="229" y="22"/>
                </a:lnTo>
                <a:lnTo>
                  <a:pt x="246" y="24"/>
                </a:lnTo>
                <a:lnTo>
                  <a:pt x="262" y="26"/>
                </a:lnTo>
                <a:lnTo>
                  <a:pt x="278" y="28"/>
                </a:lnTo>
                <a:lnTo>
                  <a:pt x="295" y="29"/>
                </a:lnTo>
                <a:lnTo>
                  <a:pt x="311" y="31"/>
                </a:lnTo>
                <a:lnTo>
                  <a:pt x="327" y="32"/>
                </a:lnTo>
                <a:lnTo>
                  <a:pt x="344" y="33"/>
                </a:lnTo>
                <a:lnTo>
                  <a:pt x="360" y="34"/>
                </a:lnTo>
                <a:lnTo>
                  <a:pt x="377" y="35"/>
                </a:lnTo>
                <a:lnTo>
                  <a:pt x="393" y="35"/>
                </a:lnTo>
                <a:lnTo>
                  <a:pt x="393" y="41"/>
                </a:lnTo>
                <a:lnTo>
                  <a:pt x="377" y="41"/>
                </a:lnTo>
                <a:lnTo>
                  <a:pt x="360" y="40"/>
                </a:lnTo>
                <a:lnTo>
                  <a:pt x="344" y="39"/>
                </a:lnTo>
                <a:lnTo>
                  <a:pt x="327" y="38"/>
                </a:lnTo>
                <a:lnTo>
                  <a:pt x="311" y="37"/>
                </a:lnTo>
                <a:lnTo>
                  <a:pt x="295" y="36"/>
                </a:lnTo>
                <a:lnTo>
                  <a:pt x="278" y="34"/>
                </a:lnTo>
                <a:lnTo>
                  <a:pt x="262" y="32"/>
                </a:lnTo>
                <a:lnTo>
                  <a:pt x="246" y="30"/>
                </a:lnTo>
                <a:lnTo>
                  <a:pt x="229" y="28"/>
                </a:lnTo>
                <a:lnTo>
                  <a:pt x="213" y="26"/>
                </a:lnTo>
                <a:lnTo>
                  <a:pt x="196" y="24"/>
                </a:lnTo>
                <a:lnTo>
                  <a:pt x="180" y="21"/>
                </a:lnTo>
                <a:lnTo>
                  <a:pt x="164" y="19"/>
                </a:lnTo>
                <a:lnTo>
                  <a:pt x="147" y="17"/>
                </a:lnTo>
                <a:lnTo>
                  <a:pt x="131" y="15"/>
                </a:lnTo>
                <a:lnTo>
                  <a:pt x="114" y="13"/>
                </a:lnTo>
                <a:lnTo>
                  <a:pt x="98" y="12"/>
                </a:lnTo>
                <a:lnTo>
                  <a:pt x="82" y="10"/>
                </a:lnTo>
                <a:lnTo>
                  <a:pt x="65" y="9"/>
                </a:lnTo>
                <a:lnTo>
                  <a:pt x="49" y="8"/>
                </a:lnTo>
                <a:lnTo>
                  <a:pt x="33" y="7"/>
                </a:lnTo>
                <a:lnTo>
                  <a:pt x="16" y="6"/>
                </a:lnTo>
                <a:lnTo>
                  <a:pt x="0" y="6"/>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5829300"/>
            <a:ext cx="3743325" cy="657225"/>
          </a:xfrm>
          <a:custGeom>
            <a:avLst/>
            <a:gdLst/>
            <a:ahLst/>
            <a:cxnLst/>
            <a:rect l="l" t="t" r="r" b="b"/>
            <a:pathLst>
              <a:path w="393" h="69">
                <a:moveTo>
                  <a:pt x="0" y="0"/>
                </a:moveTo>
                <a:lnTo>
                  <a:pt x="16" y="0"/>
                </a:lnTo>
                <a:lnTo>
                  <a:pt x="33" y="1"/>
                </a:lnTo>
                <a:lnTo>
                  <a:pt x="49" y="3"/>
                </a:lnTo>
                <a:lnTo>
                  <a:pt x="65" y="5"/>
                </a:lnTo>
                <a:lnTo>
                  <a:pt x="82" y="7"/>
                </a:lnTo>
                <a:lnTo>
                  <a:pt x="98" y="10"/>
                </a:lnTo>
                <a:lnTo>
                  <a:pt x="114" y="13"/>
                </a:lnTo>
                <a:lnTo>
                  <a:pt x="131" y="16"/>
                </a:lnTo>
                <a:lnTo>
                  <a:pt x="147" y="20"/>
                </a:lnTo>
                <a:lnTo>
                  <a:pt x="164" y="24"/>
                </a:lnTo>
                <a:lnTo>
                  <a:pt x="180" y="28"/>
                </a:lnTo>
                <a:lnTo>
                  <a:pt x="196" y="31"/>
                </a:lnTo>
                <a:lnTo>
                  <a:pt x="213" y="35"/>
                </a:lnTo>
                <a:lnTo>
                  <a:pt x="229" y="39"/>
                </a:lnTo>
                <a:lnTo>
                  <a:pt x="246" y="43"/>
                </a:lnTo>
                <a:lnTo>
                  <a:pt x="262" y="47"/>
                </a:lnTo>
                <a:lnTo>
                  <a:pt x="278" y="50"/>
                </a:lnTo>
                <a:lnTo>
                  <a:pt x="295" y="53"/>
                </a:lnTo>
                <a:lnTo>
                  <a:pt x="311" y="56"/>
                </a:lnTo>
                <a:lnTo>
                  <a:pt x="327" y="58"/>
                </a:lnTo>
                <a:lnTo>
                  <a:pt x="344" y="60"/>
                </a:lnTo>
                <a:lnTo>
                  <a:pt x="360" y="62"/>
                </a:lnTo>
                <a:lnTo>
                  <a:pt x="377" y="62"/>
                </a:lnTo>
                <a:lnTo>
                  <a:pt x="393" y="63"/>
                </a:lnTo>
                <a:lnTo>
                  <a:pt x="393" y="69"/>
                </a:lnTo>
                <a:lnTo>
                  <a:pt x="377" y="68"/>
                </a:lnTo>
                <a:lnTo>
                  <a:pt x="360" y="68"/>
                </a:lnTo>
                <a:lnTo>
                  <a:pt x="344" y="66"/>
                </a:lnTo>
                <a:lnTo>
                  <a:pt x="327" y="64"/>
                </a:lnTo>
                <a:lnTo>
                  <a:pt x="311" y="62"/>
                </a:lnTo>
                <a:lnTo>
                  <a:pt x="295" y="59"/>
                </a:lnTo>
                <a:lnTo>
                  <a:pt x="278" y="56"/>
                </a:lnTo>
                <a:lnTo>
                  <a:pt x="262" y="53"/>
                </a:lnTo>
                <a:lnTo>
                  <a:pt x="246" y="49"/>
                </a:lnTo>
                <a:lnTo>
                  <a:pt x="229" y="45"/>
                </a:lnTo>
                <a:lnTo>
                  <a:pt x="213" y="41"/>
                </a:lnTo>
                <a:lnTo>
                  <a:pt x="196" y="37"/>
                </a:lnTo>
                <a:lnTo>
                  <a:pt x="180" y="34"/>
                </a:lnTo>
                <a:lnTo>
                  <a:pt x="164" y="30"/>
                </a:lnTo>
                <a:lnTo>
                  <a:pt x="147" y="26"/>
                </a:lnTo>
                <a:lnTo>
                  <a:pt x="131" y="22"/>
                </a:lnTo>
                <a:lnTo>
                  <a:pt x="114" y="19"/>
                </a:lnTo>
                <a:lnTo>
                  <a:pt x="98" y="16"/>
                </a:lnTo>
                <a:lnTo>
                  <a:pt x="82" y="13"/>
                </a:lnTo>
                <a:lnTo>
                  <a:pt x="65" y="11"/>
                </a:lnTo>
                <a:lnTo>
                  <a:pt x="49" y="9"/>
                </a:lnTo>
                <a:lnTo>
                  <a:pt x="33" y="7"/>
                </a:lnTo>
                <a:lnTo>
                  <a:pt x="16" y="6"/>
                </a:lnTo>
                <a:lnTo>
                  <a:pt x="0" y="6"/>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4419600"/>
            <a:ext cx="3743325" cy="1581150"/>
          </a:xfrm>
          <a:custGeom>
            <a:avLst/>
            <a:gdLst/>
            <a:ahLst/>
            <a:cxnLst/>
            <a:rect l="l" t="t" r="r" b="b"/>
            <a:pathLst>
              <a:path w="393" h="166">
                <a:moveTo>
                  <a:pt x="0" y="160"/>
                </a:moveTo>
                <a:lnTo>
                  <a:pt x="16" y="159"/>
                </a:lnTo>
                <a:lnTo>
                  <a:pt x="33" y="157"/>
                </a:lnTo>
                <a:lnTo>
                  <a:pt x="49" y="153"/>
                </a:lnTo>
                <a:lnTo>
                  <a:pt x="65" y="148"/>
                </a:lnTo>
                <a:lnTo>
                  <a:pt x="82" y="142"/>
                </a:lnTo>
                <a:lnTo>
                  <a:pt x="98" y="135"/>
                </a:lnTo>
                <a:lnTo>
                  <a:pt x="114" y="127"/>
                </a:lnTo>
                <a:lnTo>
                  <a:pt x="131" y="119"/>
                </a:lnTo>
                <a:lnTo>
                  <a:pt x="147" y="110"/>
                </a:lnTo>
                <a:lnTo>
                  <a:pt x="164" y="100"/>
                </a:lnTo>
                <a:lnTo>
                  <a:pt x="180" y="90"/>
                </a:lnTo>
                <a:lnTo>
                  <a:pt x="196" y="80"/>
                </a:lnTo>
                <a:lnTo>
                  <a:pt x="213" y="70"/>
                </a:lnTo>
                <a:lnTo>
                  <a:pt x="229" y="60"/>
                </a:lnTo>
                <a:lnTo>
                  <a:pt x="246" y="51"/>
                </a:lnTo>
                <a:lnTo>
                  <a:pt x="262" y="42"/>
                </a:lnTo>
                <a:lnTo>
                  <a:pt x="278" y="33"/>
                </a:lnTo>
                <a:lnTo>
                  <a:pt x="295" y="25"/>
                </a:lnTo>
                <a:lnTo>
                  <a:pt x="311" y="18"/>
                </a:lnTo>
                <a:lnTo>
                  <a:pt x="327" y="12"/>
                </a:lnTo>
                <a:lnTo>
                  <a:pt x="344" y="7"/>
                </a:lnTo>
                <a:lnTo>
                  <a:pt x="360" y="4"/>
                </a:lnTo>
                <a:lnTo>
                  <a:pt x="377" y="1"/>
                </a:lnTo>
                <a:lnTo>
                  <a:pt x="393" y="0"/>
                </a:lnTo>
                <a:lnTo>
                  <a:pt x="393" y="6"/>
                </a:lnTo>
                <a:lnTo>
                  <a:pt x="377" y="7"/>
                </a:lnTo>
                <a:lnTo>
                  <a:pt x="360" y="9"/>
                </a:lnTo>
                <a:lnTo>
                  <a:pt x="344" y="13"/>
                </a:lnTo>
                <a:lnTo>
                  <a:pt x="327" y="18"/>
                </a:lnTo>
                <a:lnTo>
                  <a:pt x="311" y="24"/>
                </a:lnTo>
                <a:lnTo>
                  <a:pt x="295" y="31"/>
                </a:lnTo>
                <a:lnTo>
                  <a:pt x="278" y="39"/>
                </a:lnTo>
                <a:lnTo>
                  <a:pt x="262" y="48"/>
                </a:lnTo>
                <a:lnTo>
                  <a:pt x="246" y="57"/>
                </a:lnTo>
                <a:lnTo>
                  <a:pt x="229" y="66"/>
                </a:lnTo>
                <a:lnTo>
                  <a:pt x="213" y="76"/>
                </a:lnTo>
                <a:lnTo>
                  <a:pt x="196" y="86"/>
                </a:lnTo>
                <a:lnTo>
                  <a:pt x="180" y="96"/>
                </a:lnTo>
                <a:lnTo>
                  <a:pt x="164" y="106"/>
                </a:lnTo>
                <a:lnTo>
                  <a:pt x="147" y="115"/>
                </a:lnTo>
                <a:lnTo>
                  <a:pt x="131" y="125"/>
                </a:lnTo>
                <a:lnTo>
                  <a:pt x="114" y="133"/>
                </a:lnTo>
                <a:lnTo>
                  <a:pt x="98" y="141"/>
                </a:lnTo>
                <a:lnTo>
                  <a:pt x="82" y="148"/>
                </a:lnTo>
                <a:lnTo>
                  <a:pt x="65" y="154"/>
                </a:lnTo>
                <a:lnTo>
                  <a:pt x="49" y="159"/>
                </a:lnTo>
                <a:lnTo>
                  <a:pt x="33" y="163"/>
                </a:lnTo>
                <a:lnTo>
                  <a:pt x="16" y="165"/>
                </a:lnTo>
                <a:lnTo>
                  <a:pt x="0" y="166"/>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4981575"/>
            <a:ext cx="3743325" cy="1076325"/>
          </a:xfrm>
          <a:custGeom>
            <a:avLst/>
            <a:gdLst/>
            <a:ahLst/>
            <a:cxnLst/>
            <a:rect l="l" t="t" r="r" b="b"/>
            <a:pathLst>
              <a:path w="393" h="113">
                <a:moveTo>
                  <a:pt x="0" y="107"/>
                </a:moveTo>
                <a:lnTo>
                  <a:pt x="16" y="106"/>
                </a:lnTo>
                <a:lnTo>
                  <a:pt x="33" y="105"/>
                </a:lnTo>
                <a:lnTo>
                  <a:pt x="49" y="102"/>
                </a:lnTo>
                <a:lnTo>
                  <a:pt x="65" y="99"/>
                </a:lnTo>
                <a:lnTo>
                  <a:pt x="82" y="95"/>
                </a:lnTo>
                <a:lnTo>
                  <a:pt x="98" y="90"/>
                </a:lnTo>
                <a:lnTo>
                  <a:pt x="114" y="85"/>
                </a:lnTo>
                <a:lnTo>
                  <a:pt x="131" y="79"/>
                </a:lnTo>
                <a:lnTo>
                  <a:pt x="147" y="73"/>
                </a:lnTo>
                <a:lnTo>
                  <a:pt x="164" y="67"/>
                </a:lnTo>
                <a:lnTo>
                  <a:pt x="180" y="60"/>
                </a:lnTo>
                <a:lnTo>
                  <a:pt x="196" y="53"/>
                </a:lnTo>
                <a:lnTo>
                  <a:pt x="213" y="47"/>
                </a:lnTo>
                <a:lnTo>
                  <a:pt x="229" y="40"/>
                </a:lnTo>
                <a:lnTo>
                  <a:pt x="246" y="34"/>
                </a:lnTo>
                <a:lnTo>
                  <a:pt x="262" y="28"/>
                </a:lnTo>
                <a:lnTo>
                  <a:pt x="278" y="22"/>
                </a:lnTo>
                <a:lnTo>
                  <a:pt x="295" y="17"/>
                </a:lnTo>
                <a:lnTo>
                  <a:pt x="311" y="12"/>
                </a:lnTo>
                <a:lnTo>
                  <a:pt x="327" y="8"/>
                </a:lnTo>
                <a:lnTo>
                  <a:pt x="344" y="5"/>
                </a:lnTo>
                <a:lnTo>
                  <a:pt x="360" y="2"/>
                </a:lnTo>
                <a:lnTo>
                  <a:pt x="377" y="0"/>
                </a:lnTo>
                <a:lnTo>
                  <a:pt x="393" y="0"/>
                </a:lnTo>
                <a:lnTo>
                  <a:pt x="393" y="6"/>
                </a:lnTo>
                <a:lnTo>
                  <a:pt x="377" y="6"/>
                </a:lnTo>
                <a:lnTo>
                  <a:pt x="360" y="8"/>
                </a:lnTo>
                <a:lnTo>
                  <a:pt x="344" y="10"/>
                </a:lnTo>
                <a:lnTo>
                  <a:pt x="327" y="14"/>
                </a:lnTo>
                <a:lnTo>
                  <a:pt x="311" y="18"/>
                </a:lnTo>
                <a:lnTo>
                  <a:pt x="295" y="22"/>
                </a:lnTo>
                <a:lnTo>
                  <a:pt x="278" y="28"/>
                </a:lnTo>
                <a:lnTo>
                  <a:pt x="262" y="33"/>
                </a:lnTo>
                <a:lnTo>
                  <a:pt x="246" y="39"/>
                </a:lnTo>
                <a:lnTo>
                  <a:pt x="229" y="46"/>
                </a:lnTo>
                <a:lnTo>
                  <a:pt x="213" y="52"/>
                </a:lnTo>
                <a:lnTo>
                  <a:pt x="196" y="59"/>
                </a:lnTo>
                <a:lnTo>
                  <a:pt x="180" y="66"/>
                </a:lnTo>
                <a:lnTo>
                  <a:pt x="164" y="72"/>
                </a:lnTo>
                <a:lnTo>
                  <a:pt x="147" y="79"/>
                </a:lnTo>
                <a:lnTo>
                  <a:pt x="131" y="85"/>
                </a:lnTo>
                <a:lnTo>
                  <a:pt x="114" y="91"/>
                </a:lnTo>
                <a:lnTo>
                  <a:pt x="98" y="96"/>
                </a:lnTo>
                <a:lnTo>
                  <a:pt x="82" y="101"/>
                </a:lnTo>
                <a:lnTo>
                  <a:pt x="65" y="105"/>
                </a:lnTo>
                <a:lnTo>
                  <a:pt x="49" y="108"/>
                </a:lnTo>
                <a:lnTo>
                  <a:pt x="33" y="111"/>
                </a:lnTo>
                <a:lnTo>
                  <a:pt x="16" y="112"/>
                </a:lnTo>
                <a:lnTo>
                  <a:pt x="0" y="113"/>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5429250"/>
            <a:ext cx="3743325" cy="666750"/>
          </a:xfrm>
          <a:custGeom>
            <a:avLst/>
            <a:gdLst/>
            <a:ahLst/>
            <a:cxnLst/>
            <a:rect l="l" t="t" r="r" b="b"/>
            <a:pathLst>
              <a:path w="393" h="70">
                <a:moveTo>
                  <a:pt x="0" y="66"/>
                </a:moveTo>
                <a:lnTo>
                  <a:pt x="16" y="65"/>
                </a:lnTo>
                <a:lnTo>
                  <a:pt x="33" y="64"/>
                </a:lnTo>
                <a:lnTo>
                  <a:pt x="49" y="63"/>
                </a:lnTo>
                <a:lnTo>
                  <a:pt x="65" y="61"/>
                </a:lnTo>
                <a:lnTo>
                  <a:pt x="82" y="58"/>
                </a:lnTo>
                <a:lnTo>
                  <a:pt x="98" y="55"/>
                </a:lnTo>
                <a:lnTo>
                  <a:pt x="114" y="52"/>
                </a:lnTo>
                <a:lnTo>
                  <a:pt x="131" y="49"/>
                </a:lnTo>
                <a:lnTo>
                  <a:pt x="147" y="45"/>
                </a:lnTo>
                <a:lnTo>
                  <a:pt x="164" y="41"/>
                </a:lnTo>
                <a:lnTo>
                  <a:pt x="180" y="37"/>
                </a:lnTo>
                <a:lnTo>
                  <a:pt x="196" y="33"/>
                </a:lnTo>
                <a:lnTo>
                  <a:pt x="213" y="29"/>
                </a:lnTo>
                <a:lnTo>
                  <a:pt x="229" y="25"/>
                </a:lnTo>
                <a:lnTo>
                  <a:pt x="246" y="21"/>
                </a:lnTo>
                <a:lnTo>
                  <a:pt x="262" y="17"/>
                </a:lnTo>
                <a:lnTo>
                  <a:pt x="278" y="13"/>
                </a:lnTo>
                <a:lnTo>
                  <a:pt x="295" y="10"/>
                </a:lnTo>
                <a:lnTo>
                  <a:pt x="311" y="7"/>
                </a:lnTo>
                <a:lnTo>
                  <a:pt x="327" y="5"/>
                </a:lnTo>
                <a:lnTo>
                  <a:pt x="344" y="3"/>
                </a:lnTo>
                <a:lnTo>
                  <a:pt x="360" y="1"/>
                </a:lnTo>
                <a:lnTo>
                  <a:pt x="377" y="0"/>
                </a:lnTo>
                <a:lnTo>
                  <a:pt x="393" y="0"/>
                </a:lnTo>
                <a:lnTo>
                  <a:pt x="393" y="4"/>
                </a:lnTo>
                <a:lnTo>
                  <a:pt x="377" y="4"/>
                </a:lnTo>
                <a:lnTo>
                  <a:pt x="360" y="5"/>
                </a:lnTo>
                <a:lnTo>
                  <a:pt x="344" y="7"/>
                </a:lnTo>
                <a:lnTo>
                  <a:pt x="327" y="9"/>
                </a:lnTo>
                <a:lnTo>
                  <a:pt x="311" y="12"/>
                </a:lnTo>
                <a:lnTo>
                  <a:pt x="295" y="14"/>
                </a:lnTo>
                <a:lnTo>
                  <a:pt x="278" y="18"/>
                </a:lnTo>
                <a:lnTo>
                  <a:pt x="262" y="21"/>
                </a:lnTo>
                <a:lnTo>
                  <a:pt x="246" y="25"/>
                </a:lnTo>
                <a:lnTo>
                  <a:pt x="229" y="29"/>
                </a:lnTo>
                <a:lnTo>
                  <a:pt x="213" y="33"/>
                </a:lnTo>
                <a:lnTo>
                  <a:pt x="196" y="37"/>
                </a:lnTo>
                <a:lnTo>
                  <a:pt x="180" y="41"/>
                </a:lnTo>
                <a:lnTo>
                  <a:pt x="164" y="45"/>
                </a:lnTo>
                <a:lnTo>
                  <a:pt x="147" y="49"/>
                </a:lnTo>
                <a:lnTo>
                  <a:pt x="131" y="53"/>
                </a:lnTo>
                <a:lnTo>
                  <a:pt x="114" y="56"/>
                </a:lnTo>
                <a:lnTo>
                  <a:pt x="98" y="60"/>
                </a:lnTo>
                <a:lnTo>
                  <a:pt x="82" y="63"/>
                </a:lnTo>
                <a:lnTo>
                  <a:pt x="65" y="65"/>
                </a:lnTo>
                <a:lnTo>
                  <a:pt x="49" y="67"/>
                </a:lnTo>
                <a:lnTo>
                  <a:pt x="33" y="69"/>
                </a:lnTo>
                <a:lnTo>
                  <a:pt x="16" y="70"/>
                </a:lnTo>
                <a:lnTo>
                  <a:pt x="0" y="70"/>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5829300"/>
            <a:ext cx="3743325" cy="304800"/>
          </a:xfrm>
          <a:custGeom>
            <a:avLst/>
            <a:gdLst/>
            <a:ahLst/>
            <a:cxnLst/>
            <a:rect l="l" t="t" r="r" b="b"/>
            <a:pathLst>
              <a:path w="393" h="32">
                <a:moveTo>
                  <a:pt x="0" y="28"/>
                </a:moveTo>
                <a:lnTo>
                  <a:pt x="16" y="28"/>
                </a:lnTo>
                <a:lnTo>
                  <a:pt x="33" y="27"/>
                </a:lnTo>
                <a:lnTo>
                  <a:pt x="49" y="27"/>
                </a:lnTo>
                <a:lnTo>
                  <a:pt x="65" y="26"/>
                </a:lnTo>
                <a:lnTo>
                  <a:pt x="82" y="25"/>
                </a:lnTo>
                <a:lnTo>
                  <a:pt x="98" y="24"/>
                </a:lnTo>
                <a:lnTo>
                  <a:pt x="114" y="22"/>
                </a:lnTo>
                <a:lnTo>
                  <a:pt x="131" y="21"/>
                </a:lnTo>
                <a:lnTo>
                  <a:pt x="147" y="19"/>
                </a:lnTo>
                <a:lnTo>
                  <a:pt x="164" y="17"/>
                </a:lnTo>
                <a:lnTo>
                  <a:pt x="180" y="16"/>
                </a:lnTo>
                <a:lnTo>
                  <a:pt x="196" y="14"/>
                </a:lnTo>
                <a:lnTo>
                  <a:pt x="213" y="12"/>
                </a:lnTo>
                <a:lnTo>
                  <a:pt x="229" y="11"/>
                </a:lnTo>
                <a:lnTo>
                  <a:pt x="246" y="9"/>
                </a:lnTo>
                <a:lnTo>
                  <a:pt x="262" y="7"/>
                </a:lnTo>
                <a:lnTo>
                  <a:pt x="278" y="6"/>
                </a:lnTo>
                <a:lnTo>
                  <a:pt x="295" y="4"/>
                </a:lnTo>
                <a:lnTo>
                  <a:pt x="311" y="3"/>
                </a:lnTo>
                <a:lnTo>
                  <a:pt x="327" y="2"/>
                </a:lnTo>
                <a:lnTo>
                  <a:pt x="344" y="1"/>
                </a:lnTo>
                <a:lnTo>
                  <a:pt x="360" y="1"/>
                </a:lnTo>
                <a:lnTo>
                  <a:pt x="377" y="0"/>
                </a:lnTo>
                <a:lnTo>
                  <a:pt x="393" y="0"/>
                </a:lnTo>
                <a:lnTo>
                  <a:pt x="393" y="4"/>
                </a:lnTo>
                <a:lnTo>
                  <a:pt x="377" y="4"/>
                </a:lnTo>
                <a:lnTo>
                  <a:pt x="360" y="4"/>
                </a:lnTo>
                <a:lnTo>
                  <a:pt x="344" y="5"/>
                </a:lnTo>
                <a:lnTo>
                  <a:pt x="327" y="6"/>
                </a:lnTo>
                <a:lnTo>
                  <a:pt x="311" y="7"/>
                </a:lnTo>
                <a:lnTo>
                  <a:pt x="295" y="8"/>
                </a:lnTo>
                <a:lnTo>
                  <a:pt x="278" y="9"/>
                </a:lnTo>
                <a:lnTo>
                  <a:pt x="262" y="11"/>
                </a:lnTo>
                <a:lnTo>
                  <a:pt x="246" y="12"/>
                </a:lnTo>
                <a:lnTo>
                  <a:pt x="229" y="14"/>
                </a:lnTo>
                <a:lnTo>
                  <a:pt x="213" y="16"/>
                </a:lnTo>
                <a:lnTo>
                  <a:pt x="196" y="18"/>
                </a:lnTo>
                <a:lnTo>
                  <a:pt x="180" y="19"/>
                </a:lnTo>
                <a:lnTo>
                  <a:pt x="164" y="21"/>
                </a:lnTo>
                <a:lnTo>
                  <a:pt x="147" y="23"/>
                </a:lnTo>
                <a:lnTo>
                  <a:pt x="131" y="24"/>
                </a:lnTo>
                <a:lnTo>
                  <a:pt x="114" y="26"/>
                </a:lnTo>
                <a:lnTo>
                  <a:pt x="98" y="27"/>
                </a:lnTo>
                <a:lnTo>
                  <a:pt x="82" y="28"/>
                </a:lnTo>
                <a:lnTo>
                  <a:pt x="65" y="30"/>
                </a:lnTo>
                <a:lnTo>
                  <a:pt x="49" y="30"/>
                </a:lnTo>
                <a:lnTo>
                  <a:pt x="33" y="31"/>
                </a:lnTo>
                <a:lnTo>
                  <a:pt x="16" y="31"/>
                </a:lnTo>
                <a:lnTo>
                  <a:pt x="0" y="32"/>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057400" y="6134100"/>
            <a:ext cx="3743325" cy="57150"/>
          </a:xfrm>
          <a:custGeom>
            <a:avLst/>
            <a:gdLst/>
            <a:ahLst/>
            <a:cxnLst/>
            <a:rect l="l" t="t" r="r" b="b"/>
            <a:pathLst>
              <a:path w="393" h="6">
                <a:moveTo>
                  <a:pt x="0" y="0"/>
                </a:moveTo>
                <a:lnTo>
                  <a:pt x="16" y="0"/>
                </a:lnTo>
                <a:lnTo>
                  <a:pt x="33" y="0"/>
                </a:lnTo>
                <a:lnTo>
                  <a:pt x="49" y="0"/>
                </a:lnTo>
                <a:lnTo>
                  <a:pt x="65" y="0"/>
                </a:lnTo>
                <a:lnTo>
                  <a:pt x="82" y="0"/>
                </a:lnTo>
                <a:lnTo>
                  <a:pt x="98" y="0"/>
                </a:lnTo>
                <a:lnTo>
                  <a:pt x="114" y="0"/>
                </a:lnTo>
                <a:lnTo>
                  <a:pt x="131" y="0"/>
                </a:lnTo>
                <a:lnTo>
                  <a:pt x="147" y="1"/>
                </a:lnTo>
                <a:lnTo>
                  <a:pt x="164" y="1"/>
                </a:lnTo>
                <a:lnTo>
                  <a:pt x="180" y="1"/>
                </a:lnTo>
                <a:lnTo>
                  <a:pt x="196" y="1"/>
                </a:lnTo>
                <a:lnTo>
                  <a:pt x="213" y="1"/>
                </a:lnTo>
                <a:lnTo>
                  <a:pt x="229" y="2"/>
                </a:lnTo>
                <a:lnTo>
                  <a:pt x="246" y="2"/>
                </a:lnTo>
                <a:lnTo>
                  <a:pt x="262" y="2"/>
                </a:lnTo>
                <a:lnTo>
                  <a:pt x="278" y="2"/>
                </a:lnTo>
                <a:lnTo>
                  <a:pt x="295" y="2"/>
                </a:lnTo>
                <a:lnTo>
                  <a:pt x="311" y="3"/>
                </a:lnTo>
                <a:lnTo>
                  <a:pt x="327" y="3"/>
                </a:lnTo>
                <a:lnTo>
                  <a:pt x="344" y="3"/>
                </a:lnTo>
                <a:lnTo>
                  <a:pt x="360" y="3"/>
                </a:lnTo>
                <a:lnTo>
                  <a:pt x="377" y="3"/>
                </a:lnTo>
                <a:lnTo>
                  <a:pt x="393" y="3"/>
                </a:lnTo>
                <a:lnTo>
                  <a:pt x="393" y="6"/>
                </a:lnTo>
                <a:lnTo>
                  <a:pt x="377" y="6"/>
                </a:lnTo>
                <a:lnTo>
                  <a:pt x="360" y="6"/>
                </a:lnTo>
                <a:lnTo>
                  <a:pt x="344" y="6"/>
                </a:lnTo>
                <a:lnTo>
                  <a:pt x="327" y="6"/>
                </a:lnTo>
                <a:lnTo>
                  <a:pt x="311" y="6"/>
                </a:lnTo>
                <a:lnTo>
                  <a:pt x="295" y="6"/>
                </a:lnTo>
                <a:lnTo>
                  <a:pt x="278" y="5"/>
                </a:lnTo>
                <a:lnTo>
                  <a:pt x="262" y="5"/>
                </a:lnTo>
                <a:lnTo>
                  <a:pt x="246" y="5"/>
                </a:lnTo>
                <a:lnTo>
                  <a:pt x="229" y="5"/>
                </a:lnTo>
                <a:lnTo>
                  <a:pt x="213" y="5"/>
                </a:lnTo>
                <a:lnTo>
                  <a:pt x="196" y="4"/>
                </a:lnTo>
                <a:lnTo>
                  <a:pt x="180" y="4"/>
                </a:lnTo>
                <a:lnTo>
                  <a:pt x="164" y="4"/>
                </a:lnTo>
                <a:lnTo>
                  <a:pt x="147" y="4"/>
                </a:lnTo>
                <a:lnTo>
                  <a:pt x="131" y="4"/>
                </a:lnTo>
                <a:lnTo>
                  <a:pt x="114" y="3"/>
                </a:lnTo>
                <a:lnTo>
                  <a:pt x="98" y="3"/>
                </a:lnTo>
                <a:lnTo>
                  <a:pt x="82" y="3"/>
                </a:lnTo>
                <a:lnTo>
                  <a:pt x="65" y="3"/>
                </a:lnTo>
                <a:lnTo>
                  <a:pt x="49" y="3"/>
                </a:lnTo>
                <a:lnTo>
                  <a:pt x="33" y="3"/>
                </a:lnTo>
                <a:lnTo>
                  <a:pt x="16" y="3"/>
                </a:lnTo>
                <a:lnTo>
                  <a:pt x="0" y="3"/>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057400" y="6162675"/>
            <a:ext cx="3743325" cy="342900"/>
          </a:xfrm>
          <a:custGeom>
            <a:avLst/>
            <a:gdLst/>
            <a:ahLst/>
            <a:cxnLst/>
            <a:rect l="l" t="t" r="r" b="b"/>
            <a:pathLst>
              <a:path w="393" h="36">
                <a:moveTo>
                  <a:pt x="0" y="0"/>
                </a:moveTo>
                <a:lnTo>
                  <a:pt x="16" y="0"/>
                </a:lnTo>
                <a:lnTo>
                  <a:pt x="33" y="0"/>
                </a:lnTo>
                <a:lnTo>
                  <a:pt x="49" y="1"/>
                </a:lnTo>
                <a:lnTo>
                  <a:pt x="65" y="2"/>
                </a:lnTo>
                <a:lnTo>
                  <a:pt x="82" y="4"/>
                </a:lnTo>
                <a:lnTo>
                  <a:pt x="98" y="5"/>
                </a:lnTo>
                <a:lnTo>
                  <a:pt x="114" y="7"/>
                </a:lnTo>
                <a:lnTo>
                  <a:pt x="131" y="9"/>
                </a:lnTo>
                <a:lnTo>
                  <a:pt x="147" y="11"/>
                </a:lnTo>
                <a:lnTo>
                  <a:pt x="164" y="13"/>
                </a:lnTo>
                <a:lnTo>
                  <a:pt x="180" y="15"/>
                </a:lnTo>
                <a:lnTo>
                  <a:pt x="196" y="17"/>
                </a:lnTo>
                <a:lnTo>
                  <a:pt x="213" y="19"/>
                </a:lnTo>
                <a:lnTo>
                  <a:pt x="229" y="21"/>
                </a:lnTo>
                <a:lnTo>
                  <a:pt x="246" y="23"/>
                </a:lnTo>
                <a:lnTo>
                  <a:pt x="262" y="25"/>
                </a:lnTo>
                <a:lnTo>
                  <a:pt x="278" y="27"/>
                </a:lnTo>
                <a:lnTo>
                  <a:pt x="295" y="28"/>
                </a:lnTo>
                <a:lnTo>
                  <a:pt x="311" y="30"/>
                </a:lnTo>
                <a:lnTo>
                  <a:pt x="327" y="31"/>
                </a:lnTo>
                <a:lnTo>
                  <a:pt x="344" y="32"/>
                </a:lnTo>
                <a:lnTo>
                  <a:pt x="360" y="33"/>
                </a:lnTo>
                <a:lnTo>
                  <a:pt x="377" y="34"/>
                </a:lnTo>
                <a:lnTo>
                  <a:pt x="393" y="34"/>
                </a:lnTo>
                <a:lnTo>
                  <a:pt x="393" y="36"/>
                </a:lnTo>
                <a:lnTo>
                  <a:pt x="377" y="36"/>
                </a:lnTo>
                <a:lnTo>
                  <a:pt x="360" y="36"/>
                </a:lnTo>
                <a:lnTo>
                  <a:pt x="344" y="35"/>
                </a:lnTo>
                <a:lnTo>
                  <a:pt x="327" y="34"/>
                </a:lnTo>
                <a:lnTo>
                  <a:pt x="311" y="32"/>
                </a:lnTo>
                <a:lnTo>
                  <a:pt x="295" y="31"/>
                </a:lnTo>
                <a:lnTo>
                  <a:pt x="278" y="29"/>
                </a:lnTo>
                <a:lnTo>
                  <a:pt x="262" y="27"/>
                </a:lnTo>
                <a:lnTo>
                  <a:pt x="246" y="26"/>
                </a:lnTo>
                <a:lnTo>
                  <a:pt x="229" y="23"/>
                </a:lnTo>
                <a:lnTo>
                  <a:pt x="213" y="21"/>
                </a:lnTo>
                <a:lnTo>
                  <a:pt x="196" y="19"/>
                </a:lnTo>
                <a:lnTo>
                  <a:pt x="180" y="17"/>
                </a:lnTo>
                <a:lnTo>
                  <a:pt x="164" y="15"/>
                </a:lnTo>
                <a:lnTo>
                  <a:pt x="147" y="13"/>
                </a:lnTo>
                <a:lnTo>
                  <a:pt x="131" y="11"/>
                </a:lnTo>
                <a:lnTo>
                  <a:pt x="114" y="9"/>
                </a:lnTo>
                <a:lnTo>
                  <a:pt x="98" y="8"/>
                </a:lnTo>
                <a:lnTo>
                  <a:pt x="82" y="6"/>
                </a:lnTo>
                <a:lnTo>
                  <a:pt x="65" y="5"/>
                </a:lnTo>
                <a:lnTo>
                  <a:pt x="49" y="4"/>
                </a:lnTo>
                <a:lnTo>
                  <a:pt x="33" y="3"/>
                </a:lnTo>
                <a:lnTo>
                  <a:pt x="16" y="2"/>
                </a:lnTo>
                <a:lnTo>
                  <a:pt x="0" y="2"/>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2057400" y="4476750"/>
            <a:ext cx="3743325" cy="1819275"/>
          </a:xfrm>
          <a:custGeom>
            <a:avLst/>
            <a:gdLst/>
            <a:ahLst/>
            <a:cxnLst/>
            <a:rect l="l" t="t" r="r" b="b"/>
            <a:pathLst>
              <a:path w="393" h="191">
                <a:moveTo>
                  <a:pt x="0" y="185"/>
                </a:moveTo>
                <a:lnTo>
                  <a:pt x="16" y="184"/>
                </a:lnTo>
                <a:lnTo>
                  <a:pt x="33" y="182"/>
                </a:lnTo>
                <a:lnTo>
                  <a:pt x="49" y="177"/>
                </a:lnTo>
                <a:lnTo>
                  <a:pt x="65" y="172"/>
                </a:lnTo>
                <a:lnTo>
                  <a:pt x="82" y="164"/>
                </a:lnTo>
                <a:lnTo>
                  <a:pt x="98" y="156"/>
                </a:lnTo>
                <a:lnTo>
                  <a:pt x="114" y="147"/>
                </a:lnTo>
                <a:lnTo>
                  <a:pt x="131" y="137"/>
                </a:lnTo>
                <a:lnTo>
                  <a:pt x="147" y="127"/>
                </a:lnTo>
                <a:lnTo>
                  <a:pt x="164" y="116"/>
                </a:lnTo>
                <a:lnTo>
                  <a:pt x="180" y="104"/>
                </a:lnTo>
                <a:lnTo>
                  <a:pt x="196" y="93"/>
                </a:lnTo>
                <a:lnTo>
                  <a:pt x="213" y="81"/>
                </a:lnTo>
                <a:lnTo>
                  <a:pt x="229" y="70"/>
                </a:lnTo>
                <a:lnTo>
                  <a:pt x="246" y="59"/>
                </a:lnTo>
                <a:lnTo>
                  <a:pt x="262" y="48"/>
                </a:lnTo>
                <a:lnTo>
                  <a:pt x="278" y="38"/>
                </a:lnTo>
                <a:lnTo>
                  <a:pt x="295" y="29"/>
                </a:lnTo>
                <a:lnTo>
                  <a:pt x="311" y="21"/>
                </a:lnTo>
                <a:lnTo>
                  <a:pt x="327" y="14"/>
                </a:lnTo>
                <a:lnTo>
                  <a:pt x="344" y="8"/>
                </a:lnTo>
                <a:lnTo>
                  <a:pt x="360" y="4"/>
                </a:lnTo>
                <a:lnTo>
                  <a:pt x="377" y="1"/>
                </a:lnTo>
                <a:lnTo>
                  <a:pt x="393" y="0"/>
                </a:lnTo>
                <a:lnTo>
                  <a:pt x="393" y="6"/>
                </a:lnTo>
                <a:lnTo>
                  <a:pt x="377" y="7"/>
                </a:lnTo>
                <a:lnTo>
                  <a:pt x="360" y="9"/>
                </a:lnTo>
                <a:lnTo>
                  <a:pt x="344" y="14"/>
                </a:lnTo>
                <a:lnTo>
                  <a:pt x="327" y="19"/>
                </a:lnTo>
                <a:lnTo>
                  <a:pt x="311" y="27"/>
                </a:lnTo>
                <a:lnTo>
                  <a:pt x="295" y="35"/>
                </a:lnTo>
                <a:lnTo>
                  <a:pt x="278" y="44"/>
                </a:lnTo>
                <a:lnTo>
                  <a:pt x="262" y="54"/>
                </a:lnTo>
                <a:lnTo>
                  <a:pt x="246" y="64"/>
                </a:lnTo>
                <a:lnTo>
                  <a:pt x="229" y="75"/>
                </a:lnTo>
                <a:lnTo>
                  <a:pt x="213" y="87"/>
                </a:lnTo>
                <a:lnTo>
                  <a:pt x="196" y="98"/>
                </a:lnTo>
                <a:lnTo>
                  <a:pt x="180" y="110"/>
                </a:lnTo>
                <a:lnTo>
                  <a:pt x="164" y="121"/>
                </a:lnTo>
                <a:lnTo>
                  <a:pt x="147" y="132"/>
                </a:lnTo>
                <a:lnTo>
                  <a:pt x="131" y="143"/>
                </a:lnTo>
                <a:lnTo>
                  <a:pt x="114" y="153"/>
                </a:lnTo>
                <a:lnTo>
                  <a:pt x="98" y="162"/>
                </a:lnTo>
                <a:lnTo>
                  <a:pt x="82" y="170"/>
                </a:lnTo>
                <a:lnTo>
                  <a:pt x="65" y="177"/>
                </a:lnTo>
                <a:lnTo>
                  <a:pt x="49" y="183"/>
                </a:lnTo>
                <a:lnTo>
                  <a:pt x="33" y="187"/>
                </a:lnTo>
                <a:lnTo>
                  <a:pt x="16" y="190"/>
                </a:lnTo>
                <a:lnTo>
                  <a:pt x="0" y="191"/>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057400" y="5038725"/>
            <a:ext cx="3743325" cy="1304925"/>
          </a:xfrm>
          <a:custGeom>
            <a:avLst/>
            <a:gdLst/>
            <a:ahLst/>
            <a:cxnLst/>
            <a:rect l="l" t="t" r="r" b="b"/>
            <a:pathLst>
              <a:path w="393" h="137">
                <a:moveTo>
                  <a:pt x="0" y="132"/>
                </a:moveTo>
                <a:lnTo>
                  <a:pt x="16" y="131"/>
                </a:lnTo>
                <a:lnTo>
                  <a:pt x="33" y="129"/>
                </a:lnTo>
                <a:lnTo>
                  <a:pt x="49" y="126"/>
                </a:lnTo>
                <a:lnTo>
                  <a:pt x="65" y="122"/>
                </a:lnTo>
                <a:lnTo>
                  <a:pt x="82" y="117"/>
                </a:lnTo>
                <a:lnTo>
                  <a:pt x="98" y="111"/>
                </a:lnTo>
                <a:lnTo>
                  <a:pt x="114" y="105"/>
                </a:lnTo>
                <a:lnTo>
                  <a:pt x="131" y="97"/>
                </a:lnTo>
                <a:lnTo>
                  <a:pt x="147" y="90"/>
                </a:lnTo>
                <a:lnTo>
                  <a:pt x="164" y="82"/>
                </a:lnTo>
                <a:lnTo>
                  <a:pt x="180" y="74"/>
                </a:lnTo>
                <a:lnTo>
                  <a:pt x="196" y="66"/>
                </a:lnTo>
                <a:lnTo>
                  <a:pt x="213" y="57"/>
                </a:lnTo>
                <a:lnTo>
                  <a:pt x="229" y="49"/>
                </a:lnTo>
                <a:lnTo>
                  <a:pt x="246" y="41"/>
                </a:lnTo>
                <a:lnTo>
                  <a:pt x="262" y="34"/>
                </a:lnTo>
                <a:lnTo>
                  <a:pt x="278" y="27"/>
                </a:lnTo>
                <a:lnTo>
                  <a:pt x="295" y="20"/>
                </a:lnTo>
                <a:lnTo>
                  <a:pt x="311" y="14"/>
                </a:lnTo>
                <a:lnTo>
                  <a:pt x="327" y="9"/>
                </a:lnTo>
                <a:lnTo>
                  <a:pt x="344" y="5"/>
                </a:lnTo>
                <a:lnTo>
                  <a:pt x="360" y="2"/>
                </a:lnTo>
                <a:lnTo>
                  <a:pt x="377" y="0"/>
                </a:lnTo>
                <a:lnTo>
                  <a:pt x="393" y="0"/>
                </a:lnTo>
                <a:lnTo>
                  <a:pt x="393" y="5"/>
                </a:lnTo>
                <a:lnTo>
                  <a:pt x="377" y="6"/>
                </a:lnTo>
                <a:lnTo>
                  <a:pt x="360" y="8"/>
                </a:lnTo>
                <a:lnTo>
                  <a:pt x="344" y="11"/>
                </a:lnTo>
                <a:lnTo>
                  <a:pt x="327" y="15"/>
                </a:lnTo>
                <a:lnTo>
                  <a:pt x="311" y="20"/>
                </a:lnTo>
                <a:lnTo>
                  <a:pt x="295" y="26"/>
                </a:lnTo>
                <a:lnTo>
                  <a:pt x="278" y="32"/>
                </a:lnTo>
                <a:lnTo>
                  <a:pt x="262" y="39"/>
                </a:lnTo>
                <a:lnTo>
                  <a:pt x="246" y="47"/>
                </a:lnTo>
                <a:lnTo>
                  <a:pt x="229" y="55"/>
                </a:lnTo>
                <a:lnTo>
                  <a:pt x="213" y="63"/>
                </a:lnTo>
                <a:lnTo>
                  <a:pt x="196" y="71"/>
                </a:lnTo>
                <a:lnTo>
                  <a:pt x="180" y="79"/>
                </a:lnTo>
                <a:lnTo>
                  <a:pt x="164" y="87"/>
                </a:lnTo>
                <a:lnTo>
                  <a:pt x="147" y="95"/>
                </a:lnTo>
                <a:lnTo>
                  <a:pt x="131" y="103"/>
                </a:lnTo>
                <a:lnTo>
                  <a:pt x="114" y="110"/>
                </a:lnTo>
                <a:lnTo>
                  <a:pt x="98" y="116"/>
                </a:lnTo>
                <a:lnTo>
                  <a:pt x="82" y="122"/>
                </a:lnTo>
                <a:lnTo>
                  <a:pt x="65" y="127"/>
                </a:lnTo>
                <a:lnTo>
                  <a:pt x="49" y="131"/>
                </a:lnTo>
                <a:lnTo>
                  <a:pt x="33" y="134"/>
                </a:lnTo>
                <a:lnTo>
                  <a:pt x="16" y="136"/>
                </a:lnTo>
                <a:lnTo>
                  <a:pt x="0" y="137"/>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057400" y="5467350"/>
            <a:ext cx="3743325" cy="923925"/>
          </a:xfrm>
          <a:custGeom>
            <a:avLst/>
            <a:gdLst/>
            <a:ahLst/>
            <a:cxnLst/>
            <a:rect l="l" t="t" r="r" b="b"/>
            <a:pathLst>
              <a:path w="393" h="97">
                <a:moveTo>
                  <a:pt x="0" y="92"/>
                </a:moveTo>
                <a:lnTo>
                  <a:pt x="16" y="92"/>
                </a:lnTo>
                <a:lnTo>
                  <a:pt x="33" y="90"/>
                </a:lnTo>
                <a:lnTo>
                  <a:pt x="49" y="88"/>
                </a:lnTo>
                <a:lnTo>
                  <a:pt x="65" y="85"/>
                </a:lnTo>
                <a:lnTo>
                  <a:pt x="82" y="82"/>
                </a:lnTo>
                <a:lnTo>
                  <a:pt x="98" y="78"/>
                </a:lnTo>
                <a:lnTo>
                  <a:pt x="114" y="73"/>
                </a:lnTo>
                <a:lnTo>
                  <a:pt x="131" y="68"/>
                </a:lnTo>
                <a:lnTo>
                  <a:pt x="147" y="63"/>
                </a:lnTo>
                <a:lnTo>
                  <a:pt x="164" y="58"/>
                </a:lnTo>
                <a:lnTo>
                  <a:pt x="180" y="52"/>
                </a:lnTo>
                <a:lnTo>
                  <a:pt x="196" y="46"/>
                </a:lnTo>
                <a:lnTo>
                  <a:pt x="213" y="40"/>
                </a:lnTo>
                <a:lnTo>
                  <a:pt x="229" y="35"/>
                </a:lnTo>
                <a:lnTo>
                  <a:pt x="246" y="29"/>
                </a:lnTo>
                <a:lnTo>
                  <a:pt x="262" y="24"/>
                </a:lnTo>
                <a:lnTo>
                  <a:pt x="278" y="19"/>
                </a:lnTo>
                <a:lnTo>
                  <a:pt x="295" y="14"/>
                </a:lnTo>
                <a:lnTo>
                  <a:pt x="311" y="10"/>
                </a:lnTo>
                <a:lnTo>
                  <a:pt x="327" y="7"/>
                </a:lnTo>
                <a:lnTo>
                  <a:pt x="344" y="4"/>
                </a:lnTo>
                <a:lnTo>
                  <a:pt x="360" y="2"/>
                </a:lnTo>
                <a:lnTo>
                  <a:pt x="377" y="1"/>
                </a:lnTo>
                <a:lnTo>
                  <a:pt x="393" y="0"/>
                </a:lnTo>
                <a:lnTo>
                  <a:pt x="393" y="5"/>
                </a:lnTo>
                <a:lnTo>
                  <a:pt x="377" y="5"/>
                </a:lnTo>
                <a:lnTo>
                  <a:pt x="360" y="7"/>
                </a:lnTo>
                <a:lnTo>
                  <a:pt x="344" y="9"/>
                </a:lnTo>
                <a:lnTo>
                  <a:pt x="327" y="12"/>
                </a:lnTo>
                <a:lnTo>
                  <a:pt x="311" y="15"/>
                </a:lnTo>
                <a:lnTo>
                  <a:pt x="295" y="19"/>
                </a:lnTo>
                <a:lnTo>
                  <a:pt x="278" y="24"/>
                </a:lnTo>
                <a:lnTo>
                  <a:pt x="262" y="29"/>
                </a:lnTo>
                <a:lnTo>
                  <a:pt x="246" y="34"/>
                </a:lnTo>
                <a:lnTo>
                  <a:pt x="229" y="39"/>
                </a:lnTo>
                <a:lnTo>
                  <a:pt x="213" y="45"/>
                </a:lnTo>
                <a:lnTo>
                  <a:pt x="196" y="51"/>
                </a:lnTo>
                <a:lnTo>
                  <a:pt x="180" y="56"/>
                </a:lnTo>
                <a:lnTo>
                  <a:pt x="164" y="62"/>
                </a:lnTo>
                <a:lnTo>
                  <a:pt x="147" y="68"/>
                </a:lnTo>
                <a:lnTo>
                  <a:pt x="131" y="73"/>
                </a:lnTo>
                <a:lnTo>
                  <a:pt x="114" y="78"/>
                </a:lnTo>
                <a:lnTo>
                  <a:pt x="98" y="82"/>
                </a:lnTo>
                <a:lnTo>
                  <a:pt x="82" y="86"/>
                </a:lnTo>
                <a:lnTo>
                  <a:pt x="65" y="90"/>
                </a:lnTo>
                <a:lnTo>
                  <a:pt x="49" y="93"/>
                </a:lnTo>
                <a:lnTo>
                  <a:pt x="33" y="95"/>
                </a:lnTo>
                <a:lnTo>
                  <a:pt x="16" y="96"/>
                </a:lnTo>
                <a:lnTo>
                  <a:pt x="0" y="97"/>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057400" y="5867400"/>
            <a:ext cx="3743325" cy="552450"/>
          </a:xfrm>
          <a:custGeom>
            <a:avLst/>
            <a:gdLst/>
            <a:ahLst/>
            <a:cxnLst/>
            <a:rect l="l" t="t" r="r" b="b"/>
            <a:pathLst>
              <a:path w="393" h="58">
                <a:moveTo>
                  <a:pt x="0" y="55"/>
                </a:moveTo>
                <a:lnTo>
                  <a:pt x="16" y="54"/>
                </a:lnTo>
                <a:lnTo>
                  <a:pt x="33" y="54"/>
                </a:lnTo>
                <a:lnTo>
                  <a:pt x="49" y="52"/>
                </a:lnTo>
                <a:lnTo>
                  <a:pt x="65" y="51"/>
                </a:lnTo>
                <a:lnTo>
                  <a:pt x="82" y="49"/>
                </a:lnTo>
                <a:lnTo>
                  <a:pt x="98" y="46"/>
                </a:lnTo>
                <a:lnTo>
                  <a:pt x="114" y="43"/>
                </a:lnTo>
                <a:lnTo>
                  <a:pt x="131" y="40"/>
                </a:lnTo>
                <a:lnTo>
                  <a:pt x="147" y="37"/>
                </a:lnTo>
                <a:lnTo>
                  <a:pt x="164" y="34"/>
                </a:lnTo>
                <a:lnTo>
                  <a:pt x="180" y="31"/>
                </a:lnTo>
                <a:lnTo>
                  <a:pt x="196" y="27"/>
                </a:lnTo>
                <a:lnTo>
                  <a:pt x="213" y="24"/>
                </a:lnTo>
                <a:lnTo>
                  <a:pt x="229" y="20"/>
                </a:lnTo>
                <a:lnTo>
                  <a:pt x="246" y="17"/>
                </a:lnTo>
                <a:lnTo>
                  <a:pt x="262" y="14"/>
                </a:lnTo>
                <a:lnTo>
                  <a:pt x="278" y="11"/>
                </a:lnTo>
                <a:lnTo>
                  <a:pt x="295" y="8"/>
                </a:lnTo>
                <a:lnTo>
                  <a:pt x="311" y="6"/>
                </a:lnTo>
                <a:lnTo>
                  <a:pt x="327" y="4"/>
                </a:lnTo>
                <a:lnTo>
                  <a:pt x="344" y="2"/>
                </a:lnTo>
                <a:lnTo>
                  <a:pt x="360" y="1"/>
                </a:lnTo>
                <a:lnTo>
                  <a:pt x="377" y="0"/>
                </a:lnTo>
                <a:lnTo>
                  <a:pt x="393" y="0"/>
                </a:lnTo>
                <a:lnTo>
                  <a:pt x="393" y="3"/>
                </a:lnTo>
                <a:lnTo>
                  <a:pt x="377" y="4"/>
                </a:lnTo>
                <a:lnTo>
                  <a:pt x="360" y="4"/>
                </a:lnTo>
                <a:lnTo>
                  <a:pt x="344" y="6"/>
                </a:lnTo>
                <a:lnTo>
                  <a:pt x="327" y="7"/>
                </a:lnTo>
                <a:lnTo>
                  <a:pt x="311" y="9"/>
                </a:lnTo>
                <a:lnTo>
                  <a:pt x="295" y="12"/>
                </a:lnTo>
                <a:lnTo>
                  <a:pt x="278" y="15"/>
                </a:lnTo>
                <a:lnTo>
                  <a:pt x="262" y="18"/>
                </a:lnTo>
                <a:lnTo>
                  <a:pt x="246" y="21"/>
                </a:lnTo>
                <a:lnTo>
                  <a:pt x="229" y="24"/>
                </a:lnTo>
                <a:lnTo>
                  <a:pt x="213" y="27"/>
                </a:lnTo>
                <a:lnTo>
                  <a:pt x="196" y="31"/>
                </a:lnTo>
                <a:lnTo>
                  <a:pt x="180" y="34"/>
                </a:lnTo>
                <a:lnTo>
                  <a:pt x="164" y="38"/>
                </a:lnTo>
                <a:lnTo>
                  <a:pt x="147" y="41"/>
                </a:lnTo>
                <a:lnTo>
                  <a:pt x="131" y="44"/>
                </a:lnTo>
                <a:lnTo>
                  <a:pt x="114" y="47"/>
                </a:lnTo>
                <a:lnTo>
                  <a:pt x="98" y="50"/>
                </a:lnTo>
                <a:lnTo>
                  <a:pt x="82" y="52"/>
                </a:lnTo>
                <a:lnTo>
                  <a:pt x="65" y="54"/>
                </a:lnTo>
                <a:lnTo>
                  <a:pt x="49" y="56"/>
                </a:lnTo>
                <a:lnTo>
                  <a:pt x="33" y="57"/>
                </a:lnTo>
                <a:lnTo>
                  <a:pt x="16" y="58"/>
                </a:lnTo>
                <a:lnTo>
                  <a:pt x="0" y="58"/>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057400" y="6191250"/>
            <a:ext cx="3743325" cy="257175"/>
          </a:xfrm>
          <a:custGeom>
            <a:avLst/>
            <a:gdLst/>
            <a:ahLst/>
            <a:cxnLst/>
            <a:rect l="l" t="t" r="r" b="b"/>
            <a:pathLst>
              <a:path w="393" h="27">
                <a:moveTo>
                  <a:pt x="0" y="24"/>
                </a:moveTo>
                <a:lnTo>
                  <a:pt x="16" y="24"/>
                </a:lnTo>
                <a:lnTo>
                  <a:pt x="33" y="24"/>
                </a:lnTo>
                <a:lnTo>
                  <a:pt x="49" y="23"/>
                </a:lnTo>
                <a:lnTo>
                  <a:pt x="65" y="23"/>
                </a:lnTo>
                <a:lnTo>
                  <a:pt x="82" y="22"/>
                </a:lnTo>
                <a:lnTo>
                  <a:pt x="98" y="21"/>
                </a:lnTo>
                <a:lnTo>
                  <a:pt x="114" y="19"/>
                </a:lnTo>
                <a:lnTo>
                  <a:pt x="131" y="18"/>
                </a:lnTo>
                <a:lnTo>
                  <a:pt x="147" y="17"/>
                </a:lnTo>
                <a:lnTo>
                  <a:pt x="164" y="15"/>
                </a:lnTo>
                <a:lnTo>
                  <a:pt x="180" y="14"/>
                </a:lnTo>
                <a:lnTo>
                  <a:pt x="196" y="12"/>
                </a:lnTo>
                <a:lnTo>
                  <a:pt x="213" y="11"/>
                </a:lnTo>
                <a:lnTo>
                  <a:pt x="229" y="9"/>
                </a:lnTo>
                <a:lnTo>
                  <a:pt x="246" y="8"/>
                </a:lnTo>
                <a:lnTo>
                  <a:pt x="262" y="6"/>
                </a:lnTo>
                <a:lnTo>
                  <a:pt x="278" y="5"/>
                </a:lnTo>
                <a:lnTo>
                  <a:pt x="295" y="4"/>
                </a:lnTo>
                <a:lnTo>
                  <a:pt x="311" y="3"/>
                </a:lnTo>
                <a:lnTo>
                  <a:pt x="327" y="2"/>
                </a:lnTo>
                <a:lnTo>
                  <a:pt x="344" y="1"/>
                </a:lnTo>
                <a:lnTo>
                  <a:pt x="360" y="1"/>
                </a:lnTo>
                <a:lnTo>
                  <a:pt x="377" y="0"/>
                </a:lnTo>
                <a:lnTo>
                  <a:pt x="393" y="0"/>
                </a:lnTo>
                <a:lnTo>
                  <a:pt x="393" y="3"/>
                </a:lnTo>
                <a:lnTo>
                  <a:pt x="377" y="3"/>
                </a:lnTo>
                <a:lnTo>
                  <a:pt x="360" y="4"/>
                </a:lnTo>
                <a:lnTo>
                  <a:pt x="344" y="4"/>
                </a:lnTo>
                <a:lnTo>
                  <a:pt x="327" y="5"/>
                </a:lnTo>
                <a:lnTo>
                  <a:pt x="311" y="6"/>
                </a:lnTo>
                <a:lnTo>
                  <a:pt x="295" y="7"/>
                </a:lnTo>
                <a:lnTo>
                  <a:pt x="278" y="8"/>
                </a:lnTo>
                <a:lnTo>
                  <a:pt x="262" y="9"/>
                </a:lnTo>
                <a:lnTo>
                  <a:pt x="246" y="11"/>
                </a:lnTo>
                <a:lnTo>
                  <a:pt x="229" y="12"/>
                </a:lnTo>
                <a:lnTo>
                  <a:pt x="213" y="14"/>
                </a:lnTo>
                <a:lnTo>
                  <a:pt x="196" y="15"/>
                </a:lnTo>
                <a:lnTo>
                  <a:pt x="180" y="17"/>
                </a:lnTo>
                <a:lnTo>
                  <a:pt x="164" y="18"/>
                </a:lnTo>
                <a:lnTo>
                  <a:pt x="147" y="20"/>
                </a:lnTo>
                <a:lnTo>
                  <a:pt x="131" y="21"/>
                </a:lnTo>
                <a:lnTo>
                  <a:pt x="114" y="22"/>
                </a:lnTo>
                <a:lnTo>
                  <a:pt x="98" y="24"/>
                </a:lnTo>
                <a:lnTo>
                  <a:pt x="82" y="25"/>
                </a:lnTo>
                <a:lnTo>
                  <a:pt x="65" y="26"/>
                </a:lnTo>
                <a:lnTo>
                  <a:pt x="49" y="26"/>
                </a:lnTo>
                <a:lnTo>
                  <a:pt x="33" y="27"/>
                </a:lnTo>
                <a:lnTo>
                  <a:pt x="16" y="27"/>
                </a:lnTo>
                <a:lnTo>
                  <a:pt x="0" y="27"/>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057400" y="6448425"/>
            <a:ext cx="3743325" cy="85725"/>
          </a:xfrm>
          <a:custGeom>
            <a:avLst/>
            <a:gdLst/>
            <a:ahLst/>
            <a:cxnLst/>
            <a:rect l="l" t="t" r="r" b="b"/>
            <a:pathLst>
              <a:path w="393" h="9">
                <a:moveTo>
                  <a:pt x="0" y="0"/>
                </a:moveTo>
                <a:lnTo>
                  <a:pt x="16" y="0"/>
                </a:lnTo>
                <a:lnTo>
                  <a:pt x="33" y="0"/>
                </a:lnTo>
                <a:lnTo>
                  <a:pt x="49" y="1"/>
                </a:lnTo>
                <a:lnTo>
                  <a:pt x="65" y="1"/>
                </a:lnTo>
                <a:lnTo>
                  <a:pt x="82" y="1"/>
                </a:lnTo>
                <a:lnTo>
                  <a:pt x="98" y="1"/>
                </a:lnTo>
                <a:lnTo>
                  <a:pt x="114" y="2"/>
                </a:lnTo>
                <a:lnTo>
                  <a:pt x="131" y="2"/>
                </a:lnTo>
                <a:lnTo>
                  <a:pt x="147" y="2"/>
                </a:lnTo>
                <a:lnTo>
                  <a:pt x="164" y="3"/>
                </a:lnTo>
                <a:lnTo>
                  <a:pt x="180" y="3"/>
                </a:lnTo>
                <a:lnTo>
                  <a:pt x="196" y="3"/>
                </a:lnTo>
                <a:lnTo>
                  <a:pt x="213" y="4"/>
                </a:lnTo>
                <a:lnTo>
                  <a:pt x="229" y="4"/>
                </a:lnTo>
                <a:lnTo>
                  <a:pt x="246" y="4"/>
                </a:lnTo>
                <a:lnTo>
                  <a:pt x="262" y="5"/>
                </a:lnTo>
                <a:lnTo>
                  <a:pt x="278" y="5"/>
                </a:lnTo>
                <a:lnTo>
                  <a:pt x="295" y="5"/>
                </a:lnTo>
                <a:lnTo>
                  <a:pt x="311" y="6"/>
                </a:lnTo>
                <a:lnTo>
                  <a:pt x="327" y="6"/>
                </a:lnTo>
                <a:lnTo>
                  <a:pt x="344" y="6"/>
                </a:lnTo>
                <a:lnTo>
                  <a:pt x="360" y="6"/>
                </a:lnTo>
                <a:lnTo>
                  <a:pt x="377" y="6"/>
                </a:lnTo>
                <a:lnTo>
                  <a:pt x="393" y="6"/>
                </a:lnTo>
                <a:lnTo>
                  <a:pt x="393" y="9"/>
                </a:lnTo>
                <a:lnTo>
                  <a:pt x="377" y="9"/>
                </a:lnTo>
                <a:lnTo>
                  <a:pt x="360" y="9"/>
                </a:lnTo>
                <a:lnTo>
                  <a:pt x="344" y="9"/>
                </a:lnTo>
                <a:lnTo>
                  <a:pt x="327" y="9"/>
                </a:lnTo>
                <a:lnTo>
                  <a:pt x="311" y="8"/>
                </a:lnTo>
                <a:lnTo>
                  <a:pt x="295" y="8"/>
                </a:lnTo>
                <a:lnTo>
                  <a:pt x="278" y="8"/>
                </a:lnTo>
                <a:lnTo>
                  <a:pt x="262" y="7"/>
                </a:lnTo>
                <a:lnTo>
                  <a:pt x="246" y="7"/>
                </a:lnTo>
                <a:lnTo>
                  <a:pt x="229" y="7"/>
                </a:lnTo>
                <a:lnTo>
                  <a:pt x="213" y="6"/>
                </a:lnTo>
                <a:lnTo>
                  <a:pt x="196" y="6"/>
                </a:lnTo>
                <a:lnTo>
                  <a:pt x="180" y="6"/>
                </a:lnTo>
                <a:lnTo>
                  <a:pt x="164" y="5"/>
                </a:lnTo>
                <a:lnTo>
                  <a:pt x="147" y="5"/>
                </a:lnTo>
                <a:lnTo>
                  <a:pt x="131" y="5"/>
                </a:lnTo>
                <a:lnTo>
                  <a:pt x="114" y="4"/>
                </a:lnTo>
                <a:lnTo>
                  <a:pt x="98" y="4"/>
                </a:lnTo>
                <a:lnTo>
                  <a:pt x="82" y="4"/>
                </a:lnTo>
                <a:lnTo>
                  <a:pt x="65" y="3"/>
                </a:lnTo>
                <a:lnTo>
                  <a:pt x="49" y="3"/>
                </a:lnTo>
                <a:lnTo>
                  <a:pt x="33" y="3"/>
                </a:lnTo>
                <a:lnTo>
                  <a:pt x="16" y="3"/>
                </a:lnTo>
                <a:lnTo>
                  <a:pt x="0" y="3"/>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941195" y="4076700"/>
            <a:ext cx="114300" cy="1254564"/>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941195" y="5388414"/>
            <a:ext cx="114300" cy="498488"/>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941195" y="5944052"/>
            <a:ext cx="114300" cy="239927"/>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941195" y="6241129"/>
            <a:ext cx="114300" cy="235871"/>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800725" y="4019550"/>
            <a:ext cx="114300" cy="512413"/>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800725" y="4589113"/>
            <a:ext cx="114300" cy="496727"/>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800725" y="5142990"/>
            <a:ext cx="114300" cy="369433"/>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800725" y="5569573"/>
            <a:ext cx="114300" cy="329164"/>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800725" y="5955887"/>
            <a:ext cx="114300" cy="26458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800725" y="6277626"/>
            <a:ext cx="114300" cy="256524"/>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57175" y="4580157"/>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1" name="TextBox 50"/>
          <p:cNvSpPr txBox="1"/>
          <p:nvPr/>
        </p:nvSpPr>
        <p:spPr>
          <a:xfrm>
            <a:off x="257175" y="5566221"/>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2" name="TextBox 51"/>
          <p:cNvSpPr txBox="1"/>
          <p:nvPr/>
        </p:nvSpPr>
        <p:spPr>
          <a:xfrm>
            <a:off x="257175" y="5940191"/>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3" name="TextBox 52"/>
          <p:cNvSpPr txBox="1"/>
          <p:nvPr/>
        </p:nvSpPr>
        <p:spPr>
          <a:xfrm>
            <a:off x="257175" y="6235240"/>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4" name="TextBox 53"/>
          <p:cNvSpPr txBox="1"/>
          <p:nvPr/>
        </p:nvSpPr>
        <p:spPr>
          <a:xfrm>
            <a:off x="5972175" y="4204319"/>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5" name="TextBox 54"/>
          <p:cNvSpPr txBox="1"/>
          <p:nvPr/>
        </p:nvSpPr>
        <p:spPr>
          <a:xfrm>
            <a:off x="5972175" y="4713651"/>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6" name="TextBox 55"/>
          <p:cNvSpPr txBox="1"/>
          <p:nvPr/>
        </p:nvSpPr>
        <p:spPr>
          <a:xfrm>
            <a:off x="5972175" y="5256269"/>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7" name="TextBox 56"/>
          <p:cNvSpPr txBox="1"/>
          <p:nvPr/>
        </p:nvSpPr>
        <p:spPr>
          <a:xfrm>
            <a:off x="5972175" y="5610330"/>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8" name="TextBox 57"/>
          <p:cNvSpPr txBox="1"/>
          <p:nvPr/>
        </p:nvSpPr>
        <p:spPr>
          <a:xfrm>
            <a:off x="5972175" y="6016744"/>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9" name="TextBox 58"/>
          <p:cNvSpPr txBox="1"/>
          <p:nvPr/>
        </p:nvSpPr>
        <p:spPr>
          <a:xfrm>
            <a:off x="5972175" y="6282063"/>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0" name="Rounded Rectangle 59"/>
          <p:cNvSpPr/>
          <p:nvPr/>
        </p:nvSpPr>
        <p:spPr>
          <a:xfrm>
            <a:off x="7581900" y="3695700"/>
            <a:ext cx="4457700"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715250" y="3781425"/>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62" name="Rectangle 61"/>
          <p:cNvSpPr/>
          <p:nvPr/>
        </p:nvSpPr>
        <p:spPr>
          <a:xfrm>
            <a:off x="7715250" y="401955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715250" y="4105275"/>
            <a:ext cx="4191000" cy="2447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4" name="TextBox 6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5" name="Picture 64" descr="lock.png"/>
          <p:cNvPicPr>
            <a:picLocks noChangeAspect="1"/>
          </p:cNvPicPr>
          <p:nvPr/>
        </p:nvPicPr>
        <p:blipFill>
          <a:blip r:embed="rId4"/>
          <a:stretch>
            <a:fillRect/>
          </a:stretch>
        </p:blipFill>
        <p:spPr>
          <a:xfrm>
            <a:off x="7833087" y="2468245"/>
            <a:ext cx="366712" cy="533399"/>
          </a:xfrm>
          <a:prstGeom prst="rect">
            <a:avLst/>
          </a:prstGeom>
        </p:spPr>
      </p:pic>
      <p:sp>
        <p:nvSpPr>
          <p:cNvPr id="66" name="TextBox 65"/>
          <p:cNvSpPr txBox="1"/>
          <p:nvPr/>
        </p:nvSpPr>
        <p:spPr>
          <a:xfrm>
            <a:off x="353877" y="4583281"/>
            <a:ext cx="1511117" cy="139750"/>
          </a:xfrm>
          <a:prstGeom prst="rect">
            <a:avLst/>
          </a:prstGeom>
          <a:noFill/>
        </p:spPr>
        <p:txBody>
          <a:bodyPr wrap="none" lIns="0" rIns="0" tIns="0" bIns="0">
            <a:spAutoFit/>
          </a:bodyPr>
          <a:lstStyle/>
          <a:p>
            <a:r>
              <a:rPr sz="791" b="1">
                <a:solidFill>
                  <a:srgbClr val="2E2E2E"/>
                </a:solidFill>
                <a:latin typeface="Calibri"/>
              </a:rPr>
              <a:t>Support for Observable Age-Related</a:t>
            </a:r>
          </a:p>
        </p:txBody>
      </p:sp>
      <p:sp>
        <p:nvSpPr>
          <p:cNvPr id="67" name="TextBox 66"/>
          <p:cNvSpPr txBox="1"/>
          <p:nvPr/>
        </p:nvSpPr>
        <p:spPr>
          <a:xfrm>
            <a:off x="990088" y="4703982"/>
            <a:ext cx="840206" cy="139750"/>
          </a:xfrm>
          <a:prstGeom prst="rect">
            <a:avLst/>
          </a:prstGeom>
          <a:noFill/>
        </p:spPr>
        <p:txBody>
          <a:bodyPr wrap="none" lIns="0" rIns="0" tIns="0" bIns="0">
            <a:spAutoFit/>
          </a:bodyPr>
          <a:lstStyle/>
          <a:p>
            <a:r>
              <a:rPr sz="791" b="1">
                <a:solidFill>
                  <a:srgbClr val="2E2E2E"/>
                </a:solidFill>
                <a:latin typeface="Calibri"/>
              </a:rPr>
              <a:t>Cognitive Changes</a:t>
            </a:r>
          </a:p>
        </p:txBody>
      </p:sp>
      <p:pic>
        <p:nvPicPr>
          <p:cNvPr id="68" name="Picture 67" descr="lock.png"/>
          <p:cNvPicPr>
            <a:picLocks noChangeAspect="1"/>
          </p:cNvPicPr>
          <p:nvPr/>
        </p:nvPicPr>
        <p:blipFill>
          <a:blip r:embed="rId4"/>
          <a:stretch>
            <a:fillRect/>
          </a:stretch>
        </p:blipFill>
        <p:spPr>
          <a:xfrm>
            <a:off x="1771555" y="4696941"/>
            <a:ext cx="92663" cy="134782"/>
          </a:xfrm>
          <a:prstGeom prst="rect">
            <a:avLst/>
          </a:prstGeom>
        </p:spPr>
      </p:pic>
      <p:sp>
        <p:nvSpPr>
          <p:cNvPr id="69" name="TextBox 68"/>
          <p:cNvSpPr txBox="1"/>
          <p:nvPr/>
        </p:nvSpPr>
        <p:spPr>
          <a:xfrm>
            <a:off x="611523" y="5577308"/>
            <a:ext cx="1218771" cy="139750"/>
          </a:xfrm>
          <a:prstGeom prst="rect">
            <a:avLst/>
          </a:prstGeom>
          <a:noFill/>
        </p:spPr>
        <p:txBody>
          <a:bodyPr wrap="none" lIns="0" rIns="0" tIns="0" bIns="0">
            <a:spAutoFit/>
          </a:bodyPr>
          <a:lstStyle/>
          <a:p>
            <a:r>
              <a:rPr sz="791" b="1">
                <a:solidFill>
                  <a:srgbClr val="2E2E2E"/>
                </a:solidFill>
                <a:latin typeface="Calibri"/>
              </a:rPr>
              <a:t>Routine Cognitive Wellness</a:t>
            </a:r>
          </a:p>
        </p:txBody>
      </p:sp>
      <p:pic>
        <p:nvPicPr>
          <p:cNvPr id="70" name="Picture 69" descr="lock.png"/>
          <p:cNvPicPr>
            <a:picLocks noChangeAspect="1"/>
          </p:cNvPicPr>
          <p:nvPr/>
        </p:nvPicPr>
        <p:blipFill>
          <a:blip r:embed="rId4"/>
          <a:stretch>
            <a:fillRect/>
          </a:stretch>
        </p:blipFill>
        <p:spPr>
          <a:xfrm>
            <a:off x="1771555" y="5570267"/>
            <a:ext cx="92663" cy="134782"/>
          </a:xfrm>
          <a:prstGeom prst="rect">
            <a:avLst/>
          </a:prstGeom>
        </p:spPr>
      </p:pic>
      <p:sp>
        <p:nvSpPr>
          <p:cNvPr id="71" name="TextBox 70"/>
          <p:cNvSpPr txBox="1"/>
          <p:nvPr/>
        </p:nvSpPr>
        <p:spPr>
          <a:xfrm>
            <a:off x="498663" y="5943315"/>
            <a:ext cx="1366331" cy="139750"/>
          </a:xfrm>
          <a:prstGeom prst="rect">
            <a:avLst/>
          </a:prstGeom>
          <a:noFill/>
        </p:spPr>
        <p:txBody>
          <a:bodyPr wrap="none" lIns="0" rIns="0" tIns="0" bIns="0">
            <a:spAutoFit/>
          </a:bodyPr>
          <a:lstStyle/>
          <a:p>
            <a:r>
              <a:rPr sz="791" b="1">
                <a:solidFill>
                  <a:srgbClr val="2E2E2E"/>
                </a:solidFill>
                <a:latin typeface="Calibri"/>
              </a:rPr>
              <a:t>Preventive Cognitive Support for</a:t>
            </a:r>
          </a:p>
        </p:txBody>
      </p:sp>
      <p:sp>
        <p:nvSpPr>
          <p:cNvPr id="72" name="TextBox 71"/>
          <p:cNvSpPr txBox="1"/>
          <p:nvPr/>
        </p:nvSpPr>
        <p:spPr>
          <a:xfrm>
            <a:off x="1259229" y="6064016"/>
            <a:ext cx="571065" cy="139750"/>
          </a:xfrm>
          <a:prstGeom prst="rect">
            <a:avLst/>
          </a:prstGeom>
          <a:noFill/>
        </p:spPr>
        <p:txBody>
          <a:bodyPr wrap="none" lIns="0" rIns="0" tIns="0" bIns="0">
            <a:spAutoFit/>
          </a:bodyPr>
          <a:lstStyle/>
          <a:p>
            <a:r>
              <a:rPr sz="791" b="1">
                <a:solidFill>
                  <a:srgbClr val="2E2E2E"/>
                </a:solidFill>
                <a:latin typeface="Calibri"/>
              </a:rPr>
              <a:t>Senior Dogs</a:t>
            </a:r>
          </a:p>
        </p:txBody>
      </p:sp>
      <p:pic>
        <p:nvPicPr>
          <p:cNvPr id="73" name="Picture 72" descr="lock.png"/>
          <p:cNvPicPr>
            <a:picLocks noChangeAspect="1"/>
          </p:cNvPicPr>
          <p:nvPr/>
        </p:nvPicPr>
        <p:blipFill>
          <a:blip r:embed="rId4"/>
          <a:stretch>
            <a:fillRect/>
          </a:stretch>
        </p:blipFill>
        <p:spPr>
          <a:xfrm>
            <a:off x="1771555" y="6056975"/>
            <a:ext cx="92663" cy="134782"/>
          </a:xfrm>
          <a:prstGeom prst="rect">
            <a:avLst/>
          </a:prstGeom>
        </p:spPr>
      </p:pic>
      <p:sp>
        <p:nvSpPr>
          <p:cNvPr id="74" name="TextBox 73"/>
          <p:cNvSpPr txBox="1"/>
          <p:nvPr/>
        </p:nvSpPr>
        <p:spPr>
          <a:xfrm>
            <a:off x="674489" y="6238364"/>
            <a:ext cx="1190505" cy="139750"/>
          </a:xfrm>
          <a:prstGeom prst="rect">
            <a:avLst/>
          </a:prstGeom>
          <a:noFill/>
        </p:spPr>
        <p:txBody>
          <a:bodyPr wrap="none" lIns="0" rIns="0" tIns="0" bIns="0">
            <a:spAutoFit/>
          </a:bodyPr>
          <a:lstStyle/>
          <a:p>
            <a:r>
              <a:rPr sz="791" b="1">
                <a:solidFill>
                  <a:srgbClr val="2E2E2E"/>
                </a:solidFill>
                <a:latin typeface="Calibri"/>
              </a:rPr>
              <a:t>Veterinary-Guided Cognitive</a:t>
            </a:r>
          </a:p>
        </p:txBody>
      </p:sp>
      <p:sp>
        <p:nvSpPr>
          <p:cNvPr id="75" name="TextBox 74"/>
          <p:cNvSpPr txBox="1"/>
          <p:nvPr/>
        </p:nvSpPr>
        <p:spPr>
          <a:xfrm>
            <a:off x="895987" y="6359065"/>
            <a:ext cx="934307" cy="139750"/>
          </a:xfrm>
          <a:prstGeom prst="rect">
            <a:avLst/>
          </a:prstGeom>
          <a:noFill/>
        </p:spPr>
        <p:txBody>
          <a:bodyPr wrap="none" lIns="0" rIns="0" tIns="0" bIns="0">
            <a:spAutoFit/>
          </a:bodyPr>
          <a:lstStyle/>
          <a:p>
            <a:r>
              <a:rPr sz="791" b="1">
                <a:solidFill>
                  <a:srgbClr val="2E2E2E"/>
                </a:solidFill>
                <a:latin typeface="Calibri"/>
              </a:rPr>
              <a:t>Dysfunction Support</a:t>
            </a:r>
          </a:p>
        </p:txBody>
      </p:sp>
      <p:pic>
        <p:nvPicPr>
          <p:cNvPr id="76" name="Picture 75" descr="lock.png"/>
          <p:cNvPicPr>
            <a:picLocks noChangeAspect="1"/>
          </p:cNvPicPr>
          <p:nvPr/>
        </p:nvPicPr>
        <p:blipFill>
          <a:blip r:embed="rId4"/>
          <a:stretch>
            <a:fillRect/>
          </a:stretch>
        </p:blipFill>
        <p:spPr>
          <a:xfrm>
            <a:off x="1771555" y="6352024"/>
            <a:ext cx="92663" cy="134782"/>
          </a:xfrm>
          <a:prstGeom prst="rect">
            <a:avLst/>
          </a:prstGeom>
        </p:spPr>
      </p:pic>
      <p:sp>
        <p:nvSpPr>
          <p:cNvPr id="77" name="TextBox 76"/>
          <p:cNvSpPr txBox="1"/>
          <p:nvPr/>
        </p:nvSpPr>
        <p:spPr>
          <a:xfrm>
            <a:off x="5972175" y="4215406"/>
            <a:ext cx="1064948" cy="139750"/>
          </a:xfrm>
          <a:prstGeom prst="rect">
            <a:avLst/>
          </a:prstGeom>
          <a:noFill/>
        </p:spPr>
        <p:txBody>
          <a:bodyPr wrap="none" lIns="0" rIns="0" tIns="0" bIns="0">
            <a:spAutoFit/>
          </a:bodyPr>
          <a:lstStyle/>
          <a:p>
            <a:r>
              <a:rPr sz="791" b="1">
                <a:solidFill>
                  <a:srgbClr val="2E2E2E"/>
                </a:solidFill>
                <a:latin typeface="Calibri"/>
              </a:rPr>
              <a:t>Antioxidant Ingredients</a:t>
            </a:r>
          </a:p>
        </p:txBody>
      </p:sp>
      <p:pic>
        <p:nvPicPr>
          <p:cNvPr id="78" name="Picture 77" descr="lock.png"/>
          <p:cNvPicPr>
            <a:picLocks noChangeAspect="1"/>
          </p:cNvPicPr>
          <p:nvPr/>
        </p:nvPicPr>
        <p:blipFill>
          <a:blip r:embed="rId4"/>
          <a:stretch>
            <a:fillRect/>
          </a:stretch>
        </p:blipFill>
        <p:spPr>
          <a:xfrm>
            <a:off x="6978384" y="4208365"/>
            <a:ext cx="92663" cy="134782"/>
          </a:xfrm>
          <a:prstGeom prst="rect">
            <a:avLst/>
          </a:prstGeom>
        </p:spPr>
      </p:pic>
      <p:sp>
        <p:nvSpPr>
          <p:cNvPr id="79" name="TextBox 78"/>
          <p:cNvSpPr txBox="1"/>
          <p:nvPr/>
        </p:nvSpPr>
        <p:spPr>
          <a:xfrm>
            <a:off x="5972175" y="4716775"/>
            <a:ext cx="1058858" cy="139750"/>
          </a:xfrm>
          <a:prstGeom prst="rect">
            <a:avLst/>
          </a:prstGeom>
          <a:noFill/>
        </p:spPr>
        <p:txBody>
          <a:bodyPr wrap="none" lIns="0" rIns="0" tIns="0" bIns="0">
            <a:spAutoFit/>
          </a:bodyPr>
          <a:lstStyle/>
          <a:p>
            <a:r>
              <a:rPr sz="791" b="1">
                <a:solidFill>
                  <a:srgbClr val="2E2E2E"/>
                </a:solidFill>
                <a:latin typeface="Calibri"/>
              </a:rPr>
              <a:t>Cellular Energy Support</a:t>
            </a:r>
          </a:p>
        </p:txBody>
      </p:sp>
      <p:sp>
        <p:nvSpPr>
          <p:cNvPr id="80" name="TextBox 79"/>
          <p:cNvSpPr txBox="1"/>
          <p:nvPr/>
        </p:nvSpPr>
        <p:spPr>
          <a:xfrm>
            <a:off x="5972175" y="4837476"/>
            <a:ext cx="549848" cy="139750"/>
          </a:xfrm>
          <a:prstGeom prst="rect">
            <a:avLst/>
          </a:prstGeom>
          <a:noFill/>
        </p:spPr>
        <p:txBody>
          <a:bodyPr wrap="none" lIns="0" rIns="0" tIns="0" bIns="0">
            <a:spAutoFit/>
          </a:bodyPr>
          <a:lstStyle/>
          <a:p>
            <a:r>
              <a:rPr sz="791" b="1">
                <a:solidFill>
                  <a:srgbClr val="2E2E2E"/>
                </a:solidFill>
                <a:latin typeface="Calibri"/>
              </a:rPr>
              <a:t>Ingredients</a:t>
            </a:r>
          </a:p>
        </p:txBody>
      </p:sp>
      <p:pic>
        <p:nvPicPr>
          <p:cNvPr id="81" name="Picture 80" descr="lock.png"/>
          <p:cNvPicPr>
            <a:picLocks noChangeAspect="1"/>
          </p:cNvPicPr>
          <p:nvPr/>
        </p:nvPicPr>
        <p:blipFill>
          <a:blip r:embed="rId4"/>
          <a:stretch>
            <a:fillRect/>
          </a:stretch>
        </p:blipFill>
        <p:spPr>
          <a:xfrm>
            <a:off x="6463284" y="4830435"/>
            <a:ext cx="92663" cy="134782"/>
          </a:xfrm>
          <a:prstGeom prst="rect">
            <a:avLst/>
          </a:prstGeom>
        </p:spPr>
      </p:pic>
      <p:sp>
        <p:nvSpPr>
          <p:cNvPr id="82" name="TextBox 81"/>
          <p:cNvSpPr txBox="1"/>
          <p:nvPr/>
        </p:nvSpPr>
        <p:spPr>
          <a:xfrm>
            <a:off x="5972175" y="5267356"/>
            <a:ext cx="937014" cy="139750"/>
          </a:xfrm>
          <a:prstGeom prst="rect">
            <a:avLst/>
          </a:prstGeom>
          <a:noFill/>
        </p:spPr>
        <p:txBody>
          <a:bodyPr wrap="none" lIns="0" rIns="0" tIns="0" bIns="0">
            <a:spAutoFit/>
          </a:bodyPr>
          <a:lstStyle/>
          <a:p>
            <a:r>
              <a:rPr sz="791" b="1">
                <a:solidFill>
                  <a:srgbClr val="2E2E2E"/>
                </a:solidFill>
                <a:latin typeface="Calibri"/>
              </a:rPr>
              <a:t>Omega-3 Fatty Acids</a:t>
            </a:r>
          </a:p>
        </p:txBody>
      </p:sp>
      <p:pic>
        <p:nvPicPr>
          <p:cNvPr id="83" name="Picture 82" descr="lock.png"/>
          <p:cNvPicPr>
            <a:picLocks noChangeAspect="1"/>
          </p:cNvPicPr>
          <p:nvPr/>
        </p:nvPicPr>
        <p:blipFill>
          <a:blip r:embed="rId4"/>
          <a:stretch>
            <a:fillRect/>
          </a:stretch>
        </p:blipFill>
        <p:spPr>
          <a:xfrm>
            <a:off x="6850450" y="5260315"/>
            <a:ext cx="92663" cy="134782"/>
          </a:xfrm>
          <a:prstGeom prst="rect">
            <a:avLst/>
          </a:prstGeom>
        </p:spPr>
      </p:pic>
      <p:sp>
        <p:nvSpPr>
          <p:cNvPr id="84" name="TextBox 83"/>
          <p:cNvSpPr txBox="1"/>
          <p:nvPr/>
        </p:nvSpPr>
        <p:spPr>
          <a:xfrm>
            <a:off x="5972175" y="5613454"/>
            <a:ext cx="990492" cy="139750"/>
          </a:xfrm>
          <a:prstGeom prst="rect">
            <a:avLst/>
          </a:prstGeom>
          <a:noFill/>
        </p:spPr>
        <p:txBody>
          <a:bodyPr wrap="none" lIns="0" rIns="0" tIns="0" bIns="0">
            <a:spAutoFit/>
          </a:bodyPr>
          <a:lstStyle/>
          <a:p>
            <a:r>
              <a:rPr sz="791" b="1">
                <a:solidFill>
                  <a:srgbClr val="2E2E2E"/>
                </a:solidFill>
                <a:latin typeface="Calibri"/>
              </a:rPr>
              <a:t>Microbiome-Targeted</a:t>
            </a:r>
          </a:p>
        </p:txBody>
      </p:sp>
      <p:sp>
        <p:nvSpPr>
          <p:cNvPr id="85" name="TextBox 84"/>
          <p:cNvSpPr txBox="1"/>
          <p:nvPr/>
        </p:nvSpPr>
        <p:spPr>
          <a:xfrm>
            <a:off x="5972175" y="5734155"/>
            <a:ext cx="549848" cy="139750"/>
          </a:xfrm>
          <a:prstGeom prst="rect">
            <a:avLst/>
          </a:prstGeom>
          <a:noFill/>
        </p:spPr>
        <p:txBody>
          <a:bodyPr wrap="none" lIns="0" rIns="0" tIns="0" bIns="0">
            <a:spAutoFit/>
          </a:bodyPr>
          <a:lstStyle/>
          <a:p>
            <a:r>
              <a:rPr sz="791" b="1">
                <a:solidFill>
                  <a:srgbClr val="2E2E2E"/>
                </a:solidFill>
                <a:latin typeface="Calibri"/>
              </a:rPr>
              <a:t>Ingredients</a:t>
            </a:r>
          </a:p>
        </p:txBody>
      </p:sp>
      <p:pic>
        <p:nvPicPr>
          <p:cNvPr id="86" name="Picture 85" descr="lock.png"/>
          <p:cNvPicPr>
            <a:picLocks noChangeAspect="1"/>
          </p:cNvPicPr>
          <p:nvPr/>
        </p:nvPicPr>
        <p:blipFill>
          <a:blip r:embed="rId4"/>
          <a:stretch>
            <a:fillRect/>
          </a:stretch>
        </p:blipFill>
        <p:spPr>
          <a:xfrm>
            <a:off x="6463284" y="5727114"/>
            <a:ext cx="92663" cy="134782"/>
          </a:xfrm>
          <a:prstGeom prst="rect">
            <a:avLst/>
          </a:prstGeom>
        </p:spPr>
      </p:pic>
      <p:sp>
        <p:nvSpPr>
          <p:cNvPr id="87" name="TextBox 86"/>
          <p:cNvSpPr txBox="1"/>
          <p:nvPr/>
        </p:nvSpPr>
        <p:spPr>
          <a:xfrm>
            <a:off x="5972175" y="6027831"/>
            <a:ext cx="962989" cy="139750"/>
          </a:xfrm>
          <a:prstGeom prst="rect">
            <a:avLst/>
          </a:prstGeom>
          <a:noFill/>
        </p:spPr>
        <p:txBody>
          <a:bodyPr wrap="none" lIns="0" rIns="0" tIns="0" bIns="0">
            <a:spAutoFit/>
          </a:bodyPr>
          <a:lstStyle/>
          <a:p>
            <a:r>
              <a:rPr sz="791" b="1">
                <a:solidFill>
                  <a:srgbClr val="2E2E2E"/>
                </a:solidFill>
                <a:latin typeface="Calibri"/>
              </a:rPr>
              <a:t>Botanical Ingredients</a:t>
            </a:r>
          </a:p>
        </p:txBody>
      </p:sp>
      <p:pic>
        <p:nvPicPr>
          <p:cNvPr id="88" name="Picture 87" descr="lock.png"/>
          <p:cNvPicPr>
            <a:picLocks noChangeAspect="1"/>
          </p:cNvPicPr>
          <p:nvPr/>
        </p:nvPicPr>
        <p:blipFill>
          <a:blip r:embed="rId4"/>
          <a:stretch>
            <a:fillRect/>
          </a:stretch>
        </p:blipFill>
        <p:spPr>
          <a:xfrm>
            <a:off x="6876425" y="6020790"/>
            <a:ext cx="92663" cy="134782"/>
          </a:xfrm>
          <a:prstGeom prst="rect">
            <a:avLst/>
          </a:prstGeom>
        </p:spPr>
      </p:pic>
      <p:sp>
        <p:nvSpPr>
          <p:cNvPr id="89" name="TextBox 88"/>
          <p:cNvSpPr txBox="1"/>
          <p:nvPr/>
        </p:nvSpPr>
        <p:spPr>
          <a:xfrm>
            <a:off x="5972175" y="6345537"/>
            <a:ext cx="1179284" cy="139750"/>
          </a:xfrm>
          <a:prstGeom prst="rect">
            <a:avLst/>
          </a:prstGeom>
          <a:noFill/>
        </p:spPr>
        <p:txBody>
          <a:bodyPr wrap="none" lIns="0" rIns="0" tIns="0" bIns="0">
            <a:spAutoFit/>
          </a:bodyPr>
          <a:lstStyle/>
          <a:p>
            <a:r>
              <a:rPr sz="791" b="1">
                <a:solidFill>
                  <a:srgbClr val="2E2E2E"/>
                </a:solidFill>
                <a:latin typeface="Calibri"/>
              </a:rPr>
              <a:t>Neurofunctional Nutrients</a:t>
            </a:r>
          </a:p>
        </p:txBody>
      </p:sp>
      <p:pic>
        <p:nvPicPr>
          <p:cNvPr id="90" name="Picture 89" descr="lock.png"/>
          <p:cNvPicPr>
            <a:picLocks noChangeAspect="1"/>
          </p:cNvPicPr>
          <p:nvPr/>
        </p:nvPicPr>
        <p:blipFill>
          <a:blip r:embed="rId4"/>
          <a:stretch>
            <a:fillRect/>
          </a:stretch>
        </p:blipFill>
        <p:spPr>
          <a:xfrm>
            <a:off x="7092720" y="6338496"/>
            <a:ext cx="92663" cy="134782"/>
          </a:xfrm>
          <a:prstGeom prst="rect">
            <a:avLst/>
          </a:prstGeom>
        </p:spPr>
      </p:pic>
      <p:sp>
        <p:nvSpPr>
          <p:cNvPr id="91" name="TextBox 90"/>
          <p:cNvSpPr txBox="1"/>
          <p:nvPr/>
        </p:nvSpPr>
        <p:spPr>
          <a:xfrm>
            <a:off x="7715250" y="4114800"/>
            <a:ext cx="3750964" cy="186689"/>
          </a:xfrm>
          <a:prstGeom prst="rect">
            <a:avLst/>
          </a:prstGeom>
          <a:noFill/>
        </p:spPr>
        <p:txBody>
          <a:bodyPr wrap="none" lIns="0" rIns="0" tIns="0" bIns="0">
            <a:spAutoFit/>
          </a:bodyPr>
          <a:lstStyle/>
          <a:p>
            <a:r>
              <a:rPr sz="1100" b="0">
                <a:solidFill>
                  <a:srgbClr val="2E2E2E"/>
                </a:solidFill>
                <a:latin typeface="Calibri"/>
              </a:rPr>
              <a:t>Support for observable age-related cognitive changes segment is</a:t>
            </a:r>
          </a:p>
        </p:txBody>
      </p:sp>
      <p:sp>
        <p:nvSpPr>
          <p:cNvPr id="92" name="TextBox 91"/>
          <p:cNvSpPr txBox="1"/>
          <p:nvPr/>
        </p:nvSpPr>
        <p:spPr>
          <a:xfrm>
            <a:off x="7715250" y="4282440"/>
            <a:ext cx="3813993" cy="186689"/>
          </a:xfrm>
          <a:prstGeom prst="rect">
            <a:avLst/>
          </a:prstGeom>
          <a:noFill/>
        </p:spPr>
        <p:txBody>
          <a:bodyPr wrap="none" lIns="0" rIns="0" tIns="0" bIns="0">
            <a:spAutoFit/>
          </a:bodyPr>
          <a:lstStyle/>
          <a:p>
            <a:r>
              <a:rPr sz="1100" b="0">
                <a:solidFill>
                  <a:srgbClr val="2E2E2E"/>
                </a:solidFill>
                <a:latin typeface="Calibri"/>
              </a:rPr>
              <a:t>projected to account for the largest share of the global senior dog</a:t>
            </a:r>
          </a:p>
        </p:txBody>
      </p:sp>
      <p:sp>
        <p:nvSpPr>
          <p:cNvPr id="93" name="TextBox 92"/>
          <p:cNvSpPr txBox="1"/>
          <p:nvPr/>
        </p:nvSpPr>
        <p:spPr>
          <a:xfrm>
            <a:off x="7715250" y="4450080"/>
            <a:ext cx="3902397" cy="186689"/>
          </a:xfrm>
          <a:prstGeom prst="rect">
            <a:avLst/>
          </a:prstGeom>
          <a:noFill/>
        </p:spPr>
        <p:txBody>
          <a:bodyPr wrap="none" lIns="0" rIns="0" tIns="0" bIns="0">
            <a:spAutoFit/>
          </a:bodyPr>
          <a:lstStyle/>
          <a:p>
            <a:r>
              <a:rPr sz="1100" b="0">
                <a:solidFill>
                  <a:srgbClr val="2E2E2E"/>
                </a:solidFill>
                <a:latin typeface="Calibri"/>
              </a:rPr>
              <a:t>cognitive supplement market, led by antioxidant ingredients at US$</a:t>
            </a:r>
          </a:p>
        </p:txBody>
      </p:sp>
      <p:pic>
        <p:nvPicPr>
          <p:cNvPr id="94" name="Picture 93" descr="lock.png"/>
          <p:cNvPicPr>
            <a:picLocks noChangeAspect="1"/>
          </p:cNvPicPr>
          <p:nvPr/>
        </p:nvPicPr>
        <p:blipFill>
          <a:blip r:embed="rId4"/>
          <a:stretch>
            <a:fillRect/>
          </a:stretch>
        </p:blipFill>
        <p:spPr>
          <a:xfrm>
            <a:off x="7701782" y="4607941"/>
            <a:ext cx="128699" cy="187198"/>
          </a:xfrm>
          <a:prstGeom prst="rect">
            <a:avLst/>
          </a:prstGeom>
        </p:spPr>
      </p:pic>
      <p:sp>
        <p:nvSpPr>
          <p:cNvPr id="95" name="TextBox 94"/>
          <p:cNvSpPr txBox="1"/>
          <p:nvPr/>
        </p:nvSpPr>
        <p:spPr>
          <a:xfrm>
            <a:off x="7869278" y="4617720"/>
            <a:ext cx="3943052" cy="186689"/>
          </a:xfrm>
          <a:prstGeom prst="rect">
            <a:avLst/>
          </a:prstGeom>
          <a:noFill/>
        </p:spPr>
        <p:txBody>
          <a:bodyPr wrap="none" lIns="0" rIns="0" tIns="0" bIns="0">
            <a:spAutoFit/>
          </a:bodyPr>
          <a:lstStyle/>
          <a:p>
            <a:r>
              <a:rPr sz="1100" b="0">
                <a:solidFill>
                  <a:srgbClr val="2E2E2E"/>
                </a:solidFill>
                <a:latin typeface="Calibri"/>
              </a:rPr>
              <a:t>Mn in 2036. 'Support for Observable Age-Related Cognitive Changes</a:t>
            </a:r>
          </a:p>
        </p:txBody>
      </p:sp>
      <p:sp>
        <p:nvSpPr>
          <p:cNvPr id="96" name="TextBox 95"/>
          <p:cNvSpPr txBox="1"/>
          <p:nvPr/>
        </p:nvSpPr>
        <p:spPr>
          <a:xfrm>
            <a:off x="7715250" y="4785360"/>
            <a:ext cx="3831456" cy="186689"/>
          </a:xfrm>
          <a:prstGeom prst="rect">
            <a:avLst/>
          </a:prstGeom>
          <a:noFill/>
        </p:spPr>
        <p:txBody>
          <a:bodyPr wrap="none" lIns="0" rIns="0" tIns="0" bIns="0">
            <a:spAutoFit/>
          </a:bodyPr>
          <a:lstStyle/>
          <a:p>
            <a:r>
              <a:rPr sz="1100" b="0">
                <a:solidFill>
                  <a:srgbClr val="2E2E2E"/>
                </a:solidFill>
                <a:latin typeface="Calibri"/>
              </a:rPr>
              <a:t>× Antioxidant Ingredients' is the single largest cross-sectional cell (</a:t>
            </a:r>
          </a:p>
        </p:txBody>
      </p:sp>
      <p:pic>
        <p:nvPicPr>
          <p:cNvPr id="97" name="Picture 96" descr="lock.png"/>
          <p:cNvPicPr>
            <a:picLocks noChangeAspect="1"/>
          </p:cNvPicPr>
          <p:nvPr/>
        </p:nvPicPr>
        <p:blipFill>
          <a:blip r:embed="rId4"/>
          <a:stretch>
            <a:fillRect/>
          </a:stretch>
        </p:blipFill>
        <p:spPr>
          <a:xfrm>
            <a:off x="11494757" y="4775581"/>
            <a:ext cx="128699" cy="187198"/>
          </a:xfrm>
          <a:prstGeom prst="rect">
            <a:avLst/>
          </a:prstGeom>
        </p:spPr>
      </p:pic>
      <p:sp>
        <p:nvSpPr>
          <p:cNvPr id="98" name="TextBox 97"/>
          <p:cNvSpPr txBox="1"/>
          <p:nvPr/>
        </p:nvSpPr>
        <p:spPr>
          <a:xfrm>
            <a:off x="7715250" y="4953000"/>
            <a:ext cx="4171950" cy="186689"/>
          </a:xfrm>
          <a:prstGeom prst="rect">
            <a:avLst/>
          </a:prstGeom>
          <a:noFill/>
        </p:spPr>
        <p:txBody>
          <a:bodyPr wrap="none" lIns="0" rIns="0" tIns="0" bIns="0">
            <a:spAutoFit/>
          </a:bodyPr>
          <a:lstStyle/>
          <a:p>
            <a:r>
              <a:rPr sz="1100" b="0">
                <a:solidFill>
                  <a:srgbClr val="2E2E2E"/>
                </a:solidFill>
                <a:latin typeface="Calibri"/>
              </a:rPr>
              <a:t>US$ Mn, 2026E), while 'Veterinary-Guided Cognitive Dysfunction Support</a:t>
            </a:r>
          </a:p>
        </p:txBody>
      </p:sp>
      <p:sp>
        <p:nvSpPr>
          <p:cNvPr id="99" name="TextBox 98"/>
          <p:cNvSpPr txBox="1"/>
          <p:nvPr/>
        </p:nvSpPr>
        <p:spPr>
          <a:xfrm>
            <a:off x="7715250" y="5120640"/>
            <a:ext cx="3820797" cy="186689"/>
          </a:xfrm>
          <a:prstGeom prst="rect">
            <a:avLst/>
          </a:prstGeom>
          <a:noFill/>
        </p:spPr>
        <p:txBody>
          <a:bodyPr wrap="none" lIns="0" rIns="0" tIns="0" bIns="0">
            <a:spAutoFit/>
          </a:bodyPr>
          <a:lstStyle/>
          <a:p>
            <a:r>
              <a:rPr sz="1100" b="0">
                <a:solidFill>
                  <a:srgbClr val="2E2E2E"/>
                </a:solidFill>
                <a:latin typeface="Calibri"/>
              </a:rPr>
              <a:t>× Antioxidant Ingredients' records the fastest growth at a CAGR of</a:t>
            </a:r>
          </a:p>
        </p:txBody>
      </p:sp>
      <p:pic>
        <p:nvPicPr>
          <p:cNvPr id="100" name="Picture 99" descr="lock.png"/>
          <p:cNvPicPr>
            <a:picLocks noChangeAspect="1"/>
          </p:cNvPicPr>
          <p:nvPr/>
        </p:nvPicPr>
        <p:blipFill>
          <a:blip r:embed="rId4"/>
          <a:stretch>
            <a:fillRect/>
          </a:stretch>
        </p:blipFill>
        <p:spPr>
          <a:xfrm>
            <a:off x="11484099" y="5110861"/>
            <a:ext cx="128699" cy="187198"/>
          </a:xfrm>
          <a:prstGeom prst="rect">
            <a:avLst/>
          </a:prstGeom>
        </p:spPr>
      </p:pic>
      <p:sp>
        <p:nvSpPr>
          <p:cNvPr id="101" name="TextBox 100"/>
          <p:cNvSpPr txBox="1"/>
          <p:nvPr/>
        </p:nvSpPr>
        <p:spPr>
          <a:xfrm>
            <a:off x="7715250" y="5288280"/>
            <a:ext cx="1167401" cy="186689"/>
          </a:xfrm>
          <a:prstGeom prst="rect">
            <a:avLst/>
          </a:prstGeom>
          <a:noFill/>
        </p:spPr>
        <p:txBody>
          <a:bodyPr wrap="none" lIns="0" rIns="0" tIns="0" bIns="0">
            <a:spAutoFit/>
          </a:bodyPr>
          <a:lstStyle/>
          <a:p>
            <a:r>
              <a:rPr sz="1100" b="0">
                <a:solidFill>
                  <a:srgbClr val="2E2E2E"/>
                </a:solidFill>
                <a:latin typeface="Calibri"/>
              </a:rPr>
              <a:t>over 2026E–2036F.</a:t>
            </a:r>
          </a:p>
        </p:txBody>
      </p:sp>
      <p:sp>
        <p:nvSpPr>
          <p:cNvPr id="102" name="TextBox 101"/>
          <p:cNvSpPr txBox="1"/>
          <p:nvPr/>
        </p:nvSpPr>
        <p:spPr>
          <a:xfrm>
            <a:off x="7715250" y="5506212"/>
            <a:ext cx="3997349" cy="186689"/>
          </a:xfrm>
          <a:prstGeom prst="rect">
            <a:avLst/>
          </a:prstGeom>
          <a:noFill/>
        </p:spPr>
        <p:txBody>
          <a:bodyPr wrap="none" lIns="0" rIns="0" tIns="0" bIns="0">
            <a:spAutoFit/>
          </a:bodyPr>
          <a:lstStyle/>
          <a:p>
            <a:r>
              <a:rPr sz="1100" b="0">
                <a:solidFill>
                  <a:srgbClr val="2E2E2E"/>
                </a:solidFill>
                <a:latin typeface="Calibri"/>
              </a:rPr>
              <a:t>Combined, the top three end-use application × active ingredient cells</a:t>
            </a:r>
          </a:p>
        </p:txBody>
      </p:sp>
      <p:sp>
        <p:nvSpPr>
          <p:cNvPr id="103" name="TextBox 102"/>
          <p:cNvSpPr txBox="1"/>
          <p:nvPr/>
        </p:nvSpPr>
        <p:spPr>
          <a:xfrm>
            <a:off x="7715250" y="5673852"/>
            <a:ext cx="2242095" cy="186689"/>
          </a:xfrm>
          <a:prstGeom prst="rect">
            <a:avLst/>
          </a:prstGeom>
          <a:noFill/>
        </p:spPr>
        <p:txBody>
          <a:bodyPr wrap="none" lIns="0" rIns="0" tIns="0" bIns="0">
            <a:spAutoFit/>
          </a:bodyPr>
          <a:lstStyle/>
          <a:p>
            <a:r>
              <a:rPr sz="1100" b="0">
                <a:solidFill>
                  <a:srgbClr val="2E2E2E"/>
                </a:solidFill>
                <a:latin typeface="Calibri"/>
              </a:rPr>
              <a:t>generate an absolute $ opportunity of</a:t>
            </a:r>
          </a:p>
        </p:txBody>
      </p:sp>
      <p:pic>
        <p:nvPicPr>
          <p:cNvPr id="104" name="Picture 103" descr="lock.png"/>
          <p:cNvPicPr>
            <a:picLocks noChangeAspect="1"/>
          </p:cNvPicPr>
          <p:nvPr/>
        </p:nvPicPr>
        <p:blipFill>
          <a:blip r:embed="rId4"/>
          <a:stretch>
            <a:fillRect/>
          </a:stretch>
        </p:blipFill>
        <p:spPr>
          <a:xfrm>
            <a:off x="9905397" y="5664073"/>
            <a:ext cx="128699" cy="187198"/>
          </a:xfrm>
          <a:prstGeom prst="rect">
            <a:avLst/>
          </a:prstGeom>
        </p:spPr>
      </p:pic>
      <p:sp>
        <p:nvSpPr>
          <p:cNvPr id="105" name="TextBox 104"/>
          <p:cNvSpPr txBox="1"/>
          <p:nvPr/>
        </p:nvSpPr>
        <p:spPr>
          <a:xfrm>
            <a:off x="10072893" y="5673852"/>
            <a:ext cx="1108465" cy="186689"/>
          </a:xfrm>
          <a:prstGeom prst="rect">
            <a:avLst/>
          </a:prstGeom>
          <a:noFill/>
        </p:spPr>
        <p:txBody>
          <a:bodyPr wrap="none" lIns="0" rIns="0" tIns="0" bIns="0">
            <a:spAutoFit/>
          </a:bodyPr>
          <a:lstStyle/>
          <a:p>
            <a:r>
              <a:rPr sz="1100" b="0">
                <a:solidFill>
                  <a:srgbClr val="2E2E2E"/>
                </a:solidFill>
                <a:latin typeface="Calibri"/>
              </a:rPr>
              <a:t>US$ Mn by 2036F.</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Share Analysis: End-use Application × Active Ingredient, 2026E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global market value, each row split across all active ingredient sub-segments</a:t>
            </a:r>
          </a:p>
        </p:txBody>
      </p:sp>
      <p:sp>
        <p:nvSpPr>
          <p:cNvPr id="10" name="Rounded Rectangle 9"/>
          <p:cNvSpPr/>
          <p:nvPr/>
        </p:nvSpPr>
        <p:spPr>
          <a:xfrm>
            <a:off x="142875" y="981075"/>
            <a:ext cx="11906250" cy="2333625"/>
          </a:xfrm>
          <a:prstGeom prst="roundRect">
            <a:avLst>
              <a:gd name="adj" fmla="val 32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End-use Application × Active Ingredient, 2026E (% of each row)</a:t>
            </a:r>
          </a:p>
        </p:txBody>
      </p:sp>
      <p:graphicFrame>
        <p:nvGraphicFramePr>
          <p:cNvPr id="12" name="Table 11"/>
          <p:cNvGraphicFramePr>
            <a:graphicFrameLocks noGrp="1"/>
          </p:cNvGraphicFramePr>
          <p:nvPr/>
        </p:nvGraphicFramePr>
        <p:xfrm>
          <a:off x="152400" y="1238250"/>
          <a:ext cx="11887200" cy="1866897"/>
        </p:xfrm>
        <a:graphic>
          <a:graphicData uri="http://schemas.openxmlformats.org/drawingml/2006/table">
            <a:tbl>
              <a:tblPr>
                <a:tableStyleId>{5C22544A-7EE6-4342-B048-85BDC9FD1C3A}</a:tableStyleId>
              </a:tblPr>
              <a:tblGrid>
                <a:gridCol w="3413450"/>
                <a:gridCol w="1002136"/>
                <a:gridCol w="1209278"/>
                <a:gridCol w="1427255"/>
                <a:gridCol w="1592151"/>
                <a:gridCol w="1117668"/>
                <a:gridCol w="1581456"/>
                <a:gridCol w="543806"/>
              </a:tblGrid>
              <a:tr h="631697">
                <a:tc>
                  <a:txBody>
                    <a:bodyPr wrap="none"/>
                    <a:lstStyle/>
                    <a:p>
                      <a:pPr algn="l"/>
                      <a:r>
                        <a:rPr sz="1100" b="1">
                          <a:solidFill>
                            <a:srgbClr val="0B2E4A"/>
                          </a:solidFill>
                          <a:latin typeface="Calibri"/>
                        </a:rPr>
                        <a:t>End-use Application</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Omega-3 Fatty Acids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Antioxidant Ingredients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Neurofunctional Nutrients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Cellular Energy Support Ingredients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Botanical Ingredients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Microbiome-Targeted Ingredients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7040">
                <a:tc>
                  <a:txBody>
                    <a:bodyPr wrap="none"/>
                    <a:lstStyle/>
                    <a:p>
                      <a:pPr algn="l"/>
                      <a:r>
                        <a:rPr sz="1100" b="1">
                          <a:solidFill>
                            <a:srgbClr val="2E2E2E"/>
                          </a:solidFill>
                          <a:latin typeface="Calibri"/>
                        </a:rPr>
                        <a:t>Routine Cognitive Wellness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040">
                <a:tc>
                  <a:txBody>
                    <a:bodyPr wrap="none"/>
                    <a:lstStyle/>
                    <a:p>
                      <a:pPr algn="l"/>
                      <a:r>
                        <a:rPr sz="1100" b="1">
                          <a:solidFill>
                            <a:srgbClr val="2E2E2E"/>
                          </a:solidFill>
                          <a:latin typeface="Calibri"/>
                        </a:rPr>
                        <a:t>Preventive Cognitive Support for Senior Dogs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040">
                <a:tc>
                  <a:txBody>
                    <a:bodyPr wrap="none"/>
                    <a:lstStyle/>
                    <a:p>
                      <a:pPr algn="l"/>
                      <a:r>
                        <a:rPr sz="1100" b="1">
                          <a:solidFill>
                            <a:srgbClr val="2E2E2E"/>
                          </a:solidFill>
                          <a:latin typeface="Calibri"/>
                        </a:rPr>
                        <a:t>Support for Observable Age-Related Cognitive Changes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040">
                <a:tc>
                  <a:txBody>
                    <a:bodyPr wrap="none"/>
                    <a:lstStyle/>
                    <a:p>
                      <a:pPr algn="l"/>
                      <a:r>
                        <a:rPr sz="1100" b="1">
                          <a:solidFill>
                            <a:srgbClr val="2E2E2E"/>
                          </a:solidFill>
                          <a:latin typeface="Calibri"/>
                        </a:rPr>
                        <a:t>Veterinary-Guided Cognitive Dysfunction Support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04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114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448050"/>
            <a:ext cx="7286625"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50520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Active Ingredient Mix by End-use Application, 2026E (% share)</a:t>
            </a:r>
          </a:p>
        </p:txBody>
      </p:sp>
      <p:graphicFrame>
        <p:nvGraphicFramePr>
          <p:cNvPr id="16" name="Chart 15"/>
          <p:cNvGraphicFramePr>
            <a:graphicFrameLocks noGrp="1"/>
          </p:cNvGraphicFramePr>
          <p:nvPr/>
        </p:nvGraphicFramePr>
        <p:xfrm>
          <a:off x="238125" y="3733800"/>
          <a:ext cx="7096125" cy="2838450"/>
        </p:xfrm>
        <a:graphic>
          <a:graphicData uri="http://schemas.openxmlformats.org/drawingml/2006/chart">
            <c:chart xmlns:c="http://schemas.openxmlformats.org/drawingml/2006/chart" r:id="rId3"/>
          </a:graphicData>
        </a:graphic>
      </p:graphicFrame>
      <p:sp>
        <p:nvSpPr>
          <p:cNvPr id="17" name="Rounded Rectangle 16"/>
          <p:cNvSpPr/>
          <p:nvPr/>
        </p:nvSpPr>
        <p:spPr>
          <a:xfrm>
            <a:off x="7581900" y="3448050"/>
            <a:ext cx="445770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5250" y="3533775"/>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9" name="Rectangle 18"/>
          <p:cNvSpPr/>
          <p:nvPr/>
        </p:nvSpPr>
        <p:spPr>
          <a:xfrm>
            <a:off x="7715250" y="377190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5250" y="3857625"/>
            <a:ext cx="4191000" cy="2695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7616034" y="2220847"/>
            <a:ext cx="366712" cy="533400"/>
          </a:xfrm>
          <a:prstGeom prst="rect">
            <a:avLst/>
          </a:prstGeom>
        </p:spPr>
      </p:pic>
      <p:pic>
        <p:nvPicPr>
          <p:cNvPr id="23" name="Picture 22" descr="lock.png"/>
          <p:cNvPicPr>
            <a:picLocks noChangeAspect="1"/>
          </p:cNvPicPr>
          <p:nvPr/>
        </p:nvPicPr>
        <p:blipFill>
          <a:blip r:embed="rId5"/>
          <a:stretch>
            <a:fillRect/>
          </a:stretch>
        </p:blipFill>
        <p:spPr>
          <a:xfrm>
            <a:off x="3745414" y="4331036"/>
            <a:ext cx="370092" cy="538315"/>
          </a:xfrm>
          <a:prstGeom prst="rect">
            <a:avLst/>
          </a:prstGeom>
        </p:spPr>
      </p:pic>
      <p:sp>
        <p:nvSpPr>
          <p:cNvPr id="24" name="TextBox 23"/>
          <p:cNvSpPr txBox="1"/>
          <p:nvPr/>
        </p:nvSpPr>
        <p:spPr>
          <a:xfrm>
            <a:off x="7715250" y="3867150"/>
            <a:ext cx="3935114" cy="194310"/>
          </a:xfrm>
          <a:prstGeom prst="rect">
            <a:avLst/>
          </a:prstGeom>
          <a:noFill/>
        </p:spPr>
        <p:txBody>
          <a:bodyPr wrap="none" lIns="0" rIns="0" tIns="0" bIns="0">
            <a:spAutoFit/>
          </a:bodyPr>
          <a:lstStyle/>
          <a:p>
            <a:r>
              <a:rPr sz="1150" b="0">
                <a:solidFill>
                  <a:srgbClr val="2E2E2E"/>
                </a:solidFill>
                <a:latin typeface="Calibri"/>
              </a:rPr>
              <a:t>▪ 'Antioxidant Ingredients' holds the highest share of 'Support for</a:t>
            </a:r>
          </a:p>
        </p:txBody>
      </p:sp>
      <p:sp>
        <p:nvSpPr>
          <p:cNvPr id="25" name="TextBox 24"/>
          <p:cNvSpPr txBox="1"/>
          <p:nvPr/>
        </p:nvSpPr>
        <p:spPr>
          <a:xfrm>
            <a:off x="7715250" y="4042410"/>
            <a:ext cx="2812925" cy="194310"/>
          </a:xfrm>
          <a:prstGeom prst="rect">
            <a:avLst/>
          </a:prstGeom>
          <a:noFill/>
        </p:spPr>
        <p:txBody>
          <a:bodyPr wrap="none" lIns="0" rIns="0" tIns="0" bIns="0">
            <a:spAutoFit/>
          </a:bodyPr>
          <a:lstStyle/>
          <a:p>
            <a:r>
              <a:rPr sz="1150" b="0">
                <a:solidFill>
                  <a:srgbClr val="2E2E2E"/>
                </a:solidFill>
                <a:latin typeface="Calibri"/>
              </a:rPr>
              <a:t>Observable Age-Related Cognitive Changes' at</a:t>
            </a:r>
          </a:p>
        </p:txBody>
      </p:sp>
      <p:pic>
        <p:nvPicPr>
          <p:cNvPr id="26" name="Picture 25" descr="lock.png"/>
          <p:cNvPicPr>
            <a:picLocks noChangeAspect="1"/>
          </p:cNvPicPr>
          <p:nvPr/>
        </p:nvPicPr>
        <p:blipFill>
          <a:blip r:embed="rId5"/>
          <a:stretch>
            <a:fillRect/>
          </a:stretch>
        </p:blipFill>
        <p:spPr>
          <a:xfrm>
            <a:off x="10477329" y="4032186"/>
            <a:ext cx="134549" cy="195707"/>
          </a:xfrm>
          <a:prstGeom prst="rect">
            <a:avLst/>
          </a:prstGeom>
        </p:spPr>
      </p:pic>
      <p:sp>
        <p:nvSpPr>
          <p:cNvPr id="27" name="TextBox 26"/>
          <p:cNvSpPr txBox="1"/>
          <p:nvPr/>
        </p:nvSpPr>
        <p:spPr>
          <a:xfrm>
            <a:off x="10652439" y="4042410"/>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8" name="TextBox 27"/>
          <p:cNvSpPr txBox="1"/>
          <p:nvPr/>
        </p:nvSpPr>
        <p:spPr>
          <a:xfrm>
            <a:off x="7715250" y="4270247"/>
            <a:ext cx="4171950" cy="194310"/>
          </a:xfrm>
          <a:prstGeom prst="rect">
            <a:avLst/>
          </a:prstGeom>
          <a:noFill/>
        </p:spPr>
        <p:txBody>
          <a:bodyPr wrap="none" lIns="0" rIns="0" tIns="0" bIns="0">
            <a:spAutoFit/>
          </a:bodyPr>
          <a:lstStyle/>
          <a:p>
            <a:r>
              <a:rPr sz="1150" b="0">
                <a:solidFill>
                  <a:srgbClr val="2E2E2E"/>
                </a:solidFill>
                <a:latin typeface="Calibri"/>
              </a:rPr>
              <a:t>▪ 'Support for Observable Age-Related Cognitive Changes' is the most</a:t>
            </a:r>
          </a:p>
        </p:txBody>
      </p:sp>
      <p:sp>
        <p:nvSpPr>
          <p:cNvPr id="29" name="TextBox 28"/>
          <p:cNvSpPr txBox="1"/>
          <p:nvPr/>
        </p:nvSpPr>
        <p:spPr>
          <a:xfrm>
            <a:off x="7715250" y="4445507"/>
            <a:ext cx="3209999" cy="194310"/>
          </a:xfrm>
          <a:prstGeom prst="rect">
            <a:avLst/>
          </a:prstGeom>
          <a:noFill/>
        </p:spPr>
        <p:txBody>
          <a:bodyPr wrap="none" lIns="0" rIns="0" tIns="0" bIns="0">
            <a:spAutoFit/>
          </a:bodyPr>
          <a:lstStyle/>
          <a:p>
            <a:r>
              <a:rPr sz="1150" b="0">
                <a:solidFill>
                  <a:srgbClr val="2E2E2E"/>
                </a:solidFill>
                <a:latin typeface="Calibri"/>
              </a:rPr>
              <a:t>concentrated end-use application sub-segment, with</a:t>
            </a:r>
          </a:p>
        </p:txBody>
      </p:sp>
      <p:pic>
        <p:nvPicPr>
          <p:cNvPr id="30" name="Picture 29" descr="lock.png"/>
          <p:cNvPicPr>
            <a:picLocks noChangeAspect="1"/>
          </p:cNvPicPr>
          <p:nvPr/>
        </p:nvPicPr>
        <p:blipFill>
          <a:blip r:embed="rId5"/>
          <a:stretch>
            <a:fillRect/>
          </a:stretch>
        </p:blipFill>
        <p:spPr>
          <a:xfrm>
            <a:off x="10874403" y="4435284"/>
            <a:ext cx="134549" cy="195707"/>
          </a:xfrm>
          <a:prstGeom prst="rect">
            <a:avLst/>
          </a:prstGeom>
        </p:spPr>
      </p:pic>
      <p:sp>
        <p:nvSpPr>
          <p:cNvPr id="31" name="TextBox 30"/>
          <p:cNvSpPr txBox="1"/>
          <p:nvPr/>
        </p:nvSpPr>
        <p:spPr>
          <a:xfrm>
            <a:off x="11049512" y="4445507"/>
            <a:ext cx="722585" cy="194310"/>
          </a:xfrm>
          <a:prstGeom prst="rect">
            <a:avLst/>
          </a:prstGeom>
          <a:noFill/>
        </p:spPr>
        <p:txBody>
          <a:bodyPr wrap="none" lIns="0" rIns="0" tIns="0" bIns="0">
            <a:spAutoFit/>
          </a:bodyPr>
          <a:lstStyle/>
          <a:p>
            <a:r>
              <a:rPr sz="1150" b="0">
                <a:solidFill>
                  <a:srgbClr val="2E2E2E"/>
                </a:solidFill>
                <a:latin typeface="Calibri"/>
              </a:rPr>
              <a:t>of its value</a:t>
            </a:r>
          </a:p>
        </p:txBody>
      </p:sp>
      <p:sp>
        <p:nvSpPr>
          <p:cNvPr id="32" name="TextBox 31"/>
          <p:cNvSpPr txBox="1"/>
          <p:nvPr/>
        </p:nvSpPr>
        <p:spPr>
          <a:xfrm>
            <a:off x="7715250" y="4620767"/>
            <a:ext cx="1775457" cy="194310"/>
          </a:xfrm>
          <a:prstGeom prst="rect">
            <a:avLst/>
          </a:prstGeom>
          <a:noFill/>
        </p:spPr>
        <p:txBody>
          <a:bodyPr wrap="none" lIns="0" rIns="0" tIns="0" bIns="0">
            <a:spAutoFit/>
          </a:bodyPr>
          <a:lstStyle/>
          <a:p>
            <a:r>
              <a:rPr sz="1150" b="0">
                <a:solidFill>
                  <a:srgbClr val="2E2E2E"/>
                </a:solidFill>
                <a:latin typeface="Calibri"/>
              </a:rPr>
              <a:t>via 'Antioxidant Ingredients'.</a:t>
            </a:r>
          </a:p>
        </p:txBody>
      </p:sp>
      <p:sp>
        <p:nvSpPr>
          <p:cNvPr id="33" name="TextBox 32"/>
          <p:cNvSpPr txBox="1"/>
          <p:nvPr/>
        </p:nvSpPr>
        <p:spPr>
          <a:xfrm>
            <a:off x="7715250" y="4848605"/>
            <a:ext cx="2065845" cy="194310"/>
          </a:xfrm>
          <a:prstGeom prst="rect">
            <a:avLst/>
          </a:prstGeom>
          <a:noFill/>
        </p:spPr>
        <p:txBody>
          <a:bodyPr wrap="none" lIns="0" rIns="0" tIns="0" bIns="0">
            <a:spAutoFit/>
          </a:bodyPr>
          <a:lstStyle/>
          <a:p>
            <a:r>
              <a:rPr sz="1150" b="0">
                <a:solidFill>
                  <a:srgbClr val="2E2E2E"/>
                </a:solidFill>
                <a:latin typeface="Calibri"/>
              </a:rPr>
              <a:t>▪ 'Antioxidant Ingredients' gains +</a:t>
            </a:r>
          </a:p>
        </p:txBody>
      </p:sp>
      <p:pic>
        <p:nvPicPr>
          <p:cNvPr id="34" name="Picture 33" descr="lock.png"/>
          <p:cNvPicPr>
            <a:picLocks noChangeAspect="1"/>
          </p:cNvPicPr>
          <p:nvPr/>
        </p:nvPicPr>
        <p:blipFill>
          <a:blip r:embed="rId5"/>
          <a:stretch>
            <a:fillRect/>
          </a:stretch>
        </p:blipFill>
        <p:spPr>
          <a:xfrm>
            <a:off x="9730249" y="4838382"/>
            <a:ext cx="134549" cy="195707"/>
          </a:xfrm>
          <a:prstGeom prst="rect">
            <a:avLst/>
          </a:prstGeom>
        </p:spPr>
      </p:pic>
      <p:sp>
        <p:nvSpPr>
          <p:cNvPr id="35" name="TextBox 34"/>
          <p:cNvSpPr txBox="1"/>
          <p:nvPr/>
        </p:nvSpPr>
        <p:spPr>
          <a:xfrm>
            <a:off x="9905359" y="4848605"/>
            <a:ext cx="1616000" cy="194310"/>
          </a:xfrm>
          <a:prstGeom prst="rect">
            <a:avLst/>
          </a:prstGeom>
          <a:noFill/>
        </p:spPr>
        <p:txBody>
          <a:bodyPr wrap="none" lIns="0" rIns="0" tIns="0" bIns="0">
            <a:spAutoFit/>
          </a:bodyPr>
          <a:lstStyle/>
          <a:p>
            <a:r>
              <a:rPr sz="1150" b="0">
                <a:solidFill>
                  <a:srgbClr val="2E2E2E"/>
                </a:solidFill>
                <a:latin typeface="Calibri"/>
              </a:rPr>
              <a:t>BPS of share of the Global</a:t>
            </a:r>
          </a:p>
        </p:txBody>
      </p:sp>
      <p:sp>
        <p:nvSpPr>
          <p:cNvPr id="36" name="TextBox 35"/>
          <p:cNvSpPr txBox="1"/>
          <p:nvPr/>
        </p:nvSpPr>
        <p:spPr>
          <a:xfrm>
            <a:off x="7715250" y="5023865"/>
            <a:ext cx="1462605" cy="194310"/>
          </a:xfrm>
          <a:prstGeom prst="rect">
            <a:avLst/>
          </a:prstGeom>
          <a:noFill/>
        </p:spPr>
        <p:txBody>
          <a:bodyPr wrap="none" lIns="0" rIns="0" tIns="0" bIns="0">
            <a:spAutoFit/>
          </a:bodyPr>
          <a:lstStyle/>
          <a:p>
            <a:r>
              <a:rPr sz="1150" b="0">
                <a:solidFill>
                  <a:srgbClr val="2E2E2E"/>
                </a:solidFill>
                <a:latin typeface="Calibri"/>
              </a:rPr>
              <a:t>cross-section by 2036F.</a:t>
            </a:r>
          </a:p>
        </p:txBody>
      </p:sp>
      <p:sp>
        <p:nvSpPr>
          <p:cNvPr id="37" name="lockshield_16"/>
          <p:cNvSpPr/>
          <p:nvPr/>
        </p:nvSpPr>
        <p:spPr>
          <a:xfrm>
            <a:off x="238125" y="3733800"/>
            <a:ext cx="7096125" cy="2838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&amp; Attractiveness: End-use Application × Active Ingredient,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2581275"/>
          </a:xfrm>
          <a:prstGeom prst="roundRect">
            <a:avLst>
              <a:gd name="adj" fmla="val 295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End-use Application × Active Ingredient, 2026E–2036F</a:t>
            </a:r>
          </a:p>
        </p:txBody>
      </p:sp>
      <p:graphicFrame>
        <p:nvGraphicFramePr>
          <p:cNvPr id="12" name="Table 11"/>
          <p:cNvGraphicFramePr>
            <a:graphicFrameLocks noGrp="1"/>
          </p:cNvGraphicFramePr>
          <p:nvPr/>
        </p:nvGraphicFramePr>
        <p:xfrm>
          <a:off x="152400" y="1238250"/>
          <a:ext cx="11887195" cy="2114549"/>
        </p:xfrm>
        <a:graphic>
          <a:graphicData uri="http://schemas.openxmlformats.org/drawingml/2006/table">
            <a:tbl>
              <a:tblPr>
                <a:tableStyleId>{5C22544A-7EE6-4342-B048-85BDC9FD1C3A}</a:tableStyleId>
              </a:tblPr>
              <a:tblGrid>
                <a:gridCol w="3515601"/>
                <a:gridCol w="597971"/>
                <a:gridCol w="597971"/>
                <a:gridCol w="597971"/>
                <a:gridCol w="597971"/>
                <a:gridCol w="597971"/>
                <a:gridCol w="597971"/>
                <a:gridCol w="597971"/>
                <a:gridCol w="597971"/>
                <a:gridCol w="597971"/>
                <a:gridCol w="597971"/>
                <a:gridCol w="597971"/>
                <a:gridCol w="597971"/>
                <a:gridCol w="597971"/>
                <a:gridCol w="597971"/>
              </a:tblGrid>
              <a:tr h="631697">
                <a:tc rowSpan="2">
                  <a:txBody>
                    <a:bodyPr wrap="none"/>
                    <a:lstStyle/>
                    <a:p>
                      <a:pPr algn="l"/>
                      <a:r>
                        <a:rPr sz="1100" b="1">
                          <a:solidFill>
                            <a:srgbClr val="0B2E4A"/>
                          </a:solidFill>
                          <a:latin typeface="Calibri"/>
                        </a:rPr>
                        <a:t>End-use Application</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Omega-3 Fatty</a:t>
                      </a:r>
                      <a:endParaRPr sz="1100"/>
                    </a:p>
                    <a:p>
                      <a:pPr algn="ctr"/>
                      <a:r>
                        <a:rPr sz="1100" b="1">
                          <a:solidFill>
                            <a:srgbClr val="0B2E4A"/>
                          </a:solidFill>
                          <a:latin typeface="Calibri"/>
                        </a:rPr>
                        <a:t>Acids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Antioxidant</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Neurofunctional</a:t>
                      </a:r>
                      <a:endParaRPr sz="1100"/>
                    </a:p>
                    <a:p>
                      <a:pPr algn="ctr"/>
                      <a:r>
                        <a:rPr sz="1100" b="1">
                          <a:solidFill>
                            <a:srgbClr val="0B2E4A"/>
                          </a:solidFill>
                          <a:latin typeface="Calibri"/>
                        </a:rPr>
                        <a:t>Nutrients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Cellular Energy</a:t>
                      </a:r>
                      <a:endParaRPr sz="1100"/>
                    </a:p>
                    <a:p>
                      <a:pPr algn="ctr"/>
                      <a:r>
                        <a:rPr sz="1100" b="1">
                          <a:solidFill>
                            <a:srgbClr val="0B2E4A"/>
                          </a:solidFill>
                          <a:latin typeface="Calibri"/>
                        </a:rPr>
                        <a:t>Support</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Botanical</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Microbiome-</a:t>
                      </a:r>
                      <a:endParaRPr sz="1100"/>
                    </a:p>
                    <a:p>
                      <a:pPr algn="ctr"/>
                      <a:r>
                        <a:rPr sz="1100" b="1">
                          <a:solidFill>
                            <a:srgbClr val="0B2E4A"/>
                          </a:solidFill>
                          <a:latin typeface="Calibri"/>
                        </a:rPr>
                        <a:t>Targeted</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7142">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7142">
                <a:tc>
                  <a:txBody>
                    <a:bodyPr wrap="none"/>
                    <a:lstStyle/>
                    <a:p>
                      <a:pPr algn="l"/>
                      <a:r>
                        <a:rPr sz="1100" b="1">
                          <a:solidFill>
                            <a:srgbClr val="2E2E2E"/>
                          </a:solidFill>
                          <a:latin typeface="Calibri"/>
                        </a:rPr>
                        <a:t>Routine Cognitive Wellness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142">
                <a:tc>
                  <a:txBody>
                    <a:bodyPr wrap="none"/>
                    <a:lstStyle/>
                    <a:p>
                      <a:pPr algn="l"/>
                      <a:r>
                        <a:rPr sz="1100" b="1">
                          <a:solidFill>
                            <a:srgbClr val="2E2E2E"/>
                          </a:solidFill>
                          <a:latin typeface="Calibri"/>
                        </a:rPr>
                        <a:t>Preventive Cognitive Support for Senior Dogs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142">
                <a:tc>
                  <a:txBody>
                    <a:bodyPr wrap="none"/>
                    <a:lstStyle/>
                    <a:p>
                      <a:pPr algn="l"/>
                      <a:r>
                        <a:rPr sz="1100" b="1">
                          <a:solidFill>
                            <a:srgbClr val="2E2E2E"/>
                          </a:solidFill>
                          <a:latin typeface="Calibri"/>
                        </a:rPr>
                        <a:t>Support for Observable Age-Related Cognitive Changes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142">
                <a:tc>
                  <a:txBody>
                    <a:bodyPr wrap="none"/>
                    <a:lstStyle/>
                    <a:p>
                      <a:pPr algn="l"/>
                      <a:r>
                        <a:rPr sz="1100" b="1">
                          <a:solidFill>
                            <a:srgbClr val="2E2E2E"/>
                          </a:solidFill>
                          <a:latin typeface="Calibri"/>
                        </a:rPr>
                        <a:t>Veterinary-Guided Cognitive Dysfunction Support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142">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3623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695700"/>
            <a:ext cx="5600700"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781425"/>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4019550"/>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105275"/>
            <a:ext cx="5334000" cy="2447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5895975" y="3695700"/>
            <a:ext cx="1943100" cy="29337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3781425"/>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40195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4105275"/>
            <a:ext cx="1676400" cy="2447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3695700"/>
            <a:ext cx="1943100" cy="29337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3781425"/>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40195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4105275"/>
            <a:ext cx="1676400" cy="2447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3695700"/>
            <a:ext cx="1943100" cy="29337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3781425"/>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40195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4105275"/>
            <a:ext cx="1676400" cy="2447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'Routine Cognitive Wellness × Cellular Energy Support Ingredients' ranks highest (5/5); 'Routine Cognitive Wellness × Neurofunctional Nutrients'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7667108" y="2468245"/>
            <a:ext cx="366712" cy="533400"/>
          </a:xfrm>
          <a:prstGeom prst="rect">
            <a:avLst/>
          </a:prstGeom>
        </p:spPr>
      </p:pic>
      <p:sp>
        <p:nvSpPr>
          <p:cNvPr id="32" name="TextBox 31"/>
          <p:cNvSpPr txBox="1"/>
          <p:nvPr/>
        </p:nvSpPr>
        <p:spPr>
          <a:xfrm>
            <a:off x="276225" y="4114800"/>
            <a:ext cx="5210770" cy="194310"/>
          </a:xfrm>
          <a:prstGeom prst="rect">
            <a:avLst/>
          </a:prstGeom>
          <a:noFill/>
        </p:spPr>
        <p:txBody>
          <a:bodyPr wrap="none" lIns="0" rIns="0" tIns="0" bIns="0">
            <a:spAutoFit/>
          </a:bodyPr>
          <a:lstStyle/>
          <a:p>
            <a:r>
              <a:rPr sz="1150" b="0">
                <a:solidFill>
                  <a:srgbClr val="2E2E2E"/>
                </a:solidFill>
                <a:latin typeface="Calibri"/>
              </a:rPr>
              <a:t>▪ 1. Support for Observable Age-Related Cognitive Changes × Antioxidant Ingredients –</a:t>
            </a:r>
          </a:p>
        </p:txBody>
      </p:sp>
      <p:pic>
        <p:nvPicPr>
          <p:cNvPr id="33" name="Picture 32" descr="lock.png"/>
          <p:cNvPicPr>
            <a:picLocks noChangeAspect="1"/>
          </p:cNvPicPr>
          <p:nvPr/>
        </p:nvPicPr>
        <p:blipFill>
          <a:blip r:embed="rId4"/>
          <a:stretch>
            <a:fillRect/>
          </a:stretch>
        </p:blipFill>
        <p:spPr>
          <a:xfrm>
            <a:off x="262145" y="4279836"/>
            <a:ext cx="134549" cy="195707"/>
          </a:xfrm>
          <a:prstGeom prst="rect">
            <a:avLst/>
          </a:prstGeom>
        </p:spPr>
      </p:pic>
      <p:sp>
        <p:nvSpPr>
          <p:cNvPr id="34" name="TextBox 33"/>
          <p:cNvSpPr txBox="1"/>
          <p:nvPr/>
        </p:nvSpPr>
        <p:spPr>
          <a:xfrm>
            <a:off x="437254" y="4290060"/>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499406" y="4279836"/>
            <a:ext cx="134549" cy="195707"/>
          </a:xfrm>
          <a:prstGeom prst="rect">
            <a:avLst/>
          </a:prstGeom>
        </p:spPr>
      </p:pic>
      <p:sp>
        <p:nvSpPr>
          <p:cNvPr id="36" name="TextBox 35"/>
          <p:cNvSpPr txBox="1"/>
          <p:nvPr/>
        </p:nvSpPr>
        <p:spPr>
          <a:xfrm>
            <a:off x="674515" y="4290060"/>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7" name="TextBox 36"/>
          <p:cNvSpPr txBox="1"/>
          <p:nvPr/>
        </p:nvSpPr>
        <p:spPr>
          <a:xfrm>
            <a:off x="276225" y="4517897"/>
            <a:ext cx="5106082" cy="194310"/>
          </a:xfrm>
          <a:prstGeom prst="rect">
            <a:avLst/>
          </a:prstGeom>
          <a:noFill/>
        </p:spPr>
        <p:txBody>
          <a:bodyPr wrap="none" lIns="0" rIns="0" tIns="0" bIns="0">
            <a:spAutoFit/>
          </a:bodyPr>
          <a:lstStyle/>
          <a:p>
            <a:r>
              <a:rPr sz="1150" b="0">
                <a:solidFill>
                  <a:srgbClr val="2E2E2E"/>
                </a:solidFill>
                <a:latin typeface="Calibri"/>
              </a:rPr>
              <a:t>▪ 2. Support for Observable Age-Related Cognitive Changes × Cellular Energy Support</a:t>
            </a:r>
          </a:p>
        </p:txBody>
      </p:sp>
      <p:sp>
        <p:nvSpPr>
          <p:cNvPr id="38" name="TextBox 37"/>
          <p:cNvSpPr txBox="1"/>
          <p:nvPr/>
        </p:nvSpPr>
        <p:spPr>
          <a:xfrm>
            <a:off x="276225" y="4693157"/>
            <a:ext cx="854087" cy="194310"/>
          </a:xfrm>
          <a:prstGeom prst="rect">
            <a:avLst/>
          </a:prstGeom>
          <a:noFill/>
        </p:spPr>
        <p:txBody>
          <a:bodyPr wrap="none" lIns="0" rIns="0" tIns="0" bIns="0">
            <a:spAutoFit/>
          </a:bodyPr>
          <a:lstStyle/>
          <a:p>
            <a:r>
              <a:rPr sz="1150" b="0">
                <a:solidFill>
                  <a:srgbClr val="2E2E2E"/>
                </a:solidFill>
                <a:latin typeface="Calibri"/>
              </a:rPr>
              <a:t>Ingredients –</a:t>
            </a:r>
          </a:p>
        </p:txBody>
      </p:sp>
      <p:pic>
        <p:nvPicPr>
          <p:cNvPr id="39" name="Picture 38" descr="lock.png"/>
          <p:cNvPicPr>
            <a:picLocks noChangeAspect="1"/>
          </p:cNvPicPr>
          <p:nvPr/>
        </p:nvPicPr>
        <p:blipFill>
          <a:blip r:embed="rId4"/>
          <a:stretch>
            <a:fillRect/>
          </a:stretch>
        </p:blipFill>
        <p:spPr>
          <a:xfrm>
            <a:off x="1079466" y="4682934"/>
            <a:ext cx="134549" cy="195707"/>
          </a:xfrm>
          <a:prstGeom prst="rect">
            <a:avLst/>
          </a:prstGeom>
        </p:spPr>
      </p:pic>
      <p:sp>
        <p:nvSpPr>
          <p:cNvPr id="40" name="TextBox 39"/>
          <p:cNvSpPr txBox="1"/>
          <p:nvPr/>
        </p:nvSpPr>
        <p:spPr>
          <a:xfrm>
            <a:off x="1254575" y="4693157"/>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1" name="Picture 40" descr="lock.png"/>
          <p:cNvPicPr>
            <a:picLocks noChangeAspect="1"/>
          </p:cNvPicPr>
          <p:nvPr/>
        </p:nvPicPr>
        <p:blipFill>
          <a:blip r:embed="rId4"/>
          <a:stretch>
            <a:fillRect/>
          </a:stretch>
        </p:blipFill>
        <p:spPr>
          <a:xfrm>
            <a:off x="1316727" y="4682934"/>
            <a:ext cx="134549" cy="195707"/>
          </a:xfrm>
          <a:prstGeom prst="rect">
            <a:avLst/>
          </a:prstGeom>
        </p:spPr>
      </p:pic>
      <p:sp>
        <p:nvSpPr>
          <p:cNvPr id="42" name="TextBox 41"/>
          <p:cNvSpPr txBox="1"/>
          <p:nvPr/>
        </p:nvSpPr>
        <p:spPr>
          <a:xfrm>
            <a:off x="1491836" y="4693157"/>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43" name="TextBox 42"/>
          <p:cNvSpPr txBox="1"/>
          <p:nvPr/>
        </p:nvSpPr>
        <p:spPr>
          <a:xfrm>
            <a:off x="276225" y="4920995"/>
            <a:ext cx="5040126" cy="194310"/>
          </a:xfrm>
          <a:prstGeom prst="rect">
            <a:avLst/>
          </a:prstGeom>
          <a:noFill/>
        </p:spPr>
        <p:txBody>
          <a:bodyPr wrap="none" lIns="0" rIns="0" tIns="0" bIns="0">
            <a:spAutoFit/>
          </a:bodyPr>
          <a:lstStyle/>
          <a:p>
            <a:r>
              <a:rPr sz="1150" b="0">
                <a:solidFill>
                  <a:srgbClr val="2E2E2E"/>
                </a:solidFill>
                <a:latin typeface="Calibri"/>
              </a:rPr>
              <a:t>▪ 3. Support for Observable Age-Related Cognitive Changes × Omega-3 Fatty Acids –</a:t>
            </a:r>
          </a:p>
        </p:txBody>
      </p:sp>
      <p:pic>
        <p:nvPicPr>
          <p:cNvPr id="44" name="Picture 43" descr="lock.png"/>
          <p:cNvPicPr>
            <a:picLocks noChangeAspect="1"/>
          </p:cNvPicPr>
          <p:nvPr/>
        </p:nvPicPr>
        <p:blipFill>
          <a:blip r:embed="rId4"/>
          <a:stretch>
            <a:fillRect/>
          </a:stretch>
        </p:blipFill>
        <p:spPr>
          <a:xfrm>
            <a:off x="5265505" y="4910772"/>
            <a:ext cx="134549" cy="195707"/>
          </a:xfrm>
          <a:prstGeom prst="rect">
            <a:avLst/>
          </a:prstGeom>
        </p:spPr>
      </p:pic>
      <p:sp>
        <p:nvSpPr>
          <p:cNvPr id="45" name="TextBox 44"/>
          <p:cNvSpPr txBox="1"/>
          <p:nvPr/>
        </p:nvSpPr>
        <p:spPr>
          <a:xfrm>
            <a:off x="276225" y="509625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6" name="Picture 45" descr="lock.png"/>
          <p:cNvPicPr>
            <a:picLocks noChangeAspect="1"/>
          </p:cNvPicPr>
          <p:nvPr/>
        </p:nvPicPr>
        <p:blipFill>
          <a:blip r:embed="rId4"/>
          <a:stretch>
            <a:fillRect/>
          </a:stretch>
        </p:blipFill>
        <p:spPr>
          <a:xfrm>
            <a:off x="338376" y="5086032"/>
            <a:ext cx="134549" cy="195707"/>
          </a:xfrm>
          <a:prstGeom prst="rect">
            <a:avLst/>
          </a:prstGeom>
        </p:spPr>
      </p:pic>
      <p:sp>
        <p:nvSpPr>
          <p:cNvPr id="47" name="TextBox 46"/>
          <p:cNvSpPr txBox="1"/>
          <p:nvPr/>
        </p:nvSpPr>
        <p:spPr>
          <a:xfrm>
            <a:off x="513485" y="5096255"/>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48" name="TextBox 47"/>
          <p:cNvSpPr txBox="1"/>
          <p:nvPr/>
        </p:nvSpPr>
        <p:spPr>
          <a:xfrm>
            <a:off x="276225" y="5324093"/>
            <a:ext cx="4271999" cy="194310"/>
          </a:xfrm>
          <a:prstGeom prst="rect">
            <a:avLst/>
          </a:prstGeom>
          <a:noFill/>
        </p:spPr>
        <p:txBody>
          <a:bodyPr wrap="none" lIns="0" rIns="0" tIns="0" bIns="0">
            <a:spAutoFit/>
          </a:bodyPr>
          <a:lstStyle/>
          <a:p>
            <a:r>
              <a:rPr sz="1150" b="0">
                <a:solidFill>
                  <a:srgbClr val="2E2E2E"/>
                </a:solidFill>
                <a:latin typeface="Calibri"/>
              </a:rPr>
              <a:t>▪ 4. Routine Cognitive Wellness × Cellular Energy Support Ingredients –</a:t>
            </a:r>
          </a:p>
        </p:txBody>
      </p:sp>
      <p:pic>
        <p:nvPicPr>
          <p:cNvPr id="49" name="Picture 48" descr="lock.png"/>
          <p:cNvPicPr>
            <a:picLocks noChangeAspect="1"/>
          </p:cNvPicPr>
          <p:nvPr/>
        </p:nvPicPr>
        <p:blipFill>
          <a:blip r:embed="rId4"/>
          <a:stretch>
            <a:fillRect/>
          </a:stretch>
        </p:blipFill>
        <p:spPr>
          <a:xfrm>
            <a:off x="4497378" y="5313870"/>
            <a:ext cx="134549" cy="195707"/>
          </a:xfrm>
          <a:prstGeom prst="rect">
            <a:avLst/>
          </a:prstGeom>
        </p:spPr>
      </p:pic>
      <p:sp>
        <p:nvSpPr>
          <p:cNvPr id="50" name="TextBox 49"/>
          <p:cNvSpPr txBox="1"/>
          <p:nvPr/>
        </p:nvSpPr>
        <p:spPr>
          <a:xfrm>
            <a:off x="4672487" y="532409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1" name="Picture 50" descr="lock.png"/>
          <p:cNvPicPr>
            <a:picLocks noChangeAspect="1"/>
          </p:cNvPicPr>
          <p:nvPr/>
        </p:nvPicPr>
        <p:blipFill>
          <a:blip r:embed="rId4"/>
          <a:stretch>
            <a:fillRect/>
          </a:stretch>
        </p:blipFill>
        <p:spPr>
          <a:xfrm>
            <a:off x="4734639" y="5313870"/>
            <a:ext cx="134549" cy="195707"/>
          </a:xfrm>
          <a:prstGeom prst="rect">
            <a:avLst/>
          </a:prstGeom>
        </p:spPr>
      </p:pic>
      <p:sp>
        <p:nvSpPr>
          <p:cNvPr id="52" name="TextBox 51"/>
          <p:cNvSpPr txBox="1"/>
          <p:nvPr/>
        </p:nvSpPr>
        <p:spPr>
          <a:xfrm>
            <a:off x="4909748" y="5324093"/>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53" name="TextBox 52"/>
          <p:cNvSpPr txBox="1"/>
          <p:nvPr/>
        </p:nvSpPr>
        <p:spPr>
          <a:xfrm>
            <a:off x="276225" y="5551931"/>
            <a:ext cx="5011948" cy="194310"/>
          </a:xfrm>
          <a:prstGeom prst="rect">
            <a:avLst/>
          </a:prstGeom>
          <a:noFill/>
        </p:spPr>
        <p:txBody>
          <a:bodyPr wrap="none" lIns="0" rIns="0" tIns="0" bIns="0">
            <a:spAutoFit/>
          </a:bodyPr>
          <a:lstStyle/>
          <a:p>
            <a:r>
              <a:rPr sz="1150" b="0">
                <a:solidFill>
                  <a:srgbClr val="2E2E2E"/>
                </a:solidFill>
                <a:latin typeface="Calibri"/>
              </a:rPr>
              <a:t>▪ 5. Support for Observable Age-Related Cognitive Changes × Microbiome-Targeted</a:t>
            </a:r>
          </a:p>
        </p:txBody>
      </p:sp>
      <p:sp>
        <p:nvSpPr>
          <p:cNvPr id="54" name="TextBox 53"/>
          <p:cNvSpPr txBox="1"/>
          <p:nvPr/>
        </p:nvSpPr>
        <p:spPr>
          <a:xfrm>
            <a:off x="276225" y="5727191"/>
            <a:ext cx="854087" cy="194310"/>
          </a:xfrm>
          <a:prstGeom prst="rect">
            <a:avLst/>
          </a:prstGeom>
          <a:noFill/>
        </p:spPr>
        <p:txBody>
          <a:bodyPr wrap="none" lIns="0" rIns="0" tIns="0" bIns="0">
            <a:spAutoFit/>
          </a:bodyPr>
          <a:lstStyle/>
          <a:p>
            <a:r>
              <a:rPr sz="1150" b="0">
                <a:solidFill>
                  <a:srgbClr val="2E2E2E"/>
                </a:solidFill>
                <a:latin typeface="Calibri"/>
              </a:rPr>
              <a:t>Ingredients –</a:t>
            </a:r>
          </a:p>
        </p:txBody>
      </p:sp>
      <p:pic>
        <p:nvPicPr>
          <p:cNvPr id="55" name="Picture 54" descr="lock.png"/>
          <p:cNvPicPr>
            <a:picLocks noChangeAspect="1"/>
          </p:cNvPicPr>
          <p:nvPr/>
        </p:nvPicPr>
        <p:blipFill>
          <a:blip r:embed="rId4"/>
          <a:stretch>
            <a:fillRect/>
          </a:stretch>
        </p:blipFill>
        <p:spPr>
          <a:xfrm>
            <a:off x="1079466" y="5716968"/>
            <a:ext cx="134549" cy="195707"/>
          </a:xfrm>
          <a:prstGeom prst="rect">
            <a:avLst/>
          </a:prstGeom>
        </p:spPr>
      </p:pic>
      <p:sp>
        <p:nvSpPr>
          <p:cNvPr id="56" name="TextBox 55"/>
          <p:cNvSpPr txBox="1"/>
          <p:nvPr/>
        </p:nvSpPr>
        <p:spPr>
          <a:xfrm>
            <a:off x="1254575" y="5727191"/>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7" name="Picture 56" descr="lock.png"/>
          <p:cNvPicPr>
            <a:picLocks noChangeAspect="1"/>
          </p:cNvPicPr>
          <p:nvPr/>
        </p:nvPicPr>
        <p:blipFill>
          <a:blip r:embed="rId4"/>
          <a:stretch>
            <a:fillRect/>
          </a:stretch>
        </p:blipFill>
        <p:spPr>
          <a:xfrm>
            <a:off x="1316727" y="5716968"/>
            <a:ext cx="134549" cy="195707"/>
          </a:xfrm>
          <a:prstGeom prst="rect">
            <a:avLst/>
          </a:prstGeom>
        </p:spPr>
      </p:pic>
      <p:sp>
        <p:nvSpPr>
          <p:cNvPr id="58" name="TextBox 57"/>
          <p:cNvSpPr txBox="1"/>
          <p:nvPr/>
        </p:nvSpPr>
        <p:spPr>
          <a:xfrm>
            <a:off x="1491836" y="5727191"/>
            <a:ext cx="350899" cy="194310"/>
          </a:xfrm>
          <a:prstGeom prst="rect">
            <a:avLst/>
          </a:prstGeom>
          <a:noFill/>
        </p:spPr>
        <p:txBody>
          <a:bodyPr wrap="none" lIns="0" rIns="0" tIns="0" bIns="0">
            <a:spAutoFit/>
          </a:bodyPr>
          <a:lstStyle/>
          <a:p>
            <a:r>
              <a:rPr sz="1150" b="0">
                <a:solidFill>
                  <a:srgbClr val="2E2E2E"/>
                </a:solidFill>
                <a:latin typeface="Calibri"/>
              </a:rPr>
              <a:t>· 3/5</a:t>
            </a:r>
          </a:p>
        </p:txBody>
      </p:sp>
      <p:sp>
        <p:nvSpPr>
          <p:cNvPr id="59" name="TextBox 58"/>
          <p:cNvSpPr txBox="1"/>
          <p:nvPr/>
        </p:nvSpPr>
        <p:spPr>
          <a:xfrm>
            <a:off x="6029325" y="4114800"/>
            <a:ext cx="1579488" cy="194310"/>
          </a:xfrm>
          <a:prstGeom prst="rect">
            <a:avLst/>
          </a:prstGeom>
          <a:noFill/>
        </p:spPr>
        <p:txBody>
          <a:bodyPr wrap="none" lIns="0" rIns="0" tIns="0" bIns="0">
            <a:spAutoFit/>
          </a:bodyPr>
          <a:lstStyle/>
          <a:p>
            <a:r>
              <a:rPr sz="1150" b="0">
                <a:solidFill>
                  <a:srgbClr val="2E2E2E"/>
                </a:solidFill>
                <a:latin typeface="Calibri"/>
              </a:rPr>
              <a:t>▪ 'Support for Observable</a:t>
            </a:r>
          </a:p>
        </p:txBody>
      </p:sp>
      <p:sp>
        <p:nvSpPr>
          <p:cNvPr id="60" name="TextBox 59"/>
          <p:cNvSpPr txBox="1"/>
          <p:nvPr/>
        </p:nvSpPr>
        <p:spPr>
          <a:xfrm>
            <a:off x="6029325" y="4290060"/>
            <a:ext cx="1389508" cy="194310"/>
          </a:xfrm>
          <a:prstGeom prst="rect">
            <a:avLst/>
          </a:prstGeom>
          <a:noFill/>
        </p:spPr>
        <p:txBody>
          <a:bodyPr wrap="none" lIns="0" rIns="0" tIns="0" bIns="0">
            <a:spAutoFit/>
          </a:bodyPr>
          <a:lstStyle/>
          <a:p>
            <a:r>
              <a:rPr sz="1150" b="0">
                <a:solidFill>
                  <a:srgbClr val="2E2E2E"/>
                </a:solidFill>
                <a:latin typeface="Calibri"/>
              </a:rPr>
              <a:t>Age-Related Cognitive</a:t>
            </a:r>
          </a:p>
        </p:txBody>
      </p:sp>
      <p:sp>
        <p:nvSpPr>
          <p:cNvPr id="61" name="TextBox 60"/>
          <p:cNvSpPr txBox="1"/>
          <p:nvPr/>
        </p:nvSpPr>
        <p:spPr>
          <a:xfrm>
            <a:off x="6029325" y="4465320"/>
            <a:ext cx="1405197" cy="194310"/>
          </a:xfrm>
          <a:prstGeom prst="rect">
            <a:avLst/>
          </a:prstGeom>
          <a:noFill/>
        </p:spPr>
        <p:txBody>
          <a:bodyPr wrap="none" lIns="0" rIns="0" tIns="0" bIns="0">
            <a:spAutoFit/>
          </a:bodyPr>
          <a:lstStyle/>
          <a:p>
            <a:r>
              <a:rPr sz="1150" b="0">
                <a:solidFill>
                  <a:srgbClr val="2E2E2E"/>
                </a:solidFill>
                <a:latin typeface="Calibri"/>
              </a:rPr>
              <a:t>Changes × Antioxidant</a:t>
            </a:r>
          </a:p>
        </p:txBody>
      </p:sp>
      <p:sp>
        <p:nvSpPr>
          <p:cNvPr id="62" name="TextBox 61"/>
          <p:cNvSpPr txBox="1"/>
          <p:nvPr/>
        </p:nvSpPr>
        <p:spPr>
          <a:xfrm>
            <a:off x="6029325" y="4640579"/>
            <a:ext cx="1093985" cy="194310"/>
          </a:xfrm>
          <a:prstGeom prst="rect">
            <a:avLst/>
          </a:prstGeom>
          <a:noFill/>
        </p:spPr>
        <p:txBody>
          <a:bodyPr wrap="none" lIns="0" rIns="0" tIns="0" bIns="0">
            <a:spAutoFit/>
          </a:bodyPr>
          <a:lstStyle/>
          <a:p>
            <a:r>
              <a:rPr sz="1150" b="0">
                <a:solidFill>
                  <a:srgbClr val="2E2E2E"/>
                </a:solidFill>
                <a:latin typeface="Calibri"/>
              </a:rPr>
              <a:t>Ingredients' adds</a:t>
            </a:r>
          </a:p>
        </p:txBody>
      </p:sp>
      <p:pic>
        <p:nvPicPr>
          <p:cNvPr id="63" name="Picture 62" descr="lock.png"/>
          <p:cNvPicPr>
            <a:picLocks noChangeAspect="1"/>
          </p:cNvPicPr>
          <p:nvPr/>
        </p:nvPicPr>
        <p:blipFill>
          <a:blip r:embed="rId4"/>
          <a:stretch>
            <a:fillRect/>
          </a:stretch>
        </p:blipFill>
        <p:spPr>
          <a:xfrm>
            <a:off x="7072464" y="4630356"/>
            <a:ext cx="134549" cy="195707"/>
          </a:xfrm>
          <a:prstGeom prst="rect">
            <a:avLst/>
          </a:prstGeom>
        </p:spPr>
      </p:pic>
      <p:sp>
        <p:nvSpPr>
          <p:cNvPr id="64" name="TextBox 63"/>
          <p:cNvSpPr txBox="1"/>
          <p:nvPr/>
        </p:nvSpPr>
        <p:spPr>
          <a:xfrm>
            <a:off x="7247574" y="4640579"/>
            <a:ext cx="311249" cy="194310"/>
          </a:xfrm>
          <a:prstGeom prst="rect">
            <a:avLst/>
          </a:prstGeom>
          <a:noFill/>
        </p:spPr>
        <p:txBody>
          <a:bodyPr wrap="none" lIns="0" rIns="0" tIns="0" bIns="0">
            <a:spAutoFit/>
          </a:bodyPr>
          <a:lstStyle/>
          <a:p>
            <a:r>
              <a:rPr sz="1150" b="0">
                <a:solidFill>
                  <a:srgbClr val="2E2E2E"/>
                </a:solidFill>
                <a:latin typeface="Calibri"/>
              </a:rPr>
              <a:t>US$</a:t>
            </a:r>
          </a:p>
        </p:txBody>
      </p:sp>
      <p:sp>
        <p:nvSpPr>
          <p:cNvPr id="65" name="TextBox 64"/>
          <p:cNvSpPr txBox="1"/>
          <p:nvPr/>
        </p:nvSpPr>
        <p:spPr>
          <a:xfrm>
            <a:off x="6029325" y="4815839"/>
            <a:ext cx="956493" cy="194310"/>
          </a:xfrm>
          <a:prstGeom prst="rect">
            <a:avLst/>
          </a:prstGeom>
          <a:noFill/>
        </p:spPr>
        <p:txBody>
          <a:bodyPr wrap="none" lIns="0" rIns="0" tIns="0" bIns="0">
            <a:spAutoFit/>
          </a:bodyPr>
          <a:lstStyle/>
          <a:p>
            <a:r>
              <a:rPr sz="1150" b="0">
                <a:solidFill>
                  <a:srgbClr val="2E2E2E"/>
                </a:solidFill>
                <a:latin typeface="Calibri"/>
              </a:rPr>
              <a:t>Mn by 2036F –</a:t>
            </a:r>
          </a:p>
        </p:txBody>
      </p:sp>
      <p:pic>
        <p:nvPicPr>
          <p:cNvPr id="66" name="Picture 65" descr="lock.png"/>
          <p:cNvPicPr>
            <a:picLocks noChangeAspect="1"/>
          </p:cNvPicPr>
          <p:nvPr/>
        </p:nvPicPr>
        <p:blipFill>
          <a:blip r:embed="rId4"/>
          <a:stretch>
            <a:fillRect/>
          </a:stretch>
        </p:blipFill>
        <p:spPr>
          <a:xfrm>
            <a:off x="6934972" y="4805616"/>
            <a:ext cx="134549" cy="195707"/>
          </a:xfrm>
          <a:prstGeom prst="rect">
            <a:avLst/>
          </a:prstGeom>
        </p:spPr>
      </p:pic>
      <p:sp>
        <p:nvSpPr>
          <p:cNvPr id="67" name="TextBox 66"/>
          <p:cNvSpPr txBox="1"/>
          <p:nvPr/>
        </p:nvSpPr>
        <p:spPr>
          <a:xfrm>
            <a:off x="7110081" y="4815839"/>
            <a:ext cx="429344" cy="194310"/>
          </a:xfrm>
          <a:prstGeom prst="rect">
            <a:avLst/>
          </a:prstGeom>
          <a:noFill/>
        </p:spPr>
        <p:txBody>
          <a:bodyPr wrap="none" lIns="0" rIns="0" tIns="0" bIns="0">
            <a:spAutoFit/>
          </a:bodyPr>
          <a:lstStyle/>
          <a:p>
            <a:r>
              <a:rPr sz="1150" b="0">
                <a:solidFill>
                  <a:srgbClr val="2E2E2E"/>
                </a:solidFill>
                <a:latin typeface="Calibri"/>
              </a:rPr>
              <a:t>of the</a:t>
            </a:r>
          </a:p>
        </p:txBody>
      </p:sp>
      <p:sp>
        <p:nvSpPr>
          <p:cNvPr id="68" name="TextBox 67"/>
          <p:cNvSpPr txBox="1"/>
          <p:nvPr/>
        </p:nvSpPr>
        <p:spPr>
          <a:xfrm>
            <a:off x="6029325" y="4991099"/>
            <a:ext cx="1134777" cy="194310"/>
          </a:xfrm>
          <a:prstGeom prst="rect">
            <a:avLst/>
          </a:prstGeom>
          <a:noFill/>
        </p:spPr>
        <p:txBody>
          <a:bodyPr wrap="none" lIns="0" rIns="0" tIns="0" bIns="0">
            <a:spAutoFit/>
          </a:bodyPr>
          <a:lstStyle/>
          <a:p>
            <a:r>
              <a:rPr sz="1150" b="0">
                <a:solidFill>
                  <a:srgbClr val="2E2E2E"/>
                </a:solidFill>
                <a:latin typeface="Calibri"/>
              </a:rPr>
              <a:t>total opportunity.</a:t>
            </a:r>
          </a:p>
        </p:txBody>
      </p:sp>
      <p:sp>
        <p:nvSpPr>
          <p:cNvPr id="69" name="TextBox 68"/>
          <p:cNvSpPr txBox="1"/>
          <p:nvPr/>
        </p:nvSpPr>
        <p:spPr>
          <a:xfrm>
            <a:off x="8124825" y="4114800"/>
            <a:ext cx="1292807" cy="194310"/>
          </a:xfrm>
          <a:prstGeom prst="rect">
            <a:avLst/>
          </a:prstGeom>
          <a:noFill/>
        </p:spPr>
        <p:txBody>
          <a:bodyPr wrap="none" lIns="0" rIns="0" tIns="0" bIns="0">
            <a:spAutoFit/>
          </a:bodyPr>
          <a:lstStyle/>
          <a:p>
            <a:r>
              <a:rPr sz="1150" b="0">
                <a:solidFill>
                  <a:srgbClr val="2E2E2E"/>
                </a:solidFill>
                <a:latin typeface="Calibri"/>
              </a:rPr>
              <a:t>▪ 'Veterinary-Guided</a:t>
            </a:r>
          </a:p>
        </p:txBody>
      </p:sp>
      <p:sp>
        <p:nvSpPr>
          <p:cNvPr id="70" name="TextBox 69"/>
          <p:cNvSpPr txBox="1"/>
          <p:nvPr/>
        </p:nvSpPr>
        <p:spPr>
          <a:xfrm>
            <a:off x="8124825" y="4290060"/>
            <a:ext cx="1374105" cy="194310"/>
          </a:xfrm>
          <a:prstGeom prst="rect">
            <a:avLst/>
          </a:prstGeom>
          <a:noFill/>
        </p:spPr>
        <p:txBody>
          <a:bodyPr wrap="none" lIns="0" rIns="0" tIns="0" bIns="0">
            <a:spAutoFit/>
          </a:bodyPr>
          <a:lstStyle/>
          <a:p>
            <a:r>
              <a:rPr sz="1150" b="0">
                <a:solidFill>
                  <a:srgbClr val="2E2E2E"/>
                </a:solidFill>
                <a:latin typeface="Calibri"/>
              </a:rPr>
              <a:t>Cognitive Dysfunction</a:t>
            </a:r>
          </a:p>
        </p:txBody>
      </p:sp>
      <p:sp>
        <p:nvSpPr>
          <p:cNvPr id="71" name="TextBox 70"/>
          <p:cNvSpPr txBox="1"/>
          <p:nvPr/>
        </p:nvSpPr>
        <p:spPr>
          <a:xfrm>
            <a:off x="8124825" y="4465320"/>
            <a:ext cx="1379810" cy="194310"/>
          </a:xfrm>
          <a:prstGeom prst="rect">
            <a:avLst/>
          </a:prstGeom>
          <a:noFill/>
        </p:spPr>
        <p:txBody>
          <a:bodyPr wrap="none" lIns="0" rIns="0" tIns="0" bIns="0">
            <a:spAutoFit/>
          </a:bodyPr>
          <a:lstStyle/>
          <a:p>
            <a:r>
              <a:rPr sz="1150" b="0">
                <a:solidFill>
                  <a:srgbClr val="2E2E2E"/>
                </a:solidFill>
                <a:latin typeface="Calibri"/>
              </a:rPr>
              <a:t>Support × Antioxidant</a:t>
            </a:r>
          </a:p>
        </p:txBody>
      </p:sp>
      <p:sp>
        <p:nvSpPr>
          <p:cNvPr id="72" name="TextBox 71"/>
          <p:cNvSpPr txBox="1"/>
          <p:nvPr/>
        </p:nvSpPr>
        <p:spPr>
          <a:xfrm>
            <a:off x="8124825" y="4640579"/>
            <a:ext cx="1426877" cy="194310"/>
          </a:xfrm>
          <a:prstGeom prst="rect">
            <a:avLst/>
          </a:prstGeom>
          <a:noFill/>
        </p:spPr>
        <p:txBody>
          <a:bodyPr wrap="none" lIns="0" rIns="0" tIns="0" bIns="0">
            <a:spAutoFit/>
          </a:bodyPr>
          <a:lstStyle/>
          <a:p>
            <a:r>
              <a:rPr sz="1150" b="0">
                <a:solidFill>
                  <a:srgbClr val="2E2E2E"/>
                </a:solidFill>
                <a:latin typeface="Calibri"/>
              </a:rPr>
              <a:t>Ingredients' grows at a</a:t>
            </a:r>
          </a:p>
        </p:txBody>
      </p:sp>
      <p:pic>
        <p:nvPicPr>
          <p:cNvPr id="73" name="Picture 72" descr="lock.png"/>
          <p:cNvPicPr>
            <a:picLocks noChangeAspect="1"/>
          </p:cNvPicPr>
          <p:nvPr/>
        </p:nvPicPr>
        <p:blipFill>
          <a:blip r:embed="rId4"/>
          <a:stretch>
            <a:fillRect/>
          </a:stretch>
        </p:blipFill>
        <p:spPr>
          <a:xfrm>
            <a:off x="9500856" y="4630356"/>
            <a:ext cx="134549" cy="195707"/>
          </a:xfrm>
          <a:prstGeom prst="rect">
            <a:avLst/>
          </a:prstGeom>
        </p:spPr>
      </p:pic>
      <p:sp>
        <p:nvSpPr>
          <p:cNvPr id="74" name="TextBox 73"/>
          <p:cNvSpPr txBox="1"/>
          <p:nvPr/>
        </p:nvSpPr>
        <p:spPr>
          <a:xfrm>
            <a:off x="8124825" y="4815839"/>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75" name="Picture 74" descr="lock.png"/>
          <p:cNvPicPr>
            <a:picLocks noChangeAspect="1"/>
          </p:cNvPicPr>
          <p:nvPr/>
        </p:nvPicPr>
        <p:blipFill>
          <a:blip r:embed="rId4"/>
          <a:stretch>
            <a:fillRect/>
          </a:stretch>
        </p:blipFill>
        <p:spPr>
          <a:xfrm>
            <a:off x="8520420" y="4805616"/>
            <a:ext cx="134549" cy="195707"/>
          </a:xfrm>
          <a:prstGeom prst="rect">
            <a:avLst/>
          </a:prstGeom>
        </p:spPr>
      </p:pic>
      <p:sp>
        <p:nvSpPr>
          <p:cNvPr id="76" name="TextBox 75"/>
          <p:cNvSpPr txBox="1"/>
          <p:nvPr/>
        </p:nvSpPr>
        <p:spPr>
          <a:xfrm>
            <a:off x="8695529" y="4815839"/>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77" name="TextBox 76"/>
          <p:cNvSpPr txBox="1"/>
          <p:nvPr/>
        </p:nvSpPr>
        <p:spPr>
          <a:xfrm>
            <a:off x="8124825" y="4991099"/>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Sales Channel × End-use Application</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Sales Channel × End-use Application, 2026E vs 2036F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sales channel sub-segment across end-use application sub-segments</a:t>
            </a:r>
          </a:p>
        </p:txBody>
      </p:sp>
      <p:sp>
        <p:nvSpPr>
          <p:cNvPr id="10" name="Rounded Rectangle 9"/>
          <p:cNvSpPr/>
          <p:nvPr/>
        </p:nvSpPr>
        <p:spPr>
          <a:xfrm>
            <a:off x="142875" y="98107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Value, Sales Channel × End-use Application, 2026E and 2036F (US$ Mn)</a:t>
            </a:r>
          </a:p>
        </p:txBody>
      </p:sp>
      <p:graphicFrame>
        <p:nvGraphicFramePr>
          <p:cNvPr id="12" name="Table 11"/>
          <p:cNvGraphicFramePr>
            <a:graphicFrameLocks noGrp="1"/>
          </p:cNvGraphicFramePr>
          <p:nvPr/>
        </p:nvGraphicFramePr>
        <p:xfrm>
          <a:off x="152400" y="1238250"/>
          <a:ext cx="11887205" cy="2609849"/>
        </p:xfrm>
        <a:graphic>
          <a:graphicData uri="http://schemas.openxmlformats.org/drawingml/2006/table">
            <a:tbl>
              <a:tblPr>
                <a:tableStyleId>{5C22544A-7EE6-4342-B048-85BDC9FD1C3A}</a:tableStyleId>
              </a:tblPr>
              <a:tblGrid>
                <a:gridCol w="3011245"/>
                <a:gridCol w="887596"/>
                <a:gridCol w="887596"/>
                <a:gridCol w="887596"/>
                <a:gridCol w="887596"/>
                <a:gridCol w="887596"/>
                <a:gridCol w="887596"/>
                <a:gridCol w="887596"/>
                <a:gridCol w="887596"/>
                <a:gridCol w="887596"/>
                <a:gridCol w="887596"/>
              </a:tblGrid>
              <a:tr h="631697">
                <a:tc rowSpan="2">
                  <a:txBody>
                    <a:bodyPr wrap="none"/>
                    <a:lstStyle/>
                    <a:p>
                      <a:pPr algn="l"/>
                      <a:r>
                        <a:rPr sz="1100" b="1">
                          <a:solidFill>
                            <a:srgbClr val="0B2E4A"/>
                          </a:solidFill>
                          <a:latin typeface="Calibri"/>
                        </a:rPr>
                        <a:t>Sales Channel</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Routine Cognitive Wellness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Preventive Cognitive</a:t>
                      </a:r>
                      <a:endParaRPr sz="1100"/>
                    </a:p>
                    <a:p>
                      <a:pPr algn="ctr"/>
                      <a:r>
                        <a:rPr sz="1100" b="1">
                          <a:solidFill>
                            <a:srgbClr val="0B2E4A"/>
                          </a:solidFill>
                          <a:latin typeface="Calibri"/>
                        </a:rPr>
                        <a:t>Support for Senior Dogs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Support for Observable</a:t>
                      </a:r>
                      <a:endParaRPr sz="1100"/>
                    </a:p>
                    <a:p>
                      <a:pPr algn="ctr"/>
                      <a:r>
                        <a:rPr sz="1100" b="1">
                          <a:solidFill>
                            <a:srgbClr val="0B2E4A"/>
                          </a:solidFill>
                          <a:latin typeface="Calibri"/>
                        </a:rPr>
                        <a:t>Age-Related Cognitive</a:t>
                      </a:r>
                      <a:endParaRPr sz="1100"/>
                    </a:p>
                    <a:p>
                      <a:pPr algn="ctr"/>
                      <a:r>
                        <a:rPr sz="1100" b="1">
                          <a:solidFill>
                            <a:srgbClr val="0B2E4A"/>
                          </a:solidFill>
                          <a:latin typeface="Calibri"/>
                        </a:rPr>
                        <a:t>Changes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Veterinary-Guided</a:t>
                      </a:r>
                      <a:endParaRPr sz="1100"/>
                    </a:p>
                    <a:p>
                      <a:pPr algn="ctr"/>
                      <a:r>
                        <a:rPr sz="1100" b="1">
                          <a:solidFill>
                            <a:srgbClr val="0B2E4A"/>
                          </a:solidFill>
                          <a:latin typeface="Calibri"/>
                        </a:rPr>
                        <a:t>Cognitive Dysfunction</a:t>
                      </a:r>
                      <a:endParaRPr sz="1100"/>
                    </a:p>
                    <a:p>
                      <a:pPr algn="ctr"/>
                      <a:r>
                        <a:rPr sz="1100" b="1">
                          <a:solidFill>
                            <a:srgbClr val="0B2E4A"/>
                          </a:solidFill>
                          <a:latin typeface="Calibri"/>
                        </a:rPr>
                        <a:t>Support</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7269">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7269">
                <a:tc>
                  <a:txBody>
                    <a:bodyPr wrap="none"/>
                    <a:lstStyle/>
                    <a:p>
                      <a:pPr algn="l"/>
                      <a:r>
                        <a:rPr sz="1100" b="1">
                          <a:solidFill>
                            <a:srgbClr val="2E2E2E"/>
                          </a:solidFill>
                          <a:latin typeface="Calibri"/>
                        </a:rPr>
                        <a:t>Veterinary Channels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269">
                <a:tc>
                  <a:txBody>
                    <a:bodyPr wrap="none"/>
                    <a:lstStyle/>
                    <a:p>
                      <a:pPr algn="l"/>
                      <a:r>
                        <a:rPr sz="1100" b="1">
                          <a:solidFill>
                            <a:srgbClr val="2E2E2E"/>
                          </a:solidFill>
                          <a:latin typeface="Calibri"/>
                        </a:rPr>
                        <a:t>Specialist Pet Retail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269">
                <a:tc>
                  <a:txBody>
                    <a:bodyPr wrap="none"/>
                    <a:lstStyle/>
                    <a:p>
                      <a:pPr algn="l"/>
                      <a:r>
                        <a:rPr sz="1100" b="1">
                          <a:solidFill>
                            <a:srgbClr val="2E2E2E"/>
                          </a:solidFill>
                          <a:latin typeface="Calibri"/>
                        </a:rPr>
                        <a:t>General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269">
                <a:tc>
                  <a:txBody>
                    <a:bodyPr wrap="none"/>
                    <a:lstStyle/>
                    <a:p>
                      <a:pPr algn="l"/>
                      <a:r>
                        <a:rPr sz="1100" b="1">
                          <a:solidFill>
                            <a:srgbClr val="2E2E2E"/>
                          </a:solidFill>
                          <a:latin typeface="Calibri"/>
                        </a:rPr>
                        <a:t>Brand-Owned E-commerce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269">
                <a:tc>
                  <a:txBody>
                    <a:bodyPr wrap="none"/>
                    <a:lstStyle/>
                    <a:p>
                      <a:pPr algn="l"/>
                      <a:r>
                        <a:rPr sz="1100" b="1">
                          <a:solidFill>
                            <a:srgbClr val="2E2E2E"/>
                          </a:solidFill>
                          <a:latin typeface="Calibri"/>
                        </a:rPr>
                        <a:t>Third-Party E-commerce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269">
                <a:tc>
                  <a:txBody>
                    <a:bodyPr wrap="none"/>
                    <a:lstStyle/>
                    <a:p>
                      <a:pPr algn="l"/>
                      <a:r>
                        <a:rPr sz="1100" b="1">
                          <a:solidFill>
                            <a:srgbClr val="2E2E2E"/>
                          </a:solidFill>
                          <a:latin typeface="Calibri"/>
                        </a:rPr>
                        <a:t>Other Direct Sales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269">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8576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414935" y="2715958"/>
            <a:ext cx="366712" cy="533400"/>
          </a:xfrm>
          <a:prstGeom prst="rect">
            <a:avLst/>
          </a:prstGeom>
        </p:spPr>
      </p:pic>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Sales Channel × End-use Application, 2026E vs 2036F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sales channel sub-segment across end-use application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Flow, Sales Channel → End-use Application, 2036F (US$ Mn)</a:t>
            </a:r>
          </a:p>
        </p:txBody>
      </p:sp>
      <p:sp>
        <p:nvSpPr>
          <p:cNvPr id="12" name="Freeform 11"/>
          <p:cNvSpPr/>
          <p:nvPr/>
        </p:nvSpPr>
        <p:spPr>
          <a:xfrm>
            <a:off x="2057400" y="1304925"/>
            <a:ext cx="3743325" cy="733425"/>
          </a:xfrm>
          <a:custGeom>
            <a:avLst/>
            <a:gdLst/>
            <a:ahLst/>
            <a:cxnLst/>
            <a:rect l="l" t="t" r="r" b="b"/>
            <a:pathLst>
              <a:path w="393" h="77">
                <a:moveTo>
                  <a:pt x="0" y="0"/>
                </a:moveTo>
                <a:lnTo>
                  <a:pt x="16" y="0"/>
                </a:lnTo>
                <a:lnTo>
                  <a:pt x="33" y="0"/>
                </a:lnTo>
                <a:lnTo>
                  <a:pt x="49" y="0"/>
                </a:lnTo>
                <a:lnTo>
                  <a:pt x="65" y="0"/>
                </a:lnTo>
                <a:lnTo>
                  <a:pt x="82" y="1"/>
                </a:lnTo>
                <a:lnTo>
                  <a:pt x="98" y="1"/>
                </a:lnTo>
                <a:lnTo>
                  <a:pt x="114" y="1"/>
                </a:lnTo>
                <a:lnTo>
                  <a:pt x="131" y="2"/>
                </a:lnTo>
                <a:lnTo>
                  <a:pt x="147" y="2"/>
                </a:lnTo>
                <a:lnTo>
                  <a:pt x="164" y="2"/>
                </a:lnTo>
                <a:lnTo>
                  <a:pt x="180" y="3"/>
                </a:lnTo>
                <a:lnTo>
                  <a:pt x="196" y="3"/>
                </a:lnTo>
                <a:lnTo>
                  <a:pt x="213" y="3"/>
                </a:lnTo>
                <a:lnTo>
                  <a:pt x="229" y="4"/>
                </a:lnTo>
                <a:lnTo>
                  <a:pt x="246" y="4"/>
                </a:lnTo>
                <a:lnTo>
                  <a:pt x="262" y="4"/>
                </a:lnTo>
                <a:lnTo>
                  <a:pt x="278" y="5"/>
                </a:lnTo>
                <a:lnTo>
                  <a:pt x="295" y="5"/>
                </a:lnTo>
                <a:lnTo>
                  <a:pt x="311" y="5"/>
                </a:lnTo>
                <a:lnTo>
                  <a:pt x="327" y="6"/>
                </a:lnTo>
                <a:lnTo>
                  <a:pt x="344" y="6"/>
                </a:lnTo>
                <a:lnTo>
                  <a:pt x="360" y="6"/>
                </a:lnTo>
                <a:lnTo>
                  <a:pt x="377" y="6"/>
                </a:lnTo>
                <a:lnTo>
                  <a:pt x="393" y="6"/>
                </a:lnTo>
                <a:lnTo>
                  <a:pt x="393" y="77"/>
                </a:lnTo>
                <a:lnTo>
                  <a:pt x="377" y="77"/>
                </a:lnTo>
                <a:lnTo>
                  <a:pt x="360" y="77"/>
                </a:lnTo>
                <a:lnTo>
                  <a:pt x="344" y="77"/>
                </a:lnTo>
                <a:lnTo>
                  <a:pt x="327" y="77"/>
                </a:lnTo>
                <a:lnTo>
                  <a:pt x="311" y="76"/>
                </a:lnTo>
                <a:lnTo>
                  <a:pt x="295" y="76"/>
                </a:lnTo>
                <a:lnTo>
                  <a:pt x="278" y="76"/>
                </a:lnTo>
                <a:lnTo>
                  <a:pt x="262" y="75"/>
                </a:lnTo>
                <a:lnTo>
                  <a:pt x="246" y="75"/>
                </a:lnTo>
                <a:lnTo>
                  <a:pt x="229" y="75"/>
                </a:lnTo>
                <a:lnTo>
                  <a:pt x="213" y="74"/>
                </a:lnTo>
                <a:lnTo>
                  <a:pt x="196" y="74"/>
                </a:lnTo>
                <a:lnTo>
                  <a:pt x="180" y="74"/>
                </a:lnTo>
                <a:lnTo>
                  <a:pt x="164" y="73"/>
                </a:lnTo>
                <a:lnTo>
                  <a:pt x="147" y="73"/>
                </a:lnTo>
                <a:lnTo>
                  <a:pt x="131" y="73"/>
                </a:lnTo>
                <a:lnTo>
                  <a:pt x="114" y="72"/>
                </a:lnTo>
                <a:lnTo>
                  <a:pt x="98" y="72"/>
                </a:lnTo>
                <a:lnTo>
                  <a:pt x="82" y="72"/>
                </a:lnTo>
                <a:lnTo>
                  <a:pt x="65" y="71"/>
                </a:lnTo>
                <a:lnTo>
                  <a:pt x="49" y="71"/>
                </a:lnTo>
                <a:lnTo>
                  <a:pt x="33" y="71"/>
                </a:lnTo>
                <a:lnTo>
                  <a:pt x="16" y="71"/>
                </a:lnTo>
                <a:lnTo>
                  <a:pt x="0" y="71"/>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057400" y="1981200"/>
            <a:ext cx="3743325" cy="2486025"/>
          </a:xfrm>
          <a:custGeom>
            <a:avLst/>
            <a:gdLst/>
            <a:ahLst/>
            <a:cxnLst/>
            <a:rect l="l" t="t" r="r" b="b"/>
            <a:pathLst>
              <a:path w="393" h="261">
                <a:moveTo>
                  <a:pt x="0" y="0"/>
                </a:moveTo>
                <a:lnTo>
                  <a:pt x="16" y="1"/>
                </a:lnTo>
                <a:lnTo>
                  <a:pt x="33" y="5"/>
                </a:lnTo>
                <a:lnTo>
                  <a:pt x="49" y="10"/>
                </a:lnTo>
                <a:lnTo>
                  <a:pt x="65" y="17"/>
                </a:lnTo>
                <a:lnTo>
                  <a:pt x="82" y="26"/>
                </a:lnTo>
                <a:lnTo>
                  <a:pt x="98" y="36"/>
                </a:lnTo>
                <a:lnTo>
                  <a:pt x="114" y="48"/>
                </a:lnTo>
                <a:lnTo>
                  <a:pt x="131" y="60"/>
                </a:lnTo>
                <a:lnTo>
                  <a:pt x="147" y="74"/>
                </a:lnTo>
                <a:lnTo>
                  <a:pt x="164" y="88"/>
                </a:lnTo>
                <a:lnTo>
                  <a:pt x="180" y="102"/>
                </a:lnTo>
                <a:lnTo>
                  <a:pt x="196" y="117"/>
                </a:lnTo>
                <a:lnTo>
                  <a:pt x="213" y="131"/>
                </a:lnTo>
                <a:lnTo>
                  <a:pt x="229" y="145"/>
                </a:lnTo>
                <a:lnTo>
                  <a:pt x="246" y="159"/>
                </a:lnTo>
                <a:lnTo>
                  <a:pt x="262" y="173"/>
                </a:lnTo>
                <a:lnTo>
                  <a:pt x="278" y="185"/>
                </a:lnTo>
                <a:lnTo>
                  <a:pt x="295" y="197"/>
                </a:lnTo>
                <a:lnTo>
                  <a:pt x="311" y="207"/>
                </a:lnTo>
                <a:lnTo>
                  <a:pt x="327" y="216"/>
                </a:lnTo>
                <a:lnTo>
                  <a:pt x="344" y="223"/>
                </a:lnTo>
                <a:lnTo>
                  <a:pt x="360" y="229"/>
                </a:lnTo>
                <a:lnTo>
                  <a:pt x="377" y="232"/>
                </a:lnTo>
                <a:lnTo>
                  <a:pt x="393" y="233"/>
                </a:lnTo>
                <a:lnTo>
                  <a:pt x="393" y="261"/>
                </a:lnTo>
                <a:lnTo>
                  <a:pt x="377" y="260"/>
                </a:lnTo>
                <a:lnTo>
                  <a:pt x="360" y="256"/>
                </a:lnTo>
                <a:lnTo>
                  <a:pt x="344" y="251"/>
                </a:lnTo>
                <a:lnTo>
                  <a:pt x="327" y="244"/>
                </a:lnTo>
                <a:lnTo>
                  <a:pt x="311" y="235"/>
                </a:lnTo>
                <a:lnTo>
                  <a:pt x="295" y="225"/>
                </a:lnTo>
                <a:lnTo>
                  <a:pt x="278" y="213"/>
                </a:lnTo>
                <a:lnTo>
                  <a:pt x="262" y="201"/>
                </a:lnTo>
                <a:lnTo>
                  <a:pt x="246" y="187"/>
                </a:lnTo>
                <a:lnTo>
                  <a:pt x="229" y="173"/>
                </a:lnTo>
                <a:lnTo>
                  <a:pt x="213" y="159"/>
                </a:lnTo>
                <a:lnTo>
                  <a:pt x="196" y="144"/>
                </a:lnTo>
                <a:lnTo>
                  <a:pt x="180" y="130"/>
                </a:lnTo>
                <a:lnTo>
                  <a:pt x="164" y="116"/>
                </a:lnTo>
                <a:lnTo>
                  <a:pt x="147" y="102"/>
                </a:lnTo>
                <a:lnTo>
                  <a:pt x="131" y="88"/>
                </a:lnTo>
                <a:lnTo>
                  <a:pt x="114" y="76"/>
                </a:lnTo>
                <a:lnTo>
                  <a:pt x="98" y="64"/>
                </a:lnTo>
                <a:lnTo>
                  <a:pt x="82" y="54"/>
                </a:lnTo>
                <a:lnTo>
                  <a:pt x="65" y="45"/>
                </a:lnTo>
                <a:lnTo>
                  <a:pt x="49" y="38"/>
                </a:lnTo>
                <a:lnTo>
                  <a:pt x="33" y="32"/>
                </a:lnTo>
                <a:lnTo>
                  <a:pt x="16" y="29"/>
                </a:lnTo>
                <a:lnTo>
                  <a:pt x="0" y="28"/>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057400" y="2247900"/>
            <a:ext cx="3743325" cy="3257550"/>
          </a:xfrm>
          <a:custGeom>
            <a:avLst/>
            <a:gdLst/>
            <a:ahLst/>
            <a:cxnLst/>
            <a:rect l="l" t="t" r="r" b="b"/>
            <a:pathLst>
              <a:path w="393" h="342">
                <a:moveTo>
                  <a:pt x="0" y="0"/>
                </a:moveTo>
                <a:lnTo>
                  <a:pt x="16" y="2"/>
                </a:lnTo>
                <a:lnTo>
                  <a:pt x="33" y="6"/>
                </a:lnTo>
                <a:lnTo>
                  <a:pt x="49" y="14"/>
                </a:lnTo>
                <a:lnTo>
                  <a:pt x="65" y="24"/>
                </a:lnTo>
                <a:lnTo>
                  <a:pt x="82" y="37"/>
                </a:lnTo>
                <a:lnTo>
                  <a:pt x="98" y="51"/>
                </a:lnTo>
                <a:lnTo>
                  <a:pt x="114" y="67"/>
                </a:lnTo>
                <a:lnTo>
                  <a:pt x="131" y="85"/>
                </a:lnTo>
                <a:lnTo>
                  <a:pt x="147" y="103"/>
                </a:lnTo>
                <a:lnTo>
                  <a:pt x="164" y="123"/>
                </a:lnTo>
                <a:lnTo>
                  <a:pt x="180" y="143"/>
                </a:lnTo>
                <a:lnTo>
                  <a:pt x="196" y="164"/>
                </a:lnTo>
                <a:lnTo>
                  <a:pt x="213" y="184"/>
                </a:lnTo>
                <a:lnTo>
                  <a:pt x="229" y="204"/>
                </a:lnTo>
                <a:lnTo>
                  <a:pt x="246" y="224"/>
                </a:lnTo>
                <a:lnTo>
                  <a:pt x="262" y="242"/>
                </a:lnTo>
                <a:lnTo>
                  <a:pt x="278" y="260"/>
                </a:lnTo>
                <a:lnTo>
                  <a:pt x="295" y="276"/>
                </a:lnTo>
                <a:lnTo>
                  <a:pt x="311" y="291"/>
                </a:lnTo>
                <a:lnTo>
                  <a:pt x="327" y="303"/>
                </a:lnTo>
                <a:lnTo>
                  <a:pt x="344" y="313"/>
                </a:lnTo>
                <a:lnTo>
                  <a:pt x="360" y="321"/>
                </a:lnTo>
                <a:lnTo>
                  <a:pt x="377" y="326"/>
                </a:lnTo>
                <a:lnTo>
                  <a:pt x="393" y="327"/>
                </a:lnTo>
                <a:lnTo>
                  <a:pt x="393" y="342"/>
                </a:lnTo>
                <a:lnTo>
                  <a:pt x="377" y="340"/>
                </a:lnTo>
                <a:lnTo>
                  <a:pt x="360" y="335"/>
                </a:lnTo>
                <a:lnTo>
                  <a:pt x="344" y="328"/>
                </a:lnTo>
                <a:lnTo>
                  <a:pt x="327" y="318"/>
                </a:lnTo>
                <a:lnTo>
                  <a:pt x="311" y="305"/>
                </a:lnTo>
                <a:lnTo>
                  <a:pt x="295" y="291"/>
                </a:lnTo>
                <a:lnTo>
                  <a:pt x="278" y="275"/>
                </a:lnTo>
                <a:lnTo>
                  <a:pt x="262" y="257"/>
                </a:lnTo>
                <a:lnTo>
                  <a:pt x="246" y="238"/>
                </a:lnTo>
                <a:lnTo>
                  <a:pt x="229" y="219"/>
                </a:lnTo>
                <a:lnTo>
                  <a:pt x="213" y="199"/>
                </a:lnTo>
                <a:lnTo>
                  <a:pt x="196" y="178"/>
                </a:lnTo>
                <a:lnTo>
                  <a:pt x="180" y="158"/>
                </a:lnTo>
                <a:lnTo>
                  <a:pt x="164" y="138"/>
                </a:lnTo>
                <a:lnTo>
                  <a:pt x="147" y="118"/>
                </a:lnTo>
                <a:lnTo>
                  <a:pt x="131" y="99"/>
                </a:lnTo>
                <a:lnTo>
                  <a:pt x="114" y="82"/>
                </a:lnTo>
                <a:lnTo>
                  <a:pt x="98" y="66"/>
                </a:lnTo>
                <a:lnTo>
                  <a:pt x="82" y="51"/>
                </a:lnTo>
                <a:lnTo>
                  <a:pt x="65" y="39"/>
                </a:lnTo>
                <a:lnTo>
                  <a:pt x="49" y="29"/>
                </a:lnTo>
                <a:lnTo>
                  <a:pt x="33" y="21"/>
                </a:lnTo>
                <a:lnTo>
                  <a:pt x="16" y="16"/>
                </a:lnTo>
                <a:lnTo>
                  <a:pt x="0" y="15"/>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57400" y="2390775"/>
            <a:ext cx="3743325" cy="3705225"/>
          </a:xfrm>
          <a:custGeom>
            <a:avLst/>
            <a:gdLst/>
            <a:ahLst/>
            <a:cxnLst/>
            <a:rect l="l" t="t" r="r" b="b"/>
            <a:pathLst>
              <a:path w="393" h="389">
                <a:moveTo>
                  <a:pt x="0" y="0"/>
                </a:moveTo>
                <a:lnTo>
                  <a:pt x="16" y="1"/>
                </a:lnTo>
                <a:lnTo>
                  <a:pt x="33" y="7"/>
                </a:lnTo>
                <a:lnTo>
                  <a:pt x="49" y="16"/>
                </a:lnTo>
                <a:lnTo>
                  <a:pt x="65" y="27"/>
                </a:lnTo>
                <a:lnTo>
                  <a:pt x="82" y="42"/>
                </a:lnTo>
                <a:lnTo>
                  <a:pt x="98" y="58"/>
                </a:lnTo>
                <a:lnTo>
                  <a:pt x="114" y="77"/>
                </a:lnTo>
                <a:lnTo>
                  <a:pt x="131" y="97"/>
                </a:lnTo>
                <a:lnTo>
                  <a:pt x="147" y="118"/>
                </a:lnTo>
                <a:lnTo>
                  <a:pt x="164" y="140"/>
                </a:lnTo>
                <a:lnTo>
                  <a:pt x="180" y="163"/>
                </a:lnTo>
                <a:lnTo>
                  <a:pt x="196" y="187"/>
                </a:lnTo>
                <a:lnTo>
                  <a:pt x="213" y="210"/>
                </a:lnTo>
                <a:lnTo>
                  <a:pt x="229" y="233"/>
                </a:lnTo>
                <a:lnTo>
                  <a:pt x="246" y="256"/>
                </a:lnTo>
                <a:lnTo>
                  <a:pt x="262" y="277"/>
                </a:lnTo>
                <a:lnTo>
                  <a:pt x="278" y="297"/>
                </a:lnTo>
                <a:lnTo>
                  <a:pt x="295" y="316"/>
                </a:lnTo>
                <a:lnTo>
                  <a:pt x="311" y="332"/>
                </a:lnTo>
                <a:lnTo>
                  <a:pt x="327" y="346"/>
                </a:lnTo>
                <a:lnTo>
                  <a:pt x="344" y="358"/>
                </a:lnTo>
                <a:lnTo>
                  <a:pt x="360" y="367"/>
                </a:lnTo>
                <a:lnTo>
                  <a:pt x="377" y="372"/>
                </a:lnTo>
                <a:lnTo>
                  <a:pt x="393" y="374"/>
                </a:lnTo>
                <a:lnTo>
                  <a:pt x="393" y="389"/>
                </a:lnTo>
                <a:lnTo>
                  <a:pt x="377" y="387"/>
                </a:lnTo>
                <a:lnTo>
                  <a:pt x="360" y="382"/>
                </a:lnTo>
                <a:lnTo>
                  <a:pt x="344" y="373"/>
                </a:lnTo>
                <a:lnTo>
                  <a:pt x="327" y="361"/>
                </a:lnTo>
                <a:lnTo>
                  <a:pt x="311" y="347"/>
                </a:lnTo>
                <a:lnTo>
                  <a:pt x="295" y="331"/>
                </a:lnTo>
                <a:lnTo>
                  <a:pt x="278" y="312"/>
                </a:lnTo>
                <a:lnTo>
                  <a:pt x="262" y="292"/>
                </a:lnTo>
                <a:lnTo>
                  <a:pt x="246" y="271"/>
                </a:lnTo>
                <a:lnTo>
                  <a:pt x="229" y="248"/>
                </a:lnTo>
                <a:lnTo>
                  <a:pt x="213" y="225"/>
                </a:lnTo>
                <a:lnTo>
                  <a:pt x="196" y="202"/>
                </a:lnTo>
                <a:lnTo>
                  <a:pt x="180" y="178"/>
                </a:lnTo>
                <a:lnTo>
                  <a:pt x="164" y="155"/>
                </a:lnTo>
                <a:lnTo>
                  <a:pt x="147" y="133"/>
                </a:lnTo>
                <a:lnTo>
                  <a:pt x="131" y="112"/>
                </a:lnTo>
                <a:lnTo>
                  <a:pt x="114" y="92"/>
                </a:lnTo>
                <a:lnTo>
                  <a:pt x="98" y="73"/>
                </a:lnTo>
                <a:lnTo>
                  <a:pt x="82" y="57"/>
                </a:lnTo>
                <a:lnTo>
                  <a:pt x="65" y="42"/>
                </a:lnTo>
                <a:lnTo>
                  <a:pt x="49" y="31"/>
                </a:lnTo>
                <a:lnTo>
                  <a:pt x="33" y="22"/>
                </a:lnTo>
                <a:lnTo>
                  <a:pt x="16" y="16"/>
                </a:lnTo>
                <a:lnTo>
                  <a:pt x="0" y="15"/>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057400" y="2038350"/>
            <a:ext cx="3743325" cy="1200150"/>
          </a:xfrm>
          <a:custGeom>
            <a:avLst/>
            <a:gdLst/>
            <a:ahLst/>
            <a:cxnLst/>
            <a:rect l="l" t="t" r="r" b="b"/>
            <a:pathLst>
              <a:path w="393" h="126">
                <a:moveTo>
                  <a:pt x="0" y="58"/>
                </a:moveTo>
                <a:lnTo>
                  <a:pt x="16" y="57"/>
                </a:lnTo>
                <a:lnTo>
                  <a:pt x="33" y="56"/>
                </a:lnTo>
                <a:lnTo>
                  <a:pt x="49" y="55"/>
                </a:lnTo>
                <a:lnTo>
                  <a:pt x="65" y="53"/>
                </a:lnTo>
                <a:lnTo>
                  <a:pt x="82" y="51"/>
                </a:lnTo>
                <a:lnTo>
                  <a:pt x="98" y="49"/>
                </a:lnTo>
                <a:lnTo>
                  <a:pt x="114" y="46"/>
                </a:lnTo>
                <a:lnTo>
                  <a:pt x="131" y="43"/>
                </a:lnTo>
                <a:lnTo>
                  <a:pt x="147" y="39"/>
                </a:lnTo>
                <a:lnTo>
                  <a:pt x="164" y="36"/>
                </a:lnTo>
                <a:lnTo>
                  <a:pt x="180" y="32"/>
                </a:lnTo>
                <a:lnTo>
                  <a:pt x="196" y="29"/>
                </a:lnTo>
                <a:lnTo>
                  <a:pt x="213" y="25"/>
                </a:lnTo>
                <a:lnTo>
                  <a:pt x="229" y="22"/>
                </a:lnTo>
                <a:lnTo>
                  <a:pt x="246" y="18"/>
                </a:lnTo>
                <a:lnTo>
                  <a:pt x="262" y="15"/>
                </a:lnTo>
                <a:lnTo>
                  <a:pt x="278" y="12"/>
                </a:lnTo>
                <a:lnTo>
                  <a:pt x="295" y="9"/>
                </a:lnTo>
                <a:lnTo>
                  <a:pt x="311" y="6"/>
                </a:lnTo>
                <a:lnTo>
                  <a:pt x="327" y="4"/>
                </a:lnTo>
                <a:lnTo>
                  <a:pt x="344" y="2"/>
                </a:lnTo>
                <a:lnTo>
                  <a:pt x="360" y="1"/>
                </a:lnTo>
                <a:lnTo>
                  <a:pt x="377" y="0"/>
                </a:lnTo>
                <a:lnTo>
                  <a:pt x="393" y="0"/>
                </a:lnTo>
                <a:lnTo>
                  <a:pt x="393" y="69"/>
                </a:lnTo>
                <a:lnTo>
                  <a:pt x="377" y="69"/>
                </a:lnTo>
                <a:lnTo>
                  <a:pt x="360" y="70"/>
                </a:lnTo>
                <a:lnTo>
                  <a:pt x="344" y="71"/>
                </a:lnTo>
                <a:lnTo>
                  <a:pt x="327" y="73"/>
                </a:lnTo>
                <a:lnTo>
                  <a:pt x="311" y="75"/>
                </a:lnTo>
                <a:lnTo>
                  <a:pt x="295" y="78"/>
                </a:lnTo>
                <a:lnTo>
                  <a:pt x="278" y="81"/>
                </a:lnTo>
                <a:lnTo>
                  <a:pt x="262" y="84"/>
                </a:lnTo>
                <a:lnTo>
                  <a:pt x="246" y="87"/>
                </a:lnTo>
                <a:lnTo>
                  <a:pt x="229" y="91"/>
                </a:lnTo>
                <a:lnTo>
                  <a:pt x="213" y="94"/>
                </a:lnTo>
                <a:lnTo>
                  <a:pt x="196" y="98"/>
                </a:lnTo>
                <a:lnTo>
                  <a:pt x="180" y="101"/>
                </a:lnTo>
                <a:lnTo>
                  <a:pt x="164" y="105"/>
                </a:lnTo>
                <a:lnTo>
                  <a:pt x="147" y="108"/>
                </a:lnTo>
                <a:lnTo>
                  <a:pt x="131" y="112"/>
                </a:lnTo>
                <a:lnTo>
                  <a:pt x="114" y="115"/>
                </a:lnTo>
                <a:lnTo>
                  <a:pt x="98" y="118"/>
                </a:lnTo>
                <a:lnTo>
                  <a:pt x="82" y="120"/>
                </a:lnTo>
                <a:lnTo>
                  <a:pt x="65" y="122"/>
                </a:lnTo>
                <a:lnTo>
                  <a:pt x="49" y="124"/>
                </a:lnTo>
                <a:lnTo>
                  <a:pt x="33" y="125"/>
                </a:lnTo>
                <a:lnTo>
                  <a:pt x="16" y="126"/>
                </a:lnTo>
                <a:lnTo>
                  <a:pt x="0" y="126"/>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3238500"/>
            <a:ext cx="3743325" cy="1466850"/>
          </a:xfrm>
          <a:custGeom>
            <a:avLst/>
            <a:gdLst/>
            <a:ahLst/>
            <a:cxnLst/>
            <a:rect l="l" t="t" r="r" b="b"/>
            <a:pathLst>
              <a:path w="393" h="154">
                <a:moveTo>
                  <a:pt x="0" y="0"/>
                </a:moveTo>
                <a:lnTo>
                  <a:pt x="16" y="1"/>
                </a:lnTo>
                <a:lnTo>
                  <a:pt x="33" y="3"/>
                </a:lnTo>
                <a:lnTo>
                  <a:pt x="49" y="6"/>
                </a:lnTo>
                <a:lnTo>
                  <a:pt x="65" y="10"/>
                </a:lnTo>
                <a:lnTo>
                  <a:pt x="82" y="15"/>
                </a:lnTo>
                <a:lnTo>
                  <a:pt x="98" y="21"/>
                </a:lnTo>
                <a:lnTo>
                  <a:pt x="114" y="27"/>
                </a:lnTo>
                <a:lnTo>
                  <a:pt x="131" y="34"/>
                </a:lnTo>
                <a:lnTo>
                  <a:pt x="147" y="41"/>
                </a:lnTo>
                <a:lnTo>
                  <a:pt x="164" y="49"/>
                </a:lnTo>
                <a:lnTo>
                  <a:pt x="180" y="57"/>
                </a:lnTo>
                <a:lnTo>
                  <a:pt x="196" y="65"/>
                </a:lnTo>
                <a:lnTo>
                  <a:pt x="213" y="73"/>
                </a:lnTo>
                <a:lnTo>
                  <a:pt x="229" y="81"/>
                </a:lnTo>
                <a:lnTo>
                  <a:pt x="246" y="88"/>
                </a:lnTo>
                <a:lnTo>
                  <a:pt x="262" y="96"/>
                </a:lnTo>
                <a:lnTo>
                  <a:pt x="278" y="103"/>
                </a:lnTo>
                <a:lnTo>
                  <a:pt x="295" y="109"/>
                </a:lnTo>
                <a:lnTo>
                  <a:pt x="311" y="115"/>
                </a:lnTo>
                <a:lnTo>
                  <a:pt x="327" y="119"/>
                </a:lnTo>
                <a:lnTo>
                  <a:pt x="344" y="123"/>
                </a:lnTo>
                <a:lnTo>
                  <a:pt x="360" y="126"/>
                </a:lnTo>
                <a:lnTo>
                  <a:pt x="377" y="128"/>
                </a:lnTo>
                <a:lnTo>
                  <a:pt x="393" y="129"/>
                </a:lnTo>
                <a:lnTo>
                  <a:pt x="393" y="154"/>
                </a:lnTo>
                <a:lnTo>
                  <a:pt x="377" y="153"/>
                </a:lnTo>
                <a:lnTo>
                  <a:pt x="360" y="152"/>
                </a:lnTo>
                <a:lnTo>
                  <a:pt x="344" y="149"/>
                </a:lnTo>
                <a:lnTo>
                  <a:pt x="327" y="145"/>
                </a:lnTo>
                <a:lnTo>
                  <a:pt x="311" y="140"/>
                </a:lnTo>
                <a:lnTo>
                  <a:pt x="295" y="134"/>
                </a:lnTo>
                <a:lnTo>
                  <a:pt x="278" y="128"/>
                </a:lnTo>
                <a:lnTo>
                  <a:pt x="262" y="121"/>
                </a:lnTo>
                <a:lnTo>
                  <a:pt x="246" y="113"/>
                </a:lnTo>
                <a:lnTo>
                  <a:pt x="229" y="106"/>
                </a:lnTo>
                <a:lnTo>
                  <a:pt x="213" y="98"/>
                </a:lnTo>
                <a:lnTo>
                  <a:pt x="196" y="90"/>
                </a:lnTo>
                <a:lnTo>
                  <a:pt x="180" y="82"/>
                </a:lnTo>
                <a:lnTo>
                  <a:pt x="164" y="74"/>
                </a:lnTo>
                <a:lnTo>
                  <a:pt x="147" y="66"/>
                </a:lnTo>
                <a:lnTo>
                  <a:pt x="131" y="59"/>
                </a:lnTo>
                <a:lnTo>
                  <a:pt x="114" y="52"/>
                </a:lnTo>
                <a:lnTo>
                  <a:pt x="98" y="46"/>
                </a:lnTo>
                <a:lnTo>
                  <a:pt x="82" y="40"/>
                </a:lnTo>
                <a:lnTo>
                  <a:pt x="65" y="35"/>
                </a:lnTo>
                <a:lnTo>
                  <a:pt x="49" y="31"/>
                </a:lnTo>
                <a:lnTo>
                  <a:pt x="33" y="28"/>
                </a:lnTo>
                <a:lnTo>
                  <a:pt x="16" y="26"/>
                </a:lnTo>
                <a:lnTo>
                  <a:pt x="0" y="26"/>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3486150"/>
            <a:ext cx="3743325" cy="2114550"/>
          </a:xfrm>
          <a:custGeom>
            <a:avLst/>
            <a:gdLst/>
            <a:ahLst/>
            <a:cxnLst/>
            <a:rect l="l" t="t" r="r" b="b"/>
            <a:pathLst>
              <a:path w="393" h="222">
                <a:moveTo>
                  <a:pt x="0" y="0"/>
                </a:moveTo>
                <a:lnTo>
                  <a:pt x="16" y="1"/>
                </a:lnTo>
                <a:lnTo>
                  <a:pt x="33" y="4"/>
                </a:lnTo>
                <a:lnTo>
                  <a:pt x="49" y="9"/>
                </a:lnTo>
                <a:lnTo>
                  <a:pt x="65" y="15"/>
                </a:lnTo>
                <a:lnTo>
                  <a:pt x="82" y="23"/>
                </a:lnTo>
                <a:lnTo>
                  <a:pt x="98" y="33"/>
                </a:lnTo>
                <a:lnTo>
                  <a:pt x="114" y="43"/>
                </a:lnTo>
                <a:lnTo>
                  <a:pt x="131" y="55"/>
                </a:lnTo>
                <a:lnTo>
                  <a:pt x="147" y="67"/>
                </a:lnTo>
                <a:lnTo>
                  <a:pt x="164" y="79"/>
                </a:lnTo>
                <a:lnTo>
                  <a:pt x="180" y="92"/>
                </a:lnTo>
                <a:lnTo>
                  <a:pt x="196" y="106"/>
                </a:lnTo>
                <a:lnTo>
                  <a:pt x="213" y="119"/>
                </a:lnTo>
                <a:lnTo>
                  <a:pt x="229" y="132"/>
                </a:lnTo>
                <a:lnTo>
                  <a:pt x="246" y="145"/>
                </a:lnTo>
                <a:lnTo>
                  <a:pt x="262" y="157"/>
                </a:lnTo>
                <a:lnTo>
                  <a:pt x="278" y="168"/>
                </a:lnTo>
                <a:lnTo>
                  <a:pt x="295" y="179"/>
                </a:lnTo>
                <a:lnTo>
                  <a:pt x="311" y="188"/>
                </a:lnTo>
                <a:lnTo>
                  <a:pt x="327" y="196"/>
                </a:lnTo>
                <a:lnTo>
                  <a:pt x="344" y="203"/>
                </a:lnTo>
                <a:lnTo>
                  <a:pt x="360" y="208"/>
                </a:lnTo>
                <a:lnTo>
                  <a:pt x="377" y="211"/>
                </a:lnTo>
                <a:lnTo>
                  <a:pt x="393" y="212"/>
                </a:lnTo>
                <a:lnTo>
                  <a:pt x="393" y="222"/>
                </a:lnTo>
                <a:lnTo>
                  <a:pt x="377" y="221"/>
                </a:lnTo>
                <a:lnTo>
                  <a:pt x="360" y="218"/>
                </a:lnTo>
                <a:lnTo>
                  <a:pt x="344" y="213"/>
                </a:lnTo>
                <a:lnTo>
                  <a:pt x="327" y="206"/>
                </a:lnTo>
                <a:lnTo>
                  <a:pt x="311" y="198"/>
                </a:lnTo>
                <a:lnTo>
                  <a:pt x="295" y="189"/>
                </a:lnTo>
                <a:lnTo>
                  <a:pt x="278" y="178"/>
                </a:lnTo>
                <a:lnTo>
                  <a:pt x="262" y="167"/>
                </a:lnTo>
                <a:lnTo>
                  <a:pt x="246" y="155"/>
                </a:lnTo>
                <a:lnTo>
                  <a:pt x="229" y="142"/>
                </a:lnTo>
                <a:lnTo>
                  <a:pt x="213" y="129"/>
                </a:lnTo>
                <a:lnTo>
                  <a:pt x="196" y="116"/>
                </a:lnTo>
                <a:lnTo>
                  <a:pt x="180" y="103"/>
                </a:lnTo>
                <a:lnTo>
                  <a:pt x="164" y="90"/>
                </a:lnTo>
                <a:lnTo>
                  <a:pt x="147" y="77"/>
                </a:lnTo>
                <a:lnTo>
                  <a:pt x="131" y="65"/>
                </a:lnTo>
                <a:lnTo>
                  <a:pt x="114" y="53"/>
                </a:lnTo>
                <a:lnTo>
                  <a:pt x="98" y="43"/>
                </a:lnTo>
                <a:lnTo>
                  <a:pt x="82" y="34"/>
                </a:lnTo>
                <a:lnTo>
                  <a:pt x="65" y="26"/>
                </a:lnTo>
                <a:lnTo>
                  <a:pt x="49" y="19"/>
                </a:lnTo>
                <a:lnTo>
                  <a:pt x="33" y="14"/>
                </a:lnTo>
                <a:lnTo>
                  <a:pt x="16" y="11"/>
                </a:lnTo>
                <a:lnTo>
                  <a:pt x="0" y="10"/>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3581400"/>
            <a:ext cx="3743325" cy="2628900"/>
          </a:xfrm>
          <a:custGeom>
            <a:avLst/>
            <a:gdLst/>
            <a:ahLst/>
            <a:cxnLst/>
            <a:rect l="l" t="t" r="r" b="b"/>
            <a:pathLst>
              <a:path w="393" h="276">
                <a:moveTo>
                  <a:pt x="0" y="0"/>
                </a:moveTo>
                <a:lnTo>
                  <a:pt x="16" y="1"/>
                </a:lnTo>
                <a:lnTo>
                  <a:pt x="33" y="5"/>
                </a:lnTo>
                <a:lnTo>
                  <a:pt x="49" y="11"/>
                </a:lnTo>
                <a:lnTo>
                  <a:pt x="65" y="19"/>
                </a:lnTo>
                <a:lnTo>
                  <a:pt x="82" y="29"/>
                </a:lnTo>
                <a:lnTo>
                  <a:pt x="98" y="41"/>
                </a:lnTo>
                <a:lnTo>
                  <a:pt x="114" y="54"/>
                </a:lnTo>
                <a:lnTo>
                  <a:pt x="131" y="68"/>
                </a:lnTo>
                <a:lnTo>
                  <a:pt x="147" y="83"/>
                </a:lnTo>
                <a:lnTo>
                  <a:pt x="164" y="99"/>
                </a:lnTo>
                <a:lnTo>
                  <a:pt x="180" y="115"/>
                </a:lnTo>
                <a:lnTo>
                  <a:pt x="196" y="132"/>
                </a:lnTo>
                <a:lnTo>
                  <a:pt x="213" y="148"/>
                </a:lnTo>
                <a:lnTo>
                  <a:pt x="229" y="165"/>
                </a:lnTo>
                <a:lnTo>
                  <a:pt x="246" y="180"/>
                </a:lnTo>
                <a:lnTo>
                  <a:pt x="262" y="196"/>
                </a:lnTo>
                <a:lnTo>
                  <a:pt x="278" y="210"/>
                </a:lnTo>
                <a:lnTo>
                  <a:pt x="295" y="223"/>
                </a:lnTo>
                <a:lnTo>
                  <a:pt x="311" y="234"/>
                </a:lnTo>
                <a:lnTo>
                  <a:pt x="327" y="244"/>
                </a:lnTo>
                <a:lnTo>
                  <a:pt x="344" y="253"/>
                </a:lnTo>
                <a:lnTo>
                  <a:pt x="360" y="259"/>
                </a:lnTo>
                <a:lnTo>
                  <a:pt x="377" y="263"/>
                </a:lnTo>
                <a:lnTo>
                  <a:pt x="393" y="264"/>
                </a:lnTo>
                <a:lnTo>
                  <a:pt x="393" y="276"/>
                </a:lnTo>
                <a:lnTo>
                  <a:pt x="377" y="274"/>
                </a:lnTo>
                <a:lnTo>
                  <a:pt x="360" y="270"/>
                </a:lnTo>
                <a:lnTo>
                  <a:pt x="344" y="264"/>
                </a:lnTo>
                <a:lnTo>
                  <a:pt x="327" y="256"/>
                </a:lnTo>
                <a:lnTo>
                  <a:pt x="311" y="246"/>
                </a:lnTo>
                <a:lnTo>
                  <a:pt x="295" y="234"/>
                </a:lnTo>
                <a:lnTo>
                  <a:pt x="278" y="221"/>
                </a:lnTo>
                <a:lnTo>
                  <a:pt x="262" y="207"/>
                </a:lnTo>
                <a:lnTo>
                  <a:pt x="246" y="192"/>
                </a:lnTo>
                <a:lnTo>
                  <a:pt x="229" y="176"/>
                </a:lnTo>
                <a:lnTo>
                  <a:pt x="213" y="160"/>
                </a:lnTo>
                <a:lnTo>
                  <a:pt x="196" y="143"/>
                </a:lnTo>
                <a:lnTo>
                  <a:pt x="180" y="127"/>
                </a:lnTo>
                <a:lnTo>
                  <a:pt x="164" y="111"/>
                </a:lnTo>
                <a:lnTo>
                  <a:pt x="147" y="95"/>
                </a:lnTo>
                <a:lnTo>
                  <a:pt x="131" y="80"/>
                </a:lnTo>
                <a:lnTo>
                  <a:pt x="114" y="66"/>
                </a:lnTo>
                <a:lnTo>
                  <a:pt x="98" y="53"/>
                </a:lnTo>
                <a:lnTo>
                  <a:pt x="82" y="41"/>
                </a:lnTo>
                <a:lnTo>
                  <a:pt x="65" y="31"/>
                </a:lnTo>
                <a:lnTo>
                  <a:pt x="49" y="23"/>
                </a:lnTo>
                <a:lnTo>
                  <a:pt x="33" y="16"/>
                </a:lnTo>
                <a:lnTo>
                  <a:pt x="16" y="13"/>
                </a:lnTo>
                <a:lnTo>
                  <a:pt x="0" y="11"/>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2695575"/>
            <a:ext cx="3743325" cy="1647825"/>
          </a:xfrm>
          <a:custGeom>
            <a:avLst/>
            <a:gdLst/>
            <a:ahLst/>
            <a:cxnLst/>
            <a:rect l="l" t="t" r="r" b="b"/>
            <a:pathLst>
              <a:path w="393" h="173">
                <a:moveTo>
                  <a:pt x="0" y="110"/>
                </a:moveTo>
                <a:lnTo>
                  <a:pt x="16" y="110"/>
                </a:lnTo>
                <a:lnTo>
                  <a:pt x="33" y="108"/>
                </a:lnTo>
                <a:lnTo>
                  <a:pt x="49" y="106"/>
                </a:lnTo>
                <a:lnTo>
                  <a:pt x="65" y="102"/>
                </a:lnTo>
                <a:lnTo>
                  <a:pt x="82" y="98"/>
                </a:lnTo>
                <a:lnTo>
                  <a:pt x="98" y="93"/>
                </a:lnTo>
                <a:lnTo>
                  <a:pt x="114" y="88"/>
                </a:lnTo>
                <a:lnTo>
                  <a:pt x="131" y="82"/>
                </a:lnTo>
                <a:lnTo>
                  <a:pt x="147" y="75"/>
                </a:lnTo>
                <a:lnTo>
                  <a:pt x="164" y="69"/>
                </a:lnTo>
                <a:lnTo>
                  <a:pt x="180" y="62"/>
                </a:lnTo>
                <a:lnTo>
                  <a:pt x="196" y="55"/>
                </a:lnTo>
                <a:lnTo>
                  <a:pt x="213" y="48"/>
                </a:lnTo>
                <a:lnTo>
                  <a:pt x="229" y="41"/>
                </a:lnTo>
                <a:lnTo>
                  <a:pt x="246" y="35"/>
                </a:lnTo>
                <a:lnTo>
                  <a:pt x="262" y="29"/>
                </a:lnTo>
                <a:lnTo>
                  <a:pt x="278" y="23"/>
                </a:lnTo>
                <a:lnTo>
                  <a:pt x="295" y="17"/>
                </a:lnTo>
                <a:lnTo>
                  <a:pt x="311" y="12"/>
                </a:lnTo>
                <a:lnTo>
                  <a:pt x="327" y="8"/>
                </a:lnTo>
                <a:lnTo>
                  <a:pt x="344" y="5"/>
                </a:lnTo>
                <a:lnTo>
                  <a:pt x="360" y="2"/>
                </a:lnTo>
                <a:lnTo>
                  <a:pt x="377" y="1"/>
                </a:lnTo>
                <a:lnTo>
                  <a:pt x="393" y="0"/>
                </a:lnTo>
                <a:lnTo>
                  <a:pt x="393" y="63"/>
                </a:lnTo>
                <a:lnTo>
                  <a:pt x="377" y="63"/>
                </a:lnTo>
                <a:lnTo>
                  <a:pt x="360" y="65"/>
                </a:lnTo>
                <a:lnTo>
                  <a:pt x="344" y="67"/>
                </a:lnTo>
                <a:lnTo>
                  <a:pt x="327" y="71"/>
                </a:lnTo>
                <a:lnTo>
                  <a:pt x="311" y="75"/>
                </a:lnTo>
                <a:lnTo>
                  <a:pt x="295" y="80"/>
                </a:lnTo>
                <a:lnTo>
                  <a:pt x="278" y="85"/>
                </a:lnTo>
                <a:lnTo>
                  <a:pt x="262" y="91"/>
                </a:lnTo>
                <a:lnTo>
                  <a:pt x="246" y="97"/>
                </a:lnTo>
                <a:lnTo>
                  <a:pt x="229" y="104"/>
                </a:lnTo>
                <a:lnTo>
                  <a:pt x="213" y="111"/>
                </a:lnTo>
                <a:lnTo>
                  <a:pt x="196" y="118"/>
                </a:lnTo>
                <a:lnTo>
                  <a:pt x="180" y="125"/>
                </a:lnTo>
                <a:lnTo>
                  <a:pt x="164" y="131"/>
                </a:lnTo>
                <a:lnTo>
                  <a:pt x="147" y="138"/>
                </a:lnTo>
                <a:lnTo>
                  <a:pt x="131" y="144"/>
                </a:lnTo>
                <a:lnTo>
                  <a:pt x="114" y="150"/>
                </a:lnTo>
                <a:lnTo>
                  <a:pt x="98" y="156"/>
                </a:lnTo>
                <a:lnTo>
                  <a:pt x="82" y="161"/>
                </a:lnTo>
                <a:lnTo>
                  <a:pt x="65" y="165"/>
                </a:lnTo>
                <a:lnTo>
                  <a:pt x="49" y="168"/>
                </a:lnTo>
                <a:lnTo>
                  <a:pt x="33" y="171"/>
                </a:lnTo>
                <a:lnTo>
                  <a:pt x="16" y="172"/>
                </a:lnTo>
                <a:lnTo>
                  <a:pt x="0" y="173"/>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4343400"/>
            <a:ext cx="3743325" cy="600075"/>
          </a:xfrm>
          <a:custGeom>
            <a:avLst/>
            <a:gdLst/>
            <a:ahLst/>
            <a:cxnLst/>
            <a:rect l="l" t="t" r="r" b="b"/>
            <a:pathLst>
              <a:path w="393" h="63">
                <a:moveTo>
                  <a:pt x="0" y="0"/>
                </a:moveTo>
                <a:lnTo>
                  <a:pt x="16" y="0"/>
                </a:lnTo>
                <a:lnTo>
                  <a:pt x="33" y="1"/>
                </a:lnTo>
                <a:lnTo>
                  <a:pt x="49" y="2"/>
                </a:lnTo>
                <a:lnTo>
                  <a:pt x="65" y="3"/>
                </a:lnTo>
                <a:lnTo>
                  <a:pt x="82" y="4"/>
                </a:lnTo>
                <a:lnTo>
                  <a:pt x="98" y="6"/>
                </a:lnTo>
                <a:lnTo>
                  <a:pt x="114" y="8"/>
                </a:lnTo>
                <a:lnTo>
                  <a:pt x="131" y="10"/>
                </a:lnTo>
                <a:lnTo>
                  <a:pt x="147" y="12"/>
                </a:lnTo>
                <a:lnTo>
                  <a:pt x="164" y="14"/>
                </a:lnTo>
                <a:lnTo>
                  <a:pt x="180" y="17"/>
                </a:lnTo>
                <a:lnTo>
                  <a:pt x="196" y="19"/>
                </a:lnTo>
                <a:lnTo>
                  <a:pt x="213" y="21"/>
                </a:lnTo>
                <a:lnTo>
                  <a:pt x="229" y="24"/>
                </a:lnTo>
                <a:lnTo>
                  <a:pt x="246" y="26"/>
                </a:lnTo>
                <a:lnTo>
                  <a:pt x="262" y="28"/>
                </a:lnTo>
                <a:lnTo>
                  <a:pt x="278" y="30"/>
                </a:lnTo>
                <a:lnTo>
                  <a:pt x="295" y="32"/>
                </a:lnTo>
                <a:lnTo>
                  <a:pt x="311" y="34"/>
                </a:lnTo>
                <a:lnTo>
                  <a:pt x="327" y="35"/>
                </a:lnTo>
                <a:lnTo>
                  <a:pt x="344" y="36"/>
                </a:lnTo>
                <a:lnTo>
                  <a:pt x="360" y="37"/>
                </a:lnTo>
                <a:lnTo>
                  <a:pt x="377" y="38"/>
                </a:lnTo>
                <a:lnTo>
                  <a:pt x="393" y="38"/>
                </a:lnTo>
                <a:lnTo>
                  <a:pt x="393" y="63"/>
                </a:lnTo>
                <a:lnTo>
                  <a:pt x="377" y="63"/>
                </a:lnTo>
                <a:lnTo>
                  <a:pt x="360" y="62"/>
                </a:lnTo>
                <a:lnTo>
                  <a:pt x="344" y="61"/>
                </a:lnTo>
                <a:lnTo>
                  <a:pt x="327" y="60"/>
                </a:lnTo>
                <a:lnTo>
                  <a:pt x="311" y="59"/>
                </a:lnTo>
                <a:lnTo>
                  <a:pt x="295" y="57"/>
                </a:lnTo>
                <a:lnTo>
                  <a:pt x="278" y="55"/>
                </a:lnTo>
                <a:lnTo>
                  <a:pt x="262" y="53"/>
                </a:lnTo>
                <a:lnTo>
                  <a:pt x="246" y="51"/>
                </a:lnTo>
                <a:lnTo>
                  <a:pt x="229" y="49"/>
                </a:lnTo>
                <a:lnTo>
                  <a:pt x="213" y="46"/>
                </a:lnTo>
                <a:lnTo>
                  <a:pt x="196" y="44"/>
                </a:lnTo>
                <a:lnTo>
                  <a:pt x="180" y="41"/>
                </a:lnTo>
                <a:lnTo>
                  <a:pt x="164" y="39"/>
                </a:lnTo>
                <a:lnTo>
                  <a:pt x="147" y="37"/>
                </a:lnTo>
                <a:lnTo>
                  <a:pt x="131" y="35"/>
                </a:lnTo>
                <a:lnTo>
                  <a:pt x="114" y="33"/>
                </a:lnTo>
                <a:lnTo>
                  <a:pt x="98" y="31"/>
                </a:lnTo>
                <a:lnTo>
                  <a:pt x="82" y="29"/>
                </a:lnTo>
                <a:lnTo>
                  <a:pt x="65" y="28"/>
                </a:lnTo>
                <a:lnTo>
                  <a:pt x="49" y="26"/>
                </a:lnTo>
                <a:lnTo>
                  <a:pt x="33" y="25"/>
                </a:lnTo>
                <a:lnTo>
                  <a:pt x="16" y="25"/>
                </a:lnTo>
                <a:lnTo>
                  <a:pt x="0" y="25"/>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4581525"/>
            <a:ext cx="3743325" cy="1133475"/>
          </a:xfrm>
          <a:custGeom>
            <a:avLst/>
            <a:gdLst/>
            <a:ahLst/>
            <a:cxnLst/>
            <a:rect l="l" t="t" r="r" b="b"/>
            <a:pathLst>
              <a:path w="393" h="119">
                <a:moveTo>
                  <a:pt x="0" y="0"/>
                </a:moveTo>
                <a:lnTo>
                  <a:pt x="16" y="0"/>
                </a:lnTo>
                <a:lnTo>
                  <a:pt x="33" y="2"/>
                </a:lnTo>
                <a:lnTo>
                  <a:pt x="49" y="4"/>
                </a:lnTo>
                <a:lnTo>
                  <a:pt x="65" y="8"/>
                </a:lnTo>
                <a:lnTo>
                  <a:pt x="82" y="12"/>
                </a:lnTo>
                <a:lnTo>
                  <a:pt x="98" y="16"/>
                </a:lnTo>
                <a:lnTo>
                  <a:pt x="114" y="22"/>
                </a:lnTo>
                <a:lnTo>
                  <a:pt x="131" y="28"/>
                </a:lnTo>
                <a:lnTo>
                  <a:pt x="147" y="34"/>
                </a:lnTo>
                <a:lnTo>
                  <a:pt x="164" y="40"/>
                </a:lnTo>
                <a:lnTo>
                  <a:pt x="180" y="47"/>
                </a:lnTo>
                <a:lnTo>
                  <a:pt x="196" y="53"/>
                </a:lnTo>
                <a:lnTo>
                  <a:pt x="213" y="60"/>
                </a:lnTo>
                <a:lnTo>
                  <a:pt x="229" y="67"/>
                </a:lnTo>
                <a:lnTo>
                  <a:pt x="246" y="73"/>
                </a:lnTo>
                <a:lnTo>
                  <a:pt x="262" y="79"/>
                </a:lnTo>
                <a:lnTo>
                  <a:pt x="278" y="85"/>
                </a:lnTo>
                <a:lnTo>
                  <a:pt x="295" y="90"/>
                </a:lnTo>
                <a:lnTo>
                  <a:pt x="311" y="95"/>
                </a:lnTo>
                <a:lnTo>
                  <a:pt x="327" y="99"/>
                </a:lnTo>
                <a:lnTo>
                  <a:pt x="344" y="102"/>
                </a:lnTo>
                <a:lnTo>
                  <a:pt x="360" y="105"/>
                </a:lnTo>
                <a:lnTo>
                  <a:pt x="377" y="107"/>
                </a:lnTo>
                <a:lnTo>
                  <a:pt x="393" y="107"/>
                </a:lnTo>
                <a:lnTo>
                  <a:pt x="393" y="119"/>
                </a:lnTo>
                <a:lnTo>
                  <a:pt x="377" y="118"/>
                </a:lnTo>
                <a:lnTo>
                  <a:pt x="360" y="117"/>
                </a:lnTo>
                <a:lnTo>
                  <a:pt x="344" y="114"/>
                </a:lnTo>
                <a:lnTo>
                  <a:pt x="327" y="111"/>
                </a:lnTo>
                <a:lnTo>
                  <a:pt x="311" y="107"/>
                </a:lnTo>
                <a:lnTo>
                  <a:pt x="295" y="102"/>
                </a:lnTo>
                <a:lnTo>
                  <a:pt x="278" y="97"/>
                </a:lnTo>
                <a:lnTo>
                  <a:pt x="262" y="91"/>
                </a:lnTo>
                <a:lnTo>
                  <a:pt x="246" y="85"/>
                </a:lnTo>
                <a:lnTo>
                  <a:pt x="229" y="78"/>
                </a:lnTo>
                <a:lnTo>
                  <a:pt x="213" y="72"/>
                </a:lnTo>
                <a:lnTo>
                  <a:pt x="196" y="65"/>
                </a:lnTo>
                <a:lnTo>
                  <a:pt x="180" y="58"/>
                </a:lnTo>
                <a:lnTo>
                  <a:pt x="164" y="52"/>
                </a:lnTo>
                <a:lnTo>
                  <a:pt x="147" y="45"/>
                </a:lnTo>
                <a:lnTo>
                  <a:pt x="131" y="39"/>
                </a:lnTo>
                <a:lnTo>
                  <a:pt x="114" y="34"/>
                </a:lnTo>
                <a:lnTo>
                  <a:pt x="98" y="28"/>
                </a:lnTo>
                <a:lnTo>
                  <a:pt x="82" y="24"/>
                </a:lnTo>
                <a:lnTo>
                  <a:pt x="65" y="19"/>
                </a:lnTo>
                <a:lnTo>
                  <a:pt x="49" y="16"/>
                </a:lnTo>
                <a:lnTo>
                  <a:pt x="33" y="14"/>
                </a:lnTo>
                <a:lnTo>
                  <a:pt x="16" y="12"/>
                </a:lnTo>
                <a:lnTo>
                  <a:pt x="0" y="11"/>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4686300"/>
            <a:ext cx="3743325" cy="1628775"/>
          </a:xfrm>
          <a:custGeom>
            <a:avLst/>
            <a:gdLst/>
            <a:ahLst/>
            <a:cxnLst/>
            <a:rect l="l" t="t" r="r" b="b"/>
            <a:pathLst>
              <a:path w="393" h="171">
                <a:moveTo>
                  <a:pt x="0" y="0"/>
                </a:moveTo>
                <a:lnTo>
                  <a:pt x="16" y="1"/>
                </a:lnTo>
                <a:lnTo>
                  <a:pt x="33" y="4"/>
                </a:lnTo>
                <a:lnTo>
                  <a:pt x="49" y="7"/>
                </a:lnTo>
                <a:lnTo>
                  <a:pt x="65" y="12"/>
                </a:lnTo>
                <a:lnTo>
                  <a:pt x="82" y="18"/>
                </a:lnTo>
                <a:lnTo>
                  <a:pt x="98" y="25"/>
                </a:lnTo>
                <a:lnTo>
                  <a:pt x="114" y="33"/>
                </a:lnTo>
                <a:lnTo>
                  <a:pt x="131" y="42"/>
                </a:lnTo>
                <a:lnTo>
                  <a:pt x="147" y="51"/>
                </a:lnTo>
                <a:lnTo>
                  <a:pt x="164" y="60"/>
                </a:lnTo>
                <a:lnTo>
                  <a:pt x="180" y="70"/>
                </a:lnTo>
                <a:lnTo>
                  <a:pt x="196" y="80"/>
                </a:lnTo>
                <a:lnTo>
                  <a:pt x="213" y="90"/>
                </a:lnTo>
                <a:lnTo>
                  <a:pt x="229" y="100"/>
                </a:lnTo>
                <a:lnTo>
                  <a:pt x="246" y="109"/>
                </a:lnTo>
                <a:lnTo>
                  <a:pt x="262" y="118"/>
                </a:lnTo>
                <a:lnTo>
                  <a:pt x="278" y="127"/>
                </a:lnTo>
                <a:lnTo>
                  <a:pt x="295" y="135"/>
                </a:lnTo>
                <a:lnTo>
                  <a:pt x="311" y="142"/>
                </a:lnTo>
                <a:lnTo>
                  <a:pt x="327" y="148"/>
                </a:lnTo>
                <a:lnTo>
                  <a:pt x="344" y="153"/>
                </a:lnTo>
                <a:lnTo>
                  <a:pt x="360" y="156"/>
                </a:lnTo>
                <a:lnTo>
                  <a:pt x="377" y="159"/>
                </a:lnTo>
                <a:lnTo>
                  <a:pt x="393" y="160"/>
                </a:lnTo>
                <a:lnTo>
                  <a:pt x="393" y="171"/>
                </a:lnTo>
                <a:lnTo>
                  <a:pt x="377" y="170"/>
                </a:lnTo>
                <a:lnTo>
                  <a:pt x="360" y="168"/>
                </a:lnTo>
                <a:lnTo>
                  <a:pt x="344" y="164"/>
                </a:lnTo>
                <a:lnTo>
                  <a:pt x="327" y="159"/>
                </a:lnTo>
                <a:lnTo>
                  <a:pt x="311" y="153"/>
                </a:lnTo>
                <a:lnTo>
                  <a:pt x="295" y="146"/>
                </a:lnTo>
                <a:lnTo>
                  <a:pt x="278" y="138"/>
                </a:lnTo>
                <a:lnTo>
                  <a:pt x="262" y="130"/>
                </a:lnTo>
                <a:lnTo>
                  <a:pt x="246" y="121"/>
                </a:lnTo>
                <a:lnTo>
                  <a:pt x="229" y="111"/>
                </a:lnTo>
                <a:lnTo>
                  <a:pt x="213" y="102"/>
                </a:lnTo>
                <a:lnTo>
                  <a:pt x="196" y="92"/>
                </a:lnTo>
                <a:lnTo>
                  <a:pt x="180" y="82"/>
                </a:lnTo>
                <a:lnTo>
                  <a:pt x="164" y="72"/>
                </a:lnTo>
                <a:lnTo>
                  <a:pt x="147" y="62"/>
                </a:lnTo>
                <a:lnTo>
                  <a:pt x="131" y="53"/>
                </a:lnTo>
                <a:lnTo>
                  <a:pt x="114" y="45"/>
                </a:lnTo>
                <a:lnTo>
                  <a:pt x="98" y="37"/>
                </a:lnTo>
                <a:lnTo>
                  <a:pt x="82" y="30"/>
                </a:lnTo>
                <a:lnTo>
                  <a:pt x="65" y="24"/>
                </a:lnTo>
                <a:lnTo>
                  <a:pt x="49" y="19"/>
                </a:lnTo>
                <a:lnTo>
                  <a:pt x="33" y="15"/>
                </a:lnTo>
                <a:lnTo>
                  <a:pt x="16" y="13"/>
                </a:lnTo>
                <a:lnTo>
                  <a:pt x="0" y="12"/>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3295650"/>
            <a:ext cx="3743325" cy="2028825"/>
          </a:xfrm>
          <a:custGeom>
            <a:avLst/>
            <a:gdLst/>
            <a:ahLst/>
            <a:cxnLst/>
            <a:rect l="l" t="t" r="r" b="b"/>
            <a:pathLst>
              <a:path w="393" h="213">
                <a:moveTo>
                  <a:pt x="0" y="164"/>
                </a:moveTo>
                <a:lnTo>
                  <a:pt x="16" y="163"/>
                </a:lnTo>
                <a:lnTo>
                  <a:pt x="33" y="161"/>
                </a:lnTo>
                <a:lnTo>
                  <a:pt x="49" y="157"/>
                </a:lnTo>
                <a:lnTo>
                  <a:pt x="65" y="152"/>
                </a:lnTo>
                <a:lnTo>
                  <a:pt x="82" y="146"/>
                </a:lnTo>
                <a:lnTo>
                  <a:pt x="98" y="138"/>
                </a:lnTo>
                <a:lnTo>
                  <a:pt x="114" y="130"/>
                </a:lnTo>
                <a:lnTo>
                  <a:pt x="131" y="121"/>
                </a:lnTo>
                <a:lnTo>
                  <a:pt x="147" y="112"/>
                </a:lnTo>
                <a:lnTo>
                  <a:pt x="164" y="102"/>
                </a:lnTo>
                <a:lnTo>
                  <a:pt x="180" y="92"/>
                </a:lnTo>
                <a:lnTo>
                  <a:pt x="196" y="82"/>
                </a:lnTo>
                <a:lnTo>
                  <a:pt x="213" y="72"/>
                </a:lnTo>
                <a:lnTo>
                  <a:pt x="229" y="61"/>
                </a:lnTo>
                <a:lnTo>
                  <a:pt x="246" y="52"/>
                </a:lnTo>
                <a:lnTo>
                  <a:pt x="262" y="42"/>
                </a:lnTo>
                <a:lnTo>
                  <a:pt x="278" y="33"/>
                </a:lnTo>
                <a:lnTo>
                  <a:pt x="295" y="25"/>
                </a:lnTo>
                <a:lnTo>
                  <a:pt x="311" y="18"/>
                </a:lnTo>
                <a:lnTo>
                  <a:pt x="327" y="12"/>
                </a:lnTo>
                <a:lnTo>
                  <a:pt x="344" y="7"/>
                </a:lnTo>
                <a:lnTo>
                  <a:pt x="360" y="3"/>
                </a:lnTo>
                <a:lnTo>
                  <a:pt x="377" y="0"/>
                </a:lnTo>
                <a:lnTo>
                  <a:pt x="393" y="0"/>
                </a:lnTo>
                <a:lnTo>
                  <a:pt x="393" y="48"/>
                </a:lnTo>
                <a:lnTo>
                  <a:pt x="377" y="49"/>
                </a:lnTo>
                <a:lnTo>
                  <a:pt x="360" y="51"/>
                </a:lnTo>
                <a:lnTo>
                  <a:pt x="344" y="55"/>
                </a:lnTo>
                <a:lnTo>
                  <a:pt x="327" y="60"/>
                </a:lnTo>
                <a:lnTo>
                  <a:pt x="311" y="67"/>
                </a:lnTo>
                <a:lnTo>
                  <a:pt x="295" y="74"/>
                </a:lnTo>
                <a:lnTo>
                  <a:pt x="278" y="82"/>
                </a:lnTo>
                <a:lnTo>
                  <a:pt x="262" y="91"/>
                </a:lnTo>
                <a:lnTo>
                  <a:pt x="246" y="100"/>
                </a:lnTo>
                <a:lnTo>
                  <a:pt x="229" y="110"/>
                </a:lnTo>
                <a:lnTo>
                  <a:pt x="213" y="120"/>
                </a:lnTo>
                <a:lnTo>
                  <a:pt x="196" y="130"/>
                </a:lnTo>
                <a:lnTo>
                  <a:pt x="180" y="141"/>
                </a:lnTo>
                <a:lnTo>
                  <a:pt x="164" y="151"/>
                </a:lnTo>
                <a:lnTo>
                  <a:pt x="147" y="161"/>
                </a:lnTo>
                <a:lnTo>
                  <a:pt x="131" y="170"/>
                </a:lnTo>
                <a:lnTo>
                  <a:pt x="114" y="179"/>
                </a:lnTo>
                <a:lnTo>
                  <a:pt x="98" y="187"/>
                </a:lnTo>
                <a:lnTo>
                  <a:pt x="82" y="194"/>
                </a:lnTo>
                <a:lnTo>
                  <a:pt x="65" y="201"/>
                </a:lnTo>
                <a:lnTo>
                  <a:pt x="49" y="206"/>
                </a:lnTo>
                <a:lnTo>
                  <a:pt x="33" y="209"/>
                </a:lnTo>
                <a:lnTo>
                  <a:pt x="16" y="212"/>
                </a:lnTo>
                <a:lnTo>
                  <a:pt x="0" y="213"/>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4943475"/>
            <a:ext cx="3743325" cy="571500"/>
          </a:xfrm>
          <a:custGeom>
            <a:avLst/>
            <a:gdLst/>
            <a:ahLst/>
            <a:cxnLst/>
            <a:rect l="l" t="t" r="r" b="b"/>
            <a:pathLst>
              <a:path w="393" h="60">
                <a:moveTo>
                  <a:pt x="0" y="40"/>
                </a:moveTo>
                <a:lnTo>
                  <a:pt x="16" y="40"/>
                </a:lnTo>
                <a:lnTo>
                  <a:pt x="33" y="39"/>
                </a:lnTo>
                <a:lnTo>
                  <a:pt x="49" y="38"/>
                </a:lnTo>
                <a:lnTo>
                  <a:pt x="65" y="37"/>
                </a:lnTo>
                <a:lnTo>
                  <a:pt x="82" y="35"/>
                </a:lnTo>
                <a:lnTo>
                  <a:pt x="98" y="33"/>
                </a:lnTo>
                <a:lnTo>
                  <a:pt x="114" y="32"/>
                </a:lnTo>
                <a:lnTo>
                  <a:pt x="131" y="29"/>
                </a:lnTo>
                <a:lnTo>
                  <a:pt x="147" y="27"/>
                </a:lnTo>
                <a:lnTo>
                  <a:pt x="164" y="25"/>
                </a:lnTo>
                <a:lnTo>
                  <a:pt x="180" y="22"/>
                </a:lnTo>
                <a:lnTo>
                  <a:pt x="196" y="20"/>
                </a:lnTo>
                <a:lnTo>
                  <a:pt x="213" y="17"/>
                </a:lnTo>
                <a:lnTo>
                  <a:pt x="229" y="15"/>
                </a:lnTo>
                <a:lnTo>
                  <a:pt x="246" y="12"/>
                </a:lnTo>
                <a:lnTo>
                  <a:pt x="262" y="10"/>
                </a:lnTo>
                <a:lnTo>
                  <a:pt x="278" y="8"/>
                </a:lnTo>
                <a:lnTo>
                  <a:pt x="295" y="6"/>
                </a:lnTo>
                <a:lnTo>
                  <a:pt x="311" y="4"/>
                </a:lnTo>
                <a:lnTo>
                  <a:pt x="327" y="3"/>
                </a:lnTo>
                <a:lnTo>
                  <a:pt x="344" y="2"/>
                </a:lnTo>
                <a:lnTo>
                  <a:pt x="360" y="1"/>
                </a:lnTo>
                <a:lnTo>
                  <a:pt x="377" y="0"/>
                </a:lnTo>
                <a:lnTo>
                  <a:pt x="393" y="0"/>
                </a:lnTo>
                <a:lnTo>
                  <a:pt x="393" y="20"/>
                </a:lnTo>
                <a:lnTo>
                  <a:pt x="377" y="20"/>
                </a:lnTo>
                <a:lnTo>
                  <a:pt x="360" y="21"/>
                </a:lnTo>
                <a:lnTo>
                  <a:pt x="344" y="22"/>
                </a:lnTo>
                <a:lnTo>
                  <a:pt x="327" y="23"/>
                </a:lnTo>
                <a:lnTo>
                  <a:pt x="311" y="25"/>
                </a:lnTo>
                <a:lnTo>
                  <a:pt x="295" y="26"/>
                </a:lnTo>
                <a:lnTo>
                  <a:pt x="278" y="28"/>
                </a:lnTo>
                <a:lnTo>
                  <a:pt x="262" y="30"/>
                </a:lnTo>
                <a:lnTo>
                  <a:pt x="246" y="33"/>
                </a:lnTo>
                <a:lnTo>
                  <a:pt x="229" y="35"/>
                </a:lnTo>
                <a:lnTo>
                  <a:pt x="213" y="38"/>
                </a:lnTo>
                <a:lnTo>
                  <a:pt x="196" y="40"/>
                </a:lnTo>
                <a:lnTo>
                  <a:pt x="180" y="42"/>
                </a:lnTo>
                <a:lnTo>
                  <a:pt x="164" y="45"/>
                </a:lnTo>
                <a:lnTo>
                  <a:pt x="147" y="47"/>
                </a:lnTo>
                <a:lnTo>
                  <a:pt x="131" y="50"/>
                </a:lnTo>
                <a:lnTo>
                  <a:pt x="114" y="52"/>
                </a:lnTo>
                <a:lnTo>
                  <a:pt x="98" y="54"/>
                </a:lnTo>
                <a:lnTo>
                  <a:pt x="82" y="55"/>
                </a:lnTo>
                <a:lnTo>
                  <a:pt x="65" y="57"/>
                </a:lnTo>
                <a:lnTo>
                  <a:pt x="49" y="58"/>
                </a:lnTo>
                <a:lnTo>
                  <a:pt x="33" y="59"/>
                </a:lnTo>
                <a:lnTo>
                  <a:pt x="16" y="60"/>
                </a:lnTo>
                <a:lnTo>
                  <a:pt x="0" y="60"/>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5514975"/>
            <a:ext cx="3743325" cy="295275"/>
          </a:xfrm>
          <a:custGeom>
            <a:avLst/>
            <a:gdLst/>
            <a:ahLst/>
            <a:cxnLst/>
            <a:rect l="l" t="t" r="r" b="b"/>
            <a:pathLst>
              <a:path w="393" h="31">
                <a:moveTo>
                  <a:pt x="0" y="0"/>
                </a:moveTo>
                <a:lnTo>
                  <a:pt x="16" y="0"/>
                </a:lnTo>
                <a:lnTo>
                  <a:pt x="33" y="0"/>
                </a:lnTo>
                <a:lnTo>
                  <a:pt x="49" y="1"/>
                </a:lnTo>
                <a:lnTo>
                  <a:pt x="65" y="1"/>
                </a:lnTo>
                <a:lnTo>
                  <a:pt x="82" y="2"/>
                </a:lnTo>
                <a:lnTo>
                  <a:pt x="98" y="3"/>
                </a:lnTo>
                <a:lnTo>
                  <a:pt x="114" y="4"/>
                </a:lnTo>
                <a:lnTo>
                  <a:pt x="131" y="5"/>
                </a:lnTo>
                <a:lnTo>
                  <a:pt x="147" y="7"/>
                </a:lnTo>
                <a:lnTo>
                  <a:pt x="164" y="8"/>
                </a:lnTo>
                <a:lnTo>
                  <a:pt x="180" y="9"/>
                </a:lnTo>
                <a:lnTo>
                  <a:pt x="196" y="10"/>
                </a:lnTo>
                <a:lnTo>
                  <a:pt x="213" y="12"/>
                </a:lnTo>
                <a:lnTo>
                  <a:pt x="229" y="13"/>
                </a:lnTo>
                <a:lnTo>
                  <a:pt x="246" y="14"/>
                </a:lnTo>
                <a:lnTo>
                  <a:pt x="262" y="15"/>
                </a:lnTo>
                <a:lnTo>
                  <a:pt x="278" y="17"/>
                </a:lnTo>
                <a:lnTo>
                  <a:pt x="295" y="18"/>
                </a:lnTo>
                <a:lnTo>
                  <a:pt x="311" y="19"/>
                </a:lnTo>
                <a:lnTo>
                  <a:pt x="327" y="19"/>
                </a:lnTo>
                <a:lnTo>
                  <a:pt x="344" y="20"/>
                </a:lnTo>
                <a:lnTo>
                  <a:pt x="360" y="20"/>
                </a:lnTo>
                <a:lnTo>
                  <a:pt x="377" y="21"/>
                </a:lnTo>
                <a:lnTo>
                  <a:pt x="393" y="21"/>
                </a:lnTo>
                <a:lnTo>
                  <a:pt x="393" y="31"/>
                </a:lnTo>
                <a:lnTo>
                  <a:pt x="377" y="31"/>
                </a:lnTo>
                <a:lnTo>
                  <a:pt x="360" y="31"/>
                </a:lnTo>
                <a:lnTo>
                  <a:pt x="344" y="30"/>
                </a:lnTo>
                <a:lnTo>
                  <a:pt x="327" y="30"/>
                </a:lnTo>
                <a:lnTo>
                  <a:pt x="311" y="29"/>
                </a:lnTo>
                <a:lnTo>
                  <a:pt x="295" y="28"/>
                </a:lnTo>
                <a:lnTo>
                  <a:pt x="278" y="27"/>
                </a:lnTo>
                <a:lnTo>
                  <a:pt x="262" y="26"/>
                </a:lnTo>
                <a:lnTo>
                  <a:pt x="246" y="25"/>
                </a:lnTo>
                <a:lnTo>
                  <a:pt x="229" y="23"/>
                </a:lnTo>
                <a:lnTo>
                  <a:pt x="213" y="22"/>
                </a:lnTo>
                <a:lnTo>
                  <a:pt x="196" y="21"/>
                </a:lnTo>
                <a:lnTo>
                  <a:pt x="180" y="19"/>
                </a:lnTo>
                <a:lnTo>
                  <a:pt x="164" y="18"/>
                </a:lnTo>
                <a:lnTo>
                  <a:pt x="147" y="17"/>
                </a:lnTo>
                <a:lnTo>
                  <a:pt x="131" y="16"/>
                </a:lnTo>
                <a:lnTo>
                  <a:pt x="114" y="15"/>
                </a:lnTo>
                <a:lnTo>
                  <a:pt x="98" y="14"/>
                </a:lnTo>
                <a:lnTo>
                  <a:pt x="82" y="13"/>
                </a:lnTo>
                <a:lnTo>
                  <a:pt x="65" y="12"/>
                </a:lnTo>
                <a:lnTo>
                  <a:pt x="49" y="11"/>
                </a:lnTo>
                <a:lnTo>
                  <a:pt x="33" y="11"/>
                </a:lnTo>
                <a:lnTo>
                  <a:pt x="16" y="10"/>
                </a:lnTo>
                <a:lnTo>
                  <a:pt x="0" y="10"/>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5610225"/>
            <a:ext cx="3743325" cy="790575"/>
          </a:xfrm>
          <a:custGeom>
            <a:avLst/>
            <a:gdLst/>
            <a:ahLst/>
            <a:cxnLst/>
            <a:rect l="l" t="t" r="r" b="b"/>
            <a:pathLst>
              <a:path w="393" h="83">
                <a:moveTo>
                  <a:pt x="0" y="0"/>
                </a:moveTo>
                <a:lnTo>
                  <a:pt x="16" y="1"/>
                </a:lnTo>
                <a:lnTo>
                  <a:pt x="33" y="2"/>
                </a:lnTo>
                <a:lnTo>
                  <a:pt x="49" y="3"/>
                </a:lnTo>
                <a:lnTo>
                  <a:pt x="65" y="6"/>
                </a:lnTo>
                <a:lnTo>
                  <a:pt x="82" y="9"/>
                </a:lnTo>
                <a:lnTo>
                  <a:pt x="98" y="12"/>
                </a:lnTo>
                <a:lnTo>
                  <a:pt x="114" y="15"/>
                </a:lnTo>
                <a:lnTo>
                  <a:pt x="131" y="19"/>
                </a:lnTo>
                <a:lnTo>
                  <a:pt x="147" y="24"/>
                </a:lnTo>
                <a:lnTo>
                  <a:pt x="164" y="28"/>
                </a:lnTo>
                <a:lnTo>
                  <a:pt x="180" y="33"/>
                </a:lnTo>
                <a:lnTo>
                  <a:pt x="196" y="37"/>
                </a:lnTo>
                <a:lnTo>
                  <a:pt x="213" y="42"/>
                </a:lnTo>
                <a:lnTo>
                  <a:pt x="229" y="46"/>
                </a:lnTo>
                <a:lnTo>
                  <a:pt x="246" y="51"/>
                </a:lnTo>
                <a:lnTo>
                  <a:pt x="262" y="55"/>
                </a:lnTo>
                <a:lnTo>
                  <a:pt x="278" y="59"/>
                </a:lnTo>
                <a:lnTo>
                  <a:pt x="295" y="63"/>
                </a:lnTo>
                <a:lnTo>
                  <a:pt x="311" y="66"/>
                </a:lnTo>
                <a:lnTo>
                  <a:pt x="327" y="69"/>
                </a:lnTo>
                <a:lnTo>
                  <a:pt x="344" y="71"/>
                </a:lnTo>
                <a:lnTo>
                  <a:pt x="360" y="73"/>
                </a:lnTo>
                <a:lnTo>
                  <a:pt x="377" y="74"/>
                </a:lnTo>
                <a:lnTo>
                  <a:pt x="393" y="74"/>
                </a:lnTo>
                <a:lnTo>
                  <a:pt x="393" y="83"/>
                </a:lnTo>
                <a:lnTo>
                  <a:pt x="377" y="83"/>
                </a:lnTo>
                <a:lnTo>
                  <a:pt x="360" y="82"/>
                </a:lnTo>
                <a:lnTo>
                  <a:pt x="344" y="80"/>
                </a:lnTo>
                <a:lnTo>
                  <a:pt x="327" y="78"/>
                </a:lnTo>
                <a:lnTo>
                  <a:pt x="311" y="75"/>
                </a:lnTo>
                <a:lnTo>
                  <a:pt x="295" y="72"/>
                </a:lnTo>
                <a:lnTo>
                  <a:pt x="278" y="68"/>
                </a:lnTo>
                <a:lnTo>
                  <a:pt x="262" y="64"/>
                </a:lnTo>
                <a:lnTo>
                  <a:pt x="246" y="60"/>
                </a:lnTo>
                <a:lnTo>
                  <a:pt x="229" y="55"/>
                </a:lnTo>
                <a:lnTo>
                  <a:pt x="213" y="51"/>
                </a:lnTo>
                <a:lnTo>
                  <a:pt x="196" y="46"/>
                </a:lnTo>
                <a:lnTo>
                  <a:pt x="180" y="42"/>
                </a:lnTo>
                <a:lnTo>
                  <a:pt x="164" y="37"/>
                </a:lnTo>
                <a:lnTo>
                  <a:pt x="147" y="33"/>
                </a:lnTo>
                <a:lnTo>
                  <a:pt x="131" y="29"/>
                </a:lnTo>
                <a:lnTo>
                  <a:pt x="114" y="25"/>
                </a:lnTo>
                <a:lnTo>
                  <a:pt x="98" y="21"/>
                </a:lnTo>
                <a:lnTo>
                  <a:pt x="82" y="18"/>
                </a:lnTo>
                <a:lnTo>
                  <a:pt x="65" y="15"/>
                </a:lnTo>
                <a:lnTo>
                  <a:pt x="49" y="13"/>
                </a:lnTo>
                <a:lnTo>
                  <a:pt x="33" y="11"/>
                </a:lnTo>
                <a:lnTo>
                  <a:pt x="16" y="10"/>
                </a:lnTo>
                <a:lnTo>
                  <a:pt x="0" y="9"/>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3752850"/>
            <a:ext cx="3743325" cy="2209800"/>
          </a:xfrm>
          <a:custGeom>
            <a:avLst/>
            <a:gdLst/>
            <a:ahLst/>
            <a:cxnLst/>
            <a:rect l="l" t="t" r="r" b="b"/>
            <a:pathLst>
              <a:path w="393" h="232">
                <a:moveTo>
                  <a:pt x="0" y="210"/>
                </a:moveTo>
                <a:lnTo>
                  <a:pt x="16" y="209"/>
                </a:lnTo>
                <a:lnTo>
                  <a:pt x="33" y="206"/>
                </a:lnTo>
                <a:lnTo>
                  <a:pt x="49" y="201"/>
                </a:lnTo>
                <a:lnTo>
                  <a:pt x="65" y="195"/>
                </a:lnTo>
                <a:lnTo>
                  <a:pt x="82" y="187"/>
                </a:lnTo>
                <a:lnTo>
                  <a:pt x="98" y="178"/>
                </a:lnTo>
                <a:lnTo>
                  <a:pt x="114" y="167"/>
                </a:lnTo>
                <a:lnTo>
                  <a:pt x="131" y="156"/>
                </a:lnTo>
                <a:lnTo>
                  <a:pt x="147" y="144"/>
                </a:lnTo>
                <a:lnTo>
                  <a:pt x="164" y="131"/>
                </a:lnTo>
                <a:lnTo>
                  <a:pt x="180" y="118"/>
                </a:lnTo>
                <a:lnTo>
                  <a:pt x="196" y="105"/>
                </a:lnTo>
                <a:lnTo>
                  <a:pt x="213" y="92"/>
                </a:lnTo>
                <a:lnTo>
                  <a:pt x="229" y="79"/>
                </a:lnTo>
                <a:lnTo>
                  <a:pt x="246" y="67"/>
                </a:lnTo>
                <a:lnTo>
                  <a:pt x="262" y="55"/>
                </a:lnTo>
                <a:lnTo>
                  <a:pt x="278" y="43"/>
                </a:lnTo>
                <a:lnTo>
                  <a:pt x="295" y="33"/>
                </a:lnTo>
                <a:lnTo>
                  <a:pt x="311" y="24"/>
                </a:lnTo>
                <a:lnTo>
                  <a:pt x="327" y="16"/>
                </a:lnTo>
                <a:lnTo>
                  <a:pt x="344" y="9"/>
                </a:lnTo>
                <a:lnTo>
                  <a:pt x="360" y="4"/>
                </a:lnTo>
                <a:lnTo>
                  <a:pt x="377" y="1"/>
                </a:lnTo>
                <a:lnTo>
                  <a:pt x="393" y="0"/>
                </a:lnTo>
                <a:lnTo>
                  <a:pt x="393" y="21"/>
                </a:lnTo>
                <a:lnTo>
                  <a:pt x="377" y="23"/>
                </a:lnTo>
                <a:lnTo>
                  <a:pt x="360" y="26"/>
                </a:lnTo>
                <a:lnTo>
                  <a:pt x="344" y="31"/>
                </a:lnTo>
                <a:lnTo>
                  <a:pt x="327" y="37"/>
                </a:lnTo>
                <a:lnTo>
                  <a:pt x="311" y="45"/>
                </a:lnTo>
                <a:lnTo>
                  <a:pt x="295" y="54"/>
                </a:lnTo>
                <a:lnTo>
                  <a:pt x="278" y="65"/>
                </a:lnTo>
                <a:lnTo>
                  <a:pt x="262" y="76"/>
                </a:lnTo>
                <a:lnTo>
                  <a:pt x="246" y="88"/>
                </a:lnTo>
                <a:lnTo>
                  <a:pt x="229" y="101"/>
                </a:lnTo>
                <a:lnTo>
                  <a:pt x="213" y="113"/>
                </a:lnTo>
                <a:lnTo>
                  <a:pt x="196" y="127"/>
                </a:lnTo>
                <a:lnTo>
                  <a:pt x="180" y="140"/>
                </a:lnTo>
                <a:lnTo>
                  <a:pt x="164" y="153"/>
                </a:lnTo>
                <a:lnTo>
                  <a:pt x="147" y="165"/>
                </a:lnTo>
                <a:lnTo>
                  <a:pt x="131" y="177"/>
                </a:lnTo>
                <a:lnTo>
                  <a:pt x="114" y="188"/>
                </a:lnTo>
                <a:lnTo>
                  <a:pt x="98" y="199"/>
                </a:lnTo>
                <a:lnTo>
                  <a:pt x="82" y="208"/>
                </a:lnTo>
                <a:lnTo>
                  <a:pt x="65" y="216"/>
                </a:lnTo>
                <a:lnTo>
                  <a:pt x="49" y="223"/>
                </a:lnTo>
                <a:lnTo>
                  <a:pt x="33" y="227"/>
                </a:lnTo>
                <a:lnTo>
                  <a:pt x="16" y="231"/>
                </a:lnTo>
                <a:lnTo>
                  <a:pt x="0" y="232"/>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5133975"/>
            <a:ext cx="3743325" cy="914400"/>
          </a:xfrm>
          <a:custGeom>
            <a:avLst/>
            <a:gdLst/>
            <a:ahLst/>
            <a:cxnLst/>
            <a:rect l="l" t="t" r="r" b="b"/>
            <a:pathLst>
              <a:path w="393" h="96">
                <a:moveTo>
                  <a:pt x="0" y="87"/>
                </a:moveTo>
                <a:lnTo>
                  <a:pt x="16" y="86"/>
                </a:lnTo>
                <a:lnTo>
                  <a:pt x="33" y="85"/>
                </a:lnTo>
                <a:lnTo>
                  <a:pt x="49" y="83"/>
                </a:lnTo>
                <a:lnTo>
                  <a:pt x="65" y="80"/>
                </a:lnTo>
                <a:lnTo>
                  <a:pt x="82" y="77"/>
                </a:lnTo>
                <a:lnTo>
                  <a:pt x="98" y="73"/>
                </a:lnTo>
                <a:lnTo>
                  <a:pt x="114" y="69"/>
                </a:lnTo>
                <a:lnTo>
                  <a:pt x="131" y="64"/>
                </a:lnTo>
                <a:lnTo>
                  <a:pt x="147" y="59"/>
                </a:lnTo>
                <a:lnTo>
                  <a:pt x="164" y="54"/>
                </a:lnTo>
                <a:lnTo>
                  <a:pt x="180" y="49"/>
                </a:lnTo>
                <a:lnTo>
                  <a:pt x="196" y="43"/>
                </a:lnTo>
                <a:lnTo>
                  <a:pt x="213" y="38"/>
                </a:lnTo>
                <a:lnTo>
                  <a:pt x="229" y="33"/>
                </a:lnTo>
                <a:lnTo>
                  <a:pt x="246" y="27"/>
                </a:lnTo>
                <a:lnTo>
                  <a:pt x="262" y="23"/>
                </a:lnTo>
                <a:lnTo>
                  <a:pt x="278" y="18"/>
                </a:lnTo>
                <a:lnTo>
                  <a:pt x="295" y="14"/>
                </a:lnTo>
                <a:lnTo>
                  <a:pt x="311" y="10"/>
                </a:lnTo>
                <a:lnTo>
                  <a:pt x="327" y="7"/>
                </a:lnTo>
                <a:lnTo>
                  <a:pt x="344" y="4"/>
                </a:lnTo>
                <a:lnTo>
                  <a:pt x="360" y="2"/>
                </a:lnTo>
                <a:lnTo>
                  <a:pt x="377" y="1"/>
                </a:lnTo>
                <a:lnTo>
                  <a:pt x="393" y="0"/>
                </a:lnTo>
                <a:lnTo>
                  <a:pt x="393" y="10"/>
                </a:lnTo>
                <a:lnTo>
                  <a:pt x="377" y="10"/>
                </a:lnTo>
                <a:lnTo>
                  <a:pt x="360" y="11"/>
                </a:lnTo>
                <a:lnTo>
                  <a:pt x="344" y="13"/>
                </a:lnTo>
                <a:lnTo>
                  <a:pt x="327" y="16"/>
                </a:lnTo>
                <a:lnTo>
                  <a:pt x="311" y="19"/>
                </a:lnTo>
                <a:lnTo>
                  <a:pt x="295" y="23"/>
                </a:lnTo>
                <a:lnTo>
                  <a:pt x="278" y="27"/>
                </a:lnTo>
                <a:lnTo>
                  <a:pt x="262" y="32"/>
                </a:lnTo>
                <a:lnTo>
                  <a:pt x="246" y="37"/>
                </a:lnTo>
                <a:lnTo>
                  <a:pt x="229" y="42"/>
                </a:lnTo>
                <a:lnTo>
                  <a:pt x="213" y="48"/>
                </a:lnTo>
                <a:lnTo>
                  <a:pt x="196" y="53"/>
                </a:lnTo>
                <a:lnTo>
                  <a:pt x="180" y="58"/>
                </a:lnTo>
                <a:lnTo>
                  <a:pt x="164" y="64"/>
                </a:lnTo>
                <a:lnTo>
                  <a:pt x="147" y="69"/>
                </a:lnTo>
                <a:lnTo>
                  <a:pt x="131" y="74"/>
                </a:lnTo>
                <a:lnTo>
                  <a:pt x="114" y="78"/>
                </a:lnTo>
                <a:lnTo>
                  <a:pt x="98" y="83"/>
                </a:lnTo>
                <a:lnTo>
                  <a:pt x="82" y="86"/>
                </a:lnTo>
                <a:lnTo>
                  <a:pt x="65" y="90"/>
                </a:lnTo>
                <a:lnTo>
                  <a:pt x="49" y="92"/>
                </a:lnTo>
                <a:lnTo>
                  <a:pt x="33" y="94"/>
                </a:lnTo>
                <a:lnTo>
                  <a:pt x="16" y="96"/>
                </a:lnTo>
                <a:lnTo>
                  <a:pt x="0" y="96"/>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5810250"/>
            <a:ext cx="3743325" cy="285750"/>
          </a:xfrm>
          <a:custGeom>
            <a:avLst/>
            <a:gdLst/>
            <a:ahLst/>
            <a:cxnLst/>
            <a:rect l="l" t="t" r="r" b="b"/>
            <a:pathLst>
              <a:path w="393" h="30">
                <a:moveTo>
                  <a:pt x="0" y="25"/>
                </a:moveTo>
                <a:lnTo>
                  <a:pt x="16" y="25"/>
                </a:lnTo>
                <a:lnTo>
                  <a:pt x="33" y="25"/>
                </a:lnTo>
                <a:lnTo>
                  <a:pt x="49" y="24"/>
                </a:lnTo>
                <a:lnTo>
                  <a:pt x="65" y="23"/>
                </a:lnTo>
                <a:lnTo>
                  <a:pt x="82" y="22"/>
                </a:lnTo>
                <a:lnTo>
                  <a:pt x="98" y="21"/>
                </a:lnTo>
                <a:lnTo>
                  <a:pt x="114" y="20"/>
                </a:lnTo>
                <a:lnTo>
                  <a:pt x="131" y="19"/>
                </a:lnTo>
                <a:lnTo>
                  <a:pt x="147" y="17"/>
                </a:lnTo>
                <a:lnTo>
                  <a:pt x="164" y="16"/>
                </a:lnTo>
                <a:lnTo>
                  <a:pt x="180" y="14"/>
                </a:lnTo>
                <a:lnTo>
                  <a:pt x="196" y="13"/>
                </a:lnTo>
                <a:lnTo>
                  <a:pt x="213" y="11"/>
                </a:lnTo>
                <a:lnTo>
                  <a:pt x="229" y="10"/>
                </a:lnTo>
                <a:lnTo>
                  <a:pt x="246" y="8"/>
                </a:lnTo>
                <a:lnTo>
                  <a:pt x="262" y="7"/>
                </a:lnTo>
                <a:lnTo>
                  <a:pt x="278" y="5"/>
                </a:lnTo>
                <a:lnTo>
                  <a:pt x="295" y="4"/>
                </a:lnTo>
                <a:lnTo>
                  <a:pt x="311" y="3"/>
                </a:lnTo>
                <a:lnTo>
                  <a:pt x="327" y="2"/>
                </a:lnTo>
                <a:lnTo>
                  <a:pt x="344" y="1"/>
                </a:lnTo>
                <a:lnTo>
                  <a:pt x="360" y="1"/>
                </a:lnTo>
                <a:lnTo>
                  <a:pt x="377" y="0"/>
                </a:lnTo>
                <a:lnTo>
                  <a:pt x="393" y="0"/>
                </a:lnTo>
                <a:lnTo>
                  <a:pt x="393" y="5"/>
                </a:lnTo>
                <a:lnTo>
                  <a:pt x="377" y="5"/>
                </a:lnTo>
                <a:lnTo>
                  <a:pt x="360" y="5"/>
                </a:lnTo>
                <a:lnTo>
                  <a:pt x="344" y="6"/>
                </a:lnTo>
                <a:lnTo>
                  <a:pt x="327" y="7"/>
                </a:lnTo>
                <a:lnTo>
                  <a:pt x="311" y="8"/>
                </a:lnTo>
                <a:lnTo>
                  <a:pt x="295" y="9"/>
                </a:lnTo>
                <a:lnTo>
                  <a:pt x="278" y="10"/>
                </a:lnTo>
                <a:lnTo>
                  <a:pt x="262" y="11"/>
                </a:lnTo>
                <a:lnTo>
                  <a:pt x="246" y="13"/>
                </a:lnTo>
                <a:lnTo>
                  <a:pt x="229" y="14"/>
                </a:lnTo>
                <a:lnTo>
                  <a:pt x="213" y="16"/>
                </a:lnTo>
                <a:lnTo>
                  <a:pt x="196" y="17"/>
                </a:lnTo>
                <a:lnTo>
                  <a:pt x="180" y="19"/>
                </a:lnTo>
                <a:lnTo>
                  <a:pt x="164" y="20"/>
                </a:lnTo>
                <a:lnTo>
                  <a:pt x="147" y="22"/>
                </a:lnTo>
                <a:lnTo>
                  <a:pt x="131" y="23"/>
                </a:lnTo>
                <a:lnTo>
                  <a:pt x="114" y="25"/>
                </a:lnTo>
                <a:lnTo>
                  <a:pt x="98" y="26"/>
                </a:lnTo>
                <a:lnTo>
                  <a:pt x="82" y="27"/>
                </a:lnTo>
                <a:lnTo>
                  <a:pt x="65" y="28"/>
                </a:lnTo>
                <a:lnTo>
                  <a:pt x="49" y="29"/>
                </a:lnTo>
                <a:lnTo>
                  <a:pt x="33" y="29"/>
                </a:lnTo>
                <a:lnTo>
                  <a:pt x="16" y="30"/>
                </a:lnTo>
                <a:lnTo>
                  <a:pt x="0" y="30"/>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6096000"/>
            <a:ext cx="3743325" cy="342900"/>
          </a:xfrm>
          <a:custGeom>
            <a:avLst/>
            <a:gdLst/>
            <a:ahLst/>
            <a:cxnLst/>
            <a:rect l="l" t="t" r="r" b="b"/>
            <a:pathLst>
              <a:path w="393" h="36">
                <a:moveTo>
                  <a:pt x="0" y="0"/>
                </a:moveTo>
                <a:lnTo>
                  <a:pt x="16" y="0"/>
                </a:lnTo>
                <a:lnTo>
                  <a:pt x="33" y="0"/>
                </a:lnTo>
                <a:lnTo>
                  <a:pt x="49" y="1"/>
                </a:lnTo>
                <a:lnTo>
                  <a:pt x="65" y="2"/>
                </a:lnTo>
                <a:lnTo>
                  <a:pt x="82" y="3"/>
                </a:lnTo>
                <a:lnTo>
                  <a:pt x="98" y="5"/>
                </a:lnTo>
                <a:lnTo>
                  <a:pt x="114" y="6"/>
                </a:lnTo>
                <a:lnTo>
                  <a:pt x="131" y="8"/>
                </a:lnTo>
                <a:lnTo>
                  <a:pt x="147" y="10"/>
                </a:lnTo>
                <a:lnTo>
                  <a:pt x="164" y="12"/>
                </a:lnTo>
                <a:lnTo>
                  <a:pt x="180" y="14"/>
                </a:lnTo>
                <a:lnTo>
                  <a:pt x="196" y="16"/>
                </a:lnTo>
                <a:lnTo>
                  <a:pt x="213" y="18"/>
                </a:lnTo>
                <a:lnTo>
                  <a:pt x="229" y="20"/>
                </a:lnTo>
                <a:lnTo>
                  <a:pt x="246" y="22"/>
                </a:lnTo>
                <a:lnTo>
                  <a:pt x="262" y="24"/>
                </a:lnTo>
                <a:lnTo>
                  <a:pt x="278" y="26"/>
                </a:lnTo>
                <a:lnTo>
                  <a:pt x="295" y="27"/>
                </a:lnTo>
                <a:lnTo>
                  <a:pt x="311" y="29"/>
                </a:lnTo>
                <a:lnTo>
                  <a:pt x="327" y="30"/>
                </a:lnTo>
                <a:lnTo>
                  <a:pt x="344" y="31"/>
                </a:lnTo>
                <a:lnTo>
                  <a:pt x="360" y="32"/>
                </a:lnTo>
                <a:lnTo>
                  <a:pt x="377" y="32"/>
                </a:lnTo>
                <a:lnTo>
                  <a:pt x="393" y="32"/>
                </a:lnTo>
                <a:lnTo>
                  <a:pt x="393" y="36"/>
                </a:lnTo>
                <a:lnTo>
                  <a:pt x="377" y="36"/>
                </a:lnTo>
                <a:lnTo>
                  <a:pt x="360" y="36"/>
                </a:lnTo>
                <a:lnTo>
                  <a:pt x="344" y="35"/>
                </a:lnTo>
                <a:lnTo>
                  <a:pt x="327" y="34"/>
                </a:lnTo>
                <a:lnTo>
                  <a:pt x="311" y="33"/>
                </a:lnTo>
                <a:lnTo>
                  <a:pt x="295" y="31"/>
                </a:lnTo>
                <a:lnTo>
                  <a:pt x="278" y="30"/>
                </a:lnTo>
                <a:lnTo>
                  <a:pt x="262" y="28"/>
                </a:lnTo>
                <a:lnTo>
                  <a:pt x="246" y="26"/>
                </a:lnTo>
                <a:lnTo>
                  <a:pt x="229" y="24"/>
                </a:lnTo>
                <a:lnTo>
                  <a:pt x="213" y="22"/>
                </a:lnTo>
                <a:lnTo>
                  <a:pt x="196" y="20"/>
                </a:lnTo>
                <a:lnTo>
                  <a:pt x="180" y="18"/>
                </a:lnTo>
                <a:lnTo>
                  <a:pt x="164" y="16"/>
                </a:lnTo>
                <a:lnTo>
                  <a:pt x="147" y="14"/>
                </a:lnTo>
                <a:lnTo>
                  <a:pt x="131" y="12"/>
                </a:lnTo>
                <a:lnTo>
                  <a:pt x="114" y="10"/>
                </a:lnTo>
                <a:lnTo>
                  <a:pt x="98" y="9"/>
                </a:lnTo>
                <a:lnTo>
                  <a:pt x="82" y="7"/>
                </a:lnTo>
                <a:lnTo>
                  <a:pt x="65" y="6"/>
                </a:lnTo>
                <a:lnTo>
                  <a:pt x="49" y="5"/>
                </a:lnTo>
                <a:lnTo>
                  <a:pt x="33" y="4"/>
                </a:lnTo>
                <a:lnTo>
                  <a:pt x="16" y="4"/>
                </a:lnTo>
                <a:lnTo>
                  <a:pt x="0" y="4"/>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057400" y="3952875"/>
            <a:ext cx="3743325" cy="2419350"/>
          </a:xfrm>
          <a:custGeom>
            <a:avLst/>
            <a:gdLst/>
            <a:ahLst/>
            <a:cxnLst/>
            <a:rect l="l" t="t" r="r" b="b"/>
            <a:pathLst>
              <a:path w="393" h="254">
                <a:moveTo>
                  <a:pt x="0" y="235"/>
                </a:moveTo>
                <a:lnTo>
                  <a:pt x="16" y="234"/>
                </a:lnTo>
                <a:lnTo>
                  <a:pt x="33" y="230"/>
                </a:lnTo>
                <a:lnTo>
                  <a:pt x="49" y="225"/>
                </a:lnTo>
                <a:lnTo>
                  <a:pt x="65" y="217"/>
                </a:lnTo>
                <a:lnTo>
                  <a:pt x="82" y="209"/>
                </a:lnTo>
                <a:lnTo>
                  <a:pt x="98" y="198"/>
                </a:lnTo>
                <a:lnTo>
                  <a:pt x="114" y="187"/>
                </a:lnTo>
                <a:lnTo>
                  <a:pt x="131" y="174"/>
                </a:lnTo>
                <a:lnTo>
                  <a:pt x="147" y="161"/>
                </a:lnTo>
                <a:lnTo>
                  <a:pt x="164" y="147"/>
                </a:lnTo>
                <a:lnTo>
                  <a:pt x="180" y="132"/>
                </a:lnTo>
                <a:lnTo>
                  <a:pt x="196" y="118"/>
                </a:lnTo>
                <a:lnTo>
                  <a:pt x="213" y="103"/>
                </a:lnTo>
                <a:lnTo>
                  <a:pt x="229" y="89"/>
                </a:lnTo>
                <a:lnTo>
                  <a:pt x="246" y="75"/>
                </a:lnTo>
                <a:lnTo>
                  <a:pt x="262" y="61"/>
                </a:lnTo>
                <a:lnTo>
                  <a:pt x="278" y="49"/>
                </a:lnTo>
                <a:lnTo>
                  <a:pt x="295" y="37"/>
                </a:lnTo>
                <a:lnTo>
                  <a:pt x="311" y="27"/>
                </a:lnTo>
                <a:lnTo>
                  <a:pt x="327" y="18"/>
                </a:lnTo>
                <a:lnTo>
                  <a:pt x="344" y="11"/>
                </a:lnTo>
                <a:lnTo>
                  <a:pt x="360" y="5"/>
                </a:lnTo>
                <a:lnTo>
                  <a:pt x="377" y="2"/>
                </a:lnTo>
                <a:lnTo>
                  <a:pt x="393" y="0"/>
                </a:lnTo>
                <a:lnTo>
                  <a:pt x="393" y="20"/>
                </a:lnTo>
                <a:lnTo>
                  <a:pt x="377" y="21"/>
                </a:lnTo>
                <a:lnTo>
                  <a:pt x="360" y="25"/>
                </a:lnTo>
                <a:lnTo>
                  <a:pt x="344" y="30"/>
                </a:lnTo>
                <a:lnTo>
                  <a:pt x="327" y="37"/>
                </a:lnTo>
                <a:lnTo>
                  <a:pt x="311" y="46"/>
                </a:lnTo>
                <a:lnTo>
                  <a:pt x="295" y="57"/>
                </a:lnTo>
                <a:lnTo>
                  <a:pt x="278" y="68"/>
                </a:lnTo>
                <a:lnTo>
                  <a:pt x="262" y="81"/>
                </a:lnTo>
                <a:lnTo>
                  <a:pt x="246" y="94"/>
                </a:lnTo>
                <a:lnTo>
                  <a:pt x="229" y="108"/>
                </a:lnTo>
                <a:lnTo>
                  <a:pt x="213" y="123"/>
                </a:lnTo>
                <a:lnTo>
                  <a:pt x="196" y="137"/>
                </a:lnTo>
                <a:lnTo>
                  <a:pt x="180" y="152"/>
                </a:lnTo>
                <a:lnTo>
                  <a:pt x="164" y="166"/>
                </a:lnTo>
                <a:lnTo>
                  <a:pt x="147" y="180"/>
                </a:lnTo>
                <a:lnTo>
                  <a:pt x="131" y="194"/>
                </a:lnTo>
                <a:lnTo>
                  <a:pt x="114" y="206"/>
                </a:lnTo>
                <a:lnTo>
                  <a:pt x="98" y="218"/>
                </a:lnTo>
                <a:lnTo>
                  <a:pt x="82" y="228"/>
                </a:lnTo>
                <a:lnTo>
                  <a:pt x="65" y="237"/>
                </a:lnTo>
                <a:lnTo>
                  <a:pt x="49" y="244"/>
                </a:lnTo>
                <a:lnTo>
                  <a:pt x="33" y="250"/>
                </a:lnTo>
                <a:lnTo>
                  <a:pt x="16" y="253"/>
                </a:lnTo>
                <a:lnTo>
                  <a:pt x="0" y="254"/>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057400" y="5229225"/>
            <a:ext cx="3743325" cy="1228725"/>
          </a:xfrm>
          <a:custGeom>
            <a:avLst/>
            <a:gdLst/>
            <a:ahLst/>
            <a:cxnLst/>
            <a:rect l="l" t="t" r="r" b="b"/>
            <a:pathLst>
              <a:path w="393" h="129">
                <a:moveTo>
                  <a:pt x="0" y="120"/>
                </a:moveTo>
                <a:lnTo>
                  <a:pt x="16" y="120"/>
                </a:lnTo>
                <a:lnTo>
                  <a:pt x="33" y="118"/>
                </a:lnTo>
                <a:lnTo>
                  <a:pt x="49" y="115"/>
                </a:lnTo>
                <a:lnTo>
                  <a:pt x="65" y="112"/>
                </a:lnTo>
                <a:lnTo>
                  <a:pt x="82" y="107"/>
                </a:lnTo>
                <a:lnTo>
                  <a:pt x="98" y="102"/>
                </a:lnTo>
                <a:lnTo>
                  <a:pt x="114" y="96"/>
                </a:lnTo>
                <a:lnTo>
                  <a:pt x="131" y="89"/>
                </a:lnTo>
                <a:lnTo>
                  <a:pt x="147" y="82"/>
                </a:lnTo>
                <a:lnTo>
                  <a:pt x="164" y="75"/>
                </a:lnTo>
                <a:lnTo>
                  <a:pt x="180" y="68"/>
                </a:lnTo>
                <a:lnTo>
                  <a:pt x="196" y="60"/>
                </a:lnTo>
                <a:lnTo>
                  <a:pt x="213" y="53"/>
                </a:lnTo>
                <a:lnTo>
                  <a:pt x="229" y="45"/>
                </a:lnTo>
                <a:lnTo>
                  <a:pt x="246" y="38"/>
                </a:lnTo>
                <a:lnTo>
                  <a:pt x="262" y="31"/>
                </a:lnTo>
                <a:lnTo>
                  <a:pt x="278" y="25"/>
                </a:lnTo>
                <a:lnTo>
                  <a:pt x="295" y="19"/>
                </a:lnTo>
                <a:lnTo>
                  <a:pt x="311" y="13"/>
                </a:lnTo>
                <a:lnTo>
                  <a:pt x="327" y="9"/>
                </a:lnTo>
                <a:lnTo>
                  <a:pt x="344" y="5"/>
                </a:lnTo>
                <a:lnTo>
                  <a:pt x="360" y="2"/>
                </a:lnTo>
                <a:lnTo>
                  <a:pt x="377" y="0"/>
                </a:lnTo>
                <a:lnTo>
                  <a:pt x="393" y="0"/>
                </a:lnTo>
                <a:lnTo>
                  <a:pt x="393" y="8"/>
                </a:lnTo>
                <a:lnTo>
                  <a:pt x="377" y="9"/>
                </a:lnTo>
                <a:lnTo>
                  <a:pt x="360" y="11"/>
                </a:lnTo>
                <a:lnTo>
                  <a:pt x="344" y="13"/>
                </a:lnTo>
                <a:lnTo>
                  <a:pt x="327" y="17"/>
                </a:lnTo>
                <a:lnTo>
                  <a:pt x="311" y="22"/>
                </a:lnTo>
                <a:lnTo>
                  <a:pt x="295" y="27"/>
                </a:lnTo>
                <a:lnTo>
                  <a:pt x="278" y="33"/>
                </a:lnTo>
                <a:lnTo>
                  <a:pt x="262" y="40"/>
                </a:lnTo>
                <a:lnTo>
                  <a:pt x="246" y="46"/>
                </a:lnTo>
                <a:lnTo>
                  <a:pt x="229" y="54"/>
                </a:lnTo>
                <a:lnTo>
                  <a:pt x="213" y="61"/>
                </a:lnTo>
                <a:lnTo>
                  <a:pt x="196" y="69"/>
                </a:lnTo>
                <a:lnTo>
                  <a:pt x="180" y="76"/>
                </a:lnTo>
                <a:lnTo>
                  <a:pt x="164" y="84"/>
                </a:lnTo>
                <a:lnTo>
                  <a:pt x="147" y="91"/>
                </a:lnTo>
                <a:lnTo>
                  <a:pt x="131" y="98"/>
                </a:lnTo>
                <a:lnTo>
                  <a:pt x="114" y="104"/>
                </a:lnTo>
                <a:lnTo>
                  <a:pt x="98" y="110"/>
                </a:lnTo>
                <a:lnTo>
                  <a:pt x="82" y="115"/>
                </a:lnTo>
                <a:lnTo>
                  <a:pt x="65" y="120"/>
                </a:lnTo>
                <a:lnTo>
                  <a:pt x="49" y="124"/>
                </a:lnTo>
                <a:lnTo>
                  <a:pt x="33" y="127"/>
                </a:lnTo>
                <a:lnTo>
                  <a:pt x="16" y="128"/>
                </a:lnTo>
                <a:lnTo>
                  <a:pt x="0" y="129"/>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2057400" y="5857875"/>
            <a:ext cx="3743325" cy="638175"/>
          </a:xfrm>
          <a:custGeom>
            <a:avLst/>
            <a:gdLst/>
            <a:ahLst/>
            <a:cxnLst/>
            <a:rect l="l" t="t" r="r" b="b"/>
            <a:pathLst>
              <a:path w="393" h="67">
                <a:moveTo>
                  <a:pt x="0" y="63"/>
                </a:moveTo>
                <a:lnTo>
                  <a:pt x="16" y="63"/>
                </a:lnTo>
                <a:lnTo>
                  <a:pt x="33" y="62"/>
                </a:lnTo>
                <a:lnTo>
                  <a:pt x="49" y="60"/>
                </a:lnTo>
                <a:lnTo>
                  <a:pt x="65" y="58"/>
                </a:lnTo>
                <a:lnTo>
                  <a:pt x="82" y="56"/>
                </a:lnTo>
                <a:lnTo>
                  <a:pt x="98" y="53"/>
                </a:lnTo>
                <a:lnTo>
                  <a:pt x="114" y="50"/>
                </a:lnTo>
                <a:lnTo>
                  <a:pt x="131" y="47"/>
                </a:lnTo>
                <a:lnTo>
                  <a:pt x="147" y="43"/>
                </a:lnTo>
                <a:lnTo>
                  <a:pt x="164" y="39"/>
                </a:lnTo>
                <a:lnTo>
                  <a:pt x="180" y="35"/>
                </a:lnTo>
                <a:lnTo>
                  <a:pt x="196" y="31"/>
                </a:lnTo>
                <a:lnTo>
                  <a:pt x="213" y="27"/>
                </a:lnTo>
                <a:lnTo>
                  <a:pt x="229" y="24"/>
                </a:lnTo>
                <a:lnTo>
                  <a:pt x="246" y="20"/>
                </a:lnTo>
                <a:lnTo>
                  <a:pt x="262" y="16"/>
                </a:lnTo>
                <a:lnTo>
                  <a:pt x="278" y="13"/>
                </a:lnTo>
                <a:lnTo>
                  <a:pt x="295" y="10"/>
                </a:lnTo>
                <a:lnTo>
                  <a:pt x="311" y="7"/>
                </a:lnTo>
                <a:lnTo>
                  <a:pt x="327" y="4"/>
                </a:lnTo>
                <a:lnTo>
                  <a:pt x="344" y="2"/>
                </a:lnTo>
                <a:lnTo>
                  <a:pt x="360" y="1"/>
                </a:lnTo>
                <a:lnTo>
                  <a:pt x="377" y="0"/>
                </a:lnTo>
                <a:lnTo>
                  <a:pt x="393" y="0"/>
                </a:lnTo>
                <a:lnTo>
                  <a:pt x="393" y="4"/>
                </a:lnTo>
                <a:lnTo>
                  <a:pt x="377" y="4"/>
                </a:lnTo>
                <a:lnTo>
                  <a:pt x="360" y="5"/>
                </a:lnTo>
                <a:lnTo>
                  <a:pt x="344" y="7"/>
                </a:lnTo>
                <a:lnTo>
                  <a:pt x="327" y="9"/>
                </a:lnTo>
                <a:lnTo>
                  <a:pt x="311" y="11"/>
                </a:lnTo>
                <a:lnTo>
                  <a:pt x="295" y="14"/>
                </a:lnTo>
                <a:lnTo>
                  <a:pt x="278" y="17"/>
                </a:lnTo>
                <a:lnTo>
                  <a:pt x="262" y="20"/>
                </a:lnTo>
                <a:lnTo>
                  <a:pt x="246" y="24"/>
                </a:lnTo>
                <a:lnTo>
                  <a:pt x="229" y="28"/>
                </a:lnTo>
                <a:lnTo>
                  <a:pt x="213" y="32"/>
                </a:lnTo>
                <a:lnTo>
                  <a:pt x="196" y="36"/>
                </a:lnTo>
                <a:lnTo>
                  <a:pt x="180" y="40"/>
                </a:lnTo>
                <a:lnTo>
                  <a:pt x="164" y="44"/>
                </a:lnTo>
                <a:lnTo>
                  <a:pt x="147" y="47"/>
                </a:lnTo>
                <a:lnTo>
                  <a:pt x="131" y="51"/>
                </a:lnTo>
                <a:lnTo>
                  <a:pt x="114" y="54"/>
                </a:lnTo>
                <a:lnTo>
                  <a:pt x="98" y="57"/>
                </a:lnTo>
                <a:lnTo>
                  <a:pt x="82" y="60"/>
                </a:lnTo>
                <a:lnTo>
                  <a:pt x="65" y="63"/>
                </a:lnTo>
                <a:lnTo>
                  <a:pt x="49" y="65"/>
                </a:lnTo>
                <a:lnTo>
                  <a:pt x="33" y="66"/>
                </a:lnTo>
                <a:lnTo>
                  <a:pt x="16" y="67"/>
                </a:lnTo>
                <a:lnTo>
                  <a:pt x="0" y="67"/>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057400" y="6438900"/>
            <a:ext cx="3743325" cy="95250"/>
          </a:xfrm>
          <a:custGeom>
            <a:avLst/>
            <a:gdLst/>
            <a:ahLst/>
            <a:cxnLst/>
            <a:rect l="l" t="t" r="r" b="b"/>
            <a:pathLst>
              <a:path w="393" h="10">
                <a:moveTo>
                  <a:pt x="0" y="6"/>
                </a:moveTo>
                <a:lnTo>
                  <a:pt x="16" y="6"/>
                </a:lnTo>
                <a:lnTo>
                  <a:pt x="33" y="6"/>
                </a:lnTo>
                <a:lnTo>
                  <a:pt x="49" y="6"/>
                </a:lnTo>
                <a:lnTo>
                  <a:pt x="65" y="6"/>
                </a:lnTo>
                <a:lnTo>
                  <a:pt x="82" y="6"/>
                </a:lnTo>
                <a:lnTo>
                  <a:pt x="98" y="5"/>
                </a:lnTo>
                <a:lnTo>
                  <a:pt x="114" y="5"/>
                </a:lnTo>
                <a:lnTo>
                  <a:pt x="131" y="5"/>
                </a:lnTo>
                <a:lnTo>
                  <a:pt x="147" y="4"/>
                </a:lnTo>
                <a:lnTo>
                  <a:pt x="164" y="4"/>
                </a:lnTo>
                <a:lnTo>
                  <a:pt x="180" y="4"/>
                </a:lnTo>
                <a:lnTo>
                  <a:pt x="196" y="3"/>
                </a:lnTo>
                <a:lnTo>
                  <a:pt x="213" y="3"/>
                </a:lnTo>
                <a:lnTo>
                  <a:pt x="229" y="3"/>
                </a:lnTo>
                <a:lnTo>
                  <a:pt x="246" y="2"/>
                </a:lnTo>
                <a:lnTo>
                  <a:pt x="262" y="2"/>
                </a:lnTo>
                <a:lnTo>
                  <a:pt x="278" y="2"/>
                </a:lnTo>
                <a:lnTo>
                  <a:pt x="295" y="1"/>
                </a:lnTo>
                <a:lnTo>
                  <a:pt x="311" y="1"/>
                </a:lnTo>
                <a:lnTo>
                  <a:pt x="327" y="1"/>
                </a:lnTo>
                <a:lnTo>
                  <a:pt x="344" y="1"/>
                </a:lnTo>
                <a:lnTo>
                  <a:pt x="360" y="0"/>
                </a:lnTo>
                <a:lnTo>
                  <a:pt x="377" y="0"/>
                </a:lnTo>
                <a:lnTo>
                  <a:pt x="393" y="0"/>
                </a:lnTo>
                <a:lnTo>
                  <a:pt x="393" y="4"/>
                </a:lnTo>
                <a:lnTo>
                  <a:pt x="377" y="4"/>
                </a:lnTo>
                <a:lnTo>
                  <a:pt x="360" y="4"/>
                </a:lnTo>
                <a:lnTo>
                  <a:pt x="344" y="4"/>
                </a:lnTo>
                <a:lnTo>
                  <a:pt x="327" y="4"/>
                </a:lnTo>
                <a:lnTo>
                  <a:pt x="311" y="5"/>
                </a:lnTo>
                <a:lnTo>
                  <a:pt x="295" y="5"/>
                </a:lnTo>
                <a:lnTo>
                  <a:pt x="278" y="5"/>
                </a:lnTo>
                <a:lnTo>
                  <a:pt x="262" y="6"/>
                </a:lnTo>
                <a:lnTo>
                  <a:pt x="246" y="6"/>
                </a:lnTo>
                <a:lnTo>
                  <a:pt x="229" y="6"/>
                </a:lnTo>
                <a:lnTo>
                  <a:pt x="213" y="7"/>
                </a:lnTo>
                <a:lnTo>
                  <a:pt x="196" y="7"/>
                </a:lnTo>
                <a:lnTo>
                  <a:pt x="180" y="7"/>
                </a:lnTo>
                <a:lnTo>
                  <a:pt x="164" y="8"/>
                </a:lnTo>
                <a:lnTo>
                  <a:pt x="147" y="8"/>
                </a:lnTo>
                <a:lnTo>
                  <a:pt x="131" y="8"/>
                </a:lnTo>
                <a:lnTo>
                  <a:pt x="114" y="9"/>
                </a:lnTo>
                <a:lnTo>
                  <a:pt x="98" y="9"/>
                </a:lnTo>
                <a:lnTo>
                  <a:pt x="82" y="9"/>
                </a:lnTo>
                <a:lnTo>
                  <a:pt x="65" y="10"/>
                </a:lnTo>
                <a:lnTo>
                  <a:pt x="49" y="10"/>
                </a:lnTo>
                <a:lnTo>
                  <a:pt x="33" y="10"/>
                </a:lnTo>
                <a:lnTo>
                  <a:pt x="16" y="10"/>
                </a:lnTo>
                <a:lnTo>
                  <a:pt x="0" y="10"/>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941195" y="1304925"/>
            <a:ext cx="114300" cy="1224100"/>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941195" y="2586175"/>
            <a:ext cx="114300" cy="1102774"/>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941195" y="3746099"/>
            <a:ext cx="114300" cy="1054996"/>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941195" y="4858246"/>
            <a:ext cx="114300" cy="841319"/>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941195" y="5756715"/>
            <a:ext cx="114300" cy="37542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941195" y="6189289"/>
            <a:ext cx="114300" cy="344861"/>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800725" y="1362075"/>
            <a:ext cx="114300" cy="2782557"/>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800725" y="4201782"/>
            <a:ext cx="114300" cy="110562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800725" y="5364554"/>
            <a:ext cx="114300" cy="532145"/>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800725" y="5953849"/>
            <a:ext cx="114300" cy="52315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57175" y="1845537"/>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7" name="TextBox 46"/>
          <p:cNvSpPr txBox="1"/>
          <p:nvPr/>
        </p:nvSpPr>
        <p:spPr>
          <a:xfrm>
            <a:off x="257175" y="3066125"/>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8" name="TextBox 47"/>
          <p:cNvSpPr txBox="1"/>
          <p:nvPr/>
        </p:nvSpPr>
        <p:spPr>
          <a:xfrm>
            <a:off x="257175" y="4202160"/>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9" name="TextBox 48"/>
          <p:cNvSpPr txBox="1"/>
          <p:nvPr/>
        </p:nvSpPr>
        <p:spPr>
          <a:xfrm>
            <a:off x="257175" y="5207468"/>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0" name="TextBox 49"/>
          <p:cNvSpPr txBox="1"/>
          <p:nvPr/>
        </p:nvSpPr>
        <p:spPr>
          <a:xfrm>
            <a:off x="257175" y="5872990"/>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1" name="TextBox 50"/>
          <p:cNvSpPr txBox="1"/>
          <p:nvPr/>
        </p:nvSpPr>
        <p:spPr>
          <a:xfrm>
            <a:off x="257175" y="6290282"/>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2" name="TextBox 51"/>
          <p:cNvSpPr txBox="1"/>
          <p:nvPr/>
        </p:nvSpPr>
        <p:spPr>
          <a:xfrm>
            <a:off x="5972175" y="2629529"/>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3" name="TextBox 52"/>
          <p:cNvSpPr txBox="1"/>
          <p:nvPr/>
        </p:nvSpPr>
        <p:spPr>
          <a:xfrm>
            <a:off x="5972175" y="4630768"/>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4" name="TextBox 53"/>
          <p:cNvSpPr txBox="1"/>
          <p:nvPr/>
        </p:nvSpPr>
        <p:spPr>
          <a:xfrm>
            <a:off x="5972175" y="5506801"/>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5" name="TextBox 54"/>
          <p:cNvSpPr txBox="1"/>
          <p:nvPr/>
        </p:nvSpPr>
        <p:spPr>
          <a:xfrm>
            <a:off x="5972175" y="6091599"/>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6" name="Rounded Rectangle 55"/>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58" name="Rectangle 57"/>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1" name="TextBox 60"/>
          <p:cNvSpPr txBox="1"/>
          <p:nvPr/>
        </p:nvSpPr>
        <p:spPr>
          <a:xfrm>
            <a:off x="907185" y="1856624"/>
            <a:ext cx="923109" cy="139750"/>
          </a:xfrm>
          <a:prstGeom prst="rect">
            <a:avLst/>
          </a:prstGeom>
          <a:noFill/>
        </p:spPr>
        <p:txBody>
          <a:bodyPr wrap="none" lIns="0" rIns="0" tIns="0" bIns="0">
            <a:spAutoFit/>
          </a:bodyPr>
          <a:lstStyle/>
          <a:p>
            <a:r>
              <a:rPr sz="791" b="1">
                <a:solidFill>
                  <a:srgbClr val="2E2E2E"/>
                </a:solidFill>
                <a:latin typeface="Calibri"/>
              </a:rPr>
              <a:t>Veterinary Channels</a:t>
            </a:r>
          </a:p>
        </p:txBody>
      </p:sp>
      <p:pic>
        <p:nvPicPr>
          <p:cNvPr id="62" name="Picture 61" descr="lock.png"/>
          <p:cNvPicPr>
            <a:picLocks noChangeAspect="1"/>
          </p:cNvPicPr>
          <p:nvPr/>
        </p:nvPicPr>
        <p:blipFill>
          <a:blip r:embed="rId4"/>
          <a:stretch>
            <a:fillRect/>
          </a:stretch>
        </p:blipFill>
        <p:spPr>
          <a:xfrm>
            <a:off x="1771555" y="1849583"/>
            <a:ext cx="92663" cy="134782"/>
          </a:xfrm>
          <a:prstGeom prst="rect">
            <a:avLst/>
          </a:prstGeom>
        </p:spPr>
      </p:pic>
      <p:sp>
        <p:nvSpPr>
          <p:cNvPr id="63" name="TextBox 62"/>
          <p:cNvSpPr txBox="1"/>
          <p:nvPr/>
        </p:nvSpPr>
        <p:spPr>
          <a:xfrm>
            <a:off x="741212" y="3077212"/>
            <a:ext cx="1089081" cy="139750"/>
          </a:xfrm>
          <a:prstGeom prst="rect">
            <a:avLst/>
          </a:prstGeom>
          <a:noFill/>
        </p:spPr>
        <p:txBody>
          <a:bodyPr wrap="none" lIns="0" rIns="0" tIns="0" bIns="0">
            <a:spAutoFit/>
          </a:bodyPr>
          <a:lstStyle/>
          <a:p>
            <a:r>
              <a:rPr sz="791" b="1">
                <a:solidFill>
                  <a:srgbClr val="2E2E2E"/>
                </a:solidFill>
                <a:latin typeface="Calibri"/>
              </a:rPr>
              <a:t>Third-Party E-commerce</a:t>
            </a:r>
          </a:p>
        </p:txBody>
      </p:sp>
      <p:pic>
        <p:nvPicPr>
          <p:cNvPr id="64" name="Picture 63" descr="lock.png"/>
          <p:cNvPicPr>
            <a:picLocks noChangeAspect="1"/>
          </p:cNvPicPr>
          <p:nvPr/>
        </p:nvPicPr>
        <p:blipFill>
          <a:blip r:embed="rId4"/>
          <a:stretch>
            <a:fillRect/>
          </a:stretch>
        </p:blipFill>
        <p:spPr>
          <a:xfrm>
            <a:off x="1771555" y="3070171"/>
            <a:ext cx="92663" cy="134782"/>
          </a:xfrm>
          <a:prstGeom prst="rect">
            <a:avLst/>
          </a:prstGeom>
        </p:spPr>
      </p:pic>
      <p:sp>
        <p:nvSpPr>
          <p:cNvPr id="65" name="TextBox 64"/>
          <p:cNvSpPr txBox="1"/>
          <p:nvPr/>
        </p:nvSpPr>
        <p:spPr>
          <a:xfrm>
            <a:off x="934492" y="4213247"/>
            <a:ext cx="895802" cy="139750"/>
          </a:xfrm>
          <a:prstGeom prst="rect">
            <a:avLst/>
          </a:prstGeom>
          <a:noFill/>
        </p:spPr>
        <p:txBody>
          <a:bodyPr wrap="none" lIns="0" rIns="0" tIns="0" bIns="0">
            <a:spAutoFit/>
          </a:bodyPr>
          <a:lstStyle/>
          <a:p>
            <a:r>
              <a:rPr sz="791" b="1">
                <a:solidFill>
                  <a:srgbClr val="2E2E2E"/>
                </a:solidFill>
                <a:latin typeface="Calibri"/>
              </a:rPr>
              <a:t>Specialist Pet Retail</a:t>
            </a:r>
          </a:p>
        </p:txBody>
      </p:sp>
      <p:pic>
        <p:nvPicPr>
          <p:cNvPr id="66" name="Picture 65" descr="lock.png"/>
          <p:cNvPicPr>
            <a:picLocks noChangeAspect="1"/>
          </p:cNvPicPr>
          <p:nvPr/>
        </p:nvPicPr>
        <p:blipFill>
          <a:blip r:embed="rId4"/>
          <a:stretch>
            <a:fillRect/>
          </a:stretch>
        </p:blipFill>
        <p:spPr>
          <a:xfrm>
            <a:off x="1771555" y="4206206"/>
            <a:ext cx="92663" cy="134782"/>
          </a:xfrm>
          <a:prstGeom prst="rect">
            <a:avLst/>
          </a:prstGeom>
        </p:spPr>
      </p:pic>
      <p:sp>
        <p:nvSpPr>
          <p:cNvPr id="67" name="TextBox 66"/>
          <p:cNvSpPr txBox="1"/>
          <p:nvPr/>
        </p:nvSpPr>
        <p:spPr>
          <a:xfrm>
            <a:off x="629824" y="5218555"/>
            <a:ext cx="1200470" cy="139750"/>
          </a:xfrm>
          <a:prstGeom prst="rect">
            <a:avLst/>
          </a:prstGeom>
          <a:noFill/>
        </p:spPr>
        <p:txBody>
          <a:bodyPr wrap="none" lIns="0" rIns="0" tIns="0" bIns="0">
            <a:spAutoFit/>
          </a:bodyPr>
          <a:lstStyle/>
          <a:p>
            <a:r>
              <a:rPr sz="791" b="1">
                <a:solidFill>
                  <a:srgbClr val="2E2E2E"/>
                </a:solidFill>
                <a:latin typeface="Calibri"/>
              </a:rPr>
              <a:t>Brand-Owned E-commerce</a:t>
            </a:r>
          </a:p>
        </p:txBody>
      </p:sp>
      <p:pic>
        <p:nvPicPr>
          <p:cNvPr id="68" name="Picture 67" descr="lock.png"/>
          <p:cNvPicPr>
            <a:picLocks noChangeAspect="1"/>
          </p:cNvPicPr>
          <p:nvPr/>
        </p:nvPicPr>
        <p:blipFill>
          <a:blip r:embed="rId4"/>
          <a:stretch>
            <a:fillRect/>
          </a:stretch>
        </p:blipFill>
        <p:spPr>
          <a:xfrm>
            <a:off x="1771555" y="5211514"/>
            <a:ext cx="92663" cy="134782"/>
          </a:xfrm>
          <a:prstGeom prst="rect">
            <a:avLst/>
          </a:prstGeom>
        </p:spPr>
      </p:pic>
      <p:sp>
        <p:nvSpPr>
          <p:cNvPr id="69" name="TextBox 68"/>
          <p:cNvSpPr txBox="1"/>
          <p:nvPr/>
        </p:nvSpPr>
        <p:spPr>
          <a:xfrm>
            <a:off x="1000696" y="5884077"/>
            <a:ext cx="829597" cy="139750"/>
          </a:xfrm>
          <a:prstGeom prst="rect">
            <a:avLst/>
          </a:prstGeom>
          <a:noFill/>
        </p:spPr>
        <p:txBody>
          <a:bodyPr wrap="none" lIns="0" rIns="0" tIns="0" bIns="0">
            <a:spAutoFit/>
          </a:bodyPr>
          <a:lstStyle/>
          <a:p>
            <a:r>
              <a:rPr sz="791" b="1">
                <a:solidFill>
                  <a:srgbClr val="2E2E2E"/>
                </a:solidFill>
                <a:latin typeface="Calibri"/>
              </a:rPr>
              <a:t>Other Direct Sales</a:t>
            </a:r>
          </a:p>
        </p:txBody>
      </p:sp>
      <p:pic>
        <p:nvPicPr>
          <p:cNvPr id="70" name="Picture 69" descr="lock.png"/>
          <p:cNvPicPr>
            <a:picLocks noChangeAspect="1"/>
          </p:cNvPicPr>
          <p:nvPr/>
        </p:nvPicPr>
        <p:blipFill>
          <a:blip r:embed="rId4"/>
          <a:stretch>
            <a:fillRect/>
          </a:stretch>
        </p:blipFill>
        <p:spPr>
          <a:xfrm>
            <a:off x="1771555" y="5877036"/>
            <a:ext cx="92663" cy="134782"/>
          </a:xfrm>
          <a:prstGeom prst="rect">
            <a:avLst/>
          </a:prstGeom>
        </p:spPr>
      </p:pic>
      <p:sp>
        <p:nvSpPr>
          <p:cNvPr id="71" name="TextBox 70"/>
          <p:cNvSpPr txBox="1"/>
          <p:nvPr/>
        </p:nvSpPr>
        <p:spPr>
          <a:xfrm>
            <a:off x="1160216" y="6301369"/>
            <a:ext cx="670077" cy="139750"/>
          </a:xfrm>
          <a:prstGeom prst="rect">
            <a:avLst/>
          </a:prstGeom>
          <a:noFill/>
        </p:spPr>
        <p:txBody>
          <a:bodyPr wrap="none" lIns="0" rIns="0" tIns="0" bIns="0">
            <a:spAutoFit/>
          </a:bodyPr>
          <a:lstStyle/>
          <a:p>
            <a:r>
              <a:rPr sz="791" b="1">
                <a:solidFill>
                  <a:srgbClr val="2E2E2E"/>
                </a:solidFill>
                <a:latin typeface="Calibri"/>
              </a:rPr>
              <a:t>General Retail</a:t>
            </a:r>
          </a:p>
        </p:txBody>
      </p:sp>
      <p:pic>
        <p:nvPicPr>
          <p:cNvPr id="72" name="Picture 71" descr="lock.png"/>
          <p:cNvPicPr>
            <a:picLocks noChangeAspect="1"/>
          </p:cNvPicPr>
          <p:nvPr/>
        </p:nvPicPr>
        <p:blipFill>
          <a:blip r:embed="rId4"/>
          <a:stretch>
            <a:fillRect/>
          </a:stretch>
        </p:blipFill>
        <p:spPr>
          <a:xfrm>
            <a:off x="1771555" y="6294328"/>
            <a:ext cx="92663" cy="134782"/>
          </a:xfrm>
          <a:prstGeom prst="rect">
            <a:avLst/>
          </a:prstGeom>
        </p:spPr>
      </p:pic>
      <p:sp>
        <p:nvSpPr>
          <p:cNvPr id="73" name="TextBox 72"/>
          <p:cNvSpPr txBox="1"/>
          <p:nvPr/>
        </p:nvSpPr>
        <p:spPr>
          <a:xfrm>
            <a:off x="5972175" y="2629529"/>
            <a:ext cx="1052964" cy="139750"/>
          </a:xfrm>
          <a:prstGeom prst="rect">
            <a:avLst/>
          </a:prstGeom>
          <a:noFill/>
        </p:spPr>
        <p:txBody>
          <a:bodyPr wrap="none" lIns="0" rIns="0" tIns="0" bIns="0">
            <a:spAutoFit/>
          </a:bodyPr>
          <a:lstStyle/>
          <a:p>
            <a:r>
              <a:rPr sz="791" b="1">
                <a:solidFill>
                  <a:srgbClr val="2E2E2E"/>
                </a:solidFill>
                <a:latin typeface="Calibri"/>
              </a:rPr>
              <a:t>Support for Observable</a:t>
            </a:r>
          </a:p>
        </p:txBody>
      </p:sp>
      <p:sp>
        <p:nvSpPr>
          <p:cNvPr id="74" name="TextBox 73"/>
          <p:cNvSpPr txBox="1"/>
          <p:nvPr/>
        </p:nvSpPr>
        <p:spPr>
          <a:xfrm>
            <a:off x="5972175" y="2750229"/>
            <a:ext cx="1362075" cy="139750"/>
          </a:xfrm>
          <a:prstGeom prst="rect">
            <a:avLst/>
          </a:prstGeom>
          <a:noFill/>
        </p:spPr>
        <p:txBody>
          <a:bodyPr wrap="none" lIns="0" rIns="0" tIns="0" bIns="0">
            <a:spAutoFit/>
          </a:bodyPr>
          <a:lstStyle/>
          <a:p>
            <a:r>
              <a:rPr sz="791" b="1">
                <a:solidFill>
                  <a:srgbClr val="2E2E2E"/>
                </a:solidFill>
                <a:latin typeface="Calibri"/>
              </a:rPr>
              <a:t>Age-Related Cognitive Changes</a:t>
            </a:r>
          </a:p>
        </p:txBody>
      </p:sp>
      <p:pic>
        <p:nvPicPr>
          <p:cNvPr id="75" name="Picture 74" descr="lock.png"/>
          <p:cNvPicPr>
            <a:picLocks noChangeAspect="1"/>
          </p:cNvPicPr>
          <p:nvPr/>
        </p:nvPicPr>
        <p:blipFill>
          <a:blip r:embed="rId4"/>
          <a:stretch>
            <a:fillRect/>
          </a:stretch>
        </p:blipFill>
        <p:spPr>
          <a:xfrm>
            <a:off x="5962478" y="2863889"/>
            <a:ext cx="92663" cy="134782"/>
          </a:xfrm>
          <a:prstGeom prst="rect">
            <a:avLst/>
          </a:prstGeom>
        </p:spPr>
      </p:pic>
      <p:sp>
        <p:nvSpPr>
          <p:cNvPr id="76" name="TextBox 75"/>
          <p:cNvSpPr txBox="1"/>
          <p:nvPr/>
        </p:nvSpPr>
        <p:spPr>
          <a:xfrm>
            <a:off x="5972175" y="4694242"/>
            <a:ext cx="1218771" cy="139750"/>
          </a:xfrm>
          <a:prstGeom prst="rect">
            <a:avLst/>
          </a:prstGeom>
          <a:noFill/>
        </p:spPr>
        <p:txBody>
          <a:bodyPr wrap="none" lIns="0" rIns="0" tIns="0" bIns="0">
            <a:spAutoFit/>
          </a:bodyPr>
          <a:lstStyle/>
          <a:p>
            <a:r>
              <a:rPr sz="791" b="1">
                <a:solidFill>
                  <a:srgbClr val="2E2E2E"/>
                </a:solidFill>
                <a:latin typeface="Calibri"/>
              </a:rPr>
              <a:t>Routine Cognitive Wellness</a:t>
            </a:r>
          </a:p>
        </p:txBody>
      </p:sp>
      <p:pic>
        <p:nvPicPr>
          <p:cNvPr id="77" name="Picture 76" descr="lock.png"/>
          <p:cNvPicPr>
            <a:picLocks noChangeAspect="1"/>
          </p:cNvPicPr>
          <p:nvPr/>
        </p:nvPicPr>
        <p:blipFill>
          <a:blip r:embed="rId4"/>
          <a:stretch>
            <a:fillRect/>
          </a:stretch>
        </p:blipFill>
        <p:spPr>
          <a:xfrm>
            <a:off x="7132207" y="4687201"/>
            <a:ext cx="92663" cy="134782"/>
          </a:xfrm>
          <a:prstGeom prst="rect">
            <a:avLst/>
          </a:prstGeom>
        </p:spPr>
      </p:pic>
      <p:sp>
        <p:nvSpPr>
          <p:cNvPr id="78" name="TextBox 77"/>
          <p:cNvSpPr txBox="1"/>
          <p:nvPr/>
        </p:nvSpPr>
        <p:spPr>
          <a:xfrm>
            <a:off x="5972175" y="5509925"/>
            <a:ext cx="1298138" cy="139750"/>
          </a:xfrm>
          <a:prstGeom prst="rect">
            <a:avLst/>
          </a:prstGeom>
          <a:noFill/>
        </p:spPr>
        <p:txBody>
          <a:bodyPr wrap="none" lIns="0" rIns="0" tIns="0" bIns="0">
            <a:spAutoFit/>
          </a:bodyPr>
          <a:lstStyle/>
          <a:p>
            <a:r>
              <a:rPr sz="791" b="1">
                <a:solidFill>
                  <a:srgbClr val="2E2E2E"/>
                </a:solidFill>
                <a:latin typeface="Calibri"/>
              </a:rPr>
              <a:t>Preventive Cognitive Support</a:t>
            </a:r>
          </a:p>
        </p:txBody>
      </p:sp>
      <p:sp>
        <p:nvSpPr>
          <p:cNvPr id="79" name="TextBox 78"/>
          <p:cNvSpPr txBox="1"/>
          <p:nvPr/>
        </p:nvSpPr>
        <p:spPr>
          <a:xfrm>
            <a:off x="5972175" y="5630626"/>
            <a:ext cx="715458" cy="139750"/>
          </a:xfrm>
          <a:prstGeom prst="rect">
            <a:avLst/>
          </a:prstGeom>
          <a:noFill/>
        </p:spPr>
        <p:txBody>
          <a:bodyPr wrap="none" lIns="0" rIns="0" tIns="0" bIns="0">
            <a:spAutoFit/>
          </a:bodyPr>
          <a:lstStyle/>
          <a:p>
            <a:r>
              <a:rPr sz="791" b="1">
                <a:solidFill>
                  <a:srgbClr val="2E2E2E"/>
                </a:solidFill>
                <a:latin typeface="Calibri"/>
              </a:rPr>
              <a:t>for Senior Dogs</a:t>
            </a:r>
          </a:p>
        </p:txBody>
      </p:sp>
      <p:pic>
        <p:nvPicPr>
          <p:cNvPr id="80" name="Picture 79" descr="lock.png"/>
          <p:cNvPicPr>
            <a:picLocks noChangeAspect="1"/>
          </p:cNvPicPr>
          <p:nvPr/>
        </p:nvPicPr>
        <p:blipFill>
          <a:blip r:embed="rId4"/>
          <a:stretch>
            <a:fillRect/>
          </a:stretch>
        </p:blipFill>
        <p:spPr>
          <a:xfrm>
            <a:off x="6628894" y="5623585"/>
            <a:ext cx="92663" cy="134782"/>
          </a:xfrm>
          <a:prstGeom prst="rect">
            <a:avLst/>
          </a:prstGeom>
        </p:spPr>
      </p:pic>
      <p:sp>
        <p:nvSpPr>
          <p:cNvPr id="81" name="TextBox 80"/>
          <p:cNvSpPr txBox="1"/>
          <p:nvPr/>
        </p:nvSpPr>
        <p:spPr>
          <a:xfrm>
            <a:off x="5972175" y="6094723"/>
            <a:ext cx="1266705" cy="139750"/>
          </a:xfrm>
          <a:prstGeom prst="rect">
            <a:avLst/>
          </a:prstGeom>
          <a:noFill/>
        </p:spPr>
        <p:txBody>
          <a:bodyPr wrap="none" lIns="0" rIns="0" tIns="0" bIns="0">
            <a:spAutoFit/>
          </a:bodyPr>
          <a:lstStyle/>
          <a:p>
            <a:r>
              <a:rPr sz="791" b="1">
                <a:solidFill>
                  <a:srgbClr val="2E2E2E"/>
                </a:solidFill>
                <a:latin typeface="Calibri"/>
              </a:rPr>
              <a:t>Veterinary-Guided Cognitive</a:t>
            </a:r>
          </a:p>
        </p:txBody>
      </p:sp>
      <p:sp>
        <p:nvSpPr>
          <p:cNvPr id="82" name="TextBox 81"/>
          <p:cNvSpPr txBox="1"/>
          <p:nvPr/>
        </p:nvSpPr>
        <p:spPr>
          <a:xfrm>
            <a:off x="5972175" y="6215424"/>
            <a:ext cx="934307" cy="139750"/>
          </a:xfrm>
          <a:prstGeom prst="rect">
            <a:avLst/>
          </a:prstGeom>
          <a:noFill/>
        </p:spPr>
        <p:txBody>
          <a:bodyPr wrap="none" lIns="0" rIns="0" tIns="0" bIns="0">
            <a:spAutoFit/>
          </a:bodyPr>
          <a:lstStyle/>
          <a:p>
            <a:r>
              <a:rPr sz="791" b="1">
                <a:solidFill>
                  <a:srgbClr val="2E2E2E"/>
                </a:solidFill>
                <a:latin typeface="Calibri"/>
              </a:rPr>
              <a:t>Dysfunction Support</a:t>
            </a:r>
          </a:p>
        </p:txBody>
      </p:sp>
      <p:pic>
        <p:nvPicPr>
          <p:cNvPr id="83" name="Picture 82" descr="lock.png"/>
          <p:cNvPicPr>
            <a:picLocks noChangeAspect="1"/>
          </p:cNvPicPr>
          <p:nvPr/>
        </p:nvPicPr>
        <p:blipFill>
          <a:blip r:embed="rId4"/>
          <a:stretch>
            <a:fillRect/>
          </a:stretch>
        </p:blipFill>
        <p:spPr>
          <a:xfrm>
            <a:off x="6847743" y="6208383"/>
            <a:ext cx="92663" cy="134782"/>
          </a:xfrm>
          <a:prstGeom prst="rect">
            <a:avLst/>
          </a:prstGeom>
        </p:spPr>
      </p:pic>
      <p:sp>
        <p:nvSpPr>
          <p:cNvPr id="84" name="TextBox 83"/>
          <p:cNvSpPr txBox="1"/>
          <p:nvPr/>
        </p:nvSpPr>
        <p:spPr>
          <a:xfrm>
            <a:off x="7715250" y="1400175"/>
            <a:ext cx="4075745" cy="194310"/>
          </a:xfrm>
          <a:prstGeom prst="rect">
            <a:avLst/>
          </a:prstGeom>
          <a:noFill/>
        </p:spPr>
        <p:txBody>
          <a:bodyPr wrap="none" lIns="0" rIns="0" tIns="0" bIns="0">
            <a:spAutoFit/>
          </a:bodyPr>
          <a:lstStyle/>
          <a:p>
            <a:r>
              <a:rPr sz="1150" b="0">
                <a:solidFill>
                  <a:srgbClr val="2E2E2E"/>
                </a:solidFill>
                <a:latin typeface="Calibri"/>
              </a:rPr>
              <a:t>Veterinary channels segment is projected to account for the largest</a:t>
            </a:r>
          </a:p>
        </p:txBody>
      </p:sp>
      <p:sp>
        <p:nvSpPr>
          <p:cNvPr id="85" name="TextBox 84"/>
          <p:cNvSpPr txBox="1"/>
          <p:nvPr/>
        </p:nvSpPr>
        <p:spPr>
          <a:xfrm>
            <a:off x="7715250" y="1575435"/>
            <a:ext cx="4041799" cy="194310"/>
          </a:xfrm>
          <a:prstGeom prst="rect">
            <a:avLst/>
          </a:prstGeom>
          <a:noFill/>
        </p:spPr>
        <p:txBody>
          <a:bodyPr wrap="none" lIns="0" rIns="0" tIns="0" bIns="0">
            <a:spAutoFit/>
          </a:bodyPr>
          <a:lstStyle/>
          <a:p>
            <a:r>
              <a:rPr sz="1150" b="0">
                <a:solidFill>
                  <a:srgbClr val="2E2E2E"/>
                </a:solidFill>
                <a:latin typeface="Calibri"/>
              </a:rPr>
              <a:t>share of the global senior dog cognitive supplement market, led by</a:t>
            </a:r>
          </a:p>
        </p:txBody>
      </p:sp>
      <p:sp>
        <p:nvSpPr>
          <p:cNvPr id="86" name="TextBox 85"/>
          <p:cNvSpPr txBox="1"/>
          <p:nvPr/>
        </p:nvSpPr>
        <p:spPr>
          <a:xfrm>
            <a:off x="7715250" y="1750695"/>
            <a:ext cx="3657562" cy="194310"/>
          </a:xfrm>
          <a:prstGeom prst="rect">
            <a:avLst/>
          </a:prstGeom>
          <a:noFill/>
        </p:spPr>
        <p:txBody>
          <a:bodyPr wrap="none" lIns="0" rIns="0" tIns="0" bIns="0">
            <a:spAutoFit/>
          </a:bodyPr>
          <a:lstStyle/>
          <a:p>
            <a:r>
              <a:rPr sz="1150" b="0">
                <a:solidFill>
                  <a:srgbClr val="2E2E2E"/>
                </a:solidFill>
                <a:latin typeface="Calibri"/>
              </a:rPr>
              <a:t>support for observable age-related cognitive changes at US$</a:t>
            </a:r>
          </a:p>
        </p:txBody>
      </p:sp>
      <p:pic>
        <p:nvPicPr>
          <p:cNvPr id="87" name="Picture 86" descr="lock.png"/>
          <p:cNvPicPr>
            <a:picLocks noChangeAspect="1"/>
          </p:cNvPicPr>
          <p:nvPr/>
        </p:nvPicPr>
        <p:blipFill>
          <a:blip r:embed="rId4"/>
          <a:stretch>
            <a:fillRect/>
          </a:stretch>
        </p:blipFill>
        <p:spPr>
          <a:xfrm>
            <a:off x="11321966" y="1740471"/>
            <a:ext cx="134549" cy="195707"/>
          </a:xfrm>
          <a:prstGeom prst="rect">
            <a:avLst/>
          </a:prstGeom>
        </p:spPr>
      </p:pic>
      <p:sp>
        <p:nvSpPr>
          <p:cNvPr id="88" name="TextBox 87"/>
          <p:cNvSpPr txBox="1"/>
          <p:nvPr/>
        </p:nvSpPr>
        <p:spPr>
          <a:xfrm>
            <a:off x="11497076" y="1750695"/>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89" name="TextBox 88"/>
          <p:cNvSpPr txBox="1"/>
          <p:nvPr/>
        </p:nvSpPr>
        <p:spPr>
          <a:xfrm>
            <a:off x="7715250" y="1925955"/>
            <a:ext cx="4102273" cy="194310"/>
          </a:xfrm>
          <a:prstGeom prst="rect">
            <a:avLst/>
          </a:prstGeom>
          <a:noFill/>
        </p:spPr>
        <p:txBody>
          <a:bodyPr wrap="none" lIns="0" rIns="0" tIns="0" bIns="0">
            <a:spAutoFit/>
          </a:bodyPr>
          <a:lstStyle/>
          <a:p>
            <a:r>
              <a:rPr sz="1150" b="0">
                <a:solidFill>
                  <a:srgbClr val="2E2E2E"/>
                </a:solidFill>
                <a:latin typeface="Calibri"/>
              </a:rPr>
              <a:t>in 2036. 'Veterinary Channels × Support for Observable Age-Related</a:t>
            </a:r>
          </a:p>
        </p:txBody>
      </p:sp>
      <p:sp>
        <p:nvSpPr>
          <p:cNvPr id="90" name="TextBox 89"/>
          <p:cNvSpPr txBox="1"/>
          <p:nvPr/>
        </p:nvSpPr>
        <p:spPr>
          <a:xfrm>
            <a:off x="7715250" y="2101215"/>
            <a:ext cx="3589101" cy="194310"/>
          </a:xfrm>
          <a:prstGeom prst="rect">
            <a:avLst/>
          </a:prstGeom>
          <a:noFill/>
        </p:spPr>
        <p:txBody>
          <a:bodyPr wrap="none" lIns="0" rIns="0" tIns="0" bIns="0">
            <a:spAutoFit/>
          </a:bodyPr>
          <a:lstStyle/>
          <a:p>
            <a:r>
              <a:rPr sz="1150" b="0">
                <a:solidFill>
                  <a:srgbClr val="2E2E2E"/>
                </a:solidFill>
                <a:latin typeface="Calibri"/>
              </a:rPr>
              <a:t>Cognitive Changes' is the single largest cross-sectional cell (</a:t>
            </a:r>
          </a:p>
        </p:txBody>
      </p:sp>
      <p:pic>
        <p:nvPicPr>
          <p:cNvPr id="91" name="Picture 90" descr="lock.png"/>
          <p:cNvPicPr>
            <a:picLocks noChangeAspect="1"/>
          </p:cNvPicPr>
          <p:nvPr/>
        </p:nvPicPr>
        <p:blipFill>
          <a:blip r:embed="rId4"/>
          <a:stretch>
            <a:fillRect/>
          </a:stretch>
        </p:blipFill>
        <p:spPr>
          <a:xfrm>
            <a:off x="11253505" y="2090991"/>
            <a:ext cx="134549" cy="195707"/>
          </a:xfrm>
          <a:prstGeom prst="rect">
            <a:avLst/>
          </a:prstGeom>
        </p:spPr>
      </p:pic>
      <p:sp>
        <p:nvSpPr>
          <p:cNvPr id="92" name="TextBox 91"/>
          <p:cNvSpPr txBox="1"/>
          <p:nvPr/>
        </p:nvSpPr>
        <p:spPr>
          <a:xfrm>
            <a:off x="11428615" y="2101215"/>
            <a:ext cx="311249" cy="194310"/>
          </a:xfrm>
          <a:prstGeom prst="rect">
            <a:avLst/>
          </a:prstGeom>
          <a:noFill/>
        </p:spPr>
        <p:txBody>
          <a:bodyPr wrap="none" lIns="0" rIns="0" tIns="0" bIns="0">
            <a:spAutoFit/>
          </a:bodyPr>
          <a:lstStyle/>
          <a:p>
            <a:r>
              <a:rPr sz="1150" b="0">
                <a:solidFill>
                  <a:srgbClr val="2E2E2E"/>
                </a:solidFill>
                <a:latin typeface="Calibri"/>
              </a:rPr>
              <a:t>US$</a:t>
            </a:r>
          </a:p>
        </p:txBody>
      </p:sp>
      <p:sp>
        <p:nvSpPr>
          <p:cNvPr id="93" name="TextBox 92"/>
          <p:cNvSpPr txBox="1"/>
          <p:nvPr/>
        </p:nvSpPr>
        <p:spPr>
          <a:xfrm>
            <a:off x="7715250" y="2276475"/>
            <a:ext cx="3900282" cy="194310"/>
          </a:xfrm>
          <a:prstGeom prst="rect">
            <a:avLst/>
          </a:prstGeom>
          <a:noFill/>
        </p:spPr>
        <p:txBody>
          <a:bodyPr wrap="none" lIns="0" rIns="0" tIns="0" bIns="0">
            <a:spAutoFit/>
          </a:bodyPr>
          <a:lstStyle/>
          <a:p>
            <a:r>
              <a:rPr sz="1150" b="0">
                <a:solidFill>
                  <a:srgbClr val="2E2E2E"/>
                </a:solidFill>
                <a:latin typeface="Calibri"/>
              </a:rPr>
              <a:t>Mn, 2026E), while 'Third-Party E-commerce × Veterinary-Guided</a:t>
            </a:r>
          </a:p>
        </p:txBody>
      </p:sp>
      <p:sp>
        <p:nvSpPr>
          <p:cNvPr id="94" name="TextBox 93"/>
          <p:cNvSpPr txBox="1"/>
          <p:nvPr/>
        </p:nvSpPr>
        <p:spPr>
          <a:xfrm>
            <a:off x="7715250" y="2451735"/>
            <a:ext cx="4140479" cy="194310"/>
          </a:xfrm>
          <a:prstGeom prst="rect">
            <a:avLst/>
          </a:prstGeom>
          <a:noFill/>
        </p:spPr>
        <p:txBody>
          <a:bodyPr wrap="none" lIns="0" rIns="0" tIns="0" bIns="0">
            <a:spAutoFit/>
          </a:bodyPr>
          <a:lstStyle/>
          <a:p>
            <a:r>
              <a:rPr sz="1150" b="0">
                <a:solidFill>
                  <a:srgbClr val="2E2E2E"/>
                </a:solidFill>
                <a:latin typeface="Calibri"/>
              </a:rPr>
              <a:t>Cognitive Dysfunction Support' records the fastest growth at a CAGR</a:t>
            </a:r>
          </a:p>
        </p:txBody>
      </p:sp>
      <p:sp>
        <p:nvSpPr>
          <p:cNvPr id="95" name="TextBox 94"/>
          <p:cNvSpPr txBox="1"/>
          <p:nvPr/>
        </p:nvSpPr>
        <p:spPr>
          <a:xfrm>
            <a:off x="7715250" y="2626995"/>
            <a:ext cx="197718" cy="194310"/>
          </a:xfrm>
          <a:prstGeom prst="rect">
            <a:avLst/>
          </a:prstGeom>
          <a:noFill/>
        </p:spPr>
        <p:txBody>
          <a:bodyPr wrap="none" lIns="0" rIns="0" tIns="0" bIns="0">
            <a:spAutoFit/>
          </a:bodyPr>
          <a:lstStyle/>
          <a:p>
            <a:r>
              <a:rPr sz="1150" b="0">
                <a:solidFill>
                  <a:srgbClr val="2E2E2E"/>
                </a:solidFill>
                <a:latin typeface="Calibri"/>
              </a:rPr>
              <a:t>of</a:t>
            </a:r>
          </a:p>
        </p:txBody>
      </p:sp>
      <p:pic>
        <p:nvPicPr>
          <p:cNvPr id="96" name="Picture 95" descr="lock.png"/>
          <p:cNvPicPr>
            <a:picLocks noChangeAspect="1"/>
          </p:cNvPicPr>
          <p:nvPr/>
        </p:nvPicPr>
        <p:blipFill>
          <a:blip r:embed="rId4"/>
          <a:stretch>
            <a:fillRect/>
          </a:stretch>
        </p:blipFill>
        <p:spPr>
          <a:xfrm>
            <a:off x="7862122" y="2616771"/>
            <a:ext cx="134549" cy="195707"/>
          </a:xfrm>
          <a:prstGeom prst="rect">
            <a:avLst/>
          </a:prstGeom>
        </p:spPr>
      </p:pic>
      <p:sp>
        <p:nvSpPr>
          <p:cNvPr id="97" name="TextBox 96"/>
          <p:cNvSpPr txBox="1"/>
          <p:nvPr/>
        </p:nvSpPr>
        <p:spPr>
          <a:xfrm>
            <a:off x="8037231" y="2626995"/>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98" name="TextBox 97"/>
          <p:cNvSpPr txBox="1"/>
          <p:nvPr/>
        </p:nvSpPr>
        <p:spPr>
          <a:xfrm>
            <a:off x="7715250" y="2854832"/>
            <a:ext cx="3969345" cy="194310"/>
          </a:xfrm>
          <a:prstGeom prst="rect">
            <a:avLst/>
          </a:prstGeom>
          <a:noFill/>
        </p:spPr>
        <p:txBody>
          <a:bodyPr wrap="none" lIns="0" rIns="0" tIns="0" bIns="0">
            <a:spAutoFit/>
          </a:bodyPr>
          <a:lstStyle/>
          <a:p>
            <a:r>
              <a:rPr sz="1150" b="0">
                <a:solidFill>
                  <a:srgbClr val="2E2E2E"/>
                </a:solidFill>
                <a:latin typeface="Calibri"/>
              </a:rPr>
              <a:t>Combined, the top three sales channel × end-use application cells</a:t>
            </a:r>
          </a:p>
        </p:txBody>
      </p:sp>
      <p:sp>
        <p:nvSpPr>
          <p:cNvPr id="99" name="TextBox 98"/>
          <p:cNvSpPr txBox="1"/>
          <p:nvPr/>
        </p:nvSpPr>
        <p:spPr>
          <a:xfrm>
            <a:off x="7715250" y="3030092"/>
            <a:ext cx="2340545" cy="194310"/>
          </a:xfrm>
          <a:prstGeom prst="rect">
            <a:avLst/>
          </a:prstGeom>
          <a:noFill/>
        </p:spPr>
        <p:txBody>
          <a:bodyPr wrap="none" lIns="0" rIns="0" tIns="0" bIns="0">
            <a:spAutoFit/>
          </a:bodyPr>
          <a:lstStyle/>
          <a:p>
            <a:r>
              <a:rPr sz="1150" b="0">
                <a:solidFill>
                  <a:srgbClr val="2E2E2E"/>
                </a:solidFill>
                <a:latin typeface="Calibri"/>
              </a:rPr>
              <a:t>generate an absolute $ opportunity of</a:t>
            </a:r>
          </a:p>
        </p:txBody>
      </p:sp>
      <p:pic>
        <p:nvPicPr>
          <p:cNvPr id="100" name="Picture 99" descr="lock.png"/>
          <p:cNvPicPr>
            <a:picLocks noChangeAspect="1"/>
          </p:cNvPicPr>
          <p:nvPr/>
        </p:nvPicPr>
        <p:blipFill>
          <a:blip r:embed="rId4"/>
          <a:stretch>
            <a:fillRect/>
          </a:stretch>
        </p:blipFill>
        <p:spPr>
          <a:xfrm>
            <a:off x="10004949" y="3019869"/>
            <a:ext cx="134549" cy="195707"/>
          </a:xfrm>
          <a:prstGeom prst="rect">
            <a:avLst/>
          </a:prstGeom>
        </p:spPr>
      </p:pic>
      <p:sp>
        <p:nvSpPr>
          <p:cNvPr id="101" name="TextBox 100"/>
          <p:cNvSpPr txBox="1"/>
          <p:nvPr/>
        </p:nvSpPr>
        <p:spPr>
          <a:xfrm>
            <a:off x="10180058" y="3030092"/>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Share Analysis: Sales Channel × End-use Application, 2026E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global market value, each row split across all end-use application sub-segments</a:t>
            </a:r>
          </a:p>
        </p:txBody>
      </p:sp>
      <p:sp>
        <p:nvSpPr>
          <p:cNvPr id="10" name="Rounded Rectangle 9"/>
          <p:cNvSpPr/>
          <p:nvPr/>
        </p:nvSpPr>
        <p:spPr>
          <a:xfrm>
            <a:off x="142875" y="981075"/>
            <a:ext cx="11906250" cy="2628900"/>
          </a:xfrm>
          <a:prstGeom prst="roundRect">
            <a:avLst>
              <a:gd name="adj" fmla="val 28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Sales Channel × End-use Application, 2026E (% of each row)</a:t>
            </a:r>
          </a:p>
        </p:txBody>
      </p:sp>
      <p:graphicFrame>
        <p:nvGraphicFramePr>
          <p:cNvPr id="12" name="Table 11"/>
          <p:cNvGraphicFramePr>
            <a:graphicFrameLocks noGrp="1"/>
          </p:cNvGraphicFramePr>
          <p:nvPr/>
        </p:nvGraphicFramePr>
        <p:xfrm>
          <a:off x="152400" y="1238250"/>
          <a:ext cx="11887718" cy="2162172"/>
        </p:xfrm>
        <a:graphic>
          <a:graphicData uri="http://schemas.openxmlformats.org/drawingml/2006/table">
            <a:tbl>
              <a:tblPr>
                <a:tableStyleId>{5C22544A-7EE6-4342-B048-85BDC9FD1C3A}</a:tableStyleId>
              </a:tblPr>
              <a:tblGrid>
                <a:gridCol w="1738086"/>
                <a:gridCol w="1549593"/>
                <a:gridCol w="2440805"/>
                <a:gridCol w="2937973"/>
                <a:gridCol w="2677455"/>
                <a:gridCol w="543806"/>
              </a:tblGrid>
              <a:tr h="438912">
                <a:tc>
                  <a:txBody>
                    <a:bodyPr wrap="none"/>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Routine Cognitive Wellness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Preventive Cognitive Support for Senior Dogs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Support for Observable Age-Related Cognitive Changes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Veterinary-Guided Cognitive Dysfunction Support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6180">
                <a:tc>
                  <a:txBody>
                    <a:bodyPr wrap="none"/>
                    <a:lstStyle/>
                    <a:p>
                      <a:pPr algn="l"/>
                      <a:r>
                        <a:rPr sz="1100" b="1">
                          <a:solidFill>
                            <a:srgbClr val="2E2E2E"/>
                          </a:solidFill>
                          <a:latin typeface="Calibri"/>
                        </a:rPr>
                        <a:t>Veterinary Channels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80">
                <a:tc>
                  <a:txBody>
                    <a:bodyPr wrap="none"/>
                    <a:lstStyle/>
                    <a:p>
                      <a:pPr algn="l"/>
                      <a:r>
                        <a:rPr sz="1100" b="1">
                          <a:solidFill>
                            <a:srgbClr val="2E2E2E"/>
                          </a:solidFill>
                          <a:latin typeface="Calibri"/>
                        </a:rPr>
                        <a:t>Specialist Pet Retail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80">
                <a:tc>
                  <a:txBody>
                    <a:bodyPr wrap="none"/>
                    <a:lstStyle/>
                    <a:p>
                      <a:pPr algn="l"/>
                      <a:r>
                        <a:rPr sz="1100" b="1">
                          <a:solidFill>
                            <a:srgbClr val="2E2E2E"/>
                          </a:solidFill>
                          <a:latin typeface="Calibri"/>
                        </a:rPr>
                        <a:t>General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80">
                <a:tc>
                  <a:txBody>
                    <a:bodyPr wrap="none"/>
                    <a:lstStyle/>
                    <a:p>
                      <a:pPr algn="l"/>
                      <a:r>
                        <a:rPr sz="1100" b="1">
                          <a:solidFill>
                            <a:srgbClr val="2E2E2E"/>
                          </a:solidFill>
                          <a:latin typeface="Calibri"/>
                        </a:rPr>
                        <a:t>Brand-Owned E-commerce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80">
                <a:tc>
                  <a:txBody>
                    <a:bodyPr wrap="none"/>
                    <a:lstStyle/>
                    <a:p>
                      <a:pPr algn="l"/>
                      <a:r>
                        <a:rPr sz="1100" b="1">
                          <a:solidFill>
                            <a:srgbClr val="2E2E2E"/>
                          </a:solidFill>
                          <a:latin typeface="Calibri"/>
                        </a:rPr>
                        <a:t>Third-Party E-commerce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80">
                <a:tc>
                  <a:txBody>
                    <a:bodyPr wrap="none"/>
                    <a:lstStyle/>
                    <a:p>
                      <a:pPr algn="l"/>
                      <a:r>
                        <a:rPr sz="1100" b="1">
                          <a:solidFill>
                            <a:srgbClr val="2E2E2E"/>
                          </a:solidFill>
                          <a:latin typeface="Calibri"/>
                        </a:rPr>
                        <a:t>Other Direct Sales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8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4099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743325"/>
            <a:ext cx="7286625" cy="2886075"/>
          </a:xfrm>
          <a:prstGeom prst="roundRect">
            <a:avLst>
              <a:gd name="adj" fmla="val 2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80047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End-use Application Mix by Sales Channel, 2026E (% share)</a:t>
            </a:r>
          </a:p>
        </p:txBody>
      </p:sp>
      <p:graphicFrame>
        <p:nvGraphicFramePr>
          <p:cNvPr id="16" name="Chart 15"/>
          <p:cNvGraphicFramePr>
            <a:graphicFrameLocks noGrp="1"/>
          </p:cNvGraphicFramePr>
          <p:nvPr/>
        </p:nvGraphicFramePr>
        <p:xfrm>
          <a:off x="238125" y="4029075"/>
          <a:ext cx="7096125" cy="2543175"/>
        </p:xfrm>
        <a:graphic>
          <a:graphicData uri="http://schemas.openxmlformats.org/drawingml/2006/chart">
            <c:chart xmlns:c="http://schemas.openxmlformats.org/drawingml/2006/chart" r:id="rId3"/>
          </a:graphicData>
        </a:graphic>
      </p:graphicFrame>
      <p:sp>
        <p:nvSpPr>
          <p:cNvPr id="17" name="Rounded Rectangle 16"/>
          <p:cNvSpPr/>
          <p:nvPr/>
        </p:nvSpPr>
        <p:spPr>
          <a:xfrm>
            <a:off x="7581900" y="3743325"/>
            <a:ext cx="4457700" cy="2886075"/>
          </a:xfrm>
          <a:prstGeom prst="roundRect">
            <a:avLst>
              <a:gd name="adj" fmla="val 2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5250" y="3829050"/>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9" name="Rectangle 18"/>
          <p:cNvSpPr/>
          <p:nvPr/>
        </p:nvSpPr>
        <p:spPr>
          <a:xfrm>
            <a:off x="7715250" y="406717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5250" y="4152900"/>
            <a:ext cx="4191000" cy="2400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6773517" y="2272092"/>
            <a:ext cx="366712" cy="533400"/>
          </a:xfrm>
          <a:prstGeom prst="rect">
            <a:avLst/>
          </a:prstGeom>
        </p:spPr>
      </p:pic>
      <p:pic>
        <p:nvPicPr>
          <p:cNvPr id="23" name="Picture 22" descr="lock.png"/>
          <p:cNvPicPr>
            <a:picLocks noChangeAspect="1"/>
          </p:cNvPicPr>
          <p:nvPr/>
        </p:nvPicPr>
        <p:blipFill>
          <a:blip r:embed="rId5"/>
          <a:stretch>
            <a:fillRect/>
          </a:stretch>
        </p:blipFill>
        <p:spPr>
          <a:xfrm>
            <a:off x="3775138" y="4568380"/>
            <a:ext cx="311705" cy="453389"/>
          </a:xfrm>
          <a:prstGeom prst="rect">
            <a:avLst/>
          </a:prstGeom>
        </p:spPr>
      </p:pic>
      <p:sp>
        <p:nvSpPr>
          <p:cNvPr id="24" name="TextBox 23"/>
          <p:cNvSpPr txBox="1"/>
          <p:nvPr/>
        </p:nvSpPr>
        <p:spPr>
          <a:xfrm>
            <a:off x="7715250" y="4162425"/>
            <a:ext cx="4076886" cy="194310"/>
          </a:xfrm>
          <a:prstGeom prst="rect">
            <a:avLst/>
          </a:prstGeom>
          <a:noFill/>
        </p:spPr>
        <p:txBody>
          <a:bodyPr wrap="none" lIns="0" rIns="0" tIns="0" bIns="0">
            <a:spAutoFit/>
          </a:bodyPr>
          <a:lstStyle/>
          <a:p>
            <a:r>
              <a:rPr sz="1150" b="0">
                <a:solidFill>
                  <a:srgbClr val="2E2E2E"/>
                </a:solidFill>
                <a:latin typeface="Calibri"/>
              </a:rPr>
              <a:t>▪ 'Support for Observable Age-Related Cognitive Changes' holds the</a:t>
            </a:r>
          </a:p>
        </p:txBody>
      </p:sp>
      <p:sp>
        <p:nvSpPr>
          <p:cNvPr id="25" name="TextBox 24"/>
          <p:cNvSpPr txBox="1"/>
          <p:nvPr/>
        </p:nvSpPr>
        <p:spPr>
          <a:xfrm>
            <a:off x="7715250" y="4337685"/>
            <a:ext cx="2721613" cy="194310"/>
          </a:xfrm>
          <a:prstGeom prst="rect">
            <a:avLst/>
          </a:prstGeom>
          <a:noFill/>
        </p:spPr>
        <p:txBody>
          <a:bodyPr wrap="none" lIns="0" rIns="0" tIns="0" bIns="0">
            <a:spAutoFit/>
          </a:bodyPr>
          <a:lstStyle/>
          <a:p>
            <a:r>
              <a:rPr sz="1150" b="0">
                <a:solidFill>
                  <a:srgbClr val="2E2E2E"/>
                </a:solidFill>
                <a:latin typeface="Calibri"/>
              </a:rPr>
              <a:t>highest share of 'Third-Party E-commerce' at</a:t>
            </a:r>
          </a:p>
        </p:txBody>
      </p:sp>
      <p:pic>
        <p:nvPicPr>
          <p:cNvPr id="26" name="Picture 25" descr="lock.png"/>
          <p:cNvPicPr>
            <a:picLocks noChangeAspect="1"/>
          </p:cNvPicPr>
          <p:nvPr/>
        </p:nvPicPr>
        <p:blipFill>
          <a:blip r:embed="rId5"/>
          <a:stretch>
            <a:fillRect/>
          </a:stretch>
        </p:blipFill>
        <p:spPr>
          <a:xfrm>
            <a:off x="10386017" y="4327461"/>
            <a:ext cx="134549" cy="195707"/>
          </a:xfrm>
          <a:prstGeom prst="rect">
            <a:avLst/>
          </a:prstGeom>
        </p:spPr>
      </p:pic>
      <p:sp>
        <p:nvSpPr>
          <p:cNvPr id="27" name="TextBox 26"/>
          <p:cNvSpPr txBox="1"/>
          <p:nvPr/>
        </p:nvSpPr>
        <p:spPr>
          <a:xfrm>
            <a:off x="10561126" y="433768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8" name="TextBox 27"/>
          <p:cNvSpPr txBox="1"/>
          <p:nvPr/>
        </p:nvSpPr>
        <p:spPr>
          <a:xfrm>
            <a:off x="7715250" y="4565522"/>
            <a:ext cx="4013243" cy="194310"/>
          </a:xfrm>
          <a:prstGeom prst="rect">
            <a:avLst/>
          </a:prstGeom>
          <a:noFill/>
        </p:spPr>
        <p:txBody>
          <a:bodyPr wrap="none" lIns="0" rIns="0" tIns="0" bIns="0">
            <a:spAutoFit/>
          </a:bodyPr>
          <a:lstStyle/>
          <a:p>
            <a:r>
              <a:rPr sz="1150" b="0">
                <a:solidFill>
                  <a:srgbClr val="2E2E2E"/>
                </a:solidFill>
                <a:latin typeface="Calibri"/>
              </a:rPr>
              <a:t>▪ 'Third-Party E-commerce' is the most concentrated sales channel</a:t>
            </a:r>
          </a:p>
        </p:txBody>
      </p:sp>
      <p:sp>
        <p:nvSpPr>
          <p:cNvPr id="29" name="TextBox 28"/>
          <p:cNvSpPr txBox="1"/>
          <p:nvPr/>
        </p:nvSpPr>
        <p:spPr>
          <a:xfrm>
            <a:off x="7715250" y="4740782"/>
            <a:ext cx="1178706" cy="194310"/>
          </a:xfrm>
          <a:prstGeom prst="rect">
            <a:avLst/>
          </a:prstGeom>
          <a:noFill/>
        </p:spPr>
        <p:txBody>
          <a:bodyPr wrap="none" lIns="0" rIns="0" tIns="0" bIns="0">
            <a:spAutoFit/>
          </a:bodyPr>
          <a:lstStyle/>
          <a:p>
            <a:r>
              <a:rPr sz="1150" b="0">
                <a:solidFill>
                  <a:srgbClr val="2E2E2E"/>
                </a:solidFill>
                <a:latin typeface="Calibri"/>
              </a:rPr>
              <a:t>sub-segment, with</a:t>
            </a:r>
          </a:p>
        </p:txBody>
      </p:sp>
      <p:pic>
        <p:nvPicPr>
          <p:cNvPr id="30" name="Picture 29" descr="lock.png"/>
          <p:cNvPicPr>
            <a:picLocks noChangeAspect="1"/>
          </p:cNvPicPr>
          <p:nvPr/>
        </p:nvPicPr>
        <p:blipFill>
          <a:blip r:embed="rId5"/>
          <a:stretch>
            <a:fillRect/>
          </a:stretch>
        </p:blipFill>
        <p:spPr>
          <a:xfrm>
            <a:off x="8843110" y="4730559"/>
            <a:ext cx="134549" cy="195707"/>
          </a:xfrm>
          <a:prstGeom prst="rect">
            <a:avLst/>
          </a:prstGeom>
        </p:spPr>
      </p:pic>
      <p:sp>
        <p:nvSpPr>
          <p:cNvPr id="31" name="TextBox 30"/>
          <p:cNvSpPr txBox="1"/>
          <p:nvPr/>
        </p:nvSpPr>
        <p:spPr>
          <a:xfrm>
            <a:off x="9018219" y="4740782"/>
            <a:ext cx="2376772" cy="194310"/>
          </a:xfrm>
          <a:prstGeom prst="rect">
            <a:avLst/>
          </a:prstGeom>
          <a:noFill/>
        </p:spPr>
        <p:txBody>
          <a:bodyPr wrap="none" lIns="0" rIns="0" tIns="0" bIns="0">
            <a:spAutoFit/>
          </a:bodyPr>
          <a:lstStyle/>
          <a:p>
            <a:r>
              <a:rPr sz="1150" b="0">
                <a:solidFill>
                  <a:srgbClr val="2E2E2E"/>
                </a:solidFill>
                <a:latin typeface="Calibri"/>
              </a:rPr>
              <a:t>of its value via 'Support for Observable</a:t>
            </a:r>
          </a:p>
        </p:txBody>
      </p:sp>
      <p:sp>
        <p:nvSpPr>
          <p:cNvPr id="32" name="TextBox 31"/>
          <p:cNvSpPr txBox="1"/>
          <p:nvPr/>
        </p:nvSpPr>
        <p:spPr>
          <a:xfrm>
            <a:off x="7715250" y="4916042"/>
            <a:ext cx="1991394" cy="194310"/>
          </a:xfrm>
          <a:prstGeom prst="rect">
            <a:avLst/>
          </a:prstGeom>
          <a:noFill/>
        </p:spPr>
        <p:txBody>
          <a:bodyPr wrap="none" lIns="0" rIns="0" tIns="0" bIns="0">
            <a:spAutoFit/>
          </a:bodyPr>
          <a:lstStyle/>
          <a:p>
            <a:r>
              <a:rPr sz="1150" b="0">
                <a:solidFill>
                  <a:srgbClr val="2E2E2E"/>
                </a:solidFill>
                <a:latin typeface="Calibri"/>
              </a:rPr>
              <a:t>Age-Related Cognitive Changes'.</a:t>
            </a:r>
          </a:p>
        </p:txBody>
      </p:sp>
      <p:sp>
        <p:nvSpPr>
          <p:cNvPr id="33" name="TextBox 32"/>
          <p:cNvSpPr txBox="1"/>
          <p:nvPr/>
        </p:nvSpPr>
        <p:spPr>
          <a:xfrm>
            <a:off x="7715250" y="5143880"/>
            <a:ext cx="3608499" cy="194310"/>
          </a:xfrm>
          <a:prstGeom prst="rect">
            <a:avLst/>
          </a:prstGeom>
          <a:noFill/>
        </p:spPr>
        <p:txBody>
          <a:bodyPr wrap="none" lIns="0" rIns="0" tIns="0" bIns="0">
            <a:spAutoFit/>
          </a:bodyPr>
          <a:lstStyle/>
          <a:p>
            <a:r>
              <a:rPr sz="1150" b="0">
                <a:solidFill>
                  <a:srgbClr val="2E2E2E"/>
                </a:solidFill>
                <a:latin typeface="Calibri"/>
              </a:rPr>
              <a:t>▪ 'Veterinary-Guided Cognitive Dysfunction Support' gains +</a:t>
            </a:r>
          </a:p>
        </p:txBody>
      </p:sp>
      <p:pic>
        <p:nvPicPr>
          <p:cNvPr id="34" name="Picture 33" descr="lock.png"/>
          <p:cNvPicPr>
            <a:picLocks noChangeAspect="1"/>
          </p:cNvPicPr>
          <p:nvPr/>
        </p:nvPicPr>
        <p:blipFill>
          <a:blip r:embed="rId5"/>
          <a:stretch>
            <a:fillRect/>
          </a:stretch>
        </p:blipFill>
        <p:spPr>
          <a:xfrm>
            <a:off x="11272903" y="5133657"/>
            <a:ext cx="134549" cy="195707"/>
          </a:xfrm>
          <a:prstGeom prst="rect">
            <a:avLst/>
          </a:prstGeom>
        </p:spPr>
      </p:pic>
      <p:sp>
        <p:nvSpPr>
          <p:cNvPr id="35" name="TextBox 34"/>
          <p:cNvSpPr txBox="1"/>
          <p:nvPr/>
        </p:nvSpPr>
        <p:spPr>
          <a:xfrm>
            <a:off x="11448012" y="5143880"/>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36" name="TextBox 35"/>
          <p:cNvSpPr txBox="1"/>
          <p:nvPr/>
        </p:nvSpPr>
        <p:spPr>
          <a:xfrm>
            <a:off x="7715250" y="5319140"/>
            <a:ext cx="2780193" cy="194310"/>
          </a:xfrm>
          <a:prstGeom prst="rect">
            <a:avLst/>
          </a:prstGeom>
          <a:noFill/>
        </p:spPr>
        <p:txBody>
          <a:bodyPr wrap="none" lIns="0" rIns="0" tIns="0" bIns="0">
            <a:spAutoFit/>
          </a:bodyPr>
          <a:lstStyle/>
          <a:p>
            <a:r>
              <a:rPr sz="1150" b="0">
                <a:solidFill>
                  <a:srgbClr val="2E2E2E"/>
                </a:solidFill>
                <a:latin typeface="Calibri"/>
              </a:rPr>
              <a:t>of share of the Global cross-section by 2036F.</a:t>
            </a:r>
          </a:p>
        </p:txBody>
      </p:sp>
      <p:sp>
        <p:nvSpPr>
          <p:cNvPr id="37" name="lockshield_16"/>
          <p:cNvSpPr/>
          <p:nvPr/>
        </p:nvSpPr>
        <p:spPr>
          <a:xfrm>
            <a:off x="238125" y="4029075"/>
            <a:ext cx="7096125" cy="25431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&amp; Attractiveness: Sales Channel × End-use Application,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2876550"/>
          </a:xfrm>
          <a:prstGeom prst="roundRect">
            <a:avLst>
              <a:gd name="adj" fmla="val 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Sales Channel × End-use Application, 2026E–2036F</a:t>
            </a:r>
          </a:p>
        </p:txBody>
      </p:sp>
      <p:graphicFrame>
        <p:nvGraphicFramePr>
          <p:cNvPr id="12" name="Table 11"/>
          <p:cNvGraphicFramePr>
            <a:graphicFrameLocks noGrp="1"/>
          </p:cNvGraphicFramePr>
          <p:nvPr/>
        </p:nvGraphicFramePr>
        <p:xfrm>
          <a:off x="152400" y="1238250"/>
          <a:ext cx="11887200" cy="2409824"/>
        </p:xfrm>
        <a:graphic>
          <a:graphicData uri="http://schemas.openxmlformats.org/drawingml/2006/table">
            <a:tbl>
              <a:tblPr>
                <a:tableStyleId>{5C22544A-7EE6-4342-B048-85BDC9FD1C3A}</a:tableStyleId>
              </a:tblPr>
              <a:tblGrid>
                <a:gridCol w="2726970"/>
                <a:gridCol w="916023"/>
                <a:gridCol w="916023"/>
                <a:gridCol w="916023"/>
                <a:gridCol w="916023"/>
                <a:gridCol w="916023"/>
                <a:gridCol w="916023"/>
                <a:gridCol w="916023"/>
                <a:gridCol w="916023"/>
                <a:gridCol w="916023"/>
                <a:gridCol w="916023"/>
              </a:tblGrid>
              <a:tr h="438912">
                <a:tc rowSpan="2">
                  <a:txBody>
                    <a:bodyPr wrap="none"/>
                    <a:lstStyle/>
                    <a:p>
                      <a:pPr algn="l"/>
                      <a:r>
                        <a:rPr sz="1100" b="1">
                          <a:solidFill>
                            <a:srgbClr val="0B2E4A"/>
                          </a:solidFill>
                          <a:latin typeface="Calibri"/>
                        </a:rPr>
                        <a:t>Sales Channel</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Routine Cognitive Wellness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Preventive Cognitive</a:t>
                      </a:r>
                      <a:endParaRPr sz="1100"/>
                    </a:p>
                    <a:p>
                      <a:pPr algn="ctr"/>
                      <a:r>
                        <a:rPr sz="1100" b="1">
                          <a:solidFill>
                            <a:srgbClr val="0B2E4A"/>
                          </a:solidFill>
                          <a:latin typeface="Calibri"/>
                        </a:rPr>
                        <a:t>Support for Senior Dogs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Support for Observable Age-</a:t>
                      </a:r>
                      <a:endParaRPr sz="1100"/>
                    </a:p>
                    <a:p>
                      <a:pPr algn="ctr"/>
                      <a:r>
                        <a:rPr sz="1100" b="1">
                          <a:solidFill>
                            <a:srgbClr val="0B2E4A"/>
                          </a:solidFill>
                          <a:latin typeface="Calibri"/>
                        </a:rPr>
                        <a:t>Related Cognitive Changes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Veterinary-Guided Cognitive</a:t>
                      </a:r>
                      <a:endParaRPr sz="1100"/>
                    </a:p>
                    <a:p>
                      <a:pPr algn="ctr"/>
                      <a:r>
                        <a:rPr sz="1100" b="1">
                          <a:solidFill>
                            <a:srgbClr val="0B2E4A"/>
                          </a:solidFill>
                          <a:latin typeface="Calibri"/>
                        </a:rPr>
                        <a:t>Dysfunction Support</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364">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6364">
                <a:tc>
                  <a:txBody>
                    <a:bodyPr wrap="none"/>
                    <a:lstStyle/>
                    <a:p>
                      <a:pPr algn="l"/>
                      <a:r>
                        <a:rPr sz="1100" b="1">
                          <a:solidFill>
                            <a:srgbClr val="2E2E2E"/>
                          </a:solidFill>
                          <a:latin typeface="Calibri"/>
                        </a:rPr>
                        <a:t>Veterinary Channels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64">
                <a:tc>
                  <a:txBody>
                    <a:bodyPr wrap="none"/>
                    <a:lstStyle/>
                    <a:p>
                      <a:pPr algn="l"/>
                      <a:r>
                        <a:rPr sz="1100" b="1">
                          <a:solidFill>
                            <a:srgbClr val="2E2E2E"/>
                          </a:solidFill>
                          <a:latin typeface="Calibri"/>
                        </a:rPr>
                        <a:t>Specialist Pet Retail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64">
                <a:tc>
                  <a:txBody>
                    <a:bodyPr wrap="none"/>
                    <a:lstStyle/>
                    <a:p>
                      <a:pPr algn="l"/>
                      <a:r>
                        <a:rPr sz="1100" b="1">
                          <a:solidFill>
                            <a:srgbClr val="2E2E2E"/>
                          </a:solidFill>
                          <a:latin typeface="Calibri"/>
                        </a:rPr>
                        <a:t>General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64">
                <a:tc>
                  <a:txBody>
                    <a:bodyPr wrap="none"/>
                    <a:lstStyle/>
                    <a:p>
                      <a:pPr algn="l"/>
                      <a:r>
                        <a:rPr sz="1100" b="1">
                          <a:solidFill>
                            <a:srgbClr val="2E2E2E"/>
                          </a:solidFill>
                          <a:latin typeface="Calibri"/>
                        </a:rPr>
                        <a:t>Brand-Owned E-commerce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64">
                <a:tc>
                  <a:txBody>
                    <a:bodyPr wrap="none"/>
                    <a:lstStyle/>
                    <a:p>
                      <a:pPr algn="l"/>
                      <a:r>
                        <a:rPr sz="1100" b="1">
                          <a:solidFill>
                            <a:srgbClr val="2E2E2E"/>
                          </a:solidFill>
                          <a:latin typeface="Calibri"/>
                        </a:rPr>
                        <a:t>Third-Party E-commerce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64">
                <a:tc>
                  <a:txBody>
                    <a:bodyPr wrap="none"/>
                    <a:lstStyle/>
                    <a:p>
                      <a:pPr algn="l"/>
                      <a:r>
                        <a:rPr sz="1100" b="1">
                          <a:solidFill>
                            <a:srgbClr val="2E2E2E"/>
                          </a:solidFill>
                          <a:latin typeface="Calibri"/>
                        </a:rPr>
                        <a:t>Other Direct Sales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6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6576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990975"/>
            <a:ext cx="5600700" cy="2638425"/>
          </a:xfrm>
          <a:prstGeom prst="roundRect">
            <a:avLst>
              <a:gd name="adj" fmla="val 288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076700"/>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4314825"/>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400550"/>
            <a:ext cx="5334000" cy="21526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5895975" y="3990975"/>
            <a:ext cx="1943100" cy="26384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4076700"/>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43148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4400550"/>
            <a:ext cx="1676400" cy="21526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3990975"/>
            <a:ext cx="1943100" cy="26384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4076700"/>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43148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4400550"/>
            <a:ext cx="1676400" cy="21526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3990975"/>
            <a:ext cx="1943100" cy="26384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4076700"/>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43148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4400550"/>
            <a:ext cx="1676400" cy="21526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'Veterinary Channels × Veterinary-Guided Cognitive Dysfunction Support' ranks highest (5/5); 'General Retail × Support for Observable Age-Related Cognitive Changes'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7272794" y="2519100"/>
            <a:ext cx="366712" cy="533400"/>
          </a:xfrm>
          <a:prstGeom prst="rect">
            <a:avLst/>
          </a:prstGeom>
        </p:spPr>
      </p:pic>
      <p:sp>
        <p:nvSpPr>
          <p:cNvPr id="32" name="TextBox 31"/>
          <p:cNvSpPr txBox="1"/>
          <p:nvPr/>
        </p:nvSpPr>
        <p:spPr>
          <a:xfrm>
            <a:off x="276225" y="4410075"/>
            <a:ext cx="5261229" cy="194310"/>
          </a:xfrm>
          <a:prstGeom prst="rect">
            <a:avLst/>
          </a:prstGeom>
          <a:noFill/>
        </p:spPr>
        <p:txBody>
          <a:bodyPr wrap="none" lIns="0" rIns="0" tIns="0" bIns="0">
            <a:spAutoFit/>
          </a:bodyPr>
          <a:lstStyle/>
          <a:p>
            <a:r>
              <a:rPr sz="1150" b="0">
                <a:solidFill>
                  <a:srgbClr val="2E2E2E"/>
                </a:solidFill>
                <a:latin typeface="Calibri"/>
              </a:rPr>
              <a:t>▪ 1. Third-Party E-commerce × Support for Observable Age-Related Cognitive Changes –</a:t>
            </a:r>
          </a:p>
        </p:txBody>
      </p:sp>
      <p:pic>
        <p:nvPicPr>
          <p:cNvPr id="33" name="Picture 32" descr="lock.png"/>
          <p:cNvPicPr>
            <a:picLocks noChangeAspect="1"/>
          </p:cNvPicPr>
          <p:nvPr/>
        </p:nvPicPr>
        <p:blipFill>
          <a:blip r:embed="rId4"/>
          <a:stretch>
            <a:fillRect/>
          </a:stretch>
        </p:blipFill>
        <p:spPr>
          <a:xfrm>
            <a:off x="262145" y="4575111"/>
            <a:ext cx="134549" cy="195707"/>
          </a:xfrm>
          <a:prstGeom prst="rect">
            <a:avLst/>
          </a:prstGeom>
        </p:spPr>
      </p:pic>
      <p:sp>
        <p:nvSpPr>
          <p:cNvPr id="34" name="TextBox 33"/>
          <p:cNvSpPr txBox="1"/>
          <p:nvPr/>
        </p:nvSpPr>
        <p:spPr>
          <a:xfrm>
            <a:off x="437254" y="458533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499406" y="4575111"/>
            <a:ext cx="134549" cy="195707"/>
          </a:xfrm>
          <a:prstGeom prst="rect">
            <a:avLst/>
          </a:prstGeom>
        </p:spPr>
      </p:pic>
      <p:sp>
        <p:nvSpPr>
          <p:cNvPr id="36" name="TextBox 35"/>
          <p:cNvSpPr txBox="1"/>
          <p:nvPr/>
        </p:nvSpPr>
        <p:spPr>
          <a:xfrm>
            <a:off x="674515" y="4585335"/>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7" name="TextBox 36"/>
          <p:cNvSpPr txBox="1"/>
          <p:nvPr/>
        </p:nvSpPr>
        <p:spPr>
          <a:xfrm>
            <a:off x="276225" y="4813172"/>
            <a:ext cx="4972583" cy="194310"/>
          </a:xfrm>
          <a:prstGeom prst="rect">
            <a:avLst/>
          </a:prstGeom>
          <a:noFill/>
        </p:spPr>
        <p:txBody>
          <a:bodyPr wrap="none" lIns="0" rIns="0" tIns="0" bIns="0">
            <a:spAutoFit/>
          </a:bodyPr>
          <a:lstStyle/>
          <a:p>
            <a:r>
              <a:rPr sz="1150" b="0">
                <a:solidFill>
                  <a:srgbClr val="2E2E2E"/>
                </a:solidFill>
                <a:latin typeface="Calibri"/>
              </a:rPr>
              <a:t>▪ 2. Specialist Pet Retail × Support for Observable Age-Related Cognitive Changes –</a:t>
            </a:r>
          </a:p>
        </p:txBody>
      </p:sp>
      <p:pic>
        <p:nvPicPr>
          <p:cNvPr id="38" name="Picture 37" descr="lock.png"/>
          <p:cNvPicPr>
            <a:picLocks noChangeAspect="1"/>
          </p:cNvPicPr>
          <p:nvPr/>
        </p:nvPicPr>
        <p:blipFill>
          <a:blip r:embed="rId4"/>
          <a:stretch>
            <a:fillRect/>
          </a:stretch>
        </p:blipFill>
        <p:spPr>
          <a:xfrm>
            <a:off x="5197962" y="4802949"/>
            <a:ext cx="134549" cy="195707"/>
          </a:xfrm>
          <a:prstGeom prst="rect">
            <a:avLst/>
          </a:prstGeom>
        </p:spPr>
      </p:pic>
      <p:sp>
        <p:nvSpPr>
          <p:cNvPr id="39" name="TextBox 38"/>
          <p:cNvSpPr txBox="1"/>
          <p:nvPr/>
        </p:nvSpPr>
        <p:spPr>
          <a:xfrm>
            <a:off x="5373071" y="4813172"/>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262145" y="4978209"/>
            <a:ext cx="134549" cy="195707"/>
          </a:xfrm>
          <a:prstGeom prst="rect">
            <a:avLst/>
          </a:prstGeom>
        </p:spPr>
      </p:pic>
      <p:sp>
        <p:nvSpPr>
          <p:cNvPr id="41" name="TextBox 40"/>
          <p:cNvSpPr txBox="1"/>
          <p:nvPr/>
        </p:nvSpPr>
        <p:spPr>
          <a:xfrm>
            <a:off x="437254" y="4988432"/>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2" name="TextBox 41"/>
          <p:cNvSpPr txBox="1"/>
          <p:nvPr/>
        </p:nvSpPr>
        <p:spPr>
          <a:xfrm>
            <a:off x="276225" y="5216270"/>
            <a:ext cx="5015941" cy="194310"/>
          </a:xfrm>
          <a:prstGeom prst="rect">
            <a:avLst/>
          </a:prstGeom>
          <a:noFill/>
        </p:spPr>
        <p:txBody>
          <a:bodyPr wrap="none" lIns="0" rIns="0" tIns="0" bIns="0">
            <a:spAutoFit/>
          </a:bodyPr>
          <a:lstStyle/>
          <a:p>
            <a:r>
              <a:rPr sz="1150" b="0">
                <a:solidFill>
                  <a:srgbClr val="2E2E2E"/>
                </a:solidFill>
                <a:latin typeface="Calibri"/>
              </a:rPr>
              <a:t>▪ 3. Veterinary Channels × Support for Observable Age-Related Cognitive Changes –</a:t>
            </a:r>
          </a:p>
        </p:txBody>
      </p:sp>
      <p:pic>
        <p:nvPicPr>
          <p:cNvPr id="43" name="Picture 42" descr="lock.png"/>
          <p:cNvPicPr>
            <a:picLocks noChangeAspect="1"/>
          </p:cNvPicPr>
          <p:nvPr/>
        </p:nvPicPr>
        <p:blipFill>
          <a:blip r:embed="rId4"/>
          <a:stretch>
            <a:fillRect/>
          </a:stretch>
        </p:blipFill>
        <p:spPr>
          <a:xfrm>
            <a:off x="5241320" y="5206047"/>
            <a:ext cx="134549" cy="195707"/>
          </a:xfrm>
          <a:prstGeom prst="rect">
            <a:avLst/>
          </a:prstGeom>
        </p:spPr>
      </p:pic>
      <p:sp>
        <p:nvSpPr>
          <p:cNvPr id="44" name="TextBox 43"/>
          <p:cNvSpPr txBox="1"/>
          <p:nvPr/>
        </p:nvSpPr>
        <p:spPr>
          <a:xfrm>
            <a:off x="5416430" y="5216270"/>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5" name="Picture 44" descr="lock.png"/>
          <p:cNvPicPr>
            <a:picLocks noChangeAspect="1"/>
          </p:cNvPicPr>
          <p:nvPr/>
        </p:nvPicPr>
        <p:blipFill>
          <a:blip r:embed="rId4"/>
          <a:stretch>
            <a:fillRect/>
          </a:stretch>
        </p:blipFill>
        <p:spPr>
          <a:xfrm>
            <a:off x="262145" y="5381307"/>
            <a:ext cx="134549" cy="195707"/>
          </a:xfrm>
          <a:prstGeom prst="rect">
            <a:avLst/>
          </a:prstGeom>
        </p:spPr>
      </p:pic>
      <p:sp>
        <p:nvSpPr>
          <p:cNvPr id="46" name="TextBox 45"/>
          <p:cNvSpPr txBox="1"/>
          <p:nvPr/>
        </p:nvSpPr>
        <p:spPr>
          <a:xfrm>
            <a:off x="437254" y="5391530"/>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47" name="TextBox 46"/>
          <p:cNvSpPr txBox="1"/>
          <p:nvPr/>
        </p:nvSpPr>
        <p:spPr>
          <a:xfrm>
            <a:off x="276225" y="5619368"/>
            <a:ext cx="3616169" cy="194310"/>
          </a:xfrm>
          <a:prstGeom prst="rect">
            <a:avLst/>
          </a:prstGeom>
          <a:noFill/>
        </p:spPr>
        <p:txBody>
          <a:bodyPr wrap="none" lIns="0" rIns="0" tIns="0" bIns="0">
            <a:spAutoFit/>
          </a:bodyPr>
          <a:lstStyle/>
          <a:p>
            <a:r>
              <a:rPr sz="1150" b="0">
                <a:solidFill>
                  <a:srgbClr val="2E2E2E"/>
                </a:solidFill>
                <a:latin typeface="Calibri"/>
              </a:rPr>
              <a:t>▪ 4. Third-Party E-commerce × Routine Cognitive Wellness –</a:t>
            </a:r>
          </a:p>
        </p:txBody>
      </p:sp>
      <p:pic>
        <p:nvPicPr>
          <p:cNvPr id="48" name="Picture 47" descr="lock.png"/>
          <p:cNvPicPr>
            <a:picLocks noChangeAspect="1"/>
          </p:cNvPicPr>
          <p:nvPr/>
        </p:nvPicPr>
        <p:blipFill>
          <a:blip r:embed="rId4"/>
          <a:stretch>
            <a:fillRect/>
          </a:stretch>
        </p:blipFill>
        <p:spPr>
          <a:xfrm>
            <a:off x="3841548" y="5609145"/>
            <a:ext cx="134549" cy="195707"/>
          </a:xfrm>
          <a:prstGeom prst="rect">
            <a:avLst/>
          </a:prstGeom>
        </p:spPr>
      </p:pic>
      <p:sp>
        <p:nvSpPr>
          <p:cNvPr id="49" name="TextBox 48"/>
          <p:cNvSpPr txBox="1"/>
          <p:nvPr/>
        </p:nvSpPr>
        <p:spPr>
          <a:xfrm>
            <a:off x="4016657" y="5619368"/>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0" name="Picture 49" descr="lock.png"/>
          <p:cNvPicPr>
            <a:picLocks noChangeAspect="1"/>
          </p:cNvPicPr>
          <p:nvPr/>
        </p:nvPicPr>
        <p:blipFill>
          <a:blip r:embed="rId4"/>
          <a:stretch>
            <a:fillRect/>
          </a:stretch>
        </p:blipFill>
        <p:spPr>
          <a:xfrm>
            <a:off x="4078809" y="5609145"/>
            <a:ext cx="134549" cy="195707"/>
          </a:xfrm>
          <a:prstGeom prst="rect">
            <a:avLst/>
          </a:prstGeom>
        </p:spPr>
      </p:pic>
      <p:sp>
        <p:nvSpPr>
          <p:cNvPr id="51" name="TextBox 50"/>
          <p:cNvSpPr txBox="1"/>
          <p:nvPr/>
        </p:nvSpPr>
        <p:spPr>
          <a:xfrm>
            <a:off x="4253918" y="5619368"/>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52" name="TextBox 51"/>
          <p:cNvSpPr txBox="1"/>
          <p:nvPr/>
        </p:nvSpPr>
        <p:spPr>
          <a:xfrm>
            <a:off x="276225" y="5847206"/>
            <a:ext cx="3327524" cy="194310"/>
          </a:xfrm>
          <a:prstGeom prst="rect">
            <a:avLst/>
          </a:prstGeom>
          <a:noFill/>
        </p:spPr>
        <p:txBody>
          <a:bodyPr wrap="none" lIns="0" rIns="0" tIns="0" bIns="0">
            <a:spAutoFit/>
          </a:bodyPr>
          <a:lstStyle/>
          <a:p>
            <a:r>
              <a:rPr sz="1150" b="0">
                <a:solidFill>
                  <a:srgbClr val="2E2E2E"/>
                </a:solidFill>
                <a:latin typeface="Calibri"/>
              </a:rPr>
              <a:t>▪ 5. Specialist Pet Retail × Routine Cognitive Wellness –</a:t>
            </a:r>
          </a:p>
        </p:txBody>
      </p:sp>
      <p:pic>
        <p:nvPicPr>
          <p:cNvPr id="53" name="Picture 52" descr="lock.png"/>
          <p:cNvPicPr>
            <a:picLocks noChangeAspect="1"/>
          </p:cNvPicPr>
          <p:nvPr/>
        </p:nvPicPr>
        <p:blipFill>
          <a:blip r:embed="rId4"/>
          <a:stretch>
            <a:fillRect/>
          </a:stretch>
        </p:blipFill>
        <p:spPr>
          <a:xfrm>
            <a:off x="3552902" y="5836983"/>
            <a:ext cx="134549" cy="195707"/>
          </a:xfrm>
          <a:prstGeom prst="rect">
            <a:avLst/>
          </a:prstGeom>
        </p:spPr>
      </p:pic>
      <p:sp>
        <p:nvSpPr>
          <p:cNvPr id="54" name="TextBox 53"/>
          <p:cNvSpPr txBox="1"/>
          <p:nvPr/>
        </p:nvSpPr>
        <p:spPr>
          <a:xfrm>
            <a:off x="3728012" y="5847206"/>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5" name="Picture 54" descr="lock.png"/>
          <p:cNvPicPr>
            <a:picLocks noChangeAspect="1"/>
          </p:cNvPicPr>
          <p:nvPr/>
        </p:nvPicPr>
        <p:blipFill>
          <a:blip r:embed="rId4"/>
          <a:stretch>
            <a:fillRect/>
          </a:stretch>
        </p:blipFill>
        <p:spPr>
          <a:xfrm>
            <a:off x="3790163" y="5836983"/>
            <a:ext cx="134549" cy="195707"/>
          </a:xfrm>
          <a:prstGeom prst="rect">
            <a:avLst/>
          </a:prstGeom>
        </p:spPr>
      </p:pic>
      <p:sp>
        <p:nvSpPr>
          <p:cNvPr id="56" name="TextBox 55"/>
          <p:cNvSpPr txBox="1"/>
          <p:nvPr/>
        </p:nvSpPr>
        <p:spPr>
          <a:xfrm>
            <a:off x="3965273" y="5847206"/>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57" name="TextBox 56"/>
          <p:cNvSpPr txBox="1"/>
          <p:nvPr/>
        </p:nvSpPr>
        <p:spPr>
          <a:xfrm>
            <a:off x="6029325" y="4410075"/>
            <a:ext cx="1639074" cy="194310"/>
          </a:xfrm>
          <a:prstGeom prst="rect">
            <a:avLst/>
          </a:prstGeom>
          <a:noFill/>
        </p:spPr>
        <p:txBody>
          <a:bodyPr wrap="none" lIns="0" rIns="0" tIns="0" bIns="0">
            <a:spAutoFit/>
          </a:bodyPr>
          <a:lstStyle/>
          <a:p>
            <a:r>
              <a:rPr sz="1150" b="0">
                <a:solidFill>
                  <a:srgbClr val="2E2E2E"/>
                </a:solidFill>
                <a:latin typeface="Calibri"/>
              </a:rPr>
              <a:t>▪ 'Third-Party E-commerce</a:t>
            </a:r>
          </a:p>
        </p:txBody>
      </p:sp>
      <p:sp>
        <p:nvSpPr>
          <p:cNvPr id="58" name="TextBox 57"/>
          <p:cNvSpPr txBox="1"/>
          <p:nvPr/>
        </p:nvSpPr>
        <p:spPr>
          <a:xfrm>
            <a:off x="6029325" y="4585335"/>
            <a:ext cx="1568363" cy="194310"/>
          </a:xfrm>
          <a:prstGeom prst="rect">
            <a:avLst/>
          </a:prstGeom>
          <a:noFill/>
        </p:spPr>
        <p:txBody>
          <a:bodyPr wrap="none" lIns="0" rIns="0" tIns="0" bIns="0">
            <a:spAutoFit/>
          </a:bodyPr>
          <a:lstStyle/>
          <a:p>
            <a:r>
              <a:rPr sz="1150" b="0">
                <a:solidFill>
                  <a:srgbClr val="2E2E2E"/>
                </a:solidFill>
                <a:latin typeface="Calibri"/>
              </a:rPr>
              <a:t>× Support for Observable</a:t>
            </a:r>
          </a:p>
        </p:txBody>
      </p:sp>
      <p:sp>
        <p:nvSpPr>
          <p:cNvPr id="59" name="TextBox 58"/>
          <p:cNvSpPr txBox="1"/>
          <p:nvPr/>
        </p:nvSpPr>
        <p:spPr>
          <a:xfrm>
            <a:off x="6029325" y="4760595"/>
            <a:ext cx="1389508" cy="194310"/>
          </a:xfrm>
          <a:prstGeom prst="rect">
            <a:avLst/>
          </a:prstGeom>
          <a:noFill/>
        </p:spPr>
        <p:txBody>
          <a:bodyPr wrap="none" lIns="0" rIns="0" tIns="0" bIns="0">
            <a:spAutoFit/>
          </a:bodyPr>
          <a:lstStyle/>
          <a:p>
            <a:r>
              <a:rPr sz="1150" b="0">
                <a:solidFill>
                  <a:srgbClr val="2E2E2E"/>
                </a:solidFill>
                <a:latin typeface="Calibri"/>
              </a:rPr>
              <a:t>Age-Related Cognitive</a:t>
            </a:r>
          </a:p>
        </p:txBody>
      </p:sp>
      <p:sp>
        <p:nvSpPr>
          <p:cNvPr id="60" name="TextBox 59"/>
          <p:cNvSpPr txBox="1"/>
          <p:nvPr/>
        </p:nvSpPr>
        <p:spPr>
          <a:xfrm>
            <a:off x="6029325" y="4935854"/>
            <a:ext cx="921692" cy="194310"/>
          </a:xfrm>
          <a:prstGeom prst="rect">
            <a:avLst/>
          </a:prstGeom>
          <a:noFill/>
        </p:spPr>
        <p:txBody>
          <a:bodyPr wrap="none" lIns="0" rIns="0" tIns="0" bIns="0">
            <a:spAutoFit/>
          </a:bodyPr>
          <a:lstStyle/>
          <a:p>
            <a:r>
              <a:rPr sz="1150" b="0">
                <a:solidFill>
                  <a:srgbClr val="2E2E2E"/>
                </a:solidFill>
                <a:latin typeface="Calibri"/>
              </a:rPr>
              <a:t>Changes' adds</a:t>
            </a:r>
          </a:p>
        </p:txBody>
      </p:sp>
      <p:pic>
        <p:nvPicPr>
          <p:cNvPr id="61" name="Picture 60" descr="lock.png"/>
          <p:cNvPicPr>
            <a:picLocks noChangeAspect="1"/>
          </p:cNvPicPr>
          <p:nvPr/>
        </p:nvPicPr>
        <p:blipFill>
          <a:blip r:embed="rId4"/>
          <a:stretch>
            <a:fillRect/>
          </a:stretch>
        </p:blipFill>
        <p:spPr>
          <a:xfrm>
            <a:off x="6900171" y="4925631"/>
            <a:ext cx="134549" cy="195707"/>
          </a:xfrm>
          <a:prstGeom prst="rect">
            <a:avLst/>
          </a:prstGeom>
        </p:spPr>
      </p:pic>
      <p:sp>
        <p:nvSpPr>
          <p:cNvPr id="62" name="TextBox 61"/>
          <p:cNvSpPr txBox="1"/>
          <p:nvPr/>
        </p:nvSpPr>
        <p:spPr>
          <a:xfrm>
            <a:off x="7075280" y="4935854"/>
            <a:ext cx="546013" cy="194310"/>
          </a:xfrm>
          <a:prstGeom prst="rect">
            <a:avLst/>
          </a:prstGeom>
          <a:noFill/>
        </p:spPr>
        <p:txBody>
          <a:bodyPr wrap="none" lIns="0" rIns="0" tIns="0" bIns="0">
            <a:spAutoFit/>
          </a:bodyPr>
          <a:lstStyle/>
          <a:p>
            <a:r>
              <a:rPr sz="1150" b="0">
                <a:solidFill>
                  <a:srgbClr val="2E2E2E"/>
                </a:solidFill>
                <a:latin typeface="Calibri"/>
              </a:rPr>
              <a:t>US$ Mn</a:t>
            </a:r>
          </a:p>
        </p:txBody>
      </p:sp>
      <p:sp>
        <p:nvSpPr>
          <p:cNvPr id="63" name="TextBox 62"/>
          <p:cNvSpPr txBox="1"/>
          <p:nvPr/>
        </p:nvSpPr>
        <p:spPr>
          <a:xfrm>
            <a:off x="6029325" y="5111114"/>
            <a:ext cx="721729" cy="194310"/>
          </a:xfrm>
          <a:prstGeom prst="rect">
            <a:avLst/>
          </a:prstGeom>
          <a:noFill/>
        </p:spPr>
        <p:txBody>
          <a:bodyPr wrap="none" lIns="0" rIns="0" tIns="0" bIns="0">
            <a:spAutoFit/>
          </a:bodyPr>
          <a:lstStyle/>
          <a:p>
            <a:r>
              <a:rPr sz="1150" b="0">
                <a:solidFill>
                  <a:srgbClr val="2E2E2E"/>
                </a:solidFill>
                <a:latin typeface="Calibri"/>
              </a:rPr>
              <a:t>by 2036F –</a:t>
            </a:r>
          </a:p>
        </p:txBody>
      </p:sp>
      <p:pic>
        <p:nvPicPr>
          <p:cNvPr id="64" name="Picture 63" descr="lock.png"/>
          <p:cNvPicPr>
            <a:picLocks noChangeAspect="1"/>
          </p:cNvPicPr>
          <p:nvPr/>
        </p:nvPicPr>
        <p:blipFill>
          <a:blip r:embed="rId4"/>
          <a:stretch>
            <a:fillRect/>
          </a:stretch>
        </p:blipFill>
        <p:spPr>
          <a:xfrm>
            <a:off x="6700208" y="5100891"/>
            <a:ext cx="134549" cy="195707"/>
          </a:xfrm>
          <a:prstGeom prst="rect">
            <a:avLst/>
          </a:prstGeom>
        </p:spPr>
      </p:pic>
      <p:sp>
        <p:nvSpPr>
          <p:cNvPr id="65" name="TextBox 64"/>
          <p:cNvSpPr txBox="1"/>
          <p:nvPr/>
        </p:nvSpPr>
        <p:spPr>
          <a:xfrm>
            <a:off x="6875317" y="5111114"/>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66" name="TextBox 65"/>
          <p:cNvSpPr txBox="1"/>
          <p:nvPr/>
        </p:nvSpPr>
        <p:spPr>
          <a:xfrm>
            <a:off x="6029325" y="5286374"/>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67" name="TextBox 66"/>
          <p:cNvSpPr txBox="1"/>
          <p:nvPr/>
        </p:nvSpPr>
        <p:spPr>
          <a:xfrm>
            <a:off x="8124825" y="4410075"/>
            <a:ext cx="1639074" cy="194310"/>
          </a:xfrm>
          <a:prstGeom prst="rect">
            <a:avLst/>
          </a:prstGeom>
          <a:noFill/>
        </p:spPr>
        <p:txBody>
          <a:bodyPr wrap="none" lIns="0" rIns="0" tIns="0" bIns="0">
            <a:spAutoFit/>
          </a:bodyPr>
          <a:lstStyle/>
          <a:p>
            <a:r>
              <a:rPr sz="1150" b="0">
                <a:solidFill>
                  <a:srgbClr val="2E2E2E"/>
                </a:solidFill>
                <a:latin typeface="Calibri"/>
              </a:rPr>
              <a:t>▪ 'Third-Party E-commerce</a:t>
            </a:r>
          </a:p>
        </p:txBody>
      </p:sp>
      <p:sp>
        <p:nvSpPr>
          <p:cNvPr id="68" name="TextBox 67"/>
          <p:cNvSpPr txBox="1"/>
          <p:nvPr/>
        </p:nvSpPr>
        <p:spPr>
          <a:xfrm>
            <a:off x="8124825" y="4585335"/>
            <a:ext cx="1281683" cy="194310"/>
          </a:xfrm>
          <a:prstGeom prst="rect">
            <a:avLst/>
          </a:prstGeom>
          <a:noFill/>
        </p:spPr>
        <p:txBody>
          <a:bodyPr wrap="none" lIns="0" rIns="0" tIns="0" bIns="0">
            <a:spAutoFit/>
          </a:bodyPr>
          <a:lstStyle/>
          <a:p>
            <a:r>
              <a:rPr sz="1150" b="0">
                <a:solidFill>
                  <a:srgbClr val="2E2E2E"/>
                </a:solidFill>
                <a:latin typeface="Calibri"/>
              </a:rPr>
              <a:t>× Veterinary-Guided</a:t>
            </a:r>
          </a:p>
        </p:txBody>
      </p:sp>
      <p:sp>
        <p:nvSpPr>
          <p:cNvPr id="69" name="TextBox 68"/>
          <p:cNvSpPr txBox="1"/>
          <p:nvPr/>
        </p:nvSpPr>
        <p:spPr>
          <a:xfrm>
            <a:off x="8124825" y="4760595"/>
            <a:ext cx="1374105" cy="194310"/>
          </a:xfrm>
          <a:prstGeom prst="rect">
            <a:avLst/>
          </a:prstGeom>
          <a:noFill/>
        </p:spPr>
        <p:txBody>
          <a:bodyPr wrap="none" lIns="0" rIns="0" tIns="0" bIns="0">
            <a:spAutoFit/>
          </a:bodyPr>
          <a:lstStyle/>
          <a:p>
            <a:r>
              <a:rPr sz="1150" b="0">
                <a:solidFill>
                  <a:srgbClr val="2E2E2E"/>
                </a:solidFill>
                <a:latin typeface="Calibri"/>
              </a:rPr>
              <a:t>Cognitive Dysfunction</a:t>
            </a:r>
          </a:p>
        </p:txBody>
      </p:sp>
      <p:sp>
        <p:nvSpPr>
          <p:cNvPr id="70" name="TextBox 69"/>
          <p:cNvSpPr txBox="1"/>
          <p:nvPr/>
        </p:nvSpPr>
        <p:spPr>
          <a:xfrm>
            <a:off x="8124825" y="4935854"/>
            <a:ext cx="1229196" cy="194310"/>
          </a:xfrm>
          <a:prstGeom prst="rect">
            <a:avLst/>
          </a:prstGeom>
          <a:noFill/>
        </p:spPr>
        <p:txBody>
          <a:bodyPr wrap="none" lIns="0" rIns="0" tIns="0" bIns="0">
            <a:spAutoFit/>
          </a:bodyPr>
          <a:lstStyle/>
          <a:p>
            <a:r>
              <a:rPr sz="1150" b="0">
                <a:solidFill>
                  <a:srgbClr val="2E2E2E"/>
                </a:solidFill>
                <a:latin typeface="Calibri"/>
              </a:rPr>
              <a:t>Support' grows at a</a:t>
            </a:r>
          </a:p>
        </p:txBody>
      </p:sp>
      <p:pic>
        <p:nvPicPr>
          <p:cNvPr id="71" name="Picture 70" descr="lock.png"/>
          <p:cNvPicPr>
            <a:picLocks noChangeAspect="1"/>
          </p:cNvPicPr>
          <p:nvPr/>
        </p:nvPicPr>
        <p:blipFill>
          <a:blip r:embed="rId4"/>
          <a:stretch>
            <a:fillRect/>
          </a:stretch>
        </p:blipFill>
        <p:spPr>
          <a:xfrm>
            <a:off x="9303175" y="4925631"/>
            <a:ext cx="134549" cy="195707"/>
          </a:xfrm>
          <a:prstGeom prst="rect">
            <a:avLst/>
          </a:prstGeom>
        </p:spPr>
      </p:pic>
      <p:sp>
        <p:nvSpPr>
          <p:cNvPr id="72" name="TextBox 71"/>
          <p:cNvSpPr txBox="1"/>
          <p:nvPr/>
        </p:nvSpPr>
        <p:spPr>
          <a:xfrm>
            <a:off x="8124825" y="5111114"/>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73" name="Picture 72" descr="lock.png"/>
          <p:cNvPicPr>
            <a:picLocks noChangeAspect="1"/>
          </p:cNvPicPr>
          <p:nvPr/>
        </p:nvPicPr>
        <p:blipFill>
          <a:blip r:embed="rId4"/>
          <a:stretch>
            <a:fillRect/>
          </a:stretch>
        </p:blipFill>
        <p:spPr>
          <a:xfrm>
            <a:off x="8520420" y="5100891"/>
            <a:ext cx="134549" cy="195707"/>
          </a:xfrm>
          <a:prstGeom prst="rect">
            <a:avLst/>
          </a:prstGeom>
        </p:spPr>
      </p:pic>
      <p:sp>
        <p:nvSpPr>
          <p:cNvPr id="74" name="TextBox 73"/>
          <p:cNvSpPr txBox="1"/>
          <p:nvPr/>
        </p:nvSpPr>
        <p:spPr>
          <a:xfrm>
            <a:off x="8695529" y="5111114"/>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75" name="TextBox 74"/>
          <p:cNvSpPr txBox="1"/>
          <p:nvPr/>
        </p:nvSpPr>
        <p:spPr>
          <a:xfrm>
            <a:off x="8124825" y="5286374"/>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358390"/>
            <a:ext cx="7239000" cy="247650"/>
          </a:xfrm>
          <a:prstGeom prst="rect">
            <a:avLst/>
          </a:prstGeom>
          <a:noFill/>
        </p:spPr>
        <p:txBody>
          <a:bodyPr wrap="none" lIns="0" tIns="0">
            <a:spAutoFit/>
          </a:bodyPr>
          <a:lstStyle/>
          <a:p>
            <a:r>
              <a:rPr sz="1400" b="0">
                <a:solidFill>
                  <a:srgbClr val="8FC8F2"/>
                </a:solidFill>
                <a:latin typeface="Calibri"/>
              </a:rPr>
              <a:t>Senior Dog Cognitive Supplement Market</a:t>
            </a:r>
          </a:p>
        </p:txBody>
      </p:sp>
      <p:sp>
        <p:nvSpPr>
          <p:cNvPr id="6" name="FMI Breaker Title"/>
          <p:cNvSpPr txBox="1"/>
          <p:nvPr/>
        </p:nvSpPr>
        <p:spPr>
          <a:xfrm>
            <a:off x="914400" y="2663190"/>
            <a:ext cx="7239000" cy="971550"/>
          </a:xfrm>
          <a:prstGeom prst="rect">
            <a:avLst/>
          </a:prstGeom>
          <a:noFill/>
        </p:spPr>
        <p:txBody>
          <a:bodyPr wrap="square" lIns="0" rIns="0" tIns="0">
            <a:spAutoFit/>
          </a:bodyPr>
          <a:lstStyle/>
          <a:p>
            <a:r>
              <a:rPr sz="3000" b="1" cap="all" spc="400">
                <a:solidFill>
                  <a:srgbClr val="FFFFFF"/>
                </a:solidFill>
                <a:latin typeface="Calibri"/>
              </a:rPr>
              <a:t>North America Market Outlook</a:t>
            </a:r>
          </a:p>
        </p:txBody>
      </p:sp>
      <p:sp>
        <p:nvSpPr>
          <p:cNvPr id="7" name="TextBox 6"/>
          <p:cNvSpPr txBox="1"/>
          <p:nvPr/>
        </p:nvSpPr>
        <p:spPr>
          <a:xfrm>
            <a:off x="914400" y="3825240"/>
            <a:ext cx="5067300" cy="210312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Market Analysis By Country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Form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Active Ingredient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End-use Application</a:t>
            </a:r>
          </a:p>
        </p:txBody>
      </p:sp>
      <p:sp>
        <p:nvSpPr>
          <p:cNvPr id="8" name="TextBox 7"/>
          <p:cNvSpPr txBox="1"/>
          <p:nvPr/>
        </p:nvSpPr>
        <p:spPr>
          <a:xfrm>
            <a:off x="6096000" y="3825240"/>
            <a:ext cx="5067300" cy="1866900"/>
          </a:xfrm>
          <a:prstGeom prst="rect">
            <a:avLst/>
          </a:prstGeom>
          <a:noFill/>
        </p:spPr>
        <p:txBody>
          <a:bodyPr wrap="square" lIns="0" rIns="0" tIns="0" bIns="0">
            <a:spAutoFit/>
          </a:bodyPr>
          <a:lstStyle/>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Packaging Format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Sales Channel</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Cross-sectional Assessment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Form Type × Active Ingredient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End-use Application × Active Ingredient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Sales Channel × End-use Application</a:t>
            </a:r>
          </a:p>
        </p:txBody>
      </p:sp>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North America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Senior Dog Cognitive Supplement Market Summary, By Volume (MT)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North America market volume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(MT)</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(MT)</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(MT)</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353147" cy="186689"/>
          </a:xfrm>
          <a:prstGeom prst="rect">
            <a:avLst/>
          </a:prstGeom>
          <a:noFill/>
        </p:spPr>
        <p:txBody>
          <a:bodyPr wrap="none" lIns="0" rIns="0" tIns="0" bIns="0">
            <a:spAutoFit/>
          </a:bodyPr>
          <a:lstStyle/>
          <a:p>
            <a:r>
              <a:rPr sz="1100" b="0">
                <a:solidFill>
                  <a:srgbClr val="2E2E2E"/>
                </a:solidFill>
                <a:latin typeface="Calibri"/>
              </a:rPr>
              <a:t>North America senior dog cognitive supplement market is</a:t>
            </a:r>
          </a:p>
        </p:txBody>
      </p:sp>
      <p:sp>
        <p:nvSpPr>
          <p:cNvPr id="35" name="TextBox 34"/>
          <p:cNvSpPr txBox="1"/>
          <p:nvPr/>
        </p:nvSpPr>
        <p:spPr>
          <a:xfrm>
            <a:off x="8048625" y="2214627"/>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36" name="Picture 35" descr="lock.png"/>
          <p:cNvPicPr>
            <a:picLocks noChangeAspect="1"/>
          </p:cNvPicPr>
          <p:nvPr/>
        </p:nvPicPr>
        <p:blipFill>
          <a:blip r:embed="rId6"/>
          <a:stretch>
            <a:fillRect/>
          </a:stretch>
        </p:blipFill>
        <p:spPr>
          <a:xfrm>
            <a:off x="9241226" y="2204848"/>
            <a:ext cx="128699" cy="187198"/>
          </a:xfrm>
          <a:prstGeom prst="rect">
            <a:avLst/>
          </a:prstGeom>
        </p:spPr>
      </p:pic>
      <p:sp>
        <p:nvSpPr>
          <p:cNvPr id="37" name="TextBox 36"/>
          <p:cNvSpPr txBox="1"/>
          <p:nvPr/>
        </p:nvSpPr>
        <p:spPr>
          <a:xfrm>
            <a:off x="9408722" y="2214627"/>
            <a:ext cx="2032818" cy="186689"/>
          </a:xfrm>
          <a:prstGeom prst="rect">
            <a:avLst/>
          </a:prstGeom>
          <a:noFill/>
        </p:spPr>
        <p:txBody>
          <a:bodyPr wrap="none" lIns="0" rIns="0" tIns="0" bIns="0">
            <a:spAutoFit/>
          </a:bodyPr>
          <a:lstStyle/>
          <a:p>
            <a:r>
              <a:rPr sz="1100" b="0">
                <a:solidFill>
                  <a:srgbClr val="2E2E2E"/>
                </a:solidFill>
                <a:latin typeface="Calibri"/>
              </a:rPr>
              <a:t>X increase in volume by the end of</a:t>
            </a:r>
          </a:p>
        </p:txBody>
      </p:sp>
      <p:sp>
        <p:nvSpPr>
          <p:cNvPr id="38" name="TextBox 37"/>
          <p:cNvSpPr txBox="1"/>
          <p:nvPr/>
        </p:nvSpPr>
        <p:spPr>
          <a:xfrm>
            <a:off x="8048625" y="2382267"/>
            <a:ext cx="3368154" cy="186689"/>
          </a:xfrm>
          <a:prstGeom prst="rect">
            <a:avLst/>
          </a:prstGeom>
          <a:noFill/>
        </p:spPr>
        <p:txBody>
          <a:bodyPr wrap="none" lIns="0" rIns="0" tIns="0" bIns="0">
            <a:spAutoFit/>
          </a:bodyPr>
          <a:lstStyle/>
          <a:p>
            <a:r>
              <a:rPr sz="1100" b="0">
                <a:solidFill>
                  <a:srgbClr val="2E2E2E"/>
                </a:solidFill>
                <a:latin typeface="Calibri"/>
              </a:rPr>
              <a:t>forecast period, 2036. North America senior dog cognitive</a:t>
            </a:r>
          </a:p>
        </p:txBody>
      </p:sp>
      <p:sp>
        <p:nvSpPr>
          <p:cNvPr id="39" name="TextBox 38"/>
          <p:cNvSpPr txBox="1"/>
          <p:nvPr/>
        </p:nvSpPr>
        <p:spPr>
          <a:xfrm>
            <a:off x="8048625" y="2549907"/>
            <a:ext cx="2147689" cy="186689"/>
          </a:xfrm>
          <a:prstGeom prst="rect">
            <a:avLst/>
          </a:prstGeom>
          <a:noFill/>
        </p:spPr>
        <p:txBody>
          <a:bodyPr wrap="none" lIns="0" rIns="0" tIns="0" bIns="0">
            <a:spAutoFit/>
          </a:bodyPr>
          <a:lstStyle/>
          <a:p>
            <a:r>
              <a:rPr sz="1100" b="0">
                <a:solidFill>
                  <a:srgbClr val="2E2E2E"/>
                </a:solidFill>
                <a:latin typeface="Calibri"/>
              </a:rPr>
              <a:t>supplement market volume stood at</a:t>
            </a:r>
          </a:p>
        </p:txBody>
      </p:sp>
      <p:pic>
        <p:nvPicPr>
          <p:cNvPr id="40" name="Picture 39" descr="lock.png"/>
          <p:cNvPicPr>
            <a:picLocks noChangeAspect="1"/>
          </p:cNvPicPr>
          <p:nvPr/>
        </p:nvPicPr>
        <p:blipFill>
          <a:blip r:embed="rId6"/>
          <a:stretch>
            <a:fillRect/>
          </a:stretch>
        </p:blipFill>
        <p:spPr>
          <a:xfrm>
            <a:off x="10144365" y="2540128"/>
            <a:ext cx="128699" cy="187198"/>
          </a:xfrm>
          <a:prstGeom prst="rect">
            <a:avLst/>
          </a:prstGeom>
        </p:spPr>
      </p:pic>
      <p:sp>
        <p:nvSpPr>
          <p:cNvPr id="41" name="TextBox 40"/>
          <p:cNvSpPr txBox="1"/>
          <p:nvPr/>
        </p:nvSpPr>
        <p:spPr>
          <a:xfrm>
            <a:off x="10311861" y="2549907"/>
            <a:ext cx="1080293" cy="186689"/>
          </a:xfrm>
          <a:prstGeom prst="rect">
            <a:avLst/>
          </a:prstGeom>
          <a:noFill/>
        </p:spPr>
        <p:txBody>
          <a:bodyPr wrap="none" lIns="0" rIns="0" tIns="0" bIns="0">
            <a:spAutoFit/>
          </a:bodyPr>
          <a:lstStyle/>
          <a:p>
            <a:r>
              <a:rPr sz="1100" b="0">
                <a:solidFill>
                  <a:srgbClr val="2E2E2E"/>
                </a:solidFill>
                <a:latin typeface="Calibri"/>
              </a:rPr>
              <a:t>MT in 2025 and is</a:t>
            </a:r>
          </a:p>
        </p:txBody>
      </p:sp>
      <p:sp>
        <p:nvSpPr>
          <p:cNvPr id="42" name="TextBox 41"/>
          <p:cNvSpPr txBox="1"/>
          <p:nvPr/>
        </p:nvSpPr>
        <p:spPr>
          <a:xfrm>
            <a:off x="8048625" y="2717547"/>
            <a:ext cx="1100211" cy="186689"/>
          </a:xfrm>
          <a:prstGeom prst="rect">
            <a:avLst/>
          </a:prstGeom>
          <a:noFill/>
        </p:spPr>
        <p:txBody>
          <a:bodyPr wrap="none" lIns="0" rIns="0" tIns="0" bIns="0">
            <a:spAutoFit/>
          </a:bodyPr>
          <a:lstStyle/>
          <a:p>
            <a:r>
              <a:rPr sz="1100" b="0">
                <a:solidFill>
                  <a:srgbClr val="2E2E2E"/>
                </a:solidFill>
                <a:latin typeface="Calibri"/>
              </a:rPr>
              <a:t>expected to reach</a:t>
            </a:r>
          </a:p>
        </p:txBody>
      </p:sp>
      <p:pic>
        <p:nvPicPr>
          <p:cNvPr id="43" name="Picture 42" descr="lock.png"/>
          <p:cNvPicPr>
            <a:picLocks noChangeAspect="1"/>
          </p:cNvPicPr>
          <p:nvPr/>
        </p:nvPicPr>
        <p:blipFill>
          <a:blip r:embed="rId6"/>
          <a:stretch>
            <a:fillRect/>
          </a:stretch>
        </p:blipFill>
        <p:spPr>
          <a:xfrm>
            <a:off x="9096888" y="2707768"/>
            <a:ext cx="128699" cy="187198"/>
          </a:xfrm>
          <a:prstGeom prst="rect">
            <a:avLst/>
          </a:prstGeom>
        </p:spPr>
      </p:pic>
      <p:sp>
        <p:nvSpPr>
          <p:cNvPr id="44" name="TextBox 43"/>
          <p:cNvSpPr txBox="1"/>
          <p:nvPr/>
        </p:nvSpPr>
        <p:spPr>
          <a:xfrm>
            <a:off x="9264384" y="2717547"/>
            <a:ext cx="1773319" cy="186689"/>
          </a:xfrm>
          <a:prstGeom prst="rect">
            <a:avLst/>
          </a:prstGeom>
          <a:noFill/>
        </p:spPr>
        <p:txBody>
          <a:bodyPr wrap="none" lIns="0" rIns="0" tIns="0" bIns="0">
            <a:spAutoFit/>
          </a:bodyPr>
          <a:lstStyle/>
          <a:p>
            <a:r>
              <a:rPr sz="1100" b="0">
                <a:solidFill>
                  <a:srgbClr val="2E2E2E"/>
                </a:solidFill>
                <a:latin typeface="Calibri"/>
              </a:rPr>
              <a:t>MT by 2036 end, at a CAGR of</a:t>
            </a:r>
          </a:p>
        </p:txBody>
      </p:sp>
      <p:pic>
        <p:nvPicPr>
          <p:cNvPr id="45" name="Picture 44" descr="lock.png"/>
          <p:cNvPicPr>
            <a:picLocks noChangeAspect="1"/>
          </p:cNvPicPr>
          <p:nvPr/>
        </p:nvPicPr>
        <p:blipFill>
          <a:blip r:embed="rId6"/>
          <a:stretch>
            <a:fillRect/>
          </a:stretch>
        </p:blipFill>
        <p:spPr>
          <a:xfrm>
            <a:off x="10985755" y="2707768"/>
            <a:ext cx="128699" cy="187198"/>
          </a:xfrm>
          <a:prstGeom prst="rect">
            <a:avLst/>
          </a:prstGeom>
        </p:spPr>
      </p:pic>
      <p:sp>
        <p:nvSpPr>
          <p:cNvPr id="46" name="TextBox 45"/>
          <p:cNvSpPr txBox="1"/>
          <p:nvPr/>
        </p:nvSpPr>
        <p:spPr>
          <a:xfrm>
            <a:off x="11153251"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7" name="TextBox 46"/>
          <p:cNvSpPr txBox="1"/>
          <p:nvPr/>
        </p:nvSpPr>
        <p:spPr>
          <a:xfrm>
            <a:off x="8048625" y="2935479"/>
            <a:ext cx="3678386" cy="186689"/>
          </a:xfrm>
          <a:prstGeom prst="rect">
            <a:avLst/>
          </a:prstGeom>
          <a:noFill/>
        </p:spPr>
        <p:txBody>
          <a:bodyPr wrap="none" lIns="0" rIns="0" tIns="0" bIns="0">
            <a:spAutoFit/>
          </a:bodyPr>
          <a:lstStyle/>
          <a:p>
            <a:r>
              <a:rPr sz="1100" b="0">
                <a:solidFill>
                  <a:srgbClr val="2E2E2E"/>
                </a:solidFill>
                <a:latin typeface="Calibri"/>
              </a:rPr>
              <a:t>Value is projected to grow faster than volume over the forecast</a:t>
            </a:r>
          </a:p>
        </p:txBody>
      </p:sp>
      <p:sp>
        <p:nvSpPr>
          <p:cNvPr id="48" name="TextBox 47"/>
          <p:cNvSpPr txBox="1"/>
          <p:nvPr/>
        </p:nvSpPr>
        <p:spPr>
          <a:xfrm>
            <a:off x="8048625" y="3103119"/>
            <a:ext cx="3049736" cy="186689"/>
          </a:xfrm>
          <a:prstGeom prst="rect">
            <a:avLst/>
          </a:prstGeom>
          <a:noFill/>
        </p:spPr>
        <p:txBody>
          <a:bodyPr wrap="none" lIns="0" rIns="0" tIns="0" bIns="0">
            <a:spAutoFit/>
          </a:bodyPr>
          <a:lstStyle/>
          <a:p>
            <a:r>
              <a:rPr sz="1100" b="0">
                <a:solidFill>
                  <a:srgbClr val="2E2E2E"/>
                </a:solidFill>
                <a:latin typeface="Calibri"/>
              </a:rPr>
              <a:t>period, owing to an increase in average selling price.</a:t>
            </a:r>
          </a:p>
        </p:txBody>
      </p:sp>
      <p:sp>
        <p:nvSpPr>
          <p:cNvPr id="49" name="TextBox 48"/>
          <p:cNvSpPr txBox="1"/>
          <p:nvPr/>
        </p:nvSpPr>
        <p:spPr>
          <a:xfrm>
            <a:off x="8048625" y="4456475"/>
            <a:ext cx="2138300" cy="194310"/>
          </a:xfrm>
          <a:prstGeom prst="rect">
            <a:avLst/>
          </a:prstGeom>
          <a:noFill/>
        </p:spPr>
        <p:txBody>
          <a:bodyPr wrap="none" lIns="0" rIns="0" tIns="0" bIns="0">
            <a:spAutoFit/>
          </a:bodyPr>
          <a:lstStyle/>
          <a:p>
            <a:r>
              <a:rPr sz="1150" b="0">
                <a:solidFill>
                  <a:srgbClr val="2E2E2E"/>
                </a:solidFill>
                <a:latin typeface="Calibri"/>
              </a:rPr>
              <a:t>▪ 'Canada' leads regional growth at</a:t>
            </a:r>
          </a:p>
        </p:txBody>
      </p:sp>
      <p:pic>
        <p:nvPicPr>
          <p:cNvPr id="50" name="Picture 49" descr="lock.png"/>
          <p:cNvPicPr>
            <a:picLocks noChangeAspect="1"/>
          </p:cNvPicPr>
          <p:nvPr/>
        </p:nvPicPr>
        <p:blipFill>
          <a:blip r:embed="rId6"/>
          <a:stretch>
            <a:fillRect/>
          </a:stretch>
        </p:blipFill>
        <p:spPr>
          <a:xfrm>
            <a:off x="10136079" y="4446251"/>
            <a:ext cx="134549" cy="195707"/>
          </a:xfrm>
          <a:prstGeom prst="rect">
            <a:avLst/>
          </a:prstGeom>
        </p:spPr>
      </p:pic>
      <p:sp>
        <p:nvSpPr>
          <p:cNvPr id="51" name="TextBox 50"/>
          <p:cNvSpPr txBox="1"/>
          <p:nvPr/>
        </p:nvSpPr>
        <p:spPr>
          <a:xfrm>
            <a:off x="10311188"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2" name="TextBox 51"/>
          <p:cNvSpPr txBox="1"/>
          <p:nvPr/>
        </p:nvSpPr>
        <p:spPr>
          <a:xfrm>
            <a:off x="8048625" y="4684312"/>
            <a:ext cx="3746816" cy="194310"/>
          </a:xfrm>
          <a:prstGeom prst="rect">
            <a:avLst/>
          </a:prstGeom>
          <a:noFill/>
        </p:spPr>
        <p:txBody>
          <a:bodyPr wrap="none" lIns="0" rIns="0" tIns="0" bIns="0">
            <a:spAutoFit/>
          </a:bodyPr>
          <a:lstStyle/>
          <a:p>
            <a:r>
              <a:rPr sz="1150" b="0">
                <a:solidFill>
                  <a:srgbClr val="2E2E2E"/>
                </a:solidFill>
                <a:latin typeface="Calibri"/>
              </a:rPr>
              <a:t>▪ Demand concentrates in 'Capsules and Softgels' within Form</a:t>
            </a:r>
          </a:p>
        </p:txBody>
      </p:sp>
      <p:sp>
        <p:nvSpPr>
          <p:cNvPr id="53" name="TextBox 52"/>
          <p:cNvSpPr txBox="1"/>
          <p:nvPr/>
        </p:nvSpPr>
        <p:spPr>
          <a:xfrm>
            <a:off x="8048625" y="4859572"/>
            <a:ext cx="399963" cy="194310"/>
          </a:xfrm>
          <a:prstGeom prst="rect">
            <a:avLst/>
          </a:prstGeom>
          <a:noFill/>
        </p:spPr>
        <p:txBody>
          <a:bodyPr wrap="none" lIns="0" rIns="0" tIns="0" bIns="0">
            <a:spAutoFit/>
          </a:bodyPr>
          <a:lstStyle/>
          <a:p>
            <a:r>
              <a:rPr sz="1150" b="0">
                <a:solidFill>
                  <a:srgbClr val="2E2E2E"/>
                </a:solidFill>
                <a:latin typeface="Calibri"/>
              </a:rPr>
              <a:t>Type.</a:t>
            </a:r>
          </a:p>
        </p:txBody>
      </p:sp>
      <p:sp>
        <p:nvSpPr>
          <p:cNvPr id="54" name="TextBox 53"/>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5" name="TextBox 54"/>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6"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Senior Dog Cognitive Supplement Market Pricing &amp; Regional Price Index</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country, highlighting where pricing power sits</a:t>
            </a:r>
          </a:p>
        </p:txBody>
      </p:sp>
      <p:sp>
        <p:nvSpPr>
          <p:cNvPr id="10" name="Rounded Rectangle 9"/>
          <p:cNvSpPr/>
          <p:nvPr/>
        </p:nvSpPr>
        <p:spPr>
          <a:xfrm>
            <a:off x="142875" y="1052895"/>
            <a:ext cx="7696200" cy="2665040"/>
          </a:xfrm>
          <a:prstGeom prst="roundRect">
            <a:avLst>
              <a:gd name="adj" fmla="val 28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Form Type  ·  range across 2021–2036 (US$/MT)</a:t>
            </a:r>
          </a:p>
        </p:txBody>
      </p:sp>
      <p:cxnSp>
        <p:nvCxnSpPr>
          <p:cNvPr id="12" name="Connector 11"/>
          <p:cNvCxnSpPr/>
          <p:nvPr/>
        </p:nvCxnSpPr>
        <p:spPr>
          <a:xfrm>
            <a:off x="657225" y="326835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281450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236065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90679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7225" y="1452945"/>
            <a:ext cx="0" cy="181541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326835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281450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236065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19067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3" name="FMI Scale tick"/>
          <p:cNvSpPr txBox="1"/>
          <p:nvPr/>
        </p:nvSpPr>
        <p:spPr>
          <a:xfrm>
            <a:off x="219075" y="320168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4" name="FMI Scale tick"/>
          <p:cNvSpPr txBox="1"/>
          <p:nvPr/>
        </p:nvSpPr>
        <p:spPr>
          <a:xfrm>
            <a:off x="219075" y="2293975"/>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5" name="FMI Scale tick"/>
          <p:cNvSpPr txBox="1"/>
          <p:nvPr/>
        </p:nvSpPr>
        <p:spPr>
          <a:xfrm>
            <a:off x="219075" y="138627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cxnSp>
        <p:nvCxnSpPr>
          <p:cNvPr id="26" name="Connector 25"/>
          <p:cNvCxnSpPr/>
          <p:nvPr/>
        </p:nvCxnSpPr>
        <p:spPr>
          <a:xfrm flipV="1">
            <a:off x="1241425" y="2705620"/>
            <a:ext cx="0" cy="26610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09980" y="297172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09980" y="270562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022350" y="2777708"/>
            <a:ext cx="438150" cy="132852"/>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1022350" y="2845953"/>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57225" y="2553220"/>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2" name="Connector 31"/>
          <p:cNvCxnSpPr/>
          <p:nvPr/>
        </p:nvCxnSpPr>
        <p:spPr>
          <a:xfrm flipV="1">
            <a:off x="2409825" y="2814672"/>
            <a:ext cx="0" cy="244213"/>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278380" y="305888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278380" y="281467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2190750" y="2880797"/>
            <a:ext cx="438150" cy="121926"/>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2190750" y="2943419"/>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825625" y="2662272"/>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8" name="Connector 37"/>
          <p:cNvCxnSpPr/>
          <p:nvPr/>
        </p:nvCxnSpPr>
        <p:spPr>
          <a:xfrm flipV="1">
            <a:off x="3578225" y="1744010"/>
            <a:ext cx="0" cy="445863"/>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446780" y="218987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446780" y="174401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3359150" y="1864742"/>
            <a:ext cx="438150" cy="222601"/>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3359150" y="1979074"/>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2994025" y="1591610"/>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44" name="Connector 43"/>
          <p:cNvCxnSpPr/>
          <p:nvPr/>
        </p:nvCxnSpPr>
        <p:spPr>
          <a:xfrm flipV="1">
            <a:off x="4746625" y="1662416"/>
            <a:ext cx="0" cy="462068"/>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615180" y="212448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615180" y="166241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4527550" y="1787563"/>
            <a:ext cx="438150" cy="230694"/>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4527550" y="1906049"/>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4162425" y="1510016"/>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50" name="Connector 49"/>
          <p:cNvCxnSpPr/>
          <p:nvPr/>
        </p:nvCxnSpPr>
        <p:spPr>
          <a:xfrm flipV="1">
            <a:off x="5915025" y="1744790"/>
            <a:ext cx="0" cy="445126"/>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783580" y="218991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783580" y="174479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5695950" y="1865304"/>
            <a:ext cx="438150" cy="222235"/>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5695950" y="1979440"/>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330825" y="1592390"/>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56" name="Connector 55"/>
          <p:cNvCxnSpPr/>
          <p:nvPr/>
        </p:nvCxnSpPr>
        <p:spPr>
          <a:xfrm flipV="1">
            <a:off x="7083425" y="2501713"/>
            <a:ext cx="0" cy="303178"/>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951980" y="280489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951980" y="250171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6864350" y="2583806"/>
            <a:ext cx="438150" cy="151363"/>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6864350" y="2661548"/>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99225" y="2349313"/>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62" name="TextBox 61"/>
          <p:cNvSpPr txBox="1"/>
          <p:nvPr/>
        </p:nvSpPr>
        <p:spPr>
          <a:xfrm>
            <a:off x="6572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Chewables</a:t>
            </a:r>
          </a:p>
        </p:txBody>
      </p:sp>
      <p:sp>
        <p:nvSpPr>
          <p:cNvPr id="63" name="TextBox 62"/>
          <p:cNvSpPr txBox="1"/>
          <p:nvPr/>
        </p:nvSpPr>
        <p:spPr>
          <a:xfrm>
            <a:off x="18256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Tablets</a:t>
            </a:r>
          </a:p>
        </p:txBody>
      </p:sp>
      <p:sp>
        <p:nvSpPr>
          <p:cNvPr id="64" name="TextBox 63"/>
          <p:cNvSpPr txBox="1"/>
          <p:nvPr/>
        </p:nvSpPr>
        <p:spPr>
          <a:xfrm>
            <a:off x="29940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Capsules and Softgels</a:t>
            </a:r>
          </a:p>
        </p:txBody>
      </p:sp>
      <p:sp>
        <p:nvSpPr>
          <p:cNvPr id="65" name="TextBox 64"/>
          <p:cNvSpPr txBox="1"/>
          <p:nvPr/>
        </p:nvSpPr>
        <p:spPr>
          <a:xfrm>
            <a:off x="41624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Powders and Granules</a:t>
            </a:r>
          </a:p>
        </p:txBody>
      </p:sp>
      <p:sp>
        <p:nvSpPr>
          <p:cNvPr id="66" name="TextBox 65"/>
          <p:cNvSpPr txBox="1"/>
          <p:nvPr/>
        </p:nvSpPr>
        <p:spPr>
          <a:xfrm>
            <a:off x="53308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Liquids</a:t>
            </a:r>
          </a:p>
        </p:txBody>
      </p:sp>
      <p:sp>
        <p:nvSpPr>
          <p:cNvPr id="67" name="TextBox 66"/>
          <p:cNvSpPr txBox="1"/>
          <p:nvPr/>
        </p:nvSpPr>
        <p:spPr>
          <a:xfrm>
            <a:off x="64992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Gels and Pastes</a:t>
            </a:r>
          </a:p>
        </p:txBody>
      </p:sp>
      <p:sp>
        <p:nvSpPr>
          <p:cNvPr id="68" name="Rounded Rectangle 67"/>
          <p:cNvSpPr/>
          <p:nvPr/>
        </p:nvSpPr>
        <p:spPr>
          <a:xfrm>
            <a:off x="142875" y="3772696"/>
            <a:ext cx="7696200" cy="2783689"/>
          </a:xfrm>
          <a:prstGeom prst="roundRect">
            <a:avLst>
              <a:gd name="adj" fmla="val 27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Country vs North America  ·  2026–2036</a:t>
            </a:r>
          </a:p>
        </p:txBody>
      </p:sp>
      <p:cxnSp>
        <p:nvCxnSpPr>
          <p:cNvPr id="70" name="Connector 69"/>
          <p:cNvCxnSpPr/>
          <p:nvPr/>
        </p:nvCxnSpPr>
        <p:spPr>
          <a:xfrm>
            <a:off x="619125" y="4324575"/>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19125" y="4758845"/>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19125" y="519311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19125" y="562738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19125" y="6061657"/>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19125" y="4324575"/>
            <a:ext cx="0" cy="1737082"/>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590550" y="432457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590550" y="47588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590550" y="519311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590550" y="562738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590550" y="6061657"/>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81" name="FMI Scale tick"/>
          <p:cNvSpPr txBox="1"/>
          <p:nvPr/>
        </p:nvSpPr>
        <p:spPr>
          <a:xfrm>
            <a:off x="138112" y="4257900"/>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+4.9%</a:t>
            </a:r>
          </a:p>
        </p:txBody>
      </p:sp>
      <p:sp>
        <p:nvSpPr>
          <p:cNvPr id="82" name="FMI Scale tick"/>
          <p:cNvSpPr txBox="1"/>
          <p:nvPr/>
        </p:nvSpPr>
        <p:spPr>
          <a:xfrm>
            <a:off x="138112" y="4692170"/>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+2.5%</a:t>
            </a:r>
          </a:p>
        </p:txBody>
      </p:sp>
      <p:sp>
        <p:nvSpPr>
          <p:cNvPr id="83" name="FMI Scale tick"/>
          <p:cNvSpPr txBox="1"/>
          <p:nvPr/>
        </p:nvSpPr>
        <p:spPr>
          <a:xfrm>
            <a:off x="219075" y="5126441"/>
            <a:ext cx="361950" cy="133350"/>
          </a:xfrm>
          <a:prstGeom prst="rect">
            <a:avLst/>
          </a:prstGeom>
          <a:noFill/>
        </p:spPr>
        <p:txBody>
          <a:bodyPr wrap="square" lIns="28575" rIns="28575" tIns="9525" bIns="9525" anchor="ctr">
            <a:spAutoFit/>
          </a:bodyPr>
          <a:lstStyle/>
          <a:p>
            <a:pPr algn="r"/>
            <a:r>
              <a:rPr sz="1100" b="1">
                <a:solidFill>
                  <a:srgbClr val="6C7A89"/>
                </a:solidFill>
                <a:latin typeface="Calibri"/>
              </a:rPr>
              <a:t>North America</a:t>
            </a:r>
          </a:p>
        </p:txBody>
      </p:sp>
      <p:sp>
        <p:nvSpPr>
          <p:cNvPr id="84" name="FMI Scale tick"/>
          <p:cNvSpPr txBox="1"/>
          <p:nvPr/>
        </p:nvSpPr>
        <p:spPr>
          <a:xfrm>
            <a:off x="164306" y="5560711"/>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-2.5%</a:t>
            </a:r>
          </a:p>
        </p:txBody>
      </p:sp>
      <p:sp>
        <p:nvSpPr>
          <p:cNvPr id="85" name="FMI Scale tick"/>
          <p:cNvSpPr txBox="1"/>
          <p:nvPr/>
        </p:nvSpPr>
        <p:spPr>
          <a:xfrm>
            <a:off x="164306" y="5994982"/>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-4.9%</a:t>
            </a:r>
          </a:p>
        </p:txBody>
      </p:sp>
      <p:cxnSp>
        <p:nvCxnSpPr>
          <p:cNvPr id="86" name="Connector 85"/>
          <p:cNvCxnSpPr/>
          <p:nvPr/>
        </p:nvCxnSpPr>
        <p:spPr>
          <a:xfrm>
            <a:off x="619125" y="519311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2152650" y="5193116"/>
            <a:ext cx="457200" cy="332835"/>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MI Data Label"/>
          <p:cNvSpPr txBox="1"/>
          <p:nvPr/>
        </p:nvSpPr>
        <p:spPr>
          <a:xfrm>
            <a:off x="619125" y="5535476"/>
            <a:ext cx="35242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9" name="Rectangle 88"/>
          <p:cNvSpPr/>
          <p:nvPr/>
        </p:nvSpPr>
        <p:spPr>
          <a:xfrm>
            <a:off x="5676900" y="4437287"/>
            <a:ext cx="457200" cy="755829"/>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MI Data Label"/>
          <p:cNvSpPr txBox="1"/>
          <p:nvPr/>
        </p:nvSpPr>
        <p:spPr>
          <a:xfrm>
            <a:off x="4143375" y="4294412"/>
            <a:ext cx="35242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1" name="TextBox 90"/>
          <p:cNvSpPr txBox="1"/>
          <p:nvPr/>
        </p:nvSpPr>
        <p:spPr>
          <a:xfrm>
            <a:off x="619125" y="6242060"/>
            <a:ext cx="3524250" cy="247650"/>
          </a:xfrm>
          <a:prstGeom prst="rect">
            <a:avLst/>
          </a:prstGeom>
          <a:noFill/>
        </p:spPr>
        <p:txBody>
          <a:bodyPr wrap="square" lIns="28575" rIns="28575" tIns="9525" bIns="9525">
            <a:spAutoFit/>
          </a:bodyPr>
          <a:lstStyle/>
          <a:p>
            <a:pPr algn="ctr"/>
            <a:r>
              <a:rPr sz="1100" b="0">
                <a:solidFill>
                  <a:srgbClr val="2E2E2E"/>
                </a:solidFill>
                <a:latin typeface="Calibri"/>
              </a:rPr>
              <a:t>U.S.</a:t>
            </a:r>
          </a:p>
        </p:txBody>
      </p:sp>
      <p:sp>
        <p:nvSpPr>
          <p:cNvPr id="92" name="TextBox 91"/>
          <p:cNvSpPr txBox="1"/>
          <p:nvPr/>
        </p:nvSpPr>
        <p:spPr>
          <a:xfrm>
            <a:off x="4143375" y="6242060"/>
            <a:ext cx="3524250" cy="247650"/>
          </a:xfrm>
          <a:prstGeom prst="rect">
            <a:avLst/>
          </a:prstGeom>
          <a:noFill/>
        </p:spPr>
        <p:txBody>
          <a:bodyPr wrap="square" lIns="28575" rIns="28575" tIns="9525" bIns="9525">
            <a:spAutoFit/>
          </a:bodyPr>
          <a:lstStyle/>
          <a:p>
            <a:pPr algn="ctr"/>
            <a:r>
              <a:rPr sz="1100" b="0">
                <a:solidFill>
                  <a:srgbClr val="2E2E2E"/>
                </a:solidFill>
                <a:latin typeface="Calibri"/>
              </a:rPr>
              <a:t>Canada</a:t>
            </a:r>
          </a:p>
        </p:txBody>
      </p:sp>
      <p:sp>
        <p:nvSpPr>
          <p:cNvPr id="93" name="Rounded Rectangle 92"/>
          <p:cNvSpPr/>
          <p:nvPr/>
        </p:nvSpPr>
        <p:spPr>
          <a:xfrm>
            <a:off x="7915275" y="1052895"/>
            <a:ext cx="4133850" cy="550349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95" name="Rectangle 94"/>
          <p:cNvSpPr/>
          <p:nvPr/>
        </p:nvSpPr>
        <p:spPr>
          <a:xfrm>
            <a:off x="8048625" y="137674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97" name="TextBox 9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98" name="Picture 97" descr="lock.png"/>
          <p:cNvPicPr>
            <a:picLocks noChangeAspect="1"/>
          </p:cNvPicPr>
          <p:nvPr/>
        </p:nvPicPr>
        <p:blipFill>
          <a:blip r:embed="rId4"/>
          <a:stretch>
            <a:fillRect/>
          </a:stretch>
        </p:blipFill>
        <p:spPr>
          <a:xfrm>
            <a:off x="1177075" y="2526296"/>
            <a:ext cx="128699" cy="187198"/>
          </a:xfrm>
          <a:prstGeom prst="rect">
            <a:avLst/>
          </a:prstGeom>
        </p:spPr>
      </p:pic>
      <p:pic>
        <p:nvPicPr>
          <p:cNvPr id="99" name="Picture 98" descr="lock.png"/>
          <p:cNvPicPr>
            <a:picLocks noChangeAspect="1"/>
          </p:cNvPicPr>
          <p:nvPr/>
        </p:nvPicPr>
        <p:blipFill>
          <a:blip r:embed="rId4"/>
          <a:stretch>
            <a:fillRect/>
          </a:stretch>
        </p:blipFill>
        <p:spPr>
          <a:xfrm>
            <a:off x="2345475" y="2635348"/>
            <a:ext cx="128699" cy="187198"/>
          </a:xfrm>
          <a:prstGeom prst="rect">
            <a:avLst/>
          </a:prstGeom>
        </p:spPr>
      </p:pic>
      <p:pic>
        <p:nvPicPr>
          <p:cNvPr id="100" name="Picture 99" descr="lock.png"/>
          <p:cNvPicPr>
            <a:picLocks noChangeAspect="1"/>
          </p:cNvPicPr>
          <p:nvPr/>
        </p:nvPicPr>
        <p:blipFill>
          <a:blip r:embed="rId4"/>
          <a:stretch>
            <a:fillRect/>
          </a:stretch>
        </p:blipFill>
        <p:spPr>
          <a:xfrm>
            <a:off x="3513875" y="1564686"/>
            <a:ext cx="128699" cy="187198"/>
          </a:xfrm>
          <a:prstGeom prst="rect">
            <a:avLst/>
          </a:prstGeom>
        </p:spPr>
      </p:pic>
      <p:pic>
        <p:nvPicPr>
          <p:cNvPr id="101" name="Picture 100" descr="lock.png"/>
          <p:cNvPicPr>
            <a:picLocks noChangeAspect="1"/>
          </p:cNvPicPr>
          <p:nvPr/>
        </p:nvPicPr>
        <p:blipFill>
          <a:blip r:embed="rId4"/>
          <a:stretch>
            <a:fillRect/>
          </a:stretch>
        </p:blipFill>
        <p:spPr>
          <a:xfrm>
            <a:off x="4682275" y="1483092"/>
            <a:ext cx="128699" cy="187198"/>
          </a:xfrm>
          <a:prstGeom prst="rect">
            <a:avLst/>
          </a:prstGeom>
        </p:spPr>
      </p:pic>
      <p:pic>
        <p:nvPicPr>
          <p:cNvPr id="102" name="Picture 101" descr="lock.png"/>
          <p:cNvPicPr>
            <a:picLocks noChangeAspect="1"/>
          </p:cNvPicPr>
          <p:nvPr/>
        </p:nvPicPr>
        <p:blipFill>
          <a:blip r:embed="rId4"/>
          <a:stretch>
            <a:fillRect/>
          </a:stretch>
        </p:blipFill>
        <p:spPr>
          <a:xfrm>
            <a:off x="5850675" y="1565466"/>
            <a:ext cx="128699" cy="187198"/>
          </a:xfrm>
          <a:prstGeom prst="rect">
            <a:avLst/>
          </a:prstGeom>
        </p:spPr>
      </p:pic>
      <p:pic>
        <p:nvPicPr>
          <p:cNvPr id="103" name="Picture 102" descr="lock.png"/>
          <p:cNvPicPr>
            <a:picLocks noChangeAspect="1"/>
          </p:cNvPicPr>
          <p:nvPr/>
        </p:nvPicPr>
        <p:blipFill>
          <a:blip r:embed="rId4"/>
          <a:stretch>
            <a:fillRect/>
          </a:stretch>
        </p:blipFill>
        <p:spPr>
          <a:xfrm>
            <a:off x="7019075" y="2322389"/>
            <a:ext cx="128699" cy="187198"/>
          </a:xfrm>
          <a:prstGeom prst="rect">
            <a:avLst/>
          </a:prstGeom>
        </p:spPr>
      </p:pic>
      <p:pic>
        <p:nvPicPr>
          <p:cNvPr id="104" name="Picture 103" descr="lock.png"/>
          <p:cNvPicPr>
            <a:picLocks noChangeAspect="1"/>
          </p:cNvPicPr>
          <p:nvPr/>
        </p:nvPicPr>
        <p:blipFill>
          <a:blip r:embed="rId4"/>
          <a:stretch>
            <a:fillRect/>
          </a:stretch>
        </p:blipFill>
        <p:spPr>
          <a:xfrm>
            <a:off x="2316900" y="5508551"/>
            <a:ext cx="128699" cy="187198"/>
          </a:xfrm>
          <a:prstGeom prst="rect">
            <a:avLst/>
          </a:prstGeom>
        </p:spPr>
      </p:pic>
      <p:pic>
        <p:nvPicPr>
          <p:cNvPr id="105" name="Picture 104" descr="lock.png"/>
          <p:cNvPicPr>
            <a:picLocks noChangeAspect="1"/>
          </p:cNvPicPr>
          <p:nvPr/>
        </p:nvPicPr>
        <p:blipFill>
          <a:blip r:embed="rId4"/>
          <a:stretch>
            <a:fillRect/>
          </a:stretch>
        </p:blipFill>
        <p:spPr>
          <a:xfrm>
            <a:off x="5841150" y="4267488"/>
            <a:ext cx="128699" cy="187198"/>
          </a:xfrm>
          <a:prstGeom prst="rect">
            <a:avLst/>
          </a:prstGeom>
        </p:spPr>
      </p:pic>
      <p:sp>
        <p:nvSpPr>
          <p:cNvPr id="106" name="TextBox 105"/>
          <p:cNvSpPr txBox="1"/>
          <p:nvPr/>
        </p:nvSpPr>
        <p:spPr>
          <a:xfrm>
            <a:off x="8048625" y="1471995"/>
            <a:ext cx="3656136" cy="194310"/>
          </a:xfrm>
          <a:prstGeom prst="rect">
            <a:avLst/>
          </a:prstGeom>
          <a:noFill/>
        </p:spPr>
        <p:txBody>
          <a:bodyPr wrap="none" lIns="0" rIns="0" tIns="0" bIns="0">
            <a:spAutoFit/>
          </a:bodyPr>
          <a:lstStyle/>
          <a:p>
            <a:r>
              <a:rPr sz="1150" b="0">
                <a:solidFill>
                  <a:srgbClr val="2E2E2E"/>
                </a:solidFill>
                <a:latin typeface="Calibri"/>
              </a:rPr>
              <a:t>Powders and granules segment is expected to command the</a:t>
            </a:r>
          </a:p>
        </p:txBody>
      </p:sp>
      <p:sp>
        <p:nvSpPr>
          <p:cNvPr id="107" name="TextBox 106"/>
          <p:cNvSpPr txBox="1"/>
          <p:nvPr/>
        </p:nvSpPr>
        <p:spPr>
          <a:xfrm>
            <a:off x="8048625" y="1647255"/>
            <a:ext cx="1766899" cy="194310"/>
          </a:xfrm>
          <a:prstGeom prst="rect">
            <a:avLst/>
          </a:prstGeom>
          <a:noFill/>
        </p:spPr>
        <p:txBody>
          <a:bodyPr wrap="none" lIns="0" rIns="0" tIns="0" bIns="0">
            <a:spAutoFit/>
          </a:bodyPr>
          <a:lstStyle/>
          <a:p>
            <a:r>
              <a:rPr sz="1150" b="0">
                <a:solidFill>
                  <a:srgbClr val="2E2E2E"/>
                </a:solidFill>
                <a:latin typeface="Calibri"/>
              </a:rPr>
              <a:t>highest average price of US$</a:t>
            </a:r>
          </a:p>
        </p:txBody>
      </p:sp>
      <p:pic>
        <p:nvPicPr>
          <p:cNvPr id="108" name="Picture 107" descr="lock.png"/>
          <p:cNvPicPr>
            <a:picLocks noChangeAspect="1"/>
          </p:cNvPicPr>
          <p:nvPr/>
        </p:nvPicPr>
        <p:blipFill>
          <a:blip r:embed="rId4"/>
          <a:stretch>
            <a:fillRect/>
          </a:stretch>
        </p:blipFill>
        <p:spPr>
          <a:xfrm>
            <a:off x="9764678" y="1637031"/>
            <a:ext cx="134549" cy="195707"/>
          </a:xfrm>
          <a:prstGeom prst="rect">
            <a:avLst/>
          </a:prstGeom>
        </p:spPr>
      </p:pic>
      <p:sp>
        <p:nvSpPr>
          <p:cNvPr id="109" name="TextBox 108"/>
          <p:cNvSpPr txBox="1"/>
          <p:nvPr/>
        </p:nvSpPr>
        <p:spPr>
          <a:xfrm>
            <a:off x="9939788" y="1647255"/>
            <a:ext cx="1534663" cy="194310"/>
          </a:xfrm>
          <a:prstGeom prst="rect">
            <a:avLst/>
          </a:prstGeom>
          <a:noFill/>
        </p:spPr>
        <p:txBody>
          <a:bodyPr wrap="none" lIns="0" rIns="0" tIns="0" bIns="0">
            <a:spAutoFit/>
          </a:bodyPr>
          <a:lstStyle/>
          <a:p>
            <a:r>
              <a:rPr sz="1150" b="0">
                <a:solidFill>
                  <a:srgbClr val="2E2E2E"/>
                </a:solidFill>
                <a:latin typeface="Calibri"/>
              </a:rPr>
              <a:t>per MT in 2036. Average</a:t>
            </a:r>
          </a:p>
        </p:txBody>
      </p:sp>
      <p:sp>
        <p:nvSpPr>
          <p:cNvPr id="110" name="TextBox 109"/>
          <p:cNvSpPr txBox="1"/>
          <p:nvPr/>
        </p:nvSpPr>
        <p:spPr>
          <a:xfrm>
            <a:off x="8048625" y="1822515"/>
            <a:ext cx="3814167" cy="194310"/>
          </a:xfrm>
          <a:prstGeom prst="rect">
            <a:avLst/>
          </a:prstGeom>
          <a:noFill/>
        </p:spPr>
        <p:txBody>
          <a:bodyPr wrap="none" lIns="0" rIns="0" tIns="0" bIns="0">
            <a:spAutoFit/>
          </a:bodyPr>
          <a:lstStyle/>
          <a:p>
            <a:r>
              <a:rPr sz="1150" b="0">
                <a:solidFill>
                  <a:srgbClr val="2E2E2E"/>
                </a:solidFill>
                <a:latin typeface="Calibri"/>
              </a:rPr>
              <a:t>selling price of senior dog cognitive supplement is estimated at</a:t>
            </a:r>
          </a:p>
        </p:txBody>
      </p:sp>
      <p:sp>
        <p:nvSpPr>
          <p:cNvPr id="111" name="TextBox 110"/>
          <p:cNvSpPr txBox="1"/>
          <p:nvPr/>
        </p:nvSpPr>
        <p:spPr>
          <a:xfrm>
            <a:off x="8048625" y="1997775"/>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112" name="Picture 111" descr="lock.png"/>
          <p:cNvPicPr>
            <a:picLocks noChangeAspect="1"/>
          </p:cNvPicPr>
          <p:nvPr/>
        </p:nvPicPr>
        <p:blipFill>
          <a:blip r:embed="rId4"/>
          <a:stretch>
            <a:fillRect/>
          </a:stretch>
        </p:blipFill>
        <p:spPr>
          <a:xfrm>
            <a:off x="8309028" y="1987551"/>
            <a:ext cx="134549" cy="195707"/>
          </a:xfrm>
          <a:prstGeom prst="rect">
            <a:avLst/>
          </a:prstGeom>
        </p:spPr>
      </p:pic>
      <p:sp>
        <p:nvSpPr>
          <p:cNvPr id="113" name="TextBox 112"/>
          <p:cNvSpPr txBox="1"/>
          <p:nvPr/>
        </p:nvSpPr>
        <p:spPr>
          <a:xfrm>
            <a:off x="8484137" y="1997775"/>
            <a:ext cx="3081064" cy="194310"/>
          </a:xfrm>
          <a:prstGeom prst="rect">
            <a:avLst/>
          </a:prstGeom>
          <a:noFill/>
        </p:spPr>
        <p:txBody>
          <a:bodyPr wrap="none" lIns="0" rIns="0" tIns="0" bIns="0">
            <a:spAutoFit/>
          </a:bodyPr>
          <a:lstStyle/>
          <a:p>
            <a:r>
              <a:rPr sz="1150" b="0">
                <a:solidFill>
                  <a:srgbClr val="2E2E2E"/>
                </a:solidFill>
                <a:latin typeface="Calibri"/>
              </a:rPr>
              <a:t>per MT in 2025 and is projected to increase to US$</a:t>
            </a:r>
          </a:p>
        </p:txBody>
      </p:sp>
      <p:pic>
        <p:nvPicPr>
          <p:cNvPr id="114" name="Picture 113" descr="lock.png"/>
          <p:cNvPicPr>
            <a:picLocks noChangeAspect="1"/>
          </p:cNvPicPr>
          <p:nvPr/>
        </p:nvPicPr>
        <p:blipFill>
          <a:blip r:embed="rId4"/>
          <a:stretch>
            <a:fillRect/>
          </a:stretch>
        </p:blipFill>
        <p:spPr>
          <a:xfrm>
            <a:off x="11514356" y="1987551"/>
            <a:ext cx="134549" cy="195707"/>
          </a:xfrm>
          <a:prstGeom prst="rect">
            <a:avLst/>
          </a:prstGeom>
        </p:spPr>
      </p:pic>
      <p:sp>
        <p:nvSpPr>
          <p:cNvPr id="115" name="TextBox 114"/>
          <p:cNvSpPr txBox="1"/>
          <p:nvPr/>
        </p:nvSpPr>
        <p:spPr>
          <a:xfrm>
            <a:off x="8048625" y="2173035"/>
            <a:ext cx="1048630" cy="194310"/>
          </a:xfrm>
          <a:prstGeom prst="rect">
            <a:avLst/>
          </a:prstGeom>
          <a:noFill/>
        </p:spPr>
        <p:txBody>
          <a:bodyPr wrap="none" lIns="0" rIns="0" tIns="0" bIns="0">
            <a:spAutoFit/>
          </a:bodyPr>
          <a:lstStyle/>
          <a:p>
            <a:r>
              <a:rPr sz="1150" b="0">
                <a:solidFill>
                  <a:srgbClr val="2E2E2E"/>
                </a:solidFill>
                <a:latin typeface="Calibri"/>
              </a:rPr>
              <a:t>per MT by 2036.</a:t>
            </a:r>
          </a:p>
        </p:txBody>
      </p:sp>
      <p:sp>
        <p:nvSpPr>
          <p:cNvPr id="116" name="TextBox 115"/>
          <p:cNvSpPr txBox="1"/>
          <p:nvPr/>
        </p:nvSpPr>
        <p:spPr>
          <a:xfrm>
            <a:off x="8048625" y="2400873"/>
            <a:ext cx="3596518" cy="194310"/>
          </a:xfrm>
          <a:prstGeom prst="rect">
            <a:avLst/>
          </a:prstGeom>
          <a:noFill/>
        </p:spPr>
        <p:txBody>
          <a:bodyPr wrap="none" lIns="0" rIns="0" tIns="0" bIns="0">
            <a:spAutoFit/>
          </a:bodyPr>
          <a:lstStyle/>
          <a:p>
            <a:r>
              <a:rPr sz="1150" b="0">
                <a:solidFill>
                  <a:srgbClr val="2E2E2E"/>
                </a:solidFill>
                <a:latin typeface="Calibri"/>
              </a:rPr>
              <a:t>Canada is the highest-priced country, while U.S. is the most</a:t>
            </a:r>
          </a:p>
        </p:txBody>
      </p:sp>
      <p:sp>
        <p:nvSpPr>
          <p:cNvPr id="117" name="TextBox 116"/>
          <p:cNvSpPr txBox="1"/>
          <p:nvPr/>
        </p:nvSpPr>
        <p:spPr>
          <a:xfrm>
            <a:off x="8048625" y="2576133"/>
            <a:ext cx="3714898" cy="194310"/>
          </a:xfrm>
          <a:prstGeom prst="rect">
            <a:avLst/>
          </a:prstGeom>
          <a:noFill/>
        </p:spPr>
        <p:txBody>
          <a:bodyPr wrap="none" lIns="0" rIns="0" tIns="0" bIns="0">
            <a:spAutoFit/>
          </a:bodyPr>
          <a:lstStyle/>
          <a:p>
            <a:r>
              <a:rPr sz="1150" b="0">
                <a:solidFill>
                  <a:srgbClr val="2E2E2E"/>
                </a:solidFill>
                <a:latin typeface="Calibri"/>
              </a:rPr>
              <a:t>price-competitive market. Against the North America price of</a:t>
            </a:r>
          </a:p>
        </p:txBody>
      </p:sp>
      <p:pic>
        <p:nvPicPr>
          <p:cNvPr id="118" name="Picture 117" descr="lock.png"/>
          <p:cNvPicPr>
            <a:picLocks noChangeAspect="1"/>
          </p:cNvPicPr>
          <p:nvPr/>
        </p:nvPicPr>
        <p:blipFill>
          <a:blip r:embed="rId4"/>
          <a:stretch>
            <a:fillRect/>
          </a:stretch>
        </p:blipFill>
        <p:spPr>
          <a:xfrm>
            <a:off x="8034545" y="2741169"/>
            <a:ext cx="134549" cy="195707"/>
          </a:xfrm>
          <a:prstGeom prst="rect">
            <a:avLst/>
          </a:prstGeom>
        </p:spPr>
      </p:pic>
      <p:sp>
        <p:nvSpPr>
          <p:cNvPr id="119" name="TextBox 118"/>
          <p:cNvSpPr txBox="1"/>
          <p:nvPr/>
        </p:nvSpPr>
        <p:spPr>
          <a:xfrm>
            <a:off x="8209654" y="2751393"/>
            <a:ext cx="3081349" cy="194310"/>
          </a:xfrm>
          <a:prstGeom prst="rect">
            <a:avLst/>
          </a:prstGeom>
          <a:noFill/>
        </p:spPr>
        <p:txBody>
          <a:bodyPr wrap="none" lIns="0" rIns="0" tIns="0" bIns="0">
            <a:spAutoFit/>
          </a:bodyPr>
          <a:lstStyle/>
          <a:p>
            <a:r>
              <a:rPr sz="1150" b="0">
                <a:solidFill>
                  <a:srgbClr val="2E2E2E"/>
                </a:solidFill>
                <a:latin typeface="Calibri"/>
              </a:rPr>
              <a:t>US$/MT, 1 of 2 countries price above and 1 below.</a:t>
            </a:r>
          </a:p>
        </p:txBody>
      </p:sp>
      <p:sp>
        <p:nvSpPr>
          <p:cNvPr id="120" name="TextBox 119"/>
          <p:cNvSpPr txBox="1"/>
          <p:nvPr/>
        </p:nvSpPr>
        <p:spPr>
          <a:xfrm>
            <a:off x="8048625" y="2979230"/>
            <a:ext cx="1677330" cy="194310"/>
          </a:xfrm>
          <a:prstGeom prst="rect">
            <a:avLst/>
          </a:prstGeom>
          <a:noFill/>
        </p:spPr>
        <p:txBody>
          <a:bodyPr wrap="none" lIns="0" rIns="0" tIns="0" bIns="0">
            <a:spAutoFit/>
          </a:bodyPr>
          <a:lstStyle/>
          <a:p>
            <a:r>
              <a:rPr sz="1150" b="0">
                <a:solidFill>
                  <a:srgbClr val="2E2E2E"/>
                </a:solidFill>
                <a:latin typeface="Calibri"/>
              </a:rPr>
              <a:t>'Canada' is the dearest at +</a:t>
            </a:r>
          </a:p>
        </p:txBody>
      </p:sp>
      <p:pic>
        <p:nvPicPr>
          <p:cNvPr id="121" name="Picture 120" descr="lock.png"/>
          <p:cNvPicPr>
            <a:picLocks noChangeAspect="1"/>
          </p:cNvPicPr>
          <p:nvPr/>
        </p:nvPicPr>
        <p:blipFill>
          <a:blip r:embed="rId4"/>
          <a:stretch>
            <a:fillRect/>
          </a:stretch>
        </p:blipFill>
        <p:spPr>
          <a:xfrm>
            <a:off x="9675109" y="2969007"/>
            <a:ext cx="134549" cy="195707"/>
          </a:xfrm>
          <a:prstGeom prst="rect">
            <a:avLst/>
          </a:prstGeom>
        </p:spPr>
      </p:pic>
      <p:sp>
        <p:nvSpPr>
          <p:cNvPr id="122" name="TextBox 121"/>
          <p:cNvSpPr txBox="1"/>
          <p:nvPr/>
        </p:nvSpPr>
        <p:spPr>
          <a:xfrm>
            <a:off x="9850218" y="2979230"/>
            <a:ext cx="1961728" cy="194310"/>
          </a:xfrm>
          <a:prstGeom prst="rect">
            <a:avLst/>
          </a:prstGeom>
          <a:noFill/>
        </p:spPr>
        <p:txBody>
          <a:bodyPr wrap="none" lIns="0" rIns="0" tIns="0" bIns="0">
            <a:spAutoFit/>
          </a:bodyPr>
          <a:lstStyle/>
          <a:p>
            <a:r>
              <a:rPr sz="1150" b="0">
                <a:solidFill>
                  <a:srgbClr val="2E2E2E"/>
                </a:solidFill>
                <a:latin typeface="Calibri"/>
              </a:rPr>
              <a:t>versus North America, 'U.S.' the</a:t>
            </a:r>
          </a:p>
        </p:txBody>
      </p:sp>
      <p:sp>
        <p:nvSpPr>
          <p:cNvPr id="123" name="TextBox 122"/>
          <p:cNvSpPr txBox="1"/>
          <p:nvPr/>
        </p:nvSpPr>
        <p:spPr>
          <a:xfrm>
            <a:off x="8048625" y="3154490"/>
            <a:ext cx="842962" cy="194310"/>
          </a:xfrm>
          <a:prstGeom prst="rect">
            <a:avLst/>
          </a:prstGeom>
          <a:noFill/>
        </p:spPr>
        <p:txBody>
          <a:bodyPr wrap="none" lIns="0" rIns="0" tIns="0" bIns="0">
            <a:spAutoFit/>
          </a:bodyPr>
          <a:lstStyle/>
          <a:p>
            <a:r>
              <a:rPr sz="1150" b="0">
                <a:solidFill>
                  <a:srgbClr val="2E2E2E"/>
                </a:solidFill>
                <a:latin typeface="Calibri"/>
              </a:rPr>
              <a:t>cheapest at -</a:t>
            </a:r>
          </a:p>
        </p:txBody>
      </p:sp>
      <p:pic>
        <p:nvPicPr>
          <p:cNvPr id="124" name="Picture 123" descr="lock.png"/>
          <p:cNvPicPr>
            <a:picLocks noChangeAspect="1"/>
          </p:cNvPicPr>
          <p:nvPr/>
        </p:nvPicPr>
        <p:blipFill>
          <a:blip r:embed="rId4"/>
          <a:stretch>
            <a:fillRect/>
          </a:stretch>
        </p:blipFill>
        <p:spPr>
          <a:xfrm>
            <a:off x="8840741" y="3144267"/>
            <a:ext cx="134549" cy="195707"/>
          </a:xfrm>
          <a:prstGeom prst="rect">
            <a:avLst/>
          </a:prstGeom>
        </p:spPr>
      </p:pic>
      <p:sp>
        <p:nvSpPr>
          <p:cNvPr id="125" name="TextBox 124"/>
          <p:cNvSpPr txBox="1"/>
          <p:nvPr/>
        </p:nvSpPr>
        <p:spPr>
          <a:xfrm>
            <a:off x="9015850" y="3154490"/>
            <a:ext cx="2728205" cy="194310"/>
          </a:xfrm>
          <a:prstGeom prst="rect">
            <a:avLst/>
          </a:prstGeom>
          <a:noFill/>
        </p:spPr>
        <p:txBody>
          <a:bodyPr wrap="none" lIns="0" rIns="0" tIns="0" bIns="0">
            <a:spAutoFit/>
          </a:bodyPr>
          <a:lstStyle/>
          <a:p>
            <a:r>
              <a:rPr sz="1150" b="0">
                <a:solidFill>
                  <a:srgbClr val="2E2E2E"/>
                </a:solidFill>
                <a:latin typeface="Calibri"/>
              </a:rPr>
              <a:t>pointing to premiumisation headroom in the</a:t>
            </a:r>
          </a:p>
        </p:txBody>
      </p:sp>
      <p:sp>
        <p:nvSpPr>
          <p:cNvPr id="126" name="TextBox 125"/>
          <p:cNvSpPr txBox="1"/>
          <p:nvPr/>
        </p:nvSpPr>
        <p:spPr>
          <a:xfrm>
            <a:off x="8048625" y="3329750"/>
            <a:ext cx="1458540" cy="194310"/>
          </a:xfrm>
          <a:prstGeom prst="rect">
            <a:avLst/>
          </a:prstGeom>
          <a:noFill/>
        </p:spPr>
        <p:txBody>
          <a:bodyPr wrap="none" lIns="0" rIns="0" tIns="0" bIns="0">
            <a:spAutoFit/>
          </a:bodyPr>
          <a:lstStyle/>
          <a:p>
            <a:r>
              <a:rPr sz="1150" b="0">
                <a:solidFill>
                  <a:srgbClr val="2E2E2E"/>
                </a:solidFill>
                <a:latin typeface="Calibri"/>
              </a:rPr>
              <a:t>lower-priced countries.</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Senior Dog Cognitive Supplement Market Summary, By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North America market value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3051231"/>
          </a:xfrm>
          <a:prstGeom prst="roundRect">
            <a:avLst>
              <a:gd name="adj" fmla="val 24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2565456"/>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p:txBody>
      </p:sp>
      <p:sp>
        <p:nvSpPr>
          <p:cNvPr id="24" name="Rounded Rectangle 23"/>
          <p:cNvSpPr/>
          <p:nvPr/>
        </p:nvSpPr>
        <p:spPr>
          <a:xfrm>
            <a:off x="7915275" y="4733879"/>
            <a:ext cx="4133850" cy="1822506"/>
          </a:xfrm>
          <a:prstGeom prst="roundRect">
            <a:avLst>
              <a:gd name="adj" fmla="val 41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819604"/>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5057729"/>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5143454"/>
            <a:ext cx="3867150" cy="133673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836640" cy="186689"/>
          </a:xfrm>
          <a:prstGeom prst="rect">
            <a:avLst/>
          </a:prstGeom>
          <a:noFill/>
        </p:spPr>
        <p:txBody>
          <a:bodyPr wrap="none" lIns="0" rIns="0" tIns="0" bIns="0">
            <a:spAutoFit/>
          </a:bodyPr>
          <a:lstStyle/>
          <a:p>
            <a:r>
              <a:rPr sz="1100" b="0">
                <a:solidFill>
                  <a:srgbClr val="2E2E2E"/>
                </a:solidFill>
                <a:latin typeface="Calibri"/>
              </a:rPr>
              <a:t>Senior dog cognitive supplement market value in North America is</a:t>
            </a:r>
          </a:p>
        </p:txBody>
      </p:sp>
      <p:sp>
        <p:nvSpPr>
          <p:cNvPr id="35" name="TextBox 34"/>
          <p:cNvSpPr txBox="1"/>
          <p:nvPr/>
        </p:nvSpPr>
        <p:spPr>
          <a:xfrm>
            <a:off x="8048625" y="2214627"/>
            <a:ext cx="1256555" cy="186689"/>
          </a:xfrm>
          <a:prstGeom prst="rect">
            <a:avLst/>
          </a:prstGeom>
          <a:noFill/>
        </p:spPr>
        <p:txBody>
          <a:bodyPr wrap="none" lIns="0" rIns="0" tIns="0" bIns="0">
            <a:spAutoFit/>
          </a:bodyPr>
          <a:lstStyle/>
          <a:p>
            <a:r>
              <a:rPr sz="1100" b="0">
                <a:solidFill>
                  <a:srgbClr val="2E2E2E"/>
                </a:solidFill>
                <a:latin typeface="Calibri"/>
              </a:rPr>
              <a:t>expected to increase</a:t>
            </a:r>
          </a:p>
        </p:txBody>
      </p:sp>
      <p:pic>
        <p:nvPicPr>
          <p:cNvPr id="36" name="Picture 35" descr="lock.png"/>
          <p:cNvPicPr>
            <a:picLocks noChangeAspect="1"/>
          </p:cNvPicPr>
          <p:nvPr/>
        </p:nvPicPr>
        <p:blipFill>
          <a:blip r:embed="rId6"/>
          <a:stretch>
            <a:fillRect/>
          </a:stretch>
        </p:blipFill>
        <p:spPr>
          <a:xfrm>
            <a:off x="9253232" y="2204848"/>
            <a:ext cx="128699" cy="187198"/>
          </a:xfrm>
          <a:prstGeom prst="rect">
            <a:avLst/>
          </a:prstGeom>
        </p:spPr>
      </p:pic>
      <p:sp>
        <p:nvSpPr>
          <p:cNvPr id="37" name="TextBox 36"/>
          <p:cNvSpPr txBox="1"/>
          <p:nvPr/>
        </p:nvSpPr>
        <p:spPr>
          <a:xfrm>
            <a:off x="9420728" y="2214627"/>
            <a:ext cx="2306215" cy="186689"/>
          </a:xfrm>
          <a:prstGeom prst="rect">
            <a:avLst/>
          </a:prstGeom>
          <a:noFill/>
        </p:spPr>
        <p:txBody>
          <a:bodyPr wrap="none" lIns="0" rIns="0" tIns="0" bIns="0">
            <a:spAutoFit/>
          </a:bodyPr>
          <a:lstStyle/>
          <a:p>
            <a:r>
              <a:rPr sz="1100" b="0">
                <a:solidFill>
                  <a:srgbClr val="2E2E2E"/>
                </a:solidFill>
                <a:latin typeface="Calibri"/>
              </a:rPr>
              <a:t>X between 2025 and 2036. In 2025, the</a:t>
            </a:r>
          </a:p>
        </p:txBody>
      </p:sp>
      <p:sp>
        <p:nvSpPr>
          <p:cNvPr id="38" name="TextBox 37"/>
          <p:cNvSpPr txBox="1"/>
          <p:nvPr/>
        </p:nvSpPr>
        <p:spPr>
          <a:xfrm>
            <a:off x="8048625" y="2382267"/>
            <a:ext cx="3624907" cy="186689"/>
          </a:xfrm>
          <a:prstGeom prst="rect">
            <a:avLst/>
          </a:prstGeom>
          <a:noFill/>
        </p:spPr>
        <p:txBody>
          <a:bodyPr wrap="none" lIns="0" rIns="0" tIns="0" bIns="0">
            <a:spAutoFit/>
          </a:bodyPr>
          <a:lstStyle/>
          <a:p>
            <a:r>
              <a:rPr sz="1100" b="0">
                <a:solidFill>
                  <a:srgbClr val="2E2E2E"/>
                </a:solidFill>
                <a:latin typeface="Calibri"/>
              </a:rPr>
              <a:t>senior dog cognitive supplement market in North America was</a:t>
            </a:r>
          </a:p>
        </p:txBody>
      </p:sp>
      <p:sp>
        <p:nvSpPr>
          <p:cNvPr id="39" name="TextBox 38"/>
          <p:cNvSpPr txBox="1"/>
          <p:nvPr/>
        </p:nvSpPr>
        <p:spPr>
          <a:xfrm>
            <a:off x="8048625" y="2549907"/>
            <a:ext cx="856555" cy="186689"/>
          </a:xfrm>
          <a:prstGeom prst="rect">
            <a:avLst/>
          </a:prstGeom>
          <a:noFill/>
        </p:spPr>
        <p:txBody>
          <a:bodyPr wrap="none" lIns="0" rIns="0" tIns="0" bIns="0">
            <a:spAutoFit/>
          </a:bodyPr>
          <a:lstStyle/>
          <a:p>
            <a:r>
              <a:rPr sz="1100" b="0">
                <a:solidFill>
                  <a:srgbClr val="2E2E2E"/>
                </a:solidFill>
                <a:latin typeface="Calibri"/>
              </a:rPr>
              <a:t>valued at US$</a:t>
            </a:r>
          </a:p>
        </p:txBody>
      </p:sp>
      <p:pic>
        <p:nvPicPr>
          <p:cNvPr id="40" name="Picture 39" descr="lock.png"/>
          <p:cNvPicPr>
            <a:picLocks noChangeAspect="1"/>
          </p:cNvPicPr>
          <p:nvPr/>
        </p:nvPicPr>
        <p:blipFill>
          <a:blip r:embed="rId6"/>
          <a:stretch>
            <a:fillRect/>
          </a:stretch>
        </p:blipFill>
        <p:spPr>
          <a:xfrm>
            <a:off x="8853232" y="2540128"/>
            <a:ext cx="128699" cy="187198"/>
          </a:xfrm>
          <a:prstGeom prst="rect">
            <a:avLst/>
          </a:prstGeom>
        </p:spPr>
      </p:pic>
      <p:sp>
        <p:nvSpPr>
          <p:cNvPr id="41" name="TextBox 40"/>
          <p:cNvSpPr txBox="1"/>
          <p:nvPr/>
        </p:nvSpPr>
        <p:spPr>
          <a:xfrm>
            <a:off x="9020727" y="2549907"/>
            <a:ext cx="2325861" cy="186689"/>
          </a:xfrm>
          <a:prstGeom prst="rect">
            <a:avLst/>
          </a:prstGeom>
          <a:noFill/>
        </p:spPr>
        <p:txBody>
          <a:bodyPr wrap="none" lIns="0" rIns="0" tIns="0" bIns="0">
            <a:spAutoFit/>
          </a:bodyPr>
          <a:lstStyle/>
          <a:p>
            <a:r>
              <a:rPr sz="1100" b="0">
                <a:solidFill>
                  <a:srgbClr val="2E2E2E"/>
                </a:solidFill>
                <a:latin typeface="Calibri"/>
              </a:rPr>
              <a:t>Mn and is estimated to account for US$</a:t>
            </a:r>
          </a:p>
        </p:txBody>
      </p:sp>
      <p:pic>
        <p:nvPicPr>
          <p:cNvPr id="42" name="Picture 41" descr="lock.png"/>
          <p:cNvPicPr>
            <a:picLocks noChangeAspect="1"/>
          </p:cNvPicPr>
          <p:nvPr/>
        </p:nvPicPr>
        <p:blipFill>
          <a:blip r:embed="rId6"/>
          <a:stretch>
            <a:fillRect/>
          </a:stretch>
        </p:blipFill>
        <p:spPr>
          <a:xfrm>
            <a:off x="11294640" y="2540128"/>
            <a:ext cx="128699" cy="187198"/>
          </a:xfrm>
          <a:prstGeom prst="rect">
            <a:avLst/>
          </a:prstGeom>
        </p:spPr>
      </p:pic>
      <p:sp>
        <p:nvSpPr>
          <p:cNvPr id="43" name="TextBox 42"/>
          <p:cNvSpPr txBox="1"/>
          <p:nvPr/>
        </p:nvSpPr>
        <p:spPr>
          <a:xfrm>
            <a:off x="11462136" y="2549907"/>
            <a:ext cx="269106" cy="186689"/>
          </a:xfrm>
          <a:prstGeom prst="rect">
            <a:avLst/>
          </a:prstGeom>
          <a:noFill/>
        </p:spPr>
        <p:txBody>
          <a:bodyPr wrap="none" lIns="0" rIns="0" tIns="0" bIns="0">
            <a:spAutoFit/>
          </a:bodyPr>
          <a:lstStyle/>
          <a:p>
            <a:r>
              <a:rPr sz="1100" b="0">
                <a:solidFill>
                  <a:srgbClr val="2E2E2E"/>
                </a:solidFill>
                <a:latin typeface="Calibri"/>
              </a:rPr>
              <a:t>Mn</a:t>
            </a:r>
          </a:p>
        </p:txBody>
      </p:sp>
      <p:sp>
        <p:nvSpPr>
          <p:cNvPr id="44" name="TextBox 43"/>
          <p:cNvSpPr txBox="1"/>
          <p:nvPr/>
        </p:nvSpPr>
        <p:spPr>
          <a:xfrm>
            <a:off x="8048625" y="2717547"/>
            <a:ext cx="3030363" cy="186689"/>
          </a:xfrm>
          <a:prstGeom prst="rect">
            <a:avLst/>
          </a:prstGeom>
          <a:noFill/>
        </p:spPr>
        <p:txBody>
          <a:bodyPr wrap="none" lIns="0" rIns="0" tIns="0" bIns="0">
            <a:spAutoFit/>
          </a:bodyPr>
          <a:lstStyle/>
          <a:p>
            <a:r>
              <a:rPr sz="1100" b="0">
                <a:solidFill>
                  <a:srgbClr val="2E2E2E"/>
                </a:solidFill>
                <a:latin typeface="Calibri"/>
              </a:rPr>
              <a:t>by the end of 2026, reflecting a Y-o-Y growth rate of</a:t>
            </a:r>
          </a:p>
        </p:txBody>
      </p:sp>
      <p:pic>
        <p:nvPicPr>
          <p:cNvPr id="45" name="Picture 44" descr="lock.png"/>
          <p:cNvPicPr>
            <a:picLocks noChangeAspect="1"/>
          </p:cNvPicPr>
          <p:nvPr/>
        </p:nvPicPr>
        <p:blipFill>
          <a:blip r:embed="rId6"/>
          <a:stretch>
            <a:fillRect/>
          </a:stretch>
        </p:blipFill>
        <p:spPr>
          <a:xfrm>
            <a:off x="11027040" y="2707768"/>
            <a:ext cx="128699" cy="187198"/>
          </a:xfrm>
          <a:prstGeom prst="rect">
            <a:avLst/>
          </a:prstGeom>
        </p:spPr>
      </p:pic>
      <p:sp>
        <p:nvSpPr>
          <p:cNvPr id="46" name="TextBox 45"/>
          <p:cNvSpPr txBox="1"/>
          <p:nvPr/>
        </p:nvSpPr>
        <p:spPr>
          <a:xfrm>
            <a:off x="11194536"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7" name="TextBox 46"/>
          <p:cNvSpPr txBox="1"/>
          <p:nvPr/>
        </p:nvSpPr>
        <p:spPr>
          <a:xfrm>
            <a:off x="8048625" y="2935479"/>
            <a:ext cx="3491210" cy="186689"/>
          </a:xfrm>
          <a:prstGeom prst="rect">
            <a:avLst/>
          </a:prstGeom>
          <a:noFill/>
        </p:spPr>
        <p:txBody>
          <a:bodyPr wrap="none" lIns="0" rIns="0" tIns="0" bIns="0">
            <a:spAutoFit/>
          </a:bodyPr>
          <a:lstStyle/>
          <a:p>
            <a:r>
              <a:rPr sz="1100" b="0">
                <a:solidFill>
                  <a:srgbClr val="2E2E2E"/>
                </a:solidFill>
                <a:latin typeface="Calibri"/>
              </a:rPr>
              <a:t>The market in North America is expected to account for US$</a:t>
            </a:r>
          </a:p>
        </p:txBody>
      </p:sp>
      <p:pic>
        <p:nvPicPr>
          <p:cNvPr id="48" name="Picture 47" descr="lock.png"/>
          <p:cNvPicPr>
            <a:picLocks noChangeAspect="1"/>
          </p:cNvPicPr>
          <p:nvPr/>
        </p:nvPicPr>
        <p:blipFill>
          <a:blip r:embed="rId6"/>
          <a:stretch>
            <a:fillRect/>
          </a:stretch>
        </p:blipFill>
        <p:spPr>
          <a:xfrm>
            <a:off x="8035157" y="3093340"/>
            <a:ext cx="128699" cy="187198"/>
          </a:xfrm>
          <a:prstGeom prst="rect">
            <a:avLst/>
          </a:prstGeom>
        </p:spPr>
      </p:pic>
      <p:sp>
        <p:nvSpPr>
          <p:cNvPr id="49" name="TextBox 48"/>
          <p:cNvSpPr txBox="1"/>
          <p:nvPr/>
        </p:nvSpPr>
        <p:spPr>
          <a:xfrm>
            <a:off x="8202653" y="3103119"/>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50" name="Picture 49" descr="lock.png"/>
          <p:cNvPicPr>
            <a:picLocks noChangeAspect="1"/>
          </p:cNvPicPr>
          <p:nvPr/>
        </p:nvPicPr>
        <p:blipFill>
          <a:blip r:embed="rId6"/>
          <a:stretch>
            <a:fillRect/>
          </a:stretch>
        </p:blipFill>
        <p:spPr>
          <a:xfrm>
            <a:off x="9646261" y="3093340"/>
            <a:ext cx="128699" cy="187198"/>
          </a:xfrm>
          <a:prstGeom prst="rect">
            <a:avLst/>
          </a:prstGeom>
        </p:spPr>
      </p:pic>
      <p:sp>
        <p:nvSpPr>
          <p:cNvPr id="51" name="TextBox 50"/>
          <p:cNvSpPr txBox="1"/>
          <p:nvPr/>
        </p:nvSpPr>
        <p:spPr>
          <a:xfrm>
            <a:off x="9813757" y="3103119"/>
            <a:ext cx="1849462" cy="186689"/>
          </a:xfrm>
          <a:prstGeom prst="rect">
            <a:avLst/>
          </a:prstGeom>
          <a:noFill/>
        </p:spPr>
        <p:txBody>
          <a:bodyPr wrap="none" lIns="0" rIns="0" tIns="0" bIns="0">
            <a:spAutoFit/>
          </a:bodyPr>
          <a:lstStyle/>
          <a:p>
            <a:r>
              <a:rPr sz="1100" b="0">
                <a:solidFill>
                  <a:srgbClr val="2E2E2E"/>
                </a:solidFill>
                <a:latin typeface="Calibri"/>
              </a:rPr>
              <a:t>over the forecast period. North</a:t>
            </a:r>
          </a:p>
        </p:txBody>
      </p:sp>
      <p:sp>
        <p:nvSpPr>
          <p:cNvPr id="52" name="TextBox 51"/>
          <p:cNvSpPr txBox="1"/>
          <p:nvPr/>
        </p:nvSpPr>
        <p:spPr>
          <a:xfrm>
            <a:off x="8048625" y="3270759"/>
            <a:ext cx="3764880" cy="186689"/>
          </a:xfrm>
          <a:prstGeom prst="rect">
            <a:avLst/>
          </a:prstGeom>
          <a:noFill/>
        </p:spPr>
        <p:txBody>
          <a:bodyPr wrap="none" lIns="0" rIns="0" tIns="0" bIns="0">
            <a:spAutoFit/>
          </a:bodyPr>
          <a:lstStyle/>
          <a:p>
            <a:r>
              <a:rPr sz="1100" b="0">
                <a:solidFill>
                  <a:srgbClr val="2E2E2E"/>
                </a:solidFill>
                <a:latin typeface="Calibri"/>
              </a:rPr>
              <a:t>America is expected to create an incremental opportunity of US$</a:t>
            </a:r>
          </a:p>
        </p:txBody>
      </p:sp>
      <p:pic>
        <p:nvPicPr>
          <p:cNvPr id="53" name="Picture 52" descr="lock.png"/>
          <p:cNvPicPr>
            <a:picLocks noChangeAspect="1"/>
          </p:cNvPicPr>
          <p:nvPr/>
        </p:nvPicPr>
        <p:blipFill>
          <a:blip r:embed="rId6"/>
          <a:stretch>
            <a:fillRect/>
          </a:stretch>
        </p:blipFill>
        <p:spPr>
          <a:xfrm>
            <a:off x="8035157" y="3428620"/>
            <a:ext cx="128699" cy="187198"/>
          </a:xfrm>
          <a:prstGeom prst="rect">
            <a:avLst/>
          </a:prstGeom>
        </p:spPr>
      </p:pic>
      <p:sp>
        <p:nvSpPr>
          <p:cNvPr id="54" name="TextBox 53"/>
          <p:cNvSpPr txBox="1"/>
          <p:nvPr/>
        </p:nvSpPr>
        <p:spPr>
          <a:xfrm>
            <a:off x="8202653" y="3438399"/>
            <a:ext cx="3430091" cy="186689"/>
          </a:xfrm>
          <a:prstGeom prst="rect">
            <a:avLst/>
          </a:prstGeom>
          <a:noFill/>
        </p:spPr>
        <p:txBody>
          <a:bodyPr wrap="none" lIns="0" rIns="0" tIns="0" bIns="0">
            <a:spAutoFit/>
          </a:bodyPr>
          <a:lstStyle/>
          <a:p>
            <a:r>
              <a:rPr sz="1100" b="0">
                <a:solidFill>
                  <a:srgbClr val="2E2E2E"/>
                </a:solidFill>
                <a:latin typeface="Calibri"/>
              </a:rPr>
              <a:t>Mn for the overall senior dog cognitive supplement market</a:t>
            </a:r>
          </a:p>
        </p:txBody>
      </p:sp>
      <p:sp>
        <p:nvSpPr>
          <p:cNvPr id="55" name="TextBox 54"/>
          <p:cNvSpPr txBox="1"/>
          <p:nvPr/>
        </p:nvSpPr>
        <p:spPr>
          <a:xfrm>
            <a:off x="8048625" y="3606039"/>
            <a:ext cx="1171153" cy="186689"/>
          </a:xfrm>
          <a:prstGeom prst="rect">
            <a:avLst/>
          </a:prstGeom>
          <a:noFill/>
        </p:spPr>
        <p:txBody>
          <a:bodyPr wrap="none" lIns="0" rIns="0" tIns="0" bIns="0">
            <a:spAutoFit/>
          </a:bodyPr>
          <a:lstStyle/>
          <a:p>
            <a:r>
              <a:rPr sz="1100" b="0">
                <a:solidFill>
                  <a:srgbClr val="2E2E2E"/>
                </a:solidFill>
                <a:latin typeface="Calibri"/>
              </a:rPr>
              <a:t>from 2025 to 2036.</a:t>
            </a:r>
          </a:p>
        </p:txBody>
      </p:sp>
      <p:sp>
        <p:nvSpPr>
          <p:cNvPr id="56" name="TextBox 55"/>
          <p:cNvSpPr txBox="1"/>
          <p:nvPr/>
        </p:nvSpPr>
        <p:spPr>
          <a:xfrm>
            <a:off x="8048625" y="3823971"/>
            <a:ext cx="2837184" cy="186689"/>
          </a:xfrm>
          <a:prstGeom prst="rect">
            <a:avLst/>
          </a:prstGeom>
          <a:noFill/>
        </p:spPr>
        <p:txBody>
          <a:bodyPr wrap="none" lIns="0" rIns="0" tIns="0" bIns="0">
            <a:spAutoFit/>
          </a:bodyPr>
          <a:lstStyle/>
          <a:p>
            <a:r>
              <a:rPr sz="1100" b="0">
                <a:solidFill>
                  <a:srgbClr val="2E2E2E"/>
                </a:solidFill>
                <a:latin typeface="Calibri"/>
              </a:rPr>
              <a:t>Absolute $ value for 2026 is estimated to be US$</a:t>
            </a:r>
          </a:p>
        </p:txBody>
      </p:sp>
      <p:pic>
        <p:nvPicPr>
          <p:cNvPr id="57" name="Picture 56" descr="lock.png"/>
          <p:cNvPicPr>
            <a:picLocks noChangeAspect="1"/>
          </p:cNvPicPr>
          <p:nvPr/>
        </p:nvPicPr>
        <p:blipFill>
          <a:blip r:embed="rId6"/>
          <a:stretch>
            <a:fillRect/>
          </a:stretch>
        </p:blipFill>
        <p:spPr>
          <a:xfrm>
            <a:off x="10833861" y="3814192"/>
            <a:ext cx="128699" cy="187198"/>
          </a:xfrm>
          <a:prstGeom prst="rect">
            <a:avLst/>
          </a:prstGeom>
        </p:spPr>
      </p:pic>
      <p:sp>
        <p:nvSpPr>
          <p:cNvPr id="58" name="TextBox 57"/>
          <p:cNvSpPr txBox="1"/>
          <p:nvPr/>
        </p:nvSpPr>
        <p:spPr>
          <a:xfrm>
            <a:off x="11001357" y="3823971"/>
            <a:ext cx="304303" cy="186689"/>
          </a:xfrm>
          <a:prstGeom prst="rect">
            <a:avLst/>
          </a:prstGeom>
          <a:noFill/>
        </p:spPr>
        <p:txBody>
          <a:bodyPr wrap="none" lIns="0" rIns="0" tIns="0" bIns="0">
            <a:spAutoFit/>
          </a:bodyPr>
          <a:lstStyle/>
          <a:p>
            <a:r>
              <a:rPr sz="1100" b="0">
                <a:solidFill>
                  <a:srgbClr val="2E2E2E"/>
                </a:solidFill>
                <a:latin typeface="Calibri"/>
              </a:rPr>
              <a:t>Mn.</a:t>
            </a:r>
          </a:p>
        </p:txBody>
      </p:sp>
      <p:sp>
        <p:nvSpPr>
          <p:cNvPr id="59" name="TextBox 58"/>
          <p:cNvSpPr txBox="1"/>
          <p:nvPr/>
        </p:nvSpPr>
        <p:spPr>
          <a:xfrm>
            <a:off x="8048625" y="5152979"/>
            <a:ext cx="2138300" cy="194310"/>
          </a:xfrm>
          <a:prstGeom prst="rect">
            <a:avLst/>
          </a:prstGeom>
          <a:noFill/>
        </p:spPr>
        <p:txBody>
          <a:bodyPr wrap="none" lIns="0" rIns="0" tIns="0" bIns="0">
            <a:spAutoFit/>
          </a:bodyPr>
          <a:lstStyle/>
          <a:p>
            <a:r>
              <a:rPr sz="1150" b="0">
                <a:solidFill>
                  <a:srgbClr val="2E2E2E"/>
                </a:solidFill>
                <a:latin typeface="Calibri"/>
              </a:rPr>
              <a:t>▪ 'Canada' leads regional growth at</a:t>
            </a:r>
          </a:p>
        </p:txBody>
      </p:sp>
      <p:pic>
        <p:nvPicPr>
          <p:cNvPr id="60" name="Picture 59" descr="lock.png"/>
          <p:cNvPicPr>
            <a:picLocks noChangeAspect="1"/>
          </p:cNvPicPr>
          <p:nvPr/>
        </p:nvPicPr>
        <p:blipFill>
          <a:blip r:embed="rId6"/>
          <a:stretch>
            <a:fillRect/>
          </a:stretch>
        </p:blipFill>
        <p:spPr>
          <a:xfrm>
            <a:off x="10136079" y="5142755"/>
            <a:ext cx="134549" cy="195707"/>
          </a:xfrm>
          <a:prstGeom prst="rect">
            <a:avLst/>
          </a:prstGeom>
        </p:spPr>
      </p:pic>
      <p:sp>
        <p:nvSpPr>
          <p:cNvPr id="61" name="TextBox 60"/>
          <p:cNvSpPr txBox="1"/>
          <p:nvPr/>
        </p:nvSpPr>
        <p:spPr>
          <a:xfrm>
            <a:off x="10311188" y="5152979"/>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2" name="TextBox 61"/>
          <p:cNvSpPr txBox="1"/>
          <p:nvPr/>
        </p:nvSpPr>
        <p:spPr>
          <a:xfrm>
            <a:off x="8048625" y="5380816"/>
            <a:ext cx="3746816" cy="194310"/>
          </a:xfrm>
          <a:prstGeom prst="rect">
            <a:avLst/>
          </a:prstGeom>
          <a:noFill/>
        </p:spPr>
        <p:txBody>
          <a:bodyPr wrap="none" lIns="0" rIns="0" tIns="0" bIns="0">
            <a:spAutoFit/>
          </a:bodyPr>
          <a:lstStyle/>
          <a:p>
            <a:r>
              <a:rPr sz="1150" b="0">
                <a:solidFill>
                  <a:srgbClr val="2E2E2E"/>
                </a:solidFill>
                <a:latin typeface="Calibri"/>
              </a:rPr>
              <a:t>▪ Demand concentrates in 'Capsules and Softgels' within Form</a:t>
            </a:r>
          </a:p>
        </p:txBody>
      </p:sp>
      <p:sp>
        <p:nvSpPr>
          <p:cNvPr id="63" name="TextBox 62"/>
          <p:cNvSpPr txBox="1"/>
          <p:nvPr/>
        </p:nvSpPr>
        <p:spPr>
          <a:xfrm>
            <a:off x="8048625" y="5556076"/>
            <a:ext cx="399963" cy="194310"/>
          </a:xfrm>
          <a:prstGeom prst="rect">
            <a:avLst/>
          </a:prstGeom>
          <a:noFill/>
        </p:spPr>
        <p:txBody>
          <a:bodyPr wrap="none" lIns="0" rIns="0" tIns="0" bIns="0">
            <a:spAutoFit/>
          </a:bodyPr>
          <a:lstStyle/>
          <a:p>
            <a:r>
              <a:rPr sz="1150" b="0">
                <a:solidFill>
                  <a:srgbClr val="2E2E2E"/>
                </a:solidFill>
                <a:latin typeface="Calibri"/>
              </a:rPr>
              <a:t>Type.</a:t>
            </a:r>
          </a:p>
        </p:txBody>
      </p:sp>
      <p:sp>
        <p:nvSpPr>
          <p:cNvPr id="64" name="TextBox 63"/>
          <p:cNvSpPr txBox="1"/>
          <p:nvPr/>
        </p:nvSpPr>
        <p:spPr>
          <a:xfrm>
            <a:off x="8048625" y="5783914"/>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65" name="TextBox 64"/>
          <p:cNvSpPr txBox="1"/>
          <p:nvPr/>
        </p:nvSpPr>
        <p:spPr>
          <a:xfrm>
            <a:off x="8048625" y="6011752"/>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66"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Senior Dog Cognitive Supplement Market Volume &amp; Value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North America market and the incremental $ opportunity it creates, 2021–2036</a:t>
            </a:r>
          </a:p>
        </p:txBody>
      </p:sp>
      <p:sp>
        <p:nvSpPr>
          <p:cNvPr id="10" name="Rounded Rectangle 9"/>
          <p:cNvSpPr/>
          <p:nvPr/>
        </p:nvSpPr>
        <p:spPr>
          <a:xfrm>
            <a:off x="142875" y="981075"/>
            <a:ext cx="4695825" cy="2524125"/>
          </a:xfrm>
          <a:prstGeom prst="roundRect">
            <a:avLst>
              <a:gd name="adj" fmla="val 30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2021–2025 (Historical)</a:t>
            </a:r>
          </a:p>
        </p:txBody>
      </p:sp>
      <p:graphicFrame>
        <p:nvGraphicFramePr>
          <p:cNvPr id="12" name="Chart 11"/>
          <p:cNvGraphicFramePr>
            <a:graphicFrameLocks noGrp="1"/>
          </p:cNvGraphicFramePr>
          <p:nvPr/>
        </p:nvGraphicFramePr>
        <p:xfrm>
          <a:off x="238125" y="1266825"/>
          <a:ext cx="4505325" cy="2181225"/>
        </p:xfrm>
        <a:graphic>
          <a:graphicData uri="http://schemas.openxmlformats.org/drawingml/2006/chart">
            <c:chart xmlns:c="http://schemas.openxmlformats.org/drawingml/2006/chart" r:id="rId3"/>
          </a:graphicData>
        </a:graphic>
      </p:graphicFrame>
      <p:sp>
        <p:nvSpPr>
          <p:cNvPr id="13" name="Rounded Rectangle 12"/>
          <p:cNvSpPr/>
          <p:nvPr/>
        </p:nvSpPr>
        <p:spPr>
          <a:xfrm>
            <a:off x="4991100" y="981075"/>
            <a:ext cx="7048500" cy="2524125"/>
          </a:xfrm>
          <a:prstGeom prst="roundRect">
            <a:avLst>
              <a:gd name="adj" fmla="val 30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2026–2036 (Forecast)</a:t>
            </a:r>
          </a:p>
        </p:txBody>
      </p:sp>
      <p:graphicFrame>
        <p:nvGraphicFramePr>
          <p:cNvPr id="15" name="Chart 14"/>
          <p:cNvGraphicFramePr>
            <a:graphicFrameLocks noGrp="1"/>
          </p:cNvGraphicFramePr>
          <p:nvPr/>
        </p:nvGraphicFramePr>
        <p:xfrm>
          <a:off x="5086350" y="1266825"/>
          <a:ext cx="6858000" cy="21812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638550"/>
            <a:ext cx="25146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0E72AE"/>
                </a:solidFill>
                <a:latin typeface="Calibri"/>
              </a:rPr>
              <a:t> </a:t>
            </a:r>
          </a:p>
        </p:txBody>
      </p:sp>
      <p:sp>
        <p:nvSpPr>
          <p:cNvPr id="17" name="Rounded Rectangle 16"/>
          <p:cNvSpPr/>
          <p:nvPr/>
        </p:nvSpPr>
        <p:spPr>
          <a:xfrm>
            <a:off x="2809875" y="3638550"/>
            <a:ext cx="25146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0E72AE"/>
                </a:solidFill>
                <a:latin typeface="Calibri"/>
              </a:rPr>
              <a:t> </a:t>
            </a:r>
          </a:p>
        </p:txBody>
      </p:sp>
      <p:sp>
        <p:nvSpPr>
          <p:cNvPr id="18" name="Rounded Rectangle 17"/>
          <p:cNvSpPr/>
          <p:nvPr/>
        </p:nvSpPr>
        <p:spPr>
          <a:xfrm>
            <a:off x="5476875" y="3638550"/>
            <a:ext cx="32004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0E72AE"/>
                </a:solidFill>
                <a:latin typeface="Calibri"/>
              </a:rPr>
              <a:t> </a:t>
            </a:r>
          </a:p>
        </p:txBody>
      </p:sp>
      <p:sp>
        <p:nvSpPr>
          <p:cNvPr id="19" name="Rounded Rectangle 18"/>
          <p:cNvSpPr/>
          <p:nvPr/>
        </p:nvSpPr>
        <p:spPr>
          <a:xfrm>
            <a:off x="8829675" y="3638550"/>
            <a:ext cx="32004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0E72AE"/>
                </a:solidFill>
                <a:latin typeface="Calibri"/>
              </a:rPr>
              <a:t> </a:t>
            </a:r>
          </a:p>
        </p:txBody>
      </p:sp>
      <p:sp>
        <p:nvSpPr>
          <p:cNvPr id="20" name="Rounded Rectangle 19"/>
          <p:cNvSpPr/>
          <p:nvPr/>
        </p:nvSpPr>
        <p:spPr>
          <a:xfrm>
            <a:off x="142875" y="4457700"/>
            <a:ext cx="11906250" cy="2152650"/>
          </a:xfrm>
          <a:prstGeom prst="roundRect">
            <a:avLst>
              <a:gd name="adj" fmla="val 35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54342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Volume &amp; Value Analysis</a:t>
            </a:r>
          </a:p>
        </p:txBody>
      </p:sp>
      <p:sp>
        <p:nvSpPr>
          <p:cNvPr id="22" name="Rectangle 21"/>
          <p:cNvSpPr/>
          <p:nvPr/>
        </p:nvSpPr>
        <p:spPr>
          <a:xfrm>
            <a:off x="276225" y="47815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4867275"/>
            <a:ext cx="11639550" cy="16668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2535356" y="2029222"/>
            <a:ext cx="202455" cy="294480"/>
          </a:xfrm>
          <a:prstGeom prst="rect">
            <a:avLst/>
          </a:prstGeom>
        </p:spPr>
      </p:pic>
      <p:pic>
        <p:nvPicPr>
          <p:cNvPr id="26" name="Picture 25" descr="lock.png"/>
          <p:cNvPicPr>
            <a:picLocks noChangeAspect="1"/>
          </p:cNvPicPr>
          <p:nvPr/>
        </p:nvPicPr>
        <p:blipFill>
          <a:blip r:embed="rId6"/>
          <a:stretch>
            <a:fillRect/>
          </a:stretch>
        </p:blipFill>
        <p:spPr>
          <a:xfrm>
            <a:off x="8532694" y="1990329"/>
            <a:ext cx="255933" cy="372266"/>
          </a:xfrm>
          <a:prstGeom prst="rect">
            <a:avLst/>
          </a:prstGeom>
        </p:spPr>
      </p:pic>
      <p:pic>
        <p:nvPicPr>
          <p:cNvPr id="27" name="Picture 26" descr="lock.png"/>
          <p:cNvPicPr>
            <a:picLocks noChangeAspect="1"/>
          </p:cNvPicPr>
          <p:nvPr/>
        </p:nvPicPr>
        <p:blipFill>
          <a:blip r:embed="rId6"/>
          <a:stretch>
            <a:fillRect/>
          </a:stretch>
        </p:blipFill>
        <p:spPr>
          <a:xfrm>
            <a:off x="1321594" y="3950970"/>
            <a:ext cx="157162" cy="228600"/>
          </a:xfrm>
          <a:prstGeom prst="rect">
            <a:avLst/>
          </a:prstGeom>
        </p:spPr>
      </p:pic>
      <p:pic>
        <p:nvPicPr>
          <p:cNvPr id="28" name="Picture 27" descr="lock.png"/>
          <p:cNvPicPr>
            <a:picLocks noChangeAspect="1"/>
          </p:cNvPicPr>
          <p:nvPr/>
        </p:nvPicPr>
        <p:blipFill>
          <a:blip r:embed="rId6"/>
          <a:stretch>
            <a:fillRect/>
          </a:stretch>
        </p:blipFill>
        <p:spPr>
          <a:xfrm>
            <a:off x="3988594" y="3950970"/>
            <a:ext cx="157162" cy="228600"/>
          </a:xfrm>
          <a:prstGeom prst="rect">
            <a:avLst/>
          </a:prstGeom>
        </p:spPr>
      </p:pic>
      <p:pic>
        <p:nvPicPr>
          <p:cNvPr id="29" name="Picture 28" descr="lock.png"/>
          <p:cNvPicPr>
            <a:picLocks noChangeAspect="1"/>
          </p:cNvPicPr>
          <p:nvPr/>
        </p:nvPicPr>
        <p:blipFill>
          <a:blip r:embed="rId6"/>
          <a:stretch>
            <a:fillRect/>
          </a:stretch>
        </p:blipFill>
        <p:spPr>
          <a:xfrm>
            <a:off x="6998494" y="3950970"/>
            <a:ext cx="157162" cy="228600"/>
          </a:xfrm>
          <a:prstGeom prst="rect">
            <a:avLst/>
          </a:prstGeom>
        </p:spPr>
      </p:pic>
      <p:pic>
        <p:nvPicPr>
          <p:cNvPr id="30" name="Picture 29" descr="lock.png"/>
          <p:cNvPicPr>
            <a:picLocks noChangeAspect="1"/>
          </p:cNvPicPr>
          <p:nvPr/>
        </p:nvPicPr>
        <p:blipFill>
          <a:blip r:embed="rId6"/>
          <a:stretch>
            <a:fillRect/>
          </a:stretch>
        </p:blipFill>
        <p:spPr>
          <a:xfrm>
            <a:off x="10351294" y="3950970"/>
            <a:ext cx="157162" cy="228600"/>
          </a:xfrm>
          <a:prstGeom prst="rect">
            <a:avLst/>
          </a:prstGeom>
        </p:spPr>
      </p:pic>
      <p:sp>
        <p:nvSpPr>
          <p:cNvPr id="31" name="TextBox 30"/>
          <p:cNvSpPr txBox="1"/>
          <p:nvPr/>
        </p:nvSpPr>
        <p:spPr>
          <a:xfrm>
            <a:off x="276225" y="4876800"/>
            <a:ext cx="5048646" cy="186689"/>
          </a:xfrm>
          <a:prstGeom prst="rect">
            <a:avLst/>
          </a:prstGeom>
          <a:noFill/>
        </p:spPr>
        <p:txBody>
          <a:bodyPr wrap="none" lIns="0" rIns="0" tIns="0" bIns="0">
            <a:spAutoFit/>
          </a:bodyPr>
          <a:lstStyle/>
          <a:p>
            <a:r>
              <a:rPr sz="1100" b="0">
                <a:solidFill>
                  <a:srgbClr val="2E2E2E"/>
                </a:solidFill>
                <a:latin typeface="Calibri"/>
              </a:rPr>
              <a:t>Senior dog cognitive supplement market value in North America is expected to increase</a:t>
            </a:r>
          </a:p>
        </p:txBody>
      </p:sp>
      <p:pic>
        <p:nvPicPr>
          <p:cNvPr id="32" name="Picture 31" descr="lock.png"/>
          <p:cNvPicPr>
            <a:picLocks noChangeAspect="1"/>
          </p:cNvPicPr>
          <p:nvPr/>
        </p:nvPicPr>
        <p:blipFill>
          <a:blip r:embed="rId6"/>
          <a:stretch>
            <a:fillRect/>
          </a:stretch>
        </p:blipFill>
        <p:spPr>
          <a:xfrm>
            <a:off x="5272923" y="4867021"/>
            <a:ext cx="128699" cy="187198"/>
          </a:xfrm>
          <a:prstGeom prst="rect">
            <a:avLst/>
          </a:prstGeom>
        </p:spPr>
      </p:pic>
      <p:sp>
        <p:nvSpPr>
          <p:cNvPr id="33" name="TextBox 32"/>
          <p:cNvSpPr txBox="1"/>
          <p:nvPr/>
        </p:nvSpPr>
        <p:spPr>
          <a:xfrm>
            <a:off x="5440419" y="4876800"/>
            <a:ext cx="6442099" cy="186689"/>
          </a:xfrm>
          <a:prstGeom prst="rect">
            <a:avLst/>
          </a:prstGeom>
          <a:noFill/>
        </p:spPr>
        <p:txBody>
          <a:bodyPr wrap="none" lIns="0" rIns="0" tIns="0" bIns="0">
            <a:spAutoFit/>
          </a:bodyPr>
          <a:lstStyle/>
          <a:p>
            <a:r>
              <a:rPr sz="1100" b="0">
                <a:solidFill>
                  <a:srgbClr val="2E2E2E"/>
                </a:solidFill>
                <a:latin typeface="Calibri"/>
              </a:rPr>
              <a:t>X between 2025 and 2036. In 2025, the senior dog cognitive supplement market in North America was valued at</a:t>
            </a:r>
          </a:p>
        </p:txBody>
      </p:sp>
      <p:sp>
        <p:nvSpPr>
          <p:cNvPr id="34" name="TextBox 33"/>
          <p:cNvSpPr txBox="1"/>
          <p:nvPr/>
        </p:nvSpPr>
        <p:spPr>
          <a:xfrm>
            <a:off x="276225" y="5044440"/>
            <a:ext cx="301029" cy="186689"/>
          </a:xfrm>
          <a:prstGeom prst="rect">
            <a:avLst/>
          </a:prstGeom>
          <a:noFill/>
        </p:spPr>
        <p:txBody>
          <a:bodyPr wrap="none" lIns="0" rIns="0" tIns="0" bIns="0">
            <a:spAutoFit/>
          </a:bodyPr>
          <a:lstStyle/>
          <a:p>
            <a:r>
              <a:rPr sz="1100" b="0">
                <a:solidFill>
                  <a:srgbClr val="2E2E2E"/>
                </a:solidFill>
                <a:latin typeface="Calibri"/>
              </a:rPr>
              <a:t>US$</a:t>
            </a:r>
          </a:p>
        </p:txBody>
      </p:sp>
      <p:pic>
        <p:nvPicPr>
          <p:cNvPr id="35" name="Picture 34" descr="lock.png"/>
          <p:cNvPicPr>
            <a:picLocks noChangeAspect="1"/>
          </p:cNvPicPr>
          <p:nvPr/>
        </p:nvPicPr>
        <p:blipFill>
          <a:blip r:embed="rId6"/>
          <a:stretch>
            <a:fillRect/>
          </a:stretch>
        </p:blipFill>
        <p:spPr>
          <a:xfrm>
            <a:off x="525306" y="5034660"/>
            <a:ext cx="128699" cy="187198"/>
          </a:xfrm>
          <a:prstGeom prst="rect">
            <a:avLst/>
          </a:prstGeom>
        </p:spPr>
      </p:pic>
      <p:sp>
        <p:nvSpPr>
          <p:cNvPr id="36" name="TextBox 35"/>
          <p:cNvSpPr txBox="1"/>
          <p:nvPr/>
        </p:nvSpPr>
        <p:spPr>
          <a:xfrm>
            <a:off x="692802" y="5044440"/>
            <a:ext cx="2325861" cy="186689"/>
          </a:xfrm>
          <a:prstGeom prst="rect">
            <a:avLst/>
          </a:prstGeom>
          <a:noFill/>
        </p:spPr>
        <p:txBody>
          <a:bodyPr wrap="none" lIns="0" rIns="0" tIns="0" bIns="0">
            <a:spAutoFit/>
          </a:bodyPr>
          <a:lstStyle/>
          <a:p>
            <a:r>
              <a:rPr sz="1100" b="0">
                <a:solidFill>
                  <a:srgbClr val="2E2E2E"/>
                </a:solidFill>
                <a:latin typeface="Calibri"/>
              </a:rPr>
              <a:t>Mn and is estimated to account for US$</a:t>
            </a:r>
          </a:p>
        </p:txBody>
      </p:sp>
      <p:pic>
        <p:nvPicPr>
          <p:cNvPr id="37" name="Picture 36" descr="lock.png"/>
          <p:cNvPicPr>
            <a:picLocks noChangeAspect="1"/>
          </p:cNvPicPr>
          <p:nvPr/>
        </p:nvPicPr>
        <p:blipFill>
          <a:blip r:embed="rId6"/>
          <a:stretch>
            <a:fillRect/>
          </a:stretch>
        </p:blipFill>
        <p:spPr>
          <a:xfrm>
            <a:off x="2966714" y="5034660"/>
            <a:ext cx="128699" cy="187198"/>
          </a:xfrm>
          <a:prstGeom prst="rect">
            <a:avLst/>
          </a:prstGeom>
        </p:spPr>
      </p:pic>
      <p:sp>
        <p:nvSpPr>
          <p:cNvPr id="38" name="TextBox 37"/>
          <p:cNvSpPr txBox="1"/>
          <p:nvPr/>
        </p:nvSpPr>
        <p:spPr>
          <a:xfrm>
            <a:off x="3134210" y="5044440"/>
            <a:ext cx="3254920" cy="186689"/>
          </a:xfrm>
          <a:prstGeom prst="rect">
            <a:avLst/>
          </a:prstGeom>
          <a:noFill/>
        </p:spPr>
        <p:txBody>
          <a:bodyPr wrap="none" lIns="0" rIns="0" tIns="0" bIns="0">
            <a:spAutoFit/>
          </a:bodyPr>
          <a:lstStyle/>
          <a:p>
            <a:r>
              <a:rPr sz="1100" b="0">
                <a:solidFill>
                  <a:srgbClr val="2E2E2E"/>
                </a:solidFill>
                <a:latin typeface="Calibri"/>
              </a:rPr>
              <a:t>Mn by the end of 2026, reflecting a Y-o-Y growth rate of</a:t>
            </a:r>
          </a:p>
        </p:txBody>
      </p:sp>
      <p:pic>
        <p:nvPicPr>
          <p:cNvPr id="39" name="Picture 38" descr="lock.png"/>
          <p:cNvPicPr>
            <a:picLocks noChangeAspect="1"/>
          </p:cNvPicPr>
          <p:nvPr/>
        </p:nvPicPr>
        <p:blipFill>
          <a:blip r:embed="rId6"/>
          <a:stretch>
            <a:fillRect/>
          </a:stretch>
        </p:blipFill>
        <p:spPr>
          <a:xfrm>
            <a:off x="6337182" y="5034660"/>
            <a:ext cx="128699" cy="187198"/>
          </a:xfrm>
          <a:prstGeom prst="rect">
            <a:avLst/>
          </a:prstGeom>
        </p:spPr>
      </p:pic>
      <p:sp>
        <p:nvSpPr>
          <p:cNvPr id="40" name="TextBox 39"/>
          <p:cNvSpPr txBox="1"/>
          <p:nvPr/>
        </p:nvSpPr>
        <p:spPr>
          <a:xfrm>
            <a:off x="6504678" y="5044440"/>
            <a:ext cx="3558058" cy="186689"/>
          </a:xfrm>
          <a:prstGeom prst="rect">
            <a:avLst/>
          </a:prstGeom>
          <a:noFill/>
        </p:spPr>
        <p:txBody>
          <a:bodyPr wrap="none" lIns="0" rIns="0" tIns="0" bIns="0">
            <a:spAutoFit/>
          </a:bodyPr>
          <a:lstStyle/>
          <a:p>
            <a:r>
              <a:rPr sz="1100" b="0">
                <a:solidFill>
                  <a:srgbClr val="2E2E2E"/>
                </a:solidFill>
                <a:latin typeface="Calibri"/>
              </a:rPr>
              <a:t>. The market in North America is expected to account for US$</a:t>
            </a:r>
          </a:p>
        </p:txBody>
      </p:sp>
      <p:pic>
        <p:nvPicPr>
          <p:cNvPr id="41" name="Picture 40" descr="lock.png"/>
          <p:cNvPicPr>
            <a:picLocks noChangeAspect="1"/>
          </p:cNvPicPr>
          <p:nvPr/>
        </p:nvPicPr>
        <p:blipFill>
          <a:blip r:embed="rId6"/>
          <a:stretch>
            <a:fillRect/>
          </a:stretch>
        </p:blipFill>
        <p:spPr>
          <a:xfrm>
            <a:off x="10010789" y="5034660"/>
            <a:ext cx="128699" cy="187198"/>
          </a:xfrm>
          <a:prstGeom prst="rect">
            <a:avLst/>
          </a:prstGeom>
        </p:spPr>
      </p:pic>
      <p:sp>
        <p:nvSpPr>
          <p:cNvPr id="42" name="TextBox 41"/>
          <p:cNvSpPr txBox="1"/>
          <p:nvPr/>
        </p:nvSpPr>
        <p:spPr>
          <a:xfrm>
            <a:off x="10178284" y="5044440"/>
            <a:ext cx="1347671" cy="186689"/>
          </a:xfrm>
          <a:prstGeom prst="rect">
            <a:avLst/>
          </a:prstGeom>
          <a:noFill/>
        </p:spPr>
        <p:txBody>
          <a:bodyPr wrap="none" lIns="0" rIns="0" tIns="0" bIns="0">
            <a:spAutoFit/>
          </a:bodyPr>
          <a:lstStyle/>
          <a:p>
            <a:r>
              <a:rPr sz="1100" b="0">
                <a:solidFill>
                  <a:srgbClr val="2E2E2E"/>
                </a:solidFill>
                <a:latin typeface="Calibri"/>
              </a:rPr>
              <a:t>Mn by 2036 at a CAGR</a:t>
            </a:r>
          </a:p>
        </p:txBody>
      </p:sp>
      <p:sp>
        <p:nvSpPr>
          <p:cNvPr id="43" name="TextBox 42"/>
          <p:cNvSpPr txBox="1"/>
          <p:nvPr/>
        </p:nvSpPr>
        <p:spPr>
          <a:xfrm>
            <a:off x="276225" y="5212080"/>
            <a:ext cx="192434" cy="186689"/>
          </a:xfrm>
          <a:prstGeom prst="rect">
            <a:avLst/>
          </a:prstGeom>
          <a:noFill/>
        </p:spPr>
        <p:txBody>
          <a:bodyPr wrap="none" lIns="0" rIns="0" tIns="0" bIns="0">
            <a:spAutoFit/>
          </a:bodyPr>
          <a:lstStyle/>
          <a:p>
            <a:r>
              <a:rPr sz="1100" b="0">
                <a:solidFill>
                  <a:srgbClr val="2E2E2E"/>
                </a:solidFill>
                <a:latin typeface="Calibri"/>
              </a:rPr>
              <a:t>of</a:t>
            </a:r>
          </a:p>
        </p:txBody>
      </p:sp>
      <p:pic>
        <p:nvPicPr>
          <p:cNvPr id="44" name="Picture 43" descr="lock.png"/>
          <p:cNvPicPr>
            <a:picLocks noChangeAspect="1"/>
          </p:cNvPicPr>
          <p:nvPr/>
        </p:nvPicPr>
        <p:blipFill>
          <a:blip r:embed="rId6"/>
          <a:stretch>
            <a:fillRect/>
          </a:stretch>
        </p:blipFill>
        <p:spPr>
          <a:xfrm>
            <a:off x="416711" y="5202301"/>
            <a:ext cx="128699" cy="187198"/>
          </a:xfrm>
          <a:prstGeom prst="rect">
            <a:avLst/>
          </a:prstGeom>
        </p:spPr>
      </p:pic>
      <p:sp>
        <p:nvSpPr>
          <p:cNvPr id="45" name="TextBox 44"/>
          <p:cNvSpPr txBox="1"/>
          <p:nvPr/>
        </p:nvSpPr>
        <p:spPr>
          <a:xfrm>
            <a:off x="584207" y="5212080"/>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46" name="TextBox 45"/>
          <p:cNvSpPr txBox="1"/>
          <p:nvPr/>
        </p:nvSpPr>
        <p:spPr>
          <a:xfrm>
            <a:off x="276225" y="5430012"/>
            <a:ext cx="4129682" cy="186689"/>
          </a:xfrm>
          <a:prstGeom prst="rect">
            <a:avLst/>
          </a:prstGeom>
          <a:noFill/>
        </p:spPr>
        <p:txBody>
          <a:bodyPr wrap="none" lIns="0" rIns="0" tIns="0" bIns="0">
            <a:spAutoFit/>
          </a:bodyPr>
          <a:lstStyle/>
          <a:p>
            <a:r>
              <a:rPr sz="1100" b="0">
                <a:solidFill>
                  <a:srgbClr val="2E2E2E"/>
                </a:solidFill>
                <a:latin typeface="Calibri"/>
              </a:rPr>
              <a:t>North America is expected to create an incremental opportunity of US$</a:t>
            </a:r>
          </a:p>
        </p:txBody>
      </p:sp>
      <p:pic>
        <p:nvPicPr>
          <p:cNvPr id="47" name="Picture 46" descr="lock.png"/>
          <p:cNvPicPr>
            <a:picLocks noChangeAspect="1"/>
          </p:cNvPicPr>
          <p:nvPr/>
        </p:nvPicPr>
        <p:blipFill>
          <a:blip r:embed="rId6"/>
          <a:stretch>
            <a:fillRect/>
          </a:stretch>
        </p:blipFill>
        <p:spPr>
          <a:xfrm>
            <a:off x="4353959" y="5420233"/>
            <a:ext cx="128699" cy="187198"/>
          </a:xfrm>
          <a:prstGeom prst="rect">
            <a:avLst/>
          </a:prstGeom>
        </p:spPr>
      </p:pic>
      <p:sp>
        <p:nvSpPr>
          <p:cNvPr id="48" name="TextBox 47"/>
          <p:cNvSpPr txBox="1"/>
          <p:nvPr/>
        </p:nvSpPr>
        <p:spPr>
          <a:xfrm>
            <a:off x="4521455" y="5430012"/>
            <a:ext cx="7349331" cy="186689"/>
          </a:xfrm>
          <a:prstGeom prst="rect">
            <a:avLst/>
          </a:prstGeom>
          <a:noFill/>
        </p:spPr>
        <p:txBody>
          <a:bodyPr wrap="none" lIns="0" rIns="0" tIns="0" bIns="0">
            <a:spAutoFit/>
          </a:bodyPr>
          <a:lstStyle/>
          <a:p>
            <a:r>
              <a:rPr sz="1100" b="0">
                <a:solidFill>
                  <a:srgbClr val="2E2E2E"/>
                </a:solidFill>
                <a:latin typeface="Calibri"/>
              </a:rPr>
              <a:t>Mn for the overall senior dog cognitive supplement market from 2025 to 2036. Absolute $ value for 2026 is estimated to be US$</a:t>
            </a:r>
          </a:p>
        </p:txBody>
      </p:sp>
      <p:pic>
        <p:nvPicPr>
          <p:cNvPr id="49" name="Picture 48" descr="lock.png"/>
          <p:cNvPicPr>
            <a:picLocks noChangeAspect="1"/>
          </p:cNvPicPr>
          <p:nvPr/>
        </p:nvPicPr>
        <p:blipFill>
          <a:blip r:embed="rId6"/>
          <a:stretch>
            <a:fillRect/>
          </a:stretch>
        </p:blipFill>
        <p:spPr>
          <a:xfrm>
            <a:off x="262757" y="5587873"/>
            <a:ext cx="128699" cy="187198"/>
          </a:xfrm>
          <a:prstGeom prst="rect">
            <a:avLst/>
          </a:prstGeom>
        </p:spPr>
      </p:pic>
      <p:sp>
        <p:nvSpPr>
          <p:cNvPr id="50" name="TextBox 49"/>
          <p:cNvSpPr txBox="1"/>
          <p:nvPr/>
        </p:nvSpPr>
        <p:spPr>
          <a:xfrm>
            <a:off x="430253" y="5597652"/>
            <a:ext cx="4812903" cy="186689"/>
          </a:xfrm>
          <a:prstGeom prst="rect">
            <a:avLst/>
          </a:prstGeom>
          <a:noFill/>
        </p:spPr>
        <p:txBody>
          <a:bodyPr wrap="none" lIns="0" rIns="0" tIns="0" bIns="0">
            <a:spAutoFit/>
          </a:bodyPr>
          <a:lstStyle/>
          <a:p>
            <a:r>
              <a:rPr sz="1100" b="0">
                <a:solidFill>
                  <a:srgbClr val="2E2E2E"/>
                </a:solidFill>
                <a:latin typeface="Calibri"/>
              </a:rPr>
              <a:t>Mn. North America senior dog cognitive supplement market is projected to register</a:t>
            </a:r>
          </a:p>
        </p:txBody>
      </p:sp>
      <p:pic>
        <p:nvPicPr>
          <p:cNvPr id="51" name="Picture 50" descr="lock.png"/>
          <p:cNvPicPr>
            <a:picLocks noChangeAspect="1"/>
          </p:cNvPicPr>
          <p:nvPr/>
        </p:nvPicPr>
        <p:blipFill>
          <a:blip r:embed="rId6"/>
          <a:stretch>
            <a:fillRect/>
          </a:stretch>
        </p:blipFill>
        <p:spPr>
          <a:xfrm>
            <a:off x="5191208" y="5587873"/>
            <a:ext cx="128699" cy="187198"/>
          </a:xfrm>
          <a:prstGeom prst="rect">
            <a:avLst/>
          </a:prstGeom>
        </p:spPr>
      </p:pic>
      <p:sp>
        <p:nvSpPr>
          <p:cNvPr id="52" name="TextBox 51"/>
          <p:cNvSpPr txBox="1"/>
          <p:nvPr/>
        </p:nvSpPr>
        <p:spPr>
          <a:xfrm>
            <a:off x="5358703" y="5597652"/>
            <a:ext cx="3314948" cy="186689"/>
          </a:xfrm>
          <a:prstGeom prst="rect">
            <a:avLst/>
          </a:prstGeom>
          <a:noFill/>
        </p:spPr>
        <p:txBody>
          <a:bodyPr wrap="none" lIns="0" rIns="0" tIns="0" bIns="0">
            <a:spAutoFit/>
          </a:bodyPr>
          <a:lstStyle/>
          <a:p>
            <a:r>
              <a:rPr sz="1100" b="0">
                <a:solidFill>
                  <a:srgbClr val="2E2E2E"/>
                </a:solidFill>
                <a:latin typeface="Calibri"/>
              </a:rPr>
              <a:t>X increase in volume by the end of forecast period, 2036.</a:t>
            </a:r>
          </a:p>
        </p:txBody>
      </p:sp>
      <p:sp>
        <p:nvSpPr>
          <p:cNvPr id="53" name="TextBox 52"/>
          <p:cNvSpPr txBox="1"/>
          <p:nvPr/>
        </p:nvSpPr>
        <p:spPr>
          <a:xfrm>
            <a:off x="276225" y="5815584"/>
            <a:ext cx="4189164" cy="186689"/>
          </a:xfrm>
          <a:prstGeom prst="rect">
            <a:avLst/>
          </a:prstGeom>
          <a:noFill/>
        </p:spPr>
        <p:txBody>
          <a:bodyPr wrap="none" lIns="0" rIns="0" tIns="0" bIns="0">
            <a:spAutoFit/>
          </a:bodyPr>
          <a:lstStyle/>
          <a:p>
            <a:r>
              <a:rPr sz="1100" b="0">
                <a:solidFill>
                  <a:srgbClr val="2E2E2E"/>
                </a:solidFill>
                <a:latin typeface="Calibri"/>
              </a:rPr>
              <a:t>North America senior dog cognitive supplement market volume stood at</a:t>
            </a:r>
          </a:p>
        </p:txBody>
      </p:sp>
      <p:pic>
        <p:nvPicPr>
          <p:cNvPr id="54" name="Picture 53" descr="lock.png"/>
          <p:cNvPicPr>
            <a:picLocks noChangeAspect="1"/>
          </p:cNvPicPr>
          <p:nvPr/>
        </p:nvPicPr>
        <p:blipFill>
          <a:blip r:embed="rId6"/>
          <a:stretch>
            <a:fillRect/>
          </a:stretch>
        </p:blipFill>
        <p:spPr>
          <a:xfrm>
            <a:off x="4413441" y="5805805"/>
            <a:ext cx="128699" cy="187198"/>
          </a:xfrm>
          <a:prstGeom prst="rect">
            <a:avLst/>
          </a:prstGeom>
        </p:spPr>
      </p:pic>
      <p:sp>
        <p:nvSpPr>
          <p:cNvPr id="55" name="TextBox 54"/>
          <p:cNvSpPr txBox="1"/>
          <p:nvPr/>
        </p:nvSpPr>
        <p:spPr>
          <a:xfrm>
            <a:off x="4580936" y="5815584"/>
            <a:ext cx="2135956" cy="186689"/>
          </a:xfrm>
          <a:prstGeom prst="rect">
            <a:avLst/>
          </a:prstGeom>
          <a:noFill/>
        </p:spPr>
        <p:txBody>
          <a:bodyPr wrap="none" lIns="0" rIns="0" tIns="0" bIns="0">
            <a:spAutoFit/>
          </a:bodyPr>
          <a:lstStyle/>
          <a:p>
            <a:r>
              <a:rPr sz="1100" b="0">
                <a:solidFill>
                  <a:srgbClr val="2E2E2E"/>
                </a:solidFill>
                <a:latin typeface="Calibri"/>
              </a:rPr>
              <a:t>MT in 2025 and is expected to reach</a:t>
            </a:r>
          </a:p>
        </p:txBody>
      </p:sp>
      <p:pic>
        <p:nvPicPr>
          <p:cNvPr id="56" name="Picture 55" descr="lock.png"/>
          <p:cNvPicPr>
            <a:picLocks noChangeAspect="1"/>
          </p:cNvPicPr>
          <p:nvPr/>
        </p:nvPicPr>
        <p:blipFill>
          <a:blip r:embed="rId6"/>
          <a:stretch>
            <a:fillRect/>
          </a:stretch>
        </p:blipFill>
        <p:spPr>
          <a:xfrm>
            <a:off x="6664944" y="5805805"/>
            <a:ext cx="128699" cy="187198"/>
          </a:xfrm>
          <a:prstGeom prst="rect">
            <a:avLst/>
          </a:prstGeom>
        </p:spPr>
      </p:pic>
      <p:sp>
        <p:nvSpPr>
          <p:cNvPr id="57" name="TextBox 56"/>
          <p:cNvSpPr txBox="1"/>
          <p:nvPr/>
        </p:nvSpPr>
        <p:spPr>
          <a:xfrm>
            <a:off x="6832440" y="5815584"/>
            <a:ext cx="1773319" cy="186689"/>
          </a:xfrm>
          <a:prstGeom prst="rect">
            <a:avLst/>
          </a:prstGeom>
          <a:noFill/>
        </p:spPr>
        <p:txBody>
          <a:bodyPr wrap="none" lIns="0" rIns="0" tIns="0" bIns="0">
            <a:spAutoFit/>
          </a:bodyPr>
          <a:lstStyle/>
          <a:p>
            <a:r>
              <a:rPr sz="1100" b="0">
                <a:solidFill>
                  <a:srgbClr val="2E2E2E"/>
                </a:solidFill>
                <a:latin typeface="Calibri"/>
              </a:rPr>
              <a:t>MT by 2036 end, at a CAGR of</a:t>
            </a:r>
          </a:p>
        </p:txBody>
      </p:sp>
      <p:pic>
        <p:nvPicPr>
          <p:cNvPr id="58" name="Picture 57" descr="lock.png"/>
          <p:cNvPicPr>
            <a:picLocks noChangeAspect="1"/>
          </p:cNvPicPr>
          <p:nvPr/>
        </p:nvPicPr>
        <p:blipFill>
          <a:blip r:embed="rId6"/>
          <a:stretch>
            <a:fillRect/>
          </a:stretch>
        </p:blipFill>
        <p:spPr>
          <a:xfrm>
            <a:off x="8553811" y="5805805"/>
            <a:ext cx="128699" cy="187198"/>
          </a:xfrm>
          <a:prstGeom prst="rect">
            <a:avLst/>
          </a:prstGeom>
        </p:spPr>
      </p:pic>
      <p:sp>
        <p:nvSpPr>
          <p:cNvPr id="59" name="TextBox 58"/>
          <p:cNvSpPr txBox="1"/>
          <p:nvPr/>
        </p:nvSpPr>
        <p:spPr>
          <a:xfrm>
            <a:off x="8721307" y="5815584"/>
            <a:ext cx="2743051" cy="186689"/>
          </a:xfrm>
          <a:prstGeom prst="rect">
            <a:avLst/>
          </a:prstGeom>
          <a:noFill/>
        </p:spPr>
        <p:txBody>
          <a:bodyPr wrap="none" lIns="0" rIns="0" tIns="0" bIns="0">
            <a:spAutoFit/>
          </a:bodyPr>
          <a:lstStyle/>
          <a:p>
            <a:r>
              <a:rPr sz="1100" b="0">
                <a:solidFill>
                  <a:srgbClr val="2E2E2E"/>
                </a:solidFill>
                <a:latin typeface="Calibri"/>
              </a:rPr>
              <a:t>. Value is projected to grow faster than volume</a:t>
            </a:r>
          </a:p>
        </p:txBody>
      </p:sp>
      <p:sp>
        <p:nvSpPr>
          <p:cNvPr id="60" name="TextBox 59"/>
          <p:cNvSpPr txBox="1"/>
          <p:nvPr/>
        </p:nvSpPr>
        <p:spPr>
          <a:xfrm>
            <a:off x="276225" y="5983224"/>
            <a:ext cx="4051920" cy="186689"/>
          </a:xfrm>
          <a:prstGeom prst="rect">
            <a:avLst/>
          </a:prstGeom>
          <a:noFill/>
        </p:spPr>
        <p:txBody>
          <a:bodyPr wrap="none" lIns="0" rIns="0" tIns="0" bIns="0">
            <a:spAutoFit/>
          </a:bodyPr>
          <a:lstStyle/>
          <a:p>
            <a:r>
              <a:rPr sz="1100" b="0">
                <a:solidFill>
                  <a:srgbClr val="2E2E2E"/>
                </a:solidFill>
                <a:latin typeface="Calibri"/>
              </a:rPr>
              <a:t>over the forecast period, owing to an increase in average selling price.</a:t>
            </a:r>
          </a:p>
        </p:txBody>
      </p:sp>
      <p:sp>
        <p:nvSpPr>
          <p:cNvPr id="61" name="lockshield_12"/>
          <p:cNvSpPr/>
          <p:nvPr/>
        </p:nvSpPr>
        <p:spPr>
          <a:xfrm>
            <a:off x="238125" y="1266825"/>
            <a:ext cx="4505325"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lockshield_15"/>
          <p:cNvSpPr/>
          <p:nvPr/>
        </p:nvSpPr>
        <p:spPr>
          <a:xfrm>
            <a:off x="5086350" y="1266825"/>
            <a:ext cx="6858000"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Senior Dog Cognitive Supplement Market Summary Country Indices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1007261"/>
            <a:ext cx="3933825" cy="2445995"/>
          </a:xfrm>
          <a:prstGeom prst="roundRect">
            <a:avLst>
              <a:gd name="adj" fmla="val 311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12" name="Chart 11"/>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489764"/>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3565964"/>
          <a:ext cx="3928892" cy="2132068"/>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942971">
                <a:tc>
                  <a:txBody>
                    <a:bodyPr wrap="none"/>
                    <a:lstStyle/>
                    <a:p>
                      <a:pPr algn="l"/>
                      <a:r>
                        <a:rPr sz="1100" b="1">
                          <a:solidFill>
                            <a:srgbClr val="2E2E2E"/>
                          </a:solidFill>
                          <a:latin typeface="Calibri"/>
                        </a:rPr>
                        <a:t>Canada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942971">
                <a:tc>
                  <a:txBody>
                    <a:bodyPr wrap="none"/>
                    <a:lstStyle/>
                    <a:p>
                      <a:pPr algn="l"/>
                      <a:r>
                        <a:rPr sz="1100" b="1">
                          <a:solidFill>
                            <a:srgbClr val="2E2E2E"/>
                          </a:solidFill>
                          <a:latin typeface="Calibri"/>
                        </a:rPr>
                        <a:t>U.S.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5" name="TextBox 14"/>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Rounded Rectangle 15"/>
          <p:cNvSpPr/>
          <p:nvPr/>
        </p:nvSpPr>
        <p:spPr>
          <a:xfrm>
            <a:off x="4114800" y="1007261"/>
            <a:ext cx="3933825" cy="4928498"/>
          </a:xfrm>
          <a:prstGeom prst="roundRect">
            <a:avLst>
              <a:gd name="adj" fmla="val 19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8" name="Rectangle 17"/>
          <p:cNvSpPr/>
          <p:nvPr/>
        </p:nvSpPr>
        <p:spPr>
          <a:xfrm>
            <a:off x="4210050" y="1293011"/>
            <a:ext cx="3743325" cy="3091856"/>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9" name="Rectangle 18"/>
          <p:cNvSpPr/>
          <p:nvPr/>
        </p:nvSpPr>
        <p:spPr>
          <a:xfrm>
            <a:off x="4210050" y="4384867"/>
            <a:ext cx="3743325" cy="1493742"/>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20" name="Rounded Rectangle 19"/>
          <p:cNvSpPr/>
          <p:nvPr/>
        </p:nvSpPr>
        <p:spPr>
          <a:xfrm>
            <a:off x="8086725" y="1007261"/>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22" name="Chart 21"/>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3" name="Rounded Rectangle 22"/>
          <p:cNvSpPr/>
          <p:nvPr/>
        </p:nvSpPr>
        <p:spPr>
          <a:xfrm>
            <a:off x="8086725" y="3471510"/>
            <a:ext cx="3933825" cy="2464249"/>
          </a:xfrm>
          <a:prstGeom prst="roundRect">
            <a:avLst>
              <a:gd name="adj" fmla="val 30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4" name="Table 23"/>
          <p:cNvGraphicFramePr>
            <a:graphicFrameLocks noGrp="1"/>
          </p:cNvGraphicFramePr>
          <p:nvPr/>
        </p:nvGraphicFramePr>
        <p:xfrm>
          <a:off x="8096250" y="3547710"/>
          <a:ext cx="3928892" cy="2159450"/>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956662">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956662">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25" name="TextBox 24"/>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26" name="Rounded Rectangle 25"/>
          <p:cNvSpPr/>
          <p:nvPr/>
        </p:nvSpPr>
        <p:spPr>
          <a:xfrm>
            <a:off x="142875" y="6027028"/>
            <a:ext cx="10858500" cy="602372"/>
          </a:xfrm>
          <a:prstGeom prst="roundRect">
            <a:avLst>
              <a:gd name="adj" fmla="val 1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6"/>
          <a:stretch>
            <a:fillRect/>
          </a:stretch>
        </p:blipFill>
        <p:spPr>
          <a:xfrm>
            <a:off x="3188017" y="2125483"/>
            <a:ext cx="183356" cy="266700"/>
          </a:xfrm>
          <a:prstGeom prst="rect">
            <a:avLst/>
          </a:prstGeom>
        </p:spPr>
      </p:pic>
      <p:pic>
        <p:nvPicPr>
          <p:cNvPr id="29" name="Picture 28" descr="lock.png"/>
          <p:cNvPicPr>
            <a:picLocks noChangeAspect="1"/>
          </p:cNvPicPr>
          <p:nvPr/>
        </p:nvPicPr>
        <p:blipFill>
          <a:blip r:embed="rId6"/>
          <a:stretch>
            <a:fillRect/>
          </a:stretch>
        </p:blipFill>
        <p:spPr>
          <a:xfrm>
            <a:off x="2232897" y="4496595"/>
            <a:ext cx="355389" cy="516930"/>
          </a:xfrm>
          <a:prstGeom prst="rect">
            <a:avLst/>
          </a:prstGeom>
        </p:spPr>
      </p:pic>
      <p:pic>
        <p:nvPicPr>
          <p:cNvPr id="30" name="Picture 29" descr="lock.png"/>
          <p:cNvPicPr>
            <a:picLocks noChangeAspect="1"/>
          </p:cNvPicPr>
          <p:nvPr/>
        </p:nvPicPr>
        <p:blipFill>
          <a:blip r:embed="rId6"/>
          <a:stretch>
            <a:fillRect/>
          </a:stretch>
        </p:blipFill>
        <p:spPr>
          <a:xfrm>
            <a:off x="6024086" y="2838939"/>
            <a:ext cx="115252" cy="167639"/>
          </a:xfrm>
          <a:prstGeom prst="rect">
            <a:avLst/>
          </a:prstGeom>
        </p:spPr>
      </p:pic>
      <p:pic>
        <p:nvPicPr>
          <p:cNvPr id="31" name="Picture 30" descr="lock.png"/>
          <p:cNvPicPr>
            <a:picLocks noChangeAspect="1"/>
          </p:cNvPicPr>
          <p:nvPr/>
        </p:nvPicPr>
        <p:blipFill>
          <a:blip r:embed="rId6"/>
          <a:stretch>
            <a:fillRect/>
          </a:stretch>
        </p:blipFill>
        <p:spPr>
          <a:xfrm>
            <a:off x="6024086" y="5131738"/>
            <a:ext cx="115252" cy="167639"/>
          </a:xfrm>
          <a:prstGeom prst="rect">
            <a:avLst/>
          </a:prstGeom>
        </p:spPr>
      </p:pic>
      <p:pic>
        <p:nvPicPr>
          <p:cNvPr id="32" name="Picture 31" descr="lock.png"/>
          <p:cNvPicPr>
            <a:picLocks noChangeAspect="1"/>
          </p:cNvPicPr>
          <p:nvPr/>
        </p:nvPicPr>
        <p:blipFill>
          <a:blip r:embed="rId6"/>
          <a:stretch>
            <a:fillRect/>
          </a:stretch>
        </p:blipFill>
        <p:spPr>
          <a:xfrm>
            <a:off x="11131867" y="2120920"/>
            <a:ext cx="183356" cy="266700"/>
          </a:xfrm>
          <a:prstGeom prst="rect">
            <a:avLst/>
          </a:prstGeom>
        </p:spPr>
      </p:pic>
      <p:pic>
        <p:nvPicPr>
          <p:cNvPr id="33" name="Picture 32" descr="lock.png"/>
          <p:cNvPicPr>
            <a:picLocks noChangeAspect="1"/>
          </p:cNvPicPr>
          <p:nvPr/>
        </p:nvPicPr>
        <p:blipFill>
          <a:blip r:embed="rId6"/>
          <a:stretch>
            <a:fillRect/>
          </a:stretch>
        </p:blipFill>
        <p:spPr>
          <a:xfrm>
            <a:off x="10175439" y="4490163"/>
            <a:ext cx="357960" cy="520669"/>
          </a:xfrm>
          <a:prstGeom prst="rect">
            <a:avLst/>
          </a:prstGeom>
        </p:spPr>
      </p:pic>
      <p:sp>
        <p:nvSpPr>
          <p:cNvPr id="34" name="TextBox 33"/>
          <p:cNvSpPr txBox="1"/>
          <p:nvPr/>
        </p:nvSpPr>
        <p:spPr>
          <a:xfrm>
            <a:off x="257175" y="6160574"/>
            <a:ext cx="4186435" cy="186689"/>
          </a:xfrm>
          <a:prstGeom prst="rect">
            <a:avLst/>
          </a:prstGeom>
          <a:noFill/>
        </p:spPr>
        <p:txBody>
          <a:bodyPr wrap="none" lIns="0" rIns="0" tIns="0" bIns="0">
            <a:spAutoFit/>
          </a:bodyPr>
          <a:lstStyle/>
          <a:p>
            <a:r>
              <a:rPr sz="1100" b="0">
                <a:solidFill>
                  <a:srgbClr val="2E2E2E"/>
                </a:solidFill>
                <a:latin typeface="Calibri"/>
              </a:rPr>
              <a:t>The U.S. senior dog cognitive supplement market is projected to register</a:t>
            </a:r>
          </a:p>
        </p:txBody>
      </p:sp>
      <p:pic>
        <p:nvPicPr>
          <p:cNvPr id="35" name="Picture 34" descr="lock.png"/>
          <p:cNvPicPr>
            <a:picLocks noChangeAspect="1"/>
          </p:cNvPicPr>
          <p:nvPr/>
        </p:nvPicPr>
        <p:blipFill>
          <a:blip r:embed="rId6"/>
          <a:stretch>
            <a:fillRect/>
          </a:stretch>
        </p:blipFill>
        <p:spPr>
          <a:xfrm>
            <a:off x="4391662" y="6150795"/>
            <a:ext cx="128699" cy="187198"/>
          </a:xfrm>
          <a:prstGeom prst="rect">
            <a:avLst/>
          </a:prstGeom>
        </p:spPr>
      </p:pic>
      <p:sp>
        <p:nvSpPr>
          <p:cNvPr id="36" name="TextBox 35"/>
          <p:cNvSpPr txBox="1"/>
          <p:nvPr/>
        </p:nvSpPr>
        <p:spPr>
          <a:xfrm>
            <a:off x="4559158" y="6160574"/>
            <a:ext cx="4339761" cy="186689"/>
          </a:xfrm>
          <a:prstGeom prst="rect">
            <a:avLst/>
          </a:prstGeom>
          <a:noFill/>
        </p:spPr>
        <p:txBody>
          <a:bodyPr wrap="none" lIns="0" rIns="0" tIns="0" bIns="0">
            <a:spAutoFit/>
          </a:bodyPr>
          <a:lstStyle/>
          <a:p>
            <a:r>
              <a:rPr sz="1100" b="0">
                <a:solidFill>
                  <a:srgbClr val="2E2E2E"/>
                </a:solidFill>
                <a:latin typeface="Calibri"/>
              </a:rPr>
              <a:t>X higher value than Canada in 2036. Canada posts the highest CAGR Index (</a:t>
            </a:r>
          </a:p>
        </p:txBody>
      </p:sp>
      <p:pic>
        <p:nvPicPr>
          <p:cNvPr id="37" name="Picture 36" descr="lock.png"/>
          <p:cNvPicPr>
            <a:picLocks noChangeAspect="1"/>
          </p:cNvPicPr>
          <p:nvPr/>
        </p:nvPicPr>
        <p:blipFill>
          <a:blip r:embed="rId6"/>
          <a:stretch>
            <a:fillRect/>
          </a:stretch>
        </p:blipFill>
        <p:spPr>
          <a:xfrm>
            <a:off x="8846971" y="6150795"/>
            <a:ext cx="128699" cy="187198"/>
          </a:xfrm>
          <a:prstGeom prst="rect">
            <a:avLst/>
          </a:prstGeom>
        </p:spPr>
      </p:pic>
      <p:sp>
        <p:nvSpPr>
          <p:cNvPr id="38" name="TextBox 37"/>
          <p:cNvSpPr txBox="1"/>
          <p:nvPr/>
        </p:nvSpPr>
        <p:spPr>
          <a:xfrm>
            <a:off x="9014467"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39" name="Picture 38" descr="lock.png"/>
          <p:cNvPicPr>
            <a:picLocks noChangeAspect="1"/>
          </p:cNvPicPr>
          <p:nvPr/>
        </p:nvPicPr>
        <p:blipFill>
          <a:blip r:embed="rId6"/>
          <a:stretch>
            <a:fillRect/>
          </a:stretch>
        </p:blipFill>
        <p:spPr>
          <a:xfrm>
            <a:off x="9752498" y="6150795"/>
            <a:ext cx="128699" cy="187198"/>
          </a:xfrm>
          <a:prstGeom prst="rect">
            <a:avLst/>
          </a:prstGeom>
        </p:spPr>
      </p:pic>
      <p:sp>
        <p:nvSpPr>
          <p:cNvPr id="40" name="TextBox 39"/>
          <p:cNvSpPr txBox="1"/>
          <p:nvPr/>
        </p:nvSpPr>
        <p:spPr>
          <a:xfrm>
            <a:off x="9919994" y="6160574"/>
            <a:ext cx="704304" cy="186689"/>
          </a:xfrm>
          <a:prstGeom prst="rect">
            <a:avLst/>
          </a:prstGeom>
          <a:noFill/>
        </p:spPr>
        <p:txBody>
          <a:bodyPr wrap="none" lIns="0" rIns="0" tIns="0" bIns="0">
            <a:spAutoFit/>
          </a:bodyPr>
          <a:lstStyle/>
          <a:p>
            <a:r>
              <a:rPr sz="1100" b="0">
                <a:solidFill>
                  <a:srgbClr val="2E2E2E"/>
                </a:solidFill>
                <a:latin typeface="Calibri"/>
              </a:rPr>
              <a:t>against the</a:t>
            </a:r>
          </a:p>
        </p:txBody>
      </p:sp>
      <p:sp>
        <p:nvSpPr>
          <p:cNvPr id="41" name="TextBox 40"/>
          <p:cNvSpPr txBox="1"/>
          <p:nvPr/>
        </p:nvSpPr>
        <p:spPr>
          <a:xfrm>
            <a:off x="257175" y="6328214"/>
            <a:ext cx="4445644" cy="186689"/>
          </a:xfrm>
          <a:prstGeom prst="rect">
            <a:avLst/>
          </a:prstGeom>
          <a:noFill/>
        </p:spPr>
        <p:txBody>
          <a:bodyPr wrap="none" lIns="0" rIns="0" tIns="0" bIns="0">
            <a:spAutoFit/>
          </a:bodyPr>
          <a:lstStyle/>
          <a:p>
            <a:r>
              <a:rPr sz="1100" b="0">
                <a:solidFill>
                  <a:srgbClr val="2E2E2E"/>
                </a:solidFill>
                <a:latin typeface="Calibri"/>
              </a:rPr>
              <a:t>North America benchmark, while U.S. offers the largest absolute opportunity</a:t>
            </a:r>
          </a:p>
        </p:txBody>
      </p:sp>
      <p:pic>
        <p:nvPicPr>
          <p:cNvPr id="42" name="Picture 41" descr="lock.png"/>
          <p:cNvPicPr>
            <a:picLocks noChangeAspect="1"/>
          </p:cNvPicPr>
          <p:nvPr/>
        </p:nvPicPr>
        <p:blipFill>
          <a:blip r:embed="rId6"/>
          <a:stretch>
            <a:fillRect/>
          </a:stretch>
        </p:blipFill>
        <p:spPr>
          <a:xfrm>
            <a:off x="4650871" y="6318435"/>
            <a:ext cx="128699" cy="187198"/>
          </a:xfrm>
          <a:prstGeom prst="rect">
            <a:avLst/>
          </a:prstGeom>
        </p:spPr>
      </p:pic>
      <p:sp>
        <p:nvSpPr>
          <p:cNvPr id="43" name="TextBox 42"/>
          <p:cNvSpPr txBox="1"/>
          <p:nvPr/>
        </p:nvSpPr>
        <p:spPr>
          <a:xfrm>
            <a:off x="4818367"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44" name="Picture 43" descr="lock.png"/>
          <p:cNvPicPr>
            <a:picLocks noChangeAspect="1"/>
          </p:cNvPicPr>
          <p:nvPr/>
        </p:nvPicPr>
        <p:blipFill>
          <a:blip r:embed="rId6"/>
          <a:stretch>
            <a:fillRect/>
          </a:stretch>
        </p:blipFill>
        <p:spPr>
          <a:xfrm>
            <a:off x="8078365" y="6318435"/>
            <a:ext cx="128699" cy="187198"/>
          </a:xfrm>
          <a:prstGeom prst="rect">
            <a:avLst/>
          </a:prstGeom>
        </p:spPr>
      </p:pic>
      <p:sp>
        <p:nvSpPr>
          <p:cNvPr id="45" name="TextBox 44"/>
          <p:cNvSpPr txBox="1"/>
          <p:nvPr/>
        </p:nvSpPr>
        <p:spPr>
          <a:xfrm>
            <a:off x="8245861" y="6328214"/>
            <a:ext cx="1973336" cy="186689"/>
          </a:xfrm>
          <a:prstGeom prst="rect">
            <a:avLst/>
          </a:prstGeom>
          <a:noFill/>
        </p:spPr>
        <p:txBody>
          <a:bodyPr wrap="none" lIns="0" rIns="0" tIns="0" bIns="0">
            <a:spAutoFit/>
          </a:bodyPr>
          <a:lstStyle/>
          <a:p>
            <a:r>
              <a:rPr sz="1100" b="0">
                <a:solidFill>
                  <a:srgbClr val="2E2E2E"/>
                </a:solidFill>
                <a:latin typeface="Calibri"/>
              </a:rPr>
              <a:t>of the North America increment).</a:t>
            </a:r>
          </a:p>
        </p:txBody>
      </p:sp>
      <p:sp>
        <p:nvSpPr>
          <p:cNvPr id="46" name="lockshield_12"/>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lockshield_22"/>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10" name="Rounded Rectangle 9"/>
          <p:cNvSpPr/>
          <p:nvPr/>
        </p:nvSpPr>
        <p:spPr>
          <a:xfrm>
            <a:off x="142875" y="981075"/>
            <a:ext cx="11906250"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B2E4A"/>
                </a:solidFill>
                <a:latin typeface="Calibri"/>
              </a:rPr>
              <a:t>Market Overview</a:t>
            </a:r>
          </a:p>
        </p:txBody>
      </p:sp>
      <p:sp>
        <p:nvSpPr>
          <p:cNvPr id="12" name="Rectangle 11"/>
          <p:cNvSpPr/>
          <p:nvPr/>
        </p:nvSpPr>
        <p:spPr>
          <a:xfrm>
            <a:off x="276225" y="130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11639550"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4" name="Rounded Rectangle 13"/>
          <p:cNvSpPr/>
          <p:nvPr/>
        </p:nvSpPr>
        <p:spPr>
          <a:xfrm>
            <a:off x="142875" y="2857500"/>
            <a:ext cx="11906250" cy="1628775"/>
          </a:xfrm>
          <a:prstGeom prst="roundRect">
            <a:avLst>
              <a:gd name="adj" fmla="val 46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4322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Competitive Landscape</a:t>
            </a:r>
          </a:p>
        </p:txBody>
      </p:sp>
      <p:sp>
        <p:nvSpPr>
          <p:cNvPr id="16" name="Rectangle 15"/>
          <p:cNvSpPr/>
          <p:nvPr/>
        </p:nvSpPr>
        <p:spPr>
          <a:xfrm>
            <a:off x="276225" y="31813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67075"/>
            <a:ext cx="11639550" cy="11430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142875" y="4619625"/>
            <a:ext cx="3943350"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705350"/>
            <a:ext cx="3676650" cy="209550"/>
          </a:xfrm>
          <a:prstGeom prst="rect">
            <a:avLst/>
          </a:prstGeom>
          <a:noFill/>
        </p:spPr>
        <p:txBody>
          <a:bodyPr wrap="square" lIns="0" rIns="19050" tIns="9525" bIns="9525">
            <a:spAutoFit/>
          </a:bodyPr>
          <a:lstStyle/>
          <a:p>
            <a:pPr algn="l"/>
            <a:r>
              <a:rPr sz="1300" b="1">
                <a:solidFill>
                  <a:srgbClr val="0B2E4A"/>
                </a:solidFill>
                <a:latin typeface="Calibri"/>
              </a:rPr>
              <a:t>Drivers</a:t>
            </a:r>
          </a:p>
        </p:txBody>
      </p:sp>
      <p:sp>
        <p:nvSpPr>
          <p:cNvPr id="20" name="Rectangle 19"/>
          <p:cNvSpPr/>
          <p:nvPr/>
        </p:nvSpPr>
        <p:spPr>
          <a:xfrm>
            <a:off x="276225" y="4943475"/>
            <a:ext cx="3676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5029200"/>
            <a:ext cx="3676650"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4238625" y="4619625"/>
            <a:ext cx="3819525"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4705350"/>
            <a:ext cx="3552825" cy="209550"/>
          </a:xfrm>
          <a:prstGeom prst="rect">
            <a:avLst/>
          </a:prstGeom>
          <a:noFill/>
        </p:spPr>
        <p:txBody>
          <a:bodyPr wrap="square" lIns="0" rIns="19050" tIns="9525" bIns="9525">
            <a:spAutoFit/>
          </a:bodyPr>
          <a:lstStyle/>
          <a:p>
            <a:pPr algn="l"/>
            <a:r>
              <a:rPr sz="1300" b="1">
                <a:solidFill>
                  <a:srgbClr val="0B2E4A"/>
                </a:solidFill>
                <a:latin typeface="Calibri"/>
              </a:rPr>
              <a:t>Restraints</a:t>
            </a:r>
          </a:p>
        </p:txBody>
      </p:sp>
      <p:sp>
        <p:nvSpPr>
          <p:cNvPr id="24" name="Rectangle 23"/>
          <p:cNvSpPr/>
          <p:nvPr/>
        </p:nvSpPr>
        <p:spPr>
          <a:xfrm>
            <a:off x="4371975" y="49434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1975"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8210550" y="4619625"/>
            <a:ext cx="3819525"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4705350"/>
            <a:ext cx="3552825" cy="209550"/>
          </a:xfrm>
          <a:prstGeom prst="rect">
            <a:avLst/>
          </a:prstGeom>
          <a:noFill/>
        </p:spPr>
        <p:txBody>
          <a:bodyPr wrap="square" lIns="0" rIns="19050" tIns="9525" bIns="9525">
            <a:spAutoFit/>
          </a:bodyPr>
          <a:lstStyle/>
          <a:p>
            <a:pPr algn="l"/>
            <a:r>
              <a:rPr sz="1300" b="1">
                <a:solidFill>
                  <a:srgbClr val="0B2E4A"/>
                </a:solidFill>
                <a:latin typeface="Calibri"/>
              </a:rPr>
              <a:t>Trends</a:t>
            </a:r>
          </a:p>
        </p:txBody>
      </p:sp>
      <p:sp>
        <p:nvSpPr>
          <p:cNvPr id="28" name="Rectangle 27"/>
          <p:cNvSpPr/>
          <p:nvPr/>
        </p:nvSpPr>
        <p:spPr>
          <a:xfrm>
            <a:off x="8343900" y="49434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3900"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Mix shifting toward 'Chewables' and higher-growth tiers.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Canada outpacing the North America average.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broadening across 6 form type categories.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4235487" cy="194310"/>
          </a:xfrm>
          <a:prstGeom prst="rect">
            <a:avLst/>
          </a:prstGeom>
          <a:noFill/>
        </p:spPr>
        <p:txBody>
          <a:bodyPr wrap="none" lIns="0" rIns="0" tIns="0" bIns="0">
            <a:spAutoFit/>
          </a:bodyPr>
          <a:lstStyle/>
          <a:p>
            <a:r>
              <a:rPr sz="1150" b="0">
                <a:solidFill>
                  <a:srgbClr val="2E2E2E"/>
                </a:solidFill>
                <a:latin typeface="Calibri"/>
              </a:rPr>
              <a:t>Global senior dog cognitive supplement market is expected to witness</a:t>
            </a:r>
          </a:p>
        </p:txBody>
      </p:sp>
      <p:pic>
        <p:nvPicPr>
          <p:cNvPr id="32" name="Picture 31" descr="lock.png"/>
          <p:cNvPicPr>
            <a:picLocks noChangeAspect="1"/>
          </p:cNvPicPr>
          <p:nvPr/>
        </p:nvPicPr>
        <p:blipFill>
          <a:blip r:embed="rId4"/>
          <a:stretch>
            <a:fillRect/>
          </a:stretch>
        </p:blipFill>
        <p:spPr>
          <a:xfrm>
            <a:off x="4460866" y="1389951"/>
            <a:ext cx="134549" cy="195707"/>
          </a:xfrm>
          <a:prstGeom prst="rect">
            <a:avLst/>
          </a:prstGeom>
        </p:spPr>
      </p:pic>
      <p:sp>
        <p:nvSpPr>
          <p:cNvPr id="33" name="TextBox 32"/>
          <p:cNvSpPr txBox="1"/>
          <p:nvPr/>
        </p:nvSpPr>
        <p:spPr>
          <a:xfrm>
            <a:off x="4635975" y="1400175"/>
            <a:ext cx="6124153" cy="194310"/>
          </a:xfrm>
          <a:prstGeom prst="rect">
            <a:avLst/>
          </a:prstGeom>
          <a:noFill/>
        </p:spPr>
        <p:txBody>
          <a:bodyPr wrap="none" lIns="0" rIns="0" tIns="0" bIns="0">
            <a:spAutoFit/>
          </a:bodyPr>
          <a:lstStyle/>
          <a:p>
            <a:r>
              <a:rPr sz="1150" b="0">
                <a:solidFill>
                  <a:srgbClr val="2E2E2E"/>
                </a:solidFill>
                <a:latin typeface="Calibri"/>
              </a:rPr>
              <a:t>X increase in revenue by 2036 end. Global senior dog cognitive supplement market accounted for US$</a:t>
            </a:r>
          </a:p>
        </p:txBody>
      </p:sp>
      <p:pic>
        <p:nvPicPr>
          <p:cNvPr id="34" name="Picture 33" descr="lock.png"/>
          <p:cNvPicPr>
            <a:picLocks noChangeAspect="1"/>
          </p:cNvPicPr>
          <p:nvPr/>
        </p:nvPicPr>
        <p:blipFill>
          <a:blip r:embed="rId4"/>
          <a:stretch>
            <a:fillRect/>
          </a:stretch>
        </p:blipFill>
        <p:spPr>
          <a:xfrm>
            <a:off x="10709282" y="1389951"/>
            <a:ext cx="134549" cy="195707"/>
          </a:xfrm>
          <a:prstGeom prst="rect">
            <a:avLst/>
          </a:prstGeom>
        </p:spPr>
      </p:pic>
      <p:sp>
        <p:nvSpPr>
          <p:cNvPr id="35" name="TextBox 34"/>
          <p:cNvSpPr txBox="1"/>
          <p:nvPr/>
        </p:nvSpPr>
        <p:spPr>
          <a:xfrm>
            <a:off x="10884391" y="1400175"/>
            <a:ext cx="787623" cy="194310"/>
          </a:xfrm>
          <a:prstGeom prst="rect">
            <a:avLst/>
          </a:prstGeom>
          <a:noFill/>
        </p:spPr>
        <p:txBody>
          <a:bodyPr wrap="none" lIns="0" rIns="0" tIns="0" bIns="0">
            <a:spAutoFit/>
          </a:bodyPr>
          <a:lstStyle/>
          <a:p>
            <a:r>
              <a:rPr sz="1150" b="0">
                <a:solidFill>
                  <a:srgbClr val="2E2E2E"/>
                </a:solidFill>
                <a:latin typeface="Calibri"/>
              </a:rPr>
              <a:t>Mn in 2025,</a:t>
            </a:r>
          </a:p>
        </p:txBody>
      </p:sp>
      <p:sp>
        <p:nvSpPr>
          <p:cNvPr id="36" name="TextBox 35"/>
          <p:cNvSpPr txBox="1"/>
          <p:nvPr/>
        </p:nvSpPr>
        <p:spPr>
          <a:xfrm>
            <a:off x="276225" y="1575435"/>
            <a:ext cx="2247837" cy="194310"/>
          </a:xfrm>
          <a:prstGeom prst="rect">
            <a:avLst/>
          </a:prstGeom>
          <a:noFill/>
        </p:spPr>
        <p:txBody>
          <a:bodyPr wrap="none" lIns="0" rIns="0" tIns="0" bIns="0">
            <a:spAutoFit/>
          </a:bodyPr>
          <a:lstStyle/>
          <a:p>
            <a:r>
              <a:rPr sz="1150" b="0">
                <a:solidFill>
                  <a:srgbClr val="2E2E2E"/>
                </a:solidFill>
                <a:latin typeface="Calibri"/>
              </a:rPr>
              <a:t>which is expected to increase to US$</a:t>
            </a:r>
          </a:p>
        </p:txBody>
      </p:sp>
      <p:pic>
        <p:nvPicPr>
          <p:cNvPr id="37" name="Picture 36" descr="lock.png"/>
          <p:cNvPicPr>
            <a:picLocks noChangeAspect="1"/>
          </p:cNvPicPr>
          <p:nvPr/>
        </p:nvPicPr>
        <p:blipFill>
          <a:blip r:embed="rId4"/>
          <a:stretch>
            <a:fillRect/>
          </a:stretch>
        </p:blipFill>
        <p:spPr>
          <a:xfrm>
            <a:off x="2473216" y="1565211"/>
            <a:ext cx="134549" cy="195707"/>
          </a:xfrm>
          <a:prstGeom prst="rect">
            <a:avLst/>
          </a:prstGeom>
        </p:spPr>
      </p:pic>
      <p:sp>
        <p:nvSpPr>
          <p:cNvPr id="38" name="TextBox 37"/>
          <p:cNvSpPr txBox="1"/>
          <p:nvPr/>
        </p:nvSpPr>
        <p:spPr>
          <a:xfrm>
            <a:off x="2648326" y="1575435"/>
            <a:ext cx="1527554" cy="194310"/>
          </a:xfrm>
          <a:prstGeom prst="rect">
            <a:avLst/>
          </a:prstGeom>
          <a:noFill/>
        </p:spPr>
        <p:txBody>
          <a:bodyPr wrap="none" lIns="0" rIns="0" tIns="0" bIns="0">
            <a:spAutoFit/>
          </a:bodyPr>
          <a:lstStyle/>
          <a:p>
            <a:r>
              <a:rPr sz="1150" b="0">
                <a:solidFill>
                  <a:srgbClr val="2E2E2E"/>
                </a:solidFill>
                <a:latin typeface="Calibri"/>
              </a:rPr>
              <a:t>Mn in 2036 at a CAGR of</a:t>
            </a:r>
          </a:p>
        </p:txBody>
      </p:sp>
      <p:pic>
        <p:nvPicPr>
          <p:cNvPr id="39" name="Picture 38" descr="lock.png"/>
          <p:cNvPicPr>
            <a:picLocks noChangeAspect="1"/>
          </p:cNvPicPr>
          <p:nvPr/>
        </p:nvPicPr>
        <p:blipFill>
          <a:blip r:embed="rId4"/>
          <a:stretch>
            <a:fillRect/>
          </a:stretch>
        </p:blipFill>
        <p:spPr>
          <a:xfrm>
            <a:off x="4125034" y="1565211"/>
            <a:ext cx="134549" cy="195707"/>
          </a:xfrm>
          <a:prstGeom prst="rect">
            <a:avLst/>
          </a:prstGeom>
        </p:spPr>
      </p:pic>
      <p:sp>
        <p:nvSpPr>
          <p:cNvPr id="40" name="TextBox 39"/>
          <p:cNvSpPr txBox="1"/>
          <p:nvPr/>
        </p:nvSpPr>
        <p:spPr>
          <a:xfrm>
            <a:off x="4300143" y="157543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1" name="TextBox 40"/>
          <p:cNvSpPr txBox="1"/>
          <p:nvPr/>
        </p:nvSpPr>
        <p:spPr>
          <a:xfrm>
            <a:off x="276225" y="1803273"/>
            <a:ext cx="11563089" cy="194310"/>
          </a:xfrm>
          <a:prstGeom prst="rect">
            <a:avLst/>
          </a:prstGeom>
          <a:noFill/>
        </p:spPr>
        <p:txBody>
          <a:bodyPr wrap="none" lIns="0" rIns="0" tIns="0" bIns="0">
            <a:spAutoFit/>
          </a:bodyPr>
          <a:lstStyle/>
          <a:p>
            <a:r>
              <a:rPr sz="1150" b="0">
                <a:solidFill>
                  <a:srgbClr val="2E2E2E"/>
                </a:solidFill>
                <a:latin typeface="Calibri"/>
              </a:rPr>
              <a:t>The global senior dog cognitive supplement market has been analysed on the basis of form type, active ingredient, end-use application and packaging format across the globe. U.S. is expected to</a:t>
            </a:r>
          </a:p>
        </p:txBody>
      </p:sp>
      <p:sp>
        <p:nvSpPr>
          <p:cNvPr id="42" name="TextBox 41"/>
          <p:cNvSpPr txBox="1"/>
          <p:nvPr/>
        </p:nvSpPr>
        <p:spPr>
          <a:xfrm>
            <a:off x="276225" y="1978533"/>
            <a:ext cx="8121768" cy="194310"/>
          </a:xfrm>
          <a:prstGeom prst="rect">
            <a:avLst/>
          </a:prstGeom>
          <a:noFill/>
        </p:spPr>
        <p:txBody>
          <a:bodyPr wrap="none" lIns="0" rIns="0" tIns="0" bIns="0">
            <a:spAutoFit/>
          </a:bodyPr>
          <a:lstStyle/>
          <a:p>
            <a:r>
              <a:rPr sz="1150" b="0">
                <a:solidFill>
                  <a:srgbClr val="2E2E2E"/>
                </a:solidFill>
                <a:latin typeface="Calibri"/>
              </a:rPr>
              <a:t>remain the largest market for senior dog cognitive supplement, while demand in Canada is projected to increase at the highest CAGR of</a:t>
            </a:r>
          </a:p>
        </p:txBody>
      </p:sp>
      <p:pic>
        <p:nvPicPr>
          <p:cNvPr id="43" name="Picture 42" descr="lock.png"/>
          <p:cNvPicPr>
            <a:picLocks noChangeAspect="1"/>
          </p:cNvPicPr>
          <p:nvPr/>
        </p:nvPicPr>
        <p:blipFill>
          <a:blip r:embed="rId4"/>
          <a:stretch>
            <a:fillRect/>
          </a:stretch>
        </p:blipFill>
        <p:spPr>
          <a:xfrm>
            <a:off x="8347147" y="1968309"/>
            <a:ext cx="134549" cy="195707"/>
          </a:xfrm>
          <a:prstGeom prst="rect">
            <a:avLst/>
          </a:prstGeom>
        </p:spPr>
      </p:pic>
      <p:sp>
        <p:nvSpPr>
          <p:cNvPr id="44" name="TextBox 43"/>
          <p:cNvSpPr txBox="1"/>
          <p:nvPr/>
        </p:nvSpPr>
        <p:spPr>
          <a:xfrm>
            <a:off x="8522256" y="1978533"/>
            <a:ext cx="1960872" cy="194310"/>
          </a:xfrm>
          <a:prstGeom prst="rect">
            <a:avLst/>
          </a:prstGeom>
          <a:noFill/>
        </p:spPr>
        <p:txBody>
          <a:bodyPr wrap="none" lIns="0" rIns="0" tIns="0" bIns="0">
            <a:spAutoFit/>
          </a:bodyPr>
          <a:lstStyle/>
          <a:p>
            <a:r>
              <a:rPr sz="1150" b="0">
                <a:solidFill>
                  <a:srgbClr val="2E2E2E"/>
                </a:solidFill>
                <a:latin typeface="Calibri"/>
              </a:rPr>
              <a:t>throughout the forecast period.</a:t>
            </a:r>
          </a:p>
        </p:txBody>
      </p:sp>
      <p:sp>
        <p:nvSpPr>
          <p:cNvPr id="45" name="TextBox 44"/>
          <p:cNvSpPr txBox="1"/>
          <p:nvPr/>
        </p:nvSpPr>
        <p:spPr>
          <a:xfrm>
            <a:off x="276225" y="3276600"/>
            <a:ext cx="5398467" cy="194310"/>
          </a:xfrm>
          <a:prstGeom prst="rect">
            <a:avLst/>
          </a:prstGeom>
          <a:noFill/>
        </p:spPr>
        <p:txBody>
          <a:bodyPr wrap="none" lIns="0" rIns="0" tIns="0" bIns="0">
            <a:spAutoFit/>
          </a:bodyPr>
          <a:lstStyle/>
          <a:p>
            <a:r>
              <a:rPr sz="1150" b="0">
                <a:solidFill>
                  <a:srgbClr val="2E2E2E"/>
                </a:solidFill>
                <a:latin typeface="Calibri"/>
              </a:rPr>
              <a:t>▪ The market is consolidated: the leading form type category 'Capsules and Softgels' holds</a:t>
            </a:r>
          </a:p>
        </p:txBody>
      </p:sp>
      <p:pic>
        <p:nvPicPr>
          <p:cNvPr id="46" name="Picture 45" descr="lock.png"/>
          <p:cNvPicPr>
            <a:picLocks noChangeAspect="1"/>
          </p:cNvPicPr>
          <p:nvPr/>
        </p:nvPicPr>
        <p:blipFill>
          <a:blip r:embed="rId4"/>
          <a:stretch>
            <a:fillRect/>
          </a:stretch>
        </p:blipFill>
        <p:spPr>
          <a:xfrm>
            <a:off x="5623846" y="3266376"/>
            <a:ext cx="134549" cy="195707"/>
          </a:xfrm>
          <a:prstGeom prst="rect">
            <a:avLst/>
          </a:prstGeom>
        </p:spPr>
      </p:pic>
      <p:sp>
        <p:nvSpPr>
          <p:cNvPr id="47" name="TextBox 46"/>
          <p:cNvSpPr txBox="1"/>
          <p:nvPr/>
        </p:nvSpPr>
        <p:spPr>
          <a:xfrm>
            <a:off x="5798955" y="327660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8" name="TextBox 47"/>
          <p:cNvSpPr txBox="1"/>
          <p:nvPr/>
        </p:nvSpPr>
        <p:spPr>
          <a:xfrm>
            <a:off x="276225" y="3504437"/>
            <a:ext cx="4849924" cy="194310"/>
          </a:xfrm>
          <a:prstGeom prst="rect">
            <a:avLst/>
          </a:prstGeom>
          <a:noFill/>
        </p:spPr>
        <p:txBody>
          <a:bodyPr wrap="none" lIns="0" rIns="0" tIns="0" bIns="0">
            <a:spAutoFit/>
          </a:bodyPr>
          <a:lstStyle/>
          <a:p>
            <a:r>
              <a:rPr sz="1150" b="0">
                <a:solidFill>
                  <a:srgbClr val="2E2E2E"/>
                </a:solidFill>
                <a:latin typeface="Calibri"/>
              </a:rPr>
              <a:t>▪ Demand spans 2 countries and 8 segmentation lenses (6 form type categories).</a:t>
            </a:r>
          </a:p>
        </p:txBody>
      </p:sp>
      <p:sp>
        <p:nvSpPr>
          <p:cNvPr id="49" name="TextBox 48"/>
          <p:cNvSpPr txBox="1"/>
          <p:nvPr/>
        </p:nvSpPr>
        <p:spPr>
          <a:xfrm>
            <a:off x="276225" y="3732275"/>
            <a:ext cx="2288914" cy="194310"/>
          </a:xfrm>
          <a:prstGeom prst="rect">
            <a:avLst/>
          </a:prstGeom>
          <a:noFill/>
        </p:spPr>
        <p:txBody>
          <a:bodyPr wrap="none" lIns="0" rIns="0" tIns="0" bIns="0">
            <a:spAutoFit/>
          </a:bodyPr>
          <a:lstStyle/>
          <a:p>
            <a:r>
              <a:rPr sz="1150" b="0">
                <a:solidFill>
                  <a:srgbClr val="2E2E2E"/>
                </a:solidFill>
                <a:latin typeface="Calibri"/>
              </a:rPr>
              <a:t>▪ U.S. is the largest country market at</a:t>
            </a:r>
          </a:p>
        </p:txBody>
      </p:sp>
      <p:pic>
        <p:nvPicPr>
          <p:cNvPr id="50" name="Picture 49" descr="lock.png"/>
          <p:cNvPicPr>
            <a:picLocks noChangeAspect="1"/>
          </p:cNvPicPr>
          <p:nvPr/>
        </p:nvPicPr>
        <p:blipFill>
          <a:blip r:embed="rId4"/>
          <a:stretch>
            <a:fillRect/>
          </a:stretch>
        </p:blipFill>
        <p:spPr>
          <a:xfrm>
            <a:off x="2514293" y="3722052"/>
            <a:ext cx="134549" cy="195707"/>
          </a:xfrm>
          <a:prstGeom prst="rect">
            <a:avLst/>
          </a:prstGeom>
        </p:spPr>
      </p:pic>
      <p:sp>
        <p:nvSpPr>
          <p:cNvPr id="51" name="TextBox 50"/>
          <p:cNvSpPr txBox="1"/>
          <p:nvPr/>
        </p:nvSpPr>
        <p:spPr>
          <a:xfrm>
            <a:off x="2689402" y="373227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52" name="TextBox 51"/>
          <p:cNvSpPr txBox="1"/>
          <p:nvPr/>
        </p:nvSpPr>
        <p:spPr>
          <a:xfrm>
            <a:off x="276225" y="5038725"/>
            <a:ext cx="2313446" cy="194310"/>
          </a:xfrm>
          <a:prstGeom prst="rect">
            <a:avLst/>
          </a:prstGeom>
          <a:noFill/>
        </p:spPr>
        <p:txBody>
          <a:bodyPr wrap="none" lIns="0" rIns="0" tIns="0" bIns="0">
            <a:spAutoFit/>
          </a:bodyPr>
          <a:lstStyle/>
          <a:p>
            <a:r>
              <a:rPr sz="1150" b="0">
                <a:solidFill>
                  <a:srgbClr val="2E2E2E"/>
                </a:solidFill>
                <a:latin typeface="Calibri"/>
              </a:rPr>
              <a:t>▪ Accelerating uptake of 'Chewables' (</a:t>
            </a:r>
          </a:p>
        </p:txBody>
      </p:sp>
      <p:pic>
        <p:nvPicPr>
          <p:cNvPr id="53" name="Picture 52" descr="lock.png"/>
          <p:cNvPicPr>
            <a:picLocks noChangeAspect="1"/>
          </p:cNvPicPr>
          <p:nvPr/>
        </p:nvPicPr>
        <p:blipFill>
          <a:blip r:embed="rId4"/>
          <a:stretch>
            <a:fillRect/>
          </a:stretch>
        </p:blipFill>
        <p:spPr>
          <a:xfrm>
            <a:off x="2538825" y="5028501"/>
            <a:ext cx="134549" cy="195707"/>
          </a:xfrm>
          <a:prstGeom prst="rect">
            <a:avLst/>
          </a:prstGeom>
        </p:spPr>
      </p:pic>
      <p:sp>
        <p:nvSpPr>
          <p:cNvPr id="54" name="TextBox 53"/>
          <p:cNvSpPr txBox="1"/>
          <p:nvPr/>
        </p:nvSpPr>
        <p:spPr>
          <a:xfrm>
            <a:off x="2713934" y="503872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5" name="TextBox 54"/>
          <p:cNvSpPr txBox="1"/>
          <p:nvPr/>
        </p:nvSpPr>
        <p:spPr>
          <a:xfrm>
            <a:off x="276225" y="5266563"/>
            <a:ext cx="2146510" cy="194310"/>
          </a:xfrm>
          <a:prstGeom prst="rect">
            <a:avLst/>
          </a:prstGeom>
          <a:noFill/>
        </p:spPr>
        <p:txBody>
          <a:bodyPr wrap="none" lIns="0" rIns="0" tIns="0" bIns="0">
            <a:spAutoFit/>
          </a:bodyPr>
          <a:lstStyle/>
          <a:p>
            <a:r>
              <a:rPr sz="1150" b="0">
                <a:solidFill>
                  <a:srgbClr val="2E2E2E"/>
                </a:solidFill>
                <a:latin typeface="Calibri"/>
              </a:rPr>
              <a:t>▪ Fast-growing demand in Canada (</a:t>
            </a:r>
          </a:p>
        </p:txBody>
      </p:sp>
      <p:pic>
        <p:nvPicPr>
          <p:cNvPr id="56" name="Picture 55" descr="lock.png"/>
          <p:cNvPicPr>
            <a:picLocks noChangeAspect="1"/>
          </p:cNvPicPr>
          <p:nvPr/>
        </p:nvPicPr>
        <p:blipFill>
          <a:blip r:embed="rId4"/>
          <a:stretch>
            <a:fillRect/>
          </a:stretch>
        </p:blipFill>
        <p:spPr>
          <a:xfrm>
            <a:off x="2371889" y="5256339"/>
            <a:ext cx="134549" cy="195707"/>
          </a:xfrm>
          <a:prstGeom prst="rect">
            <a:avLst/>
          </a:prstGeom>
        </p:spPr>
      </p:pic>
      <p:sp>
        <p:nvSpPr>
          <p:cNvPr id="57" name="TextBox 56"/>
          <p:cNvSpPr txBox="1"/>
          <p:nvPr/>
        </p:nvSpPr>
        <p:spPr>
          <a:xfrm>
            <a:off x="2546998" y="5266563"/>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8" name="TextBox 57"/>
          <p:cNvSpPr txBox="1"/>
          <p:nvPr/>
        </p:nvSpPr>
        <p:spPr>
          <a:xfrm>
            <a:off x="276225" y="5494400"/>
            <a:ext cx="3478708" cy="194310"/>
          </a:xfrm>
          <a:prstGeom prst="rect">
            <a:avLst/>
          </a:prstGeom>
          <a:noFill/>
        </p:spPr>
        <p:txBody>
          <a:bodyPr wrap="none" lIns="0" rIns="0" tIns="0" bIns="0">
            <a:spAutoFit/>
          </a:bodyPr>
          <a:lstStyle/>
          <a:p>
            <a:r>
              <a:rPr sz="1150" b="0">
                <a:solidFill>
                  <a:srgbClr val="2E2E2E"/>
                </a:solidFill>
                <a:latin typeface="Calibri"/>
              </a:rPr>
              <a:t>▪ Momentum in Veterinary-Guided Cognitive Dysfunction</a:t>
            </a:r>
          </a:p>
        </p:txBody>
      </p:sp>
      <p:sp>
        <p:nvSpPr>
          <p:cNvPr id="59" name="TextBox 58"/>
          <p:cNvSpPr txBox="1"/>
          <p:nvPr/>
        </p:nvSpPr>
        <p:spPr>
          <a:xfrm>
            <a:off x="276225" y="5669660"/>
            <a:ext cx="2237854" cy="194310"/>
          </a:xfrm>
          <a:prstGeom prst="rect">
            <a:avLst/>
          </a:prstGeom>
          <a:noFill/>
        </p:spPr>
        <p:txBody>
          <a:bodyPr wrap="none" lIns="0" rIns="0" tIns="0" bIns="0">
            <a:spAutoFit/>
          </a:bodyPr>
          <a:lstStyle/>
          <a:p>
            <a:r>
              <a:rPr sz="1150" b="0">
                <a:solidFill>
                  <a:srgbClr val="2E2E2E"/>
                </a:solidFill>
                <a:latin typeface="Calibri"/>
              </a:rPr>
              <a:t>Support within end-use application (</a:t>
            </a:r>
          </a:p>
        </p:txBody>
      </p:sp>
      <p:pic>
        <p:nvPicPr>
          <p:cNvPr id="60" name="Picture 59" descr="lock.png"/>
          <p:cNvPicPr>
            <a:picLocks noChangeAspect="1"/>
          </p:cNvPicPr>
          <p:nvPr/>
        </p:nvPicPr>
        <p:blipFill>
          <a:blip r:embed="rId4"/>
          <a:stretch>
            <a:fillRect/>
          </a:stretch>
        </p:blipFill>
        <p:spPr>
          <a:xfrm>
            <a:off x="2463233" y="5659437"/>
            <a:ext cx="134549" cy="195707"/>
          </a:xfrm>
          <a:prstGeom prst="rect">
            <a:avLst/>
          </a:prstGeom>
        </p:spPr>
      </p:pic>
      <p:sp>
        <p:nvSpPr>
          <p:cNvPr id="61" name="TextBox 60"/>
          <p:cNvSpPr txBox="1"/>
          <p:nvPr/>
        </p:nvSpPr>
        <p:spPr>
          <a:xfrm>
            <a:off x="2638342" y="566966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2" name="TextBox 61"/>
          <p:cNvSpPr txBox="1"/>
          <p:nvPr/>
        </p:nvSpPr>
        <p:spPr>
          <a:xfrm>
            <a:off x="4371975" y="5038725"/>
            <a:ext cx="2036464" cy="194310"/>
          </a:xfrm>
          <a:prstGeom prst="rect">
            <a:avLst/>
          </a:prstGeom>
          <a:noFill/>
        </p:spPr>
        <p:txBody>
          <a:bodyPr wrap="none" lIns="0" rIns="0" tIns="0" bIns="0">
            <a:spAutoFit/>
          </a:bodyPr>
          <a:lstStyle/>
          <a:p>
            <a:r>
              <a:rPr sz="1150" b="0">
                <a:solidFill>
                  <a:srgbClr val="2E2E2E"/>
                </a:solidFill>
                <a:latin typeface="Calibri"/>
              </a:rPr>
              <a:t>▪ Slower momentum in 'Liquids' (</a:t>
            </a:r>
          </a:p>
        </p:txBody>
      </p:sp>
      <p:pic>
        <p:nvPicPr>
          <p:cNvPr id="63" name="Picture 62" descr="lock.png"/>
          <p:cNvPicPr>
            <a:picLocks noChangeAspect="1"/>
          </p:cNvPicPr>
          <p:nvPr/>
        </p:nvPicPr>
        <p:blipFill>
          <a:blip r:embed="rId4"/>
          <a:stretch>
            <a:fillRect/>
          </a:stretch>
        </p:blipFill>
        <p:spPr>
          <a:xfrm>
            <a:off x="6357593" y="5028501"/>
            <a:ext cx="134549" cy="195707"/>
          </a:xfrm>
          <a:prstGeom prst="rect">
            <a:avLst/>
          </a:prstGeom>
        </p:spPr>
      </p:pic>
      <p:sp>
        <p:nvSpPr>
          <p:cNvPr id="64" name="TextBox 63"/>
          <p:cNvSpPr txBox="1"/>
          <p:nvPr/>
        </p:nvSpPr>
        <p:spPr>
          <a:xfrm>
            <a:off x="6532703" y="503872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5" name="TextBox 64"/>
          <p:cNvSpPr txBox="1"/>
          <p:nvPr/>
        </p:nvSpPr>
        <p:spPr>
          <a:xfrm>
            <a:off x="4371975" y="5266563"/>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6" name="TextBox 65"/>
          <p:cNvSpPr txBox="1"/>
          <p:nvPr/>
        </p:nvSpPr>
        <p:spPr>
          <a:xfrm>
            <a:off x="4371975" y="544182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7" name="Picture 66" descr="lock.png"/>
          <p:cNvPicPr>
            <a:picLocks noChangeAspect="1"/>
          </p:cNvPicPr>
          <p:nvPr/>
        </p:nvPicPr>
        <p:blipFill>
          <a:blip r:embed="rId4"/>
          <a:stretch>
            <a:fillRect/>
          </a:stretch>
        </p:blipFill>
        <p:spPr>
          <a:xfrm>
            <a:off x="4883401" y="5431599"/>
            <a:ext cx="134549" cy="195707"/>
          </a:xfrm>
          <a:prstGeom prst="rect">
            <a:avLst/>
          </a:prstGeom>
        </p:spPr>
      </p:pic>
      <p:sp>
        <p:nvSpPr>
          <p:cNvPr id="68" name="TextBox 67"/>
          <p:cNvSpPr txBox="1"/>
          <p:nvPr/>
        </p:nvSpPr>
        <p:spPr>
          <a:xfrm>
            <a:off x="5058510" y="544182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9" name="TextBox 68"/>
          <p:cNvSpPr txBox="1"/>
          <p:nvPr/>
        </p:nvSpPr>
        <p:spPr>
          <a:xfrm>
            <a:off x="4371975" y="5669660"/>
            <a:ext cx="3260204" cy="194310"/>
          </a:xfrm>
          <a:prstGeom prst="rect">
            <a:avLst/>
          </a:prstGeom>
          <a:noFill/>
        </p:spPr>
        <p:txBody>
          <a:bodyPr wrap="none" lIns="0" rIns="0" tIns="0" bIns="0">
            <a:spAutoFit/>
          </a:bodyPr>
          <a:lstStyle/>
          <a:p>
            <a:r>
              <a:rPr sz="1150" b="0">
                <a:solidFill>
                  <a:srgbClr val="2E2E2E"/>
                </a:solidFill>
                <a:latin typeface="Calibri"/>
              </a:rPr>
              <a:t>▪ Value concentration in 'Capsules and Softgels' raises</a:t>
            </a:r>
          </a:p>
        </p:txBody>
      </p:sp>
      <p:sp>
        <p:nvSpPr>
          <p:cNvPr id="70" name="TextBox 69"/>
          <p:cNvSpPr txBox="1"/>
          <p:nvPr/>
        </p:nvSpPr>
        <p:spPr>
          <a:xfrm>
            <a:off x="4371975" y="5844920"/>
            <a:ext cx="1604305" cy="194310"/>
          </a:xfrm>
          <a:prstGeom prst="rect">
            <a:avLst/>
          </a:prstGeom>
          <a:noFill/>
        </p:spPr>
        <p:txBody>
          <a:bodyPr wrap="none" lIns="0" rIns="0" tIns="0" bIns="0">
            <a:spAutoFit/>
          </a:bodyPr>
          <a:lstStyle/>
          <a:p>
            <a:r>
              <a:rPr sz="1150" b="0">
                <a:solidFill>
                  <a:srgbClr val="2E2E2E"/>
                </a:solidFill>
                <a:latin typeface="Calibri"/>
              </a:rPr>
              <a:t>barriers for new entrants.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10" name="Rounded Rectangle 9"/>
          <p:cNvSpPr/>
          <p:nvPr/>
        </p:nvSpPr>
        <p:spPr>
          <a:xfrm>
            <a:off x="142875"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Recent Developments &amp; Key Industry Activities</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Capacity and product development are concentrating in 'Chewables' and Canada.</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Portfolio expansion tracks the shift toward higher-growth form type categories.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Commercial focus is intensifying across U.S. and Canada.</a:t>
            </a:r>
          </a:p>
        </p:txBody>
      </p:sp>
      <p:sp>
        <p:nvSpPr>
          <p:cNvPr id="14" name="Rounded Rectangle 13"/>
          <p:cNvSpPr/>
          <p:nvPr/>
        </p:nvSpPr>
        <p:spPr>
          <a:xfrm>
            <a:off x="6172200"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142875"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981325"/>
            <a:ext cx="5610225" cy="209550"/>
          </a:xfrm>
          <a:prstGeom prst="rect">
            <a:avLst/>
          </a:prstGeom>
          <a:noFill/>
        </p:spPr>
        <p:txBody>
          <a:bodyPr wrap="square" lIns="0" rIns="19050" tIns="9525" bIns="9525">
            <a:spAutoFit/>
          </a:bodyPr>
          <a:lstStyle/>
          <a:p>
            <a:pPr algn="l"/>
            <a:r>
              <a:rPr sz="1300" b="1">
                <a:solidFill>
                  <a:srgbClr val="0B2E4A"/>
                </a:solidFill>
                <a:latin typeface="Calibri"/>
              </a:rPr>
              <a:t>Strategic Acquisitions &amp; New Investments</a:t>
            </a:r>
          </a:p>
        </p:txBody>
      </p:sp>
      <p:sp>
        <p:nvSpPr>
          <p:cNvPr id="20" name="Rectangle 19"/>
          <p:cNvSpPr/>
          <p:nvPr/>
        </p:nvSpPr>
        <p:spPr>
          <a:xfrm>
            <a:off x="276225"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981325"/>
            <a:ext cx="5610225" cy="209550"/>
          </a:xfrm>
          <a:prstGeom prst="rect">
            <a:avLst/>
          </a:prstGeom>
          <a:noFill/>
        </p:spPr>
        <p:txBody>
          <a:bodyPr wrap="square" lIns="0" rIns="19050" tIns="9525" bIns="9525">
            <a:spAutoFit/>
          </a:bodyPr>
          <a:lstStyle/>
          <a:p>
            <a:pPr algn="l"/>
            <a:r>
              <a:rPr sz="1300" b="1">
                <a:solidFill>
                  <a:srgbClr val="0B2E4A"/>
                </a:solidFill>
                <a:latin typeface="Calibri"/>
              </a:rPr>
              <a:t>Substantial Investment in R&amp;D</a:t>
            </a:r>
          </a:p>
        </p:txBody>
      </p:sp>
      <p:sp>
        <p:nvSpPr>
          <p:cNvPr id="24" name="Rectangle 23"/>
          <p:cNvSpPr/>
          <p:nvPr/>
        </p:nvSpPr>
        <p:spPr>
          <a:xfrm>
            <a:off x="6305550"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42875" y="4314825"/>
            <a:ext cx="11906250" cy="2295525"/>
          </a:xfrm>
          <a:prstGeom prst="roundRect">
            <a:avLst>
              <a:gd name="adj" fmla="val 33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8125" y="43719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form type share (2036)</a:t>
            </a:r>
          </a:p>
        </p:txBody>
      </p:sp>
      <p:graphicFrame>
        <p:nvGraphicFramePr>
          <p:cNvPr id="28" name="Chart 27"/>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r:id="rId3"/>
          </a:graphicData>
        </a:graphic>
      </p:graphicFrame>
      <p:sp>
        <p:nvSpPr>
          <p:cNvPr id="29" name="TextBox 28"/>
          <p:cNvSpPr txBox="1"/>
          <p:nvPr/>
        </p:nvSpPr>
        <p:spPr>
          <a:xfrm>
            <a:off x="3871570" y="5462588"/>
            <a:ext cx="934136"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4135025" y="5284520"/>
            <a:ext cx="382860" cy="556888"/>
          </a:xfrm>
          <a:prstGeom prst="rect">
            <a:avLst/>
          </a:prstGeom>
        </p:spPr>
      </p:pic>
      <p:sp>
        <p:nvSpPr>
          <p:cNvPr id="32" name="TextBox 31"/>
          <p:cNvSpPr txBox="1"/>
          <p:nvPr/>
        </p:nvSpPr>
        <p:spPr>
          <a:xfrm>
            <a:off x="6305550" y="1400175"/>
            <a:ext cx="684113" cy="186689"/>
          </a:xfrm>
          <a:prstGeom prst="rect">
            <a:avLst/>
          </a:prstGeom>
          <a:noFill/>
        </p:spPr>
        <p:txBody>
          <a:bodyPr wrap="none" lIns="0" rIns="0" tIns="0" bIns="0">
            <a:spAutoFit/>
          </a:bodyPr>
          <a:lstStyle/>
          <a:p>
            <a:r>
              <a:rPr sz="1100" b="0">
                <a:solidFill>
                  <a:srgbClr val="2E2E2E"/>
                </a:solidFill>
                <a:latin typeface="Calibri"/>
              </a:rPr>
              <a:t>▪ 2026 size</a:t>
            </a:r>
          </a:p>
        </p:txBody>
      </p:sp>
      <p:pic>
        <p:nvPicPr>
          <p:cNvPr id="33" name="Picture 32" descr="lock.png"/>
          <p:cNvPicPr>
            <a:picLocks noChangeAspect="1"/>
          </p:cNvPicPr>
          <p:nvPr/>
        </p:nvPicPr>
        <p:blipFill>
          <a:blip r:embed="rId5"/>
          <a:stretch>
            <a:fillRect/>
          </a:stretch>
        </p:blipFill>
        <p:spPr>
          <a:xfrm>
            <a:off x="6937714" y="1390396"/>
            <a:ext cx="128699" cy="187198"/>
          </a:xfrm>
          <a:prstGeom prst="rect">
            <a:avLst/>
          </a:prstGeom>
        </p:spPr>
      </p:pic>
      <p:sp>
        <p:nvSpPr>
          <p:cNvPr id="34" name="TextBox 33"/>
          <p:cNvSpPr txBox="1"/>
          <p:nvPr/>
        </p:nvSpPr>
        <p:spPr>
          <a:xfrm>
            <a:off x="7105210" y="1400175"/>
            <a:ext cx="878383" cy="186689"/>
          </a:xfrm>
          <a:prstGeom prst="rect">
            <a:avLst/>
          </a:prstGeom>
          <a:noFill/>
        </p:spPr>
        <p:txBody>
          <a:bodyPr wrap="none" lIns="0" rIns="0" tIns="0" bIns="0">
            <a:spAutoFit/>
          </a:bodyPr>
          <a:lstStyle/>
          <a:p>
            <a:r>
              <a:rPr sz="1100" b="0">
                <a:solidFill>
                  <a:srgbClr val="2E2E2E"/>
                </a:solidFill>
                <a:latin typeface="Calibri"/>
              </a:rPr>
              <a:t>US$ Mn; 2036</a:t>
            </a:r>
          </a:p>
        </p:txBody>
      </p:sp>
      <p:pic>
        <p:nvPicPr>
          <p:cNvPr id="35" name="Picture 34" descr="lock.png"/>
          <p:cNvPicPr>
            <a:picLocks noChangeAspect="1"/>
          </p:cNvPicPr>
          <p:nvPr/>
        </p:nvPicPr>
        <p:blipFill>
          <a:blip r:embed="rId5"/>
          <a:stretch>
            <a:fillRect/>
          </a:stretch>
        </p:blipFill>
        <p:spPr>
          <a:xfrm>
            <a:off x="7931645" y="1390396"/>
            <a:ext cx="128699" cy="187198"/>
          </a:xfrm>
          <a:prstGeom prst="rect">
            <a:avLst/>
          </a:prstGeom>
        </p:spPr>
      </p:pic>
      <p:sp>
        <p:nvSpPr>
          <p:cNvPr id="36" name="TextBox 35"/>
          <p:cNvSpPr txBox="1"/>
          <p:nvPr/>
        </p:nvSpPr>
        <p:spPr>
          <a:xfrm>
            <a:off x="8099141" y="1400175"/>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37" name="TextBox 36"/>
          <p:cNvSpPr txBox="1"/>
          <p:nvPr/>
        </p:nvSpPr>
        <p:spPr>
          <a:xfrm>
            <a:off x="6305550" y="1618107"/>
            <a:ext cx="991842" cy="186689"/>
          </a:xfrm>
          <a:prstGeom prst="rect">
            <a:avLst/>
          </a:prstGeom>
          <a:noFill/>
        </p:spPr>
        <p:txBody>
          <a:bodyPr wrap="none" lIns="0" rIns="0" tIns="0" bIns="0">
            <a:spAutoFit/>
          </a:bodyPr>
          <a:lstStyle/>
          <a:p>
            <a:r>
              <a:rPr sz="1100" b="0">
                <a:solidFill>
                  <a:srgbClr val="2E2E2E"/>
                </a:solidFill>
                <a:latin typeface="Calibri"/>
              </a:rPr>
              <a:t>▪ Forecast CAGR</a:t>
            </a:r>
          </a:p>
        </p:txBody>
      </p:sp>
      <p:pic>
        <p:nvPicPr>
          <p:cNvPr id="38" name="Picture 37" descr="lock.png"/>
          <p:cNvPicPr>
            <a:picLocks noChangeAspect="1"/>
          </p:cNvPicPr>
          <p:nvPr/>
        </p:nvPicPr>
        <p:blipFill>
          <a:blip r:embed="rId5"/>
          <a:stretch>
            <a:fillRect/>
          </a:stretch>
        </p:blipFill>
        <p:spPr>
          <a:xfrm>
            <a:off x="7245444" y="1608328"/>
            <a:ext cx="128699" cy="187198"/>
          </a:xfrm>
          <a:prstGeom prst="rect">
            <a:avLst/>
          </a:prstGeom>
        </p:spPr>
      </p:pic>
      <p:sp>
        <p:nvSpPr>
          <p:cNvPr id="39" name="TextBox 38"/>
          <p:cNvSpPr txBox="1"/>
          <p:nvPr/>
        </p:nvSpPr>
        <p:spPr>
          <a:xfrm>
            <a:off x="7412940" y="1618107"/>
            <a:ext cx="833090" cy="186689"/>
          </a:xfrm>
          <a:prstGeom prst="rect">
            <a:avLst/>
          </a:prstGeom>
          <a:noFill/>
        </p:spPr>
        <p:txBody>
          <a:bodyPr wrap="none" lIns="0" rIns="0" tIns="0" bIns="0">
            <a:spAutoFit/>
          </a:bodyPr>
          <a:lstStyle/>
          <a:p>
            <a:r>
              <a:rPr sz="1100" b="0">
                <a:solidFill>
                  <a:srgbClr val="2E2E2E"/>
                </a:solidFill>
                <a:latin typeface="Calibri"/>
              </a:rPr>
              <a:t>(2026–2036).</a:t>
            </a:r>
          </a:p>
        </p:txBody>
      </p:sp>
      <p:sp>
        <p:nvSpPr>
          <p:cNvPr id="40" name="TextBox 39"/>
          <p:cNvSpPr txBox="1"/>
          <p:nvPr/>
        </p:nvSpPr>
        <p:spPr>
          <a:xfrm>
            <a:off x="6305550" y="1836039"/>
            <a:ext cx="2270199" cy="186689"/>
          </a:xfrm>
          <a:prstGeom prst="rect">
            <a:avLst/>
          </a:prstGeom>
          <a:noFill/>
        </p:spPr>
        <p:txBody>
          <a:bodyPr wrap="none" lIns="0" rIns="0" tIns="0" bIns="0">
            <a:spAutoFit/>
          </a:bodyPr>
          <a:lstStyle/>
          <a:p>
            <a:r>
              <a:rPr sz="1100" b="0">
                <a:solidFill>
                  <a:srgbClr val="2E2E2E"/>
                </a:solidFill>
                <a:latin typeface="Calibri"/>
              </a:rPr>
              <a:t>▪ Lead category 'Capsules and Softgels'</a:t>
            </a:r>
          </a:p>
        </p:txBody>
      </p:sp>
      <p:pic>
        <p:nvPicPr>
          <p:cNvPr id="41" name="Picture 40" descr="lock.png"/>
          <p:cNvPicPr>
            <a:picLocks noChangeAspect="1"/>
          </p:cNvPicPr>
          <p:nvPr/>
        </p:nvPicPr>
        <p:blipFill>
          <a:blip r:embed="rId5"/>
          <a:stretch>
            <a:fillRect/>
          </a:stretch>
        </p:blipFill>
        <p:spPr>
          <a:xfrm>
            <a:off x="8523801" y="1826260"/>
            <a:ext cx="128699" cy="187198"/>
          </a:xfrm>
          <a:prstGeom prst="rect">
            <a:avLst/>
          </a:prstGeom>
        </p:spPr>
      </p:pic>
      <p:sp>
        <p:nvSpPr>
          <p:cNvPr id="42" name="TextBox 41"/>
          <p:cNvSpPr txBox="1"/>
          <p:nvPr/>
        </p:nvSpPr>
        <p:spPr>
          <a:xfrm>
            <a:off x="8691296" y="1836039"/>
            <a:ext cx="543049" cy="186689"/>
          </a:xfrm>
          <a:prstGeom prst="rect">
            <a:avLst/>
          </a:prstGeom>
          <a:noFill/>
        </p:spPr>
        <p:txBody>
          <a:bodyPr wrap="none" lIns="0" rIns="0" tIns="0" bIns="0">
            <a:spAutoFit/>
          </a:bodyPr>
          <a:lstStyle/>
          <a:p>
            <a:r>
              <a:rPr sz="1100" b="0">
                <a:solidFill>
                  <a:srgbClr val="2E2E2E"/>
                </a:solidFill>
                <a:latin typeface="Calibri"/>
              </a:rPr>
              <a:t>of 2036.</a:t>
            </a:r>
          </a:p>
        </p:txBody>
      </p:sp>
      <p:sp>
        <p:nvSpPr>
          <p:cNvPr id="43" name="TextBox 42"/>
          <p:cNvSpPr txBox="1"/>
          <p:nvPr/>
        </p:nvSpPr>
        <p:spPr>
          <a:xfrm>
            <a:off x="6305550" y="2053970"/>
            <a:ext cx="1152053" cy="186689"/>
          </a:xfrm>
          <a:prstGeom prst="rect">
            <a:avLst/>
          </a:prstGeom>
          <a:noFill/>
        </p:spPr>
        <p:txBody>
          <a:bodyPr wrap="none" lIns="0" rIns="0" tIns="0" bIns="0">
            <a:spAutoFit/>
          </a:bodyPr>
          <a:lstStyle/>
          <a:p>
            <a:r>
              <a:rPr sz="1100" b="0">
                <a:solidFill>
                  <a:srgbClr val="2E2E2E"/>
                </a:solidFill>
                <a:latin typeface="Calibri"/>
              </a:rPr>
              <a:t>▪ Lead country U.S.</a:t>
            </a:r>
          </a:p>
        </p:txBody>
      </p:sp>
      <p:pic>
        <p:nvPicPr>
          <p:cNvPr id="44" name="Picture 43" descr="lock.png"/>
          <p:cNvPicPr>
            <a:picLocks noChangeAspect="1"/>
          </p:cNvPicPr>
          <p:nvPr/>
        </p:nvPicPr>
        <p:blipFill>
          <a:blip r:embed="rId5"/>
          <a:stretch>
            <a:fillRect/>
          </a:stretch>
        </p:blipFill>
        <p:spPr>
          <a:xfrm>
            <a:off x="7405655" y="2044192"/>
            <a:ext cx="128699" cy="187198"/>
          </a:xfrm>
          <a:prstGeom prst="rect">
            <a:avLst/>
          </a:prstGeom>
        </p:spPr>
      </p:pic>
      <p:sp>
        <p:nvSpPr>
          <p:cNvPr id="45" name="TextBox 44"/>
          <p:cNvSpPr txBox="1"/>
          <p:nvPr/>
        </p:nvSpPr>
        <p:spPr>
          <a:xfrm>
            <a:off x="7573151" y="205397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6" name="TextBox 45"/>
          <p:cNvSpPr txBox="1"/>
          <p:nvPr/>
        </p:nvSpPr>
        <p:spPr>
          <a:xfrm>
            <a:off x="6305550" y="2271903"/>
            <a:ext cx="1554782" cy="186689"/>
          </a:xfrm>
          <a:prstGeom prst="rect">
            <a:avLst/>
          </a:prstGeom>
          <a:noFill/>
        </p:spPr>
        <p:txBody>
          <a:bodyPr wrap="none" lIns="0" rIns="0" tIns="0" bIns="0">
            <a:spAutoFit/>
          </a:bodyPr>
          <a:lstStyle/>
          <a:p>
            <a:r>
              <a:rPr sz="1100" b="0">
                <a:solidFill>
                  <a:srgbClr val="2E2E2E"/>
                </a:solidFill>
                <a:latin typeface="Calibri"/>
              </a:rPr>
              <a:t>▪ Incremental opportunity</a:t>
            </a:r>
          </a:p>
        </p:txBody>
      </p:sp>
      <p:pic>
        <p:nvPicPr>
          <p:cNvPr id="47" name="Picture 46" descr="lock.png"/>
          <p:cNvPicPr>
            <a:picLocks noChangeAspect="1"/>
          </p:cNvPicPr>
          <p:nvPr/>
        </p:nvPicPr>
        <p:blipFill>
          <a:blip r:embed="rId5"/>
          <a:stretch>
            <a:fillRect/>
          </a:stretch>
        </p:blipFill>
        <p:spPr>
          <a:xfrm>
            <a:off x="7808384" y="2262124"/>
            <a:ext cx="128699" cy="187198"/>
          </a:xfrm>
          <a:prstGeom prst="rect">
            <a:avLst/>
          </a:prstGeom>
        </p:spPr>
      </p:pic>
      <p:sp>
        <p:nvSpPr>
          <p:cNvPr id="48" name="TextBox 47"/>
          <p:cNvSpPr txBox="1"/>
          <p:nvPr/>
        </p:nvSpPr>
        <p:spPr>
          <a:xfrm>
            <a:off x="7975880" y="2271903"/>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9" name="TextBox 48"/>
          <p:cNvSpPr txBox="1"/>
          <p:nvPr/>
        </p:nvSpPr>
        <p:spPr>
          <a:xfrm>
            <a:off x="276225" y="3314700"/>
            <a:ext cx="4136789" cy="194310"/>
          </a:xfrm>
          <a:prstGeom prst="rect">
            <a:avLst/>
          </a:prstGeom>
          <a:noFill/>
        </p:spPr>
        <p:txBody>
          <a:bodyPr wrap="none" lIns="0" rIns="0" tIns="0" bIns="0">
            <a:spAutoFit/>
          </a:bodyPr>
          <a:lstStyle/>
          <a:p>
            <a:r>
              <a:rPr sz="1150" b="0">
                <a:solidFill>
                  <a:srgbClr val="2E2E2E"/>
                </a:solidFill>
                <a:latin typeface="Calibri"/>
              </a:rPr>
              <a:t>▪ Investment is flowing toward the fastest-growing tier 'Chewables' (</a:t>
            </a:r>
          </a:p>
        </p:txBody>
      </p:sp>
      <p:pic>
        <p:nvPicPr>
          <p:cNvPr id="50" name="Picture 49" descr="lock.png"/>
          <p:cNvPicPr>
            <a:picLocks noChangeAspect="1"/>
          </p:cNvPicPr>
          <p:nvPr/>
        </p:nvPicPr>
        <p:blipFill>
          <a:blip r:embed="rId5"/>
          <a:stretch>
            <a:fillRect/>
          </a:stretch>
        </p:blipFill>
        <p:spPr>
          <a:xfrm>
            <a:off x="4362168" y="3304476"/>
            <a:ext cx="134549" cy="195707"/>
          </a:xfrm>
          <a:prstGeom prst="rect">
            <a:avLst/>
          </a:prstGeom>
        </p:spPr>
      </p:pic>
      <p:sp>
        <p:nvSpPr>
          <p:cNvPr id="51" name="TextBox 50"/>
          <p:cNvSpPr txBox="1"/>
          <p:nvPr/>
        </p:nvSpPr>
        <p:spPr>
          <a:xfrm>
            <a:off x="4537277" y="331470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2" name="TextBox 51"/>
          <p:cNvSpPr txBox="1"/>
          <p:nvPr/>
        </p:nvSpPr>
        <p:spPr>
          <a:xfrm>
            <a:off x="276225" y="3542537"/>
            <a:ext cx="679226" cy="194310"/>
          </a:xfrm>
          <a:prstGeom prst="rect">
            <a:avLst/>
          </a:prstGeom>
          <a:noFill/>
        </p:spPr>
        <p:txBody>
          <a:bodyPr wrap="none" lIns="0" rIns="0" tIns="0" bIns="0">
            <a:spAutoFit/>
          </a:bodyPr>
          <a:lstStyle/>
          <a:p>
            <a:r>
              <a:rPr sz="1150" b="0">
                <a:solidFill>
                  <a:srgbClr val="2E2E2E"/>
                </a:solidFill>
                <a:latin typeface="Calibri"/>
              </a:rPr>
              <a:t>▪ Canada (</a:t>
            </a:r>
          </a:p>
        </p:txBody>
      </p:sp>
      <p:pic>
        <p:nvPicPr>
          <p:cNvPr id="53" name="Picture 52" descr="lock.png"/>
          <p:cNvPicPr>
            <a:picLocks noChangeAspect="1"/>
          </p:cNvPicPr>
          <p:nvPr/>
        </p:nvPicPr>
        <p:blipFill>
          <a:blip r:embed="rId5"/>
          <a:stretch>
            <a:fillRect/>
          </a:stretch>
        </p:blipFill>
        <p:spPr>
          <a:xfrm>
            <a:off x="904605" y="3532314"/>
            <a:ext cx="134549" cy="195707"/>
          </a:xfrm>
          <a:prstGeom prst="rect">
            <a:avLst/>
          </a:prstGeom>
        </p:spPr>
      </p:pic>
      <p:sp>
        <p:nvSpPr>
          <p:cNvPr id="54" name="TextBox 53"/>
          <p:cNvSpPr txBox="1"/>
          <p:nvPr/>
        </p:nvSpPr>
        <p:spPr>
          <a:xfrm>
            <a:off x="1079714" y="3542537"/>
            <a:ext cx="2362224" cy="194310"/>
          </a:xfrm>
          <a:prstGeom prst="rect">
            <a:avLst/>
          </a:prstGeom>
          <a:noFill/>
        </p:spPr>
        <p:txBody>
          <a:bodyPr wrap="none" lIns="0" rIns="0" tIns="0" bIns="0">
            <a:spAutoFit/>
          </a:bodyPr>
          <a:lstStyle/>
          <a:p>
            <a:r>
              <a:rPr sz="1150" b="0">
                <a:solidFill>
                  <a:srgbClr val="2E2E2E"/>
                </a:solidFill>
                <a:latin typeface="Calibri"/>
              </a:rPr>
              <a:t>) is a priority country for new capacity.</a:t>
            </a:r>
          </a:p>
        </p:txBody>
      </p:sp>
      <p:sp>
        <p:nvSpPr>
          <p:cNvPr id="55" name="TextBox 54"/>
          <p:cNvSpPr txBox="1"/>
          <p:nvPr/>
        </p:nvSpPr>
        <p:spPr>
          <a:xfrm>
            <a:off x="276225" y="3770375"/>
            <a:ext cx="3290155" cy="194310"/>
          </a:xfrm>
          <a:prstGeom prst="rect">
            <a:avLst/>
          </a:prstGeom>
          <a:noFill/>
        </p:spPr>
        <p:txBody>
          <a:bodyPr wrap="none" lIns="0" rIns="0" tIns="0" bIns="0">
            <a:spAutoFit/>
          </a:bodyPr>
          <a:lstStyle/>
          <a:p>
            <a:r>
              <a:rPr sz="1150" b="0">
                <a:solidFill>
                  <a:srgbClr val="2E2E2E"/>
                </a:solidFill>
                <a:latin typeface="Calibri"/>
              </a:rPr>
              <a:t>▪ Scale players anchor around 'Capsules and Softgels' (</a:t>
            </a:r>
          </a:p>
        </p:txBody>
      </p:sp>
      <p:pic>
        <p:nvPicPr>
          <p:cNvPr id="56" name="Picture 55" descr="lock.png"/>
          <p:cNvPicPr>
            <a:picLocks noChangeAspect="1"/>
          </p:cNvPicPr>
          <p:nvPr/>
        </p:nvPicPr>
        <p:blipFill>
          <a:blip r:embed="rId5"/>
          <a:stretch>
            <a:fillRect/>
          </a:stretch>
        </p:blipFill>
        <p:spPr>
          <a:xfrm>
            <a:off x="3515534" y="3760152"/>
            <a:ext cx="134549" cy="195707"/>
          </a:xfrm>
          <a:prstGeom prst="rect">
            <a:avLst/>
          </a:prstGeom>
        </p:spPr>
      </p:pic>
      <p:sp>
        <p:nvSpPr>
          <p:cNvPr id="57" name="TextBox 56"/>
          <p:cNvSpPr txBox="1"/>
          <p:nvPr/>
        </p:nvSpPr>
        <p:spPr>
          <a:xfrm>
            <a:off x="3690643" y="3770375"/>
            <a:ext cx="484683" cy="194310"/>
          </a:xfrm>
          <a:prstGeom prst="rect">
            <a:avLst/>
          </a:prstGeom>
          <a:noFill/>
        </p:spPr>
        <p:txBody>
          <a:bodyPr wrap="none" lIns="0" rIns="0" tIns="0" bIns="0">
            <a:spAutoFit/>
          </a:bodyPr>
          <a:lstStyle/>
          <a:p>
            <a:r>
              <a:rPr sz="1150" b="0">
                <a:solidFill>
                  <a:srgbClr val="2E2E2E"/>
                </a:solidFill>
                <a:latin typeface="Calibri"/>
              </a:rPr>
              <a:t>share).</a:t>
            </a:r>
          </a:p>
        </p:txBody>
      </p:sp>
      <p:sp>
        <p:nvSpPr>
          <p:cNvPr id="58" name="TextBox 57"/>
          <p:cNvSpPr txBox="1"/>
          <p:nvPr/>
        </p:nvSpPr>
        <p:spPr>
          <a:xfrm>
            <a:off x="6305550" y="3314700"/>
            <a:ext cx="4551548" cy="194310"/>
          </a:xfrm>
          <a:prstGeom prst="rect">
            <a:avLst/>
          </a:prstGeom>
          <a:noFill/>
        </p:spPr>
        <p:txBody>
          <a:bodyPr wrap="none" lIns="0" rIns="0" tIns="0" bIns="0">
            <a:spAutoFit/>
          </a:bodyPr>
          <a:lstStyle/>
          <a:p>
            <a:r>
              <a:rPr sz="1150" b="0">
                <a:solidFill>
                  <a:srgbClr val="2E2E2E"/>
                </a:solidFill>
                <a:latin typeface="Calibri"/>
              </a:rPr>
              <a:t>▪ R&amp;D aligns with the migration to 'Chewables' and adjacent premium tiers.</a:t>
            </a:r>
          </a:p>
        </p:txBody>
      </p:sp>
      <p:sp>
        <p:nvSpPr>
          <p:cNvPr id="59" name="TextBox 58"/>
          <p:cNvSpPr txBox="1"/>
          <p:nvPr/>
        </p:nvSpPr>
        <p:spPr>
          <a:xfrm>
            <a:off x="6305550" y="3542537"/>
            <a:ext cx="4423184" cy="194310"/>
          </a:xfrm>
          <a:prstGeom prst="rect">
            <a:avLst/>
          </a:prstGeom>
          <a:noFill/>
        </p:spPr>
        <p:txBody>
          <a:bodyPr wrap="none" lIns="0" rIns="0" tIns="0" bIns="0">
            <a:spAutoFit/>
          </a:bodyPr>
          <a:lstStyle/>
          <a:p>
            <a:r>
              <a:rPr sz="1150" b="0">
                <a:solidFill>
                  <a:srgbClr val="2E2E2E"/>
                </a:solidFill>
                <a:latin typeface="Calibri"/>
              </a:rPr>
              <a:t>▪ Development spend targets form type categories gaining share to 2036.</a:t>
            </a:r>
          </a:p>
        </p:txBody>
      </p:sp>
      <p:sp>
        <p:nvSpPr>
          <p:cNvPr id="60" name="TextBox 59"/>
          <p:cNvSpPr txBox="1"/>
          <p:nvPr/>
        </p:nvSpPr>
        <p:spPr>
          <a:xfrm>
            <a:off x="6305550" y="3770375"/>
            <a:ext cx="1663352" cy="194310"/>
          </a:xfrm>
          <a:prstGeom prst="rect">
            <a:avLst/>
          </a:prstGeom>
          <a:noFill/>
        </p:spPr>
        <p:txBody>
          <a:bodyPr wrap="none" lIns="0" rIns="0" tIns="0" bIns="0">
            <a:spAutoFit/>
          </a:bodyPr>
          <a:lstStyle/>
          <a:p>
            <a:r>
              <a:rPr sz="1150" b="0">
                <a:solidFill>
                  <a:srgbClr val="2E2E2E"/>
                </a:solidFill>
                <a:latin typeface="Calibri"/>
              </a:rPr>
              <a:t>▪ Innovation underpins the</a:t>
            </a:r>
          </a:p>
        </p:txBody>
      </p:sp>
      <p:pic>
        <p:nvPicPr>
          <p:cNvPr id="61" name="Picture 60" descr="lock.png"/>
          <p:cNvPicPr>
            <a:picLocks noChangeAspect="1"/>
          </p:cNvPicPr>
          <p:nvPr/>
        </p:nvPicPr>
        <p:blipFill>
          <a:blip r:embed="rId5"/>
          <a:stretch>
            <a:fillRect/>
          </a:stretch>
        </p:blipFill>
        <p:spPr>
          <a:xfrm>
            <a:off x="7918056" y="3760152"/>
            <a:ext cx="134549" cy="195707"/>
          </a:xfrm>
          <a:prstGeom prst="rect">
            <a:avLst/>
          </a:prstGeom>
        </p:spPr>
      </p:pic>
      <p:sp>
        <p:nvSpPr>
          <p:cNvPr id="62" name="TextBox 61"/>
          <p:cNvSpPr txBox="1"/>
          <p:nvPr/>
        </p:nvSpPr>
        <p:spPr>
          <a:xfrm>
            <a:off x="8093165" y="3770375"/>
            <a:ext cx="963036" cy="194310"/>
          </a:xfrm>
          <a:prstGeom prst="rect">
            <a:avLst/>
          </a:prstGeom>
          <a:noFill/>
        </p:spPr>
        <p:txBody>
          <a:bodyPr wrap="none" lIns="0" rIns="0" tIns="0" bIns="0">
            <a:spAutoFit/>
          </a:bodyPr>
          <a:lstStyle/>
          <a:p>
            <a:r>
              <a:rPr sz="1150" b="0">
                <a:solidFill>
                  <a:srgbClr val="2E2E2E"/>
                </a:solidFill>
                <a:latin typeface="Calibri"/>
              </a:rPr>
              <a:t>forecast CAGR.</a:t>
            </a:r>
          </a:p>
        </p:txBody>
      </p:sp>
      <p:sp>
        <p:nvSpPr>
          <p:cNvPr id="63" name="lockshield_28"/>
          <p:cNvSpPr/>
          <p:nvPr/>
        </p:nvSpPr>
        <p:spPr>
          <a:xfrm>
            <a:off x="238125" y="4600575"/>
            <a:ext cx="11715750" cy="19526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FMI's analysis and recommendation</a:t>
            </a:r>
          </a:p>
        </p:txBody>
      </p:sp>
      <p:sp>
        <p:nvSpPr>
          <p:cNvPr id="10" name="Rounded Rectangle 9"/>
          <p:cNvSpPr/>
          <p:nvPr/>
        </p:nvSpPr>
        <p:spPr>
          <a:xfrm>
            <a:off x="142875" y="981075"/>
            <a:ext cx="5876925"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Overall Market Approach</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4" name="Rounded Rectangle 13"/>
          <p:cNvSpPr/>
          <p:nvPr/>
        </p:nvSpPr>
        <p:spPr>
          <a:xfrm>
            <a:off x="6172200" y="981075"/>
            <a:ext cx="5876925"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Differentiating Strategy</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Differentiate through the high-growth 'Chewables' tier and Veterinary-Guided Cognitive Dysfunction Support within end-use application.</a:t>
            </a:r>
          </a:p>
        </p:txBody>
      </p:sp>
      <p:sp>
        <p:nvSpPr>
          <p:cNvPr id="18" name="Rounded Rectangle 17"/>
          <p:cNvSpPr/>
          <p:nvPr/>
        </p:nvSpPr>
        <p:spPr>
          <a:xfrm>
            <a:off x="142875" y="2857500"/>
            <a:ext cx="5876925" cy="1562100"/>
          </a:xfrm>
          <a:prstGeom prst="roundRect">
            <a:avLst>
              <a:gd name="adj" fmla="val 48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94322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Segment</a:t>
            </a:r>
          </a:p>
        </p:txBody>
      </p:sp>
      <p:sp>
        <p:nvSpPr>
          <p:cNvPr id="20" name="Rectangle 19"/>
          <p:cNvSpPr/>
          <p:nvPr/>
        </p:nvSpPr>
        <p:spPr>
          <a:xfrm>
            <a:off x="276225" y="31813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857500"/>
            <a:ext cx="5876925" cy="1562100"/>
          </a:xfrm>
          <a:prstGeom prst="roundRect">
            <a:avLst>
              <a:gd name="adj" fmla="val 48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94322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Country</a:t>
            </a:r>
          </a:p>
        </p:txBody>
      </p:sp>
      <p:sp>
        <p:nvSpPr>
          <p:cNvPr id="24" name="Rectangle 23"/>
          <p:cNvSpPr/>
          <p:nvPr/>
        </p:nvSpPr>
        <p:spPr>
          <a:xfrm>
            <a:off x="6305550" y="31813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42875" y="455295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B2E4A"/>
                </a:solidFill>
                <a:latin typeface="Calibri"/>
              </a:rPr>
              <a:t>Fact.MR Analysis &amp; Recommendation</a:t>
            </a:r>
          </a:p>
        </p:txBody>
      </p:sp>
      <p:sp>
        <p:nvSpPr>
          <p:cNvPr id="28" name="Rectangle 27"/>
          <p:cNvSpPr/>
          <p:nvPr/>
        </p:nvSpPr>
        <p:spPr>
          <a:xfrm>
            <a:off x="276225" y="48768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5477482" cy="194310"/>
          </a:xfrm>
          <a:prstGeom prst="rect">
            <a:avLst/>
          </a:prstGeom>
          <a:noFill/>
        </p:spPr>
        <p:txBody>
          <a:bodyPr wrap="none" lIns="0" rIns="0" tIns="0" bIns="0">
            <a:spAutoFit/>
          </a:bodyPr>
          <a:lstStyle/>
          <a:p>
            <a:r>
              <a:rPr sz="1150" b="0">
                <a:solidFill>
                  <a:srgbClr val="2E2E2E"/>
                </a:solidFill>
                <a:latin typeface="Calibri"/>
              </a:rPr>
              <a:t>▪ Balance scale in 'Capsules and Softgels' with targeted growth in 'Chewables', pursuing the</a:t>
            </a:r>
          </a:p>
        </p:txBody>
      </p:sp>
      <p:pic>
        <p:nvPicPr>
          <p:cNvPr id="32" name="Picture 31" descr="lock.png"/>
          <p:cNvPicPr>
            <a:picLocks noChangeAspect="1"/>
          </p:cNvPicPr>
          <p:nvPr/>
        </p:nvPicPr>
        <p:blipFill>
          <a:blip r:embed="rId4"/>
          <a:stretch>
            <a:fillRect/>
          </a:stretch>
        </p:blipFill>
        <p:spPr>
          <a:xfrm>
            <a:off x="262145" y="1565211"/>
            <a:ext cx="134549" cy="195707"/>
          </a:xfrm>
          <a:prstGeom prst="rect">
            <a:avLst/>
          </a:prstGeom>
        </p:spPr>
      </p:pic>
      <p:sp>
        <p:nvSpPr>
          <p:cNvPr id="33" name="TextBox 32"/>
          <p:cNvSpPr txBox="1"/>
          <p:nvPr/>
        </p:nvSpPr>
        <p:spPr>
          <a:xfrm>
            <a:off x="437254" y="1575435"/>
            <a:ext cx="1551800" cy="194310"/>
          </a:xfrm>
          <a:prstGeom prst="rect">
            <a:avLst/>
          </a:prstGeom>
          <a:noFill/>
        </p:spPr>
        <p:txBody>
          <a:bodyPr wrap="none" lIns="0" rIns="0" tIns="0" bIns="0">
            <a:spAutoFit/>
          </a:bodyPr>
          <a:lstStyle/>
          <a:p>
            <a:r>
              <a:rPr sz="1150" b="0">
                <a:solidFill>
                  <a:srgbClr val="2E2E2E"/>
                </a:solidFill>
                <a:latin typeface="Calibri"/>
              </a:rPr>
              <a:t>CAGR trajectory to 2036.</a:t>
            </a:r>
          </a:p>
        </p:txBody>
      </p:sp>
      <p:sp>
        <p:nvSpPr>
          <p:cNvPr id="34" name="TextBox 33"/>
          <p:cNvSpPr txBox="1"/>
          <p:nvPr/>
        </p:nvSpPr>
        <p:spPr>
          <a:xfrm>
            <a:off x="276225" y="3276600"/>
            <a:ext cx="1512168" cy="194310"/>
          </a:xfrm>
          <a:prstGeom prst="rect">
            <a:avLst/>
          </a:prstGeom>
          <a:noFill/>
        </p:spPr>
        <p:txBody>
          <a:bodyPr wrap="none" lIns="0" rIns="0" tIns="0" bIns="0">
            <a:spAutoFit/>
          </a:bodyPr>
          <a:lstStyle/>
          <a:p>
            <a:r>
              <a:rPr sz="1150" b="0">
                <a:solidFill>
                  <a:srgbClr val="2E2E2E"/>
                </a:solidFill>
                <a:latin typeface="Calibri"/>
              </a:rPr>
              <a:t>▪ Prioritise 'Chewables' (</a:t>
            </a:r>
          </a:p>
        </p:txBody>
      </p:sp>
      <p:pic>
        <p:nvPicPr>
          <p:cNvPr id="35" name="Picture 34" descr="lock.png"/>
          <p:cNvPicPr>
            <a:picLocks noChangeAspect="1"/>
          </p:cNvPicPr>
          <p:nvPr/>
        </p:nvPicPr>
        <p:blipFill>
          <a:blip r:embed="rId4"/>
          <a:stretch>
            <a:fillRect/>
          </a:stretch>
        </p:blipFill>
        <p:spPr>
          <a:xfrm>
            <a:off x="1737547" y="3266376"/>
            <a:ext cx="134549" cy="195707"/>
          </a:xfrm>
          <a:prstGeom prst="rect">
            <a:avLst/>
          </a:prstGeom>
        </p:spPr>
      </p:pic>
      <p:sp>
        <p:nvSpPr>
          <p:cNvPr id="36" name="TextBox 35"/>
          <p:cNvSpPr txBox="1"/>
          <p:nvPr/>
        </p:nvSpPr>
        <p:spPr>
          <a:xfrm>
            <a:off x="1912656" y="3276600"/>
            <a:ext cx="2041599" cy="194310"/>
          </a:xfrm>
          <a:prstGeom prst="rect">
            <a:avLst/>
          </a:prstGeom>
          <a:noFill/>
        </p:spPr>
        <p:txBody>
          <a:bodyPr wrap="none" lIns="0" rIns="0" tIns="0" bIns="0">
            <a:spAutoFit/>
          </a:bodyPr>
          <a:lstStyle/>
          <a:p>
            <a:r>
              <a:rPr sz="1150" b="0">
                <a:solidFill>
                  <a:srgbClr val="2E2E2E"/>
                </a:solidFill>
                <a:latin typeface="Calibri"/>
              </a:rPr>
              <a:t>); 'Capsules and Softgels' anchors</a:t>
            </a:r>
          </a:p>
        </p:txBody>
      </p:sp>
      <p:pic>
        <p:nvPicPr>
          <p:cNvPr id="37" name="Picture 36" descr="lock.png"/>
          <p:cNvPicPr>
            <a:picLocks noChangeAspect="1"/>
          </p:cNvPicPr>
          <p:nvPr/>
        </p:nvPicPr>
        <p:blipFill>
          <a:blip r:embed="rId4"/>
          <a:stretch>
            <a:fillRect/>
          </a:stretch>
        </p:blipFill>
        <p:spPr>
          <a:xfrm>
            <a:off x="3903409" y="3266376"/>
            <a:ext cx="134549" cy="195707"/>
          </a:xfrm>
          <a:prstGeom prst="rect">
            <a:avLst/>
          </a:prstGeom>
        </p:spPr>
      </p:pic>
      <p:sp>
        <p:nvSpPr>
          <p:cNvPr id="38" name="TextBox 37"/>
          <p:cNvSpPr txBox="1"/>
          <p:nvPr/>
        </p:nvSpPr>
        <p:spPr>
          <a:xfrm>
            <a:off x="4078518" y="3276600"/>
            <a:ext cx="586519" cy="194310"/>
          </a:xfrm>
          <a:prstGeom prst="rect">
            <a:avLst/>
          </a:prstGeom>
          <a:noFill/>
        </p:spPr>
        <p:txBody>
          <a:bodyPr wrap="none" lIns="0" rIns="0" tIns="0" bIns="0">
            <a:spAutoFit/>
          </a:bodyPr>
          <a:lstStyle/>
          <a:p>
            <a:r>
              <a:rPr sz="1150" b="0">
                <a:solidFill>
                  <a:srgbClr val="2E2E2E"/>
                </a:solidFill>
                <a:latin typeface="Calibri"/>
              </a:rPr>
              <a:t>of value.</a:t>
            </a:r>
          </a:p>
        </p:txBody>
      </p:sp>
      <p:sp>
        <p:nvSpPr>
          <p:cNvPr id="39" name="TextBox 38"/>
          <p:cNvSpPr txBox="1"/>
          <p:nvPr/>
        </p:nvSpPr>
        <p:spPr>
          <a:xfrm>
            <a:off x="6305550" y="3276600"/>
            <a:ext cx="1083431" cy="194310"/>
          </a:xfrm>
          <a:prstGeom prst="rect">
            <a:avLst/>
          </a:prstGeom>
          <a:noFill/>
        </p:spPr>
        <p:txBody>
          <a:bodyPr wrap="none" lIns="0" rIns="0" tIns="0" bIns="0">
            <a:spAutoFit/>
          </a:bodyPr>
          <a:lstStyle/>
          <a:p>
            <a:r>
              <a:rPr sz="1150" b="0">
                <a:solidFill>
                  <a:srgbClr val="2E2E2E"/>
                </a:solidFill>
                <a:latin typeface="Calibri"/>
              </a:rPr>
              <a:t>▪ Lead with U.S. (</a:t>
            </a:r>
          </a:p>
        </p:txBody>
      </p:sp>
      <p:pic>
        <p:nvPicPr>
          <p:cNvPr id="40" name="Picture 39" descr="lock.png"/>
          <p:cNvPicPr>
            <a:picLocks noChangeAspect="1"/>
          </p:cNvPicPr>
          <p:nvPr/>
        </p:nvPicPr>
        <p:blipFill>
          <a:blip r:embed="rId4"/>
          <a:stretch>
            <a:fillRect/>
          </a:stretch>
        </p:blipFill>
        <p:spPr>
          <a:xfrm>
            <a:off x="7338135" y="3266376"/>
            <a:ext cx="134549" cy="195707"/>
          </a:xfrm>
          <a:prstGeom prst="rect">
            <a:avLst/>
          </a:prstGeom>
        </p:spPr>
      </p:pic>
      <p:sp>
        <p:nvSpPr>
          <p:cNvPr id="41" name="TextBox 40"/>
          <p:cNvSpPr txBox="1"/>
          <p:nvPr/>
        </p:nvSpPr>
        <p:spPr>
          <a:xfrm>
            <a:off x="7513244" y="3276600"/>
            <a:ext cx="1772319" cy="194310"/>
          </a:xfrm>
          <a:prstGeom prst="rect">
            <a:avLst/>
          </a:prstGeom>
          <a:noFill/>
        </p:spPr>
        <p:txBody>
          <a:bodyPr wrap="none" lIns="0" rIns="0" tIns="0" bIns="0">
            <a:spAutoFit/>
          </a:bodyPr>
          <a:lstStyle/>
          <a:p>
            <a:r>
              <a:rPr sz="1150" b="0">
                <a:solidFill>
                  <a:srgbClr val="2E2E2E"/>
                </a:solidFill>
                <a:latin typeface="Calibri"/>
              </a:rPr>
              <a:t>); capture upside in Canada (</a:t>
            </a:r>
          </a:p>
        </p:txBody>
      </p:sp>
      <p:pic>
        <p:nvPicPr>
          <p:cNvPr id="42" name="Picture 41" descr="lock.png"/>
          <p:cNvPicPr>
            <a:picLocks noChangeAspect="1"/>
          </p:cNvPicPr>
          <p:nvPr/>
        </p:nvPicPr>
        <p:blipFill>
          <a:blip r:embed="rId4"/>
          <a:stretch>
            <a:fillRect/>
          </a:stretch>
        </p:blipFill>
        <p:spPr>
          <a:xfrm>
            <a:off x="9234718" y="3266376"/>
            <a:ext cx="134549" cy="195707"/>
          </a:xfrm>
          <a:prstGeom prst="rect">
            <a:avLst/>
          </a:prstGeom>
        </p:spPr>
      </p:pic>
      <p:sp>
        <p:nvSpPr>
          <p:cNvPr id="43" name="TextBox 42"/>
          <p:cNvSpPr txBox="1"/>
          <p:nvPr/>
        </p:nvSpPr>
        <p:spPr>
          <a:xfrm>
            <a:off x="9409827" y="327660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4" name="TextBox 43"/>
          <p:cNvSpPr txBox="1"/>
          <p:nvPr/>
        </p:nvSpPr>
        <p:spPr>
          <a:xfrm>
            <a:off x="276225" y="4972050"/>
            <a:ext cx="2461778" cy="194310"/>
          </a:xfrm>
          <a:prstGeom prst="rect">
            <a:avLst/>
          </a:prstGeom>
          <a:noFill/>
        </p:spPr>
        <p:txBody>
          <a:bodyPr wrap="none" lIns="0" rIns="0" tIns="0" bIns="0">
            <a:spAutoFit/>
          </a:bodyPr>
          <a:lstStyle/>
          <a:p>
            <a:r>
              <a:rPr sz="1150" b="0">
                <a:solidFill>
                  <a:srgbClr val="2E2E2E"/>
                </a:solidFill>
                <a:latin typeface="Calibri"/>
              </a:rPr>
              <a:t>▪ Senior Dog Cognitive Supplement adds</a:t>
            </a:r>
          </a:p>
        </p:txBody>
      </p:sp>
      <p:pic>
        <p:nvPicPr>
          <p:cNvPr id="45" name="Picture 44" descr="lock.png"/>
          <p:cNvPicPr>
            <a:picLocks noChangeAspect="1"/>
          </p:cNvPicPr>
          <p:nvPr/>
        </p:nvPicPr>
        <p:blipFill>
          <a:blip r:embed="rId4"/>
          <a:stretch>
            <a:fillRect/>
          </a:stretch>
        </p:blipFill>
        <p:spPr>
          <a:xfrm>
            <a:off x="2687157" y="4961826"/>
            <a:ext cx="134549" cy="195707"/>
          </a:xfrm>
          <a:prstGeom prst="rect">
            <a:avLst/>
          </a:prstGeom>
        </p:spPr>
      </p:pic>
      <p:sp>
        <p:nvSpPr>
          <p:cNvPr id="46" name="TextBox 45"/>
          <p:cNvSpPr txBox="1"/>
          <p:nvPr/>
        </p:nvSpPr>
        <p:spPr>
          <a:xfrm>
            <a:off x="2862266" y="4972050"/>
            <a:ext cx="1815107"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47" name="Picture 46" descr="lock.png"/>
          <p:cNvPicPr>
            <a:picLocks noChangeAspect="1"/>
          </p:cNvPicPr>
          <p:nvPr/>
        </p:nvPicPr>
        <p:blipFill>
          <a:blip r:embed="rId4"/>
          <a:stretch>
            <a:fillRect/>
          </a:stretch>
        </p:blipFill>
        <p:spPr>
          <a:xfrm>
            <a:off x="4626528" y="4961826"/>
            <a:ext cx="134549" cy="195707"/>
          </a:xfrm>
          <a:prstGeom prst="rect">
            <a:avLst/>
          </a:prstGeom>
        </p:spPr>
      </p:pic>
      <p:sp>
        <p:nvSpPr>
          <p:cNvPr id="48" name="TextBox 47"/>
          <p:cNvSpPr txBox="1"/>
          <p:nvPr/>
        </p:nvSpPr>
        <p:spPr>
          <a:xfrm>
            <a:off x="4801637" y="4972050"/>
            <a:ext cx="822709" cy="194310"/>
          </a:xfrm>
          <a:prstGeom prst="rect">
            <a:avLst/>
          </a:prstGeom>
          <a:noFill/>
        </p:spPr>
        <p:txBody>
          <a:bodyPr wrap="none" lIns="0" rIns="0" tIns="0" bIns="0">
            <a:spAutoFit/>
          </a:bodyPr>
          <a:lstStyle/>
          <a:p>
            <a:r>
              <a:rPr sz="1150" b="0">
                <a:solidFill>
                  <a:srgbClr val="2E2E2E"/>
                </a:solidFill>
                <a:latin typeface="Calibri"/>
              </a:rPr>
              <a:t>× expansion.</a:t>
            </a:r>
          </a:p>
        </p:txBody>
      </p:sp>
      <p:sp>
        <p:nvSpPr>
          <p:cNvPr id="49" name="TextBox 48"/>
          <p:cNvSpPr txBox="1"/>
          <p:nvPr/>
        </p:nvSpPr>
        <p:spPr>
          <a:xfrm>
            <a:off x="276225" y="5199888"/>
            <a:ext cx="6344369" cy="194310"/>
          </a:xfrm>
          <a:prstGeom prst="rect">
            <a:avLst/>
          </a:prstGeom>
          <a:noFill/>
        </p:spPr>
        <p:txBody>
          <a:bodyPr wrap="none" lIns="0" rIns="0" tIns="0" bIns="0">
            <a:spAutoFit/>
          </a:bodyPr>
          <a:lstStyle/>
          <a:p>
            <a:r>
              <a:rPr sz="1150" b="0">
                <a:solidFill>
                  <a:srgbClr val="2E2E2E"/>
                </a:solidFill>
                <a:latin typeface="Calibri"/>
              </a:rPr>
              <a:t>▪ Concentrate resources on the leading segment/country while seeding the fastest-growing pockets early.</a:t>
            </a:r>
          </a:p>
        </p:txBody>
      </p:sp>
      <p:sp>
        <p:nvSpPr>
          <p:cNvPr id="50" name="TextBox 49"/>
          <p:cNvSpPr txBox="1"/>
          <p:nvPr/>
        </p:nvSpPr>
        <p:spPr>
          <a:xfrm>
            <a:off x="276225" y="5427725"/>
            <a:ext cx="4642829" cy="194310"/>
          </a:xfrm>
          <a:prstGeom prst="rect">
            <a:avLst/>
          </a:prstGeom>
          <a:noFill/>
        </p:spPr>
        <p:txBody>
          <a:bodyPr wrap="none" lIns="0" rIns="0" tIns="0" bIns="0">
            <a:spAutoFit/>
          </a:bodyPr>
          <a:lstStyle/>
          <a:p>
            <a:r>
              <a:rPr sz="1150" b="0">
                <a:solidFill>
                  <a:srgbClr val="2E2E2E"/>
                </a:solidFill>
                <a:latin typeface="Calibri"/>
              </a:rPr>
              <a:t>▪ Defend share in 'Capsules and Softgels' as the value anchor of the portfolio.</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10" name="Rounded Rectangle 9"/>
          <p:cNvSpPr/>
          <p:nvPr/>
        </p:nvSpPr>
        <p:spPr>
          <a:xfrm>
            <a:off x="142875" y="981075"/>
            <a:ext cx="3943350"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1" name="Rounded Rectangle 10"/>
          <p:cNvSpPr/>
          <p:nvPr/>
        </p:nvSpPr>
        <p:spPr>
          <a:xfrm>
            <a:off x="4238625"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2" name="Rounded Rectangle 11"/>
          <p:cNvSpPr/>
          <p:nvPr/>
        </p:nvSpPr>
        <p:spPr>
          <a:xfrm>
            <a:off x="8210550"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3" name="Rounded Rectangle 12"/>
          <p:cNvSpPr/>
          <p:nvPr/>
        </p:nvSpPr>
        <p:spPr>
          <a:xfrm>
            <a:off x="142875"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Senior Dog Cognitive Supplement Market Value (US$ Mn) Scenario Forecast, 2025 &amp; 2036</a:t>
            </a:r>
          </a:p>
        </p:txBody>
      </p:sp>
      <p:cxnSp>
        <p:nvCxnSpPr>
          <p:cNvPr id="15" name="Connector 14"/>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6342" y="3426160"/>
            <a:ext cx="635826" cy="879140"/>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43936" y="3090056"/>
            <a:ext cx="635826" cy="1215244"/>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5725" y="2954397"/>
            <a:ext cx="635826" cy="1350903"/>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07515" y="2805113"/>
            <a:ext cx="635826" cy="1500187"/>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456468" y="2956706"/>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851931"/>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2" name="Connector 21"/>
          <p:cNvCxnSpPr/>
          <p:nvPr/>
        </p:nvCxnSpPr>
        <p:spPr>
          <a:xfrm>
            <a:off x="1456468" y="2699531"/>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594756"/>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4" name="Connector 23"/>
          <p:cNvCxnSpPr/>
          <p:nvPr/>
        </p:nvCxnSpPr>
        <p:spPr>
          <a:xfrm>
            <a:off x="1456468" y="2442356"/>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570768" y="2337581"/>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sp>
        <p:nvSpPr>
          <p:cNvPr id="26" name="TextBox 25"/>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7" name="TextBox 26"/>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8" name="Oval 27"/>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30" name="Oval 29"/>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32" name="Oval 31"/>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4" name="Rounded Rectangle 33"/>
          <p:cNvSpPr/>
          <p:nvPr/>
        </p:nvSpPr>
        <p:spPr>
          <a:xfrm>
            <a:off x="6172200"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7450"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Senior Dog Cognitive Supplement Market Attractiveness Analysis By Region, 2026–2036</a:t>
            </a:r>
          </a:p>
        </p:txBody>
      </p:sp>
      <p:graphicFrame>
        <p:nvGraphicFramePr>
          <p:cNvPr id="36" name="Chart 35"/>
          <p:cNvGraphicFramePr>
            <a:graphicFrameLocks noGrp="1"/>
          </p:cNvGraphicFramePr>
          <p:nvPr/>
        </p:nvGraphicFramePr>
        <p:xfrm>
          <a:off x="6267450" y="2266950"/>
          <a:ext cx="5686425" cy="2495550"/>
        </p:xfrm>
        <a:graphic>
          <a:graphicData uri="http://schemas.openxmlformats.org/drawingml/2006/chart">
            <c:chart xmlns:c="http://schemas.openxmlformats.org/drawingml/2006/chart" r:id="rId3"/>
          </a:graphicData>
        </a:graphic>
      </p:graphicFrame>
      <p:sp>
        <p:nvSpPr>
          <p:cNvPr id="37" name="Rounded Rectangle 36"/>
          <p:cNvSpPr/>
          <p:nvPr/>
        </p:nvSpPr>
        <p:spPr>
          <a:xfrm>
            <a:off x="142875" y="4953000"/>
            <a:ext cx="11906250"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B2E4A"/>
                </a:solidFill>
                <a:latin typeface="Calibri"/>
              </a:rPr>
              <a:t>Scenario Assumptions &amp; Outlook</a:t>
            </a:r>
          </a:p>
        </p:txBody>
      </p:sp>
      <p:sp>
        <p:nvSpPr>
          <p:cNvPr id="39" name="Rectangle 38"/>
          <p:cNvSpPr/>
          <p:nvPr/>
        </p:nvSpPr>
        <p:spPr>
          <a:xfrm>
            <a:off x="276225" y="52768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2035969" y="1214437"/>
            <a:ext cx="157162" cy="228600"/>
          </a:xfrm>
          <a:prstGeom prst="rect">
            <a:avLst/>
          </a:prstGeom>
        </p:spPr>
      </p:pic>
      <p:pic>
        <p:nvPicPr>
          <p:cNvPr id="43" name="Picture 42" descr="lock.png"/>
          <p:cNvPicPr>
            <a:picLocks noChangeAspect="1"/>
          </p:cNvPicPr>
          <p:nvPr/>
        </p:nvPicPr>
        <p:blipFill>
          <a:blip r:embed="rId5"/>
          <a:stretch>
            <a:fillRect/>
          </a:stretch>
        </p:blipFill>
        <p:spPr>
          <a:xfrm>
            <a:off x="6069806" y="1214437"/>
            <a:ext cx="157162" cy="228600"/>
          </a:xfrm>
          <a:prstGeom prst="rect">
            <a:avLst/>
          </a:prstGeom>
        </p:spPr>
      </p:pic>
      <p:pic>
        <p:nvPicPr>
          <p:cNvPr id="44" name="Picture 43" descr="lock.png"/>
          <p:cNvPicPr>
            <a:picLocks noChangeAspect="1"/>
          </p:cNvPicPr>
          <p:nvPr/>
        </p:nvPicPr>
        <p:blipFill>
          <a:blip r:embed="rId5"/>
          <a:stretch>
            <a:fillRect/>
          </a:stretch>
        </p:blipFill>
        <p:spPr>
          <a:xfrm>
            <a:off x="10041731" y="1214437"/>
            <a:ext cx="157162" cy="228600"/>
          </a:xfrm>
          <a:prstGeom prst="rect">
            <a:avLst/>
          </a:prstGeom>
        </p:spPr>
      </p:pic>
      <p:sp>
        <p:nvSpPr>
          <p:cNvPr id="45" name="TextBox 44"/>
          <p:cNvSpPr txBox="1"/>
          <p:nvPr/>
        </p:nvSpPr>
        <p:spPr>
          <a:xfrm>
            <a:off x="1637332" y="1028326"/>
            <a:ext cx="1030634" cy="166573"/>
          </a:xfrm>
          <a:prstGeom prst="rect">
            <a:avLst/>
          </a:prstGeom>
          <a:noFill/>
        </p:spPr>
        <p:txBody>
          <a:bodyPr wrap="none" lIns="0" rIns="0" tIns="0" bIns="0">
            <a:spAutoFit/>
          </a:bodyPr>
          <a:lstStyle/>
          <a:p>
            <a:r>
              <a:rPr sz="968" b="1">
                <a:solidFill>
                  <a:srgbClr val="6C7A89"/>
                </a:solidFill>
                <a:latin typeface="Calibri"/>
              </a:rPr>
              <a:t>OPTIMISTIC (2036)</a:t>
            </a:r>
          </a:p>
        </p:txBody>
      </p:sp>
      <p:sp>
        <p:nvSpPr>
          <p:cNvPr id="46" name="TextBox 45"/>
          <p:cNvSpPr txBox="1"/>
          <p:nvPr/>
        </p:nvSpPr>
        <p:spPr>
          <a:xfrm>
            <a:off x="1906321"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7" name="Picture 46" descr="lock.png"/>
          <p:cNvPicPr>
            <a:picLocks noChangeAspect="1"/>
          </p:cNvPicPr>
          <p:nvPr/>
        </p:nvPicPr>
        <p:blipFill>
          <a:blip r:embed="rId5"/>
          <a:stretch>
            <a:fillRect/>
          </a:stretch>
        </p:blipFill>
        <p:spPr>
          <a:xfrm>
            <a:off x="2208575" y="1473019"/>
            <a:ext cx="113255" cy="164734"/>
          </a:xfrm>
          <a:prstGeom prst="rect">
            <a:avLst/>
          </a:prstGeom>
        </p:spPr>
      </p:pic>
      <p:sp>
        <p:nvSpPr>
          <p:cNvPr id="48" name="TextBox 47"/>
          <p:cNvSpPr txBox="1"/>
          <p:nvPr/>
        </p:nvSpPr>
        <p:spPr>
          <a:xfrm>
            <a:off x="5807156" y="1028326"/>
            <a:ext cx="758662" cy="166573"/>
          </a:xfrm>
          <a:prstGeom prst="rect">
            <a:avLst/>
          </a:prstGeom>
          <a:noFill/>
        </p:spPr>
        <p:txBody>
          <a:bodyPr wrap="none" lIns="0" rIns="0" tIns="0" bIns="0">
            <a:spAutoFit/>
          </a:bodyPr>
          <a:lstStyle/>
          <a:p>
            <a:r>
              <a:rPr sz="968" b="1">
                <a:solidFill>
                  <a:srgbClr val="6C7A89"/>
                </a:solidFill>
                <a:latin typeface="Calibri"/>
              </a:rPr>
              <a:t>LIKELY (2036)</a:t>
            </a:r>
          </a:p>
        </p:txBody>
      </p:sp>
      <p:sp>
        <p:nvSpPr>
          <p:cNvPr id="49" name="TextBox 48"/>
          <p:cNvSpPr txBox="1"/>
          <p:nvPr/>
        </p:nvSpPr>
        <p:spPr>
          <a:xfrm>
            <a:off x="5940158"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0" name="Picture 49" descr="lock.png"/>
          <p:cNvPicPr>
            <a:picLocks noChangeAspect="1"/>
          </p:cNvPicPr>
          <p:nvPr/>
        </p:nvPicPr>
        <p:blipFill>
          <a:blip r:embed="rId5"/>
          <a:stretch>
            <a:fillRect/>
          </a:stretch>
        </p:blipFill>
        <p:spPr>
          <a:xfrm>
            <a:off x="6242412" y="1473019"/>
            <a:ext cx="113255" cy="164734"/>
          </a:xfrm>
          <a:prstGeom prst="rect">
            <a:avLst/>
          </a:prstGeom>
        </p:spPr>
      </p:pic>
      <p:sp>
        <p:nvSpPr>
          <p:cNvPr id="51" name="TextBox 50"/>
          <p:cNvSpPr txBox="1"/>
          <p:nvPr/>
        </p:nvSpPr>
        <p:spPr>
          <a:xfrm>
            <a:off x="9548094" y="1028326"/>
            <a:ext cx="1220636" cy="166573"/>
          </a:xfrm>
          <a:prstGeom prst="rect">
            <a:avLst/>
          </a:prstGeom>
          <a:noFill/>
        </p:spPr>
        <p:txBody>
          <a:bodyPr wrap="none" lIns="0" rIns="0" tIns="0" bIns="0">
            <a:spAutoFit/>
          </a:bodyPr>
          <a:lstStyle/>
          <a:p>
            <a:r>
              <a:rPr sz="968" b="1">
                <a:solidFill>
                  <a:srgbClr val="6C7A89"/>
                </a:solidFill>
                <a:latin typeface="Calibri"/>
              </a:rPr>
              <a:t>CONSERVATIVE (2036)</a:t>
            </a:r>
          </a:p>
        </p:txBody>
      </p:sp>
      <p:sp>
        <p:nvSpPr>
          <p:cNvPr id="52" name="TextBox 51"/>
          <p:cNvSpPr txBox="1"/>
          <p:nvPr/>
        </p:nvSpPr>
        <p:spPr>
          <a:xfrm>
            <a:off x="9912083"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3" name="Picture 52" descr="lock.png"/>
          <p:cNvPicPr>
            <a:picLocks noChangeAspect="1"/>
          </p:cNvPicPr>
          <p:nvPr/>
        </p:nvPicPr>
        <p:blipFill>
          <a:blip r:embed="rId5"/>
          <a:stretch>
            <a:fillRect/>
          </a:stretch>
        </p:blipFill>
        <p:spPr>
          <a:xfrm>
            <a:off x="10214337" y="1473019"/>
            <a:ext cx="113255" cy="164734"/>
          </a:xfrm>
          <a:prstGeom prst="rect">
            <a:avLst/>
          </a:prstGeom>
        </p:spPr>
      </p:pic>
      <p:sp>
        <p:nvSpPr>
          <p:cNvPr id="54" name="TextBox 53"/>
          <p:cNvSpPr txBox="1"/>
          <p:nvPr/>
        </p:nvSpPr>
        <p:spPr>
          <a:xfrm>
            <a:off x="2032418" y="2886297"/>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878082"/>
            <a:ext cx="108107" cy="157246"/>
          </a:xfrm>
          <a:prstGeom prst="rect">
            <a:avLst/>
          </a:prstGeom>
        </p:spPr>
      </p:pic>
      <p:sp>
        <p:nvSpPr>
          <p:cNvPr id="56" name="TextBox 55"/>
          <p:cNvSpPr txBox="1"/>
          <p:nvPr/>
        </p:nvSpPr>
        <p:spPr>
          <a:xfrm>
            <a:off x="2032418" y="2629122"/>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620907"/>
            <a:ext cx="108107" cy="157246"/>
          </a:xfrm>
          <a:prstGeom prst="rect">
            <a:avLst/>
          </a:prstGeom>
        </p:spPr>
      </p:pic>
      <p:sp>
        <p:nvSpPr>
          <p:cNvPr id="58" name="TextBox 57"/>
          <p:cNvSpPr txBox="1"/>
          <p:nvPr/>
        </p:nvSpPr>
        <p:spPr>
          <a:xfrm>
            <a:off x="2032418" y="2371947"/>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9" name="Picture 58" descr="lock.png"/>
          <p:cNvPicPr>
            <a:picLocks noChangeAspect="1"/>
          </p:cNvPicPr>
          <p:nvPr/>
        </p:nvPicPr>
        <p:blipFill>
          <a:blip r:embed="rId5"/>
          <a:stretch>
            <a:fillRect/>
          </a:stretch>
        </p:blipFill>
        <p:spPr>
          <a:xfrm>
            <a:off x="2358973" y="2363732"/>
            <a:ext cx="108107" cy="157246"/>
          </a:xfrm>
          <a:prstGeom prst="rect">
            <a:avLst/>
          </a:prstGeom>
        </p:spPr>
      </p:pic>
      <p:sp>
        <p:nvSpPr>
          <p:cNvPr id="60" name="TextBox 59"/>
          <p:cNvSpPr txBox="1"/>
          <p:nvPr/>
        </p:nvSpPr>
        <p:spPr>
          <a:xfrm>
            <a:off x="276225" y="5372100"/>
            <a:ext cx="808161" cy="194310"/>
          </a:xfrm>
          <a:prstGeom prst="rect">
            <a:avLst/>
          </a:prstGeom>
          <a:noFill/>
        </p:spPr>
        <p:txBody>
          <a:bodyPr wrap="none" lIns="0" rIns="0" tIns="0" bIns="0">
            <a:spAutoFit/>
          </a:bodyPr>
          <a:lstStyle/>
          <a:p>
            <a:r>
              <a:rPr sz="1150" b="0">
                <a:solidFill>
                  <a:srgbClr val="2E2E2E"/>
                </a:solidFill>
                <a:latin typeface="Calibri"/>
              </a:rPr>
              <a:t>▪ Optimistic:</a:t>
            </a:r>
          </a:p>
        </p:txBody>
      </p:sp>
      <p:pic>
        <p:nvPicPr>
          <p:cNvPr id="61" name="Picture 60" descr="lock.png"/>
          <p:cNvPicPr>
            <a:picLocks noChangeAspect="1"/>
          </p:cNvPicPr>
          <p:nvPr/>
        </p:nvPicPr>
        <p:blipFill>
          <a:blip r:embed="rId5"/>
          <a:stretch>
            <a:fillRect/>
          </a:stretch>
        </p:blipFill>
        <p:spPr>
          <a:xfrm>
            <a:off x="1033540" y="5361876"/>
            <a:ext cx="134549" cy="195707"/>
          </a:xfrm>
          <a:prstGeom prst="rect">
            <a:avLst/>
          </a:prstGeom>
        </p:spPr>
      </p:pic>
      <p:sp>
        <p:nvSpPr>
          <p:cNvPr id="62" name="TextBox 61"/>
          <p:cNvSpPr txBox="1"/>
          <p:nvPr/>
        </p:nvSpPr>
        <p:spPr>
          <a:xfrm>
            <a:off x="1208649" y="5372100"/>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3" name="Picture 62" descr="lock.png"/>
          <p:cNvPicPr>
            <a:picLocks noChangeAspect="1"/>
          </p:cNvPicPr>
          <p:nvPr/>
        </p:nvPicPr>
        <p:blipFill>
          <a:blip r:embed="rId5"/>
          <a:stretch>
            <a:fillRect/>
          </a:stretch>
        </p:blipFill>
        <p:spPr>
          <a:xfrm>
            <a:off x="2361612" y="5361876"/>
            <a:ext cx="134549" cy="195707"/>
          </a:xfrm>
          <a:prstGeom prst="rect">
            <a:avLst/>
          </a:prstGeom>
        </p:spPr>
      </p:pic>
      <p:sp>
        <p:nvSpPr>
          <p:cNvPr id="64" name="TextBox 63"/>
          <p:cNvSpPr txBox="1"/>
          <p:nvPr/>
        </p:nvSpPr>
        <p:spPr>
          <a:xfrm>
            <a:off x="2536721" y="5372100"/>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5" name="TextBox 64"/>
          <p:cNvSpPr txBox="1"/>
          <p:nvPr/>
        </p:nvSpPr>
        <p:spPr>
          <a:xfrm>
            <a:off x="276225" y="5599938"/>
            <a:ext cx="1448271" cy="194310"/>
          </a:xfrm>
          <a:prstGeom prst="rect">
            <a:avLst/>
          </a:prstGeom>
          <a:noFill/>
        </p:spPr>
        <p:txBody>
          <a:bodyPr wrap="none" lIns="0" rIns="0" tIns="0" bIns="0">
            <a:spAutoFit/>
          </a:bodyPr>
          <a:lstStyle/>
          <a:p>
            <a:r>
              <a:rPr sz="1150" b="0">
                <a:solidFill>
                  <a:srgbClr val="2E2E2E"/>
                </a:solidFill>
                <a:latin typeface="Calibri"/>
              </a:rPr>
              <a:t>▪ Likely (base forecast):</a:t>
            </a:r>
          </a:p>
        </p:txBody>
      </p:sp>
      <p:pic>
        <p:nvPicPr>
          <p:cNvPr id="66" name="Picture 65" descr="lock.png"/>
          <p:cNvPicPr>
            <a:picLocks noChangeAspect="1"/>
          </p:cNvPicPr>
          <p:nvPr/>
        </p:nvPicPr>
        <p:blipFill>
          <a:blip r:embed="rId5"/>
          <a:stretch>
            <a:fillRect/>
          </a:stretch>
        </p:blipFill>
        <p:spPr>
          <a:xfrm>
            <a:off x="1673650" y="5589714"/>
            <a:ext cx="134549" cy="195707"/>
          </a:xfrm>
          <a:prstGeom prst="rect">
            <a:avLst/>
          </a:prstGeom>
        </p:spPr>
      </p:pic>
      <p:sp>
        <p:nvSpPr>
          <p:cNvPr id="67" name="TextBox 66"/>
          <p:cNvSpPr txBox="1"/>
          <p:nvPr/>
        </p:nvSpPr>
        <p:spPr>
          <a:xfrm>
            <a:off x="1848759" y="5599938"/>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68" name="Picture 67" descr="lock.png"/>
          <p:cNvPicPr>
            <a:picLocks noChangeAspect="1"/>
          </p:cNvPicPr>
          <p:nvPr/>
        </p:nvPicPr>
        <p:blipFill>
          <a:blip r:embed="rId5"/>
          <a:stretch>
            <a:fillRect/>
          </a:stretch>
        </p:blipFill>
        <p:spPr>
          <a:xfrm>
            <a:off x="2495966" y="5589714"/>
            <a:ext cx="134549" cy="195707"/>
          </a:xfrm>
          <a:prstGeom prst="rect">
            <a:avLst/>
          </a:prstGeom>
        </p:spPr>
      </p:pic>
      <p:sp>
        <p:nvSpPr>
          <p:cNvPr id="69" name="TextBox 68"/>
          <p:cNvSpPr txBox="1"/>
          <p:nvPr/>
        </p:nvSpPr>
        <p:spPr>
          <a:xfrm>
            <a:off x="2671076" y="5599938"/>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0" name="TextBox 69"/>
          <p:cNvSpPr txBox="1"/>
          <p:nvPr/>
        </p:nvSpPr>
        <p:spPr>
          <a:xfrm>
            <a:off x="276225" y="5827775"/>
            <a:ext cx="969615" cy="194310"/>
          </a:xfrm>
          <a:prstGeom prst="rect">
            <a:avLst/>
          </a:prstGeom>
          <a:noFill/>
        </p:spPr>
        <p:txBody>
          <a:bodyPr wrap="none" lIns="0" rIns="0" tIns="0" bIns="0">
            <a:spAutoFit/>
          </a:bodyPr>
          <a:lstStyle/>
          <a:p>
            <a:r>
              <a:rPr sz="1150" b="0">
                <a:solidFill>
                  <a:srgbClr val="2E2E2E"/>
                </a:solidFill>
                <a:latin typeface="Calibri"/>
              </a:rPr>
              <a:t>▪ Conservative:</a:t>
            </a:r>
          </a:p>
        </p:txBody>
      </p:sp>
      <p:pic>
        <p:nvPicPr>
          <p:cNvPr id="71" name="Picture 70" descr="lock.png"/>
          <p:cNvPicPr>
            <a:picLocks noChangeAspect="1"/>
          </p:cNvPicPr>
          <p:nvPr/>
        </p:nvPicPr>
        <p:blipFill>
          <a:blip r:embed="rId5"/>
          <a:stretch>
            <a:fillRect/>
          </a:stretch>
        </p:blipFill>
        <p:spPr>
          <a:xfrm>
            <a:off x="1194994" y="5817552"/>
            <a:ext cx="134549" cy="195707"/>
          </a:xfrm>
          <a:prstGeom prst="rect">
            <a:avLst/>
          </a:prstGeom>
        </p:spPr>
      </p:pic>
      <p:sp>
        <p:nvSpPr>
          <p:cNvPr id="72" name="TextBox 71"/>
          <p:cNvSpPr txBox="1"/>
          <p:nvPr/>
        </p:nvSpPr>
        <p:spPr>
          <a:xfrm>
            <a:off x="1370103" y="5827775"/>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73" name="Picture 72" descr="lock.png"/>
          <p:cNvPicPr>
            <a:picLocks noChangeAspect="1"/>
          </p:cNvPicPr>
          <p:nvPr/>
        </p:nvPicPr>
        <p:blipFill>
          <a:blip r:embed="rId5"/>
          <a:stretch>
            <a:fillRect/>
          </a:stretch>
        </p:blipFill>
        <p:spPr>
          <a:xfrm>
            <a:off x="2017310" y="5817552"/>
            <a:ext cx="134549" cy="195707"/>
          </a:xfrm>
          <a:prstGeom prst="rect">
            <a:avLst/>
          </a:prstGeom>
        </p:spPr>
      </p:pic>
      <p:sp>
        <p:nvSpPr>
          <p:cNvPr id="74" name="TextBox 73"/>
          <p:cNvSpPr txBox="1"/>
          <p:nvPr/>
        </p:nvSpPr>
        <p:spPr>
          <a:xfrm>
            <a:off x="2192420" y="58277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5" name="TextBox 74"/>
          <p:cNvSpPr txBox="1"/>
          <p:nvPr/>
        </p:nvSpPr>
        <p:spPr>
          <a:xfrm>
            <a:off x="276225" y="6055613"/>
            <a:ext cx="3660130"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a:t>
            </a:r>
          </a:p>
        </p:txBody>
      </p:sp>
      <p:pic>
        <p:nvPicPr>
          <p:cNvPr id="76" name="Picture 75" descr="lock.png"/>
          <p:cNvPicPr>
            <a:picLocks noChangeAspect="1"/>
          </p:cNvPicPr>
          <p:nvPr/>
        </p:nvPicPr>
        <p:blipFill>
          <a:blip r:embed="rId5"/>
          <a:stretch>
            <a:fillRect/>
          </a:stretch>
        </p:blipFill>
        <p:spPr>
          <a:xfrm>
            <a:off x="3885509" y="6045390"/>
            <a:ext cx="134549" cy="195707"/>
          </a:xfrm>
          <a:prstGeom prst="rect">
            <a:avLst/>
          </a:prstGeom>
        </p:spPr>
      </p:pic>
      <p:sp>
        <p:nvSpPr>
          <p:cNvPr id="77" name="TextBox 76"/>
          <p:cNvSpPr txBox="1"/>
          <p:nvPr/>
        </p:nvSpPr>
        <p:spPr>
          <a:xfrm>
            <a:off x="4060618" y="6055613"/>
            <a:ext cx="1900683" cy="194310"/>
          </a:xfrm>
          <a:prstGeom prst="rect">
            <a:avLst/>
          </a:prstGeom>
          <a:noFill/>
        </p:spPr>
        <p:txBody>
          <a:bodyPr wrap="none" lIns="0" rIns="0" tIns="0" bIns="0">
            <a:spAutoFit/>
          </a:bodyPr>
          <a:lstStyle/>
          <a:p>
            <a:r>
              <a:rPr sz="1150" b="0">
                <a:solidFill>
                  <a:srgbClr val="2E2E2E"/>
                </a:solidFill>
                <a:latin typeface="Calibri"/>
              </a:rPr>
              <a:t>across the 2026–2036 horizon.</a:t>
            </a:r>
          </a:p>
        </p:txBody>
      </p:sp>
      <p:sp>
        <p:nvSpPr>
          <p:cNvPr id="78" name="lockshield_36"/>
          <p:cNvSpPr/>
          <p:nvPr/>
        </p:nvSpPr>
        <p:spPr>
          <a:xfrm>
            <a:off x="6267450" y="2266950"/>
            <a:ext cx="5686425" cy="2495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B3C8C"/>
                </a:solidFill>
                <a:latin typeface="Calibri"/>
              </a:rPr>
              <a:t>North America Market Analysis By Country</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North America Senior Dog Cognitive Supplement – Country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Country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Senior Dog Cognitive Supplement – Country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2 countries, highlighting where value concentrates,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Country view breaks the North America market down geographically. Each country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Country</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U.S.</a:t>
            </a:r>
          </a:p>
        </p:txBody>
      </p:sp>
      <p:sp>
        <p:nvSpPr>
          <p:cNvPr id="22" name="Rectangle 21"/>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3" name="Rectangle 22"/>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4" name="Rectangle 23"/>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5" name="Oval 24"/>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Canada</a:t>
            </a:r>
          </a:p>
        </p:txBody>
      </p:sp>
      <p:sp>
        <p:nvSpPr>
          <p:cNvPr id="29" name="Rectangle 28"/>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0" name="Rectangle 29"/>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1" name="Rectangle 30"/>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2" name="Oval 31"/>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5" name="Rectangle 3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7" name="Rounded Rectangle 3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Country Insights</a:t>
            </a:r>
          </a:p>
        </p:txBody>
      </p:sp>
      <p:sp>
        <p:nvSpPr>
          <p:cNvPr id="39" name="Rectangle 3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1" name="Rounded Rectangle 4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Country Overview</a:t>
            </a:r>
          </a:p>
        </p:txBody>
      </p:sp>
      <p:sp>
        <p:nvSpPr>
          <p:cNvPr id="43" name="Rectangle 4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By Country split shows where market value concentrates and where growth is fastest.</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demand and access dynamics are rebalancing the geographic mix through 2036.</a:t>
            </a:r>
          </a:p>
        </p:txBody>
      </p:sp>
      <p:sp>
        <p:nvSpPr>
          <p:cNvPr id="45" name="Rectangle 4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7" name="TextBox 4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lock.png"/>
          <p:cNvPicPr>
            <a:picLocks noChangeAspect="1"/>
          </p:cNvPicPr>
          <p:nvPr/>
        </p:nvPicPr>
        <p:blipFill>
          <a:blip r:embed="rId4"/>
          <a:stretch>
            <a:fillRect/>
          </a:stretch>
        </p:blipFill>
        <p:spPr>
          <a:xfrm>
            <a:off x="4250888" y="2339922"/>
            <a:ext cx="175498" cy="255270"/>
          </a:xfrm>
          <a:prstGeom prst="rect">
            <a:avLst/>
          </a:prstGeom>
        </p:spPr>
      </p:pic>
      <p:pic>
        <p:nvPicPr>
          <p:cNvPr id="50" name="Picture 49" descr="lock.png"/>
          <p:cNvPicPr>
            <a:picLocks noChangeAspect="1"/>
          </p:cNvPicPr>
          <p:nvPr/>
        </p:nvPicPr>
        <p:blipFill>
          <a:blip r:embed="rId4"/>
          <a:stretch>
            <a:fillRect/>
          </a:stretch>
        </p:blipFill>
        <p:spPr>
          <a:xfrm>
            <a:off x="4250888" y="2832772"/>
            <a:ext cx="175498" cy="255270"/>
          </a:xfrm>
          <a:prstGeom prst="rect">
            <a:avLst/>
          </a:prstGeom>
        </p:spPr>
      </p:pic>
      <p:pic>
        <p:nvPicPr>
          <p:cNvPr id="51" name="Picture 50" descr="lock.png"/>
          <p:cNvPicPr>
            <a:picLocks noChangeAspect="1"/>
          </p:cNvPicPr>
          <p:nvPr/>
        </p:nvPicPr>
        <p:blipFill>
          <a:blip r:embed="rId4"/>
          <a:stretch>
            <a:fillRect/>
          </a:stretch>
        </p:blipFill>
        <p:spPr>
          <a:xfrm>
            <a:off x="4250888" y="3325622"/>
            <a:ext cx="175498" cy="255270"/>
          </a:xfrm>
          <a:prstGeom prst="rect">
            <a:avLst/>
          </a:prstGeom>
        </p:spPr>
      </p:pic>
      <p:pic>
        <p:nvPicPr>
          <p:cNvPr id="52" name="Picture 51" descr="lock.png"/>
          <p:cNvPicPr>
            <a:picLocks noChangeAspect="1"/>
          </p:cNvPicPr>
          <p:nvPr/>
        </p:nvPicPr>
        <p:blipFill>
          <a:blip r:embed="rId4"/>
          <a:stretch>
            <a:fillRect/>
          </a:stretch>
        </p:blipFill>
        <p:spPr>
          <a:xfrm>
            <a:off x="9308663" y="2339922"/>
            <a:ext cx="175498" cy="255270"/>
          </a:xfrm>
          <a:prstGeom prst="rect">
            <a:avLst/>
          </a:prstGeom>
        </p:spPr>
      </p:pic>
      <p:pic>
        <p:nvPicPr>
          <p:cNvPr id="53" name="Picture 52" descr="lock.png"/>
          <p:cNvPicPr>
            <a:picLocks noChangeAspect="1"/>
          </p:cNvPicPr>
          <p:nvPr/>
        </p:nvPicPr>
        <p:blipFill>
          <a:blip r:embed="rId4"/>
          <a:stretch>
            <a:fillRect/>
          </a:stretch>
        </p:blipFill>
        <p:spPr>
          <a:xfrm>
            <a:off x="9308663" y="2832772"/>
            <a:ext cx="175498" cy="255270"/>
          </a:xfrm>
          <a:prstGeom prst="rect">
            <a:avLst/>
          </a:prstGeom>
        </p:spPr>
      </p:pic>
      <p:pic>
        <p:nvPicPr>
          <p:cNvPr id="54" name="Picture 53" descr="lock.png"/>
          <p:cNvPicPr>
            <a:picLocks noChangeAspect="1"/>
          </p:cNvPicPr>
          <p:nvPr/>
        </p:nvPicPr>
        <p:blipFill>
          <a:blip r:embed="rId4"/>
          <a:stretch>
            <a:fillRect/>
          </a:stretch>
        </p:blipFill>
        <p:spPr>
          <a:xfrm>
            <a:off x="9308663" y="3325622"/>
            <a:ext cx="175498" cy="255270"/>
          </a:xfrm>
          <a:prstGeom prst="rect">
            <a:avLst/>
          </a:prstGeom>
        </p:spPr>
      </p:pic>
      <p:sp>
        <p:nvSpPr>
          <p:cNvPr id="55" name="TextBox 54"/>
          <p:cNvSpPr txBox="1"/>
          <p:nvPr/>
        </p:nvSpPr>
        <p:spPr>
          <a:xfrm>
            <a:off x="485775" y="4229437"/>
            <a:ext cx="2914650" cy="186689"/>
          </a:xfrm>
          <a:prstGeom prst="rect">
            <a:avLst/>
          </a:prstGeom>
          <a:noFill/>
        </p:spPr>
        <p:txBody>
          <a:bodyPr wrap="none" lIns="0" rIns="0" tIns="0" bIns="0">
            <a:spAutoFit/>
          </a:bodyPr>
          <a:lstStyle/>
          <a:p>
            <a:r>
              <a:rPr sz="1100" b="0">
                <a:solidFill>
                  <a:srgbClr val="2E2E2E"/>
                </a:solidFill>
                <a:latin typeface="Calibri"/>
              </a:rPr>
              <a:t>The U.S. senior dog cognitive supplement market is</a:t>
            </a:r>
          </a:p>
        </p:txBody>
      </p:sp>
      <p:sp>
        <p:nvSpPr>
          <p:cNvPr id="56" name="TextBox 55"/>
          <p:cNvSpPr txBox="1"/>
          <p:nvPr/>
        </p:nvSpPr>
        <p:spPr>
          <a:xfrm>
            <a:off x="485775" y="4397077"/>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57" name="Picture 56" descr="lock.png"/>
          <p:cNvPicPr>
            <a:picLocks noChangeAspect="1"/>
          </p:cNvPicPr>
          <p:nvPr/>
        </p:nvPicPr>
        <p:blipFill>
          <a:blip r:embed="rId4"/>
          <a:stretch>
            <a:fillRect/>
          </a:stretch>
        </p:blipFill>
        <p:spPr>
          <a:xfrm>
            <a:off x="1678376" y="4387298"/>
            <a:ext cx="128699" cy="187198"/>
          </a:xfrm>
          <a:prstGeom prst="rect">
            <a:avLst/>
          </a:prstGeom>
        </p:spPr>
      </p:pic>
      <p:sp>
        <p:nvSpPr>
          <p:cNvPr id="58" name="TextBox 57"/>
          <p:cNvSpPr txBox="1"/>
          <p:nvPr/>
        </p:nvSpPr>
        <p:spPr>
          <a:xfrm>
            <a:off x="1845872" y="4397077"/>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59" name="TextBox 58"/>
          <p:cNvSpPr txBox="1"/>
          <p:nvPr/>
        </p:nvSpPr>
        <p:spPr>
          <a:xfrm>
            <a:off x="485775" y="4564717"/>
            <a:ext cx="2598712" cy="186689"/>
          </a:xfrm>
          <a:prstGeom prst="rect">
            <a:avLst/>
          </a:prstGeom>
          <a:noFill/>
        </p:spPr>
        <p:txBody>
          <a:bodyPr wrap="none" lIns="0" rIns="0" tIns="0" bIns="0">
            <a:spAutoFit/>
          </a:bodyPr>
          <a:lstStyle/>
          <a:p>
            <a:r>
              <a:rPr sz="1100" b="0">
                <a:solidFill>
                  <a:srgbClr val="2E2E2E"/>
                </a:solidFill>
                <a:latin typeface="Calibri"/>
              </a:rPr>
              <a:t>Canada in 2036. Among senior dog cognitive</a:t>
            </a:r>
          </a:p>
        </p:txBody>
      </p:sp>
      <p:sp>
        <p:nvSpPr>
          <p:cNvPr id="60" name="TextBox 59"/>
          <p:cNvSpPr txBox="1"/>
          <p:nvPr/>
        </p:nvSpPr>
        <p:spPr>
          <a:xfrm>
            <a:off x="485775" y="4732357"/>
            <a:ext cx="2705943" cy="186689"/>
          </a:xfrm>
          <a:prstGeom prst="rect">
            <a:avLst/>
          </a:prstGeom>
          <a:noFill/>
        </p:spPr>
        <p:txBody>
          <a:bodyPr wrap="none" lIns="0" rIns="0" tIns="0" bIns="0">
            <a:spAutoFit/>
          </a:bodyPr>
          <a:lstStyle/>
          <a:p>
            <a:r>
              <a:rPr sz="1100" b="0">
                <a:solidFill>
                  <a:srgbClr val="2E2E2E"/>
                </a:solidFill>
                <a:latin typeface="Calibri"/>
              </a:rPr>
              <a:t>supplement by country, Canada is expected to</a:t>
            </a:r>
          </a:p>
        </p:txBody>
      </p:sp>
      <p:sp>
        <p:nvSpPr>
          <p:cNvPr id="61" name="TextBox 60"/>
          <p:cNvSpPr txBox="1"/>
          <p:nvPr/>
        </p:nvSpPr>
        <p:spPr>
          <a:xfrm>
            <a:off x="485775" y="489999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62" name="Picture 61" descr="lock.png"/>
          <p:cNvPicPr>
            <a:picLocks noChangeAspect="1"/>
          </p:cNvPicPr>
          <p:nvPr/>
        </p:nvPicPr>
        <p:blipFill>
          <a:blip r:embed="rId4"/>
          <a:stretch>
            <a:fillRect/>
          </a:stretch>
        </p:blipFill>
        <p:spPr>
          <a:xfrm>
            <a:off x="2108919" y="4890217"/>
            <a:ext cx="128699" cy="187198"/>
          </a:xfrm>
          <a:prstGeom prst="rect">
            <a:avLst/>
          </a:prstGeom>
        </p:spPr>
      </p:pic>
      <p:sp>
        <p:nvSpPr>
          <p:cNvPr id="63" name="TextBox 62"/>
          <p:cNvSpPr txBox="1"/>
          <p:nvPr/>
        </p:nvSpPr>
        <p:spPr>
          <a:xfrm>
            <a:off x="2276415" y="489999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64" name="TextBox 63"/>
          <p:cNvSpPr txBox="1"/>
          <p:nvPr/>
        </p:nvSpPr>
        <p:spPr>
          <a:xfrm>
            <a:off x="485775" y="5067637"/>
            <a:ext cx="482475" cy="186689"/>
          </a:xfrm>
          <a:prstGeom prst="rect">
            <a:avLst/>
          </a:prstGeom>
          <a:noFill/>
        </p:spPr>
        <p:txBody>
          <a:bodyPr wrap="none" lIns="0" rIns="0" tIns="0" bIns="0">
            <a:spAutoFit/>
          </a:bodyPr>
          <a:lstStyle/>
          <a:p>
            <a:r>
              <a:rPr sz="1100" b="0">
                <a:solidFill>
                  <a:srgbClr val="2E2E2E"/>
                </a:solidFill>
                <a:latin typeface="Calibri"/>
              </a:rPr>
              <a:t>period.</a:t>
            </a:r>
          </a:p>
        </p:txBody>
      </p:sp>
      <p:sp>
        <p:nvSpPr>
          <p:cNvPr id="65" name="TextBox 64"/>
          <p:cNvSpPr txBox="1"/>
          <p:nvPr/>
        </p:nvSpPr>
        <p:spPr>
          <a:xfrm>
            <a:off x="485775" y="5285569"/>
            <a:ext cx="2914650" cy="186689"/>
          </a:xfrm>
          <a:prstGeom prst="rect">
            <a:avLst/>
          </a:prstGeom>
          <a:noFill/>
        </p:spPr>
        <p:txBody>
          <a:bodyPr wrap="none" lIns="0" rIns="0" tIns="0" bIns="0">
            <a:spAutoFit/>
          </a:bodyPr>
          <a:lstStyle/>
          <a:p>
            <a:r>
              <a:rPr sz="1100" b="0">
                <a:solidFill>
                  <a:srgbClr val="2E2E2E"/>
                </a:solidFill>
                <a:latin typeface="Calibri"/>
              </a:rPr>
              <a:t>In terms of value share by country, U.S. is expected</a:t>
            </a:r>
          </a:p>
        </p:txBody>
      </p:sp>
      <p:sp>
        <p:nvSpPr>
          <p:cNvPr id="66" name="TextBox 65"/>
          <p:cNvSpPr txBox="1"/>
          <p:nvPr/>
        </p:nvSpPr>
        <p:spPr>
          <a:xfrm>
            <a:off x="485775" y="5453209"/>
            <a:ext cx="1835001" cy="186689"/>
          </a:xfrm>
          <a:prstGeom prst="rect">
            <a:avLst/>
          </a:prstGeom>
          <a:noFill/>
        </p:spPr>
        <p:txBody>
          <a:bodyPr wrap="none" lIns="0" rIns="0" tIns="0" bIns="0">
            <a:spAutoFit/>
          </a:bodyPr>
          <a:lstStyle/>
          <a:p>
            <a:r>
              <a:rPr sz="1100" b="0">
                <a:solidFill>
                  <a:srgbClr val="2E2E2E"/>
                </a:solidFill>
                <a:latin typeface="Calibri"/>
              </a:rPr>
              <a:t>to dominate the market, losing</a:t>
            </a:r>
          </a:p>
        </p:txBody>
      </p:sp>
      <p:pic>
        <p:nvPicPr>
          <p:cNvPr id="67" name="Picture 66" descr="lock.png"/>
          <p:cNvPicPr>
            <a:picLocks noChangeAspect="1"/>
          </p:cNvPicPr>
          <p:nvPr/>
        </p:nvPicPr>
        <p:blipFill>
          <a:blip r:embed="rId4"/>
          <a:stretch>
            <a:fillRect/>
          </a:stretch>
        </p:blipFill>
        <p:spPr>
          <a:xfrm>
            <a:off x="2268827" y="5443430"/>
            <a:ext cx="128699" cy="187198"/>
          </a:xfrm>
          <a:prstGeom prst="rect">
            <a:avLst/>
          </a:prstGeom>
        </p:spPr>
      </p:pic>
      <p:sp>
        <p:nvSpPr>
          <p:cNvPr id="68" name="TextBox 67"/>
          <p:cNvSpPr txBox="1"/>
          <p:nvPr/>
        </p:nvSpPr>
        <p:spPr>
          <a:xfrm>
            <a:off x="2436323" y="5453209"/>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69" name="TextBox 68"/>
          <p:cNvSpPr txBox="1"/>
          <p:nvPr/>
        </p:nvSpPr>
        <p:spPr>
          <a:xfrm>
            <a:off x="485775" y="5620849"/>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70" name="Picture 69" descr="lock.png"/>
          <p:cNvPicPr>
            <a:picLocks noChangeAspect="1"/>
          </p:cNvPicPr>
          <p:nvPr/>
        </p:nvPicPr>
        <p:blipFill>
          <a:blip r:embed="rId4"/>
          <a:stretch>
            <a:fillRect/>
          </a:stretch>
        </p:blipFill>
        <p:spPr>
          <a:xfrm>
            <a:off x="1330764" y="5611070"/>
            <a:ext cx="128699" cy="187198"/>
          </a:xfrm>
          <a:prstGeom prst="rect">
            <a:avLst/>
          </a:prstGeom>
        </p:spPr>
      </p:pic>
      <p:sp>
        <p:nvSpPr>
          <p:cNvPr id="71" name="TextBox 70"/>
          <p:cNvSpPr txBox="1"/>
          <p:nvPr/>
        </p:nvSpPr>
        <p:spPr>
          <a:xfrm>
            <a:off x="1498259" y="562084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72" name="TextBox 71"/>
          <p:cNvSpPr txBox="1"/>
          <p:nvPr/>
        </p:nvSpPr>
        <p:spPr>
          <a:xfrm>
            <a:off x="3838575" y="4229437"/>
            <a:ext cx="453826" cy="186689"/>
          </a:xfrm>
          <a:prstGeom prst="rect">
            <a:avLst/>
          </a:prstGeom>
          <a:noFill/>
        </p:spPr>
        <p:txBody>
          <a:bodyPr wrap="none" lIns="0" rIns="0" tIns="0" bIns="0">
            <a:spAutoFit/>
          </a:bodyPr>
          <a:lstStyle/>
          <a:p>
            <a:r>
              <a:rPr sz="1100" b="0">
                <a:solidFill>
                  <a:srgbClr val="2E2E2E"/>
                </a:solidFill>
                <a:latin typeface="Calibri"/>
              </a:rPr>
              <a:t>● U.S.:</a:t>
            </a:r>
          </a:p>
        </p:txBody>
      </p:sp>
      <p:pic>
        <p:nvPicPr>
          <p:cNvPr id="73" name="Picture 72" descr="lock.png"/>
          <p:cNvPicPr>
            <a:picLocks noChangeAspect="1"/>
          </p:cNvPicPr>
          <p:nvPr/>
        </p:nvPicPr>
        <p:blipFill>
          <a:blip r:embed="rId4"/>
          <a:stretch>
            <a:fillRect/>
          </a:stretch>
        </p:blipFill>
        <p:spPr>
          <a:xfrm>
            <a:off x="4240453" y="4219658"/>
            <a:ext cx="128699" cy="187198"/>
          </a:xfrm>
          <a:prstGeom prst="rect">
            <a:avLst/>
          </a:prstGeom>
        </p:spPr>
      </p:pic>
      <p:sp>
        <p:nvSpPr>
          <p:cNvPr id="74" name="TextBox 73"/>
          <p:cNvSpPr txBox="1"/>
          <p:nvPr/>
        </p:nvSpPr>
        <p:spPr>
          <a:xfrm>
            <a:off x="4407948"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5" name="Picture 74" descr="lock.png"/>
          <p:cNvPicPr>
            <a:picLocks noChangeAspect="1"/>
          </p:cNvPicPr>
          <p:nvPr/>
        </p:nvPicPr>
        <p:blipFill>
          <a:blip r:embed="rId4"/>
          <a:stretch>
            <a:fillRect/>
          </a:stretch>
        </p:blipFill>
        <p:spPr>
          <a:xfrm>
            <a:off x="5267399" y="4219658"/>
            <a:ext cx="128699" cy="187198"/>
          </a:xfrm>
          <a:prstGeom prst="rect">
            <a:avLst/>
          </a:prstGeom>
        </p:spPr>
      </p:pic>
      <p:sp>
        <p:nvSpPr>
          <p:cNvPr id="76" name="TextBox 75"/>
          <p:cNvSpPr txBox="1"/>
          <p:nvPr/>
        </p:nvSpPr>
        <p:spPr>
          <a:xfrm>
            <a:off x="5434895"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77" name="TextBox 76"/>
          <p:cNvSpPr txBox="1"/>
          <p:nvPr/>
        </p:nvSpPr>
        <p:spPr>
          <a:xfrm>
            <a:off x="3838575" y="4447369"/>
            <a:ext cx="651371" cy="186689"/>
          </a:xfrm>
          <a:prstGeom prst="rect">
            <a:avLst/>
          </a:prstGeom>
          <a:noFill/>
        </p:spPr>
        <p:txBody>
          <a:bodyPr wrap="none" lIns="0" rIns="0" tIns="0" bIns="0">
            <a:spAutoFit/>
          </a:bodyPr>
          <a:lstStyle/>
          <a:p>
            <a:r>
              <a:rPr sz="1100" b="0">
                <a:solidFill>
                  <a:srgbClr val="2E2E2E"/>
                </a:solidFill>
                <a:latin typeface="Calibri"/>
              </a:rPr>
              <a:t>● Canada:</a:t>
            </a:r>
          </a:p>
        </p:txBody>
      </p:sp>
      <p:pic>
        <p:nvPicPr>
          <p:cNvPr id="78" name="Picture 77" descr="lock.png"/>
          <p:cNvPicPr>
            <a:picLocks noChangeAspect="1"/>
          </p:cNvPicPr>
          <p:nvPr/>
        </p:nvPicPr>
        <p:blipFill>
          <a:blip r:embed="rId4"/>
          <a:stretch>
            <a:fillRect/>
          </a:stretch>
        </p:blipFill>
        <p:spPr>
          <a:xfrm>
            <a:off x="4437997" y="4437590"/>
            <a:ext cx="128699" cy="187198"/>
          </a:xfrm>
          <a:prstGeom prst="rect">
            <a:avLst/>
          </a:prstGeom>
        </p:spPr>
      </p:pic>
      <p:sp>
        <p:nvSpPr>
          <p:cNvPr id="79" name="TextBox 78"/>
          <p:cNvSpPr txBox="1"/>
          <p:nvPr/>
        </p:nvSpPr>
        <p:spPr>
          <a:xfrm>
            <a:off x="4605493"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0" name="Picture 79" descr="lock.png"/>
          <p:cNvPicPr>
            <a:picLocks noChangeAspect="1"/>
          </p:cNvPicPr>
          <p:nvPr/>
        </p:nvPicPr>
        <p:blipFill>
          <a:blip r:embed="rId4"/>
          <a:stretch>
            <a:fillRect/>
          </a:stretch>
        </p:blipFill>
        <p:spPr>
          <a:xfrm>
            <a:off x="5464943" y="4437590"/>
            <a:ext cx="128699" cy="187198"/>
          </a:xfrm>
          <a:prstGeom prst="rect">
            <a:avLst/>
          </a:prstGeom>
        </p:spPr>
      </p:pic>
      <p:sp>
        <p:nvSpPr>
          <p:cNvPr id="81" name="TextBox 80"/>
          <p:cNvSpPr txBox="1"/>
          <p:nvPr/>
        </p:nvSpPr>
        <p:spPr>
          <a:xfrm>
            <a:off x="5632439"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82" name="TextBox 81"/>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North America market is projected to grow at a</a:t>
            </a:r>
          </a:p>
        </p:txBody>
      </p:sp>
      <p:sp>
        <p:nvSpPr>
          <p:cNvPr id="83" name="TextBox 82"/>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84" name="Picture 83" descr="lock.png"/>
          <p:cNvPicPr>
            <a:picLocks noChangeAspect="1"/>
          </p:cNvPicPr>
          <p:nvPr/>
        </p:nvPicPr>
        <p:blipFill>
          <a:blip r:embed="rId4"/>
          <a:stretch>
            <a:fillRect/>
          </a:stretch>
        </p:blipFill>
        <p:spPr>
          <a:xfrm>
            <a:off x="9048826" y="6007677"/>
            <a:ext cx="134549" cy="195707"/>
          </a:xfrm>
          <a:prstGeom prst="rect">
            <a:avLst/>
          </a:prstGeom>
        </p:spPr>
      </p:pic>
      <p:sp>
        <p:nvSpPr>
          <p:cNvPr id="85" name="TextBox 84"/>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Senior Dog Cognitive Supplement Market Analysis, By Country Volume (MT)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country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2032585"/>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4712970" y="202782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95162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Canada</a:t>
            </a:r>
          </a:p>
        </p:txBody>
      </p:sp>
      <p:sp>
        <p:nvSpPr>
          <p:cNvPr id="18" name="BPS Value 1"/>
          <p:cNvSpPr txBox="1"/>
          <p:nvPr/>
        </p:nvSpPr>
        <p:spPr>
          <a:xfrm>
            <a:off x="6305550" y="201353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551045" y="386614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4712970" y="386138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378518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U.S.</a:t>
            </a:r>
          </a:p>
        </p:txBody>
      </p:sp>
      <p:sp>
        <p:nvSpPr>
          <p:cNvPr id="22" name="BPS Value 2"/>
          <p:cNvSpPr txBox="1"/>
          <p:nvPr/>
        </p:nvSpPr>
        <p:spPr>
          <a:xfrm>
            <a:off x="6305550" y="384709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Rounded Rectangle 22"/>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25" name="Rectangle 24"/>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Rounded Rectangle 26"/>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2000" b="1">
                <a:solidFill>
                  <a:srgbClr val="0E72AE"/>
                </a:solidFill>
                <a:latin typeface="Calibri"/>
              </a:rPr>
              <a:t/>
            </a:r>
          </a:p>
        </p:txBody>
      </p:sp>
      <p:sp>
        <p:nvSpPr>
          <p:cNvPr id="28" name="Rounded Rectangle 27"/>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2000" b="1">
                <a:solidFill>
                  <a:srgbClr val="0E72AE"/>
                </a:solidFill>
                <a:latin typeface="Calibri"/>
              </a:rPr>
              <a:t/>
            </a:r>
          </a:p>
        </p:txBody>
      </p:sp>
      <p:sp>
        <p:nvSpPr>
          <p:cNvPr id="29" name="Rounded Rectangle 28"/>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2368867" y="3171825"/>
            <a:ext cx="275034" cy="400050"/>
          </a:xfrm>
          <a:prstGeom prst="rect">
            <a:avLst/>
          </a:prstGeom>
        </p:spPr>
      </p:pic>
      <p:pic>
        <p:nvPicPr>
          <p:cNvPr id="32" name="Picture 31" descr="lock.png"/>
          <p:cNvPicPr>
            <a:picLocks noChangeAspect="1"/>
          </p:cNvPicPr>
          <p:nvPr/>
        </p:nvPicPr>
        <p:blipFill>
          <a:blip r:embed="rId5"/>
          <a:stretch>
            <a:fillRect/>
          </a:stretch>
        </p:blipFill>
        <p:spPr>
          <a:xfrm>
            <a:off x="10015537" y="6070282"/>
            <a:ext cx="209550" cy="304800"/>
          </a:xfrm>
          <a:prstGeom prst="rect">
            <a:avLst/>
          </a:prstGeom>
        </p:spPr>
      </p:pic>
      <p:sp>
        <p:nvSpPr>
          <p:cNvPr id="33" name="TextBox 32"/>
          <p:cNvSpPr txBox="1"/>
          <p:nvPr/>
        </p:nvSpPr>
        <p:spPr>
          <a:xfrm>
            <a:off x="7239000" y="1400175"/>
            <a:ext cx="4373264" cy="194310"/>
          </a:xfrm>
          <a:prstGeom prst="rect">
            <a:avLst/>
          </a:prstGeom>
          <a:noFill/>
        </p:spPr>
        <p:txBody>
          <a:bodyPr wrap="none" lIns="0" rIns="0" tIns="0" bIns="0">
            <a:spAutoFit/>
          </a:bodyPr>
          <a:lstStyle/>
          <a:p>
            <a:r>
              <a:rPr sz="1150" b="0">
                <a:solidFill>
                  <a:srgbClr val="2E2E2E"/>
                </a:solidFill>
                <a:latin typeface="Calibri"/>
              </a:rPr>
              <a:t>The U.S. senior dog cognitive supplement market is projected to register</a:t>
            </a:r>
          </a:p>
        </p:txBody>
      </p:sp>
      <p:pic>
        <p:nvPicPr>
          <p:cNvPr id="34" name="Picture 33" descr="lock.png"/>
          <p:cNvPicPr>
            <a:picLocks noChangeAspect="1"/>
          </p:cNvPicPr>
          <p:nvPr/>
        </p:nvPicPr>
        <p:blipFill>
          <a:blip r:embed="rId5"/>
          <a:stretch>
            <a:fillRect/>
          </a:stretch>
        </p:blipFill>
        <p:spPr>
          <a:xfrm>
            <a:off x="7224920" y="1565211"/>
            <a:ext cx="134549" cy="195707"/>
          </a:xfrm>
          <a:prstGeom prst="rect">
            <a:avLst/>
          </a:prstGeom>
        </p:spPr>
      </p:pic>
      <p:sp>
        <p:nvSpPr>
          <p:cNvPr id="35" name="TextBox 34"/>
          <p:cNvSpPr txBox="1"/>
          <p:nvPr/>
        </p:nvSpPr>
        <p:spPr>
          <a:xfrm>
            <a:off x="7400029" y="1575435"/>
            <a:ext cx="4016412" cy="194310"/>
          </a:xfrm>
          <a:prstGeom prst="rect">
            <a:avLst/>
          </a:prstGeom>
          <a:noFill/>
        </p:spPr>
        <p:txBody>
          <a:bodyPr wrap="none" lIns="0" rIns="0" tIns="0" bIns="0">
            <a:spAutoFit/>
          </a:bodyPr>
          <a:lstStyle/>
          <a:p>
            <a:r>
              <a:rPr sz="1150" b="0">
                <a:solidFill>
                  <a:srgbClr val="2E2E2E"/>
                </a:solidFill>
                <a:latin typeface="Calibri"/>
              </a:rPr>
              <a:t>X higher volume than Canada in 2036. Among senior dog cognitive</a:t>
            </a:r>
          </a:p>
        </p:txBody>
      </p:sp>
      <p:sp>
        <p:nvSpPr>
          <p:cNvPr id="36" name="TextBox 35"/>
          <p:cNvSpPr txBox="1"/>
          <p:nvPr/>
        </p:nvSpPr>
        <p:spPr>
          <a:xfrm>
            <a:off x="7239000" y="1750695"/>
            <a:ext cx="4530136" cy="194310"/>
          </a:xfrm>
          <a:prstGeom prst="rect">
            <a:avLst/>
          </a:prstGeom>
          <a:noFill/>
        </p:spPr>
        <p:txBody>
          <a:bodyPr wrap="none" lIns="0" rIns="0" tIns="0" bIns="0">
            <a:spAutoFit/>
          </a:bodyPr>
          <a:lstStyle/>
          <a:p>
            <a:r>
              <a:rPr sz="1150" b="0">
                <a:solidFill>
                  <a:srgbClr val="2E2E2E"/>
                </a:solidFill>
                <a:latin typeface="Calibri"/>
              </a:rPr>
              <a:t>supplement by country, Canada is expected to witness the highest CAGR of</a:t>
            </a:r>
          </a:p>
        </p:txBody>
      </p:sp>
      <p:pic>
        <p:nvPicPr>
          <p:cNvPr id="37" name="Picture 36" descr="lock.png"/>
          <p:cNvPicPr>
            <a:picLocks noChangeAspect="1"/>
          </p:cNvPicPr>
          <p:nvPr/>
        </p:nvPicPr>
        <p:blipFill>
          <a:blip r:embed="rId5"/>
          <a:stretch>
            <a:fillRect/>
          </a:stretch>
        </p:blipFill>
        <p:spPr>
          <a:xfrm>
            <a:off x="7224920" y="1915731"/>
            <a:ext cx="134549" cy="195707"/>
          </a:xfrm>
          <a:prstGeom prst="rect">
            <a:avLst/>
          </a:prstGeom>
        </p:spPr>
      </p:pic>
      <p:sp>
        <p:nvSpPr>
          <p:cNvPr id="38" name="TextBox 37"/>
          <p:cNvSpPr txBox="1"/>
          <p:nvPr/>
        </p:nvSpPr>
        <p:spPr>
          <a:xfrm>
            <a:off x="7400029" y="192595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39" name="TextBox 38"/>
          <p:cNvSpPr txBox="1"/>
          <p:nvPr/>
        </p:nvSpPr>
        <p:spPr>
          <a:xfrm>
            <a:off x="7239000" y="2153793"/>
            <a:ext cx="4231493" cy="194310"/>
          </a:xfrm>
          <a:prstGeom prst="rect">
            <a:avLst/>
          </a:prstGeom>
          <a:noFill/>
        </p:spPr>
        <p:txBody>
          <a:bodyPr wrap="none" lIns="0" rIns="0" tIns="0" bIns="0">
            <a:spAutoFit/>
          </a:bodyPr>
          <a:lstStyle/>
          <a:p>
            <a:r>
              <a:rPr sz="1150" b="0">
                <a:solidFill>
                  <a:srgbClr val="2E2E2E"/>
                </a:solidFill>
                <a:latin typeface="Calibri"/>
              </a:rPr>
              <a:t>In terms of volume share by country, U.S. is expected to dominate the</a:t>
            </a:r>
          </a:p>
        </p:txBody>
      </p:sp>
      <p:sp>
        <p:nvSpPr>
          <p:cNvPr id="40" name="TextBox 39"/>
          <p:cNvSpPr txBox="1"/>
          <p:nvPr/>
        </p:nvSpPr>
        <p:spPr>
          <a:xfrm>
            <a:off x="7239000" y="232905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41" name="Picture 40" descr="lock.png"/>
          <p:cNvPicPr>
            <a:picLocks noChangeAspect="1"/>
          </p:cNvPicPr>
          <p:nvPr/>
        </p:nvPicPr>
        <p:blipFill>
          <a:blip r:embed="rId5"/>
          <a:stretch>
            <a:fillRect/>
          </a:stretch>
        </p:blipFill>
        <p:spPr>
          <a:xfrm>
            <a:off x="8106708" y="2318829"/>
            <a:ext cx="134549" cy="195707"/>
          </a:xfrm>
          <a:prstGeom prst="rect">
            <a:avLst/>
          </a:prstGeom>
        </p:spPr>
      </p:pic>
      <p:sp>
        <p:nvSpPr>
          <p:cNvPr id="42" name="TextBox 41"/>
          <p:cNvSpPr txBox="1"/>
          <p:nvPr/>
        </p:nvSpPr>
        <p:spPr>
          <a:xfrm>
            <a:off x="8281817"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3" name="Picture 42" descr="lock.png"/>
          <p:cNvPicPr>
            <a:picLocks noChangeAspect="1"/>
          </p:cNvPicPr>
          <p:nvPr/>
        </p:nvPicPr>
        <p:blipFill>
          <a:blip r:embed="rId5"/>
          <a:stretch>
            <a:fillRect/>
          </a:stretch>
        </p:blipFill>
        <p:spPr>
          <a:xfrm>
            <a:off x="9676961" y="2318829"/>
            <a:ext cx="134549" cy="195707"/>
          </a:xfrm>
          <a:prstGeom prst="rect">
            <a:avLst/>
          </a:prstGeom>
        </p:spPr>
      </p:pic>
      <p:sp>
        <p:nvSpPr>
          <p:cNvPr id="44" name="TextBox 43"/>
          <p:cNvSpPr txBox="1"/>
          <p:nvPr/>
        </p:nvSpPr>
        <p:spPr>
          <a:xfrm>
            <a:off x="9852070"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5" name="TextBox 44"/>
          <p:cNvSpPr txBox="1"/>
          <p:nvPr/>
        </p:nvSpPr>
        <p:spPr>
          <a:xfrm>
            <a:off x="1613208" y="5877496"/>
            <a:ext cx="1078882" cy="186689"/>
          </a:xfrm>
          <a:prstGeom prst="rect">
            <a:avLst/>
          </a:prstGeom>
          <a:noFill/>
        </p:spPr>
        <p:txBody>
          <a:bodyPr wrap="none" lIns="0" rIns="0" tIns="0" bIns="0">
            <a:spAutoFit/>
          </a:bodyPr>
          <a:lstStyle/>
          <a:p>
            <a:r>
              <a:rPr sz="1100" b="1">
                <a:solidFill>
                  <a:srgbClr val="6C7A89"/>
                </a:solidFill>
                <a:latin typeface="Calibri"/>
              </a:rPr>
              <a:t>2026 TOTAL (MT)</a:t>
            </a:r>
          </a:p>
        </p:txBody>
      </p:sp>
      <p:pic>
        <p:nvPicPr>
          <p:cNvPr id="46" name="Picture 45" descr="lock.png"/>
          <p:cNvPicPr>
            <a:picLocks noChangeAspect="1"/>
          </p:cNvPicPr>
          <p:nvPr/>
        </p:nvPicPr>
        <p:blipFill>
          <a:blip r:embed="rId5"/>
          <a:stretch>
            <a:fillRect/>
          </a:stretch>
        </p:blipFill>
        <p:spPr>
          <a:xfrm>
            <a:off x="1984327" y="6077648"/>
            <a:ext cx="233998" cy="340360"/>
          </a:xfrm>
          <a:prstGeom prst="rect">
            <a:avLst/>
          </a:prstGeom>
        </p:spPr>
      </p:pic>
      <p:sp>
        <p:nvSpPr>
          <p:cNvPr id="47" name="TextBox 46"/>
          <p:cNvSpPr txBox="1"/>
          <p:nvPr/>
        </p:nvSpPr>
        <p:spPr>
          <a:xfrm>
            <a:off x="5647046" y="5877496"/>
            <a:ext cx="1078882" cy="186689"/>
          </a:xfrm>
          <a:prstGeom prst="rect">
            <a:avLst/>
          </a:prstGeom>
          <a:noFill/>
        </p:spPr>
        <p:txBody>
          <a:bodyPr wrap="none" lIns="0" rIns="0" tIns="0" bIns="0">
            <a:spAutoFit/>
          </a:bodyPr>
          <a:lstStyle/>
          <a:p>
            <a:r>
              <a:rPr sz="1100" b="1">
                <a:solidFill>
                  <a:srgbClr val="6C7A89"/>
                </a:solidFill>
                <a:latin typeface="Calibri"/>
              </a:rPr>
              <a:t>2036 TOTAL (MT)</a:t>
            </a:r>
          </a:p>
        </p:txBody>
      </p:sp>
      <p:pic>
        <p:nvPicPr>
          <p:cNvPr id="48" name="Picture 47" descr="lock.png"/>
          <p:cNvPicPr>
            <a:picLocks noChangeAspect="1"/>
          </p:cNvPicPr>
          <p:nvPr/>
        </p:nvPicPr>
        <p:blipFill>
          <a:blip r:embed="rId5"/>
          <a:stretch>
            <a:fillRect/>
          </a:stretch>
        </p:blipFill>
        <p:spPr>
          <a:xfrm>
            <a:off x="6018165" y="6077648"/>
            <a:ext cx="233998" cy="340360"/>
          </a:xfrm>
          <a:prstGeom prst="rect">
            <a:avLst/>
          </a:prstGeom>
        </p:spPr>
      </p:pic>
      <p:sp>
        <p:nvSpPr>
          <p:cNvPr id="49"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Senior Dog Cognitive Supplement Market Analysis, By Country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country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2059364"/>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4712970" y="205460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978401"/>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Canada</a:t>
            </a:r>
          </a:p>
        </p:txBody>
      </p:sp>
      <p:sp>
        <p:nvSpPr>
          <p:cNvPr id="18" name="BPS Value 1"/>
          <p:cNvSpPr txBox="1"/>
          <p:nvPr/>
        </p:nvSpPr>
        <p:spPr>
          <a:xfrm>
            <a:off x="6305550" y="204031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551045" y="3892926"/>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4712970" y="388816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3811964"/>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U.S.</a:t>
            </a:r>
          </a:p>
        </p:txBody>
      </p:sp>
      <p:sp>
        <p:nvSpPr>
          <p:cNvPr id="22" name="BPS Value 2"/>
          <p:cNvSpPr txBox="1"/>
          <p:nvPr/>
        </p:nvSpPr>
        <p:spPr>
          <a:xfrm>
            <a:off x="6305550" y="387387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Rounded Rectangle 22"/>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25" name="Rectangle 24"/>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Rounded Rectangle 26"/>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0E72AE"/>
                </a:solidFill>
                <a:latin typeface="Calibri"/>
              </a:rPr>
              <a:t> </a:t>
            </a:r>
          </a:p>
        </p:txBody>
      </p:sp>
      <p:sp>
        <p:nvSpPr>
          <p:cNvPr id="28" name="Rounded Rectangle 27"/>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0E72AE"/>
                </a:solidFill>
                <a:latin typeface="Calibri"/>
              </a:rPr>
              <a:t> </a:t>
            </a:r>
          </a:p>
        </p:txBody>
      </p:sp>
      <p:sp>
        <p:nvSpPr>
          <p:cNvPr id="29" name="Rounded Rectangle 28"/>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2368867" y="3171825"/>
            <a:ext cx="275034" cy="400050"/>
          </a:xfrm>
          <a:prstGeom prst="rect">
            <a:avLst/>
          </a:prstGeom>
        </p:spPr>
      </p:pic>
      <p:pic>
        <p:nvPicPr>
          <p:cNvPr id="32" name="Picture 31" descr="lock.png"/>
          <p:cNvPicPr>
            <a:picLocks noChangeAspect="1"/>
          </p:cNvPicPr>
          <p:nvPr/>
        </p:nvPicPr>
        <p:blipFill>
          <a:blip r:embed="rId5"/>
          <a:stretch>
            <a:fillRect/>
          </a:stretch>
        </p:blipFill>
        <p:spPr>
          <a:xfrm>
            <a:off x="2009775" y="6070282"/>
            <a:ext cx="209550" cy="304800"/>
          </a:xfrm>
          <a:prstGeom prst="rect">
            <a:avLst/>
          </a:prstGeom>
        </p:spPr>
      </p:pic>
      <p:pic>
        <p:nvPicPr>
          <p:cNvPr id="33" name="Picture 32" descr="lock.png"/>
          <p:cNvPicPr>
            <a:picLocks noChangeAspect="1"/>
          </p:cNvPicPr>
          <p:nvPr/>
        </p:nvPicPr>
        <p:blipFill>
          <a:blip r:embed="rId5"/>
          <a:stretch>
            <a:fillRect/>
          </a:stretch>
        </p:blipFill>
        <p:spPr>
          <a:xfrm>
            <a:off x="6043612" y="6070282"/>
            <a:ext cx="209550" cy="304800"/>
          </a:xfrm>
          <a:prstGeom prst="rect">
            <a:avLst/>
          </a:prstGeom>
        </p:spPr>
      </p:pic>
      <p:pic>
        <p:nvPicPr>
          <p:cNvPr id="34" name="Picture 33" descr="lock.png"/>
          <p:cNvPicPr>
            <a:picLocks noChangeAspect="1"/>
          </p:cNvPicPr>
          <p:nvPr/>
        </p:nvPicPr>
        <p:blipFill>
          <a:blip r:embed="rId5"/>
          <a:stretch>
            <a:fillRect/>
          </a:stretch>
        </p:blipFill>
        <p:spPr>
          <a:xfrm>
            <a:off x="10015537" y="6070282"/>
            <a:ext cx="209550" cy="304800"/>
          </a:xfrm>
          <a:prstGeom prst="rect">
            <a:avLst/>
          </a:prstGeom>
        </p:spPr>
      </p:pic>
      <p:sp>
        <p:nvSpPr>
          <p:cNvPr id="35" name="TextBox 34"/>
          <p:cNvSpPr txBox="1"/>
          <p:nvPr/>
        </p:nvSpPr>
        <p:spPr>
          <a:xfrm>
            <a:off x="7239000" y="1400175"/>
            <a:ext cx="4373264" cy="194310"/>
          </a:xfrm>
          <a:prstGeom prst="rect">
            <a:avLst/>
          </a:prstGeom>
          <a:noFill/>
        </p:spPr>
        <p:txBody>
          <a:bodyPr wrap="none" lIns="0" rIns="0" tIns="0" bIns="0">
            <a:spAutoFit/>
          </a:bodyPr>
          <a:lstStyle/>
          <a:p>
            <a:r>
              <a:rPr sz="1150" b="0">
                <a:solidFill>
                  <a:srgbClr val="2E2E2E"/>
                </a:solidFill>
                <a:latin typeface="Calibri"/>
              </a:rPr>
              <a:t>The U.S. senior dog cognitive supplement market is projected to register</a:t>
            </a:r>
          </a:p>
        </p:txBody>
      </p:sp>
      <p:pic>
        <p:nvPicPr>
          <p:cNvPr id="36" name="Picture 35" descr="lock.png"/>
          <p:cNvPicPr>
            <a:picLocks noChangeAspect="1"/>
          </p:cNvPicPr>
          <p:nvPr/>
        </p:nvPicPr>
        <p:blipFill>
          <a:blip r:embed="rId5"/>
          <a:stretch>
            <a:fillRect/>
          </a:stretch>
        </p:blipFill>
        <p:spPr>
          <a:xfrm>
            <a:off x="7224920" y="1565211"/>
            <a:ext cx="134549" cy="195707"/>
          </a:xfrm>
          <a:prstGeom prst="rect">
            <a:avLst/>
          </a:prstGeom>
        </p:spPr>
      </p:pic>
      <p:sp>
        <p:nvSpPr>
          <p:cNvPr id="37" name="TextBox 36"/>
          <p:cNvSpPr txBox="1"/>
          <p:nvPr/>
        </p:nvSpPr>
        <p:spPr>
          <a:xfrm>
            <a:off x="7400029" y="1575435"/>
            <a:ext cx="3892612" cy="194310"/>
          </a:xfrm>
          <a:prstGeom prst="rect">
            <a:avLst/>
          </a:prstGeom>
          <a:noFill/>
        </p:spPr>
        <p:txBody>
          <a:bodyPr wrap="none" lIns="0" rIns="0" tIns="0" bIns="0">
            <a:spAutoFit/>
          </a:bodyPr>
          <a:lstStyle/>
          <a:p>
            <a:r>
              <a:rPr sz="1150" b="0">
                <a:solidFill>
                  <a:srgbClr val="2E2E2E"/>
                </a:solidFill>
                <a:latin typeface="Calibri"/>
              </a:rPr>
              <a:t>X higher value than Canada in 2036. Among senior dog cognitive</a:t>
            </a:r>
          </a:p>
        </p:txBody>
      </p:sp>
      <p:sp>
        <p:nvSpPr>
          <p:cNvPr id="38" name="TextBox 37"/>
          <p:cNvSpPr txBox="1"/>
          <p:nvPr/>
        </p:nvSpPr>
        <p:spPr>
          <a:xfrm>
            <a:off x="7239000" y="1750695"/>
            <a:ext cx="4530136" cy="194310"/>
          </a:xfrm>
          <a:prstGeom prst="rect">
            <a:avLst/>
          </a:prstGeom>
          <a:noFill/>
        </p:spPr>
        <p:txBody>
          <a:bodyPr wrap="none" lIns="0" rIns="0" tIns="0" bIns="0">
            <a:spAutoFit/>
          </a:bodyPr>
          <a:lstStyle/>
          <a:p>
            <a:r>
              <a:rPr sz="1150" b="0">
                <a:solidFill>
                  <a:srgbClr val="2E2E2E"/>
                </a:solidFill>
                <a:latin typeface="Calibri"/>
              </a:rPr>
              <a:t>supplement by country, Canada is expected to witness the highest CAGR of</a:t>
            </a:r>
          </a:p>
        </p:txBody>
      </p:sp>
      <p:pic>
        <p:nvPicPr>
          <p:cNvPr id="39" name="Picture 38" descr="lock.png"/>
          <p:cNvPicPr>
            <a:picLocks noChangeAspect="1"/>
          </p:cNvPicPr>
          <p:nvPr/>
        </p:nvPicPr>
        <p:blipFill>
          <a:blip r:embed="rId5"/>
          <a:stretch>
            <a:fillRect/>
          </a:stretch>
        </p:blipFill>
        <p:spPr>
          <a:xfrm>
            <a:off x="7224920" y="1915731"/>
            <a:ext cx="134549" cy="195707"/>
          </a:xfrm>
          <a:prstGeom prst="rect">
            <a:avLst/>
          </a:prstGeom>
        </p:spPr>
      </p:pic>
      <p:sp>
        <p:nvSpPr>
          <p:cNvPr id="40" name="TextBox 39"/>
          <p:cNvSpPr txBox="1"/>
          <p:nvPr/>
        </p:nvSpPr>
        <p:spPr>
          <a:xfrm>
            <a:off x="7400029" y="192595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1" name="TextBox 40"/>
          <p:cNvSpPr txBox="1"/>
          <p:nvPr/>
        </p:nvSpPr>
        <p:spPr>
          <a:xfrm>
            <a:off x="7239000" y="2153793"/>
            <a:ext cx="4603179" cy="194310"/>
          </a:xfrm>
          <a:prstGeom prst="rect">
            <a:avLst/>
          </a:prstGeom>
          <a:noFill/>
        </p:spPr>
        <p:txBody>
          <a:bodyPr wrap="none" lIns="0" rIns="0" tIns="0" bIns="0">
            <a:spAutoFit/>
          </a:bodyPr>
          <a:lstStyle/>
          <a:p>
            <a:r>
              <a:rPr sz="1150" b="0">
                <a:solidFill>
                  <a:srgbClr val="2E2E2E"/>
                </a:solidFill>
                <a:latin typeface="Calibri"/>
              </a:rPr>
              <a:t>In terms of value share by country, U.S. is expected to dominate the market,</a:t>
            </a:r>
          </a:p>
        </p:txBody>
      </p:sp>
      <p:sp>
        <p:nvSpPr>
          <p:cNvPr id="42" name="TextBox 41"/>
          <p:cNvSpPr txBox="1"/>
          <p:nvPr/>
        </p:nvSpPr>
        <p:spPr>
          <a:xfrm>
            <a:off x="7239000" y="2329053"/>
            <a:ext cx="423068" cy="194310"/>
          </a:xfrm>
          <a:prstGeom prst="rect">
            <a:avLst/>
          </a:prstGeom>
          <a:noFill/>
        </p:spPr>
        <p:txBody>
          <a:bodyPr wrap="none" lIns="0" rIns="0" tIns="0" bIns="0">
            <a:spAutoFit/>
          </a:bodyPr>
          <a:lstStyle/>
          <a:p>
            <a:r>
              <a:rPr sz="1150" b="0">
                <a:solidFill>
                  <a:srgbClr val="2E2E2E"/>
                </a:solidFill>
                <a:latin typeface="Calibri"/>
              </a:rPr>
              <a:t>losing</a:t>
            </a:r>
          </a:p>
        </p:txBody>
      </p:sp>
      <p:pic>
        <p:nvPicPr>
          <p:cNvPr id="43" name="Picture 42" descr="lock.png"/>
          <p:cNvPicPr>
            <a:picLocks noChangeAspect="1"/>
          </p:cNvPicPr>
          <p:nvPr/>
        </p:nvPicPr>
        <p:blipFill>
          <a:blip r:embed="rId5"/>
          <a:stretch>
            <a:fillRect/>
          </a:stretch>
        </p:blipFill>
        <p:spPr>
          <a:xfrm>
            <a:off x="7611222" y="2318829"/>
            <a:ext cx="134549" cy="195707"/>
          </a:xfrm>
          <a:prstGeom prst="rect">
            <a:avLst/>
          </a:prstGeom>
        </p:spPr>
      </p:pic>
      <p:sp>
        <p:nvSpPr>
          <p:cNvPr id="44" name="TextBox 43"/>
          <p:cNvSpPr txBox="1"/>
          <p:nvPr/>
        </p:nvSpPr>
        <p:spPr>
          <a:xfrm>
            <a:off x="7786331"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5" name="Picture 44" descr="lock.png"/>
          <p:cNvPicPr>
            <a:picLocks noChangeAspect="1"/>
          </p:cNvPicPr>
          <p:nvPr/>
        </p:nvPicPr>
        <p:blipFill>
          <a:blip r:embed="rId5"/>
          <a:stretch>
            <a:fillRect/>
          </a:stretch>
        </p:blipFill>
        <p:spPr>
          <a:xfrm>
            <a:off x="9181475" y="2318829"/>
            <a:ext cx="134549" cy="195707"/>
          </a:xfrm>
          <a:prstGeom prst="rect">
            <a:avLst/>
          </a:prstGeom>
        </p:spPr>
      </p:pic>
      <p:sp>
        <p:nvSpPr>
          <p:cNvPr id="46" name="TextBox 45"/>
          <p:cNvSpPr txBox="1"/>
          <p:nvPr/>
        </p:nvSpPr>
        <p:spPr>
          <a:xfrm>
            <a:off x="9356584"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7"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Senior Dog Cognitive Supplement Market Share Analysis, By Country Volume (MT)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country, 2021–2036, highlighting the geographies gaining and ceding ground</a:t>
            </a:r>
          </a:p>
        </p:txBody>
      </p:sp>
      <p:sp>
        <p:nvSpPr>
          <p:cNvPr id="10" name="Rounded Rectangle 9"/>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Size, By Country (MT)</a:t>
            </a:r>
          </a:p>
        </p:txBody>
      </p:sp>
      <p:graphicFrame>
        <p:nvGraphicFramePr>
          <p:cNvPr id="12" name="Table 11"/>
          <p:cNvGraphicFramePr>
            <a:graphicFrameLocks noGrp="1"/>
          </p:cNvGraphicFramePr>
          <p:nvPr/>
        </p:nvGraphicFramePr>
        <p:xfrm>
          <a:off x="152400" y="1238250"/>
          <a:ext cx="11887205" cy="990600"/>
        </p:xfrm>
        <a:graphic>
          <a:graphicData uri="http://schemas.openxmlformats.org/drawingml/2006/table">
            <a:tbl>
              <a:tblPr>
                <a:tableStyleId>{5C22544A-7EE6-4342-B048-85BDC9FD1C3A}</a:tableStyleId>
              </a:tblPr>
              <a:tblGrid>
                <a:gridCol w="663023"/>
                <a:gridCol w="660246"/>
                <a:gridCol w="660246"/>
                <a:gridCol w="660246"/>
                <a:gridCol w="660246"/>
                <a:gridCol w="660246"/>
                <a:gridCol w="660246"/>
                <a:gridCol w="660246"/>
                <a:gridCol w="660246"/>
                <a:gridCol w="660246"/>
                <a:gridCol w="660246"/>
                <a:gridCol w="660246"/>
                <a:gridCol w="660246"/>
                <a:gridCol w="660246"/>
                <a:gridCol w="660246"/>
                <a:gridCol w="660246"/>
                <a:gridCol w="660246"/>
                <a:gridCol w="660246"/>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571750"/>
            <a:ext cx="1190625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Volume Share Read-out, By Country</a:t>
            </a:r>
          </a:p>
        </p:txBody>
      </p:sp>
      <p:sp>
        <p:nvSpPr>
          <p:cNvPr id="16" name="Rectangle 15"/>
          <p:cNvSpPr/>
          <p:nvPr/>
        </p:nvSpPr>
        <p:spPr>
          <a:xfrm>
            <a:off x="276225" y="2895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240824" y="1589913"/>
            <a:ext cx="366712" cy="533400"/>
          </a:xfrm>
          <a:prstGeom prst="rect">
            <a:avLst/>
          </a:prstGeom>
        </p:spPr>
      </p:pic>
      <p:sp>
        <p:nvSpPr>
          <p:cNvPr id="20" name="TextBox 19"/>
          <p:cNvSpPr txBox="1"/>
          <p:nvPr/>
        </p:nvSpPr>
        <p:spPr>
          <a:xfrm>
            <a:off x="276225" y="2990850"/>
            <a:ext cx="4373264" cy="194310"/>
          </a:xfrm>
          <a:prstGeom prst="rect">
            <a:avLst/>
          </a:prstGeom>
          <a:noFill/>
        </p:spPr>
        <p:txBody>
          <a:bodyPr wrap="none" lIns="0" rIns="0" tIns="0" bIns="0">
            <a:spAutoFit/>
          </a:bodyPr>
          <a:lstStyle/>
          <a:p>
            <a:r>
              <a:rPr sz="1150" b="0">
                <a:solidFill>
                  <a:srgbClr val="2E2E2E"/>
                </a:solidFill>
                <a:latin typeface="Calibri"/>
              </a:rPr>
              <a:t>The U.S. senior dog cognitive supplement market is projected to register</a:t>
            </a:r>
          </a:p>
        </p:txBody>
      </p:sp>
      <p:pic>
        <p:nvPicPr>
          <p:cNvPr id="21" name="Picture 20" descr="lock.png"/>
          <p:cNvPicPr>
            <a:picLocks noChangeAspect="1"/>
          </p:cNvPicPr>
          <p:nvPr/>
        </p:nvPicPr>
        <p:blipFill>
          <a:blip r:embed="rId4"/>
          <a:stretch>
            <a:fillRect/>
          </a:stretch>
        </p:blipFill>
        <p:spPr>
          <a:xfrm>
            <a:off x="4598643" y="2980626"/>
            <a:ext cx="134549" cy="195707"/>
          </a:xfrm>
          <a:prstGeom prst="rect">
            <a:avLst/>
          </a:prstGeom>
        </p:spPr>
      </p:pic>
      <p:sp>
        <p:nvSpPr>
          <p:cNvPr id="22" name="TextBox 21"/>
          <p:cNvSpPr txBox="1"/>
          <p:nvPr/>
        </p:nvSpPr>
        <p:spPr>
          <a:xfrm>
            <a:off x="4773753" y="2990850"/>
            <a:ext cx="6798778" cy="194310"/>
          </a:xfrm>
          <a:prstGeom prst="rect">
            <a:avLst/>
          </a:prstGeom>
          <a:noFill/>
        </p:spPr>
        <p:txBody>
          <a:bodyPr wrap="none" lIns="0" rIns="0" tIns="0" bIns="0">
            <a:spAutoFit/>
          </a:bodyPr>
          <a:lstStyle/>
          <a:p>
            <a:r>
              <a:rPr sz="1150" b="0">
                <a:solidFill>
                  <a:srgbClr val="2E2E2E"/>
                </a:solidFill>
                <a:latin typeface="Calibri"/>
              </a:rPr>
              <a:t>X higher volume than Canada in 2036. Among senior dog cognitive supplement by country, Canada is expected to</a:t>
            </a:r>
          </a:p>
        </p:txBody>
      </p:sp>
      <p:sp>
        <p:nvSpPr>
          <p:cNvPr id="23" name="TextBox 22"/>
          <p:cNvSpPr txBox="1"/>
          <p:nvPr/>
        </p:nvSpPr>
        <p:spPr>
          <a:xfrm>
            <a:off x="276225" y="3166110"/>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24" name="Picture 23" descr="lock.png"/>
          <p:cNvPicPr>
            <a:picLocks noChangeAspect="1"/>
          </p:cNvPicPr>
          <p:nvPr/>
        </p:nvPicPr>
        <p:blipFill>
          <a:blip r:embed="rId4"/>
          <a:stretch>
            <a:fillRect/>
          </a:stretch>
        </p:blipFill>
        <p:spPr>
          <a:xfrm>
            <a:off x="1973149" y="3155886"/>
            <a:ext cx="134549" cy="195707"/>
          </a:xfrm>
          <a:prstGeom prst="rect">
            <a:avLst/>
          </a:prstGeom>
        </p:spPr>
      </p:pic>
      <p:sp>
        <p:nvSpPr>
          <p:cNvPr id="25" name="TextBox 24"/>
          <p:cNvSpPr txBox="1"/>
          <p:nvPr/>
        </p:nvSpPr>
        <p:spPr>
          <a:xfrm>
            <a:off x="2148258"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393947"/>
            <a:ext cx="5106937" cy="194310"/>
          </a:xfrm>
          <a:prstGeom prst="rect">
            <a:avLst/>
          </a:prstGeom>
          <a:noFill/>
        </p:spPr>
        <p:txBody>
          <a:bodyPr wrap="none" lIns="0" rIns="0" tIns="0" bIns="0">
            <a:spAutoFit/>
          </a:bodyPr>
          <a:lstStyle/>
          <a:p>
            <a:r>
              <a:rPr sz="1150" b="0">
                <a:solidFill>
                  <a:srgbClr val="2E2E2E"/>
                </a:solidFill>
                <a:latin typeface="Calibri"/>
              </a:rPr>
              <a:t>In terms of volume share by country, U.S. is expected to dominate the market, losing</a:t>
            </a:r>
          </a:p>
        </p:txBody>
      </p:sp>
      <p:pic>
        <p:nvPicPr>
          <p:cNvPr id="27" name="Picture 26" descr="lock.png"/>
          <p:cNvPicPr>
            <a:picLocks noChangeAspect="1"/>
          </p:cNvPicPr>
          <p:nvPr/>
        </p:nvPicPr>
        <p:blipFill>
          <a:blip r:embed="rId4"/>
          <a:stretch>
            <a:fillRect/>
          </a:stretch>
        </p:blipFill>
        <p:spPr>
          <a:xfrm>
            <a:off x="5332316" y="3383724"/>
            <a:ext cx="134549" cy="195707"/>
          </a:xfrm>
          <a:prstGeom prst="rect">
            <a:avLst/>
          </a:prstGeom>
        </p:spPr>
      </p:pic>
      <p:sp>
        <p:nvSpPr>
          <p:cNvPr id="28" name="TextBox 27"/>
          <p:cNvSpPr txBox="1"/>
          <p:nvPr/>
        </p:nvSpPr>
        <p:spPr>
          <a:xfrm>
            <a:off x="5507426"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6902569" y="3383724"/>
            <a:ext cx="134549" cy="195707"/>
          </a:xfrm>
          <a:prstGeom prst="rect">
            <a:avLst/>
          </a:prstGeom>
        </p:spPr>
      </p:pic>
      <p:sp>
        <p:nvSpPr>
          <p:cNvPr id="30" name="TextBox 29"/>
          <p:cNvSpPr txBox="1"/>
          <p:nvPr/>
        </p:nvSpPr>
        <p:spPr>
          <a:xfrm>
            <a:off x="7077678"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Senior Dog Cognitive Supplement Market Share Analysis, By Country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country, 2021–2036, highlighting the geographies gaining and ceding ground</a:t>
            </a:r>
          </a:p>
        </p:txBody>
      </p:sp>
      <p:sp>
        <p:nvSpPr>
          <p:cNvPr id="10" name="Rounded Rectangle 9"/>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Size, By Country (US$ Mn)</a:t>
            </a:r>
          </a:p>
        </p:txBody>
      </p:sp>
      <p:graphicFrame>
        <p:nvGraphicFramePr>
          <p:cNvPr id="12" name="Table 11"/>
          <p:cNvGraphicFramePr>
            <a:graphicFrameLocks noGrp="1"/>
          </p:cNvGraphicFramePr>
          <p:nvPr/>
        </p:nvGraphicFramePr>
        <p:xfrm>
          <a:off x="152400" y="1238250"/>
          <a:ext cx="11887200" cy="990600"/>
        </p:xfrm>
        <a:graphic>
          <a:graphicData uri="http://schemas.openxmlformats.org/drawingml/2006/table">
            <a:tbl>
              <a:tblPr>
                <a:tableStyleId>{5C22544A-7EE6-4342-B048-85BDC9FD1C3A}</a:tableStyleId>
              </a:tblPr>
              <a:tblGrid>
                <a:gridCol w="696253"/>
                <a:gridCol w="658291"/>
                <a:gridCol w="658291"/>
                <a:gridCol w="658291"/>
                <a:gridCol w="658291"/>
                <a:gridCol w="658291"/>
                <a:gridCol w="658291"/>
                <a:gridCol w="658291"/>
                <a:gridCol w="658291"/>
                <a:gridCol w="658291"/>
                <a:gridCol w="658291"/>
                <a:gridCol w="658291"/>
                <a:gridCol w="658291"/>
                <a:gridCol w="658291"/>
                <a:gridCol w="658291"/>
                <a:gridCol w="658291"/>
                <a:gridCol w="658291"/>
                <a:gridCol w="65829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571750"/>
            <a:ext cx="1190625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Share Read-out, By Country</a:t>
            </a:r>
          </a:p>
        </p:txBody>
      </p:sp>
      <p:sp>
        <p:nvSpPr>
          <p:cNvPr id="16" name="Rectangle 15"/>
          <p:cNvSpPr/>
          <p:nvPr/>
        </p:nvSpPr>
        <p:spPr>
          <a:xfrm>
            <a:off x="276225" y="2895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257436" y="1589913"/>
            <a:ext cx="366712" cy="533400"/>
          </a:xfrm>
          <a:prstGeom prst="rect">
            <a:avLst/>
          </a:prstGeom>
        </p:spPr>
      </p:pic>
      <p:sp>
        <p:nvSpPr>
          <p:cNvPr id="20" name="TextBox 19"/>
          <p:cNvSpPr txBox="1"/>
          <p:nvPr/>
        </p:nvSpPr>
        <p:spPr>
          <a:xfrm>
            <a:off x="276225" y="2990850"/>
            <a:ext cx="4373264" cy="194310"/>
          </a:xfrm>
          <a:prstGeom prst="rect">
            <a:avLst/>
          </a:prstGeom>
          <a:noFill/>
        </p:spPr>
        <p:txBody>
          <a:bodyPr wrap="none" lIns="0" rIns="0" tIns="0" bIns="0">
            <a:spAutoFit/>
          </a:bodyPr>
          <a:lstStyle/>
          <a:p>
            <a:r>
              <a:rPr sz="1150" b="0">
                <a:solidFill>
                  <a:srgbClr val="2E2E2E"/>
                </a:solidFill>
                <a:latin typeface="Calibri"/>
              </a:rPr>
              <a:t>The U.S. senior dog cognitive supplement market is projected to register</a:t>
            </a:r>
          </a:p>
        </p:txBody>
      </p:sp>
      <p:pic>
        <p:nvPicPr>
          <p:cNvPr id="21" name="Picture 20" descr="lock.png"/>
          <p:cNvPicPr>
            <a:picLocks noChangeAspect="1"/>
          </p:cNvPicPr>
          <p:nvPr/>
        </p:nvPicPr>
        <p:blipFill>
          <a:blip r:embed="rId4"/>
          <a:stretch>
            <a:fillRect/>
          </a:stretch>
        </p:blipFill>
        <p:spPr>
          <a:xfrm>
            <a:off x="4598643" y="2980626"/>
            <a:ext cx="134549" cy="195707"/>
          </a:xfrm>
          <a:prstGeom prst="rect">
            <a:avLst/>
          </a:prstGeom>
        </p:spPr>
      </p:pic>
      <p:sp>
        <p:nvSpPr>
          <p:cNvPr id="22" name="TextBox 21"/>
          <p:cNvSpPr txBox="1"/>
          <p:nvPr/>
        </p:nvSpPr>
        <p:spPr>
          <a:xfrm>
            <a:off x="4773753" y="2990850"/>
            <a:ext cx="6674978" cy="194310"/>
          </a:xfrm>
          <a:prstGeom prst="rect">
            <a:avLst/>
          </a:prstGeom>
          <a:noFill/>
        </p:spPr>
        <p:txBody>
          <a:bodyPr wrap="none" lIns="0" rIns="0" tIns="0" bIns="0">
            <a:spAutoFit/>
          </a:bodyPr>
          <a:lstStyle/>
          <a:p>
            <a:r>
              <a:rPr sz="1150" b="0">
                <a:solidFill>
                  <a:srgbClr val="2E2E2E"/>
                </a:solidFill>
                <a:latin typeface="Calibri"/>
              </a:rPr>
              <a:t>X higher value than Canada in 2036. Among senior dog cognitive supplement by country, Canada is expected to</a:t>
            </a:r>
          </a:p>
        </p:txBody>
      </p:sp>
      <p:sp>
        <p:nvSpPr>
          <p:cNvPr id="23" name="TextBox 22"/>
          <p:cNvSpPr txBox="1"/>
          <p:nvPr/>
        </p:nvSpPr>
        <p:spPr>
          <a:xfrm>
            <a:off x="276225" y="3166110"/>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24" name="Picture 23" descr="lock.png"/>
          <p:cNvPicPr>
            <a:picLocks noChangeAspect="1"/>
          </p:cNvPicPr>
          <p:nvPr/>
        </p:nvPicPr>
        <p:blipFill>
          <a:blip r:embed="rId4"/>
          <a:stretch>
            <a:fillRect/>
          </a:stretch>
        </p:blipFill>
        <p:spPr>
          <a:xfrm>
            <a:off x="1973149" y="3155886"/>
            <a:ext cx="134549" cy="195707"/>
          </a:xfrm>
          <a:prstGeom prst="rect">
            <a:avLst/>
          </a:prstGeom>
        </p:spPr>
      </p:pic>
      <p:sp>
        <p:nvSpPr>
          <p:cNvPr id="25" name="TextBox 24"/>
          <p:cNvSpPr txBox="1"/>
          <p:nvPr/>
        </p:nvSpPr>
        <p:spPr>
          <a:xfrm>
            <a:off x="2148258"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393947"/>
            <a:ext cx="4983137" cy="194310"/>
          </a:xfrm>
          <a:prstGeom prst="rect">
            <a:avLst/>
          </a:prstGeom>
          <a:noFill/>
        </p:spPr>
        <p:txBody>
          <a:bodyPr wrap="none" lIns="0" rIns="0" tIns="0" bIns="0">
            <a:spAutoFit/>
          </a:bodyPr>
          <a:lstStyle/>
          <a:p>
            <a:r>
              <a:rPr sz="1150" b="0">
                <a:solidFill>
                  <a:srgbClr val="2E2E2E"/>
                </a:solidFill>
                <a:latin typeface="Calibri"/>
              </a:rPr>
              <a:t>In terms of value share by country, U.S. is expected to dominate the market, losing</a:t>
            </a:r>
          </a:p>
        </p:txBody>
      </p:sp>
      <p:pic>
        <p:nvPicPr>
          <p:cNvPr id="27" name="Picture 26" descr="lock.png"/>
          <p:cNvPicPr>
            <a:picLocks noChangeAspect="1"/>
          </p:cNvPicPr>
          <p:nvPr/>
        </p:nvPicPr>
        <p:blipFill>
          <a:blip r:embed="rId4"/>
          <a:stretch>
            <a:fillRect/>
          </a:stretch>
        </p:blipFill>
        <p:spPr>
          <a:xfrm>
            <a:off x="5208516" y="3383724"/>
            <a:ext cx="134549" cy="195707"/>
          </a:xfrm>
          <a:prstGeom prst="rect">
            <a:avLst/>
          </a:prstGeom>
        </p:spPr>
      </p:pic>
      <p:sp>
        <p:nvSpPr>
          <p:cNvPr id="28" name="TextBox 27"/>
          <p:cNvSpPr txBox="1"/>
          <p:nvPr/>
        </p:nvSpPr>
        <p:spPr>
          <a:xfrm>
            <a:off x="5383625"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6778769" y="3383724"/>
            <a:ext cx="134549" cy="195707"/>
          </a:xfrm>
          <a:prstGeom prst="rect">
            <a:avLst/>
          </a:prstGeom>
        </p:spPr>
      </p:pic>
      <p:sp>
        <p:nvSpPr>
          <p:cNvPr id="30" name="TextBox 29"/>
          <p:cNvSpPr txBox="1"/>
          <p:nvPr/>
        </p:nvSpPr>
        <p:spPr>
          <a:xfrm>
            <a:off x="6953878"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Senior Dog Cognitive Supplement Market Trends, By Country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country volume and value shares shift over 2021–2036, highlighting who gains ground</a:t>
            </a:r>
          </a:p>
        </p:txBody>
      </p:sp>
      <p:sp>
        <p:nvSpPr>
          <p:cNvPr id="10" name="Rounded Rectangle 9"/>
          <p:cNvSpPr/>
          <p:nvPr/>
        </p:nvSpPr>
        <p:spPr>
          <a:xfrm>
            <a:off x="142875" y="981075"/>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By Country (MT)</a:t>
            </a:r>
          </a:p>
        </p:txBody>
      </p:sp>
      <p:graphicFrame>
        <p:nvGraphicFramePr>
          <p:cNvPr id="12" name="Chart 11"/>
          <p:cNvGraphicFramePr>
            <a:graphicFrameLocks noGrp="1"/>
          </p:cNvGraphicFramePr>
          <p:nvPr/>
        </p:nvGraphicFramePr>
        <p:xfrm>
          <a:off x="238125" y="1266825"/>
          <a:ext cx="11715750"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Country (US$ Mn)</a:t>
            </a:r>
          </a:p>
        </p:txBody>
      </p:sp>
      <p:graphicFrame>
        <p:nvGraphicFramePr>
          <p:cNvPr id="15" name="Chart 14"/>
          <p:cNvGraphicFramePr>
            <a:graphicFrameLocks noGrp="1"/>
          </p:cNvGraphicFramePr>
          <p:nvPr/>
        </p:nvGraphicFramePr>
        <p:xfrm>
          <a:off x="238125" y="4152900"/>
          <a:ext cx="11715750" cy="2409825"/>
        </p:xfrm>
        <a:graphic>
          <a:graphicData uri="http://schemas.openxmlformats.org/drawingml/2006/chart">
            <c:chart xmlns:c="http://schemas.openxmlformats.org/drawingml/2006/chart" r:id="rId4"/>
          </a:graphicData>
        </a:graphic>
      </p:graphicFrame>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6"/>
          <a:stretch>
            <a:fillRect/>
          </a:stretch>
        </p:blipFill>
        <p:spPr>
          <a:xfrm>
            <a:off x="6058646" y="2026489"/>
            <a:ext cx="363375" cy="528545"/>
          </a:xfrm>
          <a:prstGeom prst="rect">
            <a:avLst/>
          </a:prstGeom>
        </p:spPr>
      </p:pic>
      <p:pic>
        <p:nvPicPr>
          <p:cNvPr id="18" name="Picture 17" descr="lock.png"/>
          <p:cNvPicPr>
            <a:picLocks noChangeAspect="1"/>
          </p:cNvPicPr>
          <p:nvPr/>
        </p:nvPicPr>
        <p:blipFill>
          <a:blip r:embed="rId6"/>
          <a:stretch>
            <a:fillRect/>
          </a:stretch>
        </p:blipFill>
        <p:spPr>
          <a:xfrm>
            <a:off x="6058646" y="4912564"/>
            <a:ext cx="363375" cy="528545"/>
          </a:xfrm>
          <a:prstGeom prst="rect">
            <a:avLst/>
          </a:prstGeom>
        </p:spPr>
      </p:pic>
      <p:sp>
        <p:nvSpPr>
          <p:cNvPr id="19" name="lockshield_12"/>
          <p:cNvSpPr/>
          <p:nvPr/>
        </p:nvSpPr>
        <p:spPr>
          <a:xfrm>
            <a:off x="238125" y="1266825"/>
            <a:ext cx="1171575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ckshield_15"/>
          <p:cNvSpPr/>
          <p:nvPr/>
        </p:nvSpPr>
        <p:spPr>
          <a:xfrm>
            <a:off x="238125" y="4152900"/>
            <a:ext cx="1171575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Senior Dog Cognitive Supplement Market Top 2 Countries (2036)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North America market in 2036, highlighting the leading countries within each region by value</a:t>
            </a:r>
          </a:p>
        </p:txBody>
      </p:sp>
      <p:sp>
        <p:nvSpPr>
          <p:cNvPr id="10" name="Rounded Rectangle 9"/>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by country  ·  2036 (US$ Mn)  ·  tile size = market value</a:t>
            </a:r>
          </a:p>
        </p:txBody>
      </p:sp>
      <p:sp>
        <p:nvSpPr>
          <p:cNvPr id="12" name="Rectangle 11"/>
          <p:cNvSpPr/>
          <p:nvPr/>
        </p:nvSpPr>
        <p:spPr>
          <a:xfrm>
            <a:off x="238125" y="1266825"/>
            <a:ext cx="7899386" cy="5305425"/>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3" name="Rectangle 12"/>
          <p:cNvSpPr/>
          <p:nvPr/>
        </p:nvSpPr>
        <p:spPr>
          <a:xfrm>
            <a:off x="8137511" y="1266825"/>
            <a:ext cx="3816364" cy="5305425"/>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4130192" y="3919537"/>
            <a:ext cx="115252" cy="167639"/>
          </a:xfrm>
          <a:prstGeom prst="rect">
            <a:avLst/>
          </a:prstGeom>
        </p:spPr>
      </p:pic>
      <p:pic>
        <p:nvPicPr>
          <p:cNvPr id="16" name="Picture 15" descr="lock.png"/>
          <p:cNvPicPr>
            <a:picLocks noChangeAspect="1"/>
          </p:cNvPicPr>
          <p:nvPr/>
        </p:nvPicPr>
        <p:blipFill>
          <a:blip r:embed="rId4"/>
          <a:stretch>
            <a:fillRect/>
          </a:stretch>
        </p:blipFill>
        <p:spPr>
          <a:xfrm>
            <a:off x="9988066" y="3919537"/>
            <a:ext cx="115252" cy="167639"/>
          </a:xfrm>
          <a:prstGeom prst="rect">
            <a:avLst/>
          </a:prstGeom>
        </p:spPr>
      </p:pic>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North America Market Analysis By Segments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Form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Active Ingredient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End-use Application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Packaging Format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Sales Channel</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Form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Form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Form Type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Form Type,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Form Type segment categorizes the market by form type.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Capsules and Softgels</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Tablets</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Chewables</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Gels and Pastes</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Liquids</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Powders and Granules</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Form Type split shows how demand is distributed across form type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7" name="Picture 76" descr="1_376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2_194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4_8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751_3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1_044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3_3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623_8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1_051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5_4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393_6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492_3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2_3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303_8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375_6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2_1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148_4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197_2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2_9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843733" cy="186689"/>
          </a:xfrm>
          <a:prstGeom prst="rect">
            <a:avLst/>
          </a:prstGeom>
          <a:noFill/>
        </p:spPr>
        <p:txBody>
          <a:bodyPr wrap="none" lIns="0" rIns="0" tIns="0" bIns="0">
            <a:spAutoFit/>
          </a:bodyPr>
          <a:lstStyle/>
          <a:p>
            <a:r>
              <a:rPr sz="1100" b="0">
                <a:solidFill>
                  <a:srgbClr val="2E2E2E"/>
                </a:solidFill>
                <a:latin typeface="Calibri"/>
              </a:rPr>
              <a:t>Among senior dog cognitive supplement by form</a:t>
            </a:r>
          </a:p>
        </p:txBody>
      </p:sp>
      <p:sp>
        <p:nvSpPr>
          <p:cNvPr id="102" name="TextBox 101"/>
          <p:cNvSpPr txBox="1"/>
          <p:nvPr/>
        </p:nvSpPr>
        <p:spPr>
          <a:xfrm>
            <a:off x="485775" y="4397077"/>
            <a:ext cx="2804988" cy="186689"/>
          </a:xfrm>
          <a:prstGeom prst="rect">
            <a:avLst/>
          </a:prstGeom>
          <a:noFill/>
        </p:spPr>
        <p:txBody>
          <a:bodyPr wrap="none" lIns="0" rIns="0" tIns="0" bIns="0">
            <a:spAutoFit/>
          </a:bodyPr>
          <a:lstStyle/>
          <a:p>
            <a:r>
              <a:rPr sz="1100" b="0">
                <a:solidFill>
                  <a:srgbClr val="2E2E2E"/>
                </a:solidFill>
                <a:latin typeface="Calibri"/>
              </a:rPr>
              <a:t>type, chewables segment is expected to witness</a:t>
            </a:r>
          </a:p>
        </p:txBody>
      </p:sp>
      <p:sp>
        <p:nvSpPr>
          <p:cNvPr id="103" name="TextBox 102"/>
          <p:cNvSpPr txBox="1"/>
          <p:nvPr/>
        </p:nvSpPr>
        <p:spPr>
          <a:xfrm>
            <a:off x="485775" y="4564717"/>
            <a:ext cx="1212336" cy="186689"/>
          </a:xfrm>
          <a:prstGeom prst="rect">
            <a:avLst/>
          </a:prstGeom>
          <a:noFill/>
        </p:spPr>
        <p:txBody>
          <a:bodyPr wrap="none" lIns="0" rIns="0" tIns="0" bIns="0">
            <a:spAutoFit/>
          </a:bodyPr>
          <a:lstStyle/>
          <a:p>
            <a:r>
              <a:rPr sz="1100" b="0">
                <a:solidFill>
                  <a:srgbClr val="2E2E2E"/>
                </a:solidFill>
                <a:latin typeface="Calibri"/>
              </a:rPr>
              <a:t>the highest CAGR of</a:t>
            </a:r>
          </a:p>
        </p:txBody>
      </p:sp>
      <p:pic>
        <p:nvPicPr>
          <p:cNvPr id="104" name="Picture 103" descr="lock.png"/>
          <p:cNvPicPr>
            <a:picLocks noChangeAspect="1"/>
          </p:cNvPicPr>
          <p:nvPr/>
        </p:nvPicPr>
        <p:blipFill>
          <a:blip r:embed="rId22"/>
          <a:stretch>
            <a:fillRect/>
          </a:stretch>
        </p:blipFill>
        <p:spPr>
          <a:xfrm>
            <a:off x="1646163" y="4554938"/>
            <a:ext cx="128699" cy="187198"/>
          </a:xfrm>
          <a:prstGeom prst="rect">
            <a:avLst/>
          </a:prstGeom>
        </p:spPr>
      </p:pic>
      <p:sp>
        <p:nvSpPr>
          <p:cNvPr id="105" name="TextBox 104"/>
          <p:cNvSpPr txBox="1"/>
          <p:nvPr/>
        </p:nvSpPr>
        <p:spPr>
          <a:xfrm>
            <a:off x="1813659" y="456471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106" name="TextBox 105"/>
          <p:cNvSpPr txBox="1"/>
          <p:nvPr/>
        </p:nvSpPr>
        <p:spPr>
          <a:xfrm>
            <a:off x="485775" y="4732357"/>
            <a:ext cx="2910854" cy="186689"/>
          </a:xfrm>
          <a:prstGeom prst="rect">
            <a:avLst/>
          </a:prstGeom>
          <a:noFill/>
        </p:spPr>
        <p:txBody>
          <a:bodyPr wrap="none" lIns="0" rIns="0" tIns="0" bIns="0">
            <a:spAutoFit/>
          </a:bodyPr>
          <a:lstStyle/>
          <a:p>
            <a:r>
              <a:rPr sz="1100" b="0">
                <a:solidFill>
                  <a:srgbClr val="2E2E2E"/>
                </a:solidFill>
                <a:latin typeface="Calibri"/>
              </a:rPr>
              <a:t>In terms of value share by form type, the capsules</a:t>
            </a:r>
          </a:p>
        </p:txBody>
      </p:sp>
      <p:sp>
        <p:nvSpPr>
          <p:cNvPr id="107" name="TextBox 106"/>
          <p:cNvSpPr txBox="1"/>
          <p:nvPr/>
        </p:nvSpPr>
        <p:spPr>
          <a:xfrm>
            <a:off x="485775" y="4899997"/>
            <a:ext cx="2909763" cy="186689"/>
          </a:xfrm>
          <a:prstGeom prst="rect">
            <a:avLst/>
          </a:prstGeom>
          <a:noFill/>
        </p:spPr>
        <p:txBody>
          <a:bodyPr wrap="none" lIns="0" rIns="0" tIns="0" bIns="0">
            <a:spAutoFit/>
          </a:bodyPr>
          <a:lstStyle/>
          <a:p>
            <a:r>
              <a:rPr sz="1100" b="0">
                <a:solidFill>
                  <a:srgbClr val="2E2E2E"/>
                </a:solidFill>
                <a:latin typeface="Calibri"/>
              </a:rPr>
              <a:t>and softgels segment is expected to dominate the</a:t>
            </a:r>
          </a:p>
        </p:txBody>
      </p:sp>
      <p:sp>
        <p:nvSpPr>
          <p:cNvPr id="108" name="TextBox 107"/>
          <p:cNvSpPr txBox="1"/>
          <p:nvPr/>
        </p:nvSpPr>
        <p:spPr>
          <a:xfrm>
            <a:off x="485775" y="5067637"/>
            <a:ext cx="959693" cy="186689"/>
          </a:xfrm>
          <a:prstGeom prst="rect">
            <a:avLst/>
          </a:prstGeom>
          <a:noFill/>
        </p:spPr>
        <p:txBody>
          <a:bodyPr wrap="none" lIns="0" rIns="0" tIns="0" bIns="0">
            <a:spAutoFit/>
          </a:bodyPr>
          <a:lstStyle/>
          <a:p>
            <a:r>
              <a:rPr sz="1100" b="0">
                <a:solidFill>
                  <a:srgbClr val="2E2E2E"/>
                </a:solidFill>
                <a:latin typeface="Calibri"/>
              </a:rPr>
              <a:t>market, gaining</a:t>
            </a:r>
          </a:p>
        </p:txBody>
      </p:sp>
      <p:pic>
        <p:nvPicPr>
          <p:cNvPr id="109" name="Picture 108" descr="lock.png"/>
          <p:cNvPicPr>
            <a:picLocks noChangeAspect="1"/>
          </p:cNvPicPr>
          <p:nvPr/>
        </p:nvPicPr>
        <p:blipFill>
          <a:blip r:embed="rId22"/>
          <a:stretch>
            <a:fillRect/>
          </a:stretch>
        </p:blipFill>
        <p:spPr>
          <a:xfrm>
            <a:off x="1393519" y="5057858"/>
            <a:ext cx="128699" cy="187198"/>
          </a:xfrm>
          <a:prstGeom prst="rect">
            <a:avLst/>
          </a:prstGeom>
        </p:spPr>
      </p:pic>
      <p:sp>
        <p:nvSpPr>
          <p:cNvPr id="110" name="TextBox 109"/>
          <p:cNvSpPr txBox="1"/>
          <p:nvPr/>
        </p:nvSpPr>
        <p:spPr>
          <a:xfrm>
            <a:off x="1561015" y="506763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111" name="Picture 110" descr="lock.png"/>
          <p:cNvPicPr>
            <a:picLocks noChangeAspect="1"/>
          </p:cNvPicPr>
          <p:nvPr/>
        </p:nvPicPr>
        <p:blipFill>
          <a:blip r:embed="rId22"/>
          <a:stretch>
            <a:fillRect/>
          </a:stretch>
        </p:blipFill>
        <p:spPr>
          <a:xfrm>
            <a:off x="2895500" y="5057858"/>
            <a:ext cx="128699" cy="187198"/>
          </a:xfrm>
          <a:prstGeom prst="rect">
            <a:avLst/>
          </a:prstGeom>
        </p:spPr>
      </p:pic>
      <p:sp>
        <p:nvSpPr>
          <p:cNvPr id="112" name="TextBox 111"/>
          <p:cNvSpPr txBox="1"/>
          <p:nvPr/>
        </p:nvSpPr>
        <p:spPr>
          <a:xfrm>
            <a:off x="485775"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3" name="TextBox 112"/>
          <p:cNvSpPr txBox="1"/>
          <p:nvPr/>
        </p:nvSpPr>
        <p:spPr>
          <a:xfrm>
            <a:off x="485775" y="5453209"/>
            <a:ext cx="2665561" cy="186689"/>
          </a:xfrm>
          <a:prstGeom prst="rect">
            <a:avLst/>
          </a:prstGeom>
          <a:noFill/>
        </p:spPr>
        <p:txBody>
          <a:bodyPr wrap="none" lIns="0" rIns="0" tIns="0" bIns="0">
            <a:spAutoFit/>
          </a:bodyPr>
          <a:lstStyle/>
          <a:p>
            <a:r>
              <a:rPr sz="1100" b="0">
                <a:solidFill>
                  <a:srgbClr val="2E2E2E"/>
                </a:solidFill>
                <a:latin typeface="Calibri"/>
              </a:rPr>
              <a:t>Capsules and softgels segment is projected to</a:t>
            </a:r>
          </a:p>
        </p:txBody>
      </p:sp>
      <p:sp>
        <p:nvSpPr>
          <p:cNvPr id="114" name="TextBox 113"/>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115" name="Picture 114" descr="lock.png"/>
          <p:cNvPicPr>
            <a:picLocks noChangeAspect="1"/>
          </p:cNvPicPr>
          <p:nvPr/>
        </p:nvPicPr>
        <p:blipFill>
          <a:blip r:embed="rId22"/>
          <a:stretch>
            <a:fillRect/>
          </a:stretch>
        </p:blipFill>
        <p:spPr>
          <a:xfrm>
            <a:off x="946316" y="5611070"/>
            <a:ext cx="128699" cy="187198"/>
          </a:xfrm>
          <a:prstGeom prst="rect">
            <a:avLst/>
          </a:prstGeom>
        </p:spPr>
      </p:pic>
      <p:sp>
        <p:nvSpPr>
          <p:cNvPr id="116" name="TextBox 115"/>
          <p:cNvSpPr txBox="1"/>
          <p:nvPr/>
        </p:nvSpPr>
        <p:spPr>
          <a:xfrm>
            <a:off x="1113812" y="5620849"/>
            <a:ext cx="1802804" cy="186689"/>
          </a:xfrm>
          <a:prstGeom prst="rect">
            <a:avLst/>
          </a:prstGeom>
          <a:noFill/>
        </p:spPr>
        <p:txBody>
          <a:bodyPr wrap="none" lIns="0" rIns="0" tIns="0" bIns="0">
            <a:spAutoFit/>
          </a:bodyPr>
          <a:lstStyle/>
          <a:p>
            <a:r>
              <a:rPr sz="1100" b="0">
                <a:solidFill>
                  <a:srgbClr val="2E2E2E"/>
                </a:solidFill>
                <a:latin typeface="Calibri"/>
              </a:rPr>
              <a:t>X higher value than chewables</a:t>
            </a:r>
          </a:p>
        </p:txBody>
      </p:sp>
      <p:sp>
        <p:nvSpPr>
          <p:cNvPr id="117" name="TextBox 116"/>
          <p:cNvSpPr txBox="1"/>
          <p:nvPr/>
        </p:nvSpPr>
        <p:spPr>
          <a:xfrm>
            <a:off x="485775" y="5788489"/>
            <a:ext cx="1055464" cy="186689"/>
          </a:xfrm>
          <a:prstGeom prst="rect">
            <a:avLst/>
          </a:prstGeom>
          <a:noFill/>
        </p:spPr>
        <p:txBody>
          <a:bodyPr wrap="none" lIns="0" rIns="0" tIns="0" bIns="0">
            <a:spAutoFit/>
          </a:bodyPr>
          <a:lstStyle/>
          <a:p>
            <a:r>
              <a:rPr sz="1100" b="0">
                <a:solidFill>
                  <a:srgbClr val="2E2E2E"/>
                </a:solidFill>
                <a:latin typeface="Calibri"/>
              </a:rPr>
              <a:t>segment in 2036.</a:t>
            </a:r>
          </a:p>
        </p:txBody>
      </p:sp>
      <p:sp>
        <p:nvSpPr>
          <p:cNvPr id="118" name="TextBox 117"/>
          <p:cNvSpPr txBox="1"/>
          <p:nvPr/>
        </p:nvSpPr>
        <p:spPr>
          <a:xfrm>
            <a:off x="3838575" y="4229437"/>
            <a:ext cx="1454918" cy="186689"/>
          </a:xfrm>
          <a:prstGeom prst="rect">
            <a:avLst/>
          </a:prstGeom>
          <a:noFill/>
        </p:spPr>
        <p:txBody>
          <a:bodyPr wrap="none" lIns="0" rIns="0" tIns="0" bIns="0">
            <a:spAutoFit/>
          </a:bodyPr>
          <a:lstStyle/>
          <a:p>
            <a:r>
              <a:rPr sz="1100" b="0">
                <a:solidFill>
                  <a:srgbClr val="2E2E2E"/>
                </a:solidFill>
                <a:latin typeface="Calibri"/>
              </a:rPr>
              <a:t>● Capsules and Softgels:</a:t>
            </a:r>
          </a:p>
        </p:txBody>
      </p:sp>
      <p:pic>
        <p:nvPicPr>
          <p:cNvPr id="119" name="Picture 118" descr="lock.png"/>
          <p:cNvPicPr>
            <a:picLocks noChangeAspect="1"/>
          </p:cNvPicPr>
          <p:nvPr/>
        </p:nvPicPr>
        <p:blipFill>
          <a:blip r:embed="rId22"/>
          <a:stretch>
            <a:fillRect/>
          </a:stretch>
        </p:blipFill>
        <p:spPr>
          <a:xfrm>
            <a:off x="5241545" y="4219658"/>
            <a:ext cx="128699" cy="187198"/>
          </a:xfrm>
          <a:prstGeom prst="rect">
            <a:avLst/>
          </a:prstGeom>
        </p:spPr>
      </p:pic>
      <p:sp>
        <p:nvSpPr>
          <p:cNvPr id="120" name="TextBox 119"/>
          <p:cNvSpPr txBox="1"/>
          <p:nvPr/>
        </p:nvSpPr>
        <p:spPr>
          <a:xfrm>
            <a:off x="5409041"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1" name="Picture 120" descr="lock.png"/>
          <p:cNvPicPr>
            <a:picLocks noChangeAspect="1"/>
          </p:cNvPicPr>
          <p:nvPr/>
        </p:nvPicPr>
        <p:blipFill>
          <a:blip r:embed="rId22"/>
          <a:stretch>
            <a:fillRect/>
          </a:stretch>
        </p:blipFill>
        <p:spPr>
          <a:xfrm>
            <a:off x="6268491" y="4219658"/>
            <a:ext cx="128699" cy="187198"/>
          </a:xfrm>
          <a:prstGeom prst="rect">
            <a:avLst/>
          </a:prstGeom>
        </p:spPr>
      </p:pic>
      <p:sp>
        <p:nvSpPr>
          <p:cNvPr id="122" name="TextBox 121"/>
          <p:cNvSpPr txBox="1"/>
          <p:nvPr/>
        </p:nvSpPr>
        <p:spPr>
          <a:xfrm>
            <a:off x="6435987"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23" name="TextBox 122"/>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24" name="TextBox 123"/>
          <p:cNvSpPr txBox="1"/>
          <p:nvPr/>
        </p:nvSpPr>
        <p:spPr>
          <a:xfrm>
            <a:off x="3838575" y="4615009"/>
            <a:ext cx="641275" cy="186689"/>
          </a:xfrm>
          <a:prstGeom prst="rect">
            <a:avLst/>
          </a:prstGeom>
          <a:noFill/>
        </p:spPr>
        <p:txBody>
          <a:bodyPr wrap="none" lIns="0" rIns="0" tIns="0" bIns="0">
            <a:spAutoFit/>
          </a:bodyPr>
          <a:lstStyle/>
          <a:p>
            <a:r>
              <a:rPr sz="1100" b="0">
                <a:solidFill>
                  <a:srgbClr val="2E2E2E"/>
                </a:solidFill>
                <a:latin typeface="Calibri"/>
              </a:rPr>
              <a:t>● Tablets:</a:t>
            </a:r>
          </a:p>
        </p:txBody>
      </p:sp>
      <p:pic>
        <p:nvPicPr>
          <p:cNvPr id="125" name="Picture 124" descr="lock.png"/>
          <p:cNvPicPr>
            <a:picLocks noChangeAspect="1"/>
          </p:cNvPicPr>
          <p:nvPr/>
        </p:nvPicPr>
        <p:blipFill>
          <a:blip r:embed="rId22"/>
          <a:stretch>
            <a:fillRect/>
          </a:stretch>
        </p:blipFill>
        <p:spPr>
          <a:xfrm>
            <a:off x="4427902" y="4605230"/>
            <a:ext cx="128699" cy="187198"/>
          </a:xfrm>
          <a:prstGeom prst="rect">
            <a:avLst/>
          </a:prstGeom>
        </p:spPr>
      </p:pic>
      <p:sp>
        <p:nvSpPr>
          <p:cNvPr id="126" name="TextBox 125"/>
          <p:cNvSpPr txBox="1"/>
          <p:nvPr/>
        </p:nvSpPr>
        <p:spPr>
          <a:xfrm>
            <a:off x="4595398"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7" name="Picture 126" descr="lock.png"/>
          <p:cNvPicPr>
            <a:picLocks noChangeAspect="1"/>
          </p:cNvPicPr>
          <p:nvPr/>
        </p:nvPicPr>
        <p:blipFill>
          <a:blip r:embed="rId22"/>
          <a:stretch>
            <a:fillRect/>
          </a:stretch>
        </p:blipFill>
        <p:spPr>
          <a:xfrm>
            <a:off x="5454848" y="4605230"/>
            <a:ext cx="128699" cy="187198"/>
          </a:xfrm>
          <a:prstGeom prst="rect">
            <a:avLst/>
          </a:prstGeom>
        </p:spPr>
      </p:pic>
      <p:sp>
        <p:nvSpPr>
          <p:cNvPr id="128" name="TextBox 127"/>
          <p:cNvSpPr txBox="1"/>
          <p:nvPr/>
        </p:nvSpPr>
        <p:spPr>
          <a:xfrm>
            <a:off x="5622344" y="461500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9" name="TextBox 128"/>
          <p:cNvSpPr txBox="1"/>
          <p:nvPr/>
        </p:nvSpPr>
        <p:spPr>
          <a:xfrm>
            <a:off x="3838575" y="4832941"/>
            <a:ext cx="843458" cy="186689"/>
          </a:xfrm>
          <a:prstGeom prst="rect">
            <a:avLst/>
          </a:prstGeom>
          <a:noFill/>
        </p:spPr>
        <p:txBody>
          <a:bodyPr wrap="none" lIns="0" rIns="0" tIns="0" bIns="0">
            <a:spAutoFit/>
          </a:bodyPr>
          <a:lstStyle/>
          <a:p>
            <a:r>
              <a:rPr sz="1100" b="0">
                <a:solidFill>
                  <a:srgbClr val="2E2E2E"/>
                </a:solidFill>
                <a:latin typeface="Calibri"/>
              </a:rPr>
              <a:t>● Chewables:</a:t>
            </a:r>
          </a:p>
        </p:txBody>
      </p:sp>
      <p:pic>
        <p:nvPicPr>
          <p:cNvPr id="130" name="Picture 129" descr="lock.png"/>
          <p:cNvPicPr>
            <a:picLocks noChangeAspect="1"/>
          </p:cNvPicPr>
          <p:nvPr/>
        </p:nvPicPr>
        <p:blipFill>
          <a:blip r:embed="rId22"/>
          <a:stretch>
            <a:fillRect/>
          </a:stretch>
        </p:blipFill>
        <p:spPr>
          <a:xfrm>
            <a:off x="4630085" y="4823162"/>
            <a:ext cx="128699" cy="187198"/>
          </a:xfrm>
          <a:prstGeom prst="rect">
            <a:avLst/>
          </a:prstGeom>
        </p:spPr>
      </p:pic>
      <p:sp>
        <p:nvSpPr>
          <p:cNvPr id="131" name="TextBox 130"/>
          <p:cNvSpPr txBox="1"/>
          <p:nvPr/>
        </p:nvSpPr>
        <p:spPr>
          <a:xfrm>
            <a:off x="4797581"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2" name="Picture 131" descr="lock.png"/>
          <p:cNvPicPr>
            <a:picLocks noChangeAspect="1"/>
          </p:cNvPicPr>
          <p:nvPr/>
        </p:nvPicPr>
        <p:blipFill>
          <a:blip r:embed="rId22"/>
          <a:stretch>
            <a:fillRect/>
          </a:stretch>
        </p:blipFill>
        <p:spPr>
          <a:xfrm>
            <a:off x="5657031" y="4823162"/>
            <a:ext cx="128699" cy="187198"/>
          </a:xfrm>
          <a:prstGeom prst="rect">
            <a:avLst/>
          </a:prstGeom>
        </p:spPr>
      </p:pic>
      <p:sp>
        <p:nvSpPr>
          <p:cNvPr id="133" name="TextBox 132"/>
          <p:cNvSpPr txBox="1"/>
          <p:nvPr/>
        </p:nvSpPr>
        <p:spPr>
          <a:xfrm>
            <a:off x="5824527" y="483294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4" name="TextBox 133"/>
          <p:cNvSpPr txBox="1"/>
          <p:nvPr/>
        </p:nvSpPr>
        <p:spPr>
          <a:xfrm>
            <a:off x="3838575" y="5050872"/>
            <a:ext cx="1115764" cy="186689"/>
          </a:xfrm>
          <a:prstGeom prst="rect">
            <a:avLst/>
          </a:prstGeom>
          <a:noFill/>
        </p:spPr>
        <p:txBody>
          <a:bodyPr wrap="none" lIns="0" rIns="0" tIns="0" bIns="0">
            <a:spAutoFit/>
          </a:bodyPr>
          <a:lstStyle/>
          <a:p>
            <a:r>
              <a:rPr sz="1100" b="0">
                <a:solidFill>
                  <a:srgbClr val="2E2E2E"/>
                </a:solidFill>
                <a:latin typeface="Calibri"/>
              </a:rPr>
              <a:t>● Gels and Pastes:</a:t>
            </a:r>
          </a:p>
        </p:txBody>
      </p:sp>
      <p:pic>
        <p:nvPicPr>
          <p:cNvPr id="135" name="Picture 134" descr="lock.png"/>
          <p:cNvPicPr>
            <a:picLocks noChangeAspect="1"/>
          </p:cNvPicPr>
          <p:nvPr/>
        </p:nvPicPr>
        <p:blipFill>
          <a:blip r:embed="rId22"/>
          <a:stretch>
            <a:fillRect/>
          </a:stretch>
        </p:blipFill>
        <p:spPr>
          <a:xfrm>
            <a:off x="4902391" y="5041093"/>
            <a:ext cx="128699" cy="187198"/>
          </a:xfrm>
          <a:prstGeom prst="rect">
            <a:avLst/>
          </a:prstGeom>
        </p:spPr>
      </p:pic>
      <p:sp>
        <p:nvSpPr>
          <p:cNvPr id="136" name="TextBox 135"/>
          <p:cNvSpPr txBox="1"/>
          <p:nvPr/>
        </p:nvSpPr>
        <p:spPr>
          <a:xfrm>
            <a:off x="5069886" y="5050872"/>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7" name="Picture 136" descr="lock.png"/>
          <p:cNvPicPr>
            <a:picLocks noChangeAspect="1"/>
          </p:cNvPicPr>
          <p:nvPr/>
        </p:nvPicPr>
        <p:blipFill>
          <a:blip r:embed="rId22"/>
          <a:stretch>
            <a:fillRect/>
          </a:stretch>
        </p:blipFill>
        <p:spPr>
          <a:xfrm>
            <a:off x="5929337" y="5041093"/>
            <a:ext cx="128699" cy="187198"/>
          </a:xfrm>
          <a:prstGeom prst="rect">
            <a:avLst/>
          </a:prstGeom>
        </p:spPr>
      </p:pic>
      <p:sp>
        <p:nvSpPr>
          <p:cNvPr id="138" name="TextBox 137"/>
          <p:cNvSpPr txBox="1"/>
          <p:nvPr/>
        </p:nvSpPr>
        <p:spPr>
          <a:xfrm>
            <a:off x="6096832" y="5050872"/>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9" name="TextBox 138"/>
          <p:cNvSpPr txBox="1"/>
          <p:nvPr/>
        </p:nvSpPr>
        <p:spPr>
          <a:xfrm>
            <a:off x="3838575" y="5268804"/>
            <a:ext cx="627360" cy="186689"/>
          </a:xfrm>
          <a:prstGeom prst="rect">
            <a:avLst/>
          </a:prstGeom>
          <a:noFill/>
        </p:spPr>
        <p:txBody>
          <a:bodyPr wrap="none" lIns="0" rIns="0" tIns="0" bIns="0">
            <a:spAutoFit/>
          </a:bodyPr>
          <a:lstStyle/>
          <a:p>
            <a:r>
              <a:rPr sz="1100" b="0">
                <a:solidFill>
                  <a:srgbClr val="2E2E2E"/>
                </a:solidFill>
                <a:latin typeface="Calibri"/>
              </a:rPr>
              <a:t>● Liquids:</a:t>
            </a:r>
          </a:p>
        </p:txBody>
      </p:sp>
      <p:pic>
        <p:nvPicPr>
          <p:cNvPr id="140" name="Picture 139" descr="lock.png"/>
          <p:cNvPicPr>
            <a:picLocks noChangeAspect="1"/>
          </p:cNvPicPr>
          <p:nvPr/>
        </p:nvPicPr>
        <p:blipFill>
          <a:blip r:embed="rId22"/>
          <a:stretch>
            <a:fillRect/>
          </a:stretch>
        </p:blipFill>
        <p:spPr>
          <a:xfrm>
            <a:off x="4413986" y="5259025"/>
            <a:ext cx="128699" cy="187198"/>
          </a:xfrm>
          <a:prstGeom prst="rect">
            <a:avLst/>
          </a:prstGeom>
        </p:spPr>
      </p:pic>
      <p:sp>
        <p:nvSpPr>
          <p:cNvPr id="141" name="TextBox 140"/>
          <p:cNvSpPr txBox="1"/>
          <p:nvPr/>
        </p:nvSpPr>
        <p:spPr>
          <a:xfrm>
            <a:off x="4581482" y="5268804"/>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2" name="Picture 141" descr="lock.png"/>
          <p:cNvPicPr>
            <a:picLocks noChangeAspect="1"/>
          </p:cNvPicPr>
          <p:nvPr/>
        </p:nvPicPr>
        <p:blipFill>
          <a:blip r:embed="rId22"/>
          <a:stretch>
            <a:fillRect/>
          </a:stretch>
        </p:blipFill>
        <p:spPr>
          <a:xfrm>
            <a:off x="5440932" y="5259025"/>
            <a:ext cx="128699" cy="187198"/>
          </a:xfrm>
          <a:prstGeom prst="rect">
            <a:avLst/>
          </a:prstGeom>
        </p:spPr>
      </p:pic>
      <p:sp>
        <p:nvSpPr>
          <p:cNvPr id="143" name="TextBox 142"/>
          <p:cNvSpPr txBox="1"/>
          <p:nvPr/>
        </p:nvSpPr>
        <p:spPr>
          <a:xfrm>
            <a:off x="5608428" y="5268804"/>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4" name="TextBox 143"/>
          <p:cNvSpPr txBox="1"/>
          <p:nvPr/>
        </p:nvSpPr>
        <p:spPr>
          <a:xfrm>
            <a:off x="3838575" y="5486736"/>
            <a:ext cx="1505669" cy="186689"/>
          </a:xfrm>
          <a:prstGeom prst="rect">
            <a:avLst/>
          </a:prstGeom>
          <a:noFill/>
        </p:spPr>
        <p:txBody>
          <a:bodyPr wrap="none" lIns="0" rIns="0" tIns="0" bIns="0">
            <a:spAutoFit/>
          </a:bodyPr>
          <a:lstStyle/>
          <a:p>
            <a:r>
              <a:rPr sz="1100" b="0">
                <a:solidFill>
                  <a:srgbClr val="2E2E2E"/>
                </a:solidFill>
                <a:latin typeface="Calibri"/>
              </a:rPr>
              <a:t>● Powders and Granules:</a:t>
            </a:r>
          </a:p>
        </p:txBody>
      </p:sp>
      <p:pic>
        <p:nvPicPr>
          <p:cNvPr id="145" name="Picture 144" descr="lock.png"/>
          <p:cNvPicPr>
            <a:picLocks noChangeAspect="1"/>
          </p:cNvPicPr>
          <p:nvPr/>
        </p:nvPicPr>
        <p:blipFill>
          <a:blip r:embed="rId22"/>
          <a:stretch>
            <a:fillRect/>
          </a:stretch>
        </p:blipFill>
        <p:spPr>
          <a:xfrm>
            <a:off x="5292295" y="5476957"/>
            <a:ext cx="128699" cy="187198"/>
          </a:xfrm>
          <a:prstGeom prst="rect">
            <a:avLst/>
          </a:prstGeom>
        </p:spPr>
      </p:pic>
      <p:sp>
        <p:nvSpPr>
          <p:cNvPr id="146" name="TextBox 145"/>
          <p:cNvSpPr txBox="1"/>
          <p:nvPr/>
        </p:nvSpPr>
        <p:spPr>
          <a:xfrm>
            <a:off x="5459791" y="5486736"/>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7" name="Picture 146" descr="lock.png"/>
          <p:cNvPicPr>
            <a:picLocks noChangeAspect="1"/>
          </p:cNvPicPr>
          <p:nvPr/>
        </p:nvPicPr>
        <p:blipFill>
          <a:blip r:embed="rId22"/>
          <a:stretch>
            <a:fillRect/>
          </a:stretch>
        </p:blipFill>
        <p:spPr>
          <a:xfrm>
            <a:off x="6319241" y="5476957"/>
            <a:ext cx="128699" cy="187198"/>
          </a:xfrm>
          <a:prstGeom prst="rect">
            <a:avLst/>
          </a:prstGeom>
        </p:spPr>
      </p:pic>
      <p:sp>
        <p:nvSpPr>
          <p:cNvPr id="148" name="TextBox 147"/>
          <p:cNvSpPr txBox="1"/>
          <p:nvPr/>
        </p:nvSpPr>
        <p:spPr>
          <a:xfrm>
            <a:off x="6486737" y="5486736"/>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9" name="TextBox 148"/>
          <p:cNvSpPr txBox="1"/>
          <p:nvPr/>
        </p:nvSpPr>
        <p:spPr>
          <a:xfrm>
            <a:off x="8524875" y="5842641"/>
            <a:ext cx="3042243" cy="194310"/>
          </a:xfrm>
          <a:prstGeom prst="rect">
            <a:avLst/>
          </a:prstGeom>
          <a:noFill/>
        </p:spPr>
        <p:txBody>
          <a:bodyPr wrap="none" lIns="0" rIns="0" tIns="0" bIns="0">
            <a:spAutoFit/>
          </a:bodyPr>
          <a:lstStyle/>
          <a:p>
            <a:r>
              <a:rPr sz="1150" b="1">
                <a:solidFill>
                  <a:srgbClr val="0B2E4A"/>
                </a:solidFill>
                <a:latin typeface="Calibri"/>
              </a:rPr>
              <a:t>The Form Type segment is projected to grow at a</a:t>
            </a:r>
          </a:p>
        </p:txBody>
      </p:sp>
      <p:sp>
        <p:nvSpPr>
          <p:cNvPr id="150" name="TextBox 149"/>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51" name="Picture 150" descr="lock.png"/>
          <p:cNvPicPr>
            <a:picLocks noChangeAspect="1"/>
          </p:cNvPicPr>
          <p:nvPr/>
        </p:nvPicPr>
        <p:blipFill>
          <a:blip r:embed="rId22"/>
          <a:stretch>
            <a:fillRect/>
          </a:stretch>
        </p:blipFill>
        <p:spPr>
          <a:xfrm>
            <a:off x="9048826" y="6007677"/>
            <a:ext cx="134549" cy="195707"/>
          </a:xfrm>
          <a:prstGeom prst="rect">
            <a:avLst/>
          </a:prstGeom>
        </p:spPr>
      </p:pic>
      <p:sp>
        <p:nvSpPr>
          <p:cNvPr id="152" name="TextBox 151"/>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Form Type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Form Type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Form Type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Form Type · Bubble size represents 2036 value</a:t>
            </a:r>
          </a:p>
        </p:txBody>
      </p:sp>
      <p:graphicFrame>
        <p:nvGraphicFramePr>
          <p:cNvPr id="15" name="Chart 14"/>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301313" cy="186689"/>
          </a:xfrm>
          <a:prstGeom prst="rect">
            <a:avLst/>
          </a:prstGeom>
          <a:noFill/>
        </p:spPr>
        <p:txBody>
          <a:bodyPr wrap="none" lIns="0" rIns="0" tIns="0" bIns="0">
            <a:spAutoFit/>
          </a:bodyPr>
          <a:lstStyle/>
          <a:p>
            <a:r>
              <a:rPr sz="1100" b="0">
                <a:solidFill>
                  <a:srgbClr val="2E2E2E"/>
                </a:solidFill>
                <a:latin typeface="Calibri"/>
              </a:rPr>
              <a:t>Capsules and softgels followed by chewables are expected to be the two most attractive form type segments in the North America senior dog cognitive supplement market in terms of value over the</a:t>
            </a:r>
          </a:p>
        </p:txBody>
      </p:sp>
      <p:sp>
        <p:nvSpPr>
          <p:cNvPr id="20" name="TextBox 19"/>
          <p:cNvSpPr txBox="1"/>
          <p:nvPr/>
        </p:nvSpPr>
        <p:spPr>
          <a:xfrm>
            <a:off x="257175" y="5861685"/>
            <a:ext cx="4457360" cy="186689"/>
          </a:xfrm>
          <a:prstGeom prst="rect">
            <a:avLst/>
          </a:prstGeom>
          <a:noFill/>
        </p:spPr>
        <p:txBody>
          <a:bodyPr wrap="none" lIns="0" rIns="0" tIns="0" bIns="0">
            <a:spAutoFit/>
          </a:bodyPr>
          <a:lstStyle/>
          <a:p>
            <a:r>
              <a:rPr sz="1100" b="0">
                <a:solidFill>
                  <a:srgbClr val="2E2E2E"/>
                </a:solidFill>
                <a:latin typeface="Calibri"/>
              </a:rPr>
              <a:t>forecast period. Capsules and softgels and chewables exhibit a CAGR index of</a:t>
            </a:r>
          </a:p>
        </p:txBody>
      </p:sp>
      <p:pic>
        <p:nvPicPr>
          <p:cNvPr id="21" name="Picture 20" descr="lock.png"/>
          <p:cNvPicPr>
            <a:picLocks noChangeAspect="1"/>
          </p:cNvPicPr>
          <p:nvPr/>
        </p:nvPicPr>
        <p:blipFill>
          <a:blip r:embed="rId6"/>
          <a:stretch>
            <a:fillRect/>
          </a:stretch>
        </p:blipFill>
        <p:spPr>
          <a:xfrm>
            <a:off x="4662587" y="5851905"/>
            <a:ext cx="128699" cy="187198"/>
          </a:xfrm>
          <a:prstGeom prst="rect">
            <a:avLst/>
          </a:prstGeom>
        </p:spPr>
      </p:pic>
      <p:sp>
        <p:nvSpPr>
          <p:cNvPr id="22" name="TextBox 21"/>
          <p:cNvSpPr txBox="1"/>
          <p:nvPr/>
        </p:nvSpPr>
        <p:spPr>
          <a:xfrm>
            <a:off x="4830082"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5067977" y="5851905"/>
            <a:ext cx="128699" cy="187198"/>
          </a:xfrm>
          <a:prstGeom prst="rect">
            <a:avLst/>
          </a:prstGeom>
        </p:spPr>
      </p:pic>
      <p:sp>
        <p:nvSpPr>
          <p:cNvPr id="24" name="TextBox 23"/>
          <p:cNvSpPr txBox="1"/>
          <p:nvPr/>
        </p:nvSpPr>
        <p:spPr>
          <a:xfrm>
            <a:off x="5235473"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6844446" y="5851905"/>
            <a:ext cx="128699" cy="187198"/>
          </a:xfrm>
          <a:prstGeom prst="rect">
            <a:avLst/>
          </a:prstGeom>
        </p:spPr>
      </p:pic>
      <p:sp>
        <p:nvSpPr>
          <p:cNvPr id="26" name="TextBox 25"/>
          <p:cNvSpPr txBox="1"/>
          <p:nvPr/>
        </p:nvSpPr>
        <p:spPr>
          <a:xfrm>
            <a:off x="7011942"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7249836" y="5851905"/>
            <a:ext cx="128699" cy="187198"/>
          </a:xfrm>
          <a:prstGeom prst="rect">
            <a:avLst/>
          </a:prstGeom>
        </p:spPr>
      </p:pic>
      <p:sp>
        <p:nvSpPr>
          <p:cNvPr id="28" name="TextBox 27"/>
          <p:cNvSpPr txBox="1"/>
          <p:nvPr/>
        </p:nvSpPr>
        <p:spPr>
          <a:xfrm>
            <a:off x="7417332"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9971736" y="5851905"/>
            <a:ext cx="128699" cy="187198"/>
          </a:xfrm>
          <a:prstGeom prst="rect">
            <a:avLst/>
          </a:prstGeom>
        </p:spPr>
      </p:pic>
      <p:sp>
        <p:nvSpPr>
          <p:cNvPr id="30" name="TextBox 29"/>
          <p:cNvSpPr txBox="1"/>
          <p:nvPr/>
        </p:nvSpPr>
        <p:spPr>
          <a:xfrm>
            <a:off x="10139232" y="5861685"/>
            <a:ext cx="1124495" cy="186689"/>
          </a:xfrm>
          <a:prstGeom prst="rect">
            <a:avLst/>
          </a:prstGeom>
          <a:noFill/>
        </p:spPr>
        <p:txBody>
          <a:bodyPr wrap="none" lIns="0" rIns="0" tIns="0" bIns="0">
            <a:spAutoFit/>
          </a:bodyPr>
          <a:lstStyle/>
          <a:p>
            <a:r>
              <a:rPr sz="1100" b="0">
                <a:solidFill>
                  <a:srgbClr val="2E2E2E"/>
                </a:solidFill>
                <a:latin typeface="Calibri"/>
              </a:rPr>
              <a:t>. The powders and</a:t>
            </a:r>
          </a:p>
        </p:txBody>
      </p:sp>
      <p:sp>
        <p:nvSpPr>
          <p:cNvPr id="31" name="TextBox 30"/>
          <p:cNvSpPr txBox="1"/>
          <p:nvPr/>
        </p:nvSpPr>
        <p:spPr>
          <a:xfrm>
            <a:off x="257175" y="6029325"/>
            <a:ext cx="11677650" cy="186689"/>
          </a:xfrm>
          <a:prstGeom prst="rect">
            <a:avLst/>
          </a:prstGeom>
          <a:noFill/>
        </p:spPr>
        <p:txBody>
          <a:bodyPr wrap="none" lIns="0" rIns="0" tIns="0" bIns="0">
            <a:spAutoFit/>
          </a:bodyPr>
          <a:lstStyle/>
          <a:p>
            <a:r>
              <a:rPr sz="1100" b="0">
                <a:solidFill>
                  <a:srgbClr val="2E2E2E"/>
                </a:solidFill>
                <a:latin typeface="Calibri"/>
              </a:rPr>
              <a:t>granules segment is expected to be less attractive as compared to other segments over the forecast period, owing to its lower CAGR and incremental opportunity. Bubbles right of the CAGR-Index line grow</a:t>
            </a:r>
          </a:p>
        </p:txBody>
      </p:sp>
      <p:sp>
        <p:nvSpPr>
          <p:cNvPr id="32" name="TextBox 31"/>
          <p:cNvSpPr txBox="1"/>
          <p:nvPr/>
        </p:nvSpPr>
        <p:spPr>
          <a:xfrm>
            <a:off x="257175" y="6196965"/>
            <a:ext cx="1959694" cy="186689"/>
          </a:xfrm>
          <a:prstGeom prst="rect">
            <a:avLst/>
          </a:prstGeom>
          <a:noFill/>
        </p:spPr>
        <p:txBody>
          <a:bodyPr wrap="none" lIns="0" rIns="0" tIns="0" bIns="0">
            <a:spAutoFit/>
          </a:bodyPr>
          <a:lstStyle/>
          <a:p>
            <a:r>
              <a:rPr sz="1100" b="0">
                <a:solidFill>
                  <a:srgbClr val="2E2E2E"/>
                </a:solidFill>
                <a:latin typeface="Calibri"/>
              </a:rPr>
              <a:t>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Form Type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Form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Chewables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Tablets</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Capsules and Softgels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Powders and Granules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Form Type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Form Type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Liquids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Gels and Pastes</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Form Type</a:t>
            </a:r>
          </a:p>
        </p:txBody>
      </p:sp>
      <p:sp>
        <p:nvSpPr>
          <p:cNvPr id="18" name="Rectangle 17"/>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6"/>
          <a:stretch>
            <a:fillRect/>
          </a:stretch>
        </p:blipFill>
        <p:spPr>
          <a:xfrm>
            <a:off x="3094826" y="2237234"/>
            <a:ext cx="263506" cy="383281"/>
          </a:xfrm>
          <a:prstGeom prst="rect">
            <a:avLst/>
          </a:prstGeom>
        </p:spPr>
      </p:pic>
      <p:pic>
        <p:nvPicPr>
          <p:cNvPr id="22" name="Picture 21" descr="lock.png"/>
          <p:cNvPicPr>
            <a:picLocks noChangeAspect="1"/>
          </p:cNvPicPr>
          <p:nvPr/>
        </p:nvPicPr>
        <p:blipFill>
          <a:blip r:embed="rId6"/>
          <a:stretch>
            <a:fillRect/>
          </a:stretch>
        </p:blipFill>
        <p:spPr>
          <a:xfrm>
            <a:off x="3100230" y="5216754"/>
            <a:ext cx="252890" cy="367840"/>
          </a:xfrm>
          <a:prstGeom prst="rect">
            <a:avLst/>
          </a:prstGeom>
        </p:spPr>
      </p:pic>
      <p:sp>
        <p:nvSpPr>
          <p:cNvPr id="23" name="TextBox 22"/>
          <p:cNvSpPr txBox="1"/>
          <p:nvPr/>
        </p:nvSpPr>
        <p:spPr>
          <a:xfrm>
            <a:off x="6305550" y="1598245"/>
            <a:ext cx="4756338" cy="194310"/>
          </a:xfrm>
          <a:prstGeom prst="rect">
            <a:avLst/>
          </a:prstGeom>
          <a:noFill/>
        </p:spPr>
        <p:txBody>
          <a:bodyPr wrap="none" lIns="0" rIns="0" tIns="0" bIns="0">
            <a:spAutoFit/>
          </a:bodyPr>
          <a:lstStyle/>
          <a:p>
            <a:r>
              <a:rPr sz="1150" b="0">
                <a:solidFill>
                  <a:srgbClr val="2E2E2E"/>
                </a:solidFill>
                <a:latin typeface="Calibri"/>
              </a:rPr>
              <a:t>By 2036, capsules and softgels segment is anticipated to witness an increase of</a:t>
            </a:r>
          </a:p>
        </p:txBody>
      </p:sp>
      <p:pic>
        <p:nvPicPr>
          <p:cNvPr id="24" name="Picture 23" descr="lock.png"/>
          <p:cNvPicPr>
            <a:picLocks noChangeAspect="1"/>
          </p:cNvPicPr>
          <p:nvPr/>
        </p:nvPicPr>
        <p:blipFill>
          <a:blip r:embed="rId6"/>
          <a:stretch>
            <a:fillRect/>
          </a:stretch>
        </p:blipFill>
        <p:spPr>
          <a:xfrm>
            <a:off x="11011042" y="1588021"/>
            <a:ext cx="134549" cy="195707"/>
          </a:xfrm>
          <a:prstGeom prst="rect">
            <a:avLst/>
          </a:prstGeom>
        </p:spPr>
      </p:pic>
      <p:sp>
        <p:nvSpPr>
          <p:cNvPr id="25" name="TextBox 24"/>
          <p:cNvSpPr txBox="1"/>
          <p:nvPr/>
        </p:nvSpPr>
        <p:spPr>
          <a:xfrm>
            <a:off x="11186151" y="1598245"/>
            <a:ext cx="675233" cy="194310"/>
          </a:xfrm>
          <a:prstGeom prst="rect">
            <a:avLst/>
          </a:prstGeom>
          <a:noFill/>
        </p:spPr>
        <p:txBody>
          <a:bodyPr wrap="none" lIns="0" rIns="0" tIns="0" bIns="0">
            <a:spAutoFit/>
          </a:bodyPr>
          <a:lstStyle/>
          <a:p>
            <a:r>
              <a:rPr sz="1150" b="0">
                <a:solidFill>
                  <a:srgbClr val="2E2E2E"/>
                </a:solidFill>
                <a:latin typeface="Calibri"/>
              </a:rPr>
              <a:t>X in terms</a:t>
            </a:r>
          </a:p>
        </p:txBody>
      </p:sp>
      <p:sp>
        <p:nvSpPr>
          <p:cNvPr id="26" name="TextBox 25"/>
          <p:cNvSpPr txBox="1"/>
          <p:nvPr/>
        </p:nvSpPr>
        <p:spPr>
          <a:xfrm>
            <a:off x="6305550" y="1773505"/>
            <a:ext cx="5412444" cy="194310"/>
          </a:xfrm>
          <a:prstGeom prst="rect">
            <a:avLst/>
          </a:prstGeom>
          <a:noFill/>
        </p:spPr>
        <p:txBody>
          <a:bodyPr wrap="none" lIns="0" rIns="0" tIns="0" bIns="0">
            <a:spAutoFit/>
          </a:bodyPr>
          <a:lstStyle/>
          <a:p>
            <a:r>
              <a:rPr sz="1150" b="0">
                <a:solidFill>
                  <a:srgbClr val="2E2E2E"/>
                </a:solidFill>
                <a:latin typeface="Calibri"/>
              </a:rPr>
              <a:t>of value as compared to 2026. The capsules and softgels segment is expected to create an</a:t>
            </a:r>
          </a:p>
        </p:txBody>
      </p:sp>
      <p:sp>
        <p:nvSpPr>
          <p:cNvPr id="27" name="TextBox 26"/>
          <p:cNvSpPr txBox="1"/>
          <p:nvPr/>
        </p:nvSpPr>
        <p:spPr>
          <a:xfrm>
            <a:off x="6305550" y="1948765"/>
            <a:ext cx="1956879" cy="194310"/>
          </a:xfrm>
          <a:prstGeom prst="rect">
            <a:avLst/>
          </a:prstGeom>
          <a:noFill/>
        </p:spPr>
        <p:txBody>
          <a:bodyPr wrap="none" lIns="0" rIns="0" tIns="0" bIns="0">
            <a:spAutoFit/>
          </a:bodyPr>
          <a:lstStyle/>
          <a:p>
            <a:r>
              <a:rPr sz="1150" b="0">
                <a:solidFill>
                  <a:srgbClr val="2E2E2E"/>
                </a:solidFill>
                <a:latin typeface="Calibri"/>
              </a:rPr>
              <a:t>incremental opportunity of US$</a:t>
            </a:r>
          </a:p>
        </p:txBody>
      </p:sp>
      <p:pic>
        <p:nvPicPr>
          <p:cNvPr id="28" name="Picture 27" descr="lock.png"/>
          <p:cNvPicPr>
            <a:picLocks noChangeAspect="1"/>
          </p:cNvPicPr>
          <p:nvPr/>
        </p:nvPicPr>
        <p:blipFill>
          <a:blip r:embed="rId6"/>
          <a:stretch>
            <a:fillRect/>
          </a:stretch>
        </p:blipFill>
        <p:spPr>
          <a:xfrm>
            <a:off x="8211582" y="1938541"/>
            <a:ext cx="134549" cy="195707"/>
          </a:xfrm>
          <a:prstGeom prst="rect">
            <a:avLst/>
          </a:prstGeom>
        </p:spPr>
      </p:pic>
      <p:sp>
        <p:nvSpPr>
          <p:cNvPr id="29" name="TextBox 28"/>
          <p:cNvSpPr txBox="1"/>
          <p:nvPr/>
        </p:nvSpPr>
        <p:spPr>
          <a:xfrm>
            <a:off x="8386692" y="1948765"/>
            <a:ext cx="3123567" cy="194310"/>
          </a:xfrm>
          <a:prstGeom prst="rect">
            <a:avLst/>
          </a:prstGeom>
          <a:noFill/>
        </p:spPr>
        <p:txBody>
          <a:bodyPr wrap="none" lIns="0" rIns="0" tIns="0" bIns="0">
            <a:spAutoFit/>
          </a:bodyPr>
          <a:lstStyle/>
          <a:p>
            <a:r>
              <a:rPr sz="1150" b="0">
                <a:solidFill>
                  <a:srgbClr val="2E2E2E"/>
                </a:solidFill>
                <a:latin typeface="Calibri"/>
              </a:rPr>
              <a:t>Mn for the overall senior dog cognitive supplement</a:t>
            </a:r>
          </a:p>
        </p:txBody>
      </p:sp>
      <p:sp>
        <p:nvSpPr>
          <p:cNvPr id="30" name="TextBox 29"/>
          <p:cNvSpPr txBox="1"/>
          <p:nvPr/>
        </p:nvSpPr>
        <p:spPr>
          <a:xfrm>
            <a:off x="6305550" y="2124025"/>
            <a:ext cx="1679897" cy="194310"/>
          </a:xfrm>
          <a:prstGeom prst="rect">
            <a:avLst/>
          </a:prstGeom>
          <a:noFill/>
        </p:spPr>
        <p:txBody>
          <a:bodyPr wrap="none" lIns="0" rIns="0" tIns="0" bIns="0">
            <a:spAutoFit/>
          </a:bodyPr>
          <a:lstStyle/>
          <a:p>
            <a:r>
              <a:rPr sz="1150" b="0">
                <a:solidFill>
                  <a:srgbClr val="2E2E2E"/>
                </a:solidFill>
                <a:latin typeface="Calibri"/>
              </a:rPr>
              <a:t>market from 2026 to 2036.</a:t>
            </a:r>
          </a:p>
        </p:txBody>
      </p:sp>
      <p:sp>
        <p:nvSpPr>
          <p:cNvPr id="31" name="TextBox 30"/>
          <p:cNvSpPr txBox="1"/>
          <p:nvPr/>
        </p:nvSpPr>
        <p:spPr>
          <a:xfrm>
            <a:off x="6305550" y="2351863"/>
            <a:ext cx="4868750" cy="194310"/>
          </a:xfrm>
          <a:prstGeom prst="rect">
            <a:avLst/>
          </a:prstGeom>
          <a:noFill/>
        </p:spPr>
        <p:txBody>
          <a:bodyPr wrap="none" lIns="0" rIns="0" tIns="0" bIns="0">
            <a:spAutoFit/>
          </a:bodyPr>
          <a:lstStyle/>
          <a:p>
            <a:r>
              <a:rPr sz="1150" b="0">
                <a:solidFill>
                  <a:srgbClr val="2E2E2E"/>
                </a:solidFill>
                <a:latin typeface="Calibri"/>
              </a:rPr>
              <a:t>The chewables segment is expected to create an incremental opportunity of US$</a:t>
            </a:r>
          </a:p>
        </p:txBody>
      </p:sp>
      <p:pic>
        <p:nvPicPr>
          <p:cNvPr id="32" name="Picture 31" descr="lock.png"/>
          <p:cNvPicPr>
            <a:picLocks noChangeAspect="1"/>
          </p:cNvPicPr>
          <p:nvPr/>
        </p:nvPicPr>
        <p:blipFill>
          <a:blip r:embed="rId6"/>
          <a:stretch>
            <a:fillRect/>
          </a:stretch>
        </p:blipFill>
        <p:spPr>
          <a:xfrm>
            <a:off x="11123454" y="2341639"/>
            <a:ext cx="134549" cy="195707"/>
          </a:xfrm>
          <a:prstGeom prst="rect">
            <a:avLst/>
          </a:prstGeom>
        </p:spPr>
      </p:pic>
      <p:sp>
        <p:nvSpPr>
          <p:cNvPr id="33" name="TextBox 32"/>
          <p:cNvSpPr txBox="1"/>
          <p:nvPr/>
        </p:nvSpPr>
        <p:spPr>
          <a:xfrm>
            <a:off x="11298564" y="2351863"/>
            <a:ext cx="483542" cy="194310"/>
          </a:xfrm>
          <a:prstGeom prst="rect">
            <a:avLst/>
          </a:prstGeom>
          <a:noFill/>
        </p:spPr>
        <p:txBody>
          <a:bodyPr wrap="none" lIns="0" rIns="0" tIns="0" bIns="0">
            <a:spAutoFit/>
          </a:bodyPr>
          <a:lstStyle/>
          <a:p>
            <a:r>
              <a:rPr sz="1150" b="0">
                <a:solidFill>
                  <a:srgbClr val="2E2E2E"/>
                </a:solidFill>
                <a:latin typeface="Calibri"/>
              </a:rPr>
              <a:t>Mn for</a:t>
            </a:r>
          </a:p>
        </p:txBody>
      </p:sp>
      <p:sp>
        <p:nvSpPr>
          <p:cNvPr id="34" name="TextBox 33"/>
          <p:cNvSpPr txBox="1"/>
          <p:nvPr/>
        </p:nvSpPr>
        <p:spPr>
          <a:xfrm>
            <a:off x="6305550" y="2527123"/>
            <a:ext cx="5561917" cy="194310"/>
          </a:xfrm>
          <a:prstGeom prst="rect">
            <a:avLst/>
          </a:prstGeom>
          <a:noFill/>
        </p:spPr>
        <p:txBody>
          <a:bodyPr wrap="none" lIns="0" rIns="0" tIns="0" bIns="0">
            <a:spAutoFit/>
          </a:bodyPr>
          <a:lstStyle/>
          <a:p>
            <a:r>
              <a:rPr sz="1150" b="0">
                <a:solidFill>
                  <a:srgbClr val="2E2E2E"/>
                </a:solidFill>
                <a:latin typeface="Calibri"/>
              </a:rPr>
              <a:t>the overall senior dog cognitive supplement market from 2026 to 2036. The tablets segment</a:t>
            </a:r>
          </a:p>
        </p:txBody>
      </p:sp>
      <p:sp>
        <p:nvSpPr>
          <p:cNvPr id="35" name="TextBox 34"/>
          <p:cNvSpPr txBox="1"/>
          <p:nvPr/>
        </p:nvSpPr>
        <p:spPr>
          <a:xfrm>
            <a:off x="6305550" y="2702383"/>
            <a:ext cx="3409106" cy="194310"/>
          </a:xfrm>
          <a:prstGeom prst="rect">
            <a:avLst/>
          </a:prstGeom>
          <a:noFill/>
        </p:spPr>
        <p:txBody>
          <a:bodyPr wrap="none" lIns="0" rIns="0" tIns="0" bIns="0">
            <a:spAutoFit/>
          </a:bodyPr>
          <a:lstStyle/>
          <a:p>
            <a:r>
              <a:rPr sz="1150" b="0">
                <a:solidFill>
                  <a:srgbClr val="2E2E2E"/>
                </a:solidFill>
                <a:latin typeface="Calibri"/>
              </a:rPr>
              <a:t>is expected to create an incremental opportunity of US$</a:t>
            </a:r>
          </a:p>
        </p:txBody>
      </p:sp>
      <p:pic>
        <p:nvPicPr>
          <p:cNvPr id="36" name="Picture 35" descr="lock.png"/>
          <p:cNvPicPr>
            <a:picLocks noChangeAspect="1"/>
          </p:cNvPicPr>
          <p:nvPr/>
        </p:nvPicPr>
        <p:blipFill>
          <a:blip r:embed="rId6"/>
          <a:stretch>
            <a:fillRect/>
          </a:stretch>
        </p:blipFill>
        <p:spPr>
          <a:xfrm>
            <a:off x="9663810" y="2692159"/>
            <a:ext cx="134549" cy="195707"/>
          </a:xfrm>
          <a:prstGeom prst="rect">
            <a:avLst/>
          </a:prstGeom>
        </p:spPr>
      </p:pic>
      <p:sp>
        <p:nvSpPr>
          <p:cNvPr id="37" name="TextBox 36"/>
          <p:cNvSpPr txBox="1"/>
          <p:nvPr/>
        </p:nvSpPr>
        <p:spPr>
          <a:xfrm>
            <a:off x="9838919" y="2702383"/>
            <a:ext cx="1809117" cy="194310"/>
          </a:xfrm>
          <a:prstGeom prst="rect">
            <a:avLst/>
          </a:prstGeom>
          <a:noFill/>
        </p:spPr>
        <p:txBody>
          <a:bodyPr wrap="none" lIns="0" rIns="0" tIns="0" bIns="0">
            <a:spAutoFit/>
          </a:bodyPr>
          <a:lstStyle/>
          <a:p>
            <a:r>
              <a:rPr sz="1150" b="0">
                <a:solidFill>
                  <a:srgbClr val="2E2E2E"/>
                </a:solidFill>
                <a:latin typeface="Calibri"/>
              </a:rPr>
              <a:t>Mn for the overall senior dog</a:t>
            </a:r>
          </a:p>
        </p:txBody>
      </p:sp>
      <p:sp>
        <p:nvSpPr>
          <p:cNvPr id="38" name="TextBox 37"/>
          <p:cNvSpPr txBox="1"/>
          <p:nvPr/>
        </p:nvSpPr>
        <p:spPr>
          <a:xfrm>
            <a:off x="6305550" y="2877643"/>
            <a:ext cx="2994347" cy="194310"/>
          </a:xfrm>
          <a:prstGeom prst="rect">
            <a:avLst/>
          </a:prstGeom>
          <a:noFill/>
        </p:spPr>
        <p:txBody>
          <a:bodyPr wrap="none" lIns="0" rIns="0" tIns="0" bIns="0">
            <a:spAutoFit/>
          </a:bodyPr>
          <a:lstStyle/>
          <a:p>
            <a:r>
              <a:rPr sz="1150" b="0">
                <a:solidFill>
                  <a:srgbClr val="2E2E2E"/>
                </a:solidFill>
                <a:latin typeface="Calibri"/>
              </a:rPr>
              <a:t>cognitive supplement market from 2026 to 2036.</a:t>
            </a:r>
          </a:p>
        </p:txBody>
      </p:sp>
      <p:sp>
        <p:nvSpPr>
          <p:cNvPr id="3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Form Type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Form Type, 2021–2036, highlighting the sub-segments driving growth</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Form Type (US$ Mn)</a:t>
            </a:r>
          </a:p>
        </p:txBody>
      </p:sp>
      <p:graphicFrame>
        <p:nvGraphicFramePr>
          <p:cNvPr id="12" name="Table 11"/>
          <p:cNvGraphicFramePr>
            <a:graphicFrameLocks noGrp="1"/>
          </p:cNvGraphicFramePr>
          <p:nvPr/>
        </p:nvGraphicFramePr>
        <p:xfrm>
          <a:off x="152400" y="1238250"/>
          <a:ext cx="11887195" cy="1971675"/>
        </p:xfrm>
        <a:graphic>
          <a:graphicData uri="http://schemas.openxmlformats.org/drawingml/2006/table">
            <a:tbl>
              <a:tblPr>
                <a:tableStyleId>{5C22544A-7EE6-4342-B048-85BDC9FD1C3A}</a:tableStyleId>
              </a:tblPr>
              <a:tblGrid>
                <a:gridCol w="1597554"/>
                <a:gridCol w="605273"/>
                <a:gridCol w="605273"/>
                <a:gridCol w="605273"/>
                <a:gridCol w="605273"/>
                <a:gridCol w="605273"/>
                <a:gridCol w="605273"/>
                <a:gridCol w="605273"/>
                <a:gridCol w="605273"/>
                <a:gridCol w="605273"/>
                <a:gridCol w="605273"/>
                <a:gridCol w="605273"/>
                <a:gridCol w="605273"/>
                <a:gridCol w="605273"/>
                <a:gridCol w="605273"/>
                <a:gridCol w="605273"/>
                <a:gridCol w="605273"/>
                <a:gridCol w="605273"/>
              </a:tblGrid>
              <a:tr h="246126">
                <a:tc>
                  <a:txBody>
                    <a:bodyPr wrap="none"/>
                    <a:lstStyle/>
                    <a:p>
                      <a:pPr algn="l"/>
                      <a:r>
                        <a:rPr sz="1100" b="1">
                          <a:solidFill>
                            <a:srgbClr val="0B2E4A"/>
                          </a:solidFill>
                          <a:latin typeface="Calibri"/>
                        </a:rPr>
                        <a:t>Form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Chewables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Tablets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Capsules and Softgels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Powders and Granules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Liquids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Gels and Pastes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Form Type</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708084" y="2080450"/>
            <a:ext cx="366712" cy="533400"/>
          </a:xfrm>
          <a:prstGeom prst="rect">
            <a:avLst/>
          </a:prstGeom>
        </p:spPr>
      </p:pic>
      <p:sp>
        <p:nvSpPr>
          <p:cNvPr id="20" name="TextBox 19"/>
          <p:cNvSpPr txBox="1"/>
          <p:nvPr/>
        </p:nvSpPr>
        <p:spPr>
          <a:xfrm>
            <a:off x="276225" y="3971925"/>
            <a:ext cx="3272470" cy="194310"/>
          </a:xfrm>
          <a:prstGeom prst="rect">
            <a:avLst/>
          </a:prstGeom>
          <a:noFill/>
        </p:spPr>
        <p:txBody>
          <a:bodyPr wrap="none" lIns="0" rIns="0" tIns="0" bIns="0">
            <a:spAutoFit/>
          </a:bodyPr>
          <a:lstStyle/>
          <a:p>
            <a:r>
              <a:rPr sz="1150" b="0">
                <a:solidFill>
                  <a:srgbClr val="2E2E2E"/>
                </a:solidFill>
                <a:latin typeface="Calibri"/>
              </a:rPr>
              <a:t>Capsules and softgels segment is projected to register</a:t>
            </a:r>
          </a:p>
        </p:txBody>
      </p:sp>
      <p:pic>
        <p:nvPicPr>
          <p:cNvPr id="21" name="Picture 20" descr="lock.png"/>
          <p:cNvPicPr>
            <a:picLocks noChangeAspect="1"/>
          </p:cNvPicPr>
          <p:nvPr/>
        </p:nvPicPr>
        <p:blipFill>
          <a:blip r:embed="rId4"/>
          <a:stretch>
            <a:fillRect/>
          </a:stretch>
        </p:blipFill>
        <p:spPr>
          <a:xfrm>
            <a:off x="3497848" y="3961701"/>
            <a:ext cx="134549" cy="195707"/>
          </a:xfrm>
          <a:prstGeom prst="rect">
            <a:avLst/>
          </a:prstGeom>
        </p:spPr>
      </p:pic>
      <p:sp>
        <p:nvSpPr>
          <p:cNvPr id="22" name="TextBox 21"/>
          <p:cNvSpPr txBox="1"/>
          <p:nvPr/>
        </p:nvSpPr>
        <p:spPr>
          <a:xfrm>
            <a:off x="3672958" y="3971925"/>
            <a:ext cx="8107523" cy="194310"/>
          </a:xfrm>
          <a:prstGeom prst="rect">
            <a:avLst/>
          </a:prstGeom>
          <a:noFill/>
        </p:spPr>
        <p:txBody>
          <a:bodyPr wrap="none" lIns="0" rIns="0" tIns="0" bIns="0">
            <a:spAutoFit/>
          </a:bodyPr>
          <a:lstStyle/>
          <a:p>
            <a:r>
              <a:rPr sz="1150" b="0">
                <a:solidFill>
                  <a:srgbClr val="2E2E2E"/>
                </a:solidFill>
                <a:latin typeface="Calibri"/>
              </a:rPr>
              <a:t>X higher value than chewables segment in 2036. Among senior dog cognitive supplement by form type, chewables segment is expected</a:t>
            </a:r>
          </a:p>
        </p:txBody>
      </p:sp>
      <p:sp>
        <p:nvSpPr>
          <p:cNvPr id="23" name="TextBox 22"/>
          <p:cNvSpPr txBox="1"/>
          <p:nvPr/>
        </p:nvSpPr>
        <p:spPr>
          <a:xfrm>
            <a:off x="276225" y="4147185"/>
            <a:ext cx="1906941" cy="194310"/>
          </a:xfrm>
          <a:prstGeom prst="rect">
            <a:avLst/>
          </a:prstGeom>
          <a:noFill/>
        </p:spPr>
        <p:txBody>
          <a:bodyPr wrap="none" lIns="0" rIns="0" tIns="0" bIns="0">
            <a:spAutoFit/>
          </a:bodyPr>
          <a:lstStyle/>
          <a:p>
            <a:r>
              <a:rPr sz="1150" b="0">
                <a:solidFill>
                  <a:srgbClr val="2E2E2E"/>
                </a:solidFill>
                <a:latin typeface="Calibri"/>
              </a:rPr>
              <a:t>to witness the highest CAGR of</a:t>
            </a:r>
          </a:p>
        </p:txBody>
      </p:sp>
      <p:pic>
        <p:nvPicPr>
          <p:cNvPr id="24" name="Picture 23" descr="lock.png"/>
          <p:cNvPicPr>
            <a:picLocks noChangeAspect="1"/>
          </p:cNvPicPr>
          <p:nvPr/>
        </p:nvPicPr>
        <p:blipFill>
          <a:blip r:embed="rId4"/>
          <a:stretch>
            <a:fillRect/>
          </a:stretch>
        </p:blipFill>
        <p:spPr>
          <a:xfrm>
            <a:off x="2132320" y="4136961"/>
            <a:ext cx="134549" cy="195707"/>
          </a:xfrm>
          <a:prstGeom prst="rect">
            <a:avLst/>
          </a:prstGeom>
        </p:spPr>
      </p:pic>
      <p:sp>
        <p:nvSpPr>
          <p:cNvPr id="25" name="TextBox 24"/>
          <p:cNvSpPr txBox="1"/>
          <p:nvPr/>
        </p:nvSpPr>
        <p:spPr>
          <a:xfrm>
            <a:off x="2307429"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6991895" cy="194310"/>
          </a:xfrm>
          <a:prstGeom prst="rect">
            <a:avLst/>
          </a:prstGeom>
          <a:noFill/>
        </p:spPr>
        <p:txBody>
          <a:bodyPr wrap="none" lIns="0" rIns="0" tIns="0" bIns="0">
            <a:spAutoFit/>
          </a:bodyPr>
          <a:lstStyle/>
          <a:p>
            <a:r>
              <a:rPr sz="1150" b="0">
                <a:solidFill>
                  <a:srgbClr val="2E2E2E"/>
                </a:solidFill>
                <a:latin typeface="Calibri"/>
              </a:rPr>
              <a:t>In terms of value share by form type, the capsules and softgels segment is expected to dominate the market, gaining</a:t>
            </a:r>
          </a:p>
        </p:txBody>
      </p:sp>
      <p:pic>
        <p:nvPicPr>
          <p:cNvPr id="27" name="Picture 26" descr="lock.png"/>
          <p:cNvPicPr>
            <a:picLocks noChangeAspect="1"/>
          </p:cNvPicPr>
          <p:nvPr/>
        </p:nvPicPr>
        <p:blipFill>
          <a:blip r:embed="rId4"/>
          <a:stretch>
            <a:fillRect/>
          </a:stretch>
        </p:blipFill>
        <p:spPr>
          <a:xfrm>
            <a:off x="7217274" y="4364799"/>
            <a:ext cx="134549" cy="195707"/>
          </a:xfrm>
          <a:prstGeom prst="rect">
            <a:avLst/>
          </a:prstGeom>
        </p:spPr>
      </p:pic>
      <p:sp>
        <p:nvSpPr>
          <p:cNvPr id="28" name="TextBox 27"/>
          <p:cNvSpPr txBox="1"/>
          <p:nvPr/>
        </p:nvSpPr>
        <p:spPr>
          <a:xfrm>
            <a:off x="7392383"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787527" y="4364799"/>
            <a:ext cx="134549" cy="195707"/>
          </a:xfrm>
          <a:prstGeom prst="rect">
            <a:avLst/>
          </a:prstGeom>
        </p:spPr>
      </p:pic>
      <p:sp>
        <p:nvSpPr>
          <p:cNvPr id="30" name="TextBox 29"/>
          <p:cNvSpPr txBox="1"/>
          <p:nvPr/>
        </p:nvSpPr>
        <p:spPr>
          <a:xfrm>
            <a:off x="8962636" y="4375022"/>
            <a:ext cx="2684276" cy="194310"/>
          </a:xfrm>
          <a:prstGeom prst="rect">
            <a:avLst/>
          </a:prstGeom>
          <a:noFill/>
        </p:spPr>
        <p:txBody>
          <a:bodyPr wrap="none" lIns="0" rIns="0" tIns="0" bIns="0">
            <a:spAutoFit/>
          </a:bodyPr>
          <a:lstStyle/>
          <a:p>
            <a:r>
              <a:rPr sz="1150" b="0">
                <a:solidFill>
                  <a:srgbClr val="2E2E2E"/>
                </a:solidFill>
                <a:latin typeface="Calibri"/>
              </a:rPr>
              <a:t>share by 2036. The gels and pastes segment</a:t>
            </a:r>
          </a:p>
        </p:txBody>
      </p:sp>
      <p:sp>
        <p:nvSpPr>
          <p:cNvPr id="31" name="TextBox 30"/>
          <p:cNvSpPr txBox="1"/>
          <p:nvPr/>
        </p:nvSpPr>
        <p:spPr>
          <a:xfrm>
            <a:off x="276225" y="4550282"/>
            <a:ext cx="1178706" cy="194310"/>
          </a:xfrm>
          <a:prstGeom prst="rect">
            <a:avLst/>
          </a:prstGeom>
          <a:noFill/>
        </p:spPr>
        <p:txBody>
          <a:bodyPr wrap="none" lIns="0" rIns="0" tIns="0" bIns="0">
            <a:spAutoFit/>
          </a:bodyPr>
          <a:lstStyle/>
          <a:p>
            <a:r>
              <a:rPr sz="1150" b="0">
                <a:solidFill>
                  <a:srgbClr val="2E2E2E"/>
                </a:solidFill>
                <a:latin typeface="Calibri"/>
              </a:rPr>
              <a:t>is expected to lose</a:t>
            </a:r>
          </a:p>
        </p:txBody>
      </p:sp>
      <p:pic>
        <p:nvPicPr>
          <p:cNvPr id="32" name="Picture 31" descr="lock.png"/>
          <p:cNvPicPr>
            <a:picLocks noChangeAspect="1"/>
          </p:cNvPicPr>
          <p:nvPr/>
        </p:nvPicPr>
        <p:blipFill>
          <a:blip r:embed="rId4"/>
          <a:stretch>
            <a:fillRect/>
          </a:stretch>
        </p:blipFill>
        <p:spPr>
          <a:xfrm>
            <a:off x="1404085" y="4540059"/>
            <a:ext cx="134549" cy="195707"/>
          </a:xfrm>
          <a:prstGeom prst="rect">
            <a:avLst/>
          </a:prstGeom>
        </p:spPr>
      </p:pic>
      <p:sp>
        <p:nvSpPr>
          <p:cNvPr id="33" name="TextBox 32"/>
          <p:cNvSpPr txBox="1"/>
          <p:nvPr/>
        </p:nvSpPr>
        <p:spPr>
          <a:xfrm>
            <a:off x="1579194" y="45502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4166699" y="4540059"/>
            <a:ext cx="134549" cy="195707"/>
          </a:xfrm>
          <a:prstGeom prst="rect">
            <a:avLst/>
          </a:prstGeom>
        </p:spPr>
      </p:pic>
      <p:sp>
        <p:nvSpPr>
          <p:cNvPr id="35" name="TextBox 34"/>
          <p:cNvSpPr txBox="1"/>
          <p:nvPr/>
        </p:nvSpPr>
        <p:spPr>
          <a:xfrm>
            <a:off x="4341808"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Form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Form Type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Form Type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755495"/>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75073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67453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Powders and Granules</a:t>
            </a:r>
          </a:p>
        </p:txBody>
      </p:sp>
      <p:sp>
        <p:nvSpPr>
          <p:cNvPr id="18" name="BPS Value 1"/>
          <p:cNvSpPr txBox="1"/>
          <p:nvPr/>
        </p:nvSpPr>
        <p:spPr>
          <a:xfrm>
            <a:off x="6896100" y="173644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000132"/>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199536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191916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Liquids</a:t>
            </a:r>
          </a:p>
        </p:txBody>
      </p:sp>
      <p:sp>
        <p:nvSpPr>
          <p:cNvPr id="22" name="BPS Value 2"/>
          <p:cNvSpPr txBox="1"/>
          <p:nvPr/>
        </p:nvSpPr>
        <p:spPr>
          <a:xfrm>
            <a:off x="6896100" y="198108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2370756"/>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236599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28979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Gels and Pastes</a:t>
            </a:r>
          </a:p>
        </p:txBody>
      </p:sp>
      <p:sp>
        <p:nvSpPr>
          <p:cNvPr id="26" name="BPS Value 3"/>
          <p:cNvSpPr txBox="1"/>
          <p:nvPr/>
        </p:nvSpPr>
        <p:spPr>
          <a:xfrm>
            <a:off x="6896100" y="235170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3026846"/>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302208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294588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Tablets</a:t>
            </a:r>
          </a:p>
        </p:txBody>
      </p:sp>
      <p:sp>
        <p:nvSpPr>
          <p:cNvPr id="30" name="BPS Value 4"/>
          <p:cNvSpPr txBox="1"/>
          <p:nvPr/>
        </p:nvSpPr>
        <p:spPr>
          <a:xfrm>
            <a:off x="6896100" y="300779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928997" y="3921367"/>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5090922" y="391660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384040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Chewables</a:t>
            </a:r>
          </a:p>
        </p:txBody>
      </p:sp>
      <p:sp>
        <p:nvSpPr>
          <p:cNvPr id="34" name="BPS Value 5"/>
          <p:cNvSpPr txBox="1"/>
          <p:nvPr/>
        </p:nvSpPr>
        <p:spPr>
          <a:xfrm>
            <a:off x="6896100" y="390231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FMI Legend Chip"/>
          <p:cNvSpPr/>
          <p:nvPr/>
        </p:nvSpPr>
        <p:spPr>
          <a:xfrm>
            <a:off x="4928997" y="5306831"/>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5090922" y="530206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522586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Capsules and Softgels</a:t>
            </a:r>
          </a:p>
        </p:txBody>
      </p:sp>
      <p:sp>
        <p:nvSpPr>
          <p:cNvPr id="38" name="BPS Value 6"/>
          <p:cNvSpPr txBox="1"/>
          <p:nvPr/>
        </p:nvSpPr>
        <p:spPr>
          <a:xfrm>
            <a:off x="6896100" y="528778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Rounded Rectangle 38"/>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Form Type</a:t>
            </a:r>
          </a:p>
        </p:txBody>
      </p:sp>
      <p:sp>
        <p:nvSpPr>
          <p:cNvPr id="41" name="Rectangle 40"/>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TextBox 4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4" name="Picture 43" descr="lock.png"/>
          <p:cNvPicPr>
            <a:picLocks noChangeAspect="1"/>
          </p:cNvPicPr>
          <p:nvPr/>
        </p:nvPicPr>
        <p:blipFill>
          <a:blip r:embed="rId5"/>
          <a:stretch>
            <a:fillRect/>
          </a:stretch>
        </p:blipFill>
        <p:spPr>
          <a:xfrm>
            <a:off x="2557843" y="3833622"/>
            <a:ext cx="275034" cy="400050"/>
          </a:xfrm>
          <a:prstGeom prst="rect">
            <a:avLst/>
          </a:prstGeom>
        </p:spPr>
      </p:pic>
      <p:sp>
        <p:nvSpPr>
          <p:cNvPr id="45" name="TextBox 44"/>
          <p:cNvSpPr txBox="1"/>
          <p:nvPr/>
        </p:nvSpPr>
        <p:spPr>
          <a:xfrm>
            <a:off x="7829550" y="1400175"/>
            <a:ext cx="3962784" cy="194310"/>
          </a:xfrm>
          <a:prstGeom prst="rect">
            <a:avLst/>
          </a:prstGeom>
          <a:noFill/>
        </p:spPr>
        <p:txBody>
          <a:bodyPr wrap="none" lIns="0" rIns="0" tIns="0" bIns="0">
            <a:spAutoFit/>
          </a:bodyPr>
          <a:lstStyle/>
          <a:p>
            <a:r>
              <a:rPr sz="1150" b="0">
                <a:solidFill>
                  <a:srgbClr val="2E2E2E"/>
                </a:solidFill>
                <a:latin typeface="Calibri"/>
              </a:rPr>
              <a:t>Among senior dog cognitive supplement by form type, chewables</a:t>
            </a:r>
          </a:p>
        </p:txBody>
      </p:sp>
      <p:sp>
        <p:nvSpPr>
          <p:cNvPr id="46" name="TextBox 45"/>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47" name="Picture 46" descr="lock.png"/>
          <p:cNvPicPr>
            <a:picLocks noChangeAspect="1"/>
          </p:cNvPicPr>
          <p:nvPr/>
        </p:nvPicPr>
        <p:blipFill>
          <a:blip r:embed="rId5"/>
          <a:stretch>
            <a:fillRect/>
          </a:stretch>
        </p:blipFill>
        <p:spPr>
          <a:xfrm>
            <a:off x="10935343" y="1565211"/>
            <a:ext cx="134549" cy="195707"/>
          </a:xfrm>
          <a:prstGeom prst="rect">
            <a:avLst/>
          </a:prstGeom>
        </p:spPr>
      </p:pic>
      <p:sp>
        <p:nvSpPr>
          <p:cNvPr id="48" name="TextBox 47"/>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49" name="TextBox 48"/>
          <p:cNvSpPr txBox="1"/>
          <p:nvPr/>
        </p:nvSpPr>
        <p:spPr>
          <a:xfrm>
            <a:off x="7829550" y="1750695"/>
            <a:ext cx="4013844" cy="194310"/>
          </a:xfrm>
          <a:prstGeom prst="rect">
            <a:avLst/>
          </a:prstGeom>
          <a:noFill/>
        </p:spPr>
        <p:txBody>
          <a:bodyPr wrap="none" lIns="0" rIns="0" tIns="0" bIns="0">
            <a:spAutoFit/>
          </a:bodyPr>
          <a:lstStyle/>
          <a:p>
            <a:r>
              <a:rPr sz="1150" b="0">
                <a:solidFill>
                  <a:srgbClr val="2E2E2E"/>
                </a:solidFill>
                <a:latin typeface="Calibri"/>
              </a:rPr>
              <a:t>forecast period. In terms of value share by form type, the capsules</a:t>
            </a:r>
          </a:p>
        </p:txBody>
      </p:sp>
      <p:sp>
        <p:nvSpPr>
          <p:cNvPr id="50" name="TextBox 49"/>
          <p:cNvSpPr txBox="1"/>
          <p:nvPr/>
        </p:nvSpPr>
        <p:spPr>
          <a:xfrm>
            <a:off x="7829550" y="1925955"/>
            <a:ext cx="3995303" cy="194310"/>
          </a:xfrm>
          <a:prstGeom prst="rect">
            <a:avLst/>
          </a:prstGeom>
          <a:noFill/>
        </p:spPr>
        <p:txBody>
          <a:bodyPr wrap="none" lIns="0" rIns="0" tIns="0" bIns="0">
            <a:spAutoFit/>
          </a:bodyPr>
          <a:lstStyle/>
          <a:p>
            <a:r>
              <a:rPr sz="1150" b="0">
                <a:solidFill>
                  <a:srgbClr val="2E2E2E"/>
                </a:solidFill>
                <a:latin typeface="Calibri"/>
              </a:rPr>
              <a:t>and softgels segment is expected to dominate the market, gaining</a:t>
            </a:r>
          </a:p>
        </p:txBody>
      </p:sp>
      <p:pic>
        <p:nvPicPr>
          <p:cNvPr id="51" name="Picture 50" descr="lock.png"/>
          <p:cNvPicPr>
            <a:picLocks noChangeAspect="1"/>
          </p:cNvPicPr>
          <p:nvPr/>
        </p:nvPicPr>
        <p:blipFill>
          <a:blip r:embed="rId5"/>
          <a:stretch>
            <a:fillRect/>
          </a:stretch>
        </p:blipFill>
        <p:spPr>
          <a:xfrm>
            <a:off x="7815470" y="2090991"/>
            <a:ext cx="134549" cy="195707"/>
          </a:xfrm>
          <a:prstGeom prst="rect">
            <a:avLst/>
          </a:prstGeom>
        </p:spPr>
      </p:pic>
      <p:sp>
        <p:nvSpPr>
          <p:cNvPr id="52" name="TextBox 51"/>
          <p:cNvSpPr txBox="1"/>
          <p:nvPr/>
        </p:nvSpPr>
        <p:spPr>
          <a:xfrm>
            <a:off x="7990579"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3" name="Picture 52" descr="lock.png"/>
          <p:cNvPicPr>
            <a:picLocks noChangeAspect="1"/>
          </p:cNvPicPr>
          <p:nvPr/>
        </p:nvPicPr>
        <p:blipFill>
          <a:blip r:embed="rId5"/>
          <a:stretch>
            <a:fillRect/>
          </a:stretch>
        </p:blipFill>
        <p:spPr>
          <a:xfrm>
            <a:off x="9385722" y="2090991"/>
            <a:ext cx="134549" cy="195707"/>
          </a:xfrm>
          <a:prstGeom prst="rect">
            <a:avLst/>
          </a:prstGeom>
        </p:spPr>
      </p:pic>
      <p:sp>
        <p:nvSpPr>
          <p:cNvPr id="54" name="TextBox 53"/>
          <p:cNvSpPr txBox="1"/>
          <p:nvPr/>
        </p:nvSpPr>
        <p:spPr>
          <a:xfrm>
            <a:off x="9560832"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5" name="TextBox 54"/>
          <p:cNvSpPr txBox="1"/>
          <p:nvPr/>
        </p:nvSpPr>
        <p:spPr>
          <a:xfrm>
            <a:off x="7829550" y="2329053"/>
            <a:ext cx="2916758" cy="194310"/>
          </a:xfrm>
          <a:prstGeom prst="rect">
            <a:avLst/>
          </a:prstGeom>
          <a:noFill/>
        </p:spPr>
        <p:txBody>
          <a:bodyPr wrap="none" lIns="0" rIns="0" tIns="0" bIns="0">
            <a:spAutoFit/>
          </a:bodyPr>
          <a:lstStyle/>
          <a:p>
            <a:r>
              <a:rPr sz="1150" b="0">
                <a:solidFill>
                  <a:srgbClr val="2E2E2E"/>
                </a:solidFill>
                <a:latin typeface="Calibri"/>
              </a:rPr>
              <a:t>The gels and pastes segment is expected to lose</a:t>
            </a:r>
          </a:p>
        </p:txBody>
      </p:sp>
      <p:pic>
        <p:nvPicPr>
          <p:cNvPr id="56" name="Picture 55" descr="lock.png"/>
          <p:cNvPicPr>
            <a:picLocks noChangeAspect="1"/>
          </p:cNvPicPr>
          <p:nvPr/>
        </p:nvPicPr>
        <p:blipFill>
          <a:blip r:embed="rId5"/>
          <a:stretch>
            <a:fillRect/>
          </a:stretch>
        </p:blipFill>
        <p:spPr>
          <a:xfrm>
            <a:off x="10695462" y="2318829"/>
            <a:ext cx="134549" cy="195707"/>
          </a:xfrm>
          <a:prstGeom prst="rect">
            <a:avLst/>
          </a:prstGeom>
        </p:spPr>
      </p:pic>
      <p:sp>
        <p:nvSpPr>
          <p:cNvPr id="57" name="TextBox 56"/>
          <p:cNvSpPr txBox="1"/>
          <p:nvPr/>
        </p:nvSpPr>
        <p:spPr>
          <a:xfrm>
            <a:off x="10870571"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58" name="TextBox 57"/>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59" name="Picture 58" descr="lock.png"/>
          <p:cNvPicPr>
            <a:picLocks noChangeAspect="1"/>
          </p:cNvPicPr>
          <p:nvPr/>
        </p:nvPicPr>
        <p:blipFill>
          <a:blip r:embed="rId5"/>
          <a:stretch>
            <a:fillRect/>
          </a:stretch>
        </p:blipFill>
        <p:spPr>
          <a:xfrm>
            <a:off x="9630324" y="2494089"/>
            <a:ext cx="134549" cy="195707"/>
          </a:xfrm>
          <a:prstGeom prst="rect">
            <a:avLst/>
          </a:prstGeom>
        </p:spPr>
      </p:pic>
      <p:sp>
        <p:nvSpPr>
          <p:cNvPr id="60" name="TextBox 59"/>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1"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Active Ingredient</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Active Ingredient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Active Ingredient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Active Ingredient,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Active Ingredient segment categorizes the market by active ingredient.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Cellular Energy Support Ingredien…</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Antioxidant Ingredients</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Omega-3 Fatty Acids</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Microbiome-Targeted Ingredients</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Botanical Ingredients</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Neurofunctional Nutrients</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Active Ingredient split shows how demand is distributed across active ingredient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7" name="Picture 76" descr="787_4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1_257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4_8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759_6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1_227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4_9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652_0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940_4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3_7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532_7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743_8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3_4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439_0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595_0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3_1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426_3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590_0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3_3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904852" cy="186689"/>
          </a:xfrm>
          <a:prstGeom prst="rect">
            <a:avLst/>
          </a:prstGeom>
          <a:noFill/>
        </p:spPr>
        <p:txBody>
          <a:bodyPr wrap="none" lIns="0" rIns="0" tIns="0" bIns="0">
            <a:spAutoFit/>
          </a:bodyPr>
          <a:lstStyle/>
          <a:p>
            <a:r>
              <a:rPr sz="1100" b="0">
                <a:solidFill>
                  <a:srgbClr val="2E2E2E"/>
                </a:solidFill>
                <a:latin typeface="Calibri"/>
              </a:rPr>
              <a:t>Among senior dog cognitive supplement by active</a:t>
            </a:r>
          </a:p>
        </p:txBody>
      </p:sp>
      <p:sp>
        <p:nvSpPr>
          <p:cNvPr id="102" name="TextBox 101"/>
          <p:cNvSpPr txBox="1"/>
          <p:nvPr/>
        </p:nvSpPr>
        <p:spPr>
          <a:xfrm>
            <a:off x="485775" y="4397077"/>
            <a:ext cx="2687389" cy="186689"/>
          </a:xfrm>
          <a:prstGeom prst="rect">
            <a:avLst/>
          </a:prstGeom>
          <a:noFill/>
        </p:spPr>
        <p:txBody>
          <a:bodyPr wrap="none" lIns="0" rIns="0" tIns="0" bIns="0">
            <a:spAutoFit/>
          </a:bodyPr>
          <a:lstStyle/>
          <a:p>
            <a:r>
              <a:rPr sz="1100" b="0">
                <a:solidFill>
                  <a:srgbClr val="2E2E2E"/>
                </a:solidFill>
                <a:latin typeface="Calibri"/>
              </a:rPr>
              <a:t>ingredient, antioxidant ingredients segment is</a:t>
            </a:r>
          </a:p>
        </p:txBody>
      </p:sp>
      <p:sp>
        <p:nvSpPr>
          <p:cNvPr id="103" name="TextBox 102"/>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104" name="Picture 103" descr="lock.png"/>
          <p:cNvPicPr>
            <a:picLocks noChangeAspect="1"/>
          </p:cNvPicPr>
          <p:nvPr/>
        </p:nvPicPr>
        <p:blipFill>
          <a:blip r:embed="rId22"/>
          <a:stretch>
            <a:fillRect/>
          </a:stretch>
        </p:blipFill>
        <p:spPr>
          <a:xfrm>
            <a:off x="2815059" y="4554938"/>
            <a:ext cx="128699" cy="187198"/>
          </a:xfrm>
          <a:prstGeom prst="rect">
            <a:avLst/>
          </a:prstGeom>
        </p:spPr>
      </p:pic>
      <p:sp>
        <p:nvSpPr>
          <p:cNvPr id="105" name="TextBox 104"/>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106" name="TextBox 105"/>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107" name="TextBox 106"/>
          <p:cNvSpPr txBox="1"/>
          <p:nvPr/>
        </p:nvSpPr>
        <p:spPr>
          <a:xfrm>
            <a:off x="485775" y="4899997"/>
            <a:ext cx="2631454" cy="186689"/>
          </a:xfrm>
          <a:prstGeom prst="rect">
            <a:avLst/>
          </a:prstGeom>
          <a:noFill/>
        </p:spPr>
        <p:txBody>
          <a:bodyPr wrap="none" lIns="0" rIns="0" tIns="0" bIns="0">
            <a:spAutoFit/>
          </a:bodyPr>
          <a:lstStyle/>
          <a:p>
            <a:r>
              <a:rPr sz="1100" b="0">
                <a:solidFill>
                  <a:srgbClr val="2E2E2E"/>
                </a:solidFill>
                <a:latin typeface="Calibri"/>
              </a:rPr>
              <a:t>active ingredient, the cellular energy support</a:t>
            </a:r>
          </a:p>
        </p:txBody>
      </p:sp>
      <p:sp>
        <p:nvSpPr>
          <p:cNvPr id="108" name="TextBox 107"/>
          <p:cNvSpPr txBox="1"/>
          <p:nvPr/>
        </p:nvSpPr>
        <p:spPr>
          <a:xfrm>
            <a:off x="485775" y="5067637"/>
            <a:ext cx="2864470" cy="186689"/>
          </a:xfrm>
          <a:prstGeom prst="rect">
            <a:avLst/>
          </a:prstGeom>
          <a:noFill/>
        </p:spPr>
        <p:txBody>
          <a:bodyPr wrap="none" lIns="0" rIns="0" tIns="0" bIns="0">
            <a:spAutoFit/>
          </a:bodyPr>
          <a:lstStyle/>
          <a:p>
            <a:r>
              <a:rPr sz="1100" b="0">
                <a:solidFill>
                  <a:srgbClr val="2E2E2E"/>
                </a:solidFill>
                <a:latin typeface="Calibri"/>
              </a:rPr>
              <a:t>ingredients segment is expected to dominate the</a:t>
            </a:r>
          </a:p>
        </p:txBody>
      </p:sp>
      <p:sp>
        <p:nvSpPr>
          <p:cNvPr id="109" name="TextBox 108"/>
          <p:cNvSpPr txBox="1"/>
          <p:nvPr/>
        </p:nvSpPr>
        <p:spPr>
          <a:xfrm>
            <a:off x="485775" y="5235277"/>
            <a:ext cx="959693" cy="186689"/>
          </a:xfrm>
          <a:prstGeom prst="rect">
            <a:avLst/>
          </a:prstGeom>
          <a:noFill/>
        </p:spPr>
        <p:txBody>
          <a:bodyPr wrap="none" lIns="0" rIns="0" tIns="0" bIns="0">
            <a:spAutoFit/>
          </a:bodyPr>
          <a:lstStyle/>
          <a:p>
            <a:r>
              <a:rPr sz="1100" b="0">
                <a:solidFill>
                  <a:srgbClr val="2E2E2E"/>
                </a:solidFill>
                <a:latin typeface="Calibri"/>
              </a:rPr>
              <a:t>market, gaining</a:t>
            </a:r>
          </a:p>
        </p:txBody>
      </p:sp>
      <p:pic>
        <p:nvPicPr>
          <p:cNvPr id="110" name="Picture 109" descr="lock.png"/>
          <p:cNvPicPr>
            <a:picLocks noChangeAspect="1"/>
          </p:cNvPicPr>
          <p:nvPr/>
        </p:nvPicPr>
        <p:blipFill>
          <a:blip r:embed="rId22"/>
          <a:stretch>
            <a:fillRect/>
          </a:stretch>
        </p:blipFill>
        <p:spPr>
          <a:xfrm>
            <a:off x="1393519" y="5225498"/>
            <a:ext cx="128699" cy="187198"/>
          </a:xfrm>
          <a:prstGeom prst="rect">
            <a:avLst/>
          </a:prstGeom>
        </p:spPr>
      </p:pic>
      <p:sp>
        <p:nvSpPr>
          <p:cNvPr id="111" name="TextBox 110"/>
          <p:cNvSpPr txBox="1"/>
          <p:nvPr/>
        </p:nvSpPr>
        <p:spPr>
          <a:xfrm>
            <a:off x="1561015"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112" name="Picture 111" descr="lock.png"/>
          <p:cNvPicPr>
            <a:picLocks noChangeAspect="1"/>
          </p:cNvPicPr>
          <p:nvPr/>
        </p:nvPicPr>
        <p:blipFill>
          <a:blip r:embed="rId22"/>
          <a:stretch>
            <a:fillRect/>
          </a:stretch>
        </p:blipFill>
        <p:spPr>
          <a:xfrm>
            <a:off x="2895500" y="5225498"/>
            <a:ext cx="128699" cy="187198"/>
          </a:xfrm>
          <a:prstGeom prst="rect">
            <a:avLst/>
          </a:prstGeom>
        </p:spPr>
      </p:pic>
      <p:sp>
        <p:nvSpPr>
          <p:cNvPr id="113" name="TextBox 112"/>
          <p:cNvSpPr txBox="1"/>
          <p:nvPr/>
        </p:nvSpPr>
        <p:spPr>
          <a:xfrm>
            <a:off x="485775" y="540291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4" name="TextBox 113"/>
          <p:cNvSpPr txBox="1"/>
          <p:nvPr/>
        </p:nvSpPr>
        <p:spPr>
          <a:xfrm>
            <a:off x="485775" y="5620849"/>
            <a:ext cx="2716857" cy="186689"/>
          </a:xfrm>
          <a:prstGeom prst="rect">
            <a:avLst/>
          </a:prstGeom>
          <a:noFill/>
        </p:spPr>
        <p:txBody>
          <a:bodyPr wrap="none" lIns="0" rIns="0" tIns="0" bIns="0">
            <a:spAutoFit/>
          </a:bodyPr>
          <a:lstStyle/>
          <a:p>
            <a:r>
              <a:rPr sz="1100" b="0">
                <a:solidFill>
                  <a:srgbClr val="2E2E2E"/>
                </a:solidFill>
                <a:latin typeface="Calibri"/>
              </a:rPr>
              <a:t>Cellular energy support ingredients segment is</a:t>
            </a:r>
          </a:p>
        </p:txBody>
      </p:sp>
      <p:sp>
        <p:nvSpPr>
          <p:cNvPr id="115" name="TextBox 114"/>
          <p:cNvSpPr txBox="1"/>
          <p:nvPr/>
        </p:nvSpPr>
        <p:spPr>
          <a:xfrm>
            <a:off x="485775" y="5788489"/>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116" name="Picture 115" descr="lock.png"/>
          <p:cNvPicPr>
            <a:picLocks noChangeAspect="1"/>
          </p:cNvPicPr>
          <p:nvPr/>
        </p:nvPicPr>
        <p:blipFill>
          <a:blip r:embed="rId22"/>
          <a:stretch>
            <a:fillRect/>
          </a:stretch>
        </p:blipFill>
        <p:spPr>
          <a:xfrm>
            <a:off x="1678376" y="5778710"/>
            <a:ext cx="128699" cy="187198"/>
          </a:xfrm>
          <a:prstGeom prst="rect">
            <a:avLst/>
          </a:prstGeom>
        </p:spPr>
      </p:pic>
      <p:sp>
        <p:nvSpPr>
          <p:cNvPr id="117" name="TextBox 116"/>
          <p:cNvSpPr txBox="1"/>
          <p:nvPr/>
        </p:nvSpPr>
        <p:spPr>
          <a:xfrm>
            <a:off x="1845872" y="5788489"/>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118" name="TextBox 117"/>
          <p:cNvSpPr txBox="1"/>
          <p:nvPr/>
        </p:nvSpPr>
        <p:spPr>
          <a:xfrm>
            <a:off x="485775" y="5956129"/>
            <a:ext cx="2404988" cy="186689"/>
          </a:xfrm>
          <a:prstGeom prst="rect">
            <a:avLst/>
          </a:prstGeom>
          <a:noFill/>
        </p:spPr>
        <p:txBody>
          <a:bodyPr wrap="none" lIns="0" rIns="0" tIns="0" bIns="0">
            <a:spAutoFit/>
          </a:bodyPr>
          <a:lstStyle/>
          <a:p>
            <a:r>
              <a:rPr sz="1100" b="0">
                <a:solidFill>
                  <a:srgbClr val="2E2E2E"/>
                </a:solidFill>
                <a:latin typeface="Calibri"/>
              </a:rPr>
              <a:t>antioxidant ingredients segment in 2036.</a:t>
            </a:r>
          </a:p>
        </p:txBody>
      </p:sp>
      <p:sp>
        <p:nvSpPr>
          <p:cNvPr id="119" name="TextBox 118"/>
          <p:cNvSpPr txBox="1"/>
          <p:nvPr/>
        </p:nvSpPr>
        <p:spPr>
          <a:xfrm>
            <a:off x="3838575" y="4229437"/>
            <a:ext cx="2239912" cy="186689"/>
          </a:xfrm>
          <a:prstGeom prst="rect">
            <a:avLst/>
          </a:prstGeom>
          <a:noFill/>
        </p:spPr>
        <p:txBody>
          <a:bodyPr wrap="none" lIns="0" rIns="0" tIns="0" bIns="0">
            <a:spAutoFit/>
          </a:bodyPr>
          <a:lstStyle/>
          <a:p>
            <a:r>
              <a:rPr sz="1100" b="0">
                <a:solidFill>
                  <a:srgbClr val="2E2E2E"/>
                </a:solidFill>
                <a:latin typeface="Calibri"/>
              </a:rPr>
              <a:t>● Cellular Energy Support Ingredients:</a:t>
            </a:r>
          </a:p>
        </p:txBody>
      </p:sp>
      <p:pic>
        <p:nvPicPr>
          <p:cNvPr id="120" name="Picture 119" descr="lock.png"/>
          <p:cNvPicPr>
            <a:picLocks noChangeAspect="1"/>
          </p:cNvPicPr>
          <p:nvPr/>
        </p:nvPicPr>
        <p:blipFill>
          <a:blip r:embed="rId22"/>
          <a:stretch>
            <a:fillRect/>
          </a:stretch>
        </p:blipFill>
        <p:spPr>
          <a:xfrm>
            <a:off x="6026539" y="4219658"/>
            <a:ext cx="128699" cy="187198"/>
          </a:xfrm>
          <a:prstGeom prst="rect">
            <a:avLst/>
          </a:prstGeom>
        </p:spPr>
      </p:pic>
      <p:sp>
        <p:nvSpPr>
          <p:cNvPr id="121" name="TextBox 120"/>
          <p:cNvSpPr txBox="1"/>
          <p:nvPr/>
        </p:nvSpPr>
        <p:spPr>
          <a:xfrm>
            <a:off x="6194035"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2" name="Picture 121" descr="lock.png"/>
          <p:cNvPicPr>
            <a:picLocks noChangeAspect="1"/>
          </p:cNvPicPr>
          <p:nvPr/>
        </p:nvPicPr>
        <p:blipFill>
          <a:blip r:embed="rId22"/>
          <a:stretch>
            <a:fillRect/>
          </a:stretch>
        </p:blipFill>
        <p:spPr>
          <a:xfrm>
            <a:off x="7053485" y="4219658"/>
            <a:ext cx="128699" cy="187198"/>
          </a:xfrm>
          <a:prstGeom prst="rect">
            <a:avLst/>
          </a:prstGeom>
        </p:spPr>
      </p:pic>
      <p:sp>
        <p:nvSpPr>
          <p:cNvPr id="123" name="TextBox 122"/>
          <p:cNvSpPr txBox="1"/>
          <p:nvPr/>
        </p:nvSpPr>
        <p:spPr>
          <a:xfrm>
            <a:off x="7220981" y="4229437"/>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24" name="TextBox 123"/>
          <p:cNvSpPr txBox="1"/>
          <p:nvPr/>
        </p:nvSpPr>
        <p:spPr>
          <a:xfrm>
            <a:off x="3838575" y="4397077"/>
            <a:ext cx="1152599" cy="186689"/>
          </a:xfrm>
          <a:prstGeom prst="rect">
            <a:avLst/>
          </a:prstGeom>
          <a:noFill/>
        </p:spPr>
        <p:txBody>
          <a:bodyPr wrap="none" lIns="0" rIns="0" tIns="0" bIns="0">
            <a:spAutoFit/>
          </a:bodyPr>
          <a:lstStyle/>
          <a:p>
            <a:r>
              <a:rPr sz="1100" b="0">
                <a:solidFill>
                  <a:srgbClr val="2E2E2E"/>
                </a:solidFill>
                <a:latin typeface="Calibri"/>
              </a:rPr>
              <a:t>leads the segment.</a:t>
            </a:r>
          </a:p>
        </p:txBody>
      </p:sp>
      <p:sp>
        <p:nvSpPr>
          <p:cNvPr id="125" name="TextBox 124"/>
          <p:cNvSpPr txBox="1"/>
          <p:nvPr/>
        </p:nvSpPr>
        <p:spPr>
          <a:xfrm>
            <a:off x="3838575" y="4615009"/>
            <a:ext cx="1564332" cy="186689"/>
          </a:xfrm>
          <a:prstGeom prst="rect">
            <a:avLst/>
          </a:prstGeom>
          <a:noFill/>
        </p:spPr>
        <p:txBody>
          <a:bodyPr wrap="none" lIns="0" rIns="0" tIns="0" bIns="0">
            <a:spAutoFit/>
          </a:bodyPr>
          <a:lstStyle/>
          <a:p>
            <a:r>
              <a:rPr sz="1100" b="0">
                <a:solidFill>
                  <a:srgbClr val="2E2E2E"/>
                </a:solidFill>
                <a:latin typeface="Calibri"/>
              </a:rPr>
              <a:t>● Antioxidant Ingredients:</a:t>
            </a:r>
          </a:p>
        </p:txBody>
      </p:sp>
      <p:pic>
        <p:nvPicPr>
          <p:cNvPr id="126" name="Picture 125" descr="lock.png"/>
          <p:cNvPicPr>
            <a:picLocks noChangeAspect="1"/>
          </p:cNvPicPr>
          <p:nvPr/>
        </p:nvPicPr>
        <p:blipFill>
          <a:blip r:embed="rId22"/>
          <a:stretch>
            <a:fillRect/>
          </a:stretch>
        </p:blipFill>
        <p:spPr>
          <a:xfrm>
            <a:off x="5350959" y="4605230"/>
            <a:ext cx="128699" cy="187198"/>
          </a:xfrm>
          <a:prstGeom prst="rect">
            <a:avLst/>
          </a:prstGeom>
        </p:spPr>
      </p:pic>
      <p:sp>
        <p:nvSpPr>
          <p:cNvPr id="127" name="TextBox 126"/>
          <p:cNvSpPr txBox="1"/>
          <p:nvPr/>
        </p:nvSpPr>
        <p:spPr>
          <a:xfrm>
            <a:off x="5518454"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8" name="Picture 127" descr="lock.png"/>
          <p:cNvPicPr>
            <a:picLocks noChangeAspect="1"/>
          </p:cNvPicPr>
          <p:nvPr/>
        </p:nvPicPr>
        <p:blipFill>
          <a:blip r:embed="rId22"/>
          <a:stretch>
            <a:fillRect/>
          </a:stretch>
        </p:blipFill>
        <p:spPr>
          <a:xfrm>
            <a:off x="6377905" y="4605230"/>
            <a:ext cx="128699" cy="187198"/>
          </a:xfrm>
          <a:prstGeom prst="rect">
            <a:avLst/>
          </a:prstGeom>
        </p:spPr>
      </p:pic>
      <p:sp>
        <p:nvSpPr>
          <p:cNvPr id="129" name="TextBox 128"/>
          <p:cNvSpPr txBox="1"/>
          <p:nvPr/>
        </p:nvSpPr>
        <p:spPr>
          <a:xfrm>
            <a:off x="6545400" y="461500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0" name="TextBox 129"/>
          <p:cNvSpPr txBox="1"/>
          <p:nvPr/>
        </p:nvSpPr>
        <p:spPr>
          <a:xfrm>
            <a:off x="3838575" y="4832941"/>
            <a:ext cx="1401107" cy="186689"/>
          </a:xfrm>
          <a:prstGeom prst="rect">
            <a:avLst/>
          </a:prstGeom>
          <a:noFill/>
        </p:spPr>
        <p:txBody>
          <a:bodyPr wrap="none" lIns="0" rIns="0" tIns="0" bIns="0">
            <a:spAutoFit/>
          </a:bodyPr>
          <a:lstStyle/>
          <a:p>
            <a:r>
              <a:rPr sz="1100" b="0">
                <a:solidFill>
                  <a:srgbClr val="2E2E2E"/>
                </a:solidFill>
                <a:latin typeface="Calibri"/>
              </a:rPr>
              <a:t>● Omega-3 Fatty Acids:</a:t>
            </a:r>
          </a:p>
        </p:txBody>
      </p:sp>
      <p:pic>
        <p:nvPicPr>
          <p:cNvPr id="131" name="Picture 130" descr="lock.png"/>
          <p:cNvPicPr>
            <a:picLocks noChangeAspect="1"/>
          </p:cNvPicPr>
          <p:nvPr/>
        </p:nvPicPr>
        <p:blipFill>
          <a:blip r:embed="rId22"/>
          <a:stretch>
            <a:fillRect/>
          </a:stretch>
        </p:blipFill>
        <p:spPr>
          <a:xfrm>
            <a:off x="5187734" y="4823162"/>
            <a:ext cx="128699" cy="187198"/>
          </a:xfrm>
          <a:prstGeom prst="rect">
            <a:avLst/>
          </a:prstGeom>
        </p:spPr>
      </p:pic>
      <p:sp>
        <p:nvSpPr>
          <p:cNvPr id="132" name="TextBox 131"/>
          <p:cNvSpPr txBox="1"/>
          <p:nvPr/>
        </p:nvSpPr>
        <p:spPr>
          <a:xfrm>
            <a:off x="5355229"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3" name="Picture 132" descr="lock.png"/>
          <p:cNvPicPr>
            <a:picLocks noChangeAspect="1"/>
          </p:cNvPicPr>
          <p:nvPr/>
        </p:nvPicPr>
        <p:blipFill>
          <a:blip r:embed="rId22"/>
          <a:stretch>
            <a:fillRect/>
          </a:stretch>
        </p:blipFill>
        <p:spPr>
          <a:xfrm>
            <a:off x="6214680" y="4823162"/>
            <a:ext cx="128699" cy="187198"/>
          </a:xfrm>
          <a:prstGeom prst="rect">
            <a:avLst/>
          </a:prstGeom>
        </p:spPr>
      </p:pic>
      <p:sp>
        <p:nvSpPr>
          <p:cNvPr id="134" name="TextBox 133"/>
          <p:cNvSpPr txBox="1"/>
          <p:nvPr/>
        </p:nvSpPr>
        <p:spPr>
          <a:xfrm>
            <a:off x="6382175" y="483294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5" name="TextBox 134"/>
          <p:cNvSpPr txBox="1"/>
          <p:nvPr/>
        </p:nvSpPr>
        <p:spPr>
          <a:xfrm>
            <a:off x="3838575" y="5050872"/>
            <a:ext cx="2149871" cy="186689"/>
          </a:xfrm>
          <a:prstGeom prst="rect">
            <a:avLst/>
          </a:prstGeom>
          <a:noFill/>
        </p:spPr>
        <p:txBody>
          <a:bodyPr wrap="none" lIns="0" rIns="0" tIns="0" bIns="0">
            <a:spAutoFit/>
          </a:bodyPr>
          <a:lstStyle/>
          <a:p>
            <a:r>
              <a:rPr sz="1100" b="0">
                <a:solidFill>
                  <a:srgbClr val="2E2E2E"/>
                </a:solidFill>
                <a:latin typeface="Calibri"/>
              </a:rPr>
              <a:t>● Microbiome-Targeted Ingredients:</a:t>
            </a:r>
          </a:p>
        </p:txBody>
      </p:sp>
      <p:pic>
        <p:nvPicPr>
          <p:cNvPr id="136" name="Picture 135" descr="lock.png"/>
          <p:cNvPicPr>
            <a:picLocks noChangeAspect="1"/>
          </p:cNvPicPr>
          <p:nvPr/>
        </p:nvPicPr>
        <p:blipFill>
          <a:blip r:embed="rId22"/>
          <a:stretch>
            <a:fillRect/>
          </a:stretch>
        </p:blipFill>
        <p:spPr>
          <a:xfrm>
            <a:off x="5936498" y="5041093"/>
            <a:ext cx="128699" cy="187198"/>
          </a:xfrm>
          <a:prstGeom prst="rect">
            <a:avLst/>
          </a:prstGeom>
        </p:spPr>
      </p:pic>
      <p:sp>
        <p:nvSpPr>
          <p:cNvPr id="137" name="TextBox 136"/>
          <p:cNvSpPr txBox="1"/>
          <p:nvPr/>
        </p:nvSpPr>
        <p:spPr>
          <a:xfrm>
            <a:off x="6103994" y="5050872"/>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8" name="Picture 137" descr="lock.png"/>
          <p:cNvPicPr>
            <a:picLocks noChangeAspect="1"/>
          </p:cNvPicPr>
          <p:nvPr/>
        </p:nvPicPr>
        <p:blipFill>
          <a:blip r:embed="rId22"/>
          <a:stretch>
            <a:fillRect/>
          </a:stretch>
        </p:blipFill>
        <p:spPr>
          <a:xfrm>
            <a:off x="6963444" y="5041093"/>
            <a:ext cx="128699" cy="187198"/>
          </a:xfrm>
          <a:prstGeom prst="rect">
            <a:avLst/>
          </a:prstGeom>
        </p:spPr>
      </p:pic>
      <p:sp>
        <p:nvSpPr>
          <p:cNvPr id="139" name="TextBox 138"/>
          <p:cNvSpPr txBox="1"/>
          <p:nvPr/>
        </p:nvSpPr>
        <p:spPr>
          <a:xfrm>
            <a:off x="7130940" y="5050872"/>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40" name="TextBox 139"/>
          <p:cNvSpPr txBox="1"/>
          <p:nvPr/>
        </p:nvSpPr>
        <p:spPr>
          <a:xfrm>
            <a:off x="3838575" y="5218513"/>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41" name="TextBox 140"/>
          <p:cNvSpPr txBox="1"/>
          <p:nvPr/>
        </p:nvSpPr>
        <p:spPr>
          <a:xfrm>
            <a:off x="3838575" y="5436445"/>
            <a:ext cx="1431453" cy="186689"/>
          </a:xfrm>
          <a:prstGeom prst="rect">
            <a:avLst/>
          </a:prstGeom>
          <a:noFill/>
        </p:spPr>
        <p:txBody>
          <a:bodyPr wrap="none" lIns="0" rIns="0" tIns="0" bIns="0">
            <a:spAutoFit/>
          </a:bodyPr>
          <a:lstStyle/>
          <a:p>
            <a:r>
              <a:rPr sz="1100" b="0">
                <a:solidFill>
                  <a:srgbClr val="2E2E2E"/>
                </a:solidFill>
                <a:latin typeface="Calibri"/>
              </a:rPr>
              <a:t>● Botanical Ingredients:</a:t>
            </a:r>
          </a:p>
        </p:txBody>
      </p:sp>
      <p:pic>
        <p:nvPicPr>
          <p:cNvPr id="142" name="Picture 141" descr="lock.png"/>
          <p:cNvPicPr>
            <a:picLocks noChangeAspect="1"/>
          </p:cNvPicPr>
          <p:nvPr/>
        </p:nvPicPr>
        <p:blipFill>
          <a:blip r:embed="rId22"/>
          <a:stretch>
            <a:fillRect/>
          </a:stretch>
        </p:blipFill>
        <p:spPr>
          <a:xfrm>
            <a:off x="5218080" y="5426665"/>
            <a:ext cx="128699" cy="187198"/>
          </a:xfrm>
          <a:prstGeom prst="rect">
            <a:avLst/>
          </a:prstGeom>
        </p:spPr>
      </p:pic>
      <p:sp>
        <p:nvSpPr>
          <p:cNvPr id="143" name="TextBox 142"/>
          <p:cNvSpPr txBox="1"/>
          <p:nvPr/>
        </p:nvSpPr>
        <p:spPr>
          <a:xfrm>
            <a:off x="5385576" y="543644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4" name="Picture 143" descr="lock.png"/>
          <p:cNvPicPr>
            <a:picLocks noChangeAspect="1"/>
          </p:cNvPicPr>
          <p:nvPr/>
        </p:nvPicPr>
        <p:blipFill>
          <a:blip r:embed="rId22"/>
          <a:stretch>
            <a:fillRect/>
          </a:stretch>
        </p:blipFill>
        <p:spPr>
          <a:xfrm>
            <a:off x="6245026" y="5426665"/>
            <a:ext cx="128699" cy="187198"/>
          </a:xfrm>
          <a:prstGeom prst="rect">
            <a:avLst/>
          </a:prstGeom>
        </p:spPr>
      </p:pic>
      <p:sp>
        <p:nvSpPr>
          <p:cNvPr id="145" name="TextBox 144"/>
          <p:cNvSpPr txBox="1"/>
          <p:nvPr/>
        </p:nvSpPr>
        <p:spPr>
          <a:xfrm>
            <a:off x="6412522" y="5436445"/>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6" name="TextBox 145"/>
          <p:cNvSpPr txBox="1"/>
          <p:nvPr/>
        </p:nvSpPr>
        <p:spPr>
          <a:xfrm>
            <a:off x="3838575" y="5654377"/>
            <a:ext cx="1726951" cy="186689"/>
          </a:xfrm>
          <a:prstGeom prst="rect">
            <a:avLst/>
          </a:prstGeom>
          <a:noFill/>
        </p:spPr>
        <p:txBody>
          <a:bodyPr wrap="none" lIns="0" rIns="0" tIns="0" bIns="0">
            <a:spAutoFit/>
          </a:bodyPr>
          <a:lstStyle/>
          <a:p>
            <a:r>
              <a:rPr sz="1100" b="0">
                <a:solidFill>
                  <a:srgbClr val="2E2E2E"/>
                </a:solidFill>
                <a:latin typeface="Calibri"/>
              </a:rPr>
              <a:t>● Neurofunctional Nutrients:</a:t>
            </a:r>
          </a:p>
        </p:txBody>
      </p:sp>
      <p:pic>
        <p:nvPicPr>
          <p:cNvPr id="147" name="Picture 146" descr="lock.png"/>
          <p:cNvPicPr>
            <a:picLocks noChangeAspect="1"/>
          </p:cNvPicPr>
          <p:nvPr/>
        </p:nvPicPr>
        <p:blipFill>
          <a:blip r:embed="rId22"/>
          <a:stretch>
            <a:fillRect/>
          </a:stretch>
        </p:blipFill>
        <p:spPr>
          <a:xfrm>
            <a:off x="5513578" y="5644597"/>
            <a:ext cx="128699" cy="187198"/>
          </a:xfrm>
          <a:prstGeom prst="rect">
            <a:avLst/>
          </a:prstGeom>
        </p:spPr>
      </p:pic>
      <p:sp>
        <p:nvSpPr>
          <p:cNvPr id="148" name="TextBox 147"/>
          <p:cNvSpPr txBox="1"/>
          <p:nvPr/>
        </p:nvSpPr>
        <p:spPr>
          <a:xfrm>
            <a:off x="5681074" y="565437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9" name="Picture 148" descr="lock.png"/>
          <p:cNvPicPr>
            <a:picLocks noChangeAspect="1"/>
          </p:cNvPicPr>
          <p:nvPr/>
        </p:nvPicPr>
        <p:blipFill>
          <a:blip r:embed="rId22"/>
          <a:stretch>
            <a:fillRect/>
          </a:stretch>
        </p:blipFill>
        <p:spPr>
          <a:xfrm>
            <a:off x="6540524" y="5644597"/>
            <a:ext cx="128699" cy="187198"/>
          </a:xfrm>
          <a:prstGeom prst="rect">
            <a:avLst/>
          </a:prstGeom>
        </p:spPr>
      </p:pic>
      <p:sp>
        <p:nvSpPr>
          <p:cNvPr id="150" name="TextBox 149"/>
          <p:cNvSpPr txBox="1"/>
          <p:nvPr/>
        </p:nvSpPr>
        <p:spPr>
          <a:xfrm>
            <a:off x="6708020" y="5654377"/>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51" name="TextBox 150"/>
          <p:cNvSpPr txBox="1"/>
          <p:nvPr/>
        </p:nvSpPr>
        <p:spPr>
          <a:xfrm>
            <a:off x="3838575" y="5822017"/>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52" name="TextBox 151"/>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Active Ingredient segment is projected to grow</a:t>
            </a:r>
          </a:p>
        </p:txBody>
      </p:sp>
      <p:sp>
        <p:nvSpPr>
          <p:cNvPr id="153" name="TextBox 152"/>
          <p:cNvSpPr txBox="1"/>
          <p:nvPr/>
        </p:nvSpPr>
        <p:spPr>
          <a:xfrm>
            <a:off x="8524875" y="6017901"/>
            <a:ext cx="836089" cy="194310"/>
          </a:xfrm>
          <a:prstGeom prst="rect">
            <a:avLst/>
          </a:prstGeom>
          <a:noFill/>
        </p:spPr>
        <p:txBody>
          <a:bodyPr wrap="none" lIns="0" rIns="0" tIns="0" bIns="0">
            <a:spAutoFit/>
          </a:bodyPr>
          <a:lstStyle/>
          <a:p>
            <a:r>
              <a:rPr sz="1150" b="1">
                <a:solidFill>
                  <a:srgbClr val="0B2E4A"/>
                </a:solidFill>
                <a:latin typeface="Calibri"/>
              </a:rPr>
              <a:t>at a CAGR of</a:t>
            </a:r>
          </a:p>
        </p:txBody>
      </p:sp>
      <p:pic>
        <p:nvPicPr>
          <p:cNvPr id="154" name="Picture 153" descr="lock.png"/>
          <p:cNvPicPr>
            <a:picLocks noChangeAspect="1"/>
          </p:cNvPicPr>
          <p:nvPr/>
        </p:nvPicPr>
        <p:blipFill>
          <a:blip r:embed="rId22"/>
          <a:stretch>
            <a:fillRect/>
          </a:stretch>
        </p:blipFill>
        <p:spPr>
          <a:xfrm>
            <a:off x="9310118" y="6007677"/>
            <a:ext cx="134549" cy="195707"/>
          </a:xfrm>
          <a:prstGeom prst="rect">
            <a:avLst/>
          </a:prstGeom>
        </p:spPr>
      </p:pic>
      <p:sp>
        <p:nvSpPr>
          <p:cNvPr id="155" name="TextBox 154"/>
          <p:cNvSpPr txBox="1"/>
          <p:nvPr/>
        </p:nvSpPr>
        <p:spPr>
          <a:xfrm>
            <a:off x="9485227"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Active Ingredient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Active Ingredient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Active Ingredient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Active Ingredient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677650" cy="186689"/>
          </a:xfrm>
          <a:prstGeom prst="rect">
            <a:avLst/>
          </a:prstGeom>
          <a:noFill/>
        </p:spPr>
        <p:txBody>
          <a:bodyPr wrap="none" lIns="0" rIns="0" tIns="0" bIns="0">
            <a:spAutoFit/>
          </a:bodyPr>
          <a:lstStyle/>
          <a:p>
            <a:r>
              <a:rPr sz="1100" b="0">
                <a:solidFill>
                  <a:srgbClr val="2E2E2E"/>
                </a:solidFill>
                <a:latin typeface="Calibri"/>
              </a:rPr>
              <a:t>Cellular energy support ingredients followed by antioxidant ingredients are expected to be the two most attractive active ingredient segments in the North America senior dog cognitive supplement market</a:t>
            </a:r>
          </a:p>
        </p:txBody>
      </p:sp>
      <p:sp>
        <p:nvSpPr>
          <p:cNvPr id="20" name="TextBox 19"/>
          <p:cNvSpPr txBox="1"/>
          <p:nvPr/>
        </p:nvSpPr>
        <p:spPr>
          <a:xfrm>
            <a:off x="257175" y="5861685"/>
            <a:ext cx="7453270" cy="186689"/>
          </a:xfrm>
          <a:prstGeom prst="rect">
            <a:avLst/>
          </a:prstGeom>
          <a:noFill/>
        </p:spPr>
        <p:txBody>
          <a:bodyPr wrap="none" lIns="0" rIns="0" tIns="0" bIns="0">
            <a:spAutoFit/>
          </a:bodyPr>
          <a:lstStyle/>
          <a:p>
            <a:r>
              <a:rPr sz="1100" b="0">
                <a:solidFill>
                  <a:srgbClr val="2E2E2E"/>
                </a:solidFill>
                <a:latin typeface="Calibri"/>
              </a:rPr>
              <a:t>in terms of value over the forecast period. Cellular energy support ingredients and antioxidant ingredients exhibit a CAGR index of</a:t>
            </a:r>
          </a:p>
        </p:txBody>
      </p:sp>
      <p:pic>
        <p:nvPicPr>
          <p:cNvPr id="21" name="Picture 20" descr="lock.png"/>
          <p:cNvPicPr>
            <a:picLocks noChangeAspect="1"/>
          </p:cNvPicPr>
          <p:nvPr/>
        </p:nvPicPr>
        <p:blipFill>
          <a:blip r:embed="rId6"/>
          <a:stretch>
            <a:fillRect/>
          </a:stretch>
        </p:blipFill>
        <p:spPr>
          <a:xfrm>
            <a:off x="7658497" y="5851905"/>
            <a:ext cx="128699" cy="187198"/>
          </a:xfrm>
          <a:prstGeom prst="rect">
            <a:avLst/>
          </a:prstGeom>
        </p:spPr>
      </p:pic>
      <p:sp>
        <p:nvSpPr>
          <p:cNvPr id="22" name="TextBox 21"/>
          <p:cNvSpPr txBox="1"/>
          <p:nvPr/>
        </p:nvSpPr>
        <p:spPr>
          <a:xfrm>
            <a:off x="7825993"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8063887" y="5851905"/>
            <a:ext cx="128699" cy="187198"/>
          </a:xfrm>
          <a:prstGeom prst="rect">
            <a:avLst/>
          </a:prstGeom>
        </p:spPr>
      </p:pic>
      <p:sp>
        <p:nvSpPr>
          <p:cNvPr id="24" name="TextBox 23"/>
          <p:cNvSpPr txBox="1"/>
          <p:nvPr/>
        </p:nvSpPr>
        <p:spPr>
          <a:xfrm>
            <a:off x="8231383"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9840356" y="5851905"/>
            <a:ext cx="128699" cy="187198"/>
          </a:xfrm>
          <a:prstGeom prst="rect">
            <a:avLst/>
          </a:prstGeom>
        </p:spPr>
      </p:pic>
      <p:sp>
        <p:nvSpPr>
          <p:cNvPr id="26" name="TextBox 25"/>
          <p:cNvSpPr txBox="1"/>
          <p:nvPr/>
        </p:nvSpPr>
        <p:spPr>
          <a:xfrm>
            <a:off x="10007852"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10245746" y="5851905"/>
            <a:ext cx="128699" cy="187198"/>
          </a:xfrm>
          <a:prstGeom prst="rect">
            <a:avLst/>
          </a:prstGeom>
        </p:spPr>
      </p:pic>
      <p:sp>
        <p:nvSpPr>
          <p:cNvPr id="28" name="TextBox 27"/>
          <p:cNvSpPr txBox="1"/>
          <p:nvPr/>
        </p:nvSpPr>
        <p:spPr>
          <a:xfrm>
            <a:off x="10413242" y="5861685"/>
            <a:ext cx="793526"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29" name="TextBox 28"/>
          <p:cNvSpPr txBox="1"/>
          <p:nvPr/>
        </p:nvSpPr>
        <p:spPr>
          <a:xfrm>
            <a:off x="257175" y="6029325"/>
            <a:ext cx="1857375" cy="186689"/>
          </a:xfrm>
          <a:prstGeom prst="rect">
            <a:avLst/>
          </a:prstGeom>
          <a:noFill/>
        </p:spPr>
        <p:txBody>
          <a:bodyPr wrap="none" lIns="0" rIns="0" tIns="0" bIns="0">
            <a:spAutoFit/>
          </a:bodyPr>
          <a:lstStyle/>
          <a:p>
            <a:r>
              <a:rPr sz="1100" b="0">
                <a:solidFill>
                  <a:srgbClr val="2E2E2E"/>
                </a:solidFill>
                <a:latin typeface="Calibri"/>
              </a:rPr>
              <a:t>against the segment average of</a:t>
            </a:r>
          </a:p>
        </p:txBody>
      </p:sp>
      <p:pic>
        <p:nvPicPr>
          <p:cNvPr id="30" name="Picture 29" descr="lock.png"/>
          <p:cNvPicPr>
            <a:picLocks noChangeAspect="1"/>
          </p:cNvPicPr>
          <p:nvPr/>
        </p:nvPicPr>
        <p:blipFill>
          <a:blip r:embed="rId6"/>
          <a:stretch>
            <a:fillRect/>
          </a:stretch>
        </p:blipFill>
        <p:spPr>
          <a:xfrm>
            <a:off x="2062601" y="6019545"/>
            <a:ext cx="128699" cy="187198"/>
          </a:xfrm>
          <a:prstGeom prst="rect">
            <a:avLst/>
          </a:prstGeom>
        </p:spPr>
      </p:pic>
      <p:sp>
        <p:nvSpPr>
          <p:cNvPr id="31" name="TextBox 30"/>
          <p:cNvSpPr txBox="1"/>
          <p:nvPr/>
        </p:nvSpPr>
        <p:spPr>
          <a:xfrm>
            <a:off x="2230097" y="6029325"/>
            <a:ext cx="9562413" cy="186689"/>
          </a:xfrm>
          <a:prstGeom prst="rect">
            <a:avLst/>
          </a:prstGeom>
          <a:noFill/>
        </p:spPr>
        <p:txBody>
          <a:bodyPr wrap="none" lIns="0" rIns="0" tIns="0" bIns="0">
            <a:spAutoFit/>
          </a:bodyPr>
          <a:lstStyle/>
          <a:p>
            <a:r>
              <a:rPr sz="1100" b="0">
                <a:solidFill>
                  <a:srgbClr val="2E2E2E"/>
                </a:solidFill>
                <a:latin typeface="Calibri"/>
              </a:rPr>
              <a:t>. The botanical ingredients segment is expected to be less attractive as compared to other segments over the forecast period, owing to its lower CAGR and incremental</a:t>
            </a:r>
          </a:p>
        </p:txBody>
      </p:sp>
      <p:sp>
        <p:nvSpPr>
          <p:cNvPr id="32" name="TextBox 31"/>
          <p:cNvSpPr txBox="1"/>
          <p:nvPr/>
        </p:nvSpPr>
        <p:spPr>
          <a:xfrm>
            <a:off x="257175" y="6196965"/>
            <a:ext cx="5122845" cy="186689"/>
          </a:xfrm>
          <a:prstGeom prst="rect">
            <a:avLst/>
          </a:prstGeom>
          <a:noFill/>
        </p:spPr>
        <p:txBody>
          <a:bodyPr wrap="none" lIns="0" rIns="0" tIns="0" bIns="0">
            <a:spAutoFit/>
          </a:bodyPr>
          <a:lstStyle/>
          <a:p>
            <a:r>
              <a:rPr sz="1100" b="0">
                <a:solidFill>
                  <a:srgbClr val="2E2E2E"/>
                </a:solidFill>
                <a:latin typeface="Calibri"/>
              </a:rPr>
              <a:t>opportunity. Bubbles right of the CAGR-Index line 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Active Ingredient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Active Ingredient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Omega-3 Fatty Acids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Antioxidant Ingredients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Neurofunctional Nutrients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Cellular Energy Support Ingredients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Active Ingredient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Active Ingredient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Botanical Ingredients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Microbiome-Targeted Ingredients</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Active Ingredient</a:t>
            </a:r>
          </a:p>
        </p:txBody>
      </p:sp>
      <p:sp>
        <p:nvSpPr>
          <p:cNvPr id="18" name="Rectangle 17"/>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6"/>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6"/>
          <a:stretch>
            <a:fillRect/>
          </a:stretch>
        </p:blipFill>
        <p:spPr>
          <a:xfrm>
            <a:off x="3100230" y="5216754"/>
            <a:ext cx="252890" cy="367840"/>
          </a:xfrm>
          <a:prstGeom prst="rect">
            <a:avLst/>
          </a:prstGeom>
        </p:spPr>
      </p:pic>
      <p:sp>
        <p:nvSpPr>
          <p:cNvPr id="23" name="TextBox 22"/>
          <p:cNvSpPr txBox="1"/>
          <p:nvPr/>
        </p:nvSpPr>
        <p:spPr>
          <a:xfrm>
            <a:off x="6305550" y="1598245"/>
            <a:ext cx="5575302" cy="194310"/>
          </a:xfrm>
          <a:prstGeom prst="rect">
            <a:avLst/>
          </a:prstGeom>
          <a:noFill/>
        </p:spPr>
        <p:txBody>
          <a:bodyPr wrap="none" lIns="0" rIns="0" tIns="0" bIns="0">
            <a:spAutoFit/>
          </a:bodyPr>
          <a:lstStyle/>
          <a:p>
            <a:r>
              <a:rPr sz="1150" b="0">
                <a:solidFill>
                  <a:srgbClr val="2E2E2E"/>
                </a:solidFill>
                <a:latin typeface="Calibri"/>
              </a:rPr>
              <a:t>By 2036, cellular energy support ingredients segment is anticipated to witness an increase of</a:t>
            </a:r>
          </a:p>
        </p:txBody>
      </p:sp>
      <p:pic>
        <p:nvPicPr>
          <p:cNvPr id="24" name="Picture 23" descr="lock.png"/>
          <p:cNvPicPr>
            <a:picLocks noChangeAspect="1"/>
          </p:cNvPicPr>
          <p:nvPr/>
        </p:nvPicPr>
        <p:blipFill>
          <a:blip r:embed="rId6"/>
          <a:stretch>
            <a:fillRect/>
          </a:stretch>
        </p:blipFill>
        <p:spPr>
          <a:xfrm>
            <a:off x="6291470" y="1763281"/>
            <a:ext cx="134549" cy="195707"/>
          </a:xfrm>
          <a:prstGeom prst="rect">
            <a:avLst/>
          </a:prstGeom>
        </p:spPr>
      </p:pic>
      <p:sp>
        <p:nvSpPr>
          <p:cNvPr id="25" name="TextBox 24"/>
          <p:cNvSpPr txBox="1"/>
          <p:nvPr/>
        </p:nvSpPr>
        <p:spPr>
          <a:xfrm>
            <a:off x="6466579" y="1773505"/>
            <a:ext cx="5411303" cy="194310"/>
          </a:xfrm>
          <a:prstGeom prst="rect">
            <a:avLst/>
          </a:prstGeom>
          <a:noFill/>
        </p:spPr>
        <p:txBody>
          <a:bodyPr wrap="none" lIns="0" rIns="0" tIns="0" bIns="0">
            <a:spAutoFit/>
          </a:bodyPr>
          <a:lstStyle/>
          <a:p>
            <a:r>
              <a:rPr sz="1150" b="0">
                <a:solidFill>
                  <a:srgbClr val="2E2E2E"/>
                </a:solidFill>
                <a:latin typeface="Calibri"/>
              </a:rPr>
              <a:t>X in terms of value as compared to 2026. The cellular energy support ingredients segment</a:t>
            </a:r>
          </a:p>
        </p:txBody>
      </p:sp>
      <p:sp>
        <p:nvSpPr>
          <p:cNvPr id="26" name="TextBox 25"/>
          <p:cNvSpPr txBox="1"/>
          <p:nvPr/>
        </p:nvSpPr>
        <p:spPr>
          <a:xfrm>
            <a:off x="6305550" y="1948765"/>
            <a:ext cx="3409106" cy="194310"/>
          </a:xfrm>
          <a:prstGeom prst="rect">
            <a:avLst/>
          </a:prstGeom>
          <a:noFill/>
        </p:spPr>
        <p:txBody>
          <a:bodyPr wrap="none" lIns="0" rIns="0" tIns="0" bIns="0">
            <a:spAutoFit/>
          </a:bodyPr>
          <a:lstStyle/>
          <a:p>
            <a:r>
              <a:rPr sz="1150" b="0">
                <a:solidFill>
                  <a:srgbClr val="2E2E2E"/>
                </a:solidFill>
                <a:latin typeface="Calibri"/>
              </a:rPr>
              <a:t>is expected to create an incremental opportunity of US$</a:t>
            </a:r>
          </a:p>
        </p:txBody>
      </p:sp>
      <p:pic>
        <p:nvPicPr>
          <p:cNvPr id="27" name="Picture 26" descr="lock.png"/>
          <p:cNvPicPr>
            <a:picLocks noChangeAspect="1"/>
          </p:cNvPicPr>
          <p:nvPr/>
        </p:nvPicPr>
        <p:blipFill>
          <a:blip r:embed="rId6"/>
          <a:stretch>
            <a:fillRect/>
          </a:stretch>
        </p:blipFill>
        <p:spPr>
          <a:xfrm>
            <a:off x="9663810" y="1938541"/>
            <a:ext cx="134549" cy="195707"/>
          </a:xfrm>
          <a:prstGeom prst="rect">
            <a:avLst/>
          </a:prstGeom>
        </p:spPr>
      </p:pic>
      <p:sp>
        <p:nvSpPr>
          <p:cNvPr id="28" name="TextBox 27"/>
          <p:cNvSpPr txBox="1"/>
          <p:nvPr/>
        </p:nvSpPr>
        <p:spPr>
          <a:xfrm>
            <a:off x="9838919" y="1948765"/>
            <a:ext cx="1809117" cy="194310"/>
          </a:xfrm>
          <a:prstGeom prst="rect">
            <a:avLst/>
          </a:prstGeom>
          <a:noFill/>
        </p:spPr>
        <p:txBody>
          <a:bodyPr wrap="none" lIns="0" rIns="0" tIns="0" bIns="0">
            <a:spAutoFit/>
          </a:bodyPr>
          <a:lstStyle/>
          <a:p>
            <a:r>
              <a:rPr sz="1150" b="0">
                <a:solidFill>
                  <a:srgbClr val="2E2E2E"/>
                </a:solidFill>
                <a:latin typeface="Calibri"/>
              </a:rPr>
              <a:t>Mn for the overall senior dog</a:t>
            </a:r>
          </a:p>
        </p:txBody>
      </p:sp>
      <p:sp>
        <p:nvSpPr>
          <p:cNvPr id="29" name="TextBox 28"/>
          <p:cNvSpPr txBox="1"/>
          <p:nvPr/>
        </p:nvSpPr>
        <p:spPr>
          <a:xfrm>
            <a:off x="6305550" y="2124025"/>
            <a:ext cx="2994347" cy="194310"/>
          </a:xfrm>
          <a:prstGeom prst="rect">
            <a:avLst/>
          </a:prstGeom>
          <a:noFill/>
        </p:spPr>
        <p:txBody>
          <a:bodyPr wrap="none" lIns="0" rIns="0" tIns="0" bIns="0">
            <a:spAutoFit/>
          </a:bodyPr>
          <a:lstStyle/>
          <a:p>
            <a:r>
              <a:rPr sz="1150" b="0">
                <a:solidFill>
                  <a:srgbClr val="2E2E2E"/>
                </a:solidFill>
                <a:latin typeface="Calibri"/>
              </a:rPr>
              <a:t>cognitive supplement market from 2026 to 2036.</a:t>
            </a:r>
          </a:p>
        </p:txBody>
      </p:sp>
      <p:sp>
        <p:nvSpPr>
          <p:cNvPr id="30" name="TextBox 29"/>
          <p:cNvSpPr txBox="1"/>
          <p:nvPr/>
        </p:nvSpPr>
        <p:spPr>
          <a:xfrm>
            <a:off x="6305550" y="2351863"/>
            <a:ext cx="5591175" cy="194310"/>
          </a:xfrm>
          <a:prstGeom prst="rect">
            <a:avLst/>
          </a:prstGeom>
          <a:noFill/>
        </p:spPr>
        <p:txBody>
          <a:bodyPr wrap="none" lIns="0" rIns="0" tIns="0" bIns="0">
            <a:spAutoFit/>
          </a:bodyPr>
          <a:lstStyle/>
          <a:p>
            <a:r>
              <a:rPr sz="1150" b="0">
                <a:solidFill>
                  <a:srgbClr val="2E2E2E"/>
                </a:solidFill>
                <a:latin typeface="Calibri"/>
              </a:rPr>
              <a:t>The antioxidant ingredients segment is expected to create an incremental opportunity of US$</a:t>
            </a:r>
          </a:p>
        </p:txBody>
      </p:sp>
      <p:pic>
        <p:nvPicPr>
          <p:cNvPr id="31" name="Picture 30" descr="lock.png"/>
          <p:cNvPicPr>
            <a:picLocks noChangeAspect="1"/>
          </p:cNvPicPr>
          <p:nvPr/>
        </p:nvPicPr>
        <p:blipFill>
          <a:blip r:embed="rId6"/>
          <a:stretch>
            <a:fillRect/>
          </a:stretch>
        </p:blipFill>
        <p:spPr>
          <a:xfrm>
            <a:off x="6291470" y="2516899"/>
            <a:ext cx="134549" cy="195707"/>
          </a:xfrm>
          <a:prstGeom prst="rect">
            <a:avLst/>
          </a:prstGeom>
        </p:spPr>
      </p:pic>
      <p:sp>
        <p:nvSpPr>
          <p:cNvPr id="32" name="TextBox 31"/>
          <p:cNvSpPr txBox="1"/>
          <p:nvPr/>
        </p:nvSpPr>
        <p:spPr>
          <a:xfrm>
            <a:off x="6466579" y="2527123"/>
            <a:ext cx="5014230" cy="194310"/>
          </a:xfrm>
          <a:prstGeom prst="rect">
            <a:avLst/>
          </a:prstGeom>
          <a:noFill/>
        </p:spPr>
        <p:txBody>
          <a:bodyPr wrap="none" lIns="0" rIns="0" tIns="0" bIns="0">
            <a:spAutoFit/>
          </a:bodyPr>
          <a:lstStyle/>
          <a:p>
            <a:r>
              <a:rPr sz="1150" b="0">
                <a:solidFill>
                  <a:srgbClr val="2E2E2E"/>
                </a:solidFill>
                <a:latin typeface="Calibri"/>
              </a:rPr>
              <a:t>Mn for the overall senior dog cognitive supplement market from 2026 to 2036. The</a:t>
            </a:r>
          </a:p>
        </p:txBody>
      </p:sp>
      <p:sp>
        <p:nvSpPr>
          <p:cNvPr id="33" name="TextBox 32"/>
          <p:cNvSpPr txBox="1"/>
          <p:nvPr/>
        </p:nvSpPr>
        <p:spPr>
          <a:xfrm>
            <a:off x="6305550" y="2702383"/>
            <a:ext cx="5176825" cy="194310"/>
          </a:xfrm>
          <a:prstGeom prst="rect">
            <a:avLst/>
          </a:prstGeom>
          <a:noFill/>
        </p:spPr>
        <p:txBody>
          <a:bodyPr wrap="none" lIns="0" rIns="0" tIns="0" bIns="0">
            <a:spAutoFit/>
          </a:bodyPr>
          <a:lstStyle/>
          <a:p>
            <a:r>
              <a:rPr sz="1150" b="0">
                <a:solidFill>
                  <a:srgbClr val="2E2E2E"/>
                </a:solidFill>
                <a:latin typeface="Calibri"/>
              </a:rPr>
              <a:t>Omega-3 fatty acids segment is expected to create an incremental opportunity of US$</a:t>
            </a:r>
          </a:p>
        </p:txBody>
      </p:sp>
      <p:pic>
        <p:nvPicPr>
          <p:cNvPr id="34" name="Picture 33" descr="lock.png"/>
          <p:cNvPicPr>
            <a:picLocks noChangeAspect="1"/>
          </p:cNvPicPr>
          <p:nvPr/>
        </p:nvPicPr>
        <p:blipFill>
          <a:blip r:embed="rId6"/>
          <a:stretch>
            <a:fillRect/>
          </a:stretch>
        </p:blipFill>
        <p:spPr>
          <a:xfrm>
            <a:off x="11431529" y="2692159"/>
            <a:ext cx="134549" cy="195707"/>
          </a:xfrm>
          <a:prstGeom prst="rect">
            <a:avLst/>
          </a:prstGeom>
        </p:spPr>
      </p:pic>
      <p:sp>
        <p:nvSpPr>
          <p:cNvPr id="35" name="TextBox 34"/>
          <p:cNvSpPr txBox="1"/>
          <p:nvPr/>
        </p:nvSpPr>
        <p:spPr>
          <a:xfrm>
            <a:off x="11606638" y="2702383"/>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36" name="TextBox 35"/>
          <p:cNvSpPr txBox="1"/>
          <p:nvPr/>
        </p:nvSpPr>
        <p:spPr>
          <a:xfrm>
            <a:off x="6305550" y="2877643"/>
            <a:ext cx="4525590" cy="194310"/>
          </a:xfrm>
          <a:prstGeom prst="rect">
            <a:avLst/>
          </a:prstGeom>
          <a:noFill/>
        </p:spPr>
        <p:txBody>
          <a:bodyPr wrap="none" lIns="0" rIns="0" tIns="0" bIns="0">
            <a:spAutoFit/>
          </a:bodyPr>
          <a:lstStyle/>
          <a:p>
            <a:r>
              <a:rPr sz="1150" b="0">
                <a:solidFill>
                  <a:srgbClr val="2E2E2E"/>
                </a:solidFill>
                <a:latin typeface="Calibri"/>
              </a:rPr>
              <a:t>for the overall senior dog cognitive supplement market from 2026 to 2036.</a:t>
            </a:r>
          </a:p>
        </p:txBody>
      </p:sp>
      <p:sp>
        <p:nvSpPr>
          <p:cNvPr id="3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Active Ingredient (US$ Mn)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Active Ingredient, 2021–2036, highlighting the sub-segments driving growth</a:t>
            </a:r>
          </a:p>
        </p:txBody>
      </p:sp>
      <p:sp>
        <p:nvSpPr>
          <p:cNvPr id="10" name="Rounded Rectangle 9"/>
          <p:cNvSpPr/>
          <p:nvPr/>
        </p:nvSpPr>
        <p:spPr>
          <a:xfrm>
            <a:off x="142875" y="981075"/>
            <a:ext cx="11906250" cy="5638800"/>
          </a:xfrm>
          <a:prstGeom prst="roundRect">
            <a:avLst>
              <a:gd name="adj" fmla="val 13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Active Ingredient (US$ Mn)</a:t>
            </a:r>
          </a:p>
        </p:txBody>
      </p:sp>
      <p:graphicFrame>
        <p:nvGraphicFramePr>
          <p:cNvPr id="12" name="Table 11"/>
          <p:cNvGraphicFramePr>
            <a:graphicFrameLocks noGrp="1"/>
          </p:cNvGraphicFramePr>
          <p:nvPr/>
        </p:nvGraphicFramePr>
        <p:xfrm>
          <a:off x="152400" y="1238250"/>
          <a:ext cx="11887193" cy="5172066"/>
        </p:xfrm>
        <a:graphic>
          <a:graphicData uri="http://schemas.openxmlformats.org/drawingml/2006/table">
            <a:tbl>
              <a:tblPr>
                <a:tableStyleId>{5C22544A-7EE6-4342-B048-85BDC9FD1C3A}</a:tableStyleId>
              </a:tblPr>
              <a:tblGrid>
                <a:gridCol w="2280255"/>
                <a:gridCol w="565114"/>
                <a:gridCol w="565114"/>
                <a:gridCol w="565114"/>
                <a:gridCol w="565114"/>
                <a:gridCol w="565114"/>
                <a:gridCol w="565114"/>
                <a:gridCol w="565114"/>
                <a:gridCol w="565114"/>
                <a:gridCol w="565114"/>
                <a:gridCol w="565114"/>
                <a:gridCol w="565114"/>
                <a:gridCol w="565114"/>
                <a:gridCol w="565114"/>
                <a:gridCol w="565114"/>
                <a:gridCol w="565114"/>
                <a:gridCol w="565114"/>
                <a:gridCol w="565114"/>
              </a:tblGrid>
              <a:tr h="246126">
                <a:tc>
                  <a:txBody>
                    <a:bodyPr wrap="none"/>
                    <a:lstStyle/>
                    <a:p>
                      <a:pPr algn="l"/>
                      <a:r>
                        <a:rPr sz="1100" b="1">
                          <a:solidFill>
                            <a:srgbClr val="0B2E4A"/>
                          </a:solidFill>
                          <a:latin typeface="Calibri"/>
                        </a:rPr>
                        <a:t>Active Ingredient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297">
                <a:tc>
                  <a:txBody>
                    <a:bodyPr wrap="none"/>
                    <a:lstStyle/>
                    <a:p>
                      <a:pPr algn="l"/>
                      <a:r>
                        <a:rPr sz="1100" b="1">
                          <a:solidFill>
                            <a:srgbClr val="2E2E2E"/>
                          </a:solidFill>
                          <a:latin typeface="Calibri"/>
                        </a:rPr>
                        <a:t>Omega-3 Fatty Acids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DHA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EPA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DHA–EPA Combinations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Antioxidant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Vitamin 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Vitamin 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Selenium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Other Antioxidants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Neurofunctional Nutrients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Phosphatidylserine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B Vitamins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Choline-Related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Cellular Energy Support Ingredients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L-Carnitine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Acetyl-L-Carnitine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 Coenzyme Q10</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Alpha-Lipoic Acid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297">
                <a:tc>
                  <a:txBody>
                    <a:bodyPr wrap="none"/>
                    <a:lstStyle/>
                    <a:p>
                      <a:pPr algn="l"/>
                      <a:r>
                        <a:rPr sz="1100" b="1">
                          <a:solidFill>
                            <a:srgbClr val="2E2E2E"/>
                          </a:solidFill>
                          <a:latin typeface="Calibri"/>
                        </a:rPr>
                        <a:t>Botanical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Ginkgo Biloba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64198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049433" y="3680645"/>
            <a:ext cx="366712" cy="533400"/>
          </a:xfrm>
          <a:prstGeom prst="rect">
            <a:avLst/>
          </a:prstGeom>
        </p:spPr>
      </p:pic>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Active Ingredient (US$ Mn)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Active Ingredient, 2021–2036, highlighting the sub-segments driving growth</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Active Ingredient (US$ Mn)</a:t>
            </a:r>
          </a:p>
        </p:txBody>
      </p:sp>
      <p:graphicFrame>
        <p:nvGraphicFramePr>
          <p:cNvPr id="12" name="Table 11"/>
          <p:cNvGraphicFramePr>
            <a:graphicFrameLocks noGrp="1"/>
          </p:cNvGraphicFramePr>
          <p:nvPr/>
        </p:nvGraphicFramePr>
        <p:xfrm>
          <a:off x="152400" y="1238250"/>
          <a:ext cx="11887199" cy="1971675"/>
        </p:xfrm>
        <a:graphic>
          <a:graphicData uri="http://schemas.openxmlformats.org/drawingml/2006/table">
            <a:tbl>
              <a:tblPr>
                <a:tableStyleId>{5C22544A-7EE6-4342-B048-85BDC9FD1C3A}</a:tableStyleId>
              </a:tblPr>
              <a:tblGrid>
                <a:gridCol w="2358529"/>
                <a:gridCol w="560510"/>
                <a:gridCol w="560510"/>
                <a:gridCol w="560510"/>
                <a:gridCol w="560510"/>
                <a:gridCol w="560510"/>
                <a:gridCol w="560510"/>
                <a:gridCol w="560510"/>
                <a:gridCol w="560510"/>
                <a:gridCol w="560510"/>
                <a:gridCol w="560510"/>
                <a:gridCol w="560510"/>
                <a:gridCol w="560510"/>
                <a:gridCol w="560510"/>
                <a:gridCol w="560510"/>
                <a:gridCol w="560510"/>
                <a:gridCol w="560510"/>
                <a:gridCol w="560510"/>
              </a:tblGrid>
              <a:tr h="246126">
                <a:tc>
                  <a:txBody>
                    <a:bodyPr wrap="none"/>
                    <a:lstStyle/>
                    <a:p>
                      <a:pPr algn="l"/>
                      <a:r>
                        <a:rPr sz="1100" b="1">
                          <a:solidFill>
                            <a:srgbClr val="0B2E4A"/>
                          </a:solidFill>
                          <a:latin typeface="Calibri"/>
                        </a:rPr>
                        <a:t>Active Ingredient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 Resveratrol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 Other Cognitive-Support Botanicals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Microbiome-Targeted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 Prebiotics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 Probiotics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 Postbiotics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Active Ingredient</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088574" y="2080450"/>
            <a:ext cx="366712" cy="533400"/>
          </a:xfrm>
          <a:prstGeom prst="rect">
            <a:avLst/>
          </a:prstGeom>
        </p:spPr>
      </p:pic>
      <p:sp>
        <p:nvSpPr>
          <p:cNvPr id="20" name="TextBox 19"/>
          <p:cNvSpPr txBox="1"/>
          <p:nvPr/>
        </p:nvSpPr>
        <p:spPr>
          <a:xfrm>
            <a:off x="276225" y="3971925"/>
            <a:ext cx="4091433" cy="194310"/>
          </a:xfrm>
          <a:prstGeom prst="rect">
            <a:avLst/>
          </a:prstGeom>
          <a:noFill/>
        </p:spPr>
        <p:txBody>
          <a:bodyPr wrap="none" lIns="0" rIns="0" tIns="0" bIns="0">
            <a:spAutoFit/>
          </a:bodyPr>
          <a:lstStyle/>
          <a:p>
            <a:r>
              <a:rPr sz="1150" b="0">
                <a:solidFill>
                  <a:srgbClr val="2E2E2E"/>
                </a:solidFill>
                <a:latin typeface="Calibri"/>
              </a:rPr>
              <a:t>Cellular energy support ingredients segment is projected to register</a:t>
            </a:r>
          </a:p>
        </p:txBody>
      </p:sp>
      <p:pic>
        <p:nvPicPr>
          <p:cNvPr id="21" name="Picture 20" descr="lock.png"/>
          <p:cNvPicPr>
            <a:picLocks noChangeAspect="1"/>
          </p:cNvPicPr>
          <p:nvPr/>
        </p:nvPicPr>
        <p:blipFill>
          <a:blip r:embed="rId4"/>
          <a:stretch>
            <a:fillRect/>
          </a:stretch>
        </p:blipFill>
        <p:spPr>
          <a:xfrm>
            <a:off x="4316812" y="3961701"/>
            <a:ext cx="134549" cy="195707"/>
          </a:xfrm>
          <a:prstGeom prst="rect">
            <a:avLst/>
          </a:prstGeom>
        </p:spPr>
      </p:pic>
      <p:sp>
        <p:nvSpPr>
          <p:cNvPr id="22" name="TextBox 21"/>
          <p:cNvSpPr txBox="1"/>
          <p:nvPr/>
        </p:nvSpPr>
        <p:spPr>
          <a:xfrm>
            <a:off x="4491922" y="3971925"/>
            <a:ext cx="7361870" cy="194310"/>
          </a:xfrm>
          <a:prstGeom prst="rect">
            <a:avLst/>
          </a:prstGeom>
          <a:noFill/>
        </p:spPr>
        <p:txBody>
          <a:bodyPr wrap="none" lIns="0" rIns="0" tIns="0" bIns="0">
            <a:spAutoFit/>
          </a:bodyPr>
          <a:lstStyle/>
          <a:p>
            <a:r>
              <a:rPr sz="1150" b="0">
                <a:solidFill>
                  <a:srgbClr val="2E2E2E"/>
                </a:solidFill>
                <a:latin typeface="Calibri"/>
              </a:rPr>
              <a:t>X higher value than antioxidant ingredients segment in 2036. Among senior dog cognitive supplement by active ingredient,</a:t>
            </a:r>
          </a:p>
        </p:txBody>
      </p:sp>
      <p:sp>
        <p:nvSpPr>
          <p:cNvPr id="23" name="TextBox 22"/>
          <p:cNvSpPr txBox="1"/>
          <p:nvPr/>
        </p:nvSpPr>
        <p:spPr>
          <a:xfrm>
            <a:off x="276225" y="4147185"/>
            <a:ext cx="4567504" cy="194310"/>
          </a:xfrm>
          <a:prstGeom prst="rect">
            <a:avLst/>
          </a:prstGeom>
          <a:noFill/>
        </p:spPr>
        <p:txBody>
          <a:bodyPr wrap="none" lIns="0" rIns="0" tIns="0" bIns="0">
            <a:spAutoFit/>
          </a:bodyPr>
          <a:lstStyle/>
          <a:p>
            <a:r>
              <a:rPr sz="1150" b="0">
                <a:solidFill>
                  <a:srgbClr val="2E2E2E"/>
                </a:solidFill>
                <a:latin typeface="Calibri"/>
              </a:rPr>
              <a:t>antioxidant ingredients segment is expected to witness the highest CAGR of</a:t>
            </a:r>
          </a:p>
        </p:txBody>
      </p:sp>
      <p:pic>
        <p:nvPicPr>
          <p:cNvPr id="24" name="Picture 23" descr="lock.png"/>
          <p:cNvPicPr>
            <a:picLocks noChangeAspect="1"/>
          </p:cNvPicPr>
          <p:nvPr/>
        </p:nvPicPr>
        <p:blipFill>
          <a:blip r:embed="rId4"/>
          <a:stretch>
            <a:fillRect/>
          </a:stretch>
        </p:blipFill>
        <p:spPr>
          <a:xfrm>
            <a:off x="4792883" y="4136961"/>
            <a:ext cx="134549" cy="195707"/>
          </a:xfrm>
          <a:prstGeom prst="rect">
            <a:avLst/>
          </a:prstGeom>
        </p:spPr>
      </p:pic>
      <p:sp>
        <p:nvSpPr>
          <p:cNvPr id="25" name="TextBox 24"/>
          <p:cNvSpPr txBox="1"/>
          <p:nvPr/>
        </p:nvSpPr>
        <p:spPr>
          <a:xfrm>
            <a:off x="4967993"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8221910" cy="194310"/>
          </a:xfrm>
          <a:prstGeom prst="rect">
            <a:avLst/>
          </a:prstGeom>
          <a:noFill/>
        </p:spPr>
        <p:txBody>
          <a:bodyPr wrap="none" lIns="0" rIns="0" tIns="0" bIns="0">
            <a:spAutoFit/>
          </a:bodyPr>
          <a:lstStyle/>
          <a:p>
            <a:r>
              <a:rPr sz="1150" b="0">
                <a:solidFill>
                  <a:srgbClr val="2E2E2E"/>
                </a:solidFill>
                <a:latin typeface="Calibri"/>
              </a:rPr>
              <a:t>In terms of value share by active ingredient, the cellular energy support ingredients segment is expected to dominate the market, gaining</a:t>
            </a:r>
          </a:p>
        </p:txBody>
      </p:sp>
      <p:pic>
        <p:nvPicPr>
          <p:cNvPr id="27" name="Picture 26" descr="lock.png"/>
          <p:cNvPicPr>
            <a:picLocks noChangeAspect="1"/>
          </p:cNvPicPr>
          <p:nvPr/>
        </p:nvPicPr>
        <p:blipFill>
          <a:blip r:embed="rId4"/>
          <a:stretch>
            <a:fillRect/>
          </a:stretch>
        </p:blipFill>
        <p:spPr>
          <a:xfrm>
            <a:off x="8447289" y="4364799"/>
            <a:ext cx="134549" cy="195707"/>
          </a:xfrm>
          <a:prstGeom prst="rect">
            <a:avLst/>
          </a:prstGeom>
        </p:spPr>
      </p:pic>
      <p:sp>
        <p:nvSpPr>
          <p:cNvPr id="28" name="TextBox 27"/>
          <p:cNvSpPr txBox="1"/>
          <p:nvPr/>
        </p:nvSpPr>
        <p:spPr>
          <a:xfrm>
            <a:off x="8622398"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10017541" y="4364799"/>
            <a:ext cx="134549" cy="195707"/>
          </a:xfrm>
          <a:prstGeom prst="rect">
            <a:avLst/>
          </a:prstGeom>
        </p:spPr>
      </p:pic>
      <p:sp>
        <p:nvSpPr>
          <p:cNvPr id="30" name="TextBox 29"/>
          <p:cNvSpPr txBox="1"/>
          <p:nvPr/>
        </p:nvSpPr>
        <p:spPr>
          <a:xfrm>
            <a:off x="10192651" y="4375022"/>
            <a:ext cx="1200100" cy="194310"/>
          </a:xfrm>
          <a:prstGeom prst="rect">
            <a:avLst/>
          </a:prstGeom>
          <a:noFill/>
        </p:spPr>
        <p:txBody>
          <a:bodyPr wrap="none" lIns="0" rIns="0" tIns="0" bIns="0">
            <a:spAutoFit/>
          </a:bodyPr>
          <a:lstStyle/>
          <a:p>
            <a:r>
              <a:rPr sz="1150" b="0">
                <a:solidFill>
                  <a:srgbClr val="2E2E2E"/>
                </a:solidFill>
                <a:latin typeface="Calibri"/>
              </a:rPr>
              <a:t>share by 2036. The</a:t>
            </a:r>
          </a:p>
        </p:txBody>
      </p:sp>
      <p:sp>
        <p:nvSpPr>
          <p:cNvPr id="31" name="TextBox 30"/>
          <p:cNvSpPr txBox="1"/>
          <p:nvPr/>
        </p:nvSpPr>
        <p:spPr>
          <a:xfrm>
            <a:off x="276225" y="4550282"/>
            <a:ext cx="3009180" cy="194310"/>
          </a:xfrm>
          <a:prstGeom prst="rect">
            <a:avLst/>
          </a:prstGeom>
          <a:noFill/>
        </p:spPr>
        <p:txBody>
          <a:bodyPr wrap="none" lIns="0" rIns="0" tIns="0" bIns="0">
            <a:spAutoFit/>
          </a:bodyPr>
          <a:lstStyle/>
          <a:p>
            <a:r>
              <a:rPr sz="1150" b="0">
                <a:solidFill>
                  <a:srgbClr val="2E2E2E"/>
                </a:solidFill>
                <a:latin typeface="Calibri"/>
              </a:rPr>
              <a:t>botanical ingredients segment is expected to lose</a:t>
            </a:r>
          </a:p>
        </p:txBody>
      </p:sp>
      <p:pic>
        <p:nvPicPr>
          <p:cNvPr id="32" name="Picture 31" descr="lock.png"/>
          <p:cNvPicPr>
            <a:picLocks noChangeAspect="1"/>
          </p:cNvPicPr>
          <p:nvPr/>
        </p:nvPicPr>
        <p:blipFill>
          <a:blip r:embed="rId4"/>
          <a:stretch>
            <a:fillRect/>
          </a:stretch>
        </p:blipFill>
        <p:spPr>
          <a:xfrm>
            <a:off x="3234559" y="4540059"/>
            <a:ext cx="134549" cy="195707"/>
          </a:xfrm>
          <a:prstGeom prst="rect">
            <a:avLst/>
          </a:prstGeom>
        </p:spPr>
      </p:pic>
      <p:sp>
        <p:nvSpPr>
          <p:cNvPr id="33" name="TextBox 32"/>
          <p:cNvSpPr txBox="1"/>
          <p:nvPr/>
        </p:nvSpPr>
        <p:spPr>
          <a:xfrm>
            <a:off x="3409668" y="45502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5997173" y="4540059"/>
            <a:ext cx="134549" cy="195707"/>
          </a:xfrm>
          <a:prstGeom prst="rect">
            <a:avLst/>
          </a:prstGeom>
        </p:spPr>
      </p:pic>
      <p:sp>
        <p:nvSpPr>
          <p:cNvPr id="35" name="TextBox 34"/>
          <p:cNvSpPr txBox="1"/>
          <p:nvPr/>
        </p:nvSpPr>
        <p:spPr>
          <a:xfrm>
            <a:off x="6172282"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Active Ingredient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Active Ingredient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Active Ingredient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923235"/>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91847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84227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Neurofunctional Nutrients</a:t>
            </a:r>
          </a:p>
        </p:txBody>
      </p:sp>
      <p:sp>
        <p:nvSpPr>
          <p:cNvPr id="18" name="BPS Value 1"/>
          <p:cNvSpPr txBox="1"/>
          <p:nvPr/>
        </p:nvSpPr>
        <p:spPr>
          <a:xfrm>
            <a:off x="6896100" y="190418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429298"/>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42453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34833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Botanical Ingredients</a:t>
            </a:r>
          </a:p>
        </p:txBody>
      </p:sp>
      <p:sp>
        <p:nvSpPr>
          <p:cNvPr id="22" name="BPS Value 2"/>
          <p:cNvSpPr txBox="1"/>
          <p:nvPr/>
        </p:nvSpPr>
        <p:spPr>
          <a:xfrm>
            <a:off x="6896100" y="241024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3001017"/>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299625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92005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Microbiome-Targeted Ingredients</a:t>
            </a:r>
          </a:p>
        </p:txBody>
      </p:sp>
      <p:sp>
        <p:nvSpPr>
          <p:cNvPr id="26" name="BPS Value 3"/>
          <p:cNvSpPr txBox="1"/>
          <p:nvPr/>
        </p:nvSpPr>
        <p:spPr>
          <a:xfrm>
            <a:off x="6896100" y="298196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3720285"/>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371552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363932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Omega-3 Fatty Acids</a:t>
            </a:r>
          </a:p>
        </p:txBody>
      </p:sp>
      <p:sp>
        <p:nvSpPr>
          <p:cNvPr id="30" name="BPS Value 4"/>
          <p:cNvSpPr txBox="1"/>
          <p:nvPr/>
        </p:nvSpPr>
        <p:spPr>
          <a:xfrm>
            <a:off x="6896100" y="370123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928997" y="4645857"/>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5090922" y="464109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456489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Antioxidant Ingredients</a:t>
            </a:r>
          </a:p>
        </p:txBody>
      </p:sp>
      <p:sp>
        <p:nvSpPr>
          <p:cNvPr id="34" name="BPS Value 5"/>
          <p:cNvSpPr txBox="1"/>
          <p:nvPr/>
        </p:nvSpPr>
        <p:spPr>
          <a:xfrm>
            <a:off x="6896100" y="462680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FMI Legend Chip"/>
          <p:cNvSpPr/>
          <p:nvPr/>
        </p:nvSpPr>
        <p:spPr>
          <a:xfrm>
            <a:off x="4928997" y="5706717"/>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5090922" y="570195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562575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Cellular Energy Support Ingredients</a:t>
            </a:r>
          </a:p>
        </p:txBody>
      </p:sp>
      <p:sp>
        <p:nvSpPr>
          <p:cNvPr id="38" name="BPS Value 6"/>
          <p:cNvSpPr txBox="1"/>
          <p:nvPr/>
        </p:nvSpPr>
        <p:spPr>
          <a:xfrm>
            <a:off x="6896100" y="568766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Rounded Rectangle 38"/>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Active Ingredient</a:t>
            </a:r>
          </a:p>
        </p:txBody>
      </p:sp>
      <p:sp>
        <p:nvSpPr>
          <p:cNvPr id="41" name="Rectangle 40"/>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TextBox 4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4" name="Picture 43" descr="lock.png"/>
          <p:cNvPicPr>
            <a:picLocks noChangeAspect="1"/>
          </p:cNvPicPr>
          <p:nvPr/>
        </p:nvPicPr>
        <p:blipFill>
          <a:blip r:embed="rId5"/>
          <a:stretch>
            <a:fillRect/>
          </a:stretch>
        </p:blipFill>
        <p:spPr>
          <a:xfrm>
            <a:off x="2557843" y="3833622"/>
            <a:ext cx="275034" cy="400050"/>
          </a:xfrm>
          <a:prstGeom prst="rect">
            <a:avLst/>
          </a:prstGeom>
        </p:spPr>
      </p:pic>
      <p:sp>
        <p:nvSpPr>
          <p:cNvPr id="45" name="TextBox 44"/>
          <p:cNvSpPr txBox="1"/>
          <p:nvPr/>
        </p:nvSpPr>
        <p:spPr>
          <a:xfrm>
            <a:off x="7829550" y="1400175"/>
            <a:ext cx="3714898" cy="194310"/>
          </a:xfrm>
          <a:prstGeom prst="rect">
            <a:avLst/>
          </a:prstGeom>
          <a:noFill/>
        </p:spPr>
        <p:txBody>
          <a:bodyPr wrap="none" lIns="0" rIns="0" tIns="0" bIns="0">
            <a:spAutoFit/>
          </a:bodyPr>
          <a:lstStyle/>
          <a:p>
            <a:r>
              <a:rPr sz="1150" b="0">
                <a:solidFill>
                  <a:srgbClr val="2E2E2E"/>
                </a:solidFill>
                <a:latin typeface="Calibri"/>
              </a:rPr>
              <a:t>Among senior dog cognitive supplement by active ingredient,</a:t>
            </a:r>
          </a:p>
        </p:txBody>
      </p:sp>
      <p:sp>
        <p:nvSpPr>
          <p:cNvPr id="46" name="TextBox 45"/>
          <p:cNvSpPr txBox="1"/>
          <p:nvPr/>
        </p:nvSpPr>
        <p:spPr>
          <a:xfrm>
            <a:off x="7829550" y="1575435"/>
            <a:ext cx="4046078" cy="194310"/>
          </a:xfrm>
          <a:prstGeom prst="rect">
            <a:avLst/>
          </a:prstGeom>
          <a:noFill/>
        </p:spPr>
        <p:txBody>
          <a:bodyPr wrap="none" lIns="0" rIns="0" tIns="0" bIns="0">
            <a:spAutoFit/>
          </a:bodyPr>
          <a:lstStyle/>
          <a:p>
            <a:r>
              <a:rPr sz="1150" b="0">
                <a:solidFill>
                  <a:srgbClr val="2E2E2E"/>
                </a:solidFill>
                <a:latin typeface="Calibri"/>
              </a:rPr>
              <a:t>antioxidant ingredients segment is expected to witness the highest</a:t>
            </a:r>
          </a:p>
        </p:txBody>
      </p:sp>
      <p:sp>
        <p:nvSpPr>
          <p:cNvPr id="47" name="TextBox 46"/>
          <p:cNvSpPr txBox="1"/>
          <p:nvPr/>
        </p:nvSpPr>
        <p:spPr>
          <a:xfrm>
            <a:off x="7829550" y="1750695"/>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48" name="Picture 47" descr="lock.png"/>
          <p:cNvPicPr>
            <a:picLocks noChangeAspect="1"/>
          </p:cNvPicPr>
          <p:nvPr/>
        </p:nvPicPr>
        <p:blipFill>
          <a:blip r:embed="rId5"/>
          <a:stretch>
            <a:fillRect/>
          </a:stretch>
        </p:blipFill>
        <p:spPr>
          <a:xfrm>
            <a:off x="8343240" y="1740471"/>
            <a:ext cx="134549" cy="195707"/>
          </a:xfrm>
          <a:prstGeom prst="rect">
            <a:avLst/>
          </a:prstGeom>
        </p:spPr>
      </p:pic>
      <p:sp>
        <p:nvSpPr>
          <p:cNvPr id="49" name="TextBox 48"/>
          <p:cNvSpPr txBox="1"/>
          <p:nvPr/>
        </p:nvSpPr>
        <p:spPr>
          <a:xfrm>
            <a:off x="8518350" y="1750695"/>
            <a:ext cx="3118147"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a:t>
            </a:r>
          </a:p>
        </p:txBody>
      </p:sp>
      <p:sp>
        <p:nvSpPr>
          <p:cNvPr id="50" name="TextBox 49"/>
          <p:cNvSpPr txBox="1"/>
          <p:nvPr/>
        </p:nvSpPr>
        <p:spPr>
          <a:xfrm>
            <a:off x="7829550" y="1925955"/>
            <a:ext cx="4057650" cy="194310"/>
          </a:xfrm>
          <a:prstGeom prst="rect">
            <a:avLst/>
          </a:prstGeom>
          <a:noFill/>
        </p:spPr>
        <p:txBody>
          <a:bodyPr wrap="none" lIns="0" rIns="0" tIns="0" bIns="0">
            <a:spAutoFit/>
          </a:bodyPr>
          <a:lstStyle/>
          <a:p>
            <a:r>
              <a:rPr sz="1150" b="0">
                <a:solidFill>
                  <a:srgbClr val="2E2E2E"/>
                </a:solidFill>
                <a:latin typeface="Calibri"/>
              </a:rPr>
              <a:t>active ingredient, the cellular energy support ingredients segment is</a:t>
            </a:r>
          </a:p>
        </p:txBody>
      </p:sp>
      <p:sp>
        <p:nvSpPr>
          <p:cNvPr id="51" name="TextBox 50"/>
          <p:cNvSpPr txBox="1"/>
          <p:nvPr/>
        </p:nvSpPr>
        <p:spPr>
          <a:xfrm>
            <a:off x="7829550" y="2101215"/>
            <a:ext cx="2575309" cy="194310"/>
          </a:xfrm>
          <a:prstGeom prst="rect">
            <a:avLst/>
          </a:prstGeom>
          <a:noFill/>
        </p:spPr>
        <p:txBody>
          <a:bodyPr wrap="none" lIns="0" rIns="0" tIns="0" bIns="0">
            <a:spAutoFit/>
          </a:bodyPr>
          <a:lstStyle/>
          <a:p>
            <a:r>
              <a:rPr sz="1150" b="0">
                <a:solidFill>
                  <a:srgbClr val="2E2E2E"/>
                </a:solidFill>
                <a:latin typeface="Calibri"/>
              </a:rPr>
              <a:t>expected to dominate the market, gaining</a:t>
            </a:r>
          </a:p>
        </p:txBody>
      </p:sp>
      <p:pic>
        <p:nvPicPr>
          <p:cNvPr id="52" name="Picture 51" descr="lock.png"/>
          <p:cNvPicPr>
            <a:picLocks noChangeAspect="1"/>
          </p:cNvPicPr>
          <p:nvPr/>
        </p:nvPicPr>
        <p:blipFill>
          <a:blip r:embed="rId5"/>
          <a:stretch>
            <a:fillRect/>
          </a:stretch>
        </p:blipFill>
        <p:spPr>
          <a:xfrm>
            <a:off x="10354013" y="2090991"/>
            <a:ext cx="134549" cy="195707"/>
          </a:xfrm>
          <a:prstGeom prst="rect">
            <a:avLst/>
          </a:prstGeom>
        </p:spPr>
      </p:pic>
      <p:sp>
        <p:nvSpPr>
          <p:cNvPr id="53" name="TextBox 52"/>
          <p:cNvSpPr txBox="1"/>
          <p:nvPr/>
        </p:nvSpPr>
        <p:spPr>
          <a:xfrm>
            <a:off x="10529122" y="2101215"/>
            <a:ext cx="1240321" cy="194310"/>
          </a:xfrm>
          <a:prstGeom prst="rect">
            <a:avLst/>
          </a:prstGeom>
          <a:noFill/>
        </p:spPr>
        <p:txBody>
          <a:bodyPr wrap="none" lIns="0" rIns="0" tIns="0" bIns="0">
            <a:spAutoFit/>
          </a:bodyPr>
          <a:lstStyle/>
          <a:p>
            <a:r>
              <a:rPr sz="1150" b="0">
                <a:solidFill>
                  <a:srgbClr val="2E2E2E"/>
                </a:solidFill>
                <a:latin typeface="Calibri"/>
              </a:rPr>
              <a:t>BPS and accounting</a:t>
            </a:r>
          </a:p>
        </p:txBody>
      </p:sp>
      <p:sp>
        <p:nvSpPr>
          <p:cNvPr id="54" name="TextBox 53"/>
          <p:cNvSpPr txBox="1"/>
          <p:nvPr/>
        </p:nvSpPr>
        <p:spPr>
          <a:xfrm>
            <a:off x="7829550" y="2276475"/>
            <a:ext cx="248778" cy="194310"/>
          </a:xfrm>
          <a:prstGeom prst="rect">
            <a:avLst/>
          </a:prstGeom>
          <a:noFill/>
        </p:spPr>
        <p:txBody>
          <a:bodyPr wrap="none" lIns="0" rIns="0" tIns="0" bIns="0">
            <a:spAutoFit/>
          </a:bodyPr>
          <a:lstStyle/>
          <a:p>
            <a:r>
              <a:rPr sz="1150" b="0">
                <a:solidFill>
                  <a:srgbClr val="2E2E2E"/>
                </a:solidFill>
                <a:latin typeface="Calibri"/>
              </a:rPr>
              <a:t>for</a:t>
            </a:r>
          </a:p>
        </p:txBody>
      </p:sp>
      <p:pic>
        <p:nvPicPr>
          <p:cNvPr id="55" name="Picture 54" descr="lock.png"/>
          <p:cNvPicPr>
            <a:picLocks noChangeAspect="1"/>
          </p:cNvPicPr>
          <p:nvPr/>
        </p:nvPicPr>
        <p:blipFill>
          <a:blip r:embed="rId5"/>
          <a:stretch>
            <a:fillRect/>
          </a:stretch>
        </p:blipFill>
        <p:spPr>
          <a:xfrm>
            <a:off x="8027482" y="2266251"/>
            <a:ext cx="134549" cy="195707"/>
          </a:xfrm>
          <a:prstGeom prst="rect">
            <a:avLst/>
          </a:prstGeom>
        </p:spPr>
      </p:pic>
      <p:sp>
        <p:nvSpPr>
          <p:cNvPr id="56" name="TextBox 55"/>
          <p:cNvSpPr txBox="1"/>
          <p:nvPr/>
        </p:nvSpPr>
        <p:spPr>
          <a:xfrm>
            <a:off x="8202591" y="227647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7" name="TextBox 56"/>
          <p:cNvSpPr txBox="1"/>
          <p:nvPr/>
        </p:nvSpPr>
        <p:spPr>
          <a:xfrm>
            <a:off x="7829550" y="2504313"/>
            <a:ext cx="3263056" cy="194310"/>
          </a:xfrm>
          <a:prstGeom prst="rect">
            <a:avLst/>
          </a:prstGeom>
          <a:noFill/>
        </p:spPr>
        <p:txBody>
          <a:bodyPr wrap="none" lIns="0" rIns="0" tIns="0" bIns="0">
            <a:spAutoFit/>
          </a:bodyPr>
          <a:lstStyle/>
          <a:p>
            <a:r>
              <a:rPr sz="1150" b="0">
                <a:solidFill>
                  <a:srgbClr val="2E2E2E"/>
                </a:solidFill>
                <a:latin typeface="Calibri"/>
              </a:rPr>
              <a:t>The botanical ingredients segment is expected to lose</a:t>
            </a:r>
          </a:p>
        </p:txBody>
      </p:sp>
      <p:pic>
        <p:nvPicPr>
          <p:cNvPr id="58" name="Picture 57" descr="lock.png"/>
          <p:cNvPicPr>
            <a:picLocks noChangeAspect="1"/>
          </p:cNvPicPr>
          <p:nvPr/>
        </p:nvPicPr>
        <p:blipFill>
          <a:blip r:embed="rId5"/>
          <a:stretch>
            <a:fillRect/>
          </a:stretch>
        </p:blipFill>
        <p:spPr>
          <a:xfrm>
            <a:off x="11041760" y="2494089"/>
            <a:ext cx="134549" cy="195707"/>
          </a:xfrm>
          <a:prstGeom prst="rect">
            <a:avLst/>
          </a:prstGeom>
        </p:spPr>
      </p:pic>
      <p:sp>
        <p:nvSpPr>
          <p:cNvPr id="59" name="TextBox 58"/>
          <p:cNvSpPr txBox="1"/>
          <p:nvPr/>
        </p:nvSpPr>
        <p:spPr>
          <a:xfrm>
            <a:off x="11216869" y="2504313"/>
            <a:ext cx="598214" cy="194310"/>
          </a:xfrm>
          <a:prstGeom prst="rect">
            <a:avLst/>
          </a:prstGeom>
          <a:noFill/>
        </p:spPr>
        <p:txBody>
          <a:bodyPr wrap="none" lIns="0" rIns="0" tIns="0" bIns="0">
            <a:spAutoFit/>
          </a:bodyPr>
          <a:lstStyle/>
          <a:p>
            <a:r>
              <a:rPr sz="1150" b="0">
                <a:solidFill>
                  <a:srgbClr val="2E2E2E"/>
                </a:solidFill>
                <a:latin typeface="Calibri"/>
              </a:rPr>
              <a:t>BPS over</a:t>
            </a:r>
          </a:p>
        </p:txBody>
      </p:sp>
      <p:sp>
        <p:nvSpPr>
          <p:cNvPr id="60" name="TextBox 59"/>
          <p:cNvSpPr txBox="1"/>
          <p:nvPr/>
        </p:nvSpPr>
        <p:spPr>
          <a:xfrm>
            <a:off x="7829550" y="2679573"/>
            <a:ext cx="2083246" cy="194310"/>
          </a:xfrm>
          <a:prstGeom prst="rect">
            <a:avLst/>
          </a:prstGeom>
          <a:noFill/>
        </p:spPr>
        <p:txBody>
          <a:bodyPr wrap="none" lIns="0" rIns="0" tIns="0" bIns="0">
            <a:spAutoFit/>
          </a:bodyPr>
          <a:lstStyle/>
          <a:p>
            <a:r>
              <a:rPr sz="1150" b="0">
                <a:solidFill>
                  <a:srgbClr val="2E2E2E"/>
                </a:solidFill>
                <a:latin typeface="Calibri"/>
              </a:rPr>
              <a:t>the forecast period to account for</a:t>
            </a:r>
          </a:p>
        </p:txBody>
      </p:sp>
      <p:pic>
        <p:nvPicPr>
          <p:cNvPr id="61" name="Picture 60" descr="lock.png"/>
          <p:cNvPicPr>
            <a:picLocks noChangeAspect="1"/>
          </p:cNvPicPr>
          <p:nvPr/>
        </p:nvPicPr>
        <p:blipFill>
          <a:blip r:embed="rId5"/>
          <a:stretch>
            <a:fillRect/>
          </a:stretch>
        </p:blipFill>
        <p:spPr>
          <a:xfrm>
            <a:off x="9861950" y="2669349"/>
            <a:ext cx="134549" cy="195707"/>
          </a:xfrm>
          <a:prstGeom prst="rect">
            <a:avLst/>
          </a:prstGeom>
        </p:spPr>
      </p:pic>
      <p:sp>
        <p:nvSpPr>
          <p:cNvPr id="62" name="TextBox 61"/>
          <p:cNvSpPr txBox="1"/>
          <p:nvPr/>
        </p:nvSpPr>
        <p:spPr>
          <a:xfrm>
            <a:off x="10037059"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3"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End-use Application</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End-use Application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End-use Application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End-use Application,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End-use Application segment categorizes the market by end-use application.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Support for Observable Age-Relate…</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Routine Cognitive Wellness</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Preventive Cognitive Support for…</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Veterinary-Guided Cognitive Dysfu…</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E2E2E"/>
                </a:solidFill>
                <a:latin typeface="Calibri"/>
              </a:rPr>
              <a:t/>
            </a:r>
          </a:p>
          <a:p>
            <a:pPr algn="l">
              <a:lnSpc>
                <a:spcPct val="105000"/>
              </a:lnSpc>
              <a:spcBef>
                <a:spcPts val="0"/>
              </a:spcBef>
              <a:spcAft>
                <a:spcPts val="300"/>
              </a:spcAft>
            </a:pPr>
            <a:r>
              <a:rPr sz="1100" b="0">
                <a:solidFill>
                  <a:srgbClr val="2E2E2E"/>
                </a:solidFill>
                <a:latin typeface="Calibri"/>
              </a:rPr>
              <a:t/>
            </a: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End-use Application split shows how demand is distributed across end-use application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2_360_605E5C.png"/>
          <p:cNvPicPr>
            <a:picLocks noChangeAspect="1"/>
          </p:cNvPicPr>
          <p:nvPr/>
        </p:nvPicPr>
        <p:blipFill>
          <a:blip r:embed="rId4"/>
          <a:stretch>
            <a:fillRect/>
          </a:stretch>
        </p:blipFill>
        <p:spPr>
          <a:xfrm>
            <a:off x="2476330" y="2286582"/>
            <a:ext cx="1195728" cy="361950"/>
          </a:xfrm>
          <a:prstGeom prst="rect">
            <a:avLst/>
          </a:prstGeom>
        </p:spPr>
      </p:pic>
      <p:pic>
        <p:nvPicPr>
          <p:cNvPr id="64" name="Picture 63" descr="3_154_605E5C.png"/>
          <p:cNvPicPr>
            <a:picLocks noChangeAspect="1"/>
          </p:cNvPicPr>
          <p:nvPr/>
        </p:nvPicPr>
        <p:blipFill>
          <a:blip r:embed="rId5"/>
          <a:stretch>
            <a:fillRect/>
          </a:stretch>
        </p:blipFill>
        <p:spPr>
          <a:xfrm>
            <a:off x="2476330" y="2779432"/>
            <a:ext cx="1195728" cy="361950"/>
          </a:xfrm>
          <a:prstGeom prst="rect">
            <a:avLst/>
          </a:prstGeom>
        </p:spPr>
      </p:pic>
      <p:pic>
        <p:nvPicPr>
          <p:cNvPr id="65" name="Picture 64" descr="2_9__605E5C.png"/>
          <p:cNvPicPr>
            <a:picLocks noChangeAspect="1"/>
          </p:cNvPicPr>
          <p:nvPr/>
        </p:nvPicPr>
        <p:blipFill>
          <a:blip r:embed="rId6"/>
          <a:stretch>
            <a:fillRect/>
          </a:stretch>
        </p:blipFill>
        <p:spPr>
          <a:xfrm>
            <a:off x="2582976" y="3272281"/>
            <a:ext cx="982436" cy="361950"/>
          </a:xfrm>
          <a:prstGeom prst="rect">
            <a:avLst/>
          </a:prstGeom>
        </p:spPr>
      </p:pic>
      <p:pic>
        <p:nvPicPr>
          <p:cNvPr id="66" name="Picture 65" descr="684_1_605E5C.png"/>
          <p:cNvPicPr>
            <a:picLocks noChangeAspect="1"/>
          </p:cNvPicPr>
          <p:nvPr/>
        </p:nvPicPr>
        <p:blipFill>
          <a:blip r:embed="rId7"/>
          <a:stretch>
            <a:fillRect/>
          </a:stretch>
        </p:blipFill>
        <p:spPr>
          <a:xfrm>
            <a:off x="5005218" y="2286582"/>
            <a:ext cx="1195728" cy="361950"/>
          </a:xfrm>
          <a:prstGeom prst="rect">
            <a:avLst/>
          </a:prstGeom>
        </p:spPr>
      </p:pic>
      <p:pic>
        <p:nvPicPr>
          <p:cNvPr id="67" name="Picture 66" descr="1_050_605E5C.png"/>
          <p:cNvPicPr>
            <a:picLocks noChangeAspect="1"/>
          </p:cNvPicPr>
          <p:nvPr/>
        </p:nvPicPr>
        <p:blipFill>
          <a:blip r:embed="rId8"/>
          <a:stretch>
            <a:fillRect/>
          </a:stretch>
        </p:blipFill>
        <p:spPr>
          <a:xfrm>
            <a:off x="5005218" y="2779432"/>
            <a:ext cx="1195728" cy="361950"/>
          </a:xfrm>
          <a:prstGeom prst="rect">
            <a:avLst/>
          </a:prstGeom>
        </p:spPr>
      </p:pic>
      <p:pic>
        <p:nvPicPr>
          <p:cNvPr id="68" name="Picture 67" descr="4_4__605E5C.png"/>
          <p:cNvPicPr>
            <a:picLocks noChangeAspect="1"/>
          </p:cNvPicPr>
          <p:nvPr/>
        </p:nvPicPr>
        <p:blipFill>
          <a:blip r:embed="rId9"/>
          <a:stretch>
            <a:fillRect/>
          </a:stretch>
        </p:blipFill>
        <p:spPr>
          <a:xfrm>
            <a:off x="5111864" y="3272281"/>
            <a:ext cx="982436" cy="361950"/>
          </a:xfrm>
          <a:prstGeom prst="rect">
            <a:avLst/>
          </a:prstGeom>
        </p:spPr>
      </p:pic>
      <p:pic>
        <p:nvPicPr>
          <p:cNvPr id="69" name="Picture 68" descr="306_8_605E5C.png"/>
          <p:cNvPicPr>
            <a:picLocks noChangeAspect="1"/>
          </p:cNvPicPr>
          <p:nvPr/>
        </p:nvPicPr>
        <p:blipFill>
          <a:blip r:embed="rId10"/>
          <a:stretch>
            <a:fillRect/>
          </a:stretch>
        </p:blipFill>
        <p:spPr>
          <a:xfrm>
            <a:off x="7534105" y="2286582"/>
            <a:ext cx="1195728" cy="361950"/>
          </a:xfrm>
          <a:prstGeom prst="rect">
            <a:avLst/>
          </a:prstGeom>
        </p:spPr>
      </p:pic>
      <p:pic>
        <p:nvPicPr>
          <p:cNvPr id="70" name="Picture 69" descr="622_9_605E5C.png"/>
          <p:cNvPicPr>
            <a:picLocks noChangeAspect="1"/>
          </p:cNvPicPr>
          <p:nvPr/>
        </p:nvPicPr>
        <p:blipFill>
          <a:blip r:embed="rId11"/>
          <a:stretch>
            <a:fillRect/>
          </a:stretch>
        </p:blipFill>
        <p:spPr>
          <a:xfrm>
            <a:off x="7534105" y="2779432"/>
            <a:ext cx="1195728" cy="361950"/>
          </a:xfrm>
          <a:prstGeom prst="rect">
            <a:avLst/>
          </a:prstGeom>
        </p:spPr>
      </p:pic>
      <p:pic>
        <p:nvPicPr>
          <p:cNvPr id="71" name="Picture 70" descr="7_3__605E5C.png"/>
          <p:cNvPicPr>
            <a:picLocks noChangeAspect="1"/>
          </p:cNvPicPr>
          <p:nvPr/>
        </p:nvPicPr>
        <p:blipFill>
          <a:blip r:embed="rId12"/>
          <a:stretch>
            <a:fillRect/>
          </a:stretch>
        </p:blipFill>
        <p:spPr>
          <a:xfrm>
            <a:off x="7640751" y="3272281"/>
            <a:ext cx="982436" cy="361950"/>
          </a:xfrm>
          <a:prstGeom prst="rect">
            <a:avLst/>
          </a:prstGeom>
        </p:spPr>
      </p:pic>
      <p:pic>
        <p:nvPicPr>
          <p:cNvPr id="72" name="Picture 71" descr="246_5_605E5C.png"/>
          <p:cNvPicPr>
            <a:picLocks noChangeAspect="1"/>
          </p:cNvPicPr>
          <p:nvPr/>
        </p:nvPicPr>
        <p:blipFill>
          <a:blip r:embed="rId13"/>
          <a:stretch>
            <a:fillRect/>
          </a:stretch>
        </p:blipFill>
        <p:spPr>
          <a:xfrm>
            <a:off x="10062992" y="2286582"/>
            <a:ext cx="1195728" cy="361950"/>
          </a:xfrm>
          <a:prstGeom prst="rect">
            <a:avLst/>
          </a:prstGeom>
        </p:spPr>
      </p:pic>
      <p:pic>
        <p:nvPicPr>
          <p:cNvPr id="73" name="Picture 72" descr="526_1_605E5C.png"/>
          <p:cNvPicPr>
            <a:picLocks noChangeAspect="1"/>
          </p:cNvPicPr>
          <p:nvPr/>
        </p:nvPicPr>
        <p:blipFill>
          <a:blip r:embed="rId14"/>
          <a:stretch>
            <a:fillRect/>
          </a:stretch>
        </p:blipFill>
        <p:spPr>
          <a:xfrm>
            <a:off x="10062992" y="2779432"/>
            <a:ext cx="1195728" cy="361950"/>
          </a:xfrm>
          <a:prstGeom prst="rect">
            <a:avLst/>
          </a:prstGeom>
        </p:spPr>
      </p:pic>
      <p:pic>
        <p:nvPicPr>
          <p:cNvPr id="74" name="Picture 73" descr="7_9__605E5C.png"/>
          <p:cNvPicPr>
            <a:picLocks noChangeAspect="1"/>
          </p:cNvPicPr>
          <p:nvPr/>
        </p:nvPicPr>
        <p:blipFill>
          <a:blip r:embed="rId15"/>
          <a:stretch>
            <a:fillRect/>
          </a:stretch>
        </p:blipFill>
        <p:spPr>
          <a:xfrm>
            <a:off x="10169638" y="3272281"/>
            <a:ext cx="982436" cy="361950"/>
          </a:xfrm>
          <a:prstGeom prst="rect">
            <a:avLst/>
          </a:prstGeom>
        </p:spPr>
      </p:pic>
      <p:pic>
        <p:nvPicPr>
          <p:cNvPr id="75" name="Picture 74" descr="lock.png"/>
          <p:cNvPicPr>
            <a:picLocks noChangeAspect="1"/>
          </p:cNvPicPr>
          <p:nvPr/>
        </p:nvPicPr>
        <p:blipFill>
          <a:blip r:embed="rId16"/>
          <a:stretch>
            <a:fillRect/>
          </a:stretch>
        </p:blipFill>
        <p:spPr>
          <a:xfrm>
            <a:off x="2980848"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5509737" y="2827057"/>
            <a:ext cx="183356" cy="266700"/>
          </a:xfrm>
          <a:prstGeom prst="rect">
            <a:avLst/>
          </a:prstGeom>
        </p:spPr>
      </p:pic>
      <p:pic>
        <p:nvPicPr>
          <p:cNvPr id="77" name="Picture 76" descr="lock.png"/>
          <p:cNvPicPr>
            <a:picLocks noChangeAspect="1"/>
          </p:cNvPicPr>
          <p:nvPr/>
        </p:nvPicPr>
        <p:blipFill>
          <a:blip r:embed="rId16"/>
          <a:stretch>
            <a:fillRect/>
          </a:stretch>
        </p:blipFill>
        <p:spPr>
          <a:xfrm>
            <a:off x="8038624" y="2827057"/>
            <a:ext cx="183356" cy="266700"/>
          </a:xfrm>
          <a:prstGeom prst="rect">
            <a:avLst/>
          </a:prstGeom>
        </p:spPr>
      </p:pic>
      <p:pic>
        <p:nvPicPr>
          <p:cNvPr id="78" name="Picture 77" descr="lock.png"/>
          <p:cNvPicPr>
            <a:picLocks noChangeAspect="1"/>
          </p:cNvPicPr>
          <p:nvPr/>
        </p:nvPicPr>
        <p:blipFill>
          <a:blip r:embed="rId16"/>
          <a:stretch>
            <a:fillRect/>
          </a:stretch>
        </p:blipFill>
        <p:spPr>
          <a:xfrm>
            <a:off x="10567511" y="2827057"/>
            <a:ext cx="183356" cy="266700"/>
          </a:xfrm>
          <a:prstGeom prst="rect">
            <a:avLst/>
          </a:prstGeom>
        </p:spPr>
      </p:pic>
      <p:sp>
        <p:nvSpPr>
          <p:cNvPr id="79" name="TextBox 78"/>
          <p:cNvSpPr txBox="1"/>
          <p:nvPr/>
        </p:nvSpPr>
        <p:spPr>
          <a:xfrm>
            <a:off x="485775" y="4229437"/>
            <a:ext cx="2905910" cy="179984"/>
          </a:xfrm>
          <a:prstGeom prst="rect">
            <a:avLst/>
          </a:prstGeom>
          <a:noFill/>
        </p:spPr>
        <p:txBody>
          <a:bodyPr wrap="none" lIns="0" rIns="0" tIns="0" bIns="0">
            <a:spAutoFit/>
          </a:bodyPr>
          <a:lstStyle/>
          <a:p>
            <a:r>
              <a:rPr sz="1055" b="0">
                <a:solidFill>
                  <a:srgbClr val="2E2E2E"/>
                </a:solidFill>
                <a:latin typeface="Calibri"/>
              </a:rPr>
              <a:t>Among senior dog cognitive supplement by end-use</a:t>
            </a:r>
          </a:p>
        </p:txBody>
      </p:sp>
      <p:sp>
        <p:nvSpPr>
          <p:cNvPr id="80" name="TextBox 79"/>
          <p:cNvSpPr txBox="1"/>
          <p:nvPr/>
        </p:nvSpPr>
        <p:spPr>
          <a:xfrm>
            <a:off x="485775" y="4390371"/>
            <a:ext cx="2913245" cy="179984"/>
          </a:xfrm>
          <a:prstGeom prst="rect">
            <a:avLst/>
          </a:prstGeom>
          <a:noFill/>
        </p:spPr>
        <p:txBody>
          <a:bodyPr wrap="none" lIns="0" rIns="0" tIns="0" bIns="0">
            <a:spAutoFit/>
          </a:bodyPr>
          <a:lstStyle/>
          <a:p>
            <a:r>
              <a:rPr sz="1055" b="0">
                <a:solidFill>
                  <a:srgbClr val="2E2E2E"/>
                </a:solidFill>
                <a:latin typeface="Calibri"/>
              </a:rPr>
              <a:t>application, veterinary-guided cognitive dysfunction</a:t>
            </a:r>
          </a:p>
        </p:txBody>
      </p:sp>
      <p:sp>
        <p:nvSpPr>
          <p:cNvPr id="81" name="TextBox 80"/>
          <p:cNvSpPr txBox="1"/>
          <p:nvPr/>
        </p:nvSpPr>
        <p:spPr>
          <a:xfrm>
            <a:off x="485775" y="4551305"/>
            <a:ext cx="2882860" cy="179984"/>
          </a:xfrm>
          <a:prstGeom prst="rect">
            <a:avLst/>
          </a:prstGeom>
          <a:noFill/>
        </p:spPr>
        <p:txBody>
          <a:bodyPr wrap="none" lIns="0" rIns="0" tIns="0" bIns="0">
            <a:spAutoFit/>
          </a:bodyPr>
          <a:lstStyle/>
          <a:p>
            <a:r>
              <a:rPr sz="1055" b="0">
                <a:solidFill>
                  <a:srgbClr val="2E2E2E"/>
                </a:solidFill>
                <a:latin typeface="Calibri"/>
              </a:rPr>
              <a:t>support segment is expected to witness the highest</a:t>
            </a:r>
          </a:p>
        </p:txBody>
      </p:sp>
      <p:sp>
        <p:nvSpPr>
          <p:cNvPr id="82" name="TextBox 81"/>
          <p:cNvSpPr txBox="1"/>
          <p:nvPr/>
        </p:nvSpPr>
        <p:spPr>
          <a:xfrm>
            <a:off x="485775" y="4712240"/>
            <a:ext cx="524620" cy="179984"/>
          </a:xfrm>
          <a:prstGeom prst="rect">
            <a:avLst/>
          </a:prstGeom>
          <a:noFill/>
        </p:spPr>
        <p:txBody>
          <a:bodyPr wrap="none" lIns="0" rIns="0" tIns="0" bIns="0">
            <a:spAutoFit/>
          </a:bodyPr>
          <a:lstStyle/>
          <a:p>
            <a:r>
              <a:rPr sz="1055" b="0">
                <a:solidFill>
                  <a:srgbClr val="2E2E2E"/>
                </a:solidFill>
                <a:latin typeface="Calibri"/>
              </a:rPr>
              <a:t>CAGR of</a:t>
            </a:r>
          </a:p>
        </p:txBody>
      </p:sp>
      <p:pic>
        <p:nvPicPr>
          <p:cNvPr id="83" name="Picture 82" descr="lock.png"/>
          <p:cNvPicPr>
            <a:picLocks noChangeAspect="1"/>
          </p:cNvPicPr>
          <p:nvPr/>
        </p:nvPicPr>
        <p:blipFill>
          <a:blip r:embed="rId16"/>
          <a:stretch>
            <a:fillRect/>
          </a:stretch>
        </p:blipFill>
        <p:spPr>
          <a:xfrm>
            <a:off x="957477" y="4702852"/>
            <a:ext cx="123551" cy="179710"/>
          </a:xfrm>
          <a:prstGeom prst="rect">
            <a:avLst/>
          </a:prstGeom>
        </p:spPr>
      </p:pic>
      <p:sp>
        <p:nvSpPr>
          <p:cNvPr id="84" name="TextBox 83"/>
          <p:cNvSpPr txBox="1"/>
          <p:nvPr/>
        </p:nvSpPr>
        <p:spPr>
          <a:xfrm>
            <a:off x="1118273" y="4712240"/>
            <a:ext cx="2053566" cy="179984"/>
          </a:xfrm>
          <a:prstGeom prst="rect">
            <a:avLst/>
          </a:prstGeom>
          <a:noFill/>
        </p:spPr>
        <p:txBody>
          <a:bodyPr wrap="none" lIns="0" rIns="0" tIns="0" bIns="0">
            <a:spAutoFit/>
          </a:bodyPr>
          <a:lstStyle/>
          <a:p>
            <a:r>
              <a:rPr sz="1055" b="0">
                <a:solidFill>
                  <a:srgbClr val="2E2E2E"/>
                </a:solidFill>
                <a:latin typeface="Calibri"/>
              </a:rPr>
              <a:t>over the forecast period. In terms of</a:t>
            </a:r>
          </a:p>
        </p:txBody>
      </p:sp>
      <p:sp>
        <p:nvSpPr>
          <p:cNvPr id="85" name="TextBox 84"/>
          <p:cNvSpPr txBox="1"/>
          <p:nvPr/>
        </p:nvSpPr>
        <p:spPr>
          <a:xfrm>
            <a:off x="485775" y="4873174"/>
            <a:ext cx="2857976" cy="179984"/>
          </a:xfrm>
          <a:prstGeom prst="rect">
            <a:avLst/>
          </a:prstGeom>
          <a:noFill/>
        </p:spPr>
        <p:txBody>
          <a:bodyPr wrap="none" lIns="0" rIns="0" tIns="0" bIns="0">
            <a:spAutoFit/>
          </a:bodyPr>
          <a:lstStyle/>
          <a:p>
            <a:r>
              <a:rPr sz="1055" b="0">
                <a:solidFill>
                  <a:srgbClr val="2E2E2E"/>
                </a:solidFill>
                <a:latin typeface="Calibri"/>
              </a:rPr>
              <a:t>value share by end-use application, the support for</a:t>
            </a:r>
          </a:p>
        </p:txBody>
      </p:sp>
      <p:sp>
        <p:nvSpPr>
          <p:cNvPr id="86" name="TextBox 85"/>
          <p:cNvSpPr txBox="1"/>
          <p:nvPr/>
        </p:nvSpPr>
        <p:spPr>
          <a:xfrm>
            <a:off x="485775" y="5034109"/>
            <a:ext cx="2914650" cy="179984"/>
          </a:xfrm>
          <a:prstGeom prst="rect">
            <a:avLst/>
          </a:prstGeom>
          <a:noFill/>
        </p:spPr>
        <p:txBody>
          <a:bodyPr wrap="none" lIns="0" rIns="0" tIns="0" bIns="0">
            <a:spAutoFit/>
          </a:bodyPr>
          <a:lstStyle/>
          <a:p>
            <a:r>
              <a:rPr sz="1055" b="0">
                <a:solidFill>
                  <a:srgbClr val="2E2E2E"/>
                </a:solidFill>
                <a:latin typeface="Calibri"/>
              </a:rPr>
              <a:t>observable age-related cognitive changes segment is</a:t>
            </a:r>
          </a:p>
        </p:txBody>
      </p:sp>
      <p:sp>
        <p:nvSpPr>
          <p:cNvPr id="87" name="TextBox 86"/>
          <p:cNvSpPr txBox="1"/>
          <p:nvPr/>
        </p:nvSpPr>
        <p:spPr>
          <a:xfrm>
            <a:off x="485775" y="5195043"/>
            <a:ext cx="2296382" cy="179984"/>
          </a:xfrm>
          <a:prstGeom prst="rect">
            <a:avLst/>
          </a:prstGeom>
          <a:noFill/>
        </p:spPr>
        <p:txBody>
          <a:bodyPr wrap="none" lIns="0" rIns="0" tIns="0" bIns="0">
            <a:spAutoFit/>
          </a:bodyPr>
          <a:lstStyle/>
          <a:p>
            <a:r>
              <a:rPr sz="1055" b="0">
                <a:solidFill>
                  <a:srgbClr val="2E2E2E"/>
                </a:solidFill>
                <a:latin typeface="Calibri"/>
              </a:rPr>
              <a:t>expected to dominate the market, losing</a:t>
            </a:r>
          </a:p>
        </p:txBody>
      </p:sp>
      <p:pic>
        <p:nvPicPr>
          <p:cNvPr id="88" name="Picture 87" descr="lock.png"/>
          <p:cNvPicPr>
            <a:picLocks noChangeAspect="1"/>
          </p:cNvPicPr>
          <p:nvPr/>
        </p:nvPicPr>
        <p:blipFill>
          <a:blip r:embed="rId16"/>
          <a:stretch>
            <a:fillRect/>
          </a:stretch>
        </p:blipFill>
        <p:spPr>
          <a:xfrm>
            <a:off x="2729238" y="5185655"/>
            <a:ext cx="123551" cy="179710"/>
          </a:xfrm>
          <a:prstGeom prst="rect">
            <a:avLst/>
          </a:prstGeom>
        </p:spPr>
      </p:pic>
      <p:sp>
        <p:nvSpPr>
          <p:cNvPr id="89" name="TextBox 88"/>
          <p:cNvSpPr txBox="1"/>
          <p:nvPr/>
        </p:nvSpPr>
        <p:spPr>
          <a:xfrm>
            <a:off x="2890034" y="5195043"/>
            <a:ext cx="280249" cy="179984"/>
          </a:xfrm>
          <a:prstGeom prst="rect">
            <a:avLst/>
          </a:prstGeom>
          <a:noFill/>
        </p:spPr>
        <p:txBody>
          <a:bodyPr wrap="none" lIns="0" rIns="0" tIns="0" bIns="0">
            <a:spAutoFit/>
          </a:bodyPr>
          <a:lstStyle/>
          <a:p>
            <a:r>
              <a:rPr sz="1055" b="0">
                <a:solidFill>
                  <a:srgbClr val="2E2E2E"/>
                </a:solidFill>
                <a:latin typeface="Calibri"/>
              </a:rPr>
              <a:t>BPS</a:t>
            </a:r>
          </a:p>
        </p:txBody>
      </p:sp>
      <p:sp>
        <p:nvSpPr>
          <p:cNvPr id="90" name="TextBox 89"/>
          <p:cNvSpPr txBox="1"/>
          <p:nvPr/>
        </p:nvSpPr>
        <p:spPr>
          <a:xfrm>
            <a:off x="485775" y="5355977"/>
            <a:ext cx="1099589" cy="179984"/>
          </a:xfrm>
          <a:prstGeom prst="rect">
            <a:avLst/>
          </a:prstGeom>
          <a:noFill/>
        </p:spPr>
        <p:txBody>
          <a:bodyPr wrap="none" lIns="0" rIns="0" tIns="0" bIns="0">
            <a:spAutoFit/>
          </a:bodyPr>
          <a:lstStyle/>
          <a:p>
            <a:r>
              <a:rPr sz="1055" b="0">
                <a:solidFill>
                  <a:srgbClr val="2E2E2E"/>
                </a:solidFill>
                <a:latin typeface="Calibri"/>
              </a:rPr>
              <a:t>and accounting for</a:t>
            </a:r>
          </a:p>
        </p:txBody>
      </p:sp>
      <p:pic>
        <p:nvPicPr>
          <p:cNvPr id="91" name="Picture 90" descr="lock.png"/>
          <p:cNvPicPr>
            <a:picLocks noChangeAspect="1"/>
          </p:cNvPicPr>
          <p:nvPr/>
        </p:nvPicPr>
        <p:blipFill>
          <a:blip r:embed="rId16"/>
          <a:stretch>
            <a:fillRect/>
          </a:stretch>
        </p:blipFill>
        <p:spPr>
          <a:xfrm>
            <a:off x="1532446" y="5346589"/>
            <a:ext cx="123551" cy="179710"/>
          </a:xfrm>
          <a:prstGeom prst="rect">
            <a:avLst/>
          </a:prstGeom>
        </p:spPr>
      </p:pic>
      <p:sp>
        <p:nvSpPr>
          <p:cNvPr id="92" name="TextBox 91"/>
          <p:cNvSpPr txBox="1"/>
          <p:nvPr/>
        </p:nvSpPr>
        <p:spPr>
          <a:xfrm>
            <a:off x="1693242" y="5355977"/>
            <a:ext cx="875109" cy="179984"/>
          </a:xfrm>
          <a:prstGeom prst="rect">
            <a:avLst/>
          </a:prstGeom>
          <a:noFill/>
        </p:spPr>
        <p:txBody>
          <a:bodyPr wrap="none" lIns="0" rIns="0" tIns="0" bIns="0">
            <a:spAutoFit/>
          </a:bodyPr>
          <a:lstStyle/>
          <a:p>
            <a:r>
              <a:rPr sz="1055" b="0">
                <a:solidFill>
                  <a:srgbClr val="2E2E2E"/>
                </a:solidFill>
                <a:latin typeface="Calibri"/>
              </a:rPr>
              <a:t>share by 2036.</a:t>
            </a:r>
          </a:p>
        </p:txBody>
      </p:sp>
      <p:sp>
        <p:nvSpPr>
          <p:cNvPr id="93" name="TextBox 92"/>
          <p:cNvSpPr txBox="1"/>
          <p:nvPr/>
        </p:nvSpPr>
        <p:spPr>
          <a:xfrm>
            <a:off x="485775" y="5565192"/>
            <a:ext cx="2914650" cy="179984"/>
          </a:xfrm>
          <a:prstGeom prst="rect">
            <a:avLst/>
          </a:prstGeom>
          <a:noFill/>
        </p:spPr>
        <p:txBody>
          <a:bodyPr wrap="none" lIns="0" rIns="0" tIns="0" bIns="0">
            <a:spAutoFit/>
          </a:bodyPr>
          <a:lstStyle/>
          <a:p>
            <a:r>
              <a:rPr sz="1055" b="0">
                <a:solidFill>
                  <a:srgbClr val="2E2E2E"/>
                </a:solidFill>
                <a:latin typeface="Calibri"/>
              </a:rPr>
              <a:t>Support for observable age-related cognitive changes</a:t>
            </a:r>
          </a:p>
        </p:txBody>
      </p:sp>
      <p:sp>
        <p:nvSpPr>
          <p:cNvPr id="94" name="TextBox 93"/>
          <p:cNvSpPr txBox="1"/>
          <p:nvPr/>
        </p:nvSpPr>
        <p:spPr>
          <a:xfrm>
            <a:off x="485775" y="5726126"/>
            <a:ext cx="1813631" cy="179984"/>
          </a:xfrm>
          <a:prstGeom prst="rect">
            <a:avLst/>
          </a:prstGeom>
          <a:noFill/>
        </p:spPr>
        <p:txBody>
          <a:bodyPr wrap="none" lIns="0" rIns="0" tIns="0" bIns="0">
            <a:spAutoFit/>
          </a:bodyPr>
          <a:lstStyle/>
          <a:p>
            <a:r>
              <a:rPr sz="1055" b="0">
                <a:solidFill>
                  <a:srgbClr val="2E2E2E"/>
                </a:solidFill>
                <a:latin typeface="Calibri"/>
              </a:rPr>
              <a:t>segment is projected to register</a:t>
            </a:r>
          </a:p>
        </p:txBody>
      </p:sp>
      <p:pic>
        <p:nvPicPr>
          <p:cNvPr id="95" name="Picture 94" descr="lock.png"/>
          <p:cNvPicPr>
            <a:picLocks noChangeAspect="1"/>
          </p:cNvPicPr>
          <p:nvPr/>
        </p:nvPicPr>
        <p:blipFill>
          <a:blip r:embed="rId16"/>
          <a:stretch>
            <a:fillRect/>
          </a:stretch>
        </p:blipFill>
        <p:spPr>
          <a:xfrm>
            <a:off x="2246487" y="5716739"/>
            <a:ext cx="123551" cy="179710"/>
          </a:xfrm>
          <a:prstGeom prst="rect">
            <a:avLst/>
          </a:prstGeom>
        </p:spPr>
      </p:pic>
      <p:sp>
        <p:nvSpPr>
          <p:cNvPr id="96" name="TextBox 95"/>
          <p:cNvSpPr txBox="1"/>
          <p:nvPr/>
        </p:nvSpPr>
        <p:spPr>
          <a:xfrm>
            <a:off x="2407283" y="5726126"/>
            <a:ext cx="848129" cy="179984"/>
          </a:xfrm>
          <a:prstGeom prst="rect">
            <a:avLst/>
          </a:prstGeom>
          <a:noFill/>
        </p:spPr>
        <p:txBody>
          <a:bodyPr wrap="none" lIns="0" rIns="0" tIns="0" bIns="0">
            <a:spAutoFit/>
          </a:bodyPr>
          <a:lstStyle/>
          <a:p>
            <a:r>
              <a:rPr sz="1055" b="0">
                <a:solidFill>
                  <a:srgbClr val="2E2E2E"/>
                </a:solidFill>
                <a:latin typeface="Calibri"/>
              </a:rPr>
              <a:t>X higher value</a:t>
            </a:r>
          </a:p>
        </p:txBody>
      </p:sp>
      <p:sp>
        <p:nvSpPr>
          <p:cNvPr id="97" name="TextBox 96"/>
          <p:cNvSpPr txBox="1"/>
          <p:nvPr/>
        </p:nvSpPr>
        <p:spPr>
          <a:xfrm>
            <a:off x="485775" y="5887061"/>
            <a:ext cx="2751105" cy="179984"/>
          </a:xfrm>
          <a:prstGeom prst="rect">
            <a:avLst/>
          </a:prstGeom>
          <a:noFill/>
        </p:spPr>
        <p:txBody>
          <a:bodyPr wrap="none" lIns="0" rIns="0" tIns="0" bIns="0">
            <a:spAutoFit/>
          </a:bodyPr>
          <a:lstStyle/>
          <a:p>
            <a:r>
              <a:rPr sz="1055" b="0">
                <a:solidFill>
                  <a:srgbClr val="2E2E2E"/>
                </a:solidFill>
                <a:latin typeface="Calibri"/>
              </a:rPr>
              <a:t>than routine cognitive wellness segment in 2036.</a:t>
            </a:r>
          </a:p>
        </p:txBody>
      </p:sp>
      <p:sp>
        <p:nvSpPr>
          <p:cNvPr id="98" name="TextBox 97"/>
          <p:cNvSpPr txBox="1"/>
          <p:nvPr/>
        </p:nvSpPr>
        <p:spPr>
          <a:xfrm>
            <a:off x="3838575" y="4229437"/>
            <a:ext cx="3422178" cy="186689"/>
          </a:xfrm>
          <a:prstGeom prst="rect">
            <a:avLst/>
          </a:prstGeom>
          <a:noFill/>
        </p:spPr>
        <p:txBody>
          <a:bodyPr wrap="none" lIns="0" rIns="0" tIns="0" bIns="0">
            <a:spAutoFit/>
          </a:bodyPr>
          <a:lstStyle/>
          <a:p>
            <a:r>
              <a:rPr sz="1100" b="1">
                <a:solidFill>
                  <a:srgbClr val="0B2E4A"/>
                </a:solidFill>
                <a:latin typeface="Calibri"/>
              </a:rPr>
              <a:t>● Support for Observable Age-Related Cognitive Changes:</a:t>
            </a:r>
          </a:p>
        </p:txBody>
      </p:sp>
      <p:pic>
        <p:nvPicPr>
          <p:cNvPr id="99" name="Picture 98" descr="lock.png"/>
          <p:cNvPicPr>
            <a:picLocks noChangeAspect="1"/>
          </p:cNvPicPr>
          <p:nvPr/>
        </p:nvPicPr>
        <p:blipFill>
          <a:blip r:embed="rId16"/>
          <a:stretch>
            <a:fillRect/>
          </a:stretch>
        </p:blipFill>
        <p:spPr>
          <a:xfrm>
            <a:off x="7208805" y="4219658"/>
            <a:ext cx="128699" cy="187198"/>
          </a:xfrm>
          <a:prstGeom prst="rect">
            <a:avLst/>
          </a:prstGeom>
        </p:spPr>
      </p:pic>
      <p:sp>
        <p:nvSpPr>
          <p:cNvPr id="100" name="TextBox 99"/>
          <p:cNvSpPr txBox="1"/>
          <p:nvPr/>
        </p:nvSpPr>
        <p:spPr>
          <a:xfrm>
            <a:off x="7376301" y="4229437"/>
            <a:ext cx="510852" cy="186689"/>
          </a:xfrm>
          <a:prstGeom prst="rect">
            <a:avLst/>
          </a:prstGeom>
          <a:noFill/>
        </p:spPr>
        <p:txBody>
          <a:bodyPr wrap="none" lIns="0" rIns="0" tIns="0" bIns="0">
            <a:spAutoFit/>
          </a:bodyPr>
          <a:lstStyle/>
          <a:p>
            <a:r>
              <a:rPr sz="1100" b="1">
                <a:solidFill>
                  <a:srgbClr val="0B2E4A"/>
                </a:solidFill>
                <a:latin typeface="Calibri"/>
              </a:rPr>
              <a:t>of 2026</a:t>
            </a:r>
          </a:p>
        </p:txBody>
      </p:sp>
      <p:sp>
        <p:nvSpPr>
          <p:cNvPr id="101" name="TextBox 100"/>
          <p:cNvSpPr txBox="1"/>
          <p:nvPr/>
        </p:nvSpPr>
        <p:spPr>
          <a:xfrm>
            <a:off x="3838575" y="4397077"/>
            <a:ext cx="460102" cy="186689"/>
          </a:xfrm>
          <a:prstGeom prst="rect">
            <a:avLst/>
          </a:prstGeom>
          <a:noFill/>
        </p:spPr>
        <p:txBody>
          <a:bodyPr wrap="none" lIns="0" rIns="0" tIns="0" bIns="0">
            <a:spAutoFit/>
          </a:bodyPr>
          <a:lstStyle/>
          <a:p>
            <a:r>
              <a:rPr sz="1100" b="1">
                <a:solidFill>
                  <a:srgbClr val="0B2E4A"/>
                </a:solidFill>
                <a:latin typeface="Calibri"/>
              </a:rPr>
              <a:t>value ·</a:t>
            </a:r>
          </a:p>
        </p:txBody>
      </p:sp>
      <p:pic>
        <p:nvPicPr>
          <p:cNvPr id="102" name="Picture 101" descr="lock.png"/>
          <p:cNvPicPr>
            <a:picLocks noChangeAspect="1"/>
          </p:cNvPicPr>
          <p:nvPr/>
        </p:nvPicPr>
        <p:blipFill>
          <a:blip r:embed="rId16"/>
          <a:stretch>
            <a:fillRect/>
          </a:stretch>
        </p:blipFill>
        <p:spPr>
          <a:xfrm>
            <a:off x="4246728" y="4387298"/>
            <a:ext cx="128699" cy="187198"/>
          </a:xfrm>
          <a:prstGeom prst="rect">
            <a:avLst/>
          </a:prstGeom>
        </p:spPr>
      </p:pic>
      <p:sp>
        <p:nvSpPr>
          <p:cNvPr id="103" name="TextBox 102"/>
          <p:cNvSpPr txBox="1"/>
          <p:nvPr/>
        </p:nvSpPr>
        <p:spPr>
          <a:xfrm>
            <a:off x="4414224" y="4397077"/>
            <a:ext cx="1533201" cy="186689"/>
          </a:xfrm>
          <a:prstGeom prst="rect">
            <a:avLst/>
          </a:prstGeom>
          <a:noFill/>
        </p:spPr>
        <p:txBody>
          <a:bodyPr wrap="none" lIns="0" rIns="0" tIns="0" bIns="0">
            <a:spAutoFit/>
          </a:bodyPr>
          <a:lstStyle/>
          <a:p>
            <a:r>
              <a:rPr sz="1100" b="1">
                <a:solidFill>
                  <a:srgbClr val="0B2E4A"/>
                </a:solidFill>
                <a:latin typeface="Calibri"/>
              </a:rPr>
              <a:t>CAGR leads the segment.</a:t>
            </a:r>
          </a:p>
        </p:txBody>
      </p:sp>
      <p:sp>
        <p:nvSpPr>
          <p:cNvPr id="104" name="TextBox 103"/>
          <p:cNvSpPr txBox="1"/>
          <p:nvPr/>
        </p:nvSpPr>
        <p:spPr>
          <a:xfrm>
            <a:off x="3838575" y="4615009"/>
            <a:ext cx="1779612" cy="186689"/>
          </a:xfrm>
          <a:prstGeom prst="rect">
            <a:avLst/>
          </a:prstGeom>
          <a:noFill/>
        </p:spPr>
        <p:txBody>
          <a:bodyPr wrap="none" lIns="0" rIns="0" tIns="0" bIns="0">
            <a:spAutoFit/>
          </a:bodyPr>
          <a:lstStyle/>
          <a:p>
            <a:r>
              <a:rPr sz="1100" b="0">
                <a:solidFill>
                  <a:srgbClr val="2E2E2E"/>
                </a:solidFill>
                <a:latin typeface="Calibri"/>
              </a:rPr>
              <a:t>● Routine Cognitive Wellness:</a:t>
            </a:r>
          </a:p>
        </p:txBody>
      </p:sp>
      <p:pic>
        <p:nvPicPr>
          <p:cNvPr id="105" name="Picture 104" descr="lock.png"/>
          <p:cNvPicPr>
            <a:picLocks noChangeAspect="1"/>
          </p:cNvPicPr>
          <p:nvPr/>
        </p:nvPicPr>
        <p:blipFill>
          <a:blip r:embed="rId16"/>
          <a:stretch>
            <a:fillRect/>
          </a:stretch>
        </p:blipFill>
        <p:spPr>
          <a:xfrm>
            <a:off x="5566238" y="4605230"/>
            <a:ext cx="128699" cy="187198"/>
          </a:xfrm>
          <a:prstGeom prst="rect">
            <a:avLst/>
          </a:prstGeom>
        </p:spPr>
      </p:pic>
      <p:sp>
        <p:nvSpPr>
          <p:cNvPr id="106" name="TextBox 105"/>
          <p:cNvSpPr txBox="1"/>
          <p:nvPr/>
        </p:nvSpPr>
        <p:spPr>
          <a:xfrm>
            <a:off x="5733734"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7" name="Picture 106" descr="lock.png"/>
          <p:cNvPicPr>
            <a:picLocks noChangeAspect="1"/>
          </p:cNvPicPr>
          <p:nvPr/>
        </p:nvPicPr>
        <p:blipFill>
          <a:blip r:embed="rId16"/>
          <a:stretch>
            <a:fillRect/>
          </a:stretch>
        </p:blipFill>
        <p:spPr>
          <a:xfrm>
            <a:off x="6593184" y="4605230"/>
            <a:ext cx="128699" cy="187198"/>
          </a:xfrm>
          <a:prstGeom prst="rect">
            <a:avLst/>
          </a:prstGeom>
        </p:spPr>
      </p:pic>
      <p:sp>
        <p:nvSpPr>
          <p:cNvPr id="108" name="TextBox 107"/>
          <p:cNvSpPr txBox="1"/>
          <p:nvPr/>
        </p:nvSpPr>
        <p:spPr>
          <a:xfrm>
            <a:off x="6760680" y="4615009"/>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09" name="TextBox 108"/>
          <p:cNvSpPr txBox="1"/>
          <p:nvPr/>
        </p:nvSpPr>
        <p:spPr>
          <a:xfrm>
            <a:off x="3838575" y="4782649"/>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10" name="TextBox 109"/>
          <p:cNvSpPr txBox="1"/>
          <p:nvPr/>
        </p:nvSpPr>
        <p:spPr>
          <a:xfrm>
            <a:off x="3838575" y="5000581"/>
            <a:ext cx="2847280" cy="186689"/>
          </a:xfrm>
          <a:prstGeom prst="rect">
            <a:avLst/>
          </a:prstGeom>
          <a:noFill/>
        </p:spPr>
        <p:txBody>
          <a:bodyPr wrap="none" lIns="0" rIns="0" tIns="0" bIns="0">
            <a:spAutoFit/>
          </a:bodyPr>
          <a:lstStyle/>
          <a:p>
            <a:r>
              <a:rPr sz="1100" b="1">
                <a:solidFill>
                  <a:srgbClr val="008189"/>
                </a:solidFill>
                <a:latin typeface="Calibri"/>
              </a:rPr>
              <a:t>● Preventive Cognitive Support for Senior Dogs:</a:t>
            </a:r>
          </a:p>
        </p:txBody>
      </p:sp>
      <p:pic>
        <p:nvPicPr>
          <p:cNvPr id="111" name="Picture 110" descr="lock.png"/>
          <p:cNvPicPr>
            <a:picLocks noChangeAspect="1"/>
          </p:cNvPicPr>
          <p:nvPr/>
        </p:nvPicPr>
        <p:blipFill>
          <a:blip r:embed="rId16"/>
          <a:stretch>
            <a:fillRect/>
          </a:stretch>
        </p:blipFill>
        <p:spPr>
          <a:xfrm>
            <a:off x="6633907" y="4990801"/>
            <a:ext cx="128699" cy="187198"/>
          </a:xfrm>
          <a:prstGeom prst="rect">
            <a:avLst/>
          </a:prstGeom>
        </p:spPr>
      </p:pic>
      <p:sp>
        <p:nvSpPr>
          <p:cNvPr id="112" name="TextBox 111"/>
          <p:cNvSpPr txBox="1"/>
          <p:nvPr/>
        </p:nvSpPr>
        <p:spPr>
          <a:xfrm>
            <a:off x="6801402" y="5000581"/>
            <a:ext cx="926405" cy="186689"/>
          </a:xfrm>
          <a:prstGeom prst="rect">
            <a:avLst/>
          </a:prstGeom>
          <a:noFill/>
        </p:spPr>
        <p:txBody>
          <a:bodyPr wrap="none" lIns="0" rIns="0" tIns="0" bIns="0">
            <a:spAutoFit/>
          </a:bodyPr>
          <a:lstStyle/>
          <a:p>
            <a:r>
              <a:rPr sz="1100" b="1">
                <a:solidFill>
                  <a:srgbClr val="008189"/>
                </a:solidFill>
                <a:latin typeface="Calibri"/>
              </a:rPr>
              <a:t>of 2026 value ·</a:t>
            </a:r>
          </a:p>
        </p:txBody>
      </p:sp>
      <p:pic>
        <p:nvPicPr>
          <p:cNvPr id="113" name="Picture 112" descr="lock.png"/>
          <p:cNvPicPr>
            <a:picLocks noChangeAspect="1"/>
          </p:cNvPicPr>
          <p:nvPr/>
        </p:nvPicPr>
        <p:blipFill>
          <a:blip r:embed="rId16"/>
          <a:stretch>
            <a:fillRect/>
          </a:stretch>
        </p:blipFill>
        <p:spPr>
          <a:xfrm>
            <a:off x="3825107" y="5158441"/>
            <a:ext cx="128699" cy="187198"/>
          </a:xfrm>
          <a:prstGeom prst="rect">
            <a:avLst/>
          </a:prstGeom>
        </p:spPr>
      </p:pic>
      <p:sp>
        <p:nvSpPr>
          <p:cNvPr id="114" name="TextBox 113"/>
          <p:cNvSpPr txBox="1"/>
          <p:nvPr/>
        </p:nvSpPr>
        <p:spPr>
          <a:xfrm>
            <a:off x="3992603" y="5168221"/>
            <a:ext cx="1284633" cy="186689"/>
          </a:xfrm>
          <a:prstGeom prst="rect">
            <a:avLst/>
          </a:prstGeom>
          <a:noFill/>
        </p:spPr>
        <p:txBody>
          <a:bodyPr wrap="none" lIns="0" rIns="0" tIns="0" bIns="0">
            <a:spAutoFit/>
          </a:bodyPr>
          <a:lstStyle/>
          <a:p>
            <a:r>
              <a:rPr sz="1100" b="1">
                <a:solidFill>
                  <a:srgbClr val="008189"/>
                </a:solidFill>
                <a:latin typeface="Calibri"/>
              </a:rPr>
              <a:t>CAGR serves a niche.</a:t>
            </a:r>
          </a:p>
        </p:txBody>
      </p:sp>
      <p:sp>
        <p:nvSpPr>
          <p:cNvPr id="115" name="TextBox 114"/>
          <p:cNvSpPr txBox="1"/>
          <p:nvPr/>
        </p:nvSpPr>
        <p:spPr>
          <a:xfrm>
            <a:off x="3838575" y="5386153"/>
            <a:ext cx="3107580" cy="186689"/>
          </a:xfrm>
          <a:prstGeom prst="rect">
            <a:avLst/>
          </a:prstGeom>
          <a:noFill/>
        </p:spPr>
        <p:txBody>
          <a:bodyPr wrap="none" lIns="0" rIns="0" tIns="0" bIns="0">
            <a:spAutoFit/>
          </a:bodyPr>
          <a:lstStyle/>
          <a:p>
            <a:r>
              <a:rPr sz="1100" b="1">
                <a:solidFill>
                  <a:srgbClr val="6F3CC2"/>
                </a:solidFill>
                <a:latin typeface="Calibri"/>
              </a:rPr>
              <a:t>● Veterinary-Guided Cognitive Dysfunction Support:</a:t>
            </a:r>
          </a:p>
        </p:txBody>
      </p:sp>
      <p:pic>
        <p:nvPicPr>
          <p:cNvPr id="116" name="Picture 115" descr="lock.png"/>
          <p:cNvPicPr>
            <a:picLocks noChangeAspect="1"/>
          </p:cNvPicPr>
          <p:nvPr/>
        </p:nvPicPr>
        <p:blipFill>
          <a:blip r:embed="rId16"/>
          <a:stretch>
            <a:fillRect/>
          </a:stretch>
        </p:blipFill>
        <p:spPr>
          <a:xfrm>
            <a:off x="6894207" y="5376373"/>
            <a:ext cx="128699" cy="187198"/>
          </a:xfrm>
          <a:prstGeom prst="rect">
            <a:avLst/>
          </a:prstGeom>
        </p:spPr>
      </p:pic>
      <p:sp>
        <p:nvSpPr>
          <p:cNvPr id="117" name="TextBox 116"/>
          <p:cNvSpPr txBox="1"/>
          <p:nvPr/>
        </p:nvSpPr>
        <p:spPr>
          <a:xfrm>
            <a:off x="7061703" y="5386153"/>
            <a:ext cx="857374" cy="186689"/>
          </a:xfrm>
          <a:prstGeom prst="rect">
            <a:avLst/>
          </a:prstGeom>
          <a:noFill/>
        </p:spPr>
        <p:txBody>
          <a:bodyPr wrap="none" lIns="0" rIns="0" tIns="0" bIns="0">
            <a:spAutoFit/>
          </a:bodyPr>
          <a:lstStyle/>
          <a:p>
            <a:r>
              <a:rPr sz="1100" b="1">
                <a:solidFill>
                  <a:srgbClr val="6F3CC2"/>
                </a:solidFill>
                <a:latin typeface="Calibri"/>
              </a:rPr>
              <a:t>of 2026 value</a:t>
            </a:r>
          </a:p>
        </p:txBody>
      </p:sp>
      <p:sp>
        <p:nvSpPr>
          <p:cNvPr id="118" name="TextBox 117"/>
          <p:cNvSpPr txBox="1"/>
          <p:nvPr/>
        </p:nvSpPr>
        <p:spPr>
          <a:xfrm>
            <a:off x="3838575" y="5553793"/>
            <a:ext cx="113580" cy="186689"/>
          </a:xfrm>
          <a:prstGeom prst="rect">
            <a:avLst/>
          </a:prstGeom>
          <a:noFill/>
        </p:spPr>
        <p:txBody>
          <a:bodyPr wrap="none" lIns="0" rIns="0" tIns="0" bIns="0">
            <a:spAutoFit/>
          </a:bodyPr>
          <a:lstStyle/>
          <a:p>
            <a:r>
              <a:rPr sz="1100" b="1">
                <a:solidFill>
                  <a:srgbClr val="6F3CC2"/>
                </a:solidFill>
                <a:latin typeface="Calibri"/>
              </a:rPr>
              <a:t>·</a:t>
            </a:r>
          </a:p>
        </p:txBody>
      </p:sp>
      <p:pic>
        <p:nvPicPr>
          <p:cNvPr id="119" name="Picture 118" descr="lock.png"/>
          <p:cNvPicPr>
            <a:picLocks noChangeAspect="1"/>
          </p:cNvPicPr>
          <p:nvPr/>
        </p:nvPicPr>
        <p:blipFill>
          <a:blip r:embed="rId16"/>
          <a:stretch>
            <a:fillRect/>
          </a:stretch>
        </p:blipFill>
        <p:spPr>
          <a:xfrm>
            <a:off x="3900207" y="5544013"/>
            <a:ext cx="128699" cy="187198"/>
          </a:xfrm>
          <a:prstGeom prst="rect">
            <a:avLst/>
          </a:prstGeom>
        </p:spPr>
      </p:pic>
      <p:sp>
        <p:nvSpPr>
          <p:cNvPr id="120" name="TextBox 119"/>
          <p:cNvSpPr txBox="1"/>
          <p:nvPr/>
        </p:nvSpPr>
        <p:spPr>
          <a:xfrm>
            <a:off x="4067703" y="5553793"/>
            <a:ext cx="1245889" cy="186689"/>
          </a:xfrm>
          <a:prstGeom prst="rect">
            <a:avLst/>
          </a:prstGeom>
          <a:noFill/>
        </p:spPr>
        <p:txBody>
          <a:bodyPr wrap="none" lIns="0" rIns="0" tIns="0" bIns="0">
            <a:spAutoFit/>
          </a:bodyPr>
          <a:lstStyle/>
          <a:p>
            <a:r>
              <a:rPr sz="1100" b="1">
                <a:solidFill>
                  <a:srgbClr val="6F3CC2"/>
                </a:solidFill>
                <a:latin typeface="Calibri"/>
              </a:rPr>
              <a:t>CAGR grows fastest.</a:t>
            </a:r>
          </a:p>
        </p:txBody>
      </p:sp>
      <p:sp>
        <p:nvSpPr>
          <p:cNvPr id="121" name="TextBox 120"/>
          <p:cNvSpPr txBox="1"/>
          <p:nvPr/>
        </p:nvSpPr>
        <p:spPr>
          <a:xfrm>
            <a:off x="8524875" y="5842641"/>
            <a:ext cx="3006328" cy="194310"/>
          </a:xfrm>
          <a:prstGeom prst="rect">
            <a:avLst/>
          </a:prstGeom>
          <a:noFill/>
        </p:spPr>
        <p:txBody>
          <a:bodyPr wrap="none" lIns="0" rIns="0" tIns="0" bIns="0">
            <a:spAutoFit/>
          </a:bodyPr>
          <a:lstStyle/>
          <a:p>
            <a:r>
              <a:rPr sz="1150" b="1">
                <a:solidFill>
                  <a:srgbClr val="0B2E4A"/>
                </a:solidFill>
                <a:latin typeface="Calibri"/>
              </a:rPr>
              <a:t>The End-use Application segment is projected to</a:t>
            </a:r>
          </a:p>
        </p:txBody>
      </p:sp>
      <p:sp>
        <p:nvSpPr>
          <p:cNvPr id="122" name="TextBox 121"/>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123" name="Picture 122" descr="lock.png"/>
          <p:cNvPicPr>
            <a:picLocks noChangeAspect="1"/>
          </p:cNvPicPr>
          <p:nvPr/>
        </p:nvPicPr>
        <p:blipFill>
          <a:blip r:embed="rId16"/>
          <a:stretch>
            <a:fillRect/>
          </a:stretch>
        </p:blipFill>
        <p:spPr>
          <a:xfrm>
            <a:off x="9651852" y="6007677"/>
            <a:ext cx="134549" cy="195707"/>
          </a:xfrm>
          <a:prstGeom prst="rect">
            <a:avLst/>
          </a:prstGeom>
        </p:spPr>
      </p:pic>
      <p:sp>
        <p:nvSpPr>
          <p:cNvPr id="124" name="TextBox 123"/>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End-use Application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End-use Application mix within each country and the attractiveness of each sub-segment on growth and size</a:t>
            </a:r>
          </a:p>
        </p:txBody>
      </p:sp>
      <p:sp>
        <p:nvSpPr>
          <p:cNvPr id="10" name="Rounded Rectangle 9"/>
          <p:cNvSpPr/>
          <p:nvPr/>
        </p:nvSpPr>
        <p:spPr>
          <a:xfrm>
            <a:off x="142875" y="981075"/>
            <a:ext cx="6343650" cy="4276725"/>
          </a:xfrm>
          <a:prstGeom prst="roundRect">
            <a:avLst>
              <a:gd name="adj" fmla="val 17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End-use Application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762375"/>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276725"/>
          </a:xfrm>
          <a:prstGeom prst="roundRect">
            <a:avLst>
              <a:gd name="adj" fmla="val 17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End-use Application · Bubble size represents 2036 value</a:t>
            </a:r>
          </a:p>
        </p:txBody>
      </p:sp>
      <p:graphicFrame>
        <p:nvGraphicFramePr>
          <p:cNvPr id="15" name="Chart 14"/>
          <p:cNvGraphicFramePr>
            <a:graphicFrameLocks noGrp="1"/>
          </p:cNvGraphicFramePr>
          <p:nvPr/>
        </p:nvGraphicFramePr>
        <p:xfrm>
          <a:off x="6734175" y="1438275"/>
          <a:ext cx="5210175" cy="3762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391150"/>
            <a:ext cx="11906250" cy="1228725"/>
          </a:xfrm>
          <a:prstGeom prst="roundRect">
            <a:avLst>
              <a:gd name="adj" fmla="val 62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5876" y="3002024"/>
            <a:ext cx="318605" cy="463425"/>
          </a:xfrm>
          <a:prstGeom prst="rect">
            <a:avLst/>
          </a:prstGeom>
        </p:spPr>
      </p:pic>
      <p:sp>
        <p:nvSpPr>
          <p:cNvPr id="19" name="TextBox 18"/>
          <p:cNvSpPr txBox="1"/>
          <p:nvPr/>
        </p:nvSpPr>
        <p:spPr>
          <a:xfrm>
            <a:off x="257175" y="5670232"/>
            <a:ext cx="11492855" cy="186689"/>
          </a:xfrm>
          <a:prstGeom prst="rect">
            <a:avLst/>
          </a:prstGeom>
          <a:noFill/>
        </p:spPr>
        <p:txBody>
          <a:bodyPr wrap="none" lIns="0" rIns="0" tIns="0" bIns="0">
            <a:spAutoFit/>
          </a:bodyPr>
          <a:lstStyle/>
          <a:p>
            <a:r>
              <a:rPr sz="1100" b="0">
                <a:solidFill>
                  <a:srgbClr val="2E2E2E"/>
                </a:solidFill>
                <a:latin typeface="Calibri"/>
              </a:rPr>
              <a:t>Support for observable age-related cognitive changes followed by veterinary-guided cognitive dysfunction support are expected to be the two most attractive end-use application segments in the North</a:t>
            </a:r>
          </a:p>
        </p:txBody>
      </p:sp>
      <p:sp>
        <p:nvSpPr>
          <p:cNvPr id="20" name="TextBox 19"/>
          <p:cNvSpPr txBox="1"/>
          <p:nvPr/>
        </p:nvSpPr>
        <p:spPr>
          <a:xfrm>
            <a:off x="257175" y="5837872"/>
            <a:ext cx="11450835" cy="186689"/>
          </a:xfrm>
          <a:prstGeom prst="rect">
            <a:avLst/>
          </a:prstGeom>
          <a:noFill/>
        </p:spPr>
        <p:txBody>
          <a:bodyPr wrap="none" lIns="0" rIns="0" tIns="0" bIns="0">
            <a:spAutoFit/>
          </a:bodyPr>
          <a:lstStyle/>
          <a:p>
            <a:r>
              <a:rPr sz="1100" b="0">
                <a:solidFill>
                  <a:srgbClr val="2E2E2E"/>
                </a:solidFill>
                <a:latin typeface="Calibri"/>
              </a:rPr>
              <a:t>America senior dog cognitive supplement market in terms of value over the forecast period. Support for observable Age-Related cognitive changes and Veterinary-Guided cognitive dysfunction support</a:t>
            </a:r>
          </a:p>
        </p:txBody>
      </p:sp>
      <p:sp>
        <p:nvSpPr>
          <p:cNvPr id="21" name="TextBox 20"/>
          <p:cNvSpPr txBox="1"/>
          <p:nvPr/>
        </p:nvSpPr>
        <p:spPr>
          <a:xfrm>
            <a:off x="257175" y="6005512"/>
            <a:ext cx="1402514" cy="186689"/>
          </a:xfrm>
          <a:prstGeom prst="rect">
            <a:avLst/>
          </a:prstGeom>
          <a:noFill/>
        </p:spPr>
        <p:txBody>
          <a:bodyPr wrap="none" lIns="0" rIns="0" tIns="0" bIns="0">
            <a:spAutoFit/>
          </a:bodyPr>
          <a:lstStyle/>
          <a:p>
            <a:r>
              <a:rPr sz="1100" b="0">
                <a:solidFill>
                  <a:srgbClr val="2E2E2E"/>
                </a:solidFill>
                <a:latin typeface="Calibri"/>
              </a:rPr>
              <a:t>exhibit a CAGR index of</a:t>
            </a:r>
          </a:p>
        </p:txBody>
      </p:sp>
      <p:pic>
        <p:nvPicPr>
          <p:cNvPr id="22" name="Picture 21" descr="lock.png"/>
          <p:cNvPicPr>
            <a:picLocks noChangeAspect="1"/>
          </p:cNvPicPr>
          <p:nvPr/>
        </p:nvPicPr>
        <p:blipFill>
          <a:blip r:embed="rId6"/>
          <a:stretch>
            <a:fillRect/>
          </a:stretch>
        </p:blipFill>
        <p:spPr>
          <a:xfrm>
            <a:off x="1607740" y="5995733"/>
            <a:ext cx="128699" cy="187198"/>
          </a:xfrm>
          <a:prstGeom prst="rect">
            <a:avLst/>
          </a:prstGeom>
        </p:spPr>
      </p:pic>
      <p:sp>
        <p:nvSpPr>
          <p:cNvPr id="23" name="TextBox 22"/>
          <p:cNvSpPr txBox="1"/>
          <p:nvPr/>
        </p:nvSpPr>
        <p:spPr>
          <a:xfrm>
            <a:off x="1775236" y="6005512"/>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2013131" y="5995733"/>
            <a:ext cx="128699" cy="187198"/>
          </a:xfrm>
          <a:prstGeom prst="rect">
            <a:avLst/>
          </a:prstGeom>
        </p:spPr>
      </p:pic>
      <p:sp>
        <p:nvSpPr>
          <p:cNvPr id="25" name="TextBox 24"/>
          <p:cNvSpPr txBox="1"/>
          <p:nvPr/>
        </p:nvSpPr>
        <p:spPr>
          <a:xfrm>
            <a:off x="2180626" y="6005512"/>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3789600" y="5995733"/>
            <a:ext cx="128699" cy="187198"/>
          </a:xfrm>
          <a:prstGeom prst="rect">
            <a:avLst/>
          </a:prstGeom>
        </p:spPr>
      </p:pic>
      <p:sp>
        <p:nvSpPr>
          <p:cNvPr id="27" name="TextBox 26"/>
          <p:cNvSpPr txBox="1"/>
          <p:nvPr/>
        </p:nvSpPr>
        <p:spPr>
          <a:xfrm>
            <a:off x="3957096" y="6005512"/>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4194990" y="5995733"/>
            <a:ext cx="128699" cy="187198"/>
          </a:xfrm>
          <a:prstGeom prst="rect">
            <a:avLst/>
          </a:prstGeom>
        </p:spPr>
      </p:pic>
      <p:sp>
        <p:nvSpPr>
          <p:cNvPr id="29" name="TextBox 28"/>
          <p:cNvSpPr txBox="1"/>
          <p:nvPr/>
        </p:nvSpPr>
        <p:spPr>
          <a:xfrm>
            <a:off x="4362486" y="6005512"/>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30" name="Picture 29" descr="lock.png"/>
          <p:cNvPicPr>
            <a:picLocks noChangeAspect="1"/>
          </p:cNvPicPr>
          <p:nvPr/>
        </p:nvPicPr>
        <p:blipFill>
          <a:blip r:embed="rId6"/>
          <a:stretch>
            <a:fillRect/>
          </a:stretch>
        </p:blipFill>
        <p:spPr>
          <a:xfrm>
            <a:off x="6916890" y="5995733"/>
            <a:ext cx="128699" cy="187198"/>
          </a:xfrm>
          <a:prstGeom prst="rect">
            <a:avLst/>
          </a:prstGeom>
        </p:spPr>
      </p:pic>
      <p:sp>
        <p:nvSpPr>
          <p:cNvPr id="31" name="TextBox 30"/>
          <p:cNvSpPr txBox="1"/>
          <p:nvPr/>
        </p:nvSpPr>
        <p:spPr>
          <a:xfrm>
            <a:off x="7084386" y="6005512"/>
            <a:ext cx="4365972" cy="186689"/>
          </a:xfrm>
          <a:prstGeom prst="rect">
            <a:avLst/>
          </a:prstGeom>
          <a:noFill/>
        </p:spPr>
        <p:txBody>
          <a:bodyPr wrap="none" lIns="0" rIns="0" tIns="0" bIns="0">
            <a:spAutoFit/>
          </a:bodyPr>
          <a:lstStyle/>
          <a:p>
            <a:r>
              <a:rPr sz="1100" b="0">
                <a:solidFill>
                  <a:srgbClr val="2E2E2E"/>
                </a:solidFill>
                <a:latin typeface="Calibri"/>
              </a:rPr>
              <a:t>. The routine cognitive wellness segment is expected to be less attractive as</a:t>
            </a:r>
          </a:p>
        </p:txBody>
      </p:sp>
      <p:sp>
        <p:nvSpPr>
          <p:cNvPr id="32" name="TextBox 31"/>
          <p:cNvSpPr txBox="1"/>
          <p:nvPr/>
        </p:nvSpPr>
        <p:spPr>
          <a:xfrm>
            <a:off x="257175" y="6173152"/>
            <a:ext cx="10606326" cy="186689"/>
          </a:xfrm>
          <a:prstGeom prst="rect">
            <a:avLst/>
          </a:prstGeom>
          <a:noFill/>
        </p:spPr>
        <p:txBody>
          <a:bodyPr wrap="none" lIns="0" rIns="0" tIns="0" bIns="0">
            <a:spAutoFit/>
          </a:bodyPr>
          <a:lstStyle/>
          <a:p>
            <a:r>
              <a:rPr sz="1100" b="0">
                <a:solidFill>
                  <a:srgbClr val="2E2E2E"/>
                </a:solidFill>
                <a:latin typeface="Calibri"/>
              </a:rPr>
              <a:t>compared to other segments over the forecast period, owing to its lower CAGR and incremental opportunity. Bubbles right of the CAGR-Index line grow faster than the segment average.</a:t>
            </a:r>
          </a:p>
        </p:txBody>
      </p:sp>
      <p:sp>
        <p:nvSpPr>
          <p:cNvPr id="33" name="lockshield_12"/>
          <p:cNvSpPr/>
          <p:nvPr/>
        </p:nvSpPr>
        <p:spPr>
          <a:xfrm>
            <a:off x="238125" y="1438275"/>
            <a:ext cx="6153150" cy="3762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762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End-use Application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End-use Application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Routine Cognitive Wellness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Preventive Cognitive Support for Senior Dogs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Support for Observable Age-Related Cognitive Changes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Veterinary-Guided Cognitive Dysfunction Support</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End-use Application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End-use Application, 2021–2036, highlighting the sub-segments driving growth</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End-use Application (US$ Mn)</a:t>
            </a:r>
          </a:p>
        </p:txBody>
      </p:sp>
      <p:graphicFrame>
        <p:nvGraphicFramePr>
          <p:cNvPr id="12" name="Table 11"/>
          <p:cNvGraphicFramePr>
            <a:graphicFrameLocks noGrp="1"/>
          </p:cNvGraphicFramePr>
          <p:nvPr/>
        </p:nvGraphicFramePr>
        <p:xfrm>
          <a:off x="152400" y="1238250"/>
          <a:ext cx="11887202" cy="1485896"/>
        </p:xfrm>
        <a:graphic>
          <a:graphicData uri="http://schemas.openxmlformats.org/drawingml/2006/table">
            <a:tbl>
              <a:tblPr>
                <a:tableStyleId>{5C22544A-7EE6-4342-B048-85BDC9FD1C3A}</a:tableStyleId>
              </a:tblPr>
              <a:tblGrid>
                <a:gridCol w="3519985"/>
                <a:gridCol w="502606"/>
                <a:gridCol w="502606"/>
                <a:gridCol w="502606"/>
                <a:gridCol w="502606"/>
                <a:gridCol w="502606"/>
                <a:gridCol w="484901"/>
                <a:gridCol w="479843"/>
                <a:gridCol w="479843"/>
                <a:gridCol w="479843"/>
                <a:gridCol w="479843"/>
                <a:gridCol w="479843"/>
                <a:gridCol w="479843"/>
                <a:gridCol w="479843"/>
                <a:gridCol w="479843"/>
                <a:gridCol w="479843"/>
                <a:gridCol w="479843"/>
                <a:gridCol w="570856"/>
              </a:tblGrid>
              <a:tr h="246126">
                <a:tc>
                  <a:txBody>
                    <a:bodyPr wrap="none"/>
                    <a:lstStyle/>
                    <a:p>
                      <a:pPr algn="l"/>
                      <a:r>
                        <a:rPr sz="1100" b="1">
                          <a:solidFill>
                            <a:srgbClr val="0B2E4A"/>
                          </a:solidFill>
                          <a:latin typeface="Calibri"/>
                        </a:rPr>
                        <a:t>End-use Application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Routine Cognitive Wellness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Preventive Cognitive Support for Senior Dogs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Support for Observable Age-Related Cognitive Changes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Veterinary-Guided Cognitive Dysfunction Support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67050"/>
            <a:ext cx="11906250"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1527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End-use Application</a:t>
            </a:r>
          </a:p>
        </p:txBody>
      </p:sp>
      <p:sp>
        <p:nvSpPr>
          <p:cNvPr id="16" name="Rectangle 15"/>
          <p:cNvSpPr/>
          <p:nvPr/>
        </p:nvSpPr>
        <p:spPr>
          <a:xfrm>
            <a:off x="276225" y="33909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476625"/>
            <a:ext cx="1163955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669303" y="1837563"/>
            <a:ext cx="366712" cy="533399"/>
          </a:xfrm>
          <a:prstGeom prst="rect">
            <a:avLst/>
          </a:prstGeom>
        </p:spPr>
      </p:pic>
      <p:sp>
        <p:nvSpPr>
          <p:cNvPr id="20" name="TextBox 19"/>
          <p:cNvSpPr txBox="1"/>
          <p:nvPr/>
        </p:nvSpPr>
        <p:spPr>
          <a:xfrm>
            <a:off x="276225" y="3486150"/>
            <a:ext cx="5172546" cy="194310"/>
          </a:xfrm>
          <a:prstGeom prst="rect">
            <a:avLst/>
          </a:prstGeom>
          <a:noFill/>
        </p:spPr>
        <p:txBody>
          <a:bodyPr wrap="none" lIns="0" rIns="0" tIns="0" bIns="0">
            <a:spAutoFit/>
          </a:bodyPr>
          <a:lstStyle/>
          <a:p>
            <a:r>
              <a:rPr sz="1150" b="0">
                <a:solidFill>
                  <a:srgbClr val="2E2E2E"/>
                </a:solidFill>
                <a:latin typeface="Calibri"/>
              </a:rPr>
              <a:t>Support for observable age-related cognitive changes segment is projected to register</a:t>
            </a:r>
          </a:p>
        </p:txBody>
      </p:sp>
      <p:pic>
        <p:nvPicPr>
          <p:cNvPr id="21" name="Picture 20" descr="lock.png"/>
          <p:cNvPicPr>
            <a:picLocks noChangeAspect="1"/>
          </p:cNvPicPr>
          <p:nvPr/>
        </p:nvPicPr>
        <p:blipFill>
          <a:blip r:embed="rId4"/>
          <a:stretch>
            <a:fillRect/>
          </a:stretch>
        </p:blipFill>
        <p:spPr>
          <a:xfrm>
            <a:off x="5397925" y="3475926"/>
            <a:ext cx="134549" cy="195707"/>
          </a:xfrm>
          <a:prstGeom prst="rect">
            <a:avLst/>
          </a:prstGeom>
        </p:spPr>
      </p:pic>
      <p:sp>
        <p:nvSpPr>
          <p:cNvPr id="22" name="TextBox 21"/>
          <p:cNvSpPr txBox="1"/>
          <p:nvPr/>
        </p:nvSpPr>
        <p:spPr>
          <a:xfrm>
            <a:off x="5573034" y="3486150"/>
            <a:ext cx="6291026" cy="194310"/>
          </a:xfrm>
          <a:prstGeom prst="rect">
            <a:avLst/>
          </a:prstGeom>
          <a:noFill/>
        </p:spPr>
        <p:txBody>
          <a:bodyPr wrap="none" lIns="0" rIns="0" tIns="0" bIns="0">
            <a:spAutoFit/>
          </a:bodyPr>
          <a:lstStyle/>
          <a:p>
            <a:r>
              <a:rPr sz="1150" b="0">
                <a:solidFill>
                  <a:srgbClr val="2E2E2E"/>
                </a:solidFill>
                <a:latin typeface="Calibri"/>
              </a:rPr>
              <a:t>X higher value than routine cognitive wellness segment in 2036. Among senior dog cognitive supplement</a:t>
            </a:r>
          </a:p>
        </p:txBody>
      </p:sp>
      <p:sp>
        <p:nvSpPr>
          <p:cNvPr id="23" name="TextBox 22"/>
          <p:cNvSpPr txBox="1"/>
          <p:nvPr/>
        </p:nvSpPr>
        <p:spPr>
          <a:xfrm>
            <a:off x="276225" y="3661410"/>
            <a:ext cx="7463402" cy="194310"/>
          </a:xfrm>
          <a:prstGeom prst="rect">
            <a:avLst/>
          </a:prstGeom>
          <a:noFill/>
        </p:spPr>
        <p:txBody>
          <a:bodyPr wrap="none" lIns="0" rIns="0" tIns="0" bIns="0">
            <a:spAutoFit/>
          </a:bodyPr>
          <a:lstStyle/>
          <a:p>
            <a:r>
              <a:rPr sz="1150" b="0">
                <a:solidFill>
                  <a:srgbClr val="2E2E2E"/>
                </a:solidFill>
                <a:latin typeface="Calibri"/>
              </a:rPr>
              <a:t>by end-use application, veterinary-guided cognitive dysfunction support segment is expected to witness the highest CAGR of</a:t>
            </a:r>
          </a:p>
        </p:txBody>
      </p:sp>
      <p:pic>
        <p:nvPicPr>
          <p:cNvPr id="24" name="Picture 23" descr="lock.png"/>
          <p:cNvPicPr>
            <a:picLocks noChangeAspect="1"/>
          </p:cNvPicPr>
          <p:nvPr/>
        </p:nvPicPr>
        <p:blipFill>
          <a:blip r:embed="rId4"/>
          <a:stretch>
            <a:fillRect/>
          </a:stretch>
        </p:blipFill>
        <p:spPr>
          <a:xfrm>
            <a:off x="7688781" y="3651186"/>
            <a:ext cx="134549" cy="195707"/>
          </a:xfrm>
          <a:prstGeom prst="rect">
            <a:avLst/>
          </a:prstGeom>
        </p:spPr>
      </p:pic>
      <p:sp>
        <p:nvSpPr>
          <p:cNvPr id="25" name="TextBox 24"/>
          <p:cNvSpPr txBox="1"/>
          <p:nvPr/>
        </p:nvSpPr>
        <p:spPr>
          <a:xfrm>
            <a:off x="7863890" y="36614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889247"/>
            <a:ext cx="9399153" cy="194310"/>
          </a:xfrm>
          <a:prstGeom prst="rect">
            <a:avLst/>
          </a:prstGeom>
          <a:noFill/>
        </p:spPr>
        <p:txBody>
          <a:bodyPr wrap="none" lIns="0" rIns="0" tIns="0" bIns="0">
            <a:spAutoFit/>
          </a:bodyPr>
          <a:lstStyle/>
          <a:p>
            <a:r>
              <a:rPr sz="1150" b="0">
                <a:solidFill>
                  <a:srgbClr val="2E2E2E"/>
                </a:solidFill>
                <a:latin typeface="Calibri"/>
              </a:rPr>
              <a:t>In terms of value share by end-use application, the support for observable age-related cognitive changes segment is expected to dominate the market, losing</a:t>
            </a:r>
          </a:p>
        </p:txBody>
      </p:sp>
      <p:pic>
        <p:nvPicPr>
          <p:cNvPr id="27" name="Picture 26" descr="lock.png"/>
          <p:cNvPicPr>
            <a:picLocks noChangeAspect="1"/>
          </p:cNvPicPr>
          <p:nvPr/>
        </p:nvPicPr>
        <p:blipFill>
          <a:blip r:embed="rId4"/>
          <a:stretch>
            <a:fillRect/>
          </a:stretch>
        </p:blipFill>
        <p:spPr>
          <a:xfrm>
            <a:off x="9624532" y="3879024"/>
            <a:ext cx="134549" cy="195707"/>
          </a:xfrm>
          <a:prstGeom prst="rect">
            <a:avLst/>
          </a:prstGeom>
        </p:spPr>
      </p:pic>
      <p:sp>
        <p:nvSpPr>
          <p:cNvPr id="28" name="TextBox 27"/>
          <p:cNvSpPr txBox="1"/>
          <p:nvPr/>
        </p:nvSpPr>
        <p:spPr>
          <a:xfrm>
            <a:off x="9799641" y="38892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11194784" y="3879024"/>
            <a:ext cx="134549" cy="195707"/>
          </a:xfrm>
          <a:prstGeom prst="rect">
            <a:avLst/>
          </a:prstGeom>
        </p:spPr>
      </p:pic>
      <p:sp>
        <p:nvSpPr>
          <p:cNvPr id="30" name="TextBox 29"/>
          <p:cNvSpPr txBox="1"/>
          <p:nvPr/>
        </p:nvSpPr>
        <p:spPr>
          <a:xfrm>
            <a:off x="276225" y="40645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End-use Application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End-use Application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End-use Application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895916"/>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189115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81495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Veterinary-Guided Cognitive Dysfunction Support</a:t>
            </a:r>
          </a:p>
        </p:txBody>
      </p:sp>
      <p:sp>
        <p:nvSpPr>
          <p:cNvPr id="18" name="BPS Value 1"/>
          <p:cNvSpPr txBox="1"/>
          <p:nvPr/>
        </p:nvSpPr>
        <p:spPr>
          <a:xfrm>
            <a:off x="6896100" y="187686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2386590"/>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238182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30562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Preventive Cognitive Support for Senior Dogs</a:t>
            </a:r>
          </a:p>
        </p:txBody>
      </p:sp>
      <p:sp>
        <p:nvSpPr>
          <p:cNvPr id="22" name="BPS Value 2"/>
          <p:cNvSpPr txBox="1"/>
          <p:nvPr/>
        </p:nvSpPr>
        <p:spPr>
          <a:xfrm>
            <a:off x="6896100" y="236754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3100971"/>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309620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302000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Routine Cognitive Wellness</a:t>
            </a:r>
          </a:p>
        </p:txBody>
      </p:sp>
      <p:sp>
        <p:nvSpPr>
          <p:cNvPr id="26" name="BPS Value 3"/>
          <p:cNvSpPr txBox="1"/>
          <p:nvPr/>
        </p:nvSpPr>
        <p:spPr>
          <a:xfrm>
            <a:off x="6896100" y="308192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928997" y="4896487"/>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489172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481552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Support for Observable Age-Related Cognitive Changes</a:t>
            </a:r>
          </a:p>
        </p:txBody>
      </p:sp>
      <p:sp>
        <p:nvSpPr>
          <p:cNvPr id="30" name="BPS Value 4"/>
          <p:cNvSpPr txBox="1"/>
          <p:nvPr/>
        </p:nvSpPr>
        <p:spPr>
          <a:xfrm>
            <a:off x="6896100" y="487743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Rounded Rectangle 30"/>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End-use Application</a:t>
            </a:r>
          </a:p>
        </p:txBody>
      </p:sp>
      <p:sp>
        <p:nvSpPr>
          <p:cNvPr id="33" name="Rectangle 32"/>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5"/>
          <a:stretch>
            <a:fillRect/>
          </a:stretch>
        </p:blipFill>
        <p:spPr>
          <a:xfrm>
            <a:off x="2557843" y="3833622"/>
            <a:ext cx="275034" cy="400050"/>
          </a:xfrm>
          <a:prstGeom prst="rect">
            <a:avLst/>
          </a:prstGeom>
        </p:spPr>
      </p:pic>
      <p:sp>
        <p:nvSpPr>
          <p:cNvPr id="37" name="TextBox 36"/>
          <p:cNvSpPr txBox="1"/>
          <p:nvPr/>
        </p:nvSpPr>
        <p:spPr>
          <a:xfrm>
            <a:off x="7829550" y="1400175"/>
            <a:ext cx="3886336" cy="194310"/>
          </a:xfrm>
          <a:prstGeom prst="rect">
            <a:avLst/>
          </a:prstGeom>
          <a:noFill/>
        </p:spPr>
        <p:txBody>
          <a:bodyPr wrap="none" lIns="0" rIns="0" tIns="0" bIns="0">
            <a:spAutoFit/>
          </a:bodyPr>
          <a:lstStyle/>
          <a:p>
            <a:r>
              <a:rPr sz="1150" b="0">
                <a:solidFill>
                  <a:srgbClr val="2E2E2E"/>
                </a:solidFill>
                <a:latin typeface="Calibri"/>
              </a:rPr>
              <a:t>Among senior dog cognitive supplement by end-use application,</a:t>
            </a:r>
          </a:p>
        </p:txBody>
      </p:sp>
      <p:sp>
        <p:nvSpPr>
          <p:cNvPr id="38" name="TextBox 37"/>
          <p:cNvSpPr txBox="1"/>
          <p:nvPr/>
        </p:nvSpPr>
        <p:spPr>
          <a:xfrm>
            <a:off x="7829550" y="1575435"/>
            <a:ext cx="3605361" cy="194310"/>
          </a:xfrm>
          <a:prstGeom prst="rect">
            <a:avLst/>
          </a:prstGeom>
          <a:noFill/>
        </p:spPr>
        <p:txBody>
          <a:bodyPr wrap="none" lIns="0" rIns="0" tIns="0" bIns="0">
            <a:spAutoFit/>
          </a:bodyPr>
          <a:lstStyle/>
          <a:p>
            <a:r>
              <a:rPr sz="1150" b="0">
                <a:solidFill>
                  <a:srgbClr val="2E2E2E"/>
                </a:solidFill>
                <a:latin typeface="Calibri"/>
              </a:rPr>
              <a:t>veterinary-guided cognitive dysfunction support segment is</a:t>
            </a:r>
          </a:p>
        </p:txBody>
      </p:sp>
      <p:sp>
        <p:nvSpPr>
          <p:cNvPr id="39" name="TextBox 38"/>
          <p:cNvSpPr txBox="1"/>
          <p:nvPr/>
        </p:nvSpPr>
        <p:spPr>
          <a:xfrm>
            <a:off x="7829550" y="175069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40" name="Picture 39" descr="lock.png"/>
          <p:cNvPicPr>
            <a:picLocks noChangeAspect="1"/>
          </p:cNvPicPr>
          <p:nvPr/>
        </p:nvPicPr>
        <p:blipFill>
          <a:blip r:embed="rId5"/>
          <a:stretch>
            <a:fillRect/>
          </a:stretch>
        </p:blipFill>
        <p:spPr>
          <a:xfrm>
            <a:off x="10264711" y="1740471"/>
            <a:ext cx="134549" cy="195707"/>
          </a:xfrm>
          <a:prstGeom prst="rect">
            <a:avLst/>
          </a:prstGeom>
        </p:spPr>
      </p:pic>
      <p:sp>
        <p:nvSpPr>
          <p:cNvPr id="41" name="TextBox 40"/>
          <p:cNvSpPr txBox="1"/>
          <p:nvPr/>
        </p:nvSpPr>
        <p:spPr>
          <a:xfrm>
            <a:off x="10439820" y="175069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42" name="TextBox 41"/>
          <p:cNvSpPr txBox="1"/>
          <p:nvPr/>
        </p:nvSpPr>
        <p:spPr>
          <a:xfrm>
            <a:off x="7829550" y="1925955"/>
            <a:ext cx="500943" cy="194310"/>
          </a:xfrm>
          <a:prstGeom prst="rect">
            <a:avLst/>
          </a:prstGeom>
          <a:noFill/>
        </p:spPr>
        <p:txBody>
          <a:bodyPr wrap="none" lIns="0" rIns="0" tIns="0" bIns="0">
            <a:spAutoFit/>
          </a:bodyPr>
          <a:lstStyle/>
          <a:p>
            <a:r>
              <a:rPr sz="1150" b="0">
                <a:solidFill>
                  <a:srgbClr val="2E2E2E"/>
                </a:solidFill>
                <a:latin typeface="Calibri"/>
              </a:rPr>
              <a:t>period.</a:t>
            </a:r>
          </a:p>
        </p:txBody>
      </p:sp>
      <p:sp>
        <p:nvSpPr>
          <p:cNvPr id="43" name="TextBox 42"/>
          <p:cNvSpPr txBox="1"/>
          <p:nvPr/>
        </p:nvSpPr>
        <p:spPr>
          <a:xfrm>
            <a:off x="7829550" y="2153793"/>
            <a:ext cx="3786497" cy="194310"/>
          </a:xfrm>
          <a:prstGeom prst="rect">
            <a:avLst/>
          </a:prstGeom>
          <a:noFill/>
        </p:spPr>
        <p:txBody>
          <a:bodyPr wrap="none" lIns="0" rIns="0" tIns="0" bIns="0">
            <a:spAutoFit/>
          </a:bodyPr>
          <a:lstStyle/>
          <a:p>
            <a:r>
              <a:rPr sz="1150" b="0">
                <a:solidFill>
                  <a:srgbClr val="2E2E2E"/>
                </a:solidFill>
                <a:latin typeface="Calibri"/>
              </a:rPr>
              <a:t>In terms of value share by end-use application, the support for</a:t>
            </a:r>
          </a:p>
        </p:txBody>
      </p:sp>
      <p:sp>
        <p:nvSpPr>
          <p:cNvPr id="44" name="TextBox 43"/>
          <p:cNvSpPr txBox="1"/>
          <p:nvPr/>
        </p:nvSpPr>
        <p:spPr>
          <a:xfrm>
            <a:off x="7829550" y="2329053"/>
            <a:ext cx="3943101" cy="194310"/>
          </a:xfrm>
          <a:prstGeom prst="rect">
            <a:avLst/>
          </a:prstGeom>
          <a:noFill/>
        </p:spPr>
        <p:txBody>
          <a:bodyPr wrap="none" lIns="0" rIns="0" tIns="0" bIns="0">
            <a:spAutoFit/>
          </a:bodyPr>
          <a:lstStyle/>
          <a:p>
            <a:r>
              <a:rPr sz="1150" b="0">
                <a:solidFill>
                  <a:srgbClr val="2E2E2E"/>
                </a:solidFill>
                <a:latin typeface="Calibri"/>
              </a:rPr>
              <a:t>observable age-related cognitive changes segment is expected to</a:t>
            </a:r>
          </a:p>
        </p:txBody>
      </p:sp>
      <p:sp>
        <p:nvSpPr>
          <p:cNvPr id="45" name="TextBox 44"/>
          <p:cNvSpPr txBox="1"/>
          <p:nvPr/>
        </p:nvSpPr>
        <p:spPr>
          <a:xfrm>
            <a:off x="7829550" y="2504313"/>
            <a:ext cx="1755774" cy="194310"/>
          </a:xfrm>
          <a:prstGeom prst="rect">
            <a:avLst/>
          </a:prstGeom>
          <a:noFill/>
        </p:spPr>
        <p:txBody>
          <a:bodyPr wrap="none" lIns="0" rIns="0" tIns="0" bIns="0">
            <a:spAutoFit/>
          </a:bodyPr>
          <a:lstStyle/>
          <a:p>
            <a:r>
              <a:rPr sz="1150" b="0">
                <a:solidFill>
                  <a:srgbClr val="2E2E2E"/>
                </a:solidFill>
                <a:latin typeface="Calibri"/>
              </a:rPr>
              <a:t>dominate the market, losing</a:t>
            </a:r>
          </a:p>
        </p:txBody>
      </p:sp>
      <p:pic>
        <p:nvPicPr>
          <p:cNvPr id="46" name="Picture 45" descr="lock.png"/>
          <p:cNvPicPr>
            <a:picLocks noChangeAspect="1"/>
          </p:cNvPicPr>
          <p:nvPr/>
        </p:nvPicPr>
        <p:blipFill>
          <a:blip r:embed="rId5"/>
          <a:stretch>
            <a:fillRect/>
          </a:stretch>
        </p:blipFill>
        <p:spPr>
          <a:xfrm>
            <a:off x="9534478" y="2494089"/>
            <a:ext cx="134549" cy="195707"/>
          </a:xfrm>
          <a:prstGeom prst="rect">
            <a:avLst/>
          </a:prstGeom>
        </p:spPr>
      </p:pic>
      <p:sp>
        <p:nvSpPr>
          <p:cNvPr id="47" name="TextBox 46"/>
          <p:cNvSpPr txBox="1"/>
          <p:nvPr/>
        </p:nvSpPr>
        <p:spPr>
          <a:xfrm>
            <a:off x="9709588" y="250431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8" name="Picture 47" descr="lock.png"/>
          <p:cNvPicPr>
            <a:picLocks noChangeAspect="1"/>
          </p:cNvPicPr>
          <p:nvPr/>
        </p:nvPicPr>
        <p:blipFill>
          <a:blip r:embed="rId5"/>
          <a:stretch>
            <a:fillRect/>
          </a:stretch>
        </p:blipFill>
        <p:spPr>
          <a:xfrm>
            <a:off x="11104731" y="2494089"/>
            <a:ext cx="134549" cy="195707"/>
          </a:xfrm>
          <a:prstGeom prst="rect">
            <a:avLst/>
          </a:prstGeom>
        </p:spPr>
      </p:pic>
      <p:sp>
        <p:nvSpPr>
          <p:cNvPr id="49" name="TextBox 48"/>
          <p:cNvSpPr txBox="1"/>
          <p:nvPr/>
        </p:nvSpPr>
        <p:spPr>
          <a:xfrm>
            <a:off x="11279840" y="2504313"/>
            <a:ext cx="403671" cy="194310"/>
          </a:xfrm>
          <a:prstGeom prst="rect">
            <a:avLst/>
          </a:prstGeom>
          <a:noFill/>
        </p:spPr>
        <p:txBody>
          <a:bodyPr wrap="none" lIns="0" rIns="0" tIns="0" bIns="0">
            <a:spAutoFit/>
          </a:bodyPr>
          <a:lstStyle/>
          <a:p>
            <a:r>
              <a:rPr sz="1150" b="0">
                <a:solidFill>
                  <a:srgbClr val="2E2E2E"/>
                </a:solidFill>
                <a:latin typeface="Calibri"/>
              </a:rPr>
              <a:t>share</a:t>
            </a:r>
          </a:p>
        </p:txBody>
      </p:sp>
      <p:sp>
        <p:nvSpPr>
          <p:cNvPr id="50" name="TextBox 49"/>
          <p:cNvSpPr txBox="1"/>
          <p:nvPr/>
        </p:nvSpPr>
        <p:spPr>
          <a:xfrm>
            <a:off x="7829550" y="2679573"/>
            <a:ext cx="585663" cy="194310"/>
          </a:xfrm>
          <a:prstGeom prst="rect">
            <a:avLst/>
          </a:prstGeom>
          <a:noFill/>
        </p:spPr>
        <p:txBody>
          <a:bodyPr wrap="none" lIns="0" rIns="0" tIns="0" bIns="0">
            <a:spAutoFit/>
          </a:bodyPr>
          <a:lstStyle/>
          <a:p>
            <a:r>
              <a:rPr sz="1150" b="0">
                <a:solidFill>
                  <a:srgbClr val="2E2E2E"/>
                </a:solidFill>
                <a:latin typeface="Calibri"/>
              </a:rPr>
              <a:t>by 2036.</a:t>
            </a:r>
          </a:p>
        </p:txBody>
      </p:sp>
      <p:sp>
        <p:nvSpPr>
          <p:cNvPr id="51"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Packaging Format</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Packaging Format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Packaging Format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Packaging Format,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Packaging Format segment categorizes the market by packaging format.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Blister Packs</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Sachets</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Canisters</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Pouches</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Jars and Tubs</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Bottles</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Packaging Format split shows how demand is distributed across packaging format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7" name="Picture 76" descr="799_7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1_059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2_9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786_8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938_1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1_8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741_2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1_073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3_8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677_0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1_346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7_1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331_4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596_4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6_1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260_8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341_2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2_7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535411" cy="186689"/>
          </a:xfrm>
          <a:prstGeom prst="rect">
            <a:avLst/>
          </a:prstGeom>
          <a:noFill/>
        </p:spPr>
        <p:txBody>
          <a:bodyPr wrap="none" lIns="0" rIns="0" tIns="0" bIns="0">
            <a:spAutoFit/>
          </a:bodyPr>
          <a:lstStyle/>
          <a:p>
            <a:r>
              <a:rPr sz="1100" b="0">
                <a:solidFill>
                  <a:srgbClr val="2E2E2E"/>
                </a:solidFill>
                <a:latin typeface="Calibri"/>
              </a:rPr>
              <a:t>Among senior dog cognitive supplement by</a:t>
            </a:r>
          </a:p>
        </p:txBody>
      </p:sp>
      <p:sp>
        <p:nvSpPr>
          <p:cNvPr id="102" name="TextBox 101"/>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packaging format, pouches segment is expected to</a:t>
            </a:r>
          </a:p>
        </p:txBody>
      </p:sp>
      <p:sp>
        <p:nvSpPr>
          <p:cNvPr id="103" name="TextBox 102"/>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104" name="Picture 103" descr="lock.png"/>
          <p:cNvPicPr>
            <a:picLocks noChangeAspect="1"/>
          </p:cNvPicPr>
          <p:nvPr/>
        </p:nvPicPr>
        <p:blipFill>
          <a:blip r:embed="rId22"/>
          <a:stretch>
            <a:fillRect/>
          </a:stretch>
        </p:blipFill>
        <p:spPr>
          <a:xfrm>
            <a:off x="2108919" y="4554938"/>
            <a:ext cx="128699" cy="187198"/>
          </a:xfrm>
          <a:prstGeom prst="rect">
            <a:avLst/>
          </a:prstGeom>
        </p:spPr>
      </p:pic>
      <p:sp>
        <p:nvSpPr>
          <p:cNvPr id="105" name="TextBox 104"/>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106" name="TextBox 105"/>
          <p:cNvSpPr txBox="1"/>
          <p:nvPr/>
        </p:nvSpPr>
        <p:spPr>
          <a:xfrm>
            <a:off x="485775" y="4732357"/>
            <a:ext cx="2582341" cy="186689"/>
          </a:xfrm>
          <a:prstGeom prst="rect">
            <a:avLst/>
          </a:prstGeom>
          <a:noFill/>
        </p:spPr>
        <p:txBody>
          <a:bodyPr wrap="none" lIns="0" rIns="0" tIns="0" bIns="0">
            <a:spAutoFit/>
          </a:bodyPr>
          <a:lstStyle/>
          <a:p>
            <a:r>
              <a:rPr sz="1100" b="0">
                <a:solidFill>
                  <a:srgbClr val="2E2E2E"/>
                </a:solidFill>
                <a:latin typeface="Calibri"/>
              </a:rPr>
              <a:t>period. In terms of value share by packaging</a:t>
            </a:r>
          </a:p>
        </p:txBody>
      </p:sp>
      <p:sp>
        <p:nvSpPr>
          <p:cNvPr id="107" name="TextBox 106"/>
          <p:cNvSpPr txBox="1"/>
          <p:nvPr/>
        </p:nvSpPr>
        <p:spPr>
          <a:xfrm>
            <a:off x="485775" y="4899997"/>
            <a:ext cx="2579613" cy="186689"/>
          </a:xfrm>
          <a:prstGeom prst="rect">
            <a:avLst/>
          </a:prstGeom>
          <a:noFill/>
        </p:spPr>
        <p:txBody>
          <a:bodyPr wrap="none" lIns="0" rIns="0" tIns="0" bIns="0">
            <a:spAutoFit/>
          </a:bodyPr>
          <a:lstStyle/>
          <a:p>
            <a:r>
              <a:rPr sz="1100" b="0">
                <a:solidFill>
                  <a:srgbClr val="2E2E2E"/>
                </a:solidFill>
                <a:latin typeface="Calibri"/>
              </a:rPr>
              <a:t>format, the pouches segment is expected to</a:t>
            </a:r>
          </a:p>
        </p:txBody>
      </p:sp>
      <p:sp>
        <p:nvSpPr>
          <p:cNvPr id="108" name="TextBox 107"/>
          <p:cNvSpPr txBox="1"/>
          <p:nvPr/>
        </p:nvSpPr>
        <p:spPr>
          <a:xfrm>
            <a:off x="485775" y="5067637"/>
            <a:ext cx="1760512" cy="186689"/>
          </a:xfrm>
          <a:prstGeom prst="rect">
            <a:avLst/>
          </a:prstGeom>
          <a:noFill/>
        </p:spPr>
        <p:txBody>
          <a:bodyPr wrap="none" lIns="0" rIns="0" tIns="0" bIns="0">
            <a:spAutoFit/>
          </a:bodyPr>
          <a:lstStyle/>
          <a:p>
            <a:r>
              <a:rPr sz="1100" b="0">
                <a:solidFill>
                  <a:srgbClr val="2E2E2E"/>
                </a:solidFill>
                <a:latin typeface="Calibri"/>
              </a:rPr>
              <a:t>dominate the market, gaining</a:t>
            </a:r>
          </a:p>
        </p:txBody>
      </p:sp>
      <p:pic>
        <p:nvPicPr>
          <p:cNvPr id="109" name="Picture 108" descr="lock.png"/>
          <p:cNvPicPr>
            <a:picLocks noChangeAspect="1"/>
          </p:cNvPicPr>
          <p:nvPr/>
        </p:nvPicPr>
        <p:blipFill>
          <a:blip r:embed="rId22"/>
          <a:stretch>
            <a:fillRect/>
          </a:stretch>
        </p:blipFill>
        <p:spPr>
          <a:xfrm>
            <a:off x="2194339" y="5057858"/>
            <a:ext cx="128699" cy="187198"/>
          </a:xfrm>
          <a:prstGeom prst="rect">
            <a:avLst/>
          </a:prstGeom>
        </p:spPr>
      </p:pic>
      <p:sp>
        <p:nvSpPr>
          <p:cNvPr id="110" name="TextBox 109"/>
          <p:cNvSpPr txBox="1"/>
          <p:nvPr/>
        </p:nvSpPr>
        <p:spPr>
          <a:xfrm>
            <a:off x="2361835"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111" name="TextBox 110"/>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112" name="Picture 111" descr="lock.png"/>
          <p:cNvPicPr>
            <a:picLocks noChangeAspect="1"/>
          </p:cNvPicPr>
          <p:nvPr/>
        </p:nvPicPr>
        <p:blipFill>
          <a:blip r:embed="rId22"/>
          <a:stretch>
            <a:fillRect/>
          </a:stretch>
        </p:blipFill>
        <p:spPr>
          <a:xfrm>
            <a:off x="1330764" y="5225498"/>
            <a:ext cx="128699" cy="187198"/>
          </a:xfrm>
          <a:prstGeom prst="rect">
            <a:avLst/>
          </a:prstGeom>
        </p:spPr>
      </p:pic>
      <p:sp>
        <p:nvSpPr>
          <p:cNvPr id="113" name="TextBox 112"/>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4" name="TextBox 113"/>
          <p:cNvSpPr txBox="1"/>
          <p:nvPr/>
        </p:nvSpPr>
        <p:spPr>
          <a:xfrm>
            <a:off x="485775" y="5453209"/>
            <a:ext cx="2393801" cy="186689"/>
          </a:xfrm>
          <a:prstGeom prst="rect">
            <a:avLst/>
          </a:prstGeom>
          <a:noFill/>
        </p:spPr>
        <p:txBody>
          <a:bodyPr wrap="none" lIns="0" rIns="0" tIns="0" bIns="0">
            <a:spAutoFit/>
          </a:bodyPr>
          <a:lstStyle/>
          <a:p>
            <a:r>
              <a:rPr sz="1100" b="0">
                <a:solidFill>
                  <a:srgbClr val="2E2E2E"/>
                </a:solidFill>
                <a:latin typeface="Calibri"/>
              </a:rPr>
              <a:t>Pouches segment is projected to register</a:t>
            </a:r>
          </a:p>
        </p:txBody>
      </p:sp>
      <p:pic>
        <p:nvPicPr>
          <p:cNvPr id="115" name="Picture 114" descr="lock.png"/>
          <p:cNvPicPr>
            <a:picLocks noChangeAspect="1"/>
          </p:cNvPicPr>
          <p:nvPr/>
        </p:nvPicPr>
        <p:blipFill>
          <a:blip r:embed="rId22"/>
          <a:stretch>
            <a:fillRect/>
          </a:stretch>
        </p:blipFill>
        <p:spPr>
          <a:xfrm>
            <a:off x="2827627" y="5443430"/>
            <a:ext cx="128699" cy="187198"/>
          </a:xfrm>
          <a:prstGeom prst="rect">
            <a:avLst/>
          </a:prstGeom>
        </p:spPr>
      </p:pic>
      <p:sp>
        <p:nvSpPr>
          <p:cNvPr id="116" name="TextBox 115"/>
          <p:cNvSpPr txBox="1"/>
          <p:nvPr/>
        </p:nvSpPr>
        <p:spPr>
          <a:xfrm>
            <a:off x="2995123" y="545320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117" name="TextBox 116"/>
          <p:cNvSpPr txBox="1"/>
          <p:nvPr/>
        </p:nvSpPr>
        <p:spPr>
          <a:xfrm>
            <a:off x="485775" y="5620849"/>
            <a:ext cx="2616993" cy="186689"/>
          </a:xfrm>
          <a:prstGeom prst="rect">
            <a:avLst/>
          </a:prstGeom>
          <a:noFill/>
        </p:spPr>
        <p:txBody>
          <a:bodyPr wrap="none" lIns="0" rIns="0" tIns="0" bIns="0">
            <a:spAutoFit/>
          </a:bodyPr>
          <a:lstStyle/>
          <a:p>
            <a:r>
              <a:rPr sz="1100" b="0">
                <a:solidFill>
                  <a:srgbClr val="2E2E2E"/>
                </a:solidFill>
                <a:latin typeface="Calibri"/>
              </a:rPr>
              <a:t>higher value than canisters segment in 2036.</a:t>
            </a:r>
          </a:p>
        </p:txBody>
      </p:sp>
      <p:sp>
        <p:nvSpPr>
          <p:cNvPr id="118" name="TextBox 117"/>
          <p:cNvSpPr txBox="1"/>
          <p:nvPr/>
        </p:nvSpPr>
        <p:spPr>
          <a:xfrm>
            <a:off x="3838575" y="4229437"/>
            <a:ext cx="938138" cy="186689"/>
          </a:xfrm>
          <a:prstGeom prst="rect">
            <a:avLst/>
          </a:prstGeom>
          <a:noFill/>
        </p:spPr>
        <p:txBody>
          <a:bodyPr wrap="none" lIns="0" rIns="0" tIns="0" bIns="0">
            <a:spAutoFit/>
          </a:bodyPr>
          <a:lstStyle/>
          <a:p>
            <a:r>
              <a:rPr sz="1100" b="0">
                <a:solidFill>
                  <a:srgbClr val="2E2E2E"/>
                </a:solidFill>
                <a:latin typeface="Calibri"/>
              </a:rPr>
              <a:t>● Blister Packs:</a:t>
            </a:r>
          </a:p>
        </p:txBody>
      </p:sp>
      <p:pic>
        <p:nvPicPr>
          <p:cNvPr id="119" name="Picture 118" descr="lock.png"/>
          <p:cNvPicPr>
            <a:picLocks noChangeAspect="1"/>
          </p:cNvPicPr>
          <p:nvPr/>
        </p:nvPicPr>
        <p:blipFill>
          <a:blip r:embed="rId22"/>
          <a:stretch>
            <a:fillRect/>
          </a:stretch>
        </p:blipFill>
        <p:spPr>
          <a:xfrm>
            <a:off x="4724764" y="4219658"/>
            <a:ext cx="128699" cy="187198"/>
          </a:xfrm>
          <a:prstGeom prst="rect">
            <a:avLst/>
          </a:prstGeom>
        </p:spPr>
      </p:pic>
      <p:sp>
        <p:nvSpPr>
          <p:cNvPr id="120" name="TextBox 119"/>
          <p:cNvSpPr txBox="1"/>
          <p:nvPr/>
        </p:nvSpPr>
        <p:spPr>
          <a:xfrm>
            <a:off x="489226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1" name="Picture 120" descr="lock.png"/>
          <p:cNvPicPr>
            <a:picLocks noChangeAspect="1"/>
          </p:cNvPicPr>
          <p:nvPr/>
        </p:nvPicPr>
        <p:blipFill>
          <a:blip r:embed="rId22"/>
          <a:stretch>
            <a:fillRect/>
          </a:stretch>
        </p:blipFill>
        <p:spPr>
          <a:xfrm>
            <a:off x="5751710" y="4219658"/>
            <a:ext cx="128699" cy="187198"/>
          </a:xfrm>
          <a:prstGeom prst="rect">
            <a:avLst/>
          </a:prstGeom>
        </p:spPr>
      </p:pic>
      <p:sp>
        <p:nvSpPr>
          <p:cNvPr id="122" name="TextBox 121"/>
          <p:cNvSpPr txBox="1"/>
          <p:nvPr/>
        </p:nvSpPr>
        <p:spPr>
          <a:xfrm>
            <a:off x="5919206"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23" name="TextBox 122"/>
          <p:cNvSpPr txBox="1"/>
          <p:nvPr/>
        </p:nvSpPr>
        <p:spPr>
          <a:xfrm>
            <a:off x="3838575" y="4447369"/>
            <a:ext cx="664195" cy="186689"/>
          </a:xfrm>
          <a:prstGeom prst="rect">
            <a:avLst/>
          </a:prstGeom>
          <a:noFill/>
        </p:spPr>
        <p:txBody>
          <a:bodyPr wrap="none" lIns="0" rIns="0" tIns="0" bIns="0">
            <a:spAutoFit/>
          </a:bodyPr>
          <a:lstStyle/>
          <a:p>
            <a:r>
              <a:rPr sz="1100" b="0">
                <a:solidFill>
                  <a:srgbClr val="2E2E2E"/>
                </a:solidFill>
                <a:latin typeface="Calibri"/>
              </a:rPr>
              <a:t>● Sachets:</a:t>
            </a:r>
          </a:p>
        </p:txBody>
      </p:sp>
      <p:pic>
        <p:nvPicPr>
          <p:cNvPr id="124" name="Picture 123" descr="lock.png"/>
          <p:cNvPicPr>
            <a:picLocks noChangeAspect="1"/>
          </p:cNvPicPr>
          <p:nvPr/>
        </p:nvPicPr>
        <p:blipFill>
          <a:blip r:embed="rId22"/>
          <a:stretch>
            <a:fillRect/>
          </a:stretch>
        </p:blipFill>
        <p:spPr>
          <a:xfrm>
            <a:off x="4450821" y="4437590"/>
            <a:ext cx="128699" cy="187198"/>
          </a:xfrm>
          <a:prstGeom prst="rect">
            <a:avLst/>
          </a:prstGeom>
        </p:spPr>
      </p:pic>
      <p:sp>
        <p:nvSpPr>
          <p:cNvPr id="125" name="TextBox 124"/>
          <p:cNvSpPr txBox="1"/>
          <p:nvPr/>
        </p:nvSpPr>
        <p:spPr>
          <a:xfrm>
            <a:off x="4618317"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6" name="Picture 125" descr="lock.png"/>
          <p:cNvPicPr>
            <a:picLocks noChangeAspect="1"/>
          </p:cNvPicPr>
          <p:nvPr/>
        </p:nvPicPr>
        <p:blipFill>
          <a:blip r:embed="rId22"/>
          <a:stretch>
            <a:fillRect/>
          </a:stretch>
        </p:blipFill>
        <p:spPr>
          <a:xfrm>
            <a:off x="5477767" y="4437590"/>
            <a:ext cx="128699" cy="187198"/>
          </a:xfrm>
          <a:prstGeom prst="rect">
            <a:avLst/>
          </a:prstGeom>
        </p:spPr>
      </p:pic>
      <p:sp>
        <p:nvSpPr>
          <p:cNvPr id="127" name="TextBox 126"/>
          <p:cNvSpPr txBox="1"/>
          <p:nvPr/>
        </p:nvSpPr>
        <p:spPr>
          <a:xfrm>
            <a:off x="5645263"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8" name="TextBox 127"/>
          <p:cNvSpPr txBox="1"/>
          <p:nvPr/>
        </p:nvSpPr>
        <p:spPr>
          <a:xfrm>
            <a:off x="3838575" y="4665301"/>
            <a:ext cx="750961" cy="186689"/>
          </a:xfrm>
          <a:prstGeom prst="rect">
            <a:avLst/>
          </a:prstGeom>
          <a:noFill/>
        </p:spPr>
        <p:txBody>
          <a:bodyPr wrap="none" lIns="0" rIns="0" tIns="0" bIns="0">
            <a:spAutoFit/>
          </a:bodyPr>
          <a:lstStyle/>
          <a:p>
            <a:r>
              <a:rPr sz="1100" b="0">
                <a:solidFill>
                  <a:srgbClr val="2E2E2E"/>
                </a:solidFill>
                <a:latin typeface="Calibri"/>
              </a:rPr>
              <a:t>● Canisters:</a:t>
            </a:r>
          </a:p>
        </p:txBody>
      </p:sp>
      <p:pic>
        <p:nvPicPr>
          <p:cNvPr id="129" name="Picture 128" descr="lock.png"/>
          <p:cNvPicPr>
            <a:picLocks noChangeAspect="1"/>
          </p:cNvPicPr>
          <p:nvPr/>
        </p:nvPicPr>
        <p:blipFill>
          <a:blip r:embed="rId22"/>
          <a:stretch>
            <a:fillRect/>
          </a:stretch>
        </p:blipFill>
        <p:spPr>
          <a:xfrm>
            <a:off x="4537588" y="4655522"/>
            <a:ext cx="128699" cy="187198"/>
          </a:xfrm>
          <a:prstGeom prst="rect">
            <a:avLst/>
          </a:prstGeom>
        </p:spPr>
      </p:pic>
      <p:sp>
        <p:nvSpPr>
          <p:cNvPr id="130" name="TextBox 129"/>
          <p:cNvSpPr txBox="1"/>
          <p:nvPr/>
        </p:nvSpPr>
        <p:spPr>
          <a:xfrm>
            <a:off x="4705084"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1" name="Picture 130" descr="lock.png"/>
          <p:cNvPicPr>
            <a:picLocks noChangeAspect="1"/>
          </p:cNvPicPr>
          <p:nvPr/>
        </p:nvPicPr>
        <p:blipFill>
          <a:blip r:embed="rId22"/>
          <a:stretch>
            <a:fillRect/>
          </a:stretch>
        </p:blipFill>
        <p:spPr>
          <a:xfrm>
            <a:off x="5564534" y="4655522"/>
            <a:ext cx="128699" cy="187198"/>
          </a:xfrm>
          <a:prstGeom prst="rect">
            <a:avLst/>
          </a:prstGeom>
        </p:spPr>
      </p:pic>
      <p:sp>
        <p:nvSpPr>
          <p:cNvPr id="132" name="TextBox 131"/>
          <p:cNvSpPr txBox="1"/>
          <p:nvPr/>
        </p:nvSpPr>
        <p:spPr>
          <a:xfrm>
            <a:off x="5732030"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3" name="TextBox 132"/>
          <p:cNvSpPr txBox="1"/>
          <p:nvPr/>
        </p:nvSpPr>
        <p:spPr>
          <a:xfrm>
            <a:off x="3838575" y="4883233"/>
            <a:ext cx="705668" cy="186689"/>
          </a:xfrm>
          <a:prstGeom prst="rect">
            <a:avLst/>
          </a:prstGeom>
          <a:noFill/>
        </p:spPr>
        <p:txBody>
          <a:bodyPr wrap="none" lIns="0" rIns="0" tIns="0" bIns="0">
            <a:spAutoFit/>
          </a:bodyPr>
          <a:lstStyle/>
          <a:p>
            <a:r>
              <a:rPr sz="1100" b="0">
                <a:solidFill>
                  <a:srgbClr val="2E2E2E"/>
                </a:solidFill>
                <a:latin typeface="Calibri"/>
              </a:rPr>
              <a:t>● Pouches:</a:t>
            </a:r>
          </a:p>
        </p:txBody>
      </p:sp>
      <p:pic>
        <p:nvPicPr>
          <p:cNvPr id="134" name="Picture 133" descr="lock.png"/>
          <p:cNvPicPr>
            <a:picLocks noChangeAspect="1"/>
          </p:cNvPicPr>
          <p:nvPr/>
        </p:nvPicPr>
        <p:blipFill>
          <a:blip r:embed="rId22"/>
          <a:stretch>
            <a:fillRect/>
          </a:stretch>
        </p:blipFill>
        <p:spPr>
          <a:xfrm>
            <a:off x="4492295" y="4873454"/>
            <a:ext cx="128699" cy="187198"/>
          </a:xfrm>
          <a:prstGeom prst="rect">
            <a:avLst/>
          </a:prstGeom>
        </p:spPr>
      </p:pic>
      <p:sp>
        <p:nvSpPr>
          <p:cNvPr id="135" name="TextBox 134"/>
          <p:cNvSpPr txBox="1"/>
          <p:nvPr/>
        </p:nvSpPr>
        <p:spPr>
          <a:xfrm>
            <a:off x="4659790"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6" name="Picture 135" descr="lock.png"/>
          <p:cNvPicPr>
            <a:picLocks noChangeAspect="1"/>
          </p:cNvPicPr>
          <p:nvPr/>
        </p:nvPicPr>
        <p:blipFill>
          <a:blip r:embed="rId22"/>
          <a:stretch>
            <a:fillRect/>
          </a:stretch>
        </p:blipFill>
        <p:spPr>
          <a:xfrm>
            <a:off x="5519241" y="4873454"/>
            <a:ext cx="128699" cy="187198"/>
          </a:xfrm>
          <a:prstGeom prst="rect">
            <a:avLst/>
          </a:prstGeom>
        </p:spPr>
      </p:pic>
      <p:sp>
        <p:nvSpPr>
          <p:cNvPr id="137" name="TextBox 136"/>
          <p:cNvSpPr txBox="1"/>
          <p:nvPr/>
        </p:nvSpPr>
        <p:spPr>
          <a:xfrm>
            <a:off x="5686737" y="4883233"/>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8" name="TextBox 137"/>
          <p:cNvSpPr txBox="1"/>
          <p:nvPr/>
        </p:nvSpPr>
        <p:spPr>
          <a:xfrm>
            <a:off x="3838575" y="5101165"/>
            <a:ext cx="990798" cy="186689"/>
          </a:xfrm>
          <a:prstGeom prst="rect">
            <a:avLst/>
          </a:prstGeom>
          <a:noFill/>
        </p:spPr>
        <p:txBody>
          <a:bodyPr wrap="none" lIns="0" rIns="0" tIns="0" bIns="0">
            <a:spAutoFit/>
          </a:bodyPr>
          <a:lstStyle/>
          <a:p>
            <a:r>
              <a:rPr sz="1100" b="0">
                <a:solidFill>
                  <a:srgbClr val="2E2E2E"/>
                </a:solidFill>
                <a:latin typeface="Calibri"/>
              </a:rPr>
              <a:t>● Jars and Tubs:</a:t>
            </a:r>
          </a:p>
        </p:txBody>
      </p:sp>
      <p:pic>
        <p:nvPicPr>
          <p:cNvPr id="139" name="Picture 138" descr="lock.png"/>
          <p:cNvPicPr>
            <a:picLocks noChangeAspect="1"/>
          </p:cNvPicPr>
          <p:nvPr/>
        </p:nvPicPr>
        <p:blipFill>
          <a:blip r:embed="rId22"/>
          <a:stretch>
            <a:fillRect/>
          </a:stretch>
        </p:blipFill>
        <p:spPr>
          <a:xfrm>
            <a:off x="4777425" y="5091385"/>
            <a:ext cx="128699" cy="187198"/>
          </a:xfrm>
          <a:prstGeom prst="rect">
            <a:avLst/>
          </a:prstGeom>
        </p:spPr>
      </p:pic>
      <p:sp>
        <p:nvSpPr>
          <p:cNvPr id="140" name="TextBox 139"/>
          <p:cNvSpPr txBox="1"/>
          <p:nvPr/>
        </p:nvSpPr>
        <p:spPr>
          <a:xfrm>
            <a:off x="4944920"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1" name="Picture 140" descr="lock.png"/>
          <p:cNvPicPr>
            <a:picLocks noChangeAspect="1"/>
          </p:cNvPicPr>
          <p:nvPr/>
        </p:nvPicPr>
        <p:blipFill>
          <a:blip r:embed="rId22"/>
          <a:stretch>
            <a:fillRect/>
          </a:stretch>
        </p:blipFill>
        <p:spPr>
          <a:xfrm>
            <a:off x="5804371" y="5091385"/>
            <a:ext cx="128699" cy="187198"/>
          </a:xfrm>
          <a:prstGeom prst="rect">
            <a:avLst/>
          </a:prstGeom>
        </p:spPr>
      </p:pic>
      <p:sp>
        <p:nvSpPr>
          <p:cNvPr id="142" name="TextBox 141"/>
          <p:cNvSpPr txBox="1"/>
          <p:nvPr/>
        </p:nvSpPr>
        <p:spPr>
          <a:xfrm>
            <a:off x="5971866" y="5101165"/>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3" name="TextBox 142"/>
          <p:cNvSpPr txBox="1"/>
          <p:nvPr/>
        </p:nvSpPr>
        <p:spPr>
          <a:xfrm>
            <a:off x="3838575" y="5319097"/>
            <a:ext cx="629542" cy="186689"/>
          </a:xfrm>
          <a:prstGeom prst="rect">
            <a:avLst/>
          </a:prstGeom>
          <a:noFill/>
        </p:spPr>
        <p:txBody>
          <a:bodyPr wrap="none" lIns="0" rIns="0" tIns="0" bIns="0">
            <a:spAutoFit/>
          </a:bodyPr>
          <a:lstStyle/>
          <a:p>
            <a:r>
              <a:rPr sz="1100" b="0">
                <a:solidFill>
                  <a:srgbClr val="2E2E2E"/>
                </a:solidFill>
                <a:latin typeface="Calibri"/>
              </a:rPr>
              <a:t>● Bottles:</a:t>
            </a:r>
          </a:p>
        </p:txBody>
      </p:sp>
      <p:pic>
        <p:nvPicPr>
          <p:cNvPr id="144" name="Picture 143" descr="lock.png"/>
          <p:cNvPicPr>
            <a:picLocks noChangeAspect="1"/>
          </p:cNvPicPr>
          <p:nvPr/>
        </p:nvPicPr>
        <p:blipFill>
          <a:blip r:embed="rId22"/>
          <a:stretch>
            <a:fillRect/>
          </a:stretch>
        </p:blipFill>
        <p:spPr>
          <a:xfrm>
            <a:off x="4416169" y="5309317"/>
            <a:ext cx="128699" cy="187198"/>
          </a:xfrm>
          <a:prstGeom prst="rect">
            <a:avLst/>
          </a:prstGeom>
        </p:spPr>
      </p:pic>
      <p:sp>
        <p:nvSpPr>
          <p:cNvPr id="145" name="TextBox 144"/>
          <p:cNvSpPr txBox="1"/>
          <p:nvPr/>
        </p:nvSpPr>
        <p:spPr>
          <a:xfrm>
            <a:off x="4583665" y="531909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6" name="Picture 145" descr="lock.png"/>
          <p:cNvPicPr>
            <a:picLocks noChangeAspect="1"/>
          </p:cNvPicPr>
          <p:nvPr/>
        </p:nvPicPr>
        <p:blipFill>
          <a:blip r:embed="rId22"/>
          <a:stretch>
            <a:fillRect/>
          </a:stretch>
        </p:blipFill>
        <p:spPr>
          <a:xfrm>
            <a:off x="5443115" y="5309317"/>
            <a:ext cx="128699" cy="187198"/>
          </a:xfrm>
          <a:prstGeom prst="rect">
            <a:avLst/>
          </a:prstGeom>
        </p:spPr>
      </p:pic>
      <p:sp>
        <p:nvSpPr>
          <p:cNvPr id="147" name="TextBox 146"/>
          <p:cNvSpPr txBox="1"/>
          <p:nvPr/>
        </p:nvSpPr>
        <p:spPr>
          <a:xfrm>
            <a:off x="5610611" y="531909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8" name="TextBox 147"/>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Packaging Format segment is projected to grow</a:t>
            </a:r>
          </a:p>
        </p:txBody>
      </p:sp>
      <p:sp>
        <p:nvSpPr>
          <p:cNvPr id="149" name="TextBox 148"/>
          <p:cNvSpPr txBox="1"/>
          <p:nvPr/>
        </p:nvSpPr>
        <p:spPr>
          <a:xfrm>
            <a:off x="8524875" y="6017901"/>
            <a:ext cx="836089" cy="194310"/>
          </a:xfrm>
          <a:prstGeom prst="rect">
            <a:avLst/>
          </a:prstGeom>
          <a:noFill/>
        </p:spPr>
        <p:txBody>
          <a:bodyPr wrap="none" lIns="0" rIns="0" tIns="0" bIns="0">
            <a:spAutoFit/>
          </a:bodyPr>
          <a:lstStyle/>
          <a:p>
            <a:r>
              <a:rPr sz="1150" b="1">
                <a:solidFill>
                  <a:srgbClr val="0B2E4A"/>
                </a:solidFill>
                <a:latin typeface="Calibri"/>
              </a:rPr>
              <a:t>at a CAGR of</a:t>
            </a:r>
          </a:p>
        </p:txBody>
      </p:sp>
      <p:pic>
        <p:nvPicPr>
          <p:cNvPr id="150" name="Picture 149" descr="lock.png"/>
          <p:cNvPicPr>
            <a:picLocks noChangeAspect="1"/>
          </p:cNvPicPr>
          <p:nvPr/>
        </p:nvPicPr>
        <p:blipFill>
          <a:blip r:embed="rId22"/>
          <a:stretch>
            <a:fillRect/>
          </a:stretch>
        </p:blipFill>
        <p:spPr>
          <a:xfrm>
            <a:off x="9310118" y="6007677"/>
            <a:ext cx="134549" cy="195707"/>
          </a:xfrm>
          <a:prstGeom prst="rect">
            <a:avLst/>
          </a:prstGeom>
        </p:spPr>
      </p:pic>
      <p:sp>
        <p:nvSpPr>
          <p:cNvPr id="151" name="TextBox 150"/>
          <p:cNvSpPr txBox="1"/>
          <p:nvPr/>
        </p:nvSpPr>
        <p:spPr>
          <a:xfrm>
            <a:off x="9485227"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Packaging Format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Packaging Format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Packaging Format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Packaging Format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390535" cy="186689"/>
          </a:xfrm>
          <a:prstGeom prst="rect">
            <a:avLst/>
          </a:prstGeom>
          <a:noFill/>
        </p:spPr>
        <p:txBody>
          <a:bodyPr wrap="none" lIns="0" rIns="0" tIns="0" bIns="0">
            <a:spAutoFit/>
          </a:bodyPr>
          <a:lstStyle/>
          <a:p>
            <a:r>
              <a:rPr sz="1100" b="0">
                <a:solidFill>
                  <a:srgbClr val="2E2E2E"/>
                </a:solidFill>
                <a:latin typeface="Calibri"/>
              </a:rPr>
              <a:t>Pouches followed by canisters are expected to be the two most attractive packaging format segments in the North America senior dog cognitive supplement market in terms of value over the forecast</a:t>
            </a:r>
          </a:p>
        </p:txBody>
      </p:sp>
      <p:sp>
        <p:nvSpPr>
          <p:cNvPr id="20" name="TextBox 19"/>
          <p:cNvSpPr txBox="1"/>
          <p:nvPr/>
        </p:nvSpPr>
        <p:spPr>
          <a:xfrm>
            <a:off x="257175" y="5945505"/>
            <a:ext cx="3131301" cy="186689"/>
          </a:xfrm>
          <a:prstGeom prst="rect">
            <a:avLst/>
          </a:prstGeom>
          <a:noFill/>
        </p:spPr>
        <p:txBody>
          <a:bodyPr wrap="none" lIns="0" rIns="0" tIns="0" bIns="0">
            <a:spAutoFit/>
          </a:bodyPr>
          <a:lstStyle/>
          <a:p>
            <a:r>
              <a:rPr sz="1100" b="0">
                <a:solidFill>
                  <a:srgbClr val="2E2E2E"/>
                </a:solidFill>
                <a:latin typeface="Calibri"/>
              </a:rPr>
              <a:t>period. Pouches and canisters exhibit a CAGR index of</a:t>
            </a:r>
          </a:p>
        </p:txBody>
      </p:sp>
      <p:pic>
        <p:nvPicPr>
          <p:cNvPr id="21" name="Picture 20" descr="lock.png"/>
          <p:cNvPicPr>
            <a:picLocks noChangeAspect="1"/>
          </p:cNvPicPr>
          <p:nvPr/>
        </p:nvPicPr>
        <p:blipFill>
          <a:blip r:embed="rId6"/>
          <a:stretch>
            <a:fillRect/>
          </a:stretch>
        </p:blipFill>
        <p:spPr>
          <a:xfrm>
            <a:off x="3336528" y="5935726"/>
            <a:ext cx="128699" cy="187198"/>
          </a:xfrm>
          <a:prstGeom prst="rect">
            <a:avLst/>
          </a:prstGeom>
        </p:spPr>
      </p:pic>
      <p:sp>
        <p:nvSpPr>
          <p:cNvPr id="22" name="TextBox 21"/>
          <p:cNvSpPr txBox="1"/>
          <p:nvPr/>
        </p:nvSpPr>
        <p:spPr>
          <a:xfrm>
            <a:off x="3504024"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3741918" y="5935726"/>
            <a:ext cx="128699" cy="187198"/>
          </a:xfrm>
          <a:prstGeom prst="rect">
            <a:avLst/>
          </a:prstGeom>
        </p:spPr>
      </p:pic>
      <p:sp>
        <p:nvSpPr>
          <p:cNvPr id="24" name="TextBox 23"/>
          <p:cNvSpPr txBox="1"/>
          <p:nvPr/>
        </p:nvSpPr>
        <p:spPr>
          <a:xfrm>
            <a:off x="3909414"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5518387" y="5935726"/>
            <a:ext cx="128699" cy="187198"/>
          </a:xfrm>
          <a:prstGeom prst="rect">
            <a:avLst/>
          </a:prstGeom>
        </p:spPr>
      </p:pic>
      <p:sp>
        <p:nvSpPr>
          <p:cNvPr id="26" name="TextBox 25"/>
          <p:cNvSpPr txBox="1"/>
          <p:nvPr/>
        </p:nvSpPr>
        <p:spPr>
          <a:xfrm>
            <a:off x="5685883"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5923778" y="5935726"/>
            <a:ext cx="128699" cy="187198"/>
          </a:xfrm>
          <a:prstGeom prst="rect">
            <a:avLst/>
          </a:prstGeom>
        </p:spPr>
      </p:pic>
      <p:sp>
        <p:nvSpPr>
          <p:cNvPr id="28" name="TextBox 27"/>
          <p:cNvSpPr txBox="1"/>
          <p:nvPr/>
        </p:nvSpPr>
        <p:spPr>
          <a:xfrm>
            <a:off x="6091273"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8645678" y="5935726"/>
            <a:ext cx="128699" cy="187198"/>
          </a:xfrm>
          <a:prstGeom prst="rect">
            <a:avLst/>
          </a:prstGeom>
        </p:spPr>
      </p:pic>
      <p:sp>
        <p:nvSpPr>
          <p:cNvPr id="30" name="TextBox 29"/>
          <p:cNvSpPr txBox="1"/>
          <p:nvPr/>
        </p:nvSpPr>
        <p:spPr>
          <a:xfrm>
            <a:off x="8813173" y="5945505"/>
            <a:ext cx="2547962" cy="186689"/>
          </a:xfrm>
          <a:prstGeom prst="rect">
            <a:avLst/>
          </a:prstGeom>
          <a:noFill/>
        </p:spPr>
        <p:txBody>
          <a:bodyPr wrap="none" lIns="0" rIns="0" tIns="0" bIns="0">
            <a:spAutoFit/>
          </a:bodyPr>
          <a:lstStyle/>
          <a:p>
            <a:r>
              <a:rPr sz="1100" b="0">
                <a:solidFill>
                  <a:srgbClr val="2E2E2E"/>
                </a:solidFill>
                <a:latin typeface="Calibri"/>
              </a:rPr>
              <a:t>. The bottles segment is expected to be less</a:t>
            </a:r>
          </a:p>
        </p:txBody>
      </p:sp>
      <p:sp>
        <p:nvSpPr>
          <p:cNvPr id="31" name="TextBox 30"/>
          <p:cNvSpPr txBox="1"/>
          <p:nvPr/>
        </p:nvSpPr>
        <p:spPr>
          <a:xfrm>
            <a:off x="257175" y="6113145"/>
            <a:ext cx="11338386" cy="186689"/>
          </a:xfrm>
          <a:prstGeom prst="rect">
            <a:avLst/>
          </a:prstGeom>
          <a:noFill/>
        </p:spPr>
        <p:txBody>
          <a:bodyPr wrap="none" lIns="0" rIns="0" tIns="0" bIns="0">
            <a:spAutoFit/>
          </a:bodyPr>
          <a:lstStyle/>
          <a:p>
            <a:r>
              <a:rPr sz="1100" b="0">
                <a:solidFill>
                  <a:srgbClr val="2E2E2E"/>
                </a:solidFill>
                <a:latin typeface="Calibri"/>
              </a:rPr>
              <a:t>attractive as compared to other segments over the forecast period, owing to its lower CAGR and incremental opportunity.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Packaging Format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Packaging Format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Bottles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Jars and Tubs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Pouches</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Sachets</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Packaging Format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Packaging Format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Blister Packs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Canisters</a:t>
            </a:r>
          </a:p>
        </p:txBody>
      </p:sp>
      <p:graphicFrame>
        <p:nvGraphicFramePr>
          <p:cNvPr id="15" name="Chart 14"/>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Packaging Format</a:t>
            </a:r>
          </a:p>
        </p:txBody>
      </p:sp>
      <p:sp>
        <p:nvSpPr>
          <p:cNvPr id="18" name="Rectangle 17"/>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6"/>
          <a:stretch>
            <a:fillRect/>
          </a:stretch>
        </p:blipFill>
        <p:spPr>
          <a:xfrm>
            <a:off x="3094826" y="2237234"/>
            <a:ext cx="263506" cy="383281"/>
          </a:xfrm>
          <a:prstGeom prst="rect">
            <a:avLst/>
          </a:prstGeom>
        </p:spPr>
      </p:pic>
      <p:pic>
        <p:nvPicPr>
          <p:cNvPr id="22" name="Picture 21" descr="lock.png"/>
          <p:cNvPicPr>
            <a:picLocks noChangeAspect="1"/>
          </p:cNvPicPr>
          <p:nvPr/>
        </p:nvPicPr>
        <p:blipFill>
          <a:blip r:embed="rId6"/>
          <a:stretch>
            <a:fillRect/>
          </a:stretch>
        </p:blipFill>
        <p:spPr>
          <a:xfrm>
            <a:off x="3094826" y="5123309"/>
            <a:ext cx="263506" cy="383281"/>
          </a:xfrm>
          <a:prstGeom prst="rect">
            <a:avLst/>
          </a:prstGeom>
        </p:spPr>
      </p:pic>
      <p:sp>
        <p:nvSpPr>
          <p:cNvPr id="23" name="TextBox 22"/>
          <p:cNvSpPr txBox="1"/>
          <p:nvPr/>
        </p:nvSpPr>
        <p:spPr>
          <a:xfrm>
            <a:off x="6305550" y="1598245"/>
            <a:ext cx="4000130" cy="194310"/>
          </a:xfrm>
          <a:prstGeom prst="rect">
            <a:avLst/>
          </a:prstGeom>
          <a:noFill/>
        </p:spPr>
        <p:txBody>
          <a:bodyPr wrap="none" lIns="0" rIns="0" tIns="0" bIns="0">
            <a:spAutoFit/>
          </a:bodyPr>
          <a:lstStyle/>
          <a:p>
            <a:r>
              <a:rPr sz="1150" b="0">
                <a:solidFill>
                  <a:srgbClr val="2E2E2E"/>
                </a:solidFill>
                <a:latin typeface="Calibri"/>
              </a:rPr>
              <a:t>By 2036, pouches segment is anticipated to witness an increase of</a:t>
            </a:r>
          </a:p>
        </p:txBody>
      </p:sp>
      <p:pic>
        <p:nvPicPr>
          <p:cNvPr id="24" name="Picture 23" descr="lock.png"/>
          <p:cNvPicPr>
            <a:picLocks noChangeAspect="1"/>
          </p:cNvPicPr>
          <p:nvPr/>
        </p:nvPicPr>
        <p:blipFill>
          <a:blip r:embed="rId6"/>
          <a:stretch>
            <a:fillRect/>
          </a:stretch>
        </p:blipFill>
        <p:spPr>
          <a:xfrm>
            <a:off x="10254834" y="1588021"/>
            <a:ext cx="134549" cy="195707"/>
          </a:xfrm>
          <a:prstGeom prst="rect">
            <a:avLst/>
          </a:prstGeom>
        </p:spPr>
      </p:pic>
      <p:sp>
        <p:nvSpPr>
          <p:cNvPr id="25" name="TextBox 24"/>
          <p:cNvSpPr txBox="1"/>
          <p:nvPr/>
        </p:nvSpPr>
        <p:spPr>
          <a:xfrm>
            <a:off x="10429943" y="1598245"/>
            <a:ext cx="1341871" cy="194310"/>
          </a:xfrm>
          <a:prstGeom prst="rect">
            <a:avLst/>
          </a:prstGeom>
          <a:noFill/>
        </p:spPr>
        <p:txBody>
          <a:bodyPr wrap="none" lIns="0" rIns="0" tIns="0" bIns="0">
            <a:spAutoFit/>
          </a:bodyPr>
          <a:lstStyle/>
          <a:p>
            <a:r>
              <a:rPr sz="1150" b="0">
                <a:solidFill>
                  <a:srgbClr val="2E2E2E"/>
                </a:solidFill>
                <a:latin typeface="Calibri"/>
              </a:rPr>
              <a:t>X in terms of value as</a:t>
            </a:r>
          </a:p>
        </p:txBody>
      </p:sp>
      <p:sp>
        <p:nvSpPr>
          <p:cNvPr id="26" name="TextBox 25"/>
          <p:cNvSpPr txBox="1"/>
          <p:nvPr/>
        </p:nvSpPr>
        <p:spPr>
          <a:xfrm>
            <a:off x="6305550" y="1773505"/>
            <a:ext cx="5591175" cy="194310"/>
          </a:xfrm>
          <a:prstGeom prst="rect">
            <a:avLst/>
          </a:prstGeom>
          <a:noFill/>
        </p:spPr>
        <p:txBody>
          <a:bodyPr wrap="none" lIns="0" rIns="0" tIns="0" bIns="0">
            <a:spAutoFit/>
          </a:bodyPr>
          <a:lstStyle/>
          <a:p>
            <a:r>
              <a:rPr sz="1150" b="0">
                <a:solidFill>
                  <a:srgbClr val="2E2E2E"/>
                </a:solidFill>
                <a:latin typeface="Calibri"/>
              </a:rPr>
              <a:t>compared to 2026. The pouches segment is expected to create an incremental opportunity of</a:t>
            </a:r>
          </a:p>
        </p:txBody>
      </p:sp>
      <p:sp>
        <p:nvSpPr>
          <p:cNvPr id="27" name="TextBox 26"/>
          <p:cNvSpPr txBox="1"/>
          <p:nvPr/>
        </p:nvSpPr>
        <p:spPr>
          <a:xfrm>
            <a:off x="6305550" y="1948765"/>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28" name="Picture 27" descr="lock.png"/>
          <p:cNvPicPr>
            <a:picLocks noChangeAspect="1"/>
          </p:cNvPicPr>
          <p:nvPr/>
        </p:nvPicPr>
        <p:blipFill>
          <a:blip r:embed="rId6"/>
          <a:stretch>
            <a:fillRect/>
          </a:stretch>
        </p:blipFill>
        <p:spPr>
          <a:xfrm>
            <a:off x="6565953" y="1938541"/>
            <a:ext cx="134549" cy="195707"/>
          </a:xfrm>
          <a:prstGeom prst="rect">
            <a:avLst/>
          </a:prstGeom>
        </p:spPr>
      </p:pic>
      <p:sp>
        <p:nvSpPr>
          <p:cNvPr id="29" name="TextBox 28"/>
          <p:cNvSpPr txBox="1"/>
          <p:nvPr/>
        </p:nvSpPr>
        <p:spPr>
          <a:xfrm>
            <a:off x="6741062" y="1948765"/>
            <a:ext cx="4760354" cy="194310"/>
          </a:xfrm>
          <a:prstGeom prst="rect">
            <a:avLst/>
          </a:prstGeom>
          <a:noFill/>
        </p:spPr>
        <p:txBody>
          <a:bodyPr wrap="none" lIns="0" rIns="0" tIns="0" bIns="0">
            <a:spAutoFit/>
          </a:bodyPr>
          <a:lstStyle/>
          <a:p>
            <a:r>
              <a:rPr sz="1150" b="0">
                <a:solidFill>
                  <a:srgbClr val="2E2E2E"/>
                </a:solidFill>
                <a:latin typeface="Calibri"/>
              </a:rPr>
              <a:t>Mn for the overall senior dog cognitive supplement market from 2026 to 2036.</a:t>
            </a:r>
          </a:p>
        </p:txBody>
      </p:sp>
      <p:sp>
        <p:nvSpPr>
          <p:cNvPr id="30" name="TextBox 29"/>
          <p:cNvSpPr txBox="1"/>
          <p:nvPr/>
        </p:nvSpPr>
        <p:spPr>
          <a:xfrm>
            <a:off x="6305550" y="2176603"/>
            <a:ext cx="4772049" cy="194310"/>
          </a:xfrm>
          <a:prstGeom prst="rect">
            <a:avLst/>
          </a:prstGeom>
          <a:noFill/>
        </p:spPr>
        <p:txBody>
          <a:bodyPr wrap="none" lIns="0" rIns="0" tIns="0" bIns="0">
            <a:spAutoFit/>
          </a:bodyPr>
          <a:lstStyle/>
          <a:p>
            <a:r>
              <a:rPr sz="1150" b="0">
                <a:solidFill>
                  <a:srgbClr val="2E2E2E"/>
                </a:solidFill>
                <a:latin typeface="Calibri"/>
              </a:rPr>
              <a:t>The canisters segment is expected to create an incremental opportunity of US$</a:t>
            </a:r>
          </a:p>
        </p:txBody>
      </p:sp>
      <p:pic>
        <p:nvPicPr>
          <p:cNvPr id="31" name="Picture 30" descr="lock.png"/>
          <p:cNvPicPr>
            <a:picLocks noChangeAspect="1"/>
          </p:cNvPicPr>
          <p:nvPr/>
        </p:nvPicPr>
        <p:blipFill>
          <a:blip r:embed="rId6"/>
          <a:stretch>
            <a:fillRect/>
          </a:stretch>
        </p:blipFill>
        <p:spPr>
          <a:xfrm>
            <a:off x="11026753" y="2166379"/>
            <a:ext cx="134549" cy="195707"/>
          </a:xfrm>
          <a:prstGeom prst="rect">
            <a:avLst/>
          </a:prstGeom>
        </p:spPr>
      </p:pic>
      <p:sp>
        <p:nvSpPr>
          <p:cNvPr id="32" name="TextBox 31"/>
          <p:cNvSpPr txBox="1"/>
          <p:nvPr/>
        </p:nvSpPr>
        <p:spPr>
          <a:xfrm>
            <a:off x="11201863" y="2176603"/>
            <a:ext cx="483542" cy="194310"/>
          </a:xfrm>
          <a:prstGeom prst="rect">
            <a:avLst/>
          </a:prstGeom>
          <a:noFill/>
        </p:spPr>
        <p:txBody>
          <a:bodyPr wrap="none" lIns="0" rIns="0" tIns="0" bIns="0">
            <a:spAutoFit/>
          </a:bodyPr>
          <a:lstStyle/>
          <a:p>
            <a:r>
              <a:rPr sz="1150" b="0">
                <a:solidFill>
                  <a:srgbClr val="2E2E2E"/>
                </a:solidFill>
                <a:latin typeface="Calibri"/>
              </a:rPr>
              <a:t>Mn for</a:t>
            </a:r>
          </a:p>
        </p:txBody>
      </p:sp>
      <p:sp>
        <p:nvSpPr>
          <p:cNvPr id="33" name="TextBox 32"/>
          <p:cNvSpPr txBox="1"/>
          <p:nvPr/>
        </p:nvSpPr>
        <p:spPr>
          <a:xfrm>
            <a:off x="6305550" y="2351863"/>
            <a:ext cx="5369086" cy="194310"/>
          </a:xfrm>
          <a:prstGeom prst="rect">
            <a:avLst/>
          </a:prstGeom>
          <a:noFill/>
        </p:spPr>
        <p:txBody>
          <a:bodyPr wrap="none" lIns="0" rIns="0" tIns="0" bIns="0">
            <a:spAutoFit/>
          </a:bodyPr>
          <a:lstStyle/>
          <a:p>
            <a:r>
              <a:rPr sz="1150" b="0">
                <a:solidFill>
                  <a:srgbClr val="2E2E2E"/>
                </a:solidFill>
                <a:latin typeface="Calibri"/>
              </a:rPr>
              <a:t>the overall senior dog cognitive supplement market from 2026 to 2036. The jars and tubs</a:t>
            </a:r>
          </a:p>
        </p:txBody>
      </p:sp>
      <p:sp>
        <p:nvSpPr>
          <p:cNvPr id="34" name="TextBox 33"/>
          <p:cNvSpPr txBox="1"/>
          <p:nvPr/>
        </p:nvSpPr>
        <p:spPr>
          <a:xfrm>
            <a:off x="6305550" y="2527123"/>
            <a:ext cx="3955938" cy="194310"/>
          </a:xfrm>
          <a:prstGeom prst="rect">
            <a:avLst/>
          </a:prstGeom>
          <a:noFill/>
        </p:spPr>
        <p:txBody>
          <a:bodyPr wrap="none" lIns="0" rIns="0" tIns="0" bIns="0">
            <a:spAutoFit/>
          </a:bodyPr>
          <a:lstStyle/>
          <a:p>
            <a:r>
              <a:rPr sz="1150" b="0">
                <a:solidFill>
                  <a:srgbClr val="2E2E2E"/>
                </a:solidFill>
                <a:latin typeface="Calibri"/>
              </a:rPr>
              <a:t>segment is expected to create an incremental opportunity of US$</a:t>
            </a:r>
          </a:p>
        </p:txBody>
      </p:sp>
      <p:pic>
        <p:nvPicPr>
          <p:cNvPr id="35" name="Picture 34" descr="lock.png"/>
          <p:cNvPicPr>
            <a:picLocks noChangeAspect="1"/>
          </p:cNvPicPr>
          <p:nvPr/>
        </p:nvPicPr>
        <p:blipFill>
          <a:blip r:embed="rId6"/>
          <a:stretch>
            <a:fillRect/>
          </a:stretch>
        </p:blipFill>
        <p:spPr>
          <a:xfrm>
            <a:off x="10210642" y="2516899"/>
            <a:ext cx="134549" cy="195707"/>
          </a:xfrm>
          <a:prstGeom prst="rect">
            <a:avLst/>
          </a:prstGeom>
        </p:spPr>
      </p:pic>
      <p:sp>
        <p:nvSpPr>
          <p:cNvPr id="36" name="TextBox 35"/>
          <p:cNvSpPr txBox="1"/>
          <p:nvPr/>
        </p:nvSpPr>
        <p:spPr>
          <a:xfrm>
            <a:off x="10385751" y="2527123"/>
            <a:ext cx="1152177" cy="194310"/>
          </a:xfrm>
          <a:prstGeom prst="rect">
            <a:avLst/>
          </a:prstGeom>
          <a:noFill/>
        </p:spPr>
        <p:txBody>
          <a:bodyPr wrap="none" lIns="0" rIns="0" tIns="0" bIns="0">
            <a:spAutoFit/>
          </a:bodyPr>
          <a:lstStyle/>
          <a:p>
            <a:r>
              <a:rPr sz="1150" b="0">
                <a:solidFill>
                  <a:srgbClr val="2E2E2E"/>
                </a:solidFill>
                <a:latin typeface="Calibri"/>
              </a:rPr>
              <a:t>Mn for the overall</a:t>
            </a:r>
          </a:p>
        </p:txBody>
      </p:sp>
      <p:sp>
        <p:nvSpPr>
          <p:cNvPr id="37" name="TextBox 36"/>
          <p:cNvSpPr txBox="1"/>
          <p:nvPr/>
        </p:nvSpPr>
        <p:spPr>
          <a:xfrm>
            <a:off x="6305550" y="2702383"/>
            <a:ext cx="3651287" cy="194310"/>
          </a:xfrm>
          <a:prstGeom prst="rect">
            <a:avLst/>
          </a:prstGeom>
          <a:noFill/>
        </p:spPr>
        <p:txBody>
          <a:bodyPr wrap="none" lIns="0" rIns="0" tIns="0" bIns="0">
            <a:spAutoFit/>
          </a:bodyPr>
          <a:lstStyle/>
          <a:p>
            <a:r>
              <a:rPr sz="1150" b="0">
                <a:solidFill>
                  <a:srgbClr val="2E2E2E"/>
                </a:solidFill>
                <a:latin typeface="Calibri"/>
              </a:rPr>
              <a:t>senior dog cognitive supplement market from 2026 to 2036.</a:t>
            </a:r>
          </a:p>
        </p:txBody>
      </p:sp>
      <p:sp>
        <p:nvSpPr>
          <p:cNvPr id="38"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ockshield_15"/>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Packaging Format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Packaging Format, 2021–2036, highlighting the sub-segments driving growth</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Packaging Format (US$ Mn)</a:t>
            </a:r>
          </a:p>
        </p:txBody>
      </p:sp>
      <p:graphicFrame>
        <p:nvGraphicFramePr>
          <p:cNvPr id="12" name="Table 11"/>
          <p:cNvGraphicFramePr>
            <a:graphicFrameLocks noGrp="1"/>
          </p:cNvGraphicFramePr>
          <p:nvPr/>
        </p:nvGraphicFramePr>
        <p:xfrm>
          <a:off x="152400" y="1238250"/>
          <a:ext cx="11887199" cy="1971675"/>
        </p:xfrm>
        <a:graphic>
          <a:graphicData uri="http://schemas.openxmlformats.org/drawingml/2006/table">
            <a:tbl>
              <a:tblPr>
                <a:tableStyleId>{5C22544A-7EE6-4342-B048-85BDC9FD1C3A}</a:tableStyleId>
              </a:tblPr>
              <a:tblGrid>
                <a:gridCol w="1313658"/>
                <a:gridCol w="621973"/>
                <a:gridCol w="621973"/>
                <a:gridCol w="621973"/>
                <a:gridCol w="621973"/>
                <a:gridCol w="621973"/>
                <a:gridCol w="621973"/>
                <a:gridCol w="621973"/>
                <a:gridCol w="621973"/>
                <a:gridCol w="621973"/>
                <a:gridCol w="621973"/>
                <a:gridCol w="621973"/>
                <a:gridCol w="621973"/>
                <a:gridCol w="621973"/>
                <a:gridCol w="621973"/>
                <a:gridCol w="621973"/>
                <a:gridCol w="621973"/>
                <a:gridCol w="621973"/>
              </a:tblGrid>
              <a:tr h="246126">
                <a:tc>
                  <a:txBody>
                    <a:bodyPr wrap="none"/>
                    <a:lstStyle/>
                    <a:p>
                      <a:pPr algn="l"/>
                      <a:r>
                        <a:rPr sz="1100" b="1">
                          <a:solidFill>
                            <a:srgbClr val="0B2E4A"/>
                          </a:solidFill>
                          <a:latin typeface="Calibri"/>
                        </a:rPr>
                        <a:t>Packaging Format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Bottles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Jars and Tubs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Pouches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Sachets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Blister Packs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Canisters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Packaging Format</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66138" y="2080450"/>
            <a:ext cx="366712" cy="533400"/>
          </a:xfrm>
          <a:prstGeom prst="rect">
            <a:avLst/>
          </a:prstGeom>
        </p:spPr>
      </p:pic>
      <p:sp>
        <p:nvSpPr>
          <p:cNvPr id="20" name="TextBox 19"/>
          <p:cNvSpPr txBox="1"/>
          <p:nvPr/>
        </p:nvSpPr>
        <p:spPr>
          <a:xfrm>
            <a:off x="276225" y="3971925"/>
            <a:ext cx="2499146" cy="194310"/>
          </a:xfrm>
          <a:prstGeom prst="rect">
            <a:avLst/>
          </a:prstGeom>
          <a:noFill/>
        </p:spPr>
        <p:txBody>
          <a:bodyPr wrap="none" lIns="0" rIns="0" tIns="0" bIns="0">
            <a:spAutoFit/>
          </a:bodyPr>
          <a:lstStyle/>
          <a:p>
            <a:r>
              <a:rPr sz="1150" b="0">
                <a:solidFill>
                  <a:srgbClr val="2E2E2E"/>
                </a:solidFill>
                <a:latin typeface="Calibri"/>
              </a:rPr>
              <a:t>Pouches segment is projected to register</a:t>
            </a:r>
          </a:p>
        </p:txBody>
      </p:sp>
      <p:pic>
        <p:nvPicPr>
          <p:cNvPr id="21" name="Picture 20" descr="lock.png"/>
          <p:cNvPicPr>
            <a:picLocks noChangeAspect="1"/>
          </p:cNvPicPr>
          <p:nvPr/>
        </p:nvPicPr>
        <p:blipFill>
          <a:blip r:embed="rId4"/>
          <a:stretch>
            <a:fillRect/>
          </a:stretch>
        </p:blipFill>
        <p:spPr>
          <a:xfrm>
            <a:off x="2724525" y="3961701"/>
            <a:ext cx="134549" cy="195707"/>
          </a:xfrm>
          <a:prstGeom prst="rect">
            <a:avLst/>
          </a:prstGeom>
        </p:spPr>
      </p:pic>
      <p:sp>
        <p:nvSpPr>
          <p:cNvPr id="22" name="TextBox 21"/>
          <p:cNvSpPr txBox="1"/>
          <p:nvPr/>
        </p:nvSpPr>
        <p:spPr>
          <a:xfrm>
            <a:off x="2899634" y="3971925"/>
            <a:ext cx="8973839" cy="194310"/>
          </a:xfrm>
          <a:prstGeom prst="rect">
            <a:avLst/>
          </a:prstGeom>
          <a:noFill/>
        </p:spPr>
        <p:txBody>
          <a:bodyPr wrap="none" lIns="0" rIns="0" tIns="0" bIns="0">
            <a:spAutoFit/>
          </a:bodyPr>
          <a:lstStyle/>
          <a:p>
            <a:r>
              <a:rPr sz="1150" b="0">
                <a:solidFill>
                  <a:srgbClr val="2E2E2E"/>
                </a:solidFill>
                <a:latin typeface="Calibri"/>
              </a:rPr>
              <a:t>X higher value than canisters segment in 2036. Among senior dog cognitive supplement by packaging format, pouches segment is expected to witness</a:t>
            </a:r>
          </a:p>
        </p:txBody>
      </p:sp>
      <p:sp>
        <p:nvSpPr>
          <p:cNvPr id="23" name="TextBox 22"/>
          <p:cNvSpPr txBox="1"/>
          <p:nvPr/>
        </p:nvSpPr>
        <p:spPr>
          <a:xfrm>
            <a:off x="276225" y="4147185"/>
            <a:ext cx="1263979" cy="194310"/>
          </a:xfrm>
          <a:prstGeom prst="rect">
            <a:avLst/>
          </a:prstGeom>
          <a:noFill/>
        </p:spPr>
        <p:txBody>
          <a:bodyPr wrap="none" lIns="0" rIns="0" tIns="0" bIns="0">
            <a:spAutoFit/>
          </a:bodyPr>
          <a:lstStyle/>
          <a:p>
            <a:r>
              <a:rPr sz="1150" b="0">
                <a:solidFill>
                  <a:srgbClr val="2E2E2E"/>
                </a:solidFill>
                <a:latin typeface="Calibri"/>
              </a:rPr>
              <a:t>the highest CAGR of</a:t>
            </a:r>
          </a:p>
        </p:txBody>
      </p:sp>
      <p:pic>
        <p:nvPicPr>
          <p:cNvPr id="24" name="Picture 23" descr="lock.png"/>
          <p:cNvPicPr>
            <a:picLocks noChangeAspect="1"/>
          </p:cNvPicPr>
          <p:nvPr/>
        </p:nvPicPr>
        <p:blipFill>
          <a:blip r:embed="rId4"/>
          <a:stretch>
            <a:fillRect/>
          </a:stretch>
        </p:blipFill>
        <p:spPr>
          <a:xfrm>
            <a:off x="1489358" y="4136961"/>
            <a:ext cx="134549" cy="195707"/>
          </a:xfrm>
          <a:prstGeom prst="rect">
            <a:avLst/>
          </a:prstGeom>
        </p:spPr>
      </p:pic>
      <p:sp>
        <p:nvSpPr>
          <p:cNvPr id="25" name="TextBox 24"/>
          <p:cNvSpPr txBox="1"/>
          <p:nvPr/>
        </p:nvSpPr>
        <p:spPr>
          <a:xfrm>
            <a:off x="1664467"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6682680" cy="194310"/>
          </a:xfrm>
          <a:prstGeom prst="rect">
            <a:avLst/>
          </a:prstGeom>
          <a:noFill/>
        </p:spPr>
        <p:txBody>
          <a:bodyPr wrap="none" lIns="0" rIns="0" tIns="0" bIns="0">
            <a:spAutoFit/>
          </a:bodyPr>
          <a:lstStyle/>
          <a:p>
            <a:r>
              <a:rPr sz="1150" b="0">
                <a:solidFill>
                  <a:srgbClr val="2E2E2E"/>
                </a:solidFill>
                <a:latin typeface="Calibri"/>
              </a:rPr>
              <a:t>In terms of value share by packaging format, the pouches segment is expected to dominate the market, gaining</a:t>
            </a:r>
          </a:p>
        </p:txBody>
      </p:sp>
      <p:pic>
        <p:nvPicPr>
          <p:cNvPr id="27" name="Picture 26" descr="lock.png"/>
          <p:cNvPicPr>
            <a:picLocks noChangeAspect="1"/>
          </p:cNvPicPr>
          <p:nvPr/>
        </p:nvPicPr>
        <p:blipFill>
          <a:blip r:embed="rId4"/>
          <a:stretch>
            <a:fillRect/>
          </a:stretch>
        </p:blipFill>
        <p:spPr>
          <a:xfrm>
            <a:off x="6908059" y="4364799"/>
            <a:ext cx="134549" cy="195707"/>
          </a:xfrm>
          <a:prstGeom prst="rect">
            <a:avLst/>
          </a:prstGeom>
        </p:spPr>
      </p:pic>
      <p:sp>
        <p:nvSpPr>
          <p:cNvPr id="28" name="TextBox 27"/>
          <p:cNvSpPr txBox="1"/>
          <p:nvPr/>
        </p:nvSpPr>
        <p:spPr>
          <a:xfrm>
            <a:off x="7083168"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478311" y="4364799"/>
            <a:ext cx="134549" cy="195707"/>
          </a:xfrm>
          <a:prstGeom prst="rect">
            <a:avLst/>
          </a:prstGeom>
        </p:spPr>
      </p:pic>
      <p:sp>
        <p:nvSpPr>
          <p:cNvPr id="30" name="TextBox 29"/>
          <p:cNvSpPr txBox="1"/>
          <p:nvPr/>
        </p:nvSpPr>
        <p:spPr>
          <a:xfrm>
            <a:off x="8653421" y="4375022"/>
            <a:ext cx="3086484" cy="194310"/>
          </a:xfrm>
          <a:prstGeom prst="rect">
            <a:avLst/>
          </a:prstGeom>
          <a:noFill/>
        </p:spPr>
        <p:txBody>
          <a:bodyPr wrap="none" lIns="0" rIns="0" tIns="0" bIns="0">
            <a:spAutoFit/>
          </a:bodyPr>
          <a:lstStyle/>
          <a:p>
            <a:r>
              <a:rPr sz="1150" b="0">
                <a:solidFill>
                  <a:srgbClr val="2E2E2E"/>
                </a:solidFill>
                <a:latin typeface="Calibri"/>
              </a:rPr>
              <a:t>share by 2036. The sachets segment is expected to</a:t>
            </a:r>
          </a:p>
        </p:txBody>
      </p:sp>
      <p:sp>
        <p:nvSpPr>
          <p:cNvPr id="31" name="TextBox 30"/>
          <p:cNvSpPr txBox="1"/>
          <p:nvPr/>
        </p:nvSpPr>
        <p:spPr>
          <a:xfrm>
            <a:off x="276225" y="4550282"/>
            <a:ext cx="316669" cy="194310"/>
          </a:xfrm>
          <a:prstGeom prst="rect">
            <a:avLst/>
          </a:prstGeom>
          <a:noFill/>
        </p:spPr>
        <p:txBody>
          <a:bodyPr wrap="none" lIns="0" rIns="0" tIns="0" bIns="0">
            <a:spAutoFit/>
          </a:bodyPr>
          <a:lstStyle/>
          <a:p>
            <a:r>
              <a:rPr sz="1150" b="0">
                <a:solidFill>
                  <a:srgbClr val="2E2E2E"/>
                </a:solidFill>
                <a:latin typeface="Calibri"/>
              </a:rPr>
              <a:t>lose</a:t>
            </a:r>
          </a:p>
        </p:txBody>
      </p:sp>
      <p:pic>
        <p:nvPicPr>
          <p:cNvPr id="32" name="Picture 31" descr="lock.png"/>
          <p:cNvPicPr>
            <a:picLocks noChangeAspect="1"/>
          </p:cNvPicPr>
          <p:nvPr/>
        </p:nvPicPr>
        <p:blipFill>
          <a:blip r:embed="rId4"/>
          <a:stretch>
            <a:fillRect/>
          </a:stretch>
        </p:blipFill>
        <p:spPr>
          <a:xfrm>
            <a:off x="542047" y="4540059"/>
            <a:ext cx="134549" cy="195707"/>
          </a:xfrm>
          <a:prstGeom prst="rect">
            <a:avLst/>
          </a:prstGeom>
        </p:spPr>
      </p:pic>
      <p:sp>
        <p:nvSpPr>
          <p:cNvPr id="33" name="TextBox 32"/>
          <p:cNvSpPr txBox="1"/>
          <p:nvPr/>
        </p:nvSpPr>
        <p:spPr>
          <a:xfrm>
            <a:off x="717157" y="45502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3304661" y="4540059"/>
            <a:ext cx="134549" cy="195707"/>
          </a:xfrm>
          <a:prstGeom prst="rect">
            <a:avLst/>
          </a:prstGeom>
        </p:spPr>
      </p:pic>
      <p:sp>
        <p:nvSpPr>
          <p:cNvPr id="35" name="TextBox 34"/>
          <p:cNvSpPr txBox="1"/>
          <p:nvPr/>
        </p:nvSpPr>
        <p:spPr>
          <a:xfrm>
            <a:off x="3479771"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Packaging Format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Packaging Format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Packaging Format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816951"/>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81218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3598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Bottles</a:t>
            </a:r>
          </a:p>
        </p:txBody>
      </p:sp>
      <p:sp>
        <p:nvSpPr>
          <p:cNvPr id="18" name="BPS Value 1"/>
          <p:cNvSpPr txBox="1"/>
          <p:nvPr/>
        </p:nvSpPr>
        <p:spPr>
          <a:xfrm>
            <a:off x="6896100" y="179790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217339"/>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221257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13637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Jars and Tubs</a:t>
            </a:r>
          </a:p>
        </p:txBody>
      </p:sp>
      <p:sp>
        <p:nvSpPr>
          <p:cNvPr id="22" name="BPS Value 2"/>
          <p:cNvSpPr txBox="1"/>
          <p:nvPr/>
        </p:nvSpPr>
        <p:spPr>
          <a:xfrm>
            <a:off x="6896100" y="219828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2872655"/>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286789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79169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Sachets</a:t>
            </a:r>
          </a:p>
        </p:txBody>
      </p:sp>
      <p:sp>
        <p:nvSpPr>
          <p:cNvPr id="26" name="BPS Value 3"/>
          <p:cNvSpPr txBox="1"/>
          <p:nvPr/>
        </p:nvSpPr>
        <p:spPr>
          <a:xfrm>
            <a:off x="6896100" y="285360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3725627"/>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372086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364466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Blister Packs</a:t>
            </a:r>
          </a:p>
        </p:txBody>
      </p:sp>
      <p:sp>
        <p:nvSpPr>
          <p:cNvPr id="30" name="BPS Value 4"/>
          <p:cNvSpPr txBox="1"/>
          <p:nvPr/>
        </p:nvSpPr>
        <p:spPr>
          <a:xfrm>
            <a:off x="6896100" y="370657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928997" y="4636171"/>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5090922" y="463140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455520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Canisters</a:t>
            </a:r>
          </a:p>
        </p:txBody>
      </p:sp>
      <p:sp>
        <p:nvSpPr>
          <p:cNvPr id="34" name="BPS Value 5"/>
          <p:cNvSpPr txBox="1"/>
          <p:nvPr/>
        </p:nvSpPr>
        <p:spPr>
          <a:xfrm>
            <a:off x="6896100" y="461712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928997" y="5669001"/>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5090922" y="566423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558803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Pouches</a:t>
            </a:r>
          </a:p>
        </p:txBody>
      </p:sp>
      <p:sp>
        <p:nvSpPr>
          <p:cNvPr id="38" name="BPS Value 6"/>
          <p:cNvSpPr txBox="1"/>
          <p:nvPr/>
        </p:nvSpPr>
        <p:spPr>
          <a:xfrm>
            <a:off x="6896100" y="564995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Rounded Rectangle 38"/>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Packaging Format</a:t>
            </a:r>
          </a:p>
        </p:txBody>
      </p:sp>
      <p:sp>
        <p:nvSpPr>
          <p:cNvPr id="41" name="Rectangle 40"/>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TextBox 4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4" name="Picture 43" descr="lock.png"/>
          <p:cNvPicPr>
            <a:picLocks noChangeAspect="1"/>
          </p:cNvPicPr>
          <p:nvPr/>
        </p:nvPicPr>
        <p:blipFill>
          <a:blip r:embed="rId5"/>
          <a:stretch>
            <a:fillRect/>
          </a:stretch>
        </p:blipFill>
        <p:spPr>
          <a:xfrm>
            <a:off x="2557843" y="3833622"/>
            <a:ext cx="275034" cy="400050"/>
          </a:xfrm>
          <a:prstGeom prst="rect">
            <a:avLst/>
          </a:prstGeom>
        </p:spPr>
      </p:pic>
      <p:sp>
        <p:nvSpPr>
          <p:cNvPr id="45" name="TextBox 44"/>
          <p:cNvSpPr txBox="1"/>
          <p:nvPr/>
        </p:nvSpPr>
        <p:spPr>
          <a:xfrm>
            <a:off x="7829550" y="1400175"/>
            <a:ext cx="3750840" cy="194310"/>
          </a:xfrm>
          <a:prstGeom prst="rect">
            <a:avLst/>
          </a:prstGeom>
          <a:noFill/>
        </p:spPr>
        <p:txBody>
          <a:bodyPr wrap="none" lIns="0" rIns="0" tIns="0" bIns="0">
            <a:spAutoFit/>
          </a:bodyPr>
          <a:lstStyle/>
          <a:p>
            <a:r>
              <a:rPr sz="1150" b="0">
                <a:solidFill>
                  <a:srgbClr val="2E2E2E"/>
                </a:solidFill>
                <a:latin typeface="Calibri"/>
              </a:rPr>
              <a:t>Among senior dog cognitive supplement by packaging format,</a:t>
            </a:r>
          </a:p>
        </p:txBody>
      </p:sp>
      <p:sp>
        <p:nvSpPr>
          <p:cNvPr id="46" name="TextBox 45"/>
          <p:cNvSpPr txBox="1"/>
          <p:nvPr/>
        </p:nvSpPr>
        <p:spPr>
          <a:xfrm>
            <a:off x="7829550" y="1575435"/>
            <a:ext cx="3688637" cy="194310"/>
          </a:xfrm>
          <a:prstGeom prst="rect">
            <a:avLst/>
          </a:prstGeom>
          <a:noFill/>
        </p:spPr>
        <p:txBody>
          <a:bodyPr wrap="none" lIns="0" rIns="0" tIns="0" bIns="0">
            <a:spAutoFit/>
          </a:bodyPr>
          <a:lstStyle/>
          <a:p>
            <a:r>
              <a:rPr sz="1150" b="0">
                <a:solidFill>
                  <a:srgbClr val="2E2E2E"/>
                </a:solidFill>
                <a:latin typeface="Calibri"/>
              </a:rPr>
              <a:t>pouches segment is expected to witness the highest CAGR of</a:t>
            </a:r>
          </a:p>
        </p:txBody>
      </p:sp>
      <p:pic>
        <p:nvPicPr>
          <p:cNvPr id="47" name="Picture 46" descr="lock.png"/>
          <p:cNvPicPr>
            <a:picLocks noChangeAspect="1"/>
          </p:cNvPicPr>
          <p:nvPr/>
        </p:nvPicPr>
        <p:blipFill>
          <a:blip r:embed="rId5"/>
          <a:stretch>
            <a:fillRect/>
          </a:stretch>
        </p:blipFill>
        <p:spPr>
          <a:xfrm>
            <a:off x="11467341" y="1565211"/>
            <a:ext cx="134549" cy="195707"/>
          </a:xfrm>
          <a:prstGeom prst="rect">
            <a:avLst/>
          </a:prstGeom>
        </p:spPr>
      </p:pic>
      <p:sp>
        <p:nvSpPr>
          <p:cNvPr id="48" name="TextBox 47"/>
          <p:cNvSpPr txBox="1"/>
          <p:nvPr/>
        </p:nvSpPr>
        <p:spPr>
          <a:xfrm>
            <a:off x="7829550" y="1750695"/>
            <a:ext cx="3743994"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packaging</a:t>
            </a:r>
          </a:p>
        </p:txBody>
      </p:sp>
      <p:sp>
        <p:nvSpPr>
          <p:cNvPr id="49" name="TextBox 48"/>
          <p:cNvSpPr txBox="1"/>
          <p:nvPr/>
        </p:nvSpPr>
        <p:spPr>
          <a:xfrm>
            <a:off x="7829550" y="1925955"/>
            <a:ext cx="4026110" cy="194310"/>
          </a:xfrm>
          <a:prstGeom prst="rect">
            <a:avLst/>
          </a:prstGeom>
          <a:noFill/>
        </p:spPr>
        <p:txBody>
          <a:bodyPr wrap="none" lIns="0" rIns="0" tIns="0" bIns="0">
            <a:spAutoFit/>
          </a:bodyPr>
          <a:lstStyle/>
          <a:p>
            <a:r>
              <a:rPr sz="1150" b="0">
                <a:solidFill>
                  <a:srgbClr val="2E2E2E"/>
                </a:solidFill>
                <a:latin typeface="Calibri"/>
              </a:rPr>
              <a:t>format, the pouches segment is expected to dominate the market,</a:t>
            </a:r>
          </a:p>
        </p:txBody>
      </p:sp>
      <p:sp>
        <p:nvSpPr>
          <p:cNvPr id="50" name="TextBox 49"/>
          <p:cNvSpPr txBox="1"/>
          <p:nvPr/>
        </p:nvSpPr>
        <p:spPr>
          <a:xfrm>
            <a:off x="7829550" y="2101215"/>
            <a:ext cx="504366" cy="194310"/>
          </a:xfrm>
          <a:prstGeom prst="rect">
            <a:avLst/>
          </a:prstGeom>
          <a:noFill/>
        </p:spPr>
        <p:txBody>
          <a:bodyPr wrap="none" lIns="0" rIns="0" tIns="0" bIns="0">
            <a:spAutoFit/>
          </a:bodyPr>
          <a:lstStyle/>
          <a:p>
            <a:r>
              <a:rPr sz="1150" b="0">
                <a:solidFill>
                  <a:srgbClr val="2E2E2E"/>
                </a:solidFill>
                <a:latin typeface="Calibri"/>
              </a:rPr>
              <a:t>gaining</a:t>
            </a:r>
          </a:p>
        </p:txBody>
      </p:sp>
      <p:pic>
        <p:nvPicPr>
          <p:cNvPr id="51" name="Picture 50" descr="lock.png"/>
          <p:cNvPicPr>
            <a:picLocks noChangeAspect="1"/>
          </p:cNvPicPr>
          <p:nvPr/>
        </p:nvPicPr>
        <p:blipFill>
          <a:blip r:embed="rId5"/>
          <a:stretch>
            <a:fillRect/>
          </a:stretch>
        </p:blipFill>
        <p:spPr>
          <a:xfrm>
            <a:off x="8283070" y="2090991"/>
            <a:ext cx="134549" cy="195707"/>
          </a:xfrm>
          <a:prstGeom prst="rect">
            <a:avLst/>
          </a:prstGeom>
        </p:spPr>
      </p:pic>
      <p:sp>
        <p:nvSpPr>
          <p:cNvPr id="52" name="TextBox 51"/>
          <p:cNvSpPr txBox="1"/>
          <p:nvPr/>
        </p:nvSpPr>
        <p:spPr>
          <a:xfrm>
            <a:off x="8458179"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3" name="Picture 52" descr="lock.png"/>
          <p:cNvPicPr>
            <a:picLocks noChangeAspect="1"/>
          </p:cNvPicPr>
          <p:nvPr/>
        </p:nvPicPr>
        <p:blipFill>
          <a:blip r:embed="rId5"/>
          <a:stretch>
            <a:fillRect/>
          </a:stretch>
        </p:blipFill>
        <p:spPr>
          <a:xfrm>
            <a:off x="9853322" y="2090991"/>
            <a:ext cx="134549" cy="195707"/>
          </a:xfrm>
          <a:prstGeom prst="rect">
            <a:avLst/>
          </a:prstGeom>
        </p:spPr>
      </p:pic>
      <p:sp>
        <p:nvSpPr>
          <p:cNvPr id="54" name="TextBox 53"/>
          <p:cNvSpPr txBox="1"/>
          <p:nvPr/>
        </p:nvSpPr>
        <p:spPr>
          <a:xfrm>
            <a:off x="10028431"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5" name="TextBox 54"/>
          <p:cNvSpPr txBox="1"/>
          <p:nvPr/>
        </p:nvSpPr>
        <p:spPr>
          <a:xfrm>
            <a:off x="7829550" y="2329053"/>
            <a:ext cx="2456929" cy="194310"/>
          </a:xfrm>
          <a:prstGeom prst="rect">
            <a:avLst/>
          </a:prstGeom>
          <a:noFill/>
        </p:spPr>
        <p:txBody>
          <a:bodyPr wrap="none" lIns="0" rIns="0" tIns="0" bIns="0">
            <a:spAutoFit/>
          </a:bodyPr>
          <a:lstStyle/>
          <a:p>
            <a:r>
              <a:rPr sz="1150" b="0">
                <a:solidFill>
                  <a:srgbClr val="2E2E2E"/>
                </a:solidFill>
                <a:latin typeface="Calibri"/>
              </a:rPr>
              <a:t>The sachets segment is expected to lose</a:t>
            </a:r>
          </a:p>
        </p:txBody>
      </p:sp>
      <p:pic>
        <p:nvPicPr>
          <p:cNvPr id="56" name="Picture 55" descr="lock.png"/>
          <p:cNvPicPr>
            <a:picLocks noChangeAspect="1"/>
          </p:cNvPicPr>
          <p:nvPr/>
        </p:nvPicPr>
        <p:blipFill>
          <a:blip r:embed="rId5"/>
          <a:stretch>
            <a:fillRect/>
          </a:stretch>
        </p:blipFill>
        <p:spPr>
          <a:xfrm>
            <a:off x="10235633" y="2318829"/>
            <a:ext cx="134549" cy="195707"/>
          </a:xfrm>
          <a:prstGeom prst="rect">
            <a:avLst/>
          </a:prstGeom>
        </p:spPr>
      </p:pic>
      <p:sp>
        <p:nvSpPr>
          <p:cNvPr id="57" name="TextBox 56"/>
          <p:cNvSpPr txBox="1"/>
          <p:nvPr/>
        </p:nvSpPr>
        <p:spPr>
          <a:xfrm>
            <a:off x="10410742" y="2329053"/>
            <a:ext cx="1346150" cy="194310"/>
          </a:xfrm>
          <a:prstGeom prst="rect">
            <a:avLst/>
          </a:prstGeom>
          <a:noFill/>
        </p:spPr>
        <p:txBody>
          <a:bodyPr wrap="none" lIns="0" rIns="0" tIns="0" bIns="0">
            <a:spAutoFit/>
          </a:bodyPr>
          <a:lstStyle/>
          <a:p>
            <a:r>
              <a:rPr sz="1150" b="0">
                <a:solidFill>
                  <a:srgbClr val="2E2E2E"/>
                </a:solidFill>
                <a:latin typeface="Calibri"/>
              </a:rPr>
              <a:t>BPS over the forecast</a:t>
            </a:r>
          </a:p>
        </p:txBody>
      </p:sp>
      <p:sp>
        <p:nvSpPr>
          <p:cNvPr id="58" name="TextBox 57"/>
          <p:cNvSpPr txBox="1"/>
          <p:nvPr/>
        </p:nvSpPr>
        <p:spPr>
          <a:xfrm>
            <a:off x="7829550" y="2504313"/>
            <a:ext cx="1335310" cy="194310"/>
          </a:xfrm>
          <a:prstGeom prst="rect">
            <a:avLst/>
          </a:prstGeom>
          <a:noFill/>
        </p:spPr>
        <p:txBody>
          <a:bodyPr wrap="none" lIns="0" rIns="0" tIns="0" bIns="0">
            <a:spAutoFit/>
          </a:bodyPr>
          <a:lstStyle/>
          <a:p>
            <a:r>
              <a:rPr sz="1150" b="0">
                <a:solidFill>
                  <a:srgbClr val="2E2E2E"/>
                </a:solidFill>
                <a:latin typeface="Calibri"/>
              </a:rPr>
              <a:t>period to account for</a:t>
            </a:r>
          </a:p>
        </p:txBody>
      </p:sp>
      <p:pic>
        <p:nvPicPr>
          <p:cNvPr id="59" name="Picture 58" descr="lock.png"/>
          <p:cNvPicPr>
            <a:picLocks noChangeAspect="1"/>
          </p:cNvPicPr>
          <p:nvPr/>
        </p:nvPicPr>
        <p:blipFill>
          <a:blip r:embed="rId5"/>
          <a:stretch>
            <a:fillRect/>
          </a:stretch>
        </p:blipFill>
        <p:spPr>
          <a:xfrm>
            <a:off x="9114014" y="2494089"/>
            <a:ext cx="134549" cy="195707"/>
          </a:xfrm>
          <a:prstGeom prst="rect">
            <a:avLst/>
          </a:prstGeom>
        </p:spPr>
      </p:pic>
      <p:sp>
        <p:nvSpPr>
          <p:cNvPr id="60" name="TextBox 59"/>
          <p:cNvSpPr txBox="1"/>
          <p:nvPr/>
        </p:nvSpPr>
        <p:spPr>
          <a:xfrm>
            <a:off x="928912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1"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Sales Channel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Sales Channel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Sales Channel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Sales Channel,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Sales Channel segment categorizes the market by sales channel.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Veterinary Channels</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Brand-Owned E-commerce</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Specialist Pet Retail</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Third-Party E-commerce</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Direct Sales</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General Retail</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Sales Channel split shows how demand is distributed across sales channel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7" name="Picture 76" descr="1_007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1_408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3_4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677_8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831_3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2_1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657_0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1_201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6_2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587_8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1_114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6_6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337_6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431_6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2_5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329_4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368_6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1_1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844824" cy="186689"/>
          </a:xfrm>
          <a:prstGeom prst="rect">
            <a:avLst/>
          </a:prstGeom>
          <a:noFill/>
        </p:spPr>
        <p:txBody>
          <a:bodyPr wrap="none" lIns="0" rIns="0" tIns="0" bIns="0">
            <a:spAutoFit/>
          </a:bodyPr>
          <a:lstStyle/>
          <a:p>
            <a:r>
              <a:rPr sz="1100" b="0">
                <a:solidFill>
                  <a:srgbClr val="2E2E2E"/>
                </a:solidFill>
                <a:latin typeface="Calibri"/>
              </a:rPr>
              <a:t>Among senior dog cognitive supplement by sales</a:t>
            </a:r>
          </a:p>
        </p:txBody>
      </p:sp>
      <p:sp>
        <p:nvSpPr>
          <p:cNvPr id="102" name="TextBox 101"/>
          <p:cNvSpPr txBox="1"/>
          <p:nvPr/>
        </p:nvSpPr>
        <p:spPr>
          <a:xfrm>
            <a:off x="485775" y="4397077"/>
            <a:ext cx="2596529" cy="186689"/>
          </a:xfrm>
          <a:prstGeom prst="rect">
            <a:avLst/>
          </a:prstGeom>
          <a:noFill/>
        </p:spPr>
        <p:txBody>
          <a:bodyPr wrap="none" lIns="0" rIns="0" tIns="0" bIns="0">
            <a:spAutoFit/>
          </a:bodyPr>
          <a:lstStyle/>
          <a:p>
            <a:r>
              <a:rPr sz="1100" b="0">
                <a:solidFill>
                  <a:srgbClr val="2E2E2E"/>
                </a:solidFill>
                <a:latin typeface="Calibri"/>
              </a:rPr>
              <a:t>channel, third-party e-commerce segment is</a:t>
            </a:r>
          </a:p>
        </p:txBody>
      </p:sp>
      <p:sp>
        <p:nvSpPr>
          <p:cNvPr id="103" name="TextBox 102"/>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104" name="Picture 103" descr="lock.png"/>
          <p:cNvPicPr>
            <a:picLocks noChangeAspect="1"/>
          </p:cNvPicPr>
          <p:nvPr/>
        </p:nvPicPr>
        <p:blipFill>
          <a:blip r:embed="rId22"/>
          <a:stretch>
            <a:fillRect/>
          </a:stretch>
        </p:blipFill>
        <p:spPr>
          <a:xfrm>
            <a:off x="2815059" y="4554938"/>
            <a:ext cx="128699" cy="187198"/>
          </a:xfrm>
          <a:prstGeom prst="rect">
            <a:avLst/>
          </a:prstGeom>
        </p:spPr>
      </p:pic>
      <p:sp>
        <p:nvSpPr>
          <p:cNvPr id="105" name="TextBox 104"/>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106" name="TextBox 105"/>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107" name="TextBox 106"/>
          <p:cNvSpPr txBox="1"/>
          <p:nvPr/>
        </p:nvSpPr>
        <p:spPr>
          <a:xfrm>
            <a:off x="485775" y="4899997"/>
            <a:ext cx="2880022" cy="186689"/>
          </a:xfrm>
          <a:prstGeom prst="rect">
            <a:avLst/>
          </a:prstGeom>
          <a:noFill/>
        </p:spPr>
        <p:txBody>
          <a:bodyPr wrap="none" lIns="0" rIns="0" tIns="0" bIns="0">
            <a:spAutoFit/>
          </a:bodyPr>
          <a:lstStyle/>
          <a:p>
            <a:r>
              <a:rPr sz="1100" b="0">
                <a:solidFill>
                  <a:srgbClr val="2E2E2E"/>
                </a:solidFill>
                <a:latin typeface="Calibri"/>
              </a:rPr>
              <a:t>sales channel, the veterinary channels segment is</a:t>
            </a:r>
          </a:p>
        </p:txBody>
      </p:sp>
      <p:sp>
        <p:nvSpPr>
          <p:cNvPr id="108" name="TextBox 107"/>
          <p:cNvSpPr txBox="1"/>
          <p:nvPr/>
        </p:nvSpPr>
        <p:spPr>
          <a:xfrm>
            <a:off x="485775" y="5067637"/>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109" name="Picture 108" descr="lock.png"/>
          <p:cNvPicPr>
            <a:picLocks noChangeAspect="1"/>
          </p:cNvPicPr>
          <p:nvPr/>
        </p:nvPicPr>
        <p:blipFill>
          <a:blip r:embed="rId22"/>
          <a:stretch>
            <a:fillRect/>
          </a:stretch>
        </p:blipFill>
        <p:spPr>
          <a:xfrm>
            <a:off x="2822716" y="5057858"/>
            <a:ext cx="128699" cy="187198"/>
          </a:xfrm>
          <a:prstGeom prst="rect">
            <a:avLst/>
          </a:prstGeom>
        </p:spPr>
      </p:pic>
      <p:sp>
        <p:nvSpPr>
          <p:cNvPr id="110" name="TextBox 109"/>
          <p:cNvSpPr txBox="1"/>
          <p:nvPr/>
        </p:nvSpPr>
        <p:spPr>
          <a:xfrm>
            <a:off x="2990212" y="506763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11" name="TextBox 110"/>
          <p:cNvSpPr txBox="1"/>
          <p:nvPr/>
        </p:nvSpPr>
        <p:spPr>
          <a:xfrm>
            <a:off x="485775" y="523527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12" name="Picture 111" descr="lock.png"/>
          <p:cNvPicPr>
            <a:picLocks noChangeAspect="1"/>
          </p:cNvPicPr>
          <p:nvPr/>
        </p:nvPicPr>
        <p:blipFill>
          <a:blip r:embed="rId22"/>
          <a:stretch>
            <a:fillRect/>
          </a:stretch>
        </p:blipFill>
        <p:spPr>
          <a:xfrm>
            <a:off x="1576057" y="5225498"/>
            <a:ext cx="128699" cy="187198"/>
          </a:xfrm>
          <a:prstGeom prst="rect">
            <a:avLst/>
          </a:prstGeom>
        </p:spPr>
      </p:pic>
      <p:sp>
        <p:nvSpPr>
          <p:cNvPr id="113" name="TextBox 112"/>
          <p:cNvSpPr txBox="1"/>
          <p:nvPr/>
        </p:nvSpPr>
        <p:spPr>
          <a:xfrm>
            <a:off x="174355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4" name="TextBox 113"/>
          <p:cNvSpPr txBox="1"/>
          <p:nvPr/>
        </p:nvSpPr>
        <p:spPr>
          <a:xfrm>
            <a:off x="485775" y="5453209"/>
            <a:ext cx="2582887" cy="186689"/>
          </a:xfrm>
          <a:prstGeom prst="rect">
            <a:avLst/>
          </a:prstGeom>
          <a:noFill/>
        </p:spPr>
        <p:txBody>
          <a:bodyPr wrap="none" lIns="0" rIns="0" tIns="0" bIns="0">
            <a:spAutoFit/>
          </a:bodyPr>
          <a:lstStyle/>
          <a:p>
            <a:r>
              <a:rPr sz="1100" b="0">
                <a:solidFill>
                  <a:srgbClr val="2E2E2E"/>
                </a:solidFill>
                <a:latin typeface="Calibri"/>
              </a:rPr>
              <a:t>Veterinary channels segment is projected to</a:t>
            </a:r>
          </a:p>
        </p:txBody>
      </p:sp>
      <p:sp>
        <p:nvSpPr>
          <p:cNvPr id="115" name="TextBox 114"/>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116" name="Picture 115" descr="lock.png"/>
          <p:cNvPicPr>
            <a:picLocks noChangeAspect="1"/>
          </p:cNvPicPr>
          <p:nvPr/>
        </p:nvPicPr>
        <p:blipFill>
          <a:blip r:embed="rId22"/>
          <a:stretch>
            <a:fillRect/>
          </a:stretch>
        </p:blipFill>
        <p:spPr>
          <a:xfrm>
            <a:off x="946316" y="5611070"/>
            <a:ext cx="128699" cy="187198"/>
          </a:xfrm>
          <a:prstGeom prst="rect">
            <a:avLst/>
          </a:prstGeom>
        </p:spPr>
      </p:pic>
      <p:sp>
        <p:nvSpPr>
          <p:cNvPr id="117" name="TextBox 116"/>
          <p:cNvSpPr txBox="1"/>
          <p:nvPr/>
        </p:nvSpPr>
        <p:spPr>
          <a:xfrm>
            <a:off x="1113812" y="5620849"/>
            <a:ext cx="2275656" cy="186689"/>
          </a:xfrm>
          <a:prstGeom prst="rect">
            <a:avLst/>
          </a:prstGeom>
          <a:noFill/>
        </p:spPr>
        <p:txBody>
          <a:bodyPr wrap="none" lIns="0" rIns="0" tIns="0" bIns="0">
            <a:spAutoFit/>
          </a:bodyPr>
          <a:lstStyle/>
          <a:p>
            <a:r>
              <a:rPr sz="1100" b="0">
                <a:solidFill>
                  <a:srgbClr val="2E2E2E"/>
                </a:solidFill>
                <a:latin typeface="Calibri"/>
              </a:rPr>
              <a:t>X higher value than specialist pet retail</a:t>
            </a:r>
          </a:p>
        </p:txBody>
      </p:sp>
      <p:sp>
        <p:nvSpPr>
          <p:cNvPr id="118" name="TextBox 117"/>
          <p:cNvSpPr txBox="1"/>
          <p:nvPr/>
        </p:nvSpPr>
        <p:spPr>
          <a:xfrm>
            <a:off x="485775" y="5788489"/>
            <a:ext cx="1055464" cy="186689"/>
          </a:xfrm>
          <a:prstGeom prst="rect">
            <a:avLst/>
          </a:prstGeom>
          <a:noFill/>
        </p:spPr>
        <p:txBody>
          <a:bodyPr wrap="none" lIns="0" rIns="0" tIns="0" bIns="0">
            <a:spAutoFit/>
          </a:bodyPr>
          <a:lstStyle/>
          <a:p>
            <a:r>
              <a:rPr sz="1100" b="0">
                <a:solidFill>
                  <a:srgbClr val="2E2E2E"/>
                </a:solidFill>
                <a:latin typeface="Calibri"/>
              </a:rPr>
              <a:t>segment in 2036.</a:t>
            </a:r>
          </a:p>
        </p:txBody>
      </p:sp>
      <p:sp>
        <p:nvSpPr>
          <p:cNvPr id="119" name="TextBox 118"/>
          <p:cNvSpPr txBox="1"/>
          <p:nvPr/>
        </p:nvSpPr>
        <p:spPr>
          <a:xfrm>
            <a:off x="3838575" y="4229437"/>
            <a:ext cx="1377974" cy="186689"/>
          </a:xfrm>
          <a:prstGeom prst="rect">
            <a:avLst/>
          </a:prstGeom>
          <a:noFill/>
        </p:spPr>
        <p:txBody>
          <a:bodyPr wrap="none" lIns="0" rIns="0" tIns="0" bIns="0">
            <a:spAutoFit/>
          </a:bodyPr>
          <a:lstStyle/>
          <a:p>
            <a:r>
              <a:rPr sz="1100" b="0">
                <a:solidFill>
                  <a:srgbClr val="2E2E2E"/>
                </a:solidFill>
                <a:latin typeface="Calibri"/>
              </a:rPr>
              <a:t>● Veterinary Channels:</a:t>
            </a:r>
          </a:p>
        </p:txBody>
      </p:sp>
      <p:pic>
        <p:nvPicPr>
          <p:cNvPr id="120" name="Picture 119" descr="lock.png"/>
          <p:cNvPicPr>
            <a:picLocks noChangeAspect="1"/>
          </p:cNvPicPr>
          <p:nvPr/>
        </p:nvPicPr>
        <p:blipFill>
          <a:blip r:embed="rId22"/>
          <a:stretch>
            <a:fillRect/>
          </a:stretch>
        </p:blipFill>
        <p:spPr>
          <a:xfrm>
            <a:off x="5164601" y="4219658"/>
            <a:ext cx="128699" cy="187198"/>
          </a:xfrm>
          <a:prstGeom prst="rect">
            <a:avLst/>
          </a:prstGeom>
        </p:spPr>
      </p:pic>
      <p:sp>
        <p:nvSpPr>
          <p:cNvPr id="121" name="TextBox 120"/>
          <p:cNvSpPr txBox="1"/>
          <p:nvPr/>
        </p:nvSpPr>
        <p:spPr>
          <a:xfrm>
            <a:off x="5332097"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2" name="Picture 121" descr="lock.png"/>
          <p:cNvPicPr>
            <a:picLocks noChangeAspect="1"/>
          </p:cNvPicPr>
          <p:nvPr/>
        </p:nvPicPr>
        <p:blipFill>
          <a:blip r:embed="rId22"/>
          <a:stretch>
            <a:fillRect/>
          </a:stretch>
        </p:blipFill>
        <p:spPr>
          <a:xfrm>
            <a:off x="6191547" y="4219658"/>
            <a:ext cx="128699" cy="187198"/>
          </a:xfrm>
          <a:prstGeom prst="rect">
            <a:avLst/>
          </a:prstGeom>
        </p:spPr>
      </p:pic>
      <p:sp>
        <p:nvSpPr>
          <p:cNvPr id="123" name="TextBox 122"/>
          <p:cNvSpPr txBox="1"/>
          <p:nvPr/>
        </p:nvSpPr>
        <p:spPr>
          <a:xfrm>
            <a:off x="6359043"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24" name="TextBox 123"/>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25" name="TextBox 124"/>
          <p:cNvSpPr txBox="1"/>
          <p:nvPr/>
        </p:nvSpPr>
        <p:spPr>
          <a:xfrm>
            <a:off x="3838575" y="4615009"/>
            <a:ext cx="1765667" cy="186689"/>
          </a:xfrm>
          <a:prstGeom prst="rect">
            <a:avLst/>
          </a:prstGeom>
          <a:noFill/>
        </p:spPr>
        <p:txBody>
          <a:bodyPr wrap="none" lIns="0" rIns="0" tIns="0" bIns="0">
            <a:spAutoFit/>
          </a:bodyPr>
          <a:lstStyle/>
          <a:p>
            <a:r>
              <a:rPr sz="1100" b="0">
                <a:solidFill>
                  <a:srgbClr val="2E2E2E"/>
                </a:solidFill>
                <a:latin typeface="Calibri"/>
              </a:rPr>
              <a:t>● Brand-Owned E-commerce:</a:t>
            </a:r>
          </a:p>
        </p:txBody>
      </p:sp>
      <p:pic>
        <p:nvPicPr>
          <p:cNvPr id="126" name="Picture 125" descr="lock.png"/>
          <p:cNvPicPr>
            <a:picLocks noChangeAspect="1"/>
          </p:cNvPicPr>
          <p:nvPr/>
        </p:nvPicPr>
        <p:blipFill>
          <a:blip r:embed="rId22"/>
          <a:stretch>
            <a:fillRect/>
          </a:stretch>
        </p:blipFill>
        <p:spPr>
          <a:xfrm>
            <a:off x="5552293" y="4605230"/>
            <a:ext cx="128699" cy="187198"/>
          </a:xfrm>
          <a:prstGeom prst="rect">
            <a:avLst/>
          </a:prstGeom>
        </p:spPr>
      </p:pic>
      <p:sp>
        <p:nvSpPr>
          <p:cNvPr id="127" name="TextBox 126"/>
          <p:cNvSpPr txBox="1"/>
          <p:nvPr/>
        </p:nvSpPr>
        <p:spPr>
          <a:xfrm>
            <a:off x="5719789"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8" name="Picture 127" descr="lock.png"/>
          <p:cNvPicPr>
            <a:picLocks noChangeAspect="1"/>
          </p:cNvPicPr>
          <p:nvPr/>
        </p:nvPicPr>
        <p:blipFill>
          <a:blip r:embed="rId22"/>
          <a:stretch>
            <a:fillRect/>
          </a:stretch>
        </p:blipFill>
        <p:spPr>
          <a:xfrm>
            <a:off x="6579239" y="4605230"/>
            <a:ext cx="128699" cy="187198"/>
          </a:xfrm>
          <a:prstGeom prst="rect">
            <a:avLst/>
          </a:prstGeom>
        </p:spPr>
      </p:pic>
      <p:sp>
        <p:nvSpPr>
          <p:cNvPr id="129" name="TextBox 128"/>
          <p:cNvSpPr txBox="1"/>
          <p:nvPr/>
        </p:nvSpPr>
        <p:spPr>
          <a:xfrm>
            <a:off x="6746735" y="4615009"/>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30" name="TextBox 129"/>
          <p:cNvSpPr txBox="1"/>
          <p:nvPr/>
        </p:nvSpPr>
        <p:spPr>
          <a:xfrm>
            <a:off x="3838575" y="4782649"/>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31" name="TextBox 130"/>
          <p:cNvSpPr txBox="1"/>
          <p:nvPr/>
        </p:nvSpPr>
        <p:spPr>
          <a:xfrm>
            <a:off x="3838575" y="5000581"/>
            <a:ext cx="1336501" cy="186689"/>
          </a:xfrm>
          <a:prstGeom prst="rect">
            <a:avLst/>
          </a:prstGeom>
          <a:noFill/>
        </p:spPr>
        <p:txBody>
          <a:bodyPr wrap="none" lIns="0" rIns="0" tIns="0" bIns="0">
            <a:spAutoFit/>
          </a:bodyPr>
          <a:lstStyle/>
          <a:p>
            <a:r>
              <a:rPr sz="1100" b="0">
                <a:solidFill>
                  <a:srgbClr val="2E2E2E"/>
                </a:solidFill>
                <a:latin typeface="Calibri"/>
              </a:rPr>
              <a:t>● Specialist Pet Retail:</a:t>
            </a:r>
          </a:p>
        </p:txBody>
      </p:sp>
      <p:pic>
        <p:nvPicPr>
          <p:cNvPr id="132" name="Picture 131" descr="lock.png"/>
          <p:cNvPicPr>
            <a:picLocks noChangeAspect="1"/>
          </p:cNvPicPr>
          <p:nvPr/>
        </p:nvPicPr>
        <p:blipFill>
          <a:blip r:embed="rId22"/>
          <a:stretch>
            <a:fillRect/>
          </a:stretch>
        </p:blipFill>
        <p:spPr>
          <a:xfrm>
            <a:off x="5123127" y="4990801"/>
            <a:ext cx="128699" cy="187198"/>
          </a:xfrm>
          <a:prstGeom prst="rect">
            <a:avLst/>
          </a:prstGeom>
        </p:spPr>
      </p:pic>
      <p:sp>
        <p:nvSpPr>
          <p:cNvPr id="133" name="TextBox 132"/>
          <p:cNvSpPr txBox="1"/>
          <p:nvPr/>
        </p:nvSpPr>
        <p:spPr>
          <a:xfrm>
            <a:off x="5290623"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4" name="Picture 133" descr="lock.png"/>
          <p:cNvPicPr>
            <a:picLocks noChangeAspect="1"/>
          </p:cNvPicPr>
          <p:nvPr/>
        </p:nvPicPr>
        <p:blipFill>
          <a:blip r:embed="rId22"/>
          <a:stretch>
            <a:fillRect/>
          </a:stretch>
        </p:blipFill>
        <p:spPr>
          <a:xfrm>
            <a:off x="6150074" y="4990801"/>
            <a:ext cx="128699" cy="187198"/>
          </a:xfrm>
          <a:prstGeom prst="rect">
            <a:avLst/>
          </a:prstGeom>
        </p:spPr>
      </p:pic>
      <p:sp>
        <p:nvSpPr>
          <p:cNvPr id="135" name="TextBox 134"/>
          <p:cNvSpPr txBox="1"/>
          <p:nvPr/>
        </p:nvSpPr>
        <p:spPr>
          <a:xfrm>
            <a:off x="6317569" y="500058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6" name="TextBox 135"/>
          <p:cNvSpPr txBox="1"/>
          <p:nvPr/>
        </p:nvSpPr>
        <p:spPr>
          <a:xfrm>
            <a:off x="3838575" y="5218513"/>
            <a:ext cx="1612597" cy="186689"/>
          </a:xfrm>
          <a:prstGeom prst="rect">
            <a:avLst/>
          </a:prstGeom>
          <a:noFill/>
        </p:spPr>
        <p:txBody>
          <a:bodyPr wrap="none" lIns="0" rIns="0" tIns="0" bIns="0">
            <a:spAutoFit/>
          </a:bodyPr>
          <a:lstStyle/>
          <a:p>
            <a:r>
              <a:rPr sz="1100" b="0">
                <a:solidFill>
                  <a:srgbClr val="2E2E2E"/>
                </a:solidFill>
                <a:latin typeface="Calibri"/>
              </a:rPr>
              <a:t>● Third-Party E-commerce:</a:t>
            </a:r>
          </a:p>
        </p:txBody>
      </p:sp>
      <p:pic>
        <p:nvPicPr>
          <p:cNvPr id="137" name="Picture 136" descr="lock.png"/>
          <p:cNvPicPr>
            <a:picLocks noChangeAspect="1"/>
          </p:cNvPicPr>
          <p:nvPr/>
        </p:nvPicPr>
        <p:blipFill>
          <a:blip r:embed="rId22"/>
          <a:stretch>
            <a:fillRect/>
          </a:stretch>
        </p:blipFill>
        <p:spPr>
          <a:xfrm>
            <a:off x="5399223" y="5208733"/>
            <a:ext cx="128699" cy="187198"/>
          </a:xfrm>
          <a:prstGeom prst="rect">
            <a:avLst/>
          </a:prstGeom>
        </p:spPr>
      </p:pic>
      <p:sp>
        <p:nvSpPr>
          <p:cNvPr id="138" name="TextBox 137"/>
          <p:cNvSpPr txBox="1"/>
          <p:nvPr/>
        </p:nvSpPr>
        <p:spPr>
          <a:xfrm>
            <a:off x="5566719" y="521851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9" name="Picture 138" descr="lock.png"/>
          <p:cNvPicPr>
            <a:picLocks noChangeAspect="1"/>
          </p:cNvPicPr>
          <p:nvPr/>
        </p:nvPicPr>
        <p:blipFill>
          <a:blip r:embed="rId22"/>
          <a:stretch>
            <a:fillRect/>
          </a:stretch>
        </p:blipFill>
        <p:spPr>
          <a:xfrm>
            <a:off x="6426169" y="5208733"/>
            <a:ext cx="128699" cy="187198"/>
          </a:xfrm>
          <a:prstGeom prst="rect">
            <a:avLst/>
          </a:prstGeom>
        </p:spPr>
      </p:pic>
      <p:sp>
        <p:nvSpPr>
          <p:cNvPr id="140" name="TextBox 139"/>
          <p:cNvSpPr txBox="1"/>
          <p:nvPr/>
        </p:nvSpPr>
        <p:spPr>
          <a:xfrm>
            <a:off x="6593665" y="5218513"/>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41" name="TextBox 140"/>
          <p:cNvSpPr txBox="1"/>
          <p:nvPr/>
        </p:nvSpPr>
        <p:spPr>
          <a:xfrm>
            <a:off x="3838575" y="5436445"/>
            <a:ext cx="1254100" cy="186689"/>
          </a:xfrm>
          <a:prstGeom prst="rect">
            <a:avLst/>
          </a:prstGeom>
          <a:noFill/>
        </p:spPr>
        <p:txBody>
          <a:bodyPr wrap="none" lIns="0" rIns="0" tIns="0" bIns="0">
            <a:spAutoFit/>
          </a:bodyPr>
          <a:lstStyle/>
          <a:p>
            <a:r>
              <a:rPr sz="1100" b="0">
                <a:solidFill>
                  <a:srgbClr val="2E2E2E"/>
                </a:solidFill>
                <a:latin typeface="Calibri"/>
              </a:rPr>
              <a:t>● Other Direct Sales:</a:t>
            </a:r>
          </a:p>
        </p:txBody>
      </p:sp>
      <p:pic>
        <p:nvPicPr>
          <p:cNvPr id="142" name="Picture 141" descr="lock.png"/>
          <p:cNvPicPr>
            <a:picLocks noChangeAspect="1"/>
          </p:cNvPicPr>
          <p:nvPr/>
        </p:nvPicPr>
        <p:blipFill>
          <a:blip r:embed="rId22"/>
          <a:stretch>
            <a:fillRect/>
          </a:stretch>
        </p:blipFill>
        <p:spPr>
          <a:xfrm>
            <a:off x="5040726" y="5426665"/>
            <a:ext cx="128699" cy="187198"/>
          </a:xfrm>
          <a:prstGeom prst="rect">
            <a:avLst/>
          </a:prstGeom>
        </p:spPr>
      </p:pic>
      <p:sp>
        <p:nvSpPr>
          <p:cNvPr id="143" name="TextBox 142"/>
          <p:cNvSpPr txBox="1"/>
          <p:nvPr/>
        </p:nvSpPr>
        <p:spPr>
          <a:xfrm>
            <a:off x="5208222" y="543644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4" name="Picture 143" descr="lock.png"/>
          <p:cNvPicPr>
            <a:picLocks noChangeAspect="1"/>
          </p:cNvPicPr>
          <p:nvPr/>
        </p:nvPicPr>
        <p:blipFill>
          <a:blip r:embed="rId22"/>
          <a:stretch>
            <a:fillRect/>
          </a:stretch>
        </p:blipFill>
        <p:spPr>
          <a:xfrm>
            <a:off x="6067672" y="5426665"/>
            <a:ext cx="128699" cy="187198"/>
          </a:xfrm>
          <a:prstGeom prst="rect">
            <a:avLst/>
          </a:prstGeom>
        </p:spPr>
      </p:pic>
      <p:sp>
        <p:nvSpPr>
          <p:cNvPr id="145" name="TextBox 144"/>
          <p:cNvSpPr txBox="1"/>
          <p:nvPr/>
        </p:nvSpPr>
        <p:spPr>
          <a:xfrm>
            <a:off x="6235168" y="5436445"/>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6" name="TextBox 145"/>
          <p:cNvSpPr txBox="1"/>
          <p:nvPr/>
        </p:nvSpPr>
        <p:spPr>
          <a:xfrm>
            <a:off x="3838575" y="5654377"/>
            <a:ext cx="1033363" cy="186689"/>
          </a:xfrm>
          <a:prstGeom prst="rect">
            <a:avLst/>
          </a:prstGeom>
          <a:noFill/>
        </p:spPr>
        <p:txBody>
          <a:bodyPr wrap="none" lIns="0" rIns="0" tIns="0" bIns="0">
            <a:spAutoFit/>
          </a:bodyPr>
          <a:lstStyle/>
          <a:p>
            <a:r>
              <a:rPr sz="1100" b="0">
                <a:solidFill>
                  <a:srgbClr val="2E2E2E"/>
                </a:solidFill>
                <a:latin typeface="Calibri"/>
              </a:rPr>
              <a:t>● General Retail:</a:t>
            </a:r>
          </a:p>
        </p:txBody>
      </p:sp>
      <p:pic>
        <p:nvPicPr>
          <p:cNvPr id="147" name="Picture 146" descr="lock.png"/>
          <p:cNvPicPr>
            <a:picLocks noChangeAspect="1"/>
          </p:cNvPicPr>
          <p:nvPr/>
        </p:nvPicPr>
        <p:blipFill>
          <a:blip r:embed="rId22"/>
          <a:stretch>
            <a:fillRect/>
          </a:stretch>
        </p:blipFill>
        <p:spPr>
          <a:xfrm>
            <a:off x="4819989" y="5644597"/>
            <a:ext cx="128699" cy="187198"/>
          </a:xfrm>
          <a:prstGeom prst="rect">
            <a:avLst/>
          </a:prstGeom>
        </p:spPr>
      </p:pic>
      <p:sp>
        <p:nvSpPr>
          <p:cNvPr id="148" name="TextBox 147"/>
          <p:cNvSpPr txBox="1"/>
          <p:nvPr/>
        </p:nvSpPr>
        <p:spPr>
          <a:xfrm>
            <a:off x="4987485" y="565437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9" name="Picture 148" descr="lock.png"/>
          <p:cNvPicPr>
            <a:picLocks noChangeAspect="1"/>
          </p:cNvPicPr>
          <p:nvPr/>
        </p:nvPicPr>
        <p:blipFill>
          <a:blip r:embed="rId22"/>
          <a:stretch>
            <a:fillRect/>
          </a:stretch>
        </p:blipFill>
        <p:spPr>
          <a:xfrm>
            <a:off x="5846935" y="5644597"/>
            <a:ext cx="128699" cy="187198"/>
          </a:xfrm>
          <a:prstGeom prst="rect">
            <a:avLst/>
          </a:prstGeom>
        </p:spPr>
      </p:pic>
      <p:sp>
        <p:nvSpPr>
          <p:cNvPr id="150" name="TextBox 149"/>
          <p:cNvSpPr txBox="1"/>
          <p:nvPr/>
        </p:nvSpPr>
        <p:spPr>
          <a:xfrm>
            <a:off x="6014431" y="565437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51" name="TextBox 150"/>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Sales Channel segment is projected to grow at a</a:t>
            </a:r>
          </a:p>
        </p:txBody>
      </p:sp>
      <p:sp>
        <p:nvSpPr>
          <p:cNvPr id="152" name="TextBox 151"/>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53" name="Picture 152" descr="lock.png"/>
          <p:cNvPicPr>
            <a:picLocks noChangeAspect="1"/>
          </p:cNvPicPr>
          <p:nvPr/>
        </p:nvPicPr>
        <p:blipFill>
          <a:blip r:embed="rId22"/>
          <a:stretch>
            <a:fillRect/>
          </a:stretch>
        </p:blipFill>
        <p:spPr>
          <a:xfrm>
            <a:off x="9048826" y="6007677"/>
            <a:ext cx="134549" cy="195707"/>
          </a:xfrm>
          <a:prstGeom prst="rect">
            <a:avLst/>
          </a:prstGeom>
        </p:spPr>
      </p:pic>
      <p:sp>
        <p:nvSpPr>
          <p:cNvPr id="154" name="TextBox 153"/>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Sales Channel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Sales Channel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Sales Channel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Sales Channel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619731" cy="186689"/>
          </a:xfrm>
          <a:prstGeom prst="rect">
            <a:avLst/>
          </a:prstGeom>
          <a:noFill/>
        </p:spPr>
        <p:txBody>
          <a:bodyPr wrap="none" lIns="0" rIns="0" tIns="0" bIns="0">
            <a:spAutoFit/>
          </a:bodyPr>
          <a:lstStyle/>
          <a:p>
            <a:r>
              <a:rPr sz="1100" b="0">
                <a:solidFill>
                  <a:srgbClr val="2E2E2E"/>
                </a:solidFill>
                <a:latin typeface="Calibri"/>
              </a:rPr>
              <a:t>Specialist pet retail followed by third-party e-commerce are expected to be the two most attractive sales channel segments in the North America senior dog cognitive supplement market in terms of value</a:t>
            </a:r>
          </a:p>
        </p:txBody>
      </p:sp>
      <p:sp>
        <p:nvSpPr>
          <p:cNvPr id="20" name="TextBox 19"/>
          <p:cNvSpPr txBox="1"/>
          <p:nvPr/>
        </p:nvSpPr>
        <p:spPr>
          <a:xfrm>
            <a:off x="257175" y="5861685"/>
            <a:ext cx="5616706" cy="186689"/>
          </a:xfrm>
          <a:prstGeom prst="rect">
            <a:avLst/>
          </a:prstGeom>
          <a:noFill/>
        </p:spPr>
        <p:txBody>
          <a:bodyPr wrap="none" lIns="0" rIns="0" tIns="0" bIns="0">
            <a:spAutoFit/>
          </a:bodyPr>
          <a:lstStyle/>
          <a:p>
            <a:r>
              <a:rPr sz="1100" b="0">
                <a:solidFill>
                  <a:srgbClr val="2E2E2E"/>
                </a:solidFill>
                <a:latin typeface="Calibri"/>
              </a:rPr>
              <a:t>over the forecast period. Specialist pet retail and Third-Party e-commerce exhibit a CAGR index of</a:t>
            </a:r>
          </a:p>
        </p:txBody>
      </p:sp>
      <p:pic>
        <p:nvPicPr>
          <p:cNvPr id="21" name="Picture 20" descr="lock.png"/>
          <p:cNvPicPr>
            <a:picLocks noChangeAspect="1"/>
          </p:cNvPicPr>
          <p:nvPr/>
        </p:nvPicPr>
        <p:blipFill>
          <a:blip r:embed="rId6"/>
          <a:stretch>
            <a:fillRect/>
          </a:stretch>
        </p:blipFill>
        <p:spPr>
          <a:xfrm>
            <a:off x="5821933" y="5851905"/>
            <a:ext cx="128699" cy="187198"/>
          </a:xfrm>
          <a:prstGeom prst="rect">
            <a:avLst/>
          </a:prstGeom>
        </p:spPr>
      </p:pic>
      <p:sp>
        <p:nvSpPr>
          <p:cNvPr id="22" name="TextBox 21"/>
          <p:cNvSpPr txBox="1"/>
          <p:nvPr/>
        </p:nvSpPr>
        <p:spPr>
          <a:xfrm>
            <a:off x="5989429"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6227323" y="5851905"/>
            <a:ext cx="128699" cy="187198"/>
          </a:xfrm>
          <a:prstGeom prst="rect">
            <a:avLst/>
          </a:prstGeom>
        </p:spPr>
      </p:pic>
      <p:sp>
        <p:nvSpPr>
          <p:cNvPr id="24" name="TextBox 23"/>
          <p:cNvSpPr txBox="1"/>
          <p:nvPr/>
        </p:nvSpPr>
        <p:spPr>
          <a:xfrm>
            <a:off x="6394819"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8003792" y="5851905"/>
            <a:ext cx="128699" cy="187198"/>
          </a:xfrm>
          <a:prstGeom prst="rect">
            <a:avLst/>
          </a:prstGeom>
        </p:spPr>
      </p:pic>
      <p:sp>
        <p:nvSpPr>
          <p:cNvPr id="26" name="TextBox 25"/>
          <p:cNvSpPr txBox="1"/>
          <p:nvPr/>
        </p:nvSpPr>
        <p:spPr>
          <a:xfrm>
            <a:off x="8171288"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8409183" y="5851905"/>
            <a:ext cx="128699" cy="187198"/>
          </a:xfrm>
          <a:prstGeom prst="rect">
            <a:avLst/>
          </a:prstGeom>
        </p:spPr>
      </p:pic>
      <p:sp>
        <p:nvSpPr>
          <p:cNvPr id="28" name="TextBox 27"/>
          <p:cNvSpPr txBox="1"/>
          <p:nvPr/>
        </p:nvSpPr>
        <p:spPr>
          <a:xfrm>
            <a:off x="8576678"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11131082" y="5851905"/>
            <a:ext cx="128699" cy="187198"/>
          </a:xfrm>
          <a:prstGeom prst="rect">
            <a:avLst/>
          </a:prstGeom>
        </p:spPr>
      </p:pic>
      <p:sp>
        <p:nvSpPr>
          <p:cNvPr id="30" name="TextBox 29"/>
          <p:cNvSpPr txBox="1"/>
          <p:nvPr/>
        </p:nvSpPr>
        <p:spPr>
          <a:xfrm>
            <a:off x="11298578" y="586168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31" name="TextBox 30"/>
          <p:cNvSpPr txBox="1"/>
          <p:nvPr/>
        </p:nvSpPr>
        <p:spPr>
          <a:xfrm>
            <a:off x="257175" y="6029325"/>
            <a:ext cx="11658169" cy="186689"/>
          </a:xfrm>
          <a:prstGeom prst="rect">
            <a:avLst/>
          </a:prstGeom>
          <a:noFill/>
        </p:spPr>
        <p:txBody>
          <a:bodyPr wrap="none" lIns="0" rIns="0" tIns="0" bIns="0">
            <a:spAutoFit/>
          </a:bodyPr>
          <a:lstStyle/>
          <a:p>
            <a:r>
              <a:rPr sz="1100" b="0">
                <a:solidFill>
                  <a:srgbClr val="2E2E2E"/>
                </a:solidFill>
                <a:latin typeface="Calibri"/>
              </a:rPr>
              <a:t>The general retail segment is expected to be less attractive as compared to other segments over the forecast period, owing to its lower CAGR and incremental opportunity. Bubbles right of the CAGR-Index</a:t>
            </a:r>
          </a:p>
        </p:txBody>
      </p:sp>
      <p:sp>
        <p:nvSpPr>
          <p:cNvPr id="32" name="TextBox 31"/>
          <p:cNvSpPr txBox="1"/>
          <p:nvPr/>
        </p:nvSpPr>
        <p:spPr>
          <a:xfrm>
            <a:off x="257175" y="6196965"/>
            <a:ext cx="2518494" cy="186689"/>
          </a:xfrm>
          <a:prstGeom prst="rect">
            <a:avLst/>
          </a:prstGeom>
          <a:noFill/>
        </p:spPr>
        <p:txBody>
          <a:bodyPr wrap="none" lIns="0" rIns="0" tIns="0" bIns="0">
            <a:spAutoFit/>
          </a:bodyPr>
          <a:lstStyle/>
          <a:p>
            <a:r>
              <a:rPr sz="1100" b="0">
                <a:solidFill>
                  <a:srgbClr val="2E2E2E"/>
                </a:solidFill>
                <a:latin typeface="Calibri"/>
              </a:rPr>
              <a:t>line grow faster than the segment average.</a:t>
            </a:r>
          </a:p>
        </p:txBody>
      </p:sp>
      <p:sp>
        <p:nvSpPr>
          <p:cNvPr id="33"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Sales Channel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Sales Channel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Veterinary Channels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Specialist Pet Retail</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General Retail</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Brand-Owned E-commerce</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Sales Channel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Sales Channel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Third-Party E-commerce</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Other Direct Sales</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Sales Channel</a:t>
            </a:r>
          </a:p>
        </p:txBody>
      </p:sp>
      <p:sp>
        <p:nvSpPr>
          <p:cNvPr id="18" name="Rectangle 17"/>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6"/>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6"/>
          <a:stretch>
            <a:fillRect/>
          </a:stretch>
        </p:blipFill>
        <p:spPr>
          <a:xfrm>
            <a:off x="3100230" y="5216754"/>
            <a:ext cx="252890" cy="367840"/>
          </a:xfrm>
          <a:prstGeom prst="rect">
            <a:avLst/>
          </a:prstGeom>
        </p:spPr>
      </p:pic>
      <p:sp>
        <p:nvSpPr>
          <p:cNvPr id="23" name="TextBox 22"/>
          <p:cNvSpPr txBox="1"/>
          <p:nvPr/>
        </p:nvSpPr>
        <p:spPr>
          <a:xfrm>
            <a:off x="6305550" y="1598245"/>
            <a:ext cx="4621413" cy="194310"/>
          </a:xfrm>
          <a:prstGeom prst="rect">
            <a:avLst/>
          </a:prstGeom>
          <a:noFill/>
        </p:spPr>
        <p:txBody>
          <a:bodyPr wrap="none" lIns="0" rIns="0" tIns="0" bIns="0">
            <a:spAutoFit/>
          </a:bodyPr>
          <a:lstStyle/>
          <a:p>
            <a:r>
              <a:rPr sz="1150" b="0">
                <a:solidFill>
                  <a:srgbClr val="2E2E2E"/>
                </a:solidFill>
                <a:latin typeface="Calibri"/>
              </a:rPr>
              <a:t>By 2036, specialist pet retail segment is anticipated to witness an increase of</a:t>
            </a:r>
          </a:p>
        </p:txBody>
      </p:sp>
      <p:pic>
        <p:nvPicPr>
          <p:cNvPr id="24" name="Picture 23" descr="lock.png"/>
          <p:cNvPicPr>
            <a:picLocks noChangeAspect="1"/>
          </p:cNvPicPr>
          <p:nvPr/>
        </p:nvPicPr>
        <p:blipFill>
          <a:blip r:embed="rId6"/>
          <a:stretch>
            <a:fillRect/>
          </a:stretch>
        </p:blipFill>
        <p:spPr>
          <a:xfrm>
            <a:off x="10876117" y="1588021"/>
            <a:ext cx="134549" cy="195707"/>
          </a:xfrm>
          <a:prstGeom prst="rect">
            <a:avLst/>
          </a:prstGeom>
        </p:spPr>
      </p:pic>
      <p:sp>
        <p:nvSpPr>
          <p:cNvPr id="25" name="TextBox 24"/>
          <p:cNvSpPr txBox="1"/>
          <p:nvPr/>
        </p:nvSpPr>
        <p:spPr>
          <a:xfrm>
            <a:off x="11051226" y="1598245"/>
            <a:ext cx="829840" cy="194310"/>
          </a:xfrm>
          <a:prstGeom prst="rect">
            <a:avLst/>
          </a:prstGeom>
          <a:noFill/>
        </p:spPr>
        <p:txBody>
          <a:bodyPr wrap="none" lIns="0" rIns="0" tIns="0" bIns="0">
            <a:spAutoFit/>
          </a:bodyPr>
          <a:lstStyle/>
          <a:p>
            <a:r>
              <a:rPr sz="1150" b="0">
                <a:solidFill>
                  <a:srgbClr val="2E2E2E"/>
                </a:solidFill>
                <a:latin typeface="Calibri"/>
              </a:rPr>
              <a:t>X in terms of</a:t>
            </a:r>
          </a:p>
        </p:txBody>
      </p:sp>
      <p:sp>
        <p:nvSpPr>
          <p:cNvPr id="26" name="TextBox 25"/>
          <p:cNvSpPr txBox="1"/>
          <p:nvPr/>
        </p:nvSpPr>
        <p:spPr>
          <a:xfrm>
            <a:off x="6305550" y="1773505"/>
            <a:ext cx="5122912" cy="194310"/>
          </a:xfrm>
          <a:prstGeom prst="rect">
            <a:avLst/>
          </a:prstGeom>
          <a:noFill/>
        </p:spPr>
        <p:txBody>
          <a:bodyPr wrap="none" lIns="0" rIns="0" tIns="0" bIns="0">
            <a:spAutoFit/>
          </a:bodyPr>
          <a:lstStyle/>
          <a:p>
            <a:r>
              <a:rPr sz="1150" b="0">
                <a:solidFill>
                  <a:srgbClr val="2E2E2E"/>
                </a:solidFill>
                <a:latin typeface="Calibri"/>
              </a:rPr>
              <a:t>value as compared to 2026. The specialist pet retail segment is expected to create an</a:t>
            </a:r>
          </a:p>
        </p:txBody>
      </p:sp>
      <p:sp>
        <p:nvSpPr>
          <p:cNvPr id="27" name="TextBox 26"/>
          <p:cNvSpPr txBox="1"/>
          <p:nvPr/>
        </p:nvSpPr>
        <p:spPr>
          <a:xfrm>
            <a:off x="6305550" y="1948765"/>
            <a:ext cx="1956879" cy="194310"/>
          </a:xfrm>
          <a:prstGeom prst="rect">
            <a:avLst/>
          </a:prstGeom>
          <a:noFill/>
        </p:spPr>
        <p:txBody>
          <a:bodyPr wrap="none" lIns="0" rIns="0" tIns="0" bIns="0">
            <a:spAutoFit/>
          </a:bodyPr>
          <a:lstStyle/>
          <a:p>
            <a:r>
              <a:rPr sz="1150" b="0">
                <a:solidFill>
                  <a:srgbClr val="2E2E2E"/>
                </a:solidFill>
                <a:latin typeface="Calibri"/>
              </a:rPr>
              <a:t>incremental opportunity of US$</a:t>
            </a:r>
          </a:p>
        </p:txBody>
      </p:sp>
      <p:pic>
        <p:nvPicPr>
          <p:cNvPr id="28" name="Picture 27" descr="lock.png"/>
          <p:cNvPicPr>
            <a:picLocks noChangeAspect="1"/>
          </p:cNvPicPr>
          <p:nvPr/>
        </p:nvPicPr>
        <p:blipFill>
          <a:blip r:embed="rId6"/>
          <a:stretch>
            <a:fillRect/>
          </a:stretch>
        </p:blipFill>
        <p:spPr>
          <a:xfrm>
            <a:off x="8211582" y="1938541"/>
            <a:ext cx="134549" cy="195707"/>
          </a:xfrm>
          <a:prstGeom prst="rect">
            <a:avLst/>
          </a:prstGeom>
        </p:spPr>
      </p:pic>
      <p:sp>
        <p:nvSpPr>
          <p:cNvPr id="29" name="TextBox 28"/>
          <p:cNvSpPr txBox="1"/>
          <p:nvPr/>
        </p:nvSpPr>
        <p:spPr>
          <a:xfrm>
            <a:off x="8386692" y="1948765"/>
            <a:ext cx="3123567" cy="194310"/>
          </a:xfrm>
          <a:prstGeom prst="rect">
            <a:avLst/>
          </a:prstGeom>
          <a:noFill/>
        </p:spPr>
        <p:txBody>
          <a:bodyPr wrap="none" lIns="0" rIns="0" tIns="0" bIns="0">
            <a:spAutoFit/>
          </a:bodyPr>
          <a:lstStyle/>
          <a:p>
            <a:r>
              <a:rPr sz="1150" b="0">
                <a:solidFill>
                  <a:srgbClr val="2E2E2E"/>
                </a:solidFill>
                <a:latin typeface="Calibri"/>
              </a:rPr>
              <a:t>Mn for the overall senior dog cognitive supplement</a:t>
            </a:r>
          </a:p>
        </p:txBody>
      </p:sp>
      <p:sp>
        <p:nvSpPr>
          <p:cNvPr id="30" name="TextBox 29"/>
          <p:cNvSpPr txBox="1"/>
          <p:nvPr/>
        </p:nvSpPr>
        <p:spPr>
          <a:xfrm>
            <a:off x="6305550" y="2124025"/>
            <a:ext cx="1679897" cy="194310"/>
          </a:xfrm>
          <a:prstGeom prst="rect">
            <a:avLst/>
          </a:prstGeom>
          <a:noFill/>
        </p:spPr>
        <p:txBody>
          <a:bodyPr wrap="none" lIns="0" rIns="0" tIns="0" bIns="0">
            <a:spAutoFit/>
          </a:bodyPr>
          <a:lstStyle/>
          <a:p>
            <a:r>
              <a:rPr sz="1150" b="0">
                <a:solidFill>
                  <a:srgbClr val="2E2E2E"/>
                </a:solidFill>
                <a:latin typeface="Calibri"/>
              </a:rPr>
              <a:t>market from 2026 to 2036.</a:t>
            </a:r>
          </a:p>
        </p:txBody>
      </p:sp>
      <p:sp>
        <p:nvSpPr>
          <p:cNvPr id="31" name="TextBox 30"/>
          <p:cNvSpPr txBox="1"/>
          <p:nvPr/>
        </p:nvSpPr>
        <p:spPr>
          <a:xfrm>
            <a:off x="6305550" y="2351863"/>
            <a:ext cx="5422143" cy="194310"/>
          </a:xfrm>
          <a:prstGeom prst="rect">
            <a:avLst/>
          </a:prstGeom>
          <a:noFill/>
        </p:spPr>
        <p:txBody>
          <a:bodyPr wrap="none" lIns="0" rIns="0" tIns="0" bIns="0">
            <a:spAutoFit/>
          </a:bodyPr>
          <a:lstStyle/>
          <a:p>
            <a:r>
              <a:rPr sz="1150" b="0">
                <a:solidFill>
                  <a:srgbClr val="2E2E2E"/>
                </a:solidFill>
                <a:latin typeface="Calibri"/>
              </a:rPr>
              <a:t>The Third-Party e-commerce segment is expected to create an incremental opportunity of</a:t>
            </a:r>
          </a:p>
        </p:txBody>
      </p:sp>
      <p:sp>
        <p:nvSpPr>
          <p:cNvPr id="32" name="TextBox 31"/>
          <p:cNvSpPr txBox="1"/>
          <p:nvPr/>
        </p:nvSpPr>
        <p:spPr>
          <a:xfrm>
            <a:off x="6305550" y="2527123"/>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33" name="Picture 32" descr="lock.png"/>
          <p:cNvPicPr>
            <a:picLocks noChangeAspect="1"/>
          </p:cNvPicPr>
          <p:nvPr/>
        </p:nvPicPr>
        <p:blipFill>
          <a:blip r:embed="rId6"/>
          <a:stretch>
            <a:fillRect/>
          </a:stretch>
        </p:blipFill>
        <p:spPr>
          <a:xfrm>
            <a:off x="6565953" y="2516899"/>
            <a:ext cx="134549" cy="195707"/>
          </a:xfrm>
          <a:prstGeom prst="rect">
            <a:avLst/>
          </a:prstGeom>
        </p:spPr>
      </p:pic>
      <p:sp>
        <p:nvSpPr>
          <p:cNvPr id="34" name="TextBox 33"/>
          <p:cNvSpPr txBox="1"/>
          <p:nvPr/>
        </p:nvSpPr>
        <p:spPr>
          <a:xfrm>
            <a:off x="6741062" y="2527123"/>
            <a:ext cx="5014230" cy="194310"/>
          </a:xfrm>
          <a:prstGeom prst="rect">
            <a:avLst/>
          </a:prstGeom>
          <a:noFill/>
        </p:spPr>
        <p:txBody>
          <a:bodyPr wrap="none" lIns="0" rIns="0" tIns="0" bIns="0">
            <a:spAutoFit/>
          </a:bodyPr>
          <a:lstStyle/>
          <a:p>
            <a:r>
              <a:rPr sz="1150" b="0">
                <a:solidFill>
                  <a:srgbClr val="2E2E2E"/>
                </a:solidFill>
                <a:latin typeface="Calibri"/>
              </a:rPr>
              <a:t>Mn for the overall senior dog cognitive supplement market from 2026 to 2036. The</a:t>
            </a:r>
          </a:p>
        </p:txBody>
      </p:sp>
      <p:sp>
        <p:nvSpPr>
          <p:cNvPr id="35" name="TextBox 34"/>
          <p:cNvSpPr txBox="1"/>
          <p:nvPr/>
        </p:nvSpPr>
        <p:spPr>
          <a:xfrm>
            <a:off x="6305550" y="2702383"/>
            <a:ext cx="5156572" cy="194310"/>
          </a:xfrm>
          <a:prstGeom prst="rect">
            <a:avLst/>
          </a:prstGeom>
          <a:noFill/>
        </p:spPr>
        <p:txBody>
          <a:bodyPr wrap="none" lIns="0" rIns="0" tIns="0" bIns="0">
            <a:spAutoFit/>
          </a:bodyPr>
          <a:lstStyle/>
          <a:p>
            <a:r>
              <a:rPr sz="1150" b="0">
                <a:solidFill>
                  <a:srgbClr val="2E2E2E"/>
                </a:solidFill>
                <a:latin typeface="Calibri"/>
              </a:rPr>
              <a:t>veterinary channels segment is expected to create an incremental opportunity of US$</a:t>
            </a:r>
          </a:p>
        </p:txBody>
      </p:sp>
      <p:pic>
        <p:nvPicPr>
          <p:cNvPr id="36" name="Picture 35" descr="lock.png"/>
          <p:cNvPicPr>
            <a:picLocks noChangeAspect="1"/>
          </p:cNvPicPr>
          <p:nvPr/>
        </p:nvPicPr>
        <p:blipFill>
          <a:blip r:embed="rId6"/>
          <a:stretch>
            <a:fillRect/>
          </a:stretch>
        </p:blipFill>
        <p:spPr>
          <a:xfrm>
            <a:off x="11411276" y="2692159"/>
            <a:ext cx="134549" cy="195707"/>
          </a:xfrm>
          <a:prstGeom prst="rect">
            <a:avLst/>
          </a:prstGeom>
        </p:spPr>
      </p:pic>
      <p:sp>
        <p:nvSpPr>
          <p:cNvPr id="37" name="TextBox 36"/>
          <p:cNvSpPr txBox="1"/>
          <p:nvPr/>
        </p:nvSpPr>
        <p:spPr>
          <a:xfrm>
            <a:off x="11586385" y="2702383"/>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38" name="TextBox 37"/>
          <p:cNvSpPr txBox="1"/>
          <p:nvPr/>
        </p:nvSpPr>
        <p:spPr>
          <a:xfrm>
            <a:off x="6305550" y="2877643"/>
            <a:ext cx="4525590" cy="194310"/>
          </a:xfrm>
          <a:prstGeom prst="rect">
            <a:avLst/>
          </a:prstGeom>
          <a:noFill/>
        </p:spPr>
        <p:txBody>
          <a:bodyPr wrap="none" lIns="0" rIns="0" tIns="0" bIns="0">
            <a:spAutoFit/>
          </a:bodyPr>
          <a:lstStyle/>
          <a:p>
            <a:r>
              <a:rPr sz="1150" b="0">
                <a:solidFill>
                  <a:srgbClr val="2E2E2E"/>
                </a:solidFill>
                <a:latin typeface="Calibri"/>
              </a:rPr>
              <a:t>for the overall senior dog cognitive supplement market from 2026 to 2036.</a:t>
            </a:r>
          </a:p>
        </p:txBody>
      </p:sp>
      <p:sp>
        <p:nvSpPr>
          <p:cNvPr id="39"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Sales Channel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Sales Channel, 2021–2036, highlighting the sub-segments driving growth</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Sales Channel (US$ Mn)</a:t>
            </a:r>
          </a:p>
        </p:txBody>
      </p:sp>
      <p:graphicFrame>
        <p:nvGraphicFramePr>
          <p:cNvPr id="12" name="Table 11"/>
          <p:cNvGraphicFramePr>
            <a:graphicFrameLocks noGrp="1"/>
          </p:cNvGraphicFramePr>
          <p:nvPr/>
        </p:nvGraphicFramePr>
        <p:xfrm>
          <a:off x="152400" y="1238250"/>
          <a:ext cx="11887204" cy="1971675"/>
        </p:xfrm>
        <a:graphic>
          <a:graphicData uri="http://schemas.openxmlformats.org/drawingml/2006/table">
            <a:tbl>
              <a:tblPr>
                <a:tableStyleId>{5C22544A-7EE6-4342-B048-85BDC9FD1C3A}</a:tableStyleId>
              </a:tblPr>
              <a:tblGrid>
                <a:gridCol w="1844471"/>
                <a:gridCol w="590749"/>
                <a:gridCol w="590749"/>
                <a:gridCol w="590749"/>
                <a:gridCol w="590749"/>
                <a:gridCol w="590749"/>
                <a:gridCol w="590749"/>
                <a:gridCol w="590749"/>
                <a:gridCol w="590749"/>
                <a:gridCol w="590749"/>
                <a:gridCol w="590749"/>
                <a:gridCol w="590749"/>
                <a:gridCol w="590749"/>
                <a:gridCol w="590749"/>
                <a:gridCol w="590749"/>
                <a:gridCol w="590749"/>
                <a:gridCol w="590749"/>
                <a:gridCol w="590749"/>
              </a:tblGrid>
              <a:tr h="246126">
                <a:tc>
                  <a:txBody>
                    <a:bodyPr wrap="none"/>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Veterinary Channels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Specialist Pet Retail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General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Brand-Owned E-commerce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Third-Party E-commerce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Other Direct Sales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Sales Channel</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831547" y="2080450"/>
            <a:ext cx="366712" cy="533400"/>
          </a:xfrm>
          <a:prstGeom prst="rect">
            <a:avLst/>
          </a:prstGeom>
        </p:spPr>
      </p:pic>
      <p:sp>
        <p:nvSpPr>
          <p:cNvPr id="20" name="TextBox 19"/>
          <p:cNvSpPr txBox="1"/>
          <p:nvPr/>
        </p:nvSpPr>
        <p:spPr>
          <a:xfrm>
            <a:off x="276225" y="3971925"/>
            <a:ext cx="3186038" cy="194310"/>
          </a:xfrm>
          <a:prstGeom prst="rect">
            <a:avLst/>
          </a:prstGeom>
          <a:noFill/>
        </p:spPr>
        <p:txBody>
          <a:bodyPr wrap="none" lIns="0" rIns="0" tIns="0" bIns="0">
            <a:spAutoFit/>
          </a:bodyPr>
          <a:lstStyle/>
          <a:p>
            <a:r>
              <a:rPr sz="1150" b="0">
                <a:solidFill>
                  <a:srgbClr val="2E2E2E"/>
                </a:solidFill>
                <a:latin typeface="Calibri"/>
              </a:rPr>
              <a:t>Veterinary channels segment is projected to register</a:t>
            </a:r>
          </a:p>
        </p:txBody>
      </p:sp>
      <p:pic>
        <p:nvPicPr>
          <p:cNvPr id="21" name="Picture 20" descr="lock.png"/>
          <p:cNvPicPr>
            <a:picLocks noChangeAspect="1"/>
          </p:cNvPicPr>
          <p:nvPr/>
        </p:nvPicPr>
        <p:blipFill>
          <a:blip r:embed="rId4"/>
          <a:stretch>
            <a:fillRect/>
          </a:stretch>
        </p:blipFill>
        <p:spPr>
          <a:xfrm>
            <a:off x="3411417" y="3961701"/>
            <a:ext cx="134549" cy="195707"/>
          </a:xfrm>
          <a:prstGeom prst="rect">
            <a:avLst/>
          </a:prstGeom>
        </p:spPr>
      </p:pic>
      <p:sp>
        <p:nvSpPr>
          <p:cNvPr id="22" name="TextBox 21"/>
          <p:cNvSpPr txBox="1"/>
          <p:nvPr/>
        </p:nvSpPr>
        <p:spPr>
          <a:xfrm>
            <a:off x="3586526" y="3971925"/>
            <a:ext cx="7576095" cy="194310"/>
          </a:xfrm>
          <a:prstGeom prst="rect">
            <a:avLst/>
          </a:prstGeom>
          <a:noFill/>
        </p:spPr>
        <p:txBody>
          <a:bodyPr wrap="none" lIns="0" rIns="0" tIns="0" bIns="0">
            <a:spAutoFit/>
          </a:bodyPr>
          <a:lstStyle/>
          <a:p>
            <a:r>
              <a:rPr sz="1150" b="0">
                <a:solidFill>
                  <a:srgbClr val="2E2E2E"/>
                </a:solidFill>
                <a:latin typeface="Calibri"/>
              </a:rPr>
              <a:t>X higher value than specialist pet retail segment in 2036. Among senior dog cognitive supplement by sales channel, third-party</a:t>
            </a:r>
          </a:p>
        </p:txBody>
      </p:sp>
      <p:sp>
        <p:nvSpPr>
          <p:cNvPr id="23" name="TextBox 22"/>
          <p:cNvSpPr txBox="1"/>
          <p:nvPr/>
        </p:nvSpPr>
        <p:spPr>
          <a:xfrm>
            <a:off x="276225" y="4147185"/>
            <a:ext cx="3937949" cy="194310"/>
          </a:xfrm>
          <a:prstGeom prst="rect">
            <a:avLst/>
          </a:prstGeom>
          <a:noFill/>
        </p:spPr>
        <p:txBody>
          <a:bodyPr wrap="none" lIns="0" rIns="0" tIns="0" bIns="0">
            <a:spAutoFit/>
          </a:bodyPr>
          <a:lstStyle/>
          <a:p>
            <a:r>
              <a:rPr sz="1150" b="0">
                <a:solidFill>
                  <a:srgbClr val="2E2E2E"/>
                </a:solidFill>
                <a:latin typeface="Calibri"/>
              </a:rPr>
              <a:t>e-commerce segment is expected to witness the highest CAGR of</a:t>
            </a:r>
          </a:p>
        </p:txBody>
      </p:sp>
      <p:pic>
        <p:nvPicPr>
          <p:cNvPr id="24" name="Picture 23" descr="lock.png"/>
          <p:cNvPicPr>
            <a:picLocks noChangeAspect="1"/>
          </p:cNvPicPr>
          <p:nvPr/>
        </p:nvPicPr>
        <p:blipFill>
          <a:blip r:embed="rId4"/>
          <a:stretch>
            <a:fillRect/>
          </a:stretch>
        </p:blipFill>
        <p:spPr>
          <a:xfrm>
            <a:off x="4163328" y="4136961"/>
            <a:ext cx="134549" cy="195707"/>
          </a:xfrm>
          <a:prstGeom prst="rect">
            <a:avLst/>
          </a:prstGeom>
        </p:spPr>
      </p:pic>
      <p:sp>
        <p:nvSpPr>
          <p:cNvPr id="25" name="TextBox 24"/>
          <p:cNvSpPr txBox="1"/>
          <p:nvPr/>
        </p:nvSpPr>
        <p:spPr>
          <a:xfrm>
            <a:off x="4338437"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7027837" cy="194310"/>
          </a:xfrm>
          <a:prstGeom prst="rect">
            <a:avLst/>
          </a:prstGeom>
          <a:noFill/>
        </p:spPr>
        <p:txBody>
          <a:bodyPr wrap="none" lIns="0" rIns="0" tIns="0" bIns="0">
            <a:spAutoFit/>
          </a:bodyPr>
          <a:lstStyle/>
          <a:p>
            <a:r>
              <a:rPr sz="1150" b="0">
                <a:solidFill>
                  <a:srgbClr val="2E2E2E"/>
                </a:solidFill>
                <a:latin typeface="Calibri"/>
              </a:rPr>
              <a:t>In terms of value share by sales channel, the veterinary channels segment is expected to dominate the market, losing</a:t>
            </a:r>
          </a:p>
        </p:txBody>
      </p:sp>
      <p:pic>
        <p:nvPicPr>
          <p:cNvPr id="27" name="Picture 26" descr="lock.png"/>
          <p:cNvPicPr>
            <a:picLocks noChangeAspect="1"/>
          </p:cNvPicPr>
          <p:nvPr/>
        </p:nvPicPr>
        <p:blipFill>
          <a:blip r:embed="rId4"/>
          <a:stretch>
            <a:fillRect/>
          </a:stretch>
        </p:blipFill>
        <p:spPr>
          <a:xfrm>
            <a:off x="7253216" y="4364799"/>
            <a:ext cx="134549" cy="195707"/>
          </a:xfrm>
          <a:prstGeom prst="rect">
            <a:avLst/>
          </a:prstGeom>
        </p:spPr>
      </p:pic>
      <p:sp>
        <p:nvSpPr>
          <p:cNvPr id="28" name="TextBox 27"/>
          <p:cNvSpPr txBox="1"/>
          <p:nvPr/>
        </p:nvSpPr>
        <p:spPr>
          <a:xfrm>
            <a:off x="7428325"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823469" y="4364799"/>
            <a:ext cx="134549" cy="195707"/>
          </a:xfrm>
          <a:prstGeom prst="rect">
            <a:avLst/>
          </a:prstGeom>
        </p:spPr>
      </p:pic>
      <p:sp>
        <p:nvSpPr>
          <p:cNvPr id="30" name="TextBox 29"/>
          <p:cNvSpPr txBox="1"/>
          <p:nvPr/>
        </p:nvSpPr>
        <p:spPr>
          <a:xfrm>
            <a:off x="8998578" y="4375022"/>
            <a:ext cx="2036750" cy="194310"/>
          </a:xfrm>
          <a:prstGeom prst="rect">
            <a:avLst/>
          </a:prstGeom>
          <a:noFill/>
        </p:spPr>
        <p:txBody>
          <a:bodyPr wrap="none" lIns="0" rIns="0" tIns="0" bIns="0">
            <a:spAutoFit/>
          </a:bodyPr>
          <a:lstStyle/>
          <a:p>
            <a:r>
              <a:rPr sz="1150" b="0">
                <a:solidFill>
                  <a:srgbClr val="2E2E2E"/>
                </a:solidFill>
                <a:latin typeface="Calibri"/>
              </a:rPr>
              <a:t>share by 2036. The brand-owned</a:t>
            </a:r>
          </a:p>
        </p:txBody>
      </p:sp>
      <p:sp>
        <p:nvSpPr>
          <p:cNvPr id="31" name="TextBox 30"/>
          <p:cNvSpPr txBox="1"/>
          <p:nvPr/>
        </p:nvSpPr>
        <p:spPr>
          <a:xfrm>
            <a:off x="276225" y="4550282"/>
            <a:ext cx="2506848" cy="194310"/>
          </a:xfrm>
          <a:prstGeom prst="rect">
            <a:avLst/>
          </a:prstGeom>
          <a:noFill/>
        </p:spPr>
        <p:txBody>
          <a:bodyPr wrap="none" lIns="0" rIns="0" tIns="0" bIns="0">
            <a:spAutoFit/>
          </a:bodyPr>
          <a:lstStyle/>
          <a:p>
            <a:r>
              <a:rPr sz="1150" b="0">
                <a:solidFill>
                  <a:srgbClr val="2E2E2E"/>
                </a:solidFill>
                <a:latin typeface="Calibri"/>
              </a:rPr>
              <a:t>e-commerce segment is expected to lose</a:t>
            </a:r>
          </a:p>
        </p:txBody>
      </p:sp>
      <p:pic>
        <p:nvPicPr>
          <p:cNvPr id="32" name="Picture 31" descr="lock.png"/>
          <p:cNvPicPr>
            <a:picLocks noChangeAspect="1"/>
          </p:cNvPicPr>
          <p:nvPr/>
        </p:nvPicPr>
        <p:blipFill>
          <a:blip r:embed="rId4"/>
          <a:stretch>
            <a:fillRect/>
          </a:stretch>
        </p:blipFill>
        <p:spPr>
          <a:xfrm>
            <a:off x="2732227" y="4540059"/>
            <a:ext cx="134549" cy="195707"/>
          </a:xfrm>
          <a:prstGeom prst="rect">
            <a:avLst/>
          </a:prstGeom>
        </p:spPr>
      </p:pic>
      <p:sp>
        <p:nvSpPr>
          <p:cNvPr id="33" name="TextBox 32"/>
          <p:cNvSpPr txBox="1"/>
          <p:nvPr/>
        </p:nvSpPr>
        <p:spPr>
          <a:xfrm>
            <a:off x="2907336" y="45502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5494841" y="4540059"/>
            <a:ext cx="134549" cy="195707"/>
          </a:xfrm>
          <a:prstGeom prst="rect">
            <a:avLst/>
          </a:prstGeom>
        </p:spPr>
      </p:pic>
      <p:sp>
        <p:nvSpPr>
          <p:cNvPr id="35" name="TextBox 34"/>
          <p:cNvSpPr txBox="1"/>
          <p:nvPr/>
        </p:nvSpPr>
        <p:spPr>
          <a:xfrm>
            <a:off x="5669950"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Sales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Sales Channel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Sales Channel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828668"/>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82390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4770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General Retail</a:t>
            </a:r>
          </a:p>
        </p:txBody>
      </p:sp>
      <p:sp>
        <p:nvSpPr>
          <p:cNvPr id="18" name="BPS Value 1"/>
          <p:cNvSpPr txBox="1"/>
          <p:nvPr/>
        </p:nvSpPr>
        <p:spPr>
          <a:xfrm>
            <a:off x="6896100" y="180961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170393"/>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216563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08943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Direct Sales</a:t>
            </a:r>
          </a:p>
        </p:txBody>
      </p:sp>
      <p:sp>
        <p:nvSpPr>
          <p:cNvPr id="22" name="BPS Value 2"/>
          <p:cNvSpPr txBox="1"/>
          <p:nvPr/>
        </p:nvSpPr>
        <p:spPr>
          <a:xfrm>
            <a:off x="6896100" y="215134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FMI Legend Chip"/>
          <p:cNvSpPr/>
          <p:nvPr/>
        </p:nvSpPr>
        <p:spPr>
          <a:xfrm>
            <a:off x="4928997" y="2709713"/>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5090922" y="270495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262875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Brand-Owned E-commerce</a:t>
            </a:r>
          </a:p>
        </p:txBody>
      </p:sp>
      <p:sp>
        <p:nvSpPr>
          <p:cNvPr id="26" name="BPS Value 3"/>
          <p:cNvSpPr txBox="1"/>
          <p:nvPr/>
        </p:nvSpPr>
        <p:spPr>
          <a:xfrm>
            <a:off x="6896100" y="269066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928997" y="3540329"/>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090922" y="353556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345936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Third-Party E-commerce</a:t>
            </a:r>
          </a:p>
        </p:txBody>
      </p:sp>
      <p:sp>
        <p:nvSpPr>
          <p:cNvPr id="30" name="BPS Value 4"/>
          <p:cNvSpPr txBox="1"/>
          <p:nvPr/>
        </p:nvSpPr>
        <p:spPr>
          <a:xfrm>
            <a:off x="6896100" y="352127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928997" y="4528635"/>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5090922" y="452387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5233797" y="444767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Specialist Pet Retail</a:t>
            </a:r>
          </a:p>
        </p:txBody>
      </p:sp>
      <p:sp>
        <p:nvSpPr>
          <p:cNvPr id="34" name="BPS Value 5"/>
          <p:cNvSpPr txBox="1"/>
          <p:nvPr/>
        </p:nvSpPr>
        <p:spPr>
          <a:xfrm>
            <a:off x="6896100" y="450958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FMI Legend Chip"/>
          <p:cNvSpPr/>
          <p:nvPr/>
        </p:nvSpPr>
        <p:spPr>
          <a:xfrm>
            <a:off x="4928997" y="5642485"/>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rot="10800000">
            <a:off x="5090922" y="563772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5233797" y="556152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Veterinary Channels</a:t>
            </a:r>
          </a:p>
        </p:txBody>
      </p:sp>
      <p:sp>
        <p:nvSpPr>
          <p:cNvPr id="38" name="BPS Value 6"/>
          <p:cNvSpPr txBox="1"/>
          <p:nvPr/>
        </p:nvSpPr>
        <p:spPr>
          <a:xfrm>
            <a:off x="6896100" y="562343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9" name="Rounded Rectangle 38"/>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Sales Channel</a:t>
            </a:r>
          </a:p>
        </p:txBody>
      </p:sp>
      <p:sp>
        <p:nvSpPr>
          <p:cNvPr id="41" name="Rectangle 40"/>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TextBox 4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4" name="Picture 43" descr="lock.png"/>
          <p:cNvPicPr>
            <a:picLocks noChangeAspect="1"/>
          </p:cNvPicPr>
          <p:nvPr/>
        </p:nvPicPr>
        <p:blipFill>
          <a:blip r:embed="rId5"/>
          <a:stretch>
            <a:fillRect/>
          </a:stretch>
        </p:blipFill>
        <p:spPr>
          <a:xfrm>
            <a:off x="2557843" y="3833622"/>
            <a:ext cx="275034" cy="400050"/>
          </a:xfrm>
          <a:prstGeom prst="rect">
            <a:avLst/>
          </a:prstGeom>
        </p:spPr>
      </p:pic>
      <p:sp>
        <p:nvSpPr>
          <p:cNvPr id="45" name="TextBox 44"/>
          <p:cNvSpPr txBox="1"/>
          <p:nvPr/>
        </p:nvSpPr>
        <p:spPr>
          <a:xfrm>
            <a:off x="7829550" y="1400175"/>
            <a:ext cx="3508660" cy="194310"/>
          </a:xfrm>
          <a:prstGeom prst="rect">
            <a:avLst/>
          </a:prstGeom>
          <a:noFill/>
        </p:spPr>
        <p:txBody>
          <a:bodyPr wrap="none" lIns="0" rIns="0" tIns="0" bIns="0">
            <a:spAutoFit/>
          </a:bodyPr>
          <a:lstStyle/>
          <a:p>
            <a:r>
              <a:rPr sz="1150" b="0">
                <a:solidFill>
                  <a:srgbClr val="2E2E2E"/>
                </a:solidFill>
                <a:latin typeface="Calibri"/>
              </a:rPr>
              <a:t>Among senior dog cognitive supplement by sales channel,</a:t>
            </a:r>
          </a:p>
        </p:txBody>
      </p:sp>
      <p:sp>
        <p:nvSpPr>
          <p:cNvPr id="46" name="TextBox 45"/>
          <p:cNvSpPr txBox="1"/>
          <p:nvPr/>
        </p:nvSpPr>
        <p:spPr>
          <a:xfrm>
            <a:off x="7829550" y="1575435"/>
            <a:ext cx="4057650" cy="194310"/>
          </a:xfrm>
          <a:prstGeom prst="rect">
            <a:avLst/>
          </a:prstGeom>
          <a:noFill/>
        </p:spPr>
        <p:txBody>
          <a:bodyPr wrap="none" lIns="0" rIns="0" tIns="0" bIns="0">
            <a:spAutoFit/>
          </a:bodyPr>
          <a:lstStyle/>
          <a:p>
            <a:r>
              <a:rPr sz="1150" b="0">
                <a:solidFill>
                  <a:srgbClr val="2E2E2E"/>
                </a:solidFill>
                <a:latin typeface="Calibri"/>
              </a:rPr>
              <a:t>third-party e-commerce segment is expected to witness the highest</a:t>
            </a:r>
          </a:p>
        </p:txBody>
      </p:sp>
      <p:sp>
        <p:nvSpPr>
          <p:cNvPr id="47" name="TextBox 46"/>
          <p:cNvSpPr txBox="1"/>
          <p:nvPr/>
        </p:nvSpPr>
        <p:spPr>
          <a:xfrm>
            <a:off x="7829550" y="1750695"/>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48" name="Picture 47" descr="lock.png"/>
          <p:cNvPicPr>
            <a:picLocks noChangeAspect="1"/>
          </p:cNvPicPr>
          <p:nvPr/>
        </p:nvPicPr>
        <p:blipFill>
          <a:blip r:embed="rId5"/>
          <a:stretch>
            <a:fillRect/>
          </a:stretch>
        </p:blipFill>
        <p:spPr>
          <a:xfrm>
            <a:off x="8343240" y="1740471"/>
            <a:ext cx="134549" cy="195707"/>
          </a:xfrm>
          <a:prstGeom prst="rect">
            <a:avLst/>
          </a:prstGeom>
        </p:spPr>
      </p:pic>
      <p:sp>
        <p:nvSpPr>
          <p:cNvPr id="49" name="TextBox 48"/>
          <p:cNvSpPr txBox="1"/>
          <p:nvPr/>
        </p:nvSpPr>
        <p:spPr>
          <a:xfrm>
            <a:off x="8518350" y="1750695"/>
            <a:ext cx="3118147"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a:t>
            </a:r>
          </a:p>
        </p:txBody>
      </p:sp>
      <p:sp>
        <p:nvSpPr>
          <p:cNvPr id="50" name="TextBox 49"/>
          <p:cNvSpPr txBox="1"/>
          <p:nvPr/>
        </p:nvSpPr>
        <p:spPr>
          <a:xfrm>
            <a:off x="7829550" y="1925955"/>
            <a:ext cx="3745706" cy="194310"/>
          </a:xfrm>
          <a:prstGeom prst="rect">
            <a:avLst/>
          </a:prstGeom>
          <a:noFill/>
        </p:spPr>
        <p:txBody>
          <a:bodyPr wrap="none" lIns="0" rIns="0" tIns="0" bIns="0">
            <a:spAutoFit/>
          </a:bodyPr>
          <a:lstStyle/>
          <a:p>
            <a:r>
              <a:rPr sz="1150" b="0">
                <a:solidFill>
                  <a:srgbClr val="2E2E2E"/>
                </a:solidFill>
                <a:latin typeface="Calibri"/>
              </a:rPr>
              <a:t>sales channel, the veterinary channels segment is expected to</a:t>
            </a:r>
          </a:p>
        </p:txBody>
      </p:sp>
      <p:sp>
        <p:nvSpPr>
          <p:cNvPr id="51" name="TextBox 50"/>
          <p:cNvSpPr txBox="1"/>
          <p:nvPr/>
        </p:nvSpPr>
        <p:spPr>
          <a:xfrm>
            <a:off x="7829550" y="2101215"/>
            <a:ext cx="1755774" cy="194310"/>
          </a:xfrm>
          <a:prstGeom prst="rect">
            <a:avLst/>
          </a:prstGeom>
          <a:noFill/>
        </p:spPr>
        <p:txBody>
          <a:bodyPr wrap="none" lIns="0" rIns="0" tIns="0" bIns="0">
            <a:spAutoFit/>
          </a:bodyPr>
          <a:lstStyle/>
          <a:p>
            <a:r>
              <a:rPr sz="1150" b="0">
                <a:solidFill>
                  <a:srgbClr val="2E2E2E"/>
                </a:solidFill>
                <a:latin typeface="Calibri"/>
              </a:rPr>
              <a:t>dominate the market, losing</a:t>
            </a:r>
          </a:p>
        </p:txBody>
      </p:sp>
      <p:pic>
        <p:nvPicPr>
          <p:cNvPr id="52" name="Picture 51" descr="lock.png"/>
          <p:cNvPicPr>
            <a:picLocks noChangeAspect="1"/>
          </p:cNvPicPr>
          <p:nvPr/>
        </p:nvPicPr>
        <p:blipFill>
          <a:blip r:embed="rId5"/>
          <a:stretch>
            <a:fillRect/>
          </a:stretch>
        </p:blipFill>
        <p:spPr>
          <a:xfrm>
            <a:off x="9534478" y="2090991"/>
            <a:ext cx="134549" cy="195707"/>
          </a:xfrm>
          <a:prstGeom prst="rect">
            <a:avLst/>
          </a:prstGeom>
        </p:spPr>
      </p:pic>
      <p:sp>
        <p:nvSpPr>
          <p:cNvPr id="53" name="TextBox 52"/>
          <p:cNvSpPr txBox="1"/>
          <p:nvPr/>
        </p:nvSpPr>
        <p:spPr>
          <a:xfrm>
            <a:off x="9709588"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4" name="Picture 53" descr="lock.png"/>
          <p:cNvPicPr>
            <a:picLocks noChangeAspect="1"/>
          </p:cNvPicPr>
          <p:nvPr/>
        </p:nvPicPr>
        <p:blipFill>
          <a:blip r:embed="rId5"/>
          <a:stretch>
            <a:fillRect/>
          </a:stretch>
        </p:blipFill>
        <p:spPr>
          <a:xfrm>
            <a:off x="11104731" y="2090991"/>
            <a:ext cx="134549" cy="195707"/>
          </a:xfrm>
          <a:prstGeom prst="rect">
            <a:avLst/>
          </a:prstGeom>
        </p:spPr>
      </p:pic>
      <p:sp>
        <p:nvSpPr>
          <p:cNvPr id="55" name="TextBox 54"/>
          <p:cNvSpPr txBox="1"/>
          <p:nvPr/>
        </p:nvSpPr>
        <p:spPr>
          <a:xfrm>
            <a:off x="11279840" y="2101215"/>
            <a:ext cx="403671" cy="194310"/>
          </a:xfrm>
          <a:prstGeom prst="rect">
            <a:avLst/>
          </a:prstGeom>
          <a:noFill/>
        </p:spPr>
        <p:txBody>
          <a:bodyPr wrap="none" lIns="0" rIns="0" tIns="0" bIns="0">
            <a:spAutoFit/>
          </a:bodyPr>
          <a:lstStyle/>
          <a:p>
            <a:r>
              <a:rPr sz="1150" b="0">
                <a:solidFill>
                  <a:srgbClr val="2E2E2E"/>
                </a:solidFill>
                <a:latin typeface="Calibri"/>
              </a:rPr>
              <a:t>share</a:t>
            </a:r>
          </a:p>
        </p:txBody>
      </p:sp>
      <p:sp>
        <p:nvSpPr>
          <p:cNvPr id="56" name="TextBox 55"/>
          <p:cNvSpPr txBox="1"/>
          <p:nvPr/>
        </p:nvSpPr>
        <p:spPr>
          <a:xfrm>
            <a:off x="7829550" y="2276475"/>
            <a:ext cx="585663" cy="194310"/>
          </a:xfrm>
          <a:prstGeom prst="rect">
            <a:avLst/>
          </a:prstGeom>
          <a:noFill/>
        </p:spPr>
        <p:txBody>
          <a:bodyPr wrap="none" lIns="0" rIns="0" tIns="0" bIns="0">
            <a:spAutoFit/>
          </a:bodyPr>
          <a:lstStyle/>
          <a:p>
            <a:r>
              <a:rPr sz="1150" b="0">
                <a:solidFill>
                  <a:srgbClr val="2E2E2E"/>
                </a:solidFill>
                <a:latin typeface="Calibri"/>
              </a:rPr>
              <a:t>by 2036.</a:t>
            </a:r>
          </a:p>
        </p:txBody>
      </p:sp>
      <p:sp>
        <p:nvSpPr>
          <p:cNvPr id="57" name="TextBox 56"/>
          <p:cNvSpPr txBox="1"/>
          <p:nvPr/>
        </p:nvSpPr>
        <p:spPr>
          <a:xfrm>
            <a:off x="7829550" y="2504313"/>
            <a:ext cx="3597374" cy="194310"/>
          </a:xfrm>
          <a:prstGeom prst="rect">
            <a:avLst/>
          </a:prstGeom>
          <a:noFill/>
        </p:spPr>
        <p:txBody>
          <a:bodyPr wrap="none" lIns="0" rIns="0" tIns="0" bIns="0">
            <a:spAutoFit/>
          </a:bodyPr>
          <a:lstStyle/>
          <a:p>
            <a:r>
              <a:rPr sz="1150" b="0">
                <a:solidFill>
                  <a:srgbClr val="2E2E2E"/>
                </a:solidFill>
                <a:latin typeface="Calibri"/>
              </a:rPr>
              <a:t>The brand-owned e-commerce segment is expected to lose</a:t>
            </a:r>
          </a:p>
        </p:txBody>
      </p:sp>
      <p:pic>
        <p:nvPicPr>
          <p:cNvPr id="58" name="Picture 57" descr="lock.png"/>
          <p:cNvPicPr>
            <a:picLocks noChangeAspect="1"/>
          </p:cNvPicPr>
          <p:nvPr/>
        </p:nvPicPr>
        <p:blipFill>
          <a:blip r:embed="rId5"/>
          <a:stretch>
            <a:fillRect/>
          </a:stretch>
        </p:blipFill>
        <p:spPr>
          <a:xfrm>
            <a:off x="11376078" y="2494089"/>
            <a:ext cx="134549" cy="195707"/>
          </a:xfrm>
          <a:prstGeom prst="rect">
            <a:avLst/>
          </a:prstGeom>
        </p:spPr>
      </p:pic>
      <p:sp>
        <p:nvSpPr>
          <p:cNvPr id="59" name="TextBox 58"/>
          <p:cNvSpPr txBox="1"/>
          <p:nvPr/>
        </p:nvSpPr>
        <p:spPr>
          <a:xfrm>
            <a:off x="7829550" y="267957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60" name="Picture 59" descr="lock.png"/>
          <p:cNvPicPr>
            <a:picLocks noChangeAspect="1"/>
          </p:cNvPicPr>
          <p:nvPr/>
        </p:nvPicPr>
        <p:blipFill>
          <a:blip r:embed="rId5"/>
          <a:stretch>
            <a:fillRect/>
          </a:stretch>
        </p:blipFill>
        <p:spPr>
          <a:xfrm>
            <a:off x="10417054" y="2669349"/>
            <a:ext cx="134549" cy="195707"/>
          </a:xfrm>
          <a:prstGeom prst="rect">
            <a:avLst/>
          </a:prstGeom>
        </p:spPr>
      </p:pic>
      <p:sp>
        <p:nvSpPr>
          <p:cNvPr id="61" name="TextBox 60"/>
          <p:cNvSpPr txBox="1"/>
          <p:nvPr/>
        </p:nvSpPr>
        <p:spPr>
          <a:xfrm>
            <a:off x="10592163"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2"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Cross-sectional Assessment</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Form Type × Active Ingredient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End-use Application × Active Ingredient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Sales Channel × End-use Application</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Form Type × Active Ingredient</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Form Type × Active Ingredient, 2026E vs 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form type sub-segment across active ingredient sub-segments</a:t>
            </a:r>
          </a:p>
        </p:txBody>
      </p:sp>
      <p:sp>
        <p:nvSpPr>
          <p:cNvPr id="10" name="Rounded Rectangle 9"/>
          <p:cNvSpPr/>
          <p:nvPr/>
        </p:nvSpPr>
        <p:spPr>
          <a:xfrm>
            <a:off x="142875" y="981075"/>
            <a:ext cx="11906250" cy="2876550"/>
          </a:xfrm>
          <a:prstGeom prst="roundRect">
            <a:avLst>
              <a:gd name="adj" fmla="val 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Value, Form Type × Active Ingredient, 2026E and 2036F (US$ Mn)</a:t>
            </a:r>
          </a:p>
        </p:txBody>
      </p:sp>
      <p:graphicFrame>
        <p:nvGraphicFramePr>
          <p:cNvPr id="12" name="Table 11"/>
          <p:cNvGraphicFramePr>
            <a:graphicFrameLocks noGrp="1"/>
          </p:cNvGraphicFramePr>
          <p:nvPr/>
        </p:nvGraphicFramePr>
        <p:xfrm>
          <a:off x="152400" y="1238250"/>
          <a:ext cx="11887200" cy="2409824"/>
        </p:xfrm>
        <a:graphic>
          <a:graphicData uri="http://schemas.openxmlformats.org/drawingml/2006/table">
            <a:tbl>
              <a:tblPr>
                <a:tableStyleId>{5C22544A-7EE6-4342-B048-85BDC9FD1C3A}</a:tableStyleId>
              </a:tblPr>
              <a:tblGrid>
                <a:gridCol w="2159118"/>
                <a:gridCol w="694863"/>
                <a:gridCol w="694863"/>
                <a:gridCol w="694863"/>
                <a:gridCol w="694863"/>
                <a:gridCol w="694863"/>
                <a:gridCol w="694863"/>
                <a:gridCol w="694863"/>
                <a:gridCol w="694863"/>
                <a:gridCol w="694863"/>
                <a:gridCol w="694863"/>
                <a:gridCol w="694863"/>
                <a:gridCol w="694863"/>
                <a:gridCol w="694863"/>
                <a:gridCol w="694863"/>
              </a:tblGrid>
              <a:tr h="438912">
                <a:tc rowSpan="2">
                  <a:txBody>
                    <a:bodyPr wrap="none"/>
                    <a:lstStyle/>
                    <a:p>
                      <a:pPr algn="l"/>
                      <a:r>
                        <a:rPr sz="1100" b="1">
                          <a:solidFill>
                            <a:srgbClr val="0B2E4A"/>
                          </a:solidFill>
                          <a:latin typeface="Calibri"/>
                        </a:rPr>
                        <a:t>Form Type</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Omega-3 Fatty Acids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Antioxidant</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Neurofunctional</a:t>
                      </a:r>
                      <a:endParaRPr sz="1100"/>
                    </a:p>
                    <a:p>
                      <a:pPr algn="ctr"/>
                      <a:r>
                        <a:rPr sz="1100" b="1">
                          <a:solidFill>
                            <a:srgbClr val="0B2E4A"/>
                          </a:solidFill>
                          <a:latin typeface="Calibri"/>
                        </a:rPr>
                        <a:t>Nutrients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Cellular Energy</a:t>
                      </a:r>
                      <a:endParaRPr sz="1100"/>
                    </a:p>
                    <a:p>
                      <a:pPr algn="ctr"/>
                      <a:r>
                        <a:rPr sz="1100" b="1">
                          <a:solidFill>
                            <a:srgbClr val="0B2E4A"/>
                          </a:solidFill>
                          <a:latin typeface="Calibri"/>
                        </a:rPr>
                        <a:t>Support 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Botanical 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Microbiome-</a:t>
                      </a:r>
                      <a:endParaRPr sz="1100"/>
                    </a:p>
                    <a:p>
                      <a:pPr algn="ctr"/>
                      <a:r>
                        <a:rPr sz="1100" b="1">
                          <a:solidFill>
                            <a:srgbClr val="0B2E4A"/>
                          </a:solidFill>
                          <a:latin typeface="Calibri"/>
                        </a:rPr>
                        <a:t>Targeted 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364">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6364">
                <a:tc>
                  <a:txBody>
                    <a:bodyPr wrap="none"/>
                    <a:lstStyle/>
                    <a:p>
                      <a:pPr algn="l"/>
                      <a:r>
                        <a:rPr sz="1100" b="1">
                          <a:solidFill>
                            <a:srgbClr val="2E2E2E"/>
                          </a:solidFill>
                          <a:latin typeface="Calibri"/>
                        </a:rPr>
                        <a:t>Chewables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64">
                <a:tc>
                  <a:txBody>
                    <a:bodyPr wrap="none"/>
                    <a:lstStyle/>
                    <a:p>
                      <a:pPr algn="l"/>
                      <a:r>
                        <a:rPr sz="1100" b="1">
                          <a:solidFill>
                            <a:srgbClr val="2E2E2E"/>
                          </a:solidFill>
                          <a:latin typeface="Calibri"/>
                        </a:rPr>
                        <a:t>Tablets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64">
                <a:tc>
                  <a:txBody>
                    <a:bodyPr wrap="none"/>
                    <a:lstStyle/>
                    <a:p>
                      <a:pPr algn="l"/>
                      <a:r>
                        <a:rPr sz="1100" b="1">
                          <a:solidFill>
                            <a:srgbClr val="2E2E2E"/>
                          </a:solidFill>
                          <a:latin typeface="Calibri"/>
                        </a:rPr>
                        <a:t>Capsules and Softgels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64">
                <a:tc>
                  <a:txBody>
                    <a:bodyPr wrap="none"/>
                    <a:lstStyle/>
                    <a:p>
                      <a:pPr algn="l"/>
                      <a:r>
                        <a:rPr sz="1100" b="1">
                          <a:solidFill>
                            <a:srgbClr val="2E2E2E"/>
                          </a:solidFill>
                          <a:latin typeface="Calibri"/>
                        </a:rPr>
                        <a:t>Powders and Granules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64">
                <a:tc>
                  <a:txBody>
                    <a:bodyPr wrap="none"/>
                    <a:lstStyle/>
                    <a:p>
                      <a:pPr algn="l"/>
                      <a:r>
                        <a:rPr sz="1100" b="1">
                          <a:solidFill>
                            <a:srgbClr val="2E2E2E"/>
                          </a:solidFill>
                          <a:latin typeface="Calibri"/>
                        </a:rPr>
                        <a:t>Liquids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64">
                <a:tc>
                  <a:txBody>
                    <a:bodyPr wrap="none"/>
                    <a:lstStyle/>
                    <a:p>
                      <a:pPr algn="l"/>
                      <a:r>
                        <a:rPr sz="1100" b="1">
                          <a:solidFill>
                            <a:srgbClr val="2E2E2E"/>
                          </a:solidFill>
                          <a:latin typeface="Calibri"/>
                        </a:rPr>
                        <a:t>Gels and Pastes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6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6576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990975"/>
            <a:ext cx="7286625" cy="2638425"/>
          </a:xfrm>
          <a:prstGeom prst="roundRect">
            <a:avLst>
              <a:gd name="adj" fmla="val 288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40481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Flow, Form Type → Active Ingredient, 2036F (US$ Mn)</a:t>
            </a:r>
          </a:p>
        </p:txBody>
      </p:sp>
      <p:sp>
        <p:nvSpPr>
          <p:cNvPr id="16" name="Freeform 15"/>
          <p:cNvSpPr/>
          <p:nvPr/>
        </p:nvSpPr>
        <p:spPr>
          <a:xfrm>
            <a:off x="2057400" y="4314825"/>
            <a:ext cx="3743325" cy="171450"/>
          </a:xfrm>
          <a:custGeom>
            <a:avLst/>
            <a:gdLst/>
            <a:ahLst/>
            <a:cxnLst/>
            <a:rect l="l" t="t" r="r" b="b"/>
            <a:pathLst>
              <a:path w="393" h="18">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18"/>
                </a:lnTo>
                <a:lnTo>
                  <a:pt x="377" y="18"/>
                </a:lnTo>
                <a:lnTo>
                  <a:pt x="360" y="18"/>
                </a:lnTo>
                <a:lnTo>
                  <a:pt x="344" y="18"/>
                </a:lnTo>
                <a:lnTo>
                  <a:pt x="327" y="18"/>
                </a:lnTo>
                <a:lnTo>
                  <a:pt x="311" y="18"/>
                </a:lnTo>
                <a:lnTo>
                  <a:pt x="295" y="18"/>
                </a:lnTo>
                <a:lnTo>
                  <a:pt x="278" y="18"/>
                </a:lnTo>
                <a:lnTo>
                  <a:pt x="262" y="18"/>
                </a:lnTo>
                <a:lnTo>
                  <a:pt x="246" y="18"/>
                </a:lnTo>
                <a:lnTo>
                  <a:pt x="229" y="18"/>
                </a:lnTo>
                <a:lnTo>
                  <a:pt x="213" y="18"/>
                </a:lnTo>
                <a:lnTo>
                  <a:pt x="196" y="18"/>
                </a:lnTo>
                <a:lnTo>
                  <a:pt x="180" y="18"/>
                </a:lnTo>
                <a:lnTo>
                  <a:pt x="164" y="18"/>
                </a:lnTo>
                <a:lnTo>
                  <a:pt x="147" y="18"/>
                </a:lnTo>
                <a:lnTo>
                  <a:pt x="131" y="18"/>
                </a:lnTo>
                <a:lnTo>
                  <a:pt x="114" y="18"/>
                </a:lnTo>
                <a:lnTo>
                  <a:pt x="98" y="18"/>
                </a:lnTo>
                <a:lnTo>
                  <a:pt x="82" y="18"/>
                </a:lnTo>
                <a:lnTo>
                  <a:pt x="65" y="18"/>
                </a:lnTo>
                <a:lnTo>
                  <a:pt x="49" y="18"/>
                </a:lnTo>
                <a:lnTo>
                  <a:pt x="33" y="18"/>
                </a:lnTo>
                <a:lnTo>
                  <a:pt x="16" y="18"/>
                </a:lnTo>
                <a:lnTo>
                  <a:pt x="0" y="18"/>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4486275"/>
            <a:ext cx="3743325" cy="533400"/>
          </a:xfrm>
          <a:custGeom>
            <a:avLst/>
            <a:gdLst/>
            <a:ahLst/>
            <a:cxnLst/>
            <a:rect l="l" t="t" r="r" b="b"/>
            <a:pathLst>
              <a:path w="393" h="56">
                <a:moveTo>
                  <a:pt x="0" y="0"/>
                </a:moveTo>
                <a:lnTo>
                  <a:pt x="16" y="1"/>
                </a:lnTo>
                <a:lnTo>
                  <a:pt x="33" y="1"/>
                </a:lnTo>
                <a:lnTo>
                  <a:pt x="49" y="2"/>
                </a:lnTo>
                <a:lnTo>
                  <a:pt x="65" y="3"/>
                </a:lnTo>
                <a:lnTo>
                  <a:pt x="82" y="4"/>
                </a:lnTo>
                <a:lnTo>
                  <a:pt x="98" y="6"/>
                </a:lnTo>
                <a:lnTo>
                  <a:pt x="114" y="8"/>
                </a:lnTo>
                <a:lnTo>
                  <a:pt x="131" y="10"/>
                </a:lnTo>
                <a:lnTo>
                  <a:pt x="147" y="12"/>
                </a:lnTo>
                <a:lnTo>
                  <a:pt x="164" y="14"/>
                </a:lnTo>
                <a:lnTo>
                  <a:pt x="180" y="16"/>
                </a:lnTo>
                <a:lnTo>
                  <a:pt x="196" y="18"/>
                </a:lnTo>
                <a:lnTo>
                  <a:pt x="213" y="20"/>
                </a:lnTo>
                <a:lnTo>
                  <a:pt x="229" y="22"/>
                </a:lnTo>
                <a:lnTo>
                  <a:pt x="246" y="25"/>
                </a:lnTo>
                <a:lnTo>
                  <a:pt x="262" y="27"/>
                </a:lnTo>
                <a:lnTo>
                  <a:pt x="278" y="28"/>
                </a:lnTo>
                <a:lnTo>
                  <a:pt x="295" y="30"/>
                </a:lnTo>
                <a:lnTo>
                  <a:pt x="311" y="32"/>
                </a:lnTo>
                <a:lnTo>
                  <a:pt x="327" y="33"/>
                </a:lnTo>
                <a:lnTo>
                  <a:pt x="344" y="34"/>
                </a:lnTo>
                <a:lnTo>
                  <a:pt x="360" y="35"/>
                </a:lnTo>
                <a:lnTo>
                  <a:pt x="377" y="35"/>
                </a:lnTo>
                <a:lnTo>
                  <a:pt x="393" y="36"/>
                </a:lnTo>
                <a:lnTo>
                  <a:pt x="393" y="56"/>
                </a:lnTo>
                <a:lnTo>
                  <a:pt x="377" y="56"/>
                </a:lnTo>
                <a:lnTo>
                  <a:pt x="360" y="55"/>
                </a:lnTo>
                <a:lnTo>
                  <a:pt x="344" y="54"/>
                </a:lnTo>
                <a:lnTo>
                  <a:pt x="327" y="53"/>
                </a:lnTo>
                <a:lnTo>
                  <a:pt x="311" y="52"/>
                </a:lnTo>
                <a:lnTo>
                  <a:pt x="295" y="50"/>
                </a:lnTo>
                <a:lnTo>
                  <a:pt x="278" y="49"/>
                </a:lnTo>
                <a:lnTo>
                  <a:pt x="262" y="47"/>
                </a:lnTo>
                <a:lnTo>
                  <a:pt x="246" y="45"/>
                </a:lnTo>
                <a:lnTo>
                  <a:pt x="229" y="43"/>
                </a:lnTo>
                <a:lnTo>
                  <a:pt x="213" y="41"/>
                </a:lnTo>
                <a:lnTo>
                  <a:pt x="196" y="38"/>
                </a:lnTo>
                <a:lnTo>
                  <a:pt x="180" y="36"/>
                </a:lnTo>
                <a:lnTo>
                  <a:pt x="164" y="34"/>
                </a:lnTo>
                <a:lnTo>
                  <a:pt x="147" y="32"/>
                </a:lnTo>
                <a:lnTo>
                  <a:pt x="131" y="30"/>
                </a:lnTo>
                <a:lnTo>
                  <a:pt x="114" y="28"/>
                </a:lnTo>
                <a:lnTo>
                  <a:pt x="98" y="26"/>
                </a:lnTo>
                <a:lnTo>
                  <a:pt x="82" y="25"/>
                </a:lnTo>
                <a:lnTo>
                  <a:pt x="65" y="23"/>
                </a:lnTo>
                <a:lnTo>
                  <a:pt x="49" y="22"/>
                </a:lnTo>
                <a:lnTo>
                  <a:pt x="33" y="21"/>
                </a:lnTo>
                <a:lnTo>
                  <a:pt x="16" y="21"/>
                </a:lnTo>
                <a:lnTo>
                  <a:pt x="0" y="21"/>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4686300"/>
            <a:ext cx="3743325" cy="781050"/>
          </a:xfrm>
          <a:custGeom>
            <a:avLst/>
            <a:gdLst/>
            <a:ahLst/>
            <a:cxnLst/>
            <a:rect l="l" t="t" r="r" b="b"/>
            <a:pathLst>
              <a:path w="393" h="82">
                <a:moveTo>
                  <a:pt x="0" y="0"/>
                </a:moveTo>
                <a:lnTo>
                  <a:pt x="16" y="0"/>
                </a:lnTo>
                <a:lnTo>
                  <a:pt x="33" y="1"/>
                </a:lnTo>
                <a:lnTo>
                  <a:pt x="49" y="3"/>
                </a:lnTo>
                <a:lnTo>
                  <a:pt x="65" y="5"/>
                </a:lnTo>
                <a:lnTo>
                  <a:pt x="82" y="7"/>
                </a:lnTo>
                <a:lnTo>
                  <a:pt x="98" y="10"/>
                </a:lnTo>
                <a:lnTo>
                  <a:pt x="114" y="14"/>
                </a:lnTo>
                <a:lnTo>
                  <a:pt x="131" y="17"/>
                </a:lnTo>
                <a:lnTo>
                  <a:pt x="147" y="21"/>
                </a:lnTo>
                <a:lnTo>
                  <a:pt x="164" y="25"/>
                </a:lnTo>
                <a:lnTo>
                  <a:pt x="180" y="29"/>
                </a:lnTo>
                <a:lnTo>
                  <a:pt x="196" y="33"/>
                </a:lnTo>
                <a:lnTo>
                  <a:pt x="213" y="38"/>
                </a:lnTo>
                <a:lnTo>
                  <a:pt x="229" y="42"/>
                </a:lnTo>
                <a:lnTo>
                  <a:pt x="246" y="46"/>
                </a:lnTo>
                <a:lnTo>
                  <a:pt x="262" y="50"/>
                </a:lnTo>
                <a:lnTo>
                  <a:pt x="278" y="53"/>
                </a:lnTo>
                <a:lnTo>
                  <a:pt x="295" y="57"/>
                </a:lnTo>
                <a:lnTo>
                  <a:pt x="311" y="60"/>
                </a:lnTo>
                <a:lnTo>
                  <a:pt x="327" y="62"/>
                </a:lnTo>
                <a:lnTo>
                  <a:pt x="344" y="64"/>
                </a:lnTo>
                <a:lnTo>
                  <a:pt x="360" y="66"/>
                </a:lnTo>
                <a:lnTo>
                  <a:pt x="377" y="67"/>
                </a:lnTo>
                <a:lnTo>
                  <a:pt x="393" y="67"/>
                </a:lnTo>
                <a:lnTo>
                  <a:pt x="393" y="82"/>
                </a:lnTo>
                <a:lnTo>
                  <a:pt x="377" y="82"/>
                </a:lnTo>
                <a:lnTo>
                  <a:pt x="360" y="81"/>
                </a:lnTo>
                <a:lnTo>
                  <a:pt x="344" y="79"/>
                </a:lnTo>
                <a:lnTo>
                  <a:pt x="327" y="77"/>
                </a:lnTo>
                <a:lnTo>
                  <a:pt x="311" y="75"/>
                </a:lnTo>
                <a:lnTo>
                  <a:pt x="295" y="72"/>
                </a:lnTo>
                <a:lnTo>
                  <a:pt x="278" y="68"/>
                </a:lnTo>
                <a:lnTo>
                  <a:pt x="262" y="65"/>
                </a:lnTo>
                <a:lnTo>
                  <a:pt x="246" y="61"/>
                </a:lnTo>
                <a:lnTo>
                  <a:pt x="229" y="57"/>
                </a:lnTo>
                <a:lnTo>
                  <a:pt x="213" y="53"/>
                </a:lnTo>
                <a:lnTo>
                  <a:pt x="196" y="48"/>
                </a:lnTo>
                <a:lnTo>
                  <a:pt x="180" y="44"/>
                </a:lnTo>
                <a:lnTo>
                  <a:pt x="164" y="40"/>
                </a:lnTo>
                <a:lnTo>
                  <a:pt x="147" y="36"/>
                </a:lnTo>
                <a:lnTo>
                  <a:pt x="131" y="32"/>
                </a:lnTo>
                <a:lnTo>
                  <a:pt x="114" y="29"/>
                </a:lnTo>
                <a:lnTo>
                  <a:pt x="98" y="25"/>
                </a:lnTo>
                <a:lnTo>
                  <a:pt x="82" y="22"/>
                </a:lnTo>
                <a:lnTo>
                  <a:pt x="65" y="20"/>
                </a:lnTo>
                <a:lnTo>
                  <a:pt x="49" y="18"/>
                </a:lnTo>
                <a:lnTo>
                  <a:pt x="33" y="16"/>
                </a:lnTo>
                <a:lnTo>
                  <a:pt x="16" y="15"/>
                </a:lnTo>
                <a:lnTo>
                  <a:pt x="0" y="15"/>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4829175"/>
            <a:ext cx="3743325" cy="1000125"/>
          </a:xfrm>
          <a:custGeom>
            <a:avLst/>
            <a:gdLst/>
            <a:ahLst/>
            <a:cxnLst/>
            <a:rect l="l" t="t" r="r" b="b"/>
            <a:pathLst>
              <a:path w="393" h="105">
                <a:moveTo>
                  <a:pt x="0" y="0"/>
                </a:moveTo>
                <a:lnTo>
                  <a:pt x="16" y="0"/>
                </a:lnTo>
                <a:lnTo>
                  <a:pt x="33" y="2"/>
                </a:lnTo>
                <a:lnTo>
                  <a:pt x="49" y="4"/>
                </a:lnTo>
                <a:lnTo>
                  <a:pt x="65" y="7"/>
                </a:lnTo>
                <a:lnTo>
                  <a:pt x="82" y="10"/>
                </a:lnTo>
                <a:lnTo>
                  <a:pt x="98" y="14"/>
                </a:lnTo>
                <a:lnTo>
                  <a:pt x="114" y="19"/>
                </a:lnTo>
                <a:lnTo>
                  <a:pt x="131" y="24"/>
                </a:lnTo>
                <a:lnTo>
                  <a:pt x="147" y="30"/>
                </a:lnTo>
                <a:lnTo>
                  <a:pt x="164" y="35"/>
                </a:lnTo>
                <a:lnTo>
                  <a:pt x="180" y="41"/>
                </a:lnTo>
                <a:lnTo>
                  <a:pt x="196" y="47"/>
                </a:lnTo>
                <a:lnTo>
                  <a:pt x="213" y="53"/>
                </a:lnTo>
                <a:lnTo>
                  <a:pt x="229" y="58"/>
                </a:lnTo>
                <a:lnTo>
                  <a:pt x="246" y="64"/>
                </a:lnTo>
                <a:lnTo>
                  <a:pt x="262" y="69"/>
                </a:lnTo>
                <a:lnTo>
                  <a:pt x="278" y="75"/>
                </a:lnTo>
                <a:lnTo>
                  <a:pt x="295" y="79"/>
                </a:lnTo>
                <a:lnTo>
                  <a:pt x="311" y="83"/>
                </a:lnTo>
                <a:lnTo>
                  <a:pt x="327" y="87"/>
                </a:lnTo>
                <a:lnTo>
                  <a:pt x="344" y="90"/>
                </a:lnTo>
                <a:lnTo>
                  <a:pt x="360" y="92"/>
                </a:lnTo>
                <a:lnTo>
                  <a:pt x="377" y="93"/>
                </a:lnTo>
                <a:lnTo>
                  <a:pt x="393" y="94"/>
                </a:lnTo>
                <a:lnTo>
                  <a:pt x="393" y="105"/>
                </a:lnTo>
                <a:lnTo>
                  <a:pt x="377" y="105"/>
                </a:lnTo>
                <a:lnTo>
                  <a:pt x="360" y="103"/>
                </a:lnTo>
                <a:lnTo>
                  <a:pt x="344" y="101"/>
                </a:lnTo>
                <a:lnTo>
                  <a:pt x="327" y="98"/>
                </a:lnTo>
                <a:lnTo>
                  <a:pt x="311" y="95"/>
                </a:lnTo>
                <a:lnTo>
                  <a:pt x="295" y="90"/>
                </a:lnTo>
                <a:lnTo>
                  <a:pt x="278" y="86"/>
                </a:lnTo>
                <a:lnTo>
                  <a:pt x="262" y="81"/>
                </a:lnTo>
                <a:lnTo>
                  <a:pt x="246" y="75"/>
                </a:lnTo>
                <a:lnTo>
                  <a:pt x="229" y="70"/>
                </a:lnTo>
                <a:lnTo>
                  <a:pt x="213" y="64"/>
                </a:lnTo>
                <a:lnTo>
                  <a:pt x="196" y="58"/>
                </a:lnTo>
                <a:lnTo>
                  <a:pt x="180" y="52"/>
                </a:lnTo>
                <a:lnTo>
                  <a:pt x="164" y="46"/>
                </a:lnTo>
                <a:lnTo>
                  <a:pt x="147" y="41"/>
                </a:lnTo>
                <a:lnTo>
                  <a:pt x="131" y="35"/>
                </a:lnTo>
                <a:lnTo>
                  <a:pt x="114" y="30"/>
                </a:lnTo>
                <a:lnTo>
                  <a:pt x="98" y="26"/>
                </a:lnTo>
                <a:lnTo>
                  <a:pt x="82" y="22"/>
                </a:lnTo>
                <a:lnTo>
                  <a:pt x="65" y="18"/>
                </a:lnTo>
                <a:lnTo>
                  <a:pt x="49" y="15"/>
                </a:lnTo>
                <a:lnTo>
                  <a:pt x="33" y="13"/>
                </a:lnTo>
                <a:lnTo>
                  <a:pt x="16" y="11"/>
                </a:lnTo>
                <a:lnTo>
                  <a:pt x="0" y="11"/>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4933950"/>
            <a:ext cx="3743325" cy="1200150"/>
          </a:xfrm>
          <a:custGeom>
            <a:avLst/>
            <a:gdLst/>
            <a:ahLst/>
            <a:cxnLst/>
            <a:rect l="l" t="t" r="r" b="b"/>
            <a:pathLst>
              <a:path w="393" h="126">
                <a:moveTo>
                  <a:pt x="0" y="0"/>
                </a:moveTo>
                <a:lnTo>
                  <a:pt x="16" y="1"/>
                </a:lnTo>
                <a:lnTo>
                  <a:pt x="33" y="2"/>
                </a:lnTo>
                <a:lnTo>
                  <a:pt x="49" y="5"/>
                </a:lnTo>
                <a:lnTo>
                  <a:pt x="65" y="9"/>
                </a:lnTo>
                <a:lnTo>
                  <a:pt x="82" y="13"/>
                </a:lnTo>
                <a:lnTo>
                  <a:pt x="98" y="18"/>
                </a:lnTo>
                <a:lnTo>
                  <a:pt x="114" y="24"/>
                </a:lnTo>
                <a:lnTo>
                  <a:pt x="131" y="30"/>
                </a:lnTo>
                <a:lnTo>
                  <a:pt x="147" y="37"/>
                </a:lnTo>
                <a:lnTo>
                  <a:pt x="164" y="44"/>
                </a:lnTo>
                <a:lnTo>
                  <a:pt x="180" y="51"/>
                </a:lnTo>
                <a:lnTo>
                  <a:pt x="196" y="59"/>
                </a:lnTo>
                <a:lnTo>
                  <a:pt x="213" y="66"/>
                </a:lnTo>
                <a:lnTo>
                  <a:pt x="229" y="73"/>
                </a:lnTo>
                <a:lnTo>
                  <a:pt x="246" y="80"/>
                </a:lnTo>
                <a:lnTo>
                  <a:pt x="262" y="87"/>
                </a:lnTo>
                <a:lnTo>
                  <a:pt x="278" y="93"/>
                </a:lnTo>
                <a:lnTo>
                  <a:pt x="295" y="99"/>
                </a:lnTo>
                <a:lnTo>
                  <a:pt x="311" y="104"/>
                </a:lnTo>
                <a:lnTo>
                  <a:pt x="327" y="108"/>
                </a:lnTo>
                <a:lnTo>
                  <a:pt x="344" y="112"/>
                </a:lnTo>
                <a:lnTo>
                  <a:pt x="360" y="115"/>
                </a:lnTo>
                <a:lnTo>
                  <a:pt x="377" y="116"/>
                </a:lnTo>
                <a:lnTo>
                  <a:pt x="393" y="117"/>
                </a:lnTo>
                <a:lnTo>
                  <a:pt x="393" y="126"/>
                </a:lnTo>
                <a:lnTo>
                  <a:pt x="377" y="126"/>
                </a:lnTo>
                <a:lnTo>
                  <a:pt x="360" y="124"/>
                </a:lnTo>
                <a:lnTo>
                  <a:pt x="344" y="121"/>
                </a:lnTo>
                <a:lnTo>
                  <a:pt x="327" y="118"/>
                </a:lnTo>
                <a:lnTo>
                  <a:pt x="311" y="113"/>
                </a:lnTo>
                <a:lnTo>
                  <a:pt x="295" y="108"/>
                </a:lnTo>
                <a:lnTo>
                  <a:pt x="278" y="102"/>
                </a:lnTo>
                <a:lnTo>
                  <a:pt x="262" y="96"/>
                </a:lnTo>
                <a:lnTo>
                  <a:pt x="246" y="89"/>
                </a:lnTo>
                <a:lnTo>
                  <a:pt x="229" y="82"/>
                </a:lnTo>
                <a:lnTo>
                  <a:pt x="213" y="75"/>
                </a:lnTo>
                <a:lnTo>
                  <a:pt x="196" y="68"/>
                </a:lnTo>
                <a:lnTo>
                  <a:pt x="180" y="61"/>
                </a:lnTo>
                <a:lnTo>
                  <a:pt x="164" y="53"/>
                </a:lnTo>
                <a:lnTo>
                  <a:pt x="147" y="46"/>
                </a:lnTo>
                <a:lnTo>
                  <a:pt x="131" y="40"/>
                </a:lnTo>
                <a:lnTo>
                  <a:pt x="114" y="33"/>
                </a:lnTo>
                <a:lnTo>
                  <a:pt x="98" y="28"/>
                </a:lnTo>
                <a:lnTo>
                  <a:pt x="82" y="22"/>
                </a:lnTo>
                <a:lnTo>
                  <a:pt x="65" y="18"/>
                </a:lnTo>
                <a:lnTo>
                  <a:pt x="49" y="14"/>
                </a:lnTo>
                <a:lnTo>
                  <a:pt x="33" y="12"/>
                </a:lnTo>
                <a:lnTo>
                  <a:pt x="16" y="10"/>
                </a:lnTo>
                <a:lnTo>
                  <a:pt x="0" y="9"/>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5019675"/>
            <a:ext cx="3743325" cy="1381125"/>
          </a:xfrm>
          <a:custGeom>
            <a:avLst/>
            <a:gdLst/>
            <a:ahLst/>
            <a:cxnLst/>
            <a:rect l="l" t="t" r="r" b="b"/>
            <a:pathLst>
              <a:path w="393" h="145">
                <a:moveTo>
                  <a:pt x="0" y="0"/>
                </a:moveTo>
                <a:lnTo>
                  <a:pt x="16" y="1"/>
                </a:lnTo>
                <a:lnTo>
                  <a:pt x="33" y="3"/>
                </a:lnTo>
                <a:lnTo>
                  <a:pt x="49" y="6"/>
                </a:lnTo>
                <a:lnTo>
                  <a:pt x="65" y="10"/>
                </a:lnTo>
                <a:lnTo>
                  <a:pt x="82" y="16"/>
                </a:lnTo>
                <a:lnTo>
                  <a:pt x="98" y="22"/>
                </a:lnTo>
                <a:lnTo>
                  <a:pt x="114" y="28"/>
                </a:lnTo>
                <a:lnTo>
                  <a:pt x="131" y="36"/>
                </a:lnTo>
                <a:lnTo>
                  <a:pt x="147" y="43"/>
                </a:lnTo>
                <a:lnTo>
                  <a:pt x="164" y="52"/>
                </a:lnTo>
                <a:lnTo>
                  <a:pt x="180" y="60"/>
                </a:lnTo>
                <a:lnTo>
                  <a:pt x="196" y="68"/>
                </a:lnTo>
                <a:lnTo>
                  <a:pt x="213" y="77"/>
                </a:lnTo>
                <a:lnTo>
                  <a:pt x="229" y="85"/>
                </a:lnTo>
                <a:lnTo>
                  <a:pt x="246" y="94"/>
                </a:lnTo>
                <a:lnTo>
                  <a:pt x="262" y="101"/>
                </a:lnTo>
                <a:lnTo>
                  <a:pt x="278" y="109"/>
                </a:lnTo>
                <a:lnTo>
                  <a:pt x="295" y="115"/>
                </a:lnTo>
                <a:lnTo>
                  <a:pt x="311" y="121"/>
                </a:lnTo>
                <a:lnTo>
                  <a:pt x="327" y="127"/>
                </a:lnTo>
                <a:lnTo>
                  <a:pt x="344" y="131"/>
                </a:lnTo>
                <a:lnTo>
                  <a:pt x="360" y="134"/>
                </a:lnTo>
                <a:lnTo>
                  <a:pt x="377" y="136"/>
                </a:lnTo>
                <a:lnTo>
                  <a:pt x="393" y="137"/>
                </a:lnTo>
                <a:lnTo>
                  <a:pt x="393" y="145"/>
                </a:lnTo>
                <a:lnTo>
                  <a:pt x="377" y="145"/>
                </a:lnTo>
                <a:lnTo>
                  <a:pt x="360" y="143"/>
                </a:lnTo>
                <a:lnTo>
                  <a:pt x="344" y="140"/>
                </a:lnTo>
                <a:lnTo>
                  <a:pt x="327" y="135"/>
                </a:lnTo>
                <a:lnTo>
                  <a:pt x="311" y="130"/>
                </a:lnTo>
                <a:lnTo>
                  <a:pt x="295" y="124"/>
                </a:lnTo>
                <a:lnTo>
                  <a:pt x="278" y="117"/>
                </a:lnTo>
                <a:lnTo>
                  <a:pt x="262" y="110"/>
                </a:lnTo>
                <a:lnTo>
                  <a:pt x="246" y="102"/>
                </a:lnTo>
                <a:lnTo>
                  <a:pt x="229" y="94"/>
                </a:lnTo>
                <a:lnTo>
                  <a:pt x="213" y="86"/>
                </a:lnTo>
                <a:lnTo>
                  <a:pt x="196" y="77"/>
                </a:lnTo>
                <a:lnTo>
                  <a:pt x="180" y="69"/>
                </a:lnTo>
                <a:lnTo>
                  <a:pt x="164" y="60"/>
                </a:lnTo>
                <a:lnTo>
                  <a:pt x="147" y="52"/>
                </a:lnTo>
                <a:lnTo>
                  <a:pt x="131" y="45"/>
                </a:lnTo>
                <a:lnTo>
                  <a:pt x="114" y="37"/>
                </a:lnTo>
                <a:lnTo>
                  <a:pt x="98" y="30"/>
                </a:lnTo>
                <a:lnTo>
                  <a:pt x="82" y="24"/>
                </a:lnTo>
                <a:lnTo>
                  <a:pt x="65" y="19"/>
                </a:lnTo>
                <a:lnTo>
                  <a:pt x="49" y="15"/>
                </a:lnTo>
                <a:lnTo>
                  <a:pt x="33" y="12"/>
                </a:lnTo>
                <a:lnTo>
                  <a:pt x="16" y="10"/>
                </a:lnTo>
                <a:lnTo>
                  <a:pt x="0" y="9"/>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4486275"/>
            <a:ext cx="3743325" cy="781050"/>
          </a:xfrm>
          <a:custGeom>
            <a:avLst/>
            <a:gdLst/>
            <a:ahLst/>
            <a:cxnLst/>
            <a:rect l="l" t="t" r="r" b="b"/>
            <a:pathLst>
              <a:path w="393" h="82">
                <a:moveTo>
                  <a:pt x="0" y="71"/>
                </a:moveTo>
                <a:lnTo>
                  <a:pt x="16" y="71"/>
                </a:lnTo>
                <a:lnTo>
                  <a:pt x="33" y="70"/>
                </a:lnTo>
                <a:lnTo>
                  <a:pt x="49" y="68"/>
                </a:lnTo>
                <a:lnTo>
                  <a:pt x="65" y="66"/>
                </a:lnTo>
                <a:lnTo>
                  <a:pt x="82" y="63"/>
                </a:lnTo>
                <a:lnTo>
                  <a:pt x="98" y="60"/>
                </a:lnTo>
                <a:lnTo>
                  <a:pt x="114" y="57"/>
                </a:lnTo>
                <a:lnTo>
                  <a:pt x="131" y="53"/>
                </a:lnTo>
                <a:lnTo>
                  <a:pt x="147" y="49"/>
                </a:lnTo>
                <a:lnTo>
                  <a:pt x="164" y="45"/>
                </a:lnTo>
                <a:lnTo>
                  <a:pt x="180" y="40"/>
                </a:lnTo>
                <a:lnTo>
                  <a:pt x="196" y="36"/>
                </a:lnTo>
                <a:lnTo>
                  <a:pt x="213" y="31"/>
                </a:lnTo>
                <a:lnTo>
                  <a:pt x="229" y="27"/>
                </a:lnTo>
                <a:lnTo>
                  <a:pt x="246" y="23"/>
                </a:lnTo>
                <a:lnTo>
                  <a:pt x="262" y="19"/>
                </a:lnTo>
                <a:lnTo>
                  <a:pt x="278" y="15"/>
                </a:lnTo>
                <a:lnTo>
                  <a:pt x="295" y="11"/>
                </a:lnTo>
                <a:lnTo>
                  <a:pt x="311" y="8"/>
                </a:lnTo>
                <a:lnTo>
                  <a:pt x="327" y="6"/>
                </a:lnTo>
                <a:lnTo>
                  <a:pt x="344" y="3"/>
                </a:lnTo>
                <a:lnTo>
                  <a:pt x="360" y="2"/>
                </a:lnTo>
                <a:lnTo>
                  <a:pt x="377" y="1"/>
                </a:lnTo>
                <a:lnTo>
                  <a:pt x="393" y="0"/>
                </a:lnTo>
                <a:lnTo>
                  <a:pt x="393" y="11"/>
                </a:lnTo>
                <a:lnTo>
                  <a:pt x="377" y="11"/>
                </a:lnTo>
                <a:lnTo>
                  <a:pt x="360" y="12"/>
                </a:lnTo>
                <a:lnTo>
                  <a:pt x="344" y="14"/>
                </a:lnTo>
                <a:lnTo>
                  <a:pt x="327" y="16"/>
                </a:lnTo>
                <a:lnTo>
                  <a:pt x="311" y="19"/>
                </a:lnTo>
                <a:lnTo>
                  <a:pt x="295" y="22"/>
                </a:lnTo>
                <a:lnTo>
                  <a:pt x="278" y="25"/>
                </a:lnTo>
                <a:lnTo>
                  <a:pt x="262" y="29"/>
                </a:lnTo>
                <a:lnTo>
                  <a:pt x="246" y="33"/>
                </a:lnTo>
                <a:lnTo>
                  <a:pt x="229" y="38"/>
                </a:lnTo>
                <a:lnTo>
                  <a:pt x="213" y="42"/>
                </a:lnTo>
                <a:lnTo>
                  <a:pt x="196" y="46"/>
                </a:lnTo>
                <a:lnTo>
                  <a:pt x="180" y="51"/>
                </a:lnTo>
                <a:lnTo>
                  <a:pt x="164" y="55"/>
                </a:lnTo>
                <a:lnTo>
                  <a:pt x="147" y="59"/>
                </a:lnTo>
                <a:lnTo>
                  <a:pt x="131" y="63"/>
                </a:lnTo>
                <a:lnTo>
                  <a:pt x="114" y="67"/>
                </a:lnTo>
                <a:lnTo>
                  <a:pt x="98" y="71"/>
                </a:lnTo>
                <a:lnTo>
                  <a:pt x="82" y="74"/>
                </a:lnTo>
                <a:lnTo>
                  <a:pt x="65" y="76"/>
                </a:lnTo>
                <a:lnTo>
                  <a:pt x="49" y="79"/>
                </a:lnTo>
                <a:lnTo>
                  <a:pt x="33" y="80"/>
                </a:lnTo>
                <a:lnTo>
                  <a:pt x="16" y="81"/>
                </a:lnTo>
                <a:lnTo>
                  <a:pt x="0" y="82"/>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5019675"/>
            <a:ext cx="3743325" cy="333375"/>
          </a:xfrm>
          <a:custGeom>
            <a:avLst/>
            <a:gdLst/>
            <a:ahLst/>
            <a:cxnLst/>
            <a:rect l="l" t="t" r="r" b="b"/>
            <a:pathLst>
              <a:path w="393" h="35">
                <a:moveTo>
                  <a:pt x="0" y="26"/>
                </a:moveTo>
                <a:lnTo>
                  <a:pt x="16" y="26"/>
                </a:lnTo>
                <a:lnTo>
                  <a:pt x="33" y="25"/>
                </a:lnTo>
                <a:lnTo>
                  <a:pt x="49" y="25"/>
                </a:lnTo>
                <a:lnTo>
                  <a:pt x="65" y="24"/>
                </a:lnTo>
                <a:lnTo>
                  <a:pt x="82" y="23"/>
                </a:lnTo>
                <a:lnTo>
                  <a:pt x="98" y="22"/>
                </a:lnTo>
                <a:lnTo>
                  <a:pt x="114" y="20"/>
                </a:lnTo>
                <a:lnTo>
                  <a:pt x="131" y="19"/>
                </a:lnTo>
                <a:lnTo>
                  <a:pt x="147" y="18"/>
                </a:lnTo>
                <a:lnTo>
                  <a:pt x="164" y="16"/>
                </a:lnTo>
                <a:lnTo>
                  <a:pt x="180" y="14"/>
                </a:lnTo>
                <a:lnTo>
                  <a:pt x="196" y="13"/>
                </a:lnTo>
                <a:lnTo>
                  <a:pt x="213" y="11"/>
                </a:lnTo>
                <a:lnTo>
                  <a:pt x="229" y="10"/>
                </a:lnTo>
                <a:lnTo>
                  <a:pt x="246" y="8"/>
                </a:lnTo>
                <a:lnTo>
                  <a:pt x="262" y="7"/>
                </a:lnTo>
                <a:lnTo>
                  <a:pt x="278" y="5"/>
                </a:lnTo>
                <a:lnTo>
                  <a:pt x="295" y="4"/>
                </a:lnTo>
                <a:lnTo>
                  <a:pt x="311" y="3"/>
                </a:lnTo>
                <a:lnTo>
                  <a:pt x="327" y="2"/>
                </a:lnTo>
                <a:lnTo>
                  <a:pt x="344" y="1"/>
                </a:lnTo>
                <a:lnTo>
                  <a:pt x="360" y="0"/>
                </a:lnTo>
                <a:lnTo>
                  <a:pt x="377" y="0"/>
                </a:lnTo>
                <a:lnTo>
                  <a:pt x="393" y="0"/>
                </a:lnTo>
                <a:lnTo>
                  <a:pt x="393" y="9"/>
                </a:lnTo>
                <a:lnTo>
                  <a:pt x="377" y="9"/>
                </a:lnTo>
                <a:lnTo>
                  <a:pt x="360" y="10"/>
                </a:lnTo>
                <a:lnTo>
                  <a:pt x="344" y="10"/>
                </a:lnTo>
                <a:lnTo>
                  <a:pt x="327" y="11"/>
                </a:lnTo>
                <a:lnTo>
                  <a:pt x="311" y="12"/>
                </a:lnTo>
                <a:lnTo>
                  <a:pt x="295" y="13"/>
                </a:lnTo>
                <a:lnTo>
                  <a:pt x="278" y="14"/>
                </a:lnTo>
                <a:lnTo>
                  <a:pt x="262" y="16"/>
                </a:lnTo>
                <a:lnTo>
                  <a:pt x="246" y="17"/>
                </a:lnTo>
                <a:lnTo>
                  <a:pt x="229" y="19"/>
                </a:lnTo>
                <a:lnTo>
                  <a:pt x="213" y="20"/>
                </a:lnTo>
                <a:lnTo>
                  <a:pt x="196" y="22"/>
                </a:lnTo>
                <a:lnTo>
                  <a:pt x="180" y="24"/>
                </a:lnTo>
                <a:lnTo>
                  <a:pt x="164" y="25"/>
                </a:lnTo>
                <a:lnTo>
                  <a:pt x="147" y="27"/>
                </a:lnTo>
                <a:lnTo>
                  <a:pt x="131" y="28"/>
                </a:lnTo>
                <a:lnTo>
                  <a:pt x="114" y="30"/>
                </a:lnTo>
                <a:lnTo>
                  <a:pt x="98" y="31"/>
                </a:lnTo>
                <a:lnTo>
                  <a:pt x="82" y="32"/>
                </a:lnTo>
                <a:lnTo>
                  <a:pt x="65" y="33"/>
                </a:lnTo>
                <a:lnTo>
                  <a:pt x="49" y="34"/>
                </a:lnTo>
                <a:lnTo>
                  <a:pt x="33" y="34"/>
                </a:lnTo>
                <a:lnTo>
                  <a:pt x="16" y="35"/>
                </a:lnTo>
                <a:lnTo>
                  <a:pt x="0" y="35"/>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5353050"/>
            <a:ext cx="3743325" cy="161925"/>
          </a:xfrm>
          <a:custGeom>
            <a:avLst/>
            <a:gdLst/>
            <a:ahLst/>
            <a:cxnLst/>
            <a:rect l="l" t="t" r="r" b="b"/>
            <a:pathLst>
              <a:path w="393" h="17">
                <a:moveTo>
                  <a:pt x="0" y="0"/>
                </a:moveTo>
                <a:lnTo>
                  <a:pt x="16" y="0"/>
                </a:lnTo>
                <a:lnTo>
                  <a:pt x="33" y="0"/>
                </a:lnTo>
                <a:lnTo>
                  <a:pt x="49" y="0"/>
                </a:lnTo>
                <a:lnTo>
                  <a:pt x="65" y="1"/>
                </a:lnTo>
                <a:lnTo>
                  <a:pt x="82" y="1"/>
                </a:lnTo>
                <a:lnTo>
                  <a:pt x="98" y="2"/>
                </a:lnTo>
                <a:lnTo>
                  <a:pt x="114" y="2"/>
                </a:lnTo>
                <a:lnTo>
                  <a:pt x="131" y="3"/>
                </a:lnTo>
                <a:lnTo>
                  <a:pt x="147" y="4"/>
                </a:lnTo>
                <a:lnTo>
                  <a:pt x="164" y="5"/>
                </a:lnTo>
                <a:lnTo>
                  <a:pt x="180" y="5"/>
                </a:lnTo>
                <a:lnTo>
                  <a:pt x="196" y="6"/>
                </a:lnTo>
                <a:lnTo>
                  <a:pt x="213" y="7"/>
                </a:lnTo>
                <a:lnTo>
                  <a:pt x="229" y="8"/>
                </a:lnTo>
                <a:lnTo>
                  <a:pt x="246" y="8"/>
                </a:lnTo>
                <a:lnTo>
                  <a:pt x="262" y="9"/>
                </a:lnTo>
                <a:lnTo>
                  <a:pt x="278" y="10"/>
                </a:lnTo>
                <a:lnTo>
                  <a:pt x="295" y="10"/>
                </a:lnTo>
                <a:lnTo>
                  <a:pt x="311" y="11"/>
                </a:lnTo>
                <a:lnTo>
                  <a:pt x="327" y="11"/>
                </a:lnTo>
                <a:lnTo>
                  <a:pt x="344" y="12"/>
                </a:lnTo>
                <a:lnTo>
                  <a:pt x="360" y="12"/>
                </a:lnTo>
                <a:lnTo>
                  <a:pt x="377" y="12"/>
                </a:lnTo>
                <a:lnTo>
                  <a:pt x="393" y="12"/>
                </a:lnTo>
                <a:lnTo>
                  <a:pt x="393" y="17"/>
                </a:lnTo>
                <a:lnTo>
                  <a:pt x="377" y="17"/>
                </a:lnTo>
                <a:lnTo>
                  <a:pt x="360" y="17"/>
                </a:lnTo>
                <a:lnTo>
                  <a:pt x="344" y="17"/>
                </a:lnTo>
                <a:lnTo>
                  <a:pt x="327" y="16"/>
                </a:lnTo>
                <a:lnTo>
                  <a:pt x="311" y="16"/>
                </a:lnTo>
                <a:lnTo>
                  <a:pt x="295" y="15"/>
                </a:lnTo>
                <a:lnTo>
                  <a:pt x="278" y="15"/>
                </a:lnTo>
                <a:lnTo>
                  <a:pt x="262" y="14"/>
                </a:lnTo>
                <a:lnTo>
                  <a:pt x="246" y="13"/>
                </a:lnTo>
                <a:lnTo>
                  <a:pt x="229" y="13"/>
                </a:lnTo>
                <a:lnTo>
                  <a:pt x="213" y="12"/>
                </a:lnTo>
                <a:lnTo>
                  <a:pt x="196" y="11"/>
                </a:lnTo>
                <a:lnTo>
                  <a:pt x="180" y="10"/>
                </a:lnTo>
                <a:lnTo>
                  <a:pt x="164" y="10"/>
                </a:lnTo>
                <a:lnTo>
                  <a:pt x="147" y="9"/>
                </a:lnTo>
                <a:lnTo>
                  <a:pt x="131" y="8"/>
                </a:lnTo>
                <a:lnTo>
                  <a:pt x="114" y="8"/>
                </a:lnTo>
                <a:lnTo>
                  <a:pt x="98" y="7"/>
                </a:lnTo>
                <a:lnTo>
                  <a:pt x="82" y="6"/>
                </a:lnTo>
                <a:lnTo>
                  <a:pt x="65" y="6"/>
                </a:lnTo>
                <a:lnTo>
                  <a:pt x="49" y="6"/>
                </a:lnTo>
                <a:lnTo>
                  <a:pt x="33" y="5"/>
                </a:lnTo>
                <a:lnTo>
                  <a:pt x="16" y="5"/>
                </a:lnTo>
                <a:lnTo>
                  <a:pt x="0" y="5"/>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5400675"/>
            <a:ext cx="3743325" cy="485775"/>
          </a:xfrm>
          <a:custGeom>
            <a:avLst/>
            <a:gdLst/>
            <a:ahLst/>
            <a:cxnLst/>
            <a:rect l="l" t="t" r="r" b="b"/>
            <a:pathLst>
              <a:path w="393" h="51">
                <a:moveTo>
                  <a:pt x="0" y="0"/>
                </a:moveTo>
                <a:lnTo>
                  <a:pt x="16" y="0"/>
                </a:lnTo>
                <a:lnTo>
                  <a:pt x="33" y="1"/>
                </a:lnTo>
                <a:lnTo>
                  <a:pt x="49" y="2"/>
                </a:lnTo>
                <a:lnTo>
                  <a:pt x="65" y="3"/>
                </a:lnTo>
                <a:lnTo>
                  <a:pt x="82" y="5"/>
                </a:lnTo>
                <a:lnTo>
                  <a:pt x="98" y="7"/>
                </a:lnTo>
                <a:lnTo>
                  <a:pt x="114" y="9"/>
                </a:lnTo>
                <a:lnTo>
                  <a:pt x="131" y="12"/>
                </a:lnTo>
                <a:lnTo>
                  <a:pt x="147" y="14"/>
                </a:lnTo>
                <a:lnTo>
                  <a:pt x="164" y="17"/>
                </a:lnTo>
                <a:lnTo>
                  <a:pt x="180" y="20"/>
                </a:lnTo>
                <a:lnTo>
                  <a:pt x="196" y="23"/>
                </a:lnTo>
                <a:lnTo>
                  <a:pt x="213" y="25"/>
                </a:lnTo>
                <a:lnTo>
                  <a:pt x="229" y="28"/>
                </a:lnTo>
                <a:lnTo>
                  <a:pt x="246" y="31"/>
                </a:lnTo>
                <a:lnTo>
                  <a:pt x="262" y="33"/>
                </a:lnTo>
                <a:lnTo>
                  <a:pt x="278" y="36"/>
                </a:lnTo>
                <a:lnTo>
                  <a:pt x="295" y="38"/>
                </a:lnTo>
                <a:lnTo>
                  <a:pt x="311" y="40"/>
                </a:lnTo>
                <a:lnTo>
                  <a:pt x="327" y="42"/>
                </a:lnTo>
                <a:lnTo>
                  <a:pt x="344" y="43"/>
                </a:lnTo>
                <a:lnTo>
                  <a:pt x="360" y="44"/>
                </a:lnTo>
                <a:lnTo>
                  <a:pt x="377" y="45"/>
                </a:lnTo>
                <a:lnTo>
                  <a:pt x="393" y="45"/>
                </a:lnTo>
                <a:lnTo>
                  <a:pt x="393" y="51"/>
                </a:lnTo>
                <a:lnTo>
                  <a:pt x="377" y="51"/>
                </a:lnTo>
                <a:lnTo>
                  <a:pt x="360" y="50"/>
                </a:lnTo>
                <a:lnTo>
                  <a:pt x="344" y="49"/>
                </a:lnTo>
                <a:lnTo>
                  <a:pt x="327" y="48"/>
                </a:lnTo>
                <a:lnTo>
                  <a:pt x="311" y="46"/>
                </a:lnTo>
                <a:lnTo>
                  <a:pt x="295" y="44"/>
                </a:lnTo>
                <a:lnTo>
                  <a:pt x="278" y="42"/>
                </a:lnTo>
                <a:lnTo>
                  <a:pt x="262" y="39"/>
                </a:lnTo>
                <a:lnTo>
                  <a:pt x="246" y="37"/>
                </a:lnTo>
                <a:lnTo>
                  <a:pt x="229" y="34"/>
                </a:lnTo>
                <a:lnTo>
                  <a:pt x="213" y="31"/>
                </a:lnTo>
                <a:lnTo>
                  <a:pt x="196" y="28"/>
                </a:lnTo>
                <a:lnTo>
                  <a:pt x="180" y="26"/>
                </a:lnTo>
                <a:lnTo>
                  <a:pt x="164" y="23"/>
                </a:lnTo>
                <a:lnTo>
                  <a:pt x="147" y="20"/>
                </a:lnTo>
                <a:lnTo>
                  <a:pt x="131" y="18"/>
                </a:lnTo>
                <a:lnTo>
                  <a:pt x="114" y="15"/>
                </a:lnTo>
                <a:lnTo>
                  <a:pt x="98" y="13"/>
                </a:lnTo>
                <a:lnTo>
                  <a:pt x="82" y="11"/>
                </a:lnTo>
                <a:lnTo>
                  <a:pt x="65" y="9"/>
                </a:lnTo>
                <a:lnTo>
                  <a:pt x="49" y="8"/>
                </a:lnTo>
                <a:lnTo>
                  <a:pt x="33" y="7"/>
                </a:lnTo>
                <a:lnTo>
                  <a:pt x="16" y="6"/>
                </a:lnTo>
                <a:lnTo>
                  <a:pt x="0" y="6"/>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5457825"/>
            <a:ext cx="3743325" cy="723900"/>
          </a:xfrm>
          <a:custGeom>
            <a:avLst/>
            <a:gdLst/>
            <a:ahLst/>
            <a:cxnLst/>
            <a:rect l="l" t="t" r="r" b="b"/>
            <a:pathLst>
              <a:path w="393" h="76">
                <a:moveTo>
                  <a:pt x="0" y="0"/>
                </a:moveTo>
                <a:lnTo>
                  <a:pt x="16" y="0"/>
                </a:lnTo>
                <a:lnTo>
                  <a:pt x="33" y="1"/>
                </a:lnTo>
                <a:lnTo>
                  <a:pt x="49" y="3"/>
                </a:lnTo>
                <a:lnTo>
                  <a:pt x="65" y="5"/>
                </a:lnTo>
                <a:lnTo>
                  <a:pt x="82" y="8"/>
                </a:lnTo>
                <a:lnTo>
                  <a:pt x="98" y="11"/>
                </a:lnTo>
                <a:lnTo>
                  <a:pt x="114" y="15"/>
                </a:lnTo>
                <a:lnTo>
                  <a:pt x="131" y="18"/>
                </a:lnTo>
                <a:lnTo>
                  <a:pt x="147" y="22"/>
                </a:lnTo>
                <a:lnTo>
                  <a:pt x="164" y="27"/>
                </a:lnTo>
                <a:lnTo>
                  <a:pt x="180" y="31"/>
                </a:lnTo>
                <a:lnTo>
                  <a:pt x="196" y="36"/>
                </a:lnTo>
                <a:lnTo>
                  <a:pt x="213" y="40"/>
                </a:lnTo>
                <a:lnTo>
                  <a:pt x="229" y="45"/>
                </a:lnTo>
                <a:lnTo>
                  <a:pt x="246" y="49"/>
                </a:lnTo>
                <a:lnTo>
                  <a:pt x="262" y="53"/>
                </a:lnTo>
                <a:lnTo>
                  <a:pt x="278" y="57"/>
                </a:lnTo>
                <a:lnTo>
                  <a:pt x="295" y="60"/>
                </a:lnTo>
                <a:lnTo>
                  <a:pt x="311" y="63"/>
                </a:lnTo>
                <a:lnTo>
                  <a:pt x="327" y="66"/>
                </a:lnTo>
                <a:lnTo>
                  <a:pt x="344" y="68"/>
                </a:lnTo>
                <a:lnTo>
                  <a:pt x="360" y="70"/>
                </a:lnTo>
                <a:lnTo>
                  <a:pt x="377" y="71"/>
                </a:lnTo>
                <a:lnTo>
                  <a:pt x="393" y="71"/>
                </a:lnTo>
                <a:lnTo>
                  <a:pt x="393" y="76"/>
                </a:lnTo>
                <a:lnTo>
                  <a:pt x="377" y="76"/>
                </a:lnTo>
                <a:lnTo>
                  <a:pt x="360" y="75"/>
                </a:lnTo>
                <a:lnTo>
                  <a:pt x="344" y="73"/>
                </a:lnTo>
                <a:lnTo>
                  <a:pt x="327" y="71"/>
                </a:lnTo>
                <a:lnTo>
                  <a:pt x="311" y="68"/>
                </a:lnTo>
                <a:lnTo>
                  <a:pt x="295" y="65"/>
                </a:lnTo>
                <a:lnTo>
                  <a:pt x="278" y="62"/>
                </a:lnTo>
                <a:lnTo>
                  <a:pt x="262" y="58"/>
                </a:lnTo>
                <a:lnTo>
                  <a:pt x="246" y="54"/>
                </a:lnTo>
                <a:lnTo>
                  <a:pt x="229" y="49"/>
                </a:lnTo>
                <a:lnTo>
                  <a:pt x="213" y="45"/>
                </a:lnTo>
                <a:lnTo>
                  <a:pt x="196" y="40"/>
                </a:lnTo>
                <a:lnTo>
                  <a:pt x="180" y="36"/>
                </a:lnTo>
                <a:lnTo>
                  <a:pt x="164" y="32"/>
                </a:lnTo>
                <a:lnTo>
                  <a:pt x="147" y="27"/>
                </a:lnTo>
                <a:lnTo>
                  <a:pt x="131" y="23"/>
                </a:lnTo>
                <a:lnTo>
                  <a:pt x="114" y="19"/>
                </a:lnTo>
                <a:lnTo>
                  <a:pt x="98" y="16"/>
                </a:lnTo>
                <a:lnTo>
                  <a:pt x="82" y="13"/>
                </a:lnTo>
                <a:lnTo>
                  <a:pt x="65" y="10"/>
                </a:lnTo>
                <a:lnTo>
                  <a:pt x="49" y="8"/>
                </a:lnTo>
                <a:lnTo>
                  <a:pt x="33" y="6"/>
                </a:lnTo>
                <a:lnTo>
                  <a:pt x="16" y="5"/>
                </a:lnTo>
                <a:lnTo>
                  <a:pt x="0" y="5"/>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5505450"/>
            <a:ext cx="3743325" cy="942975"/>
          </a:xfrm>
          <a:custGeom>
            <a:avLst/>
            <a:gdLst/>
            <a:ahLst/>
            <a:cxnLst/>
            <a:rect l="l" t="t" r="r" b="b"/>
            <a:pathLst>
              <a:path w="393" h="99">
                <a:moveTo>
                  <a:pt x="0" y="0"/>
                </a:moveTo>
                <a:lnTo>
                  <a:pt x="16" y="0"/>
                </a:lnTo>
                <a:lnTo>
                  <a:pt x="33" y="2"/>
                </a:lnTo>
                <a:lnTo>
                  <a:pt x="49" y="4"/>
                </a:lnTo>
                <a:lnTo>
                  <a:pt x="65" y="7"/>
                </a:lnTo>
                <a:lnTo>
                  <a:pt x="82" y="10"/>
                </a:lnTo>
                <a:lnTo>
                  <a:pt x="98" y="14"/>
                </a:lnTo>
                <a:lnTo>
                  <a:pt x="114" y="19"/>
                </a:lnTo>
                <a:lnTo>
                  <a:pt x="131" y="24"/>
                </a:lnTo>
                <a:lnTo>
                  <a:pt x="147" y="30"/>
                </a:lnTo>
                <a:lnTo>
                  <a:pt x="164" y="35"/>
                </a:lnTo>
                <a:lnTo>
                  <a:pt x="180" y="41"/>
                </a:lnTo>
                <a:lnTo>
                  <a:pt x="196" y="47"/>
                </a:lnTo>
                <a:lnTo>
                  <a:pt x="213" y="53"/>
                </a:lnTo>
                <a:lnTo>
                  <a:pt x="229" y="59"/>
                </a:lnTo>
                <a:lnTo>
                  <a:pt x="246" y="64"/>
                </a:lnTo>
                <a:lnTo>
                  <a:pt x="262" y="70"/>
                </a:lnTo>
                <a:lnTo>
                  <a:pt x="278" y="75"/>
                </a:lnTo>
                <a:lnTo>
                  <a:pt x="295" y="80"/>
                </a:lnTo>
                <a:lnTo>
                  <a:pt x="311" y="84"/>
                </a:lnTo>
                <a:lnTo>
                  <a:pt x="327" y="87"/>
                </a:lnTo>
                <a:lnTo>
                  <a:pt x="344" y="90"/>
                </a:lnTo>
                <a:lnTo>
                  <a:pt x="360" y="93"/>
                </a:lnTo>
                <a:lnTo>
                  <a:pt x="377" y="94"/>
                </a:lnTo>
                <a:lnTo>
                  <a:pt x="393" y="94"/>
                </a:lnTo>
                <a:lnTo>
                  <a:pt x="393" y="99"/>
                </a:lnTo>
                <a:lnTo>
                  <a:pt x="377" y="98"/>
                </a:lnTo>
                <a:lnTo>
                  <a:pt x="360" y="97"/>
                </a:lnTo>
                <a:lnTo>
                  <a:pt x="344" y="95"/>
                </a:lnTo>
                <a:lnTo>
                  <a:pt x="327" y="92"/>
                </a:lnTo>
                <a:lnTo>
                  <a:pt x="311" y="88"/>
                </a:lnTo>
                <a:lnTo>
                  <a:pt x="295" y="84"/>
                </a:lnTo>
                <a:lnTo>
                  <a:pt x="278" y="79"/>
                </a:lnTo>
                <a:lnTo>
                  <a:pt x="262" y="74"/>
                </a:lnTo>
                <a:lnTo>
                  <a:pt x="246" y="69"/>
                </a:lnTo>
                <a:lnTo>
                  <a:pt x="229" y="63"/>
                </a:lnTo>
                <a:lnTo>
                  <a:pt x="213" y="57"/>
                </a:lnTo>
                <a:lnTo>
                  <a:pt x="196" y="51"/>
                </a:lnTo>
                <a:lnTo>
                  <a:pt x="180" y="45"/>
                </a:lnTo>
                <a:lnTo>
                  <a:pt x="164" y="40"/>
                </a:lnTo>
                <a:lnTo>
                  <a:pt x="147" y="34"/>
                </a:lnTo>
                <a:lnTo>
                  <a:pt x="131" y="29"/>
                </a:lnTo>
                <a:lnTo>
                  <a:pt x="114" y="24"/>
                </a:lnTo>
                <a:lnTo>
                  <a:pt x="98" y="19"/>
                </a:lnTo>
                <a:lnTo>
                  <a:pt x="82" y="15"/>
                </a:lnTo>
                <a:lnTo>
                  <a:pt x="65" y="11"/>
                </a:lnTo>
                <a:lnTo>
                  <a:pt x="49" y="8"/>
                </a:lnTo>
                <a:lnTo>
                  <a:pt x="33" y="6"/>
                </a:lnTo>
                <a:lnTo>
                  <a:pt x="16" y="5"/>
                </a:lnTo>
                <a:lnTo>
                  <a:pt x="0" y="4"/>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4591050"/>
            <a:ext cx="3743325" cy="1095375"/>
          </a:xfrm>
          <a:custGeom>
            <a:avLst/>
            <a:gdLst/>
            <a:ahLst/>
            <a:cxnLst/>
            <a:rect l="l" t="t" r="r" b="b"/>
            <a:pathLst>
              <a:path w="393" h="115">
                <a:moveTo>
                  <a:pt x="0" y="106"/>
                </a:moveTo>
                <a:lnTo>
                  <a:pt x="16" y="105"/>
                </a:lnTo>
                <a:lnTo>
                  <a:pt x="33" y="104"/>
                </a:lnTo>
                <a:lnTo>
                  <a:pt x="49" y="101"/>
                </a:lnTo>
                <a:lnTo>
                  <a:pt x="65" y="98"/>
                </a:lnTo>
                <a:lnTo>
                  <a:pt x="82" y="94"/>
                </a:lnTo>
                <a:lnTo>
                  <a:pt x="98" y="89"/>
                </a:lnTo>
                <a:lnTo>
                  <a:pt x="114" y="84"/>
                </a:lnTo>
                <a:lnTo>
                  <a:pt x="131" y="79"/>
                </a:lnTo>
                <a:lnTo>
                  <a:pt x="147" y="72"/>
                </a:lnTo>
                <a:lnTo>
                  <a:pt x="164" y="66"/>
                </a:lnTo>
                <a:lnTo>
                  <a:pt x="180" y="60"/>
                </a:lnTo>
                <a:lnTo>
                  <a:pt x="196" y="53"/>
                </a:lnTo>
                <a:lnTo>
                  <a:pt x="213" y="46"/>
                </a:lnTo>
                <a:lnTo>
                  <a:pt x="229" y="40"/>
                </a:lnTo>
                <a:lnTo>
                  <a:pt x="246" y="33"/>
                </a:lnTo>
                <a:lnTo>
                  <a:pt x="262" y="27"/>
                </a:lnTo>
                <a:lnTo>
                  <a:pt x="278" y="22"/>
                </a:lnTo>
                <a:lnTo>
                  <a:pt x="295" y="17"/>
                </a:lnTo>
                <a:lnTo>
                  <a:pt x="311" y="12"/>
                </a:lnTo>
                <a:lnTo>
                  <a:pt x="327" y="8"/>
                </a:lnTo>
                <a:lnTo>
                  <a:pt x="344" y="4"/>
                </a:lnTo>
                <a:lnTo>
                  <a:pt x="360" y="2"/>
                </a:lnTo>
                <a:lnTo>
                  <a:pt x="377" y="0"/>
                </a:lnTo>
                <a:lnTo>
                  <a:pt x="393" y="0"/>
                </a:lnTo>
                <a:lnTo>
                  <a:pt x="393" y="9"/>
                </a:lnTo>
                <a:lnTo>
                  <a:pt x="377" y="10"/>
                </a:lnTo>
                <a:lnTo>
                  <a:pt x="360" y="11"/>
                </a:lnTo>
                <a:lnTo>
                  <a:pt x="344" y="14"/>
                </a:lnTo>
                <a:lnTo>
                  <a:pt x="327" y="17"/>
                </a:lnTo>
                <a:lnTo>
                  <a:pt x="311" y="21"/>
                </a:lnTo>
                <a:lnTo>
                  <a:pt x="295" y="26"/>
                </a:lnTo>
                <a:lnTo>
                  <a:pt x="278" y="31"/>
                </a:lnTo>
                <a:lnTo>
                  <a:pt x="262" y="37"/>
                </a:lnTo>
                <a:lnTo>
                  <a:pt x="246" y="43"/>
                </a:lnTo>
                <a:lnTo>
                  <a:pt x="229" y="49"/>
                </a:lnTo>
                <a:lnTo>
                  <a:pt x="213" y="56"/>
                </a:lnTo>
                <a:lnTo>
                  <a:pt x="196" y="62"/>
                </a:lnTo>
                <a:lnTo>
                  <a:pt x="180" y="69"/>
                </a:lnTo>
                <a:lnTo>
                  <a:pt x="164" y="75"/>
                </a:lnTo>
                <a:lnTo>
                  <a:pt x="147" y="82"/>
                </a:lnTo>
                <a:lnTo>
                  <a:pt x="131" y="88"/>
                </a:lnTo>
                <a:lnTo>
                  <a:pt x="114" y="93"/>
                </a:lnTo>
                <a:lnTo>
                  <a:pt x="98" y="99"/>
                </a:lnTo>
                <a:lnTo>
                  <a:pt x="82" y="103"/>
                </a:lnTo>
                <a:lnTo>
                  <a:pt x="65" y="107"/>
                </a:lnTo>
                <a:lnTo>
                  <a:pt x="49" y="111"/>
                </a:lnTo>
                <a:lnTo>
                  <a:pt x="33" y="113"/>
                </a:lnTo>
                <a:lnTo>
                  <a:pt x="16" y="115"/>
                </a:lnTo>
                <a:lnTo>
                  <a:pt x="0" y="115"/>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5105400"/>
            <a:ext cx="3743325" cy="657225"/>
          </a:xfrm>
          <a:custGeom>
            <a:avLst/>
            <a:gdLst/>
            <a:ahLst/>
            <a:cxnLst/>
            <a:rect l="l" t="t" r="r" b="b"/>
            <a:pathLst>
              <a:path w="393" h="69">
                <a:moveTo>
                  <a:pt x="0" y="61"/>
                </a:moveTo>
                <a:lnTo>
                  <a:pt x="16" y="61"/>
                </a:lnTo>
                <a:lnTo>
                  <a:pt x="33" y="60"/>
                </a:lnTo>
                <a:lnTo>
                  <a:pt x="49" y="59"/>
                </a:lnTo>
                <a:lnTo>
                  <a:pt x="65" y="57"/>
                </a:lnTo>
                <a:lnTo>
                  <a:pt x="82" y="54"/>
                </a:lnTo>
                <a:lnTo>
                  <a:pt x="98" y="52"/>
                </a:lnTo>
                <a:lnTo>
                  <a:pt x="114" y="49"/>
                </a:lnTo>
                <a:lnTo>
                  <a:pt x="131" y="45"/>
                </a:lnTo>
                <a:lnTo>
                  <a:pt x="147" y="42"/>
                </a:lnTo>
                <a:lnTo>
                  <a:pt x="164" y="38"/>
                </a:lnTo>
                <a:lnTo>
                  <a:pt x="180" y="34"/>
                </a:lnTo>
                <a:lnTo>
                  <a:pt x="196" y="31"/>
                </a:lnTo>
                <a:lnTo>
                  <a:pt x="213" y="27"/>
                </a:lnTo>
                <a:lnTo>
                  <a:pt x="229" y="23"/>
                </a:lnTo>
                <a:lnTo>
                  <a:pt x="246" y="19"/>
                </a:lnTo>
                <a:lnTo>
                  <a:pt x="262" y="16"/>
                </a:lnTo>
                <a:lnTo>
                  <a:pt x="278" y="13"/>
                </a:lnTo>
                <a:lnTo>
                  <a:pt x="295" y="10"/>
                </a:lnTo>
                <a:lnTo>
                  <a:pt x="311" y="7"/>
                </a:lnTo>
                <a:lnTo>
                  <a:pt x="327" y="5"/>
                </a:lnTo>
                <a:lnTo>
                  <a:pt x="344" y="3"/>
                </a:lnTo>
                <a:lnTo>
                  <a:pt x="360" y="1"/>
                </a:lnTo>
                <a:lnTo>
                  <a:pt x="377" y="0"/>
                </a:lnTo>
                <a:lnTo>
                  <a:pt x="393" y="0"/>
                </a:lnTo>
                <a:lnTo>
                  <a:pt x="393" y="8"/>
                </a:lnTo>
                <a:lnTo>
                  <a:pt x="377" y="8"/>
                </a:lnTo>
                <a:lnTo>
                  <a:pt x="360" y="9"/>
                </a:lnTo>
                <a:lnTo>
                  <a:pt x="344" y="11"/>
                </a:lnTo>
                <a:lnTo>
                  <a:pt x="327" y="12"/>
                </a:lnTo>
                <a:lnTo>
                  <a:pt x="311" y="15"/>
                </a:lnTo>
                <a:lnTo>
                  <a:pt x="295" y="17"/>
                </a:lnTo>
                <a:lnTo>
                  <a:pt x="278" y="20"/>
                </a:lnTo>
                <a:lnTo>
                  <a:pt x="262" y="24"/>
                </a:lnTo>
                <a:lnTo>
                  <a:pt x="246" y="27"/>
                </a:lnTo>
                <a:lnTo>
                  <a:pt x="229" y="31"/>
                </a:lnTo>
                <a:lnTo>
                  <a:pt x="213" y="35"/>
                </a:lnTo>
                <a:lnTo>
                  <a:pt x="196" y="38"/>
                </a:lnTo>
                <a:lnTo>
                  <a:pt x="180" y="42"/>
                </a:lnTo>
                <a:lnTo>
                  <a:pt x="164" y="46"/>
                </a:lnTo>
                <a:lnTo>
                  <a:pt x="147" y="50"/>
                </a:lnTo>
                <a:lnTo>
                  <a:pt x="131" y="53"/>
                </a:lnTo>
                <a:lnTo>
                  <a:pt x="114" y="56"/>
                </a:lnTo>
                <a:lnTo>
                  <a:pt x="98" y="60"/>
                </a:lnTo>
                <a:lnTo>
                  <a:pt x="82" y="62"/>
                </a:lnTo>
                <a:lnTo>
                  <a:pt x="65" y="65"/>
                </a:lnTo>
                <a:lnTo>
                  <a:pt x="49" y="66"/>
                </a:lnTo>
                <a:lnTo>
                  <a:pt x="33" y="68"/>
                </a:lnTo>
                <a:lnTo>
                  <a:pt x="16" y="69"/>
                </a:lnTo>
                <a:lnTo>
                  <a:pt x="0" y="69"/>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5514975"/>
            <a:ext cx="3743325" cy="333375"/>
          </a:xfrm>
          <a:custGeom>
            <a:avLst/>
            <a:gdLst/>
            <a:ahLst/>
            <a:cxnLst/>
            <a:rect l="l" t="t" r="r" b="b"/>
            <a:pathLst>
              <a:path w="393" h="35">
                <a:moveTo>
                  <a:pt x="0" y="26"/>
                </a:moveTo>
                <a:lnTo>
                  <a:pt x="16" y="26"/>
                </a:lnTo>
                <a:lnTo>
                  <a:pt x="33" y="26"/>
                </a:lnTo>
                <a:lnTo>
                  <a:pt x="49" y="25"/>
                </a:lnTo>
                <a:lnTo>
                  <a:pt x="65" y="24"/>
                </a:lnTo>
                <a:lnTo>
                  <a:pt x="82" y="23"/>
                </a:lnTo>
                <a:lnTo>
                  <a:pt x="98" y="22"/>
                </a:lnTo>
                <a:lnTo>
                  <a:pt x="114" y="21"/>
                </a:lnTo>
                <a:lnTo>
                  <a:pt x="131" y="19"/>
                </a:lnTo>
                <a:lnTo>
                  <a:pt x="147" y="18"/>
                </a:lnTo>
                <a:lnTo>
                  <a:pt x="164" y="16"/>
                </a:lnTo>
                <a:lnTo>
                  <a:pt x="180" y="15"/>
                </a:lnTo>
                <a:lnTo>
                  <a:pt x="196" y="13"/>
                </a:lnTo>
                <a:lnTo>
                  <a:pt x="213" y="12"/>
                </a:lnTo>
                <a:lnTo>
                  <a:pt x="229" y="10"/>
                </a:lnTo>
                <a:lnTo>
                  <a:pt x="246" y="8"/>
                </a:lnTo>
                <a:lnTo>
                  <a:pt x="262" y="7"/>
                </a:lnTo>
                <a:lnTo>
                  <a:pt x="278" y="6"/>
                </a:lnTo>
                <a:lnTo>
                  <a:pt x="295" y="4"/>
                </a:lnTo>
                <a:lnTo>
                  <a:pt x="311" y="3"/>
                </a:lnTo>
                <a:lnTo>
                  <a:pt x="327" y="2"/>
                </a:lnTo>
                <a:lnTo>
                  <a:pt x="344" y="1"/>
                </a:lnTo>
                <a:lnTo>
                  <a:pt x="360" y="1"/>
                </a:lnTo>
                <a:lnTo>
                  <a:pt x="377" y="0"/>
                </a:lnTo>
                <a:lnTo>
                  <a:pt x="393" y="0"/>
                </a:lnTo>
                <a:lnTo>
                  <a:pt x="393" y="9"/>
                </a:lnTo>
                <a:lnTo>
                  <a:pt x="377" y="9"/>
                </a:lnTo>
                <a:lnTo>
                  <a:pt x="360" y="10"/>
                </a:lnTo>
                <a:lnTo>
                  <a:pt x="344" y="10"/>
                </a:lnTo>
                <a:lnTo>
                  <a:pt x="327" y="11"/>
                </a:lnTo>
                <a:lnTo>
                  <a:pt x="311" y="12"/>
                </a:lnTo>
                <a:lnTo>
                  <a:pt x="295" y="13"/>
                </a:lnTo>
                <a:lnTo>
                  <a:pt x="278" y="15"/>
                </a:lnTo>
                <a:lnTo>
                  <a:pt x="262" y="16"/>
                </a:lnTo>
                <a:lnTo>
                  <a:pt x="246" y="17"/>
                </a:lnTo>
                <a:lnTo>
                  <a:pt x="229" y="19"/>
                </a:lnTo>
                <a:lnTo>
                  <a:pt x="213" y="20"/>
                </a:lnTo>
                <a:lnTo>
                  <a:pt x="196" y="22"/>
                </a:lnTo>
                <a:lnTo>
                  <a:pt x="180" y="24"/>
                </a:lnTo>
                <a:lnTo>
                  <a:pt x="164" y="25"/>
                </a:lnTo>
                <a:lnTo>
                  <a:pt x="147" y="27"/>
                </a:lnTo>
                <a:lnTo>
                  <a:pt x="131" y="28"/>
                </a:lnTo>
                <a:lnTo>
                  <a:pt x="114" y="30"/>
                </a:lnTo>
                <a:lnTo>
                  <a:pt x="98" y="31"/>
                </a:lnTo>
                <a:lnTo>
                  <a:pt x="82" y="32"/>
                </a:lnTo>
                <a:lnTo>
                  <a:pt x="65" y="33"/>
                </a:lnTo>
                <a:lnTo>
                  <a:pt x="49" y="34"/>
                </a:lnTo>
                <a:lnTo>
                  <a:pt x="33" y="34"/>
                </a:lnTo>
                <a:lnTo>
                  <a:pt x="16" y="35"/>
                </a:lnTo>
                <a:lnTo>
                  <a:pt x="0" y="35"/>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5848350"/>
            <a:ext cx="3743325" cy="95250"/>
          </a:xfrm>
          <a:custGeom>
            <a:avLst/>
            <a:gdLst/>
            <a:ahLst/>
            <a:cxnLst/>
            <a:rect l="l" t="t" r="r" b="b"/>
            <a:pathLst>
              <a:path w="393" h="10">
                <a:moveTo>
                  <a:pt x="0" y="0"/>
                </a:moveTo>
                <a:lnTo>
                  <a:pt x="16" y="0"/>
                </a:lnTo>
                <a:lnTo>
                  <a:pt x="33" y="0"/>
                </a:lnTo>
                <a:lnTo>
                  <a:pt x="49" y="0"/>
                </a:lnTo>
                <a:lnTo>
                  <a:pt x="65" y="0"/>
                </a:lnTo>
                <a:lnTo>
                  <a:pt x="82" y="0"/>
                </a:lnTo>
                <a:lnTo>
                  <a:pt x="98" y="1"/>
                </a:lnTo>
                <a:lnTo>
                  <a:pt x="114" y="1"/>
                </a:lnTo>
                <a:lnTo>
                  <a:pt x="131" y="1"/>
                </a:lnTo>
                <a:lnTo>
                  <a:pt x="147" y="1"/>
                </a:lnTo>
                <a:lnTo>
                  <a:pt x="164" y="1"/>
                </a:lnTo>
                <a:lnTo>
                  <a:pt x="180" y="2"/>
                </a:lnTo>
                <a:lnTo>
                  <a:pt x="196" y="2"/>
                </a:lnTo>
                <a:lnTo>
                  <a:pt x="213" y="2"/>
                </a:lnTo>
                <a:lnTo>
                  <a:pt x="229" y="2"/>
                </a:lnTo>
                <a:lnTo>
                  <a:pt x="246" y="3"/>
                </a:lnTo>
                <a:lnTo>
                  <a:pt x="262" y="3"/>
                </a:lnTo>
                <a:lnTo>
                  <a:pt x="278" y="3"/>
                </a:lnTo>
                <a:lnTo>
                  <a:pt x="295" y="3"/>
                </a:lnTo>
                <a:lnTo>
                  <a:pt x="311" y="4"/>
                </a:lnTo>
                <a:lnTo>
                  <a:pt x="327" y="4"/>
                </a:lnTo>
                <a:lnTo>
                  <a:pt x="344" y="4"/>
                </a:lnTo>
                <a:lnTo>
                  <a:pt x="360" y="4"/>
                </a:lnTo>
                <a:lnTo>
                  <a:pt x="377" y="4"/>
                </a:lnTo>
                <a:lnTo>
                  <a:pt x="393" y="4"/>
                </a:lnTo>
                <a:lnTo>
                  <a:pt x="393" y="10"/>
                </a:lnTo>
                <a:lnTo>
                  <a:pt x="377" y="10"/>
                </a:lnTo>
                <a:lnTo>
                  <a:pt x="360" y="10"/>
                </a:lnTo>
                <a:lnTo>
                  <a:pt x="344" y="10"/>
                </a:lnTo>
                <a:lnTo>
                  <a:pt x="327" y="10"/>
                </a:lnTo>
                <a:lnTo>
                  <a:pt x="311" y="9"/>
                </a:lnTo>
                <a:lnTo>
                  <a:pt x="295" y="9"/>
                </a:lnTo>
                <a:lnTo>
                  <a:pt x="278" y="9"/>
                </a:lnTo>
                <a:lnTo>
                  <a:pt x="262" y="9"/>
                </a:lnTo>
                <a:lnTo>
                  <a:pt x="246" y="9"/>
                </a:lnTo>
                <a:lnTo>
                  <a:pt x="229" y="8"/>
                </a:lnTo>
                <a:lnTo>
                  <a:pt x="213" y="8"/>
                </a:lnTo>
                <a:lnTo>
                  <a:pt x="196" y="8"/>
                </a:lnTo>
                <a:lnTo>
                  <a:pt x="180" y="8"/>
                </a:lnTo>
                <a:lnTo>
                  <a:pt x="164" y="7"/>
                </a:lnTo>
                <a:lnTo>
                  <a:pt x="147" y="7"/>
                </a:lnTo>
                <a:lnTo>
                  <a:pt x="131" y="7"/>
                </a:lnTo>
                <a:lnTo>
                  <a:pt x="114" y="7"/>
                </a:lnTo>
                <a:lnTo>
                  <a:pt x="98" y="6"/>
                </a:lnTo>
                <a:lnTo>
                  <a:pt x="82" y="6"/>
                </a:lnTo>
                <a:lnTo>
                  <a:pt x="65" y="6"/>
                </a:lnTo>
                <a:lnTo>
                  <a:pt x="49" y="6"/>
                </a:lnTo>
                <a:lnTo>
                  <a:pt x="33" y="6"/>
                </a:lnTo>
                <a:lnTo>
                  <a:pt x="16" y="6"/>
                </a:lnTo>
                <a:lnTo>
                  <a:pt x="0" y="6"/>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057400" y="5905500"/>
            <a:ext cx="3743325" cy="314325"/>
          </a:xfrm>
          <a:custGeom>
            <a:avLst/>
            <a:gdLst/>
            <a:ahLst/>
            <a:cxnLst/>
            <a:rect l="l" t="t" r="r" b="b"/>
            <a:pathLst>
              <a:path w="393" h="33">
                <a:moveTo>
                  <a:pt x="0" y="0"/>
                </a:moveTo>
                <a:lnTo>
                  <a:pt x="16" y="0"/>
                </a:lnTo>
                <a:lnTo>
                  <a:pt x="33" y="0"/>
                </a:lnTo>
                <a:lnTo>
                  <a:pt x="49" y="1"/>
                </a:lnTo>
                <a:lnTo>
                  <a:pt x="65" y="2"/>
                </a:lnTo>
                <a:lnTo>
                  <a:pt x="82" y="3"/>
                </a:lnTo>
                <a:lnTo>
                  <a:pt x="98" y="4"/>
                </a:lnTo>
                <a:lnTo>
                  <a:pt x="114" y="6"/>
                </a:lnTo>
                <a:lnTo>
                  <a:pt x="131" y="7"/>
                </a:lnTo>
                <a:lnTo>
                  <a:pt x="147" y="9"/>
                </a:lnTo>
                <a:lnTo>
                  <a:pt x="164" y="11"/>
                </a:lnTo>
                <a:lnTo>
                  <a:pt x="180" y="13"/>
                </a:lnTo>
                <a:lnTo>
                  <a:pt x="196" y="15"/>
                </a:lnTo>
                <a:lnTo>
                  <a:pt x="213" y="16"/>
                </a:lnTo>
                <a:lnTo>
                  <a:pt x="229" y="18"/>
                </a:lnTo>
                <a:lnTo>
                  <a:pt x="246" y="20"/>
                </a:lnTo>
                <a:lnTo>
                  <a:pt x="262" y="22"/>
                </a:lnTo>
                <a:lnTo>
                  <a:pt x="278" y="23"/>
                </a:lnTo>
                <a:lnTo>
                  <a:pt x="295" y="25"/>
                </a:lnTo>
                <a:lnTo>
                  <a:pt x="311" y="26"/>
                </a:lnTo>
                <a:lnTo>
                  <a:pt x="327" y="27"/>
                </a:lnTo>
                <a:lnTo>
                  <a:pt x="344" y="28"/>
                </a:lnTo>
                <a:lnTo>
                  <a:pt x="360" y="29"/>
                </a:lnTo>
                <a:lnTo>
                  <a:pt x="377" y="29"/>
                </a:lnTo>
                <a:lnTo>
                  <a:pt x="393" y="29"/>
                </a:lnTo>
                <a:lnTo>
                  <a:pt x="393" y="33"/>
                </a:lnTo>
                <a:lnTo>
                  <a:pt x="377" y="33"/>
                </a:lnTo>
                <a:lnTo>
                  <a:pt x="360" y="32"/>
                </a:lnTo>
                <a:lnTo>
                  <a:pt x="344" y="32"/>
                </a:lnTo>
                <a:lnTo>
                  <a:pt x="327" y="31"/>
                </a:lnTo>
                <a:lnTo>
                  <a:pt x="311" y="30"/>
                </a:lnTo>
                <a:lnTo>
                  <a:pt x="295" y="28"/>
                </a:lnTo>
                <a:lnTo>
                  <a:pt x="278" y="27"/>
                </a:lnTo>
                <a:lnTo>
                  <a:pt x="262" y="25"/>
                </a:lnTo>
                <a:lnTo>
                  <a:pt x="246" y="24"/>
                </a:lnTo>
                <a:lnTo>
                  <a:pt x="229" y="22"/>
                </a:lnTo>
                <a:lnTo>
                  <a:pt x="213" y="20"/>
                </a:lnTo>
                <a:lnTo>
                  <a:pt x="196" y="18"/>
                </a:lnTo>
                <a:lnTo>
                  <a:pt x="180" y="16"/>
                </a:lnTo>
                <a:lnTo>
                  <a:pt x="164" y="15"/>
                </a:lnTo>
                <a:lnTo>
                  <a:pt x="147" y="13"/>
                </a:lnTo>
                <a:lnTo>
                  <a:pt x="131" y="11"/>
                </a:lnTo>
                <a:lnTo>
                  <a:pt x="114" y="10"/>
                </a:lnTo>
                <a:lnTo>
                  <a:pt x="98" y="8"/>
                </a:lnTo>
                <a:lnTo>
                  <a:pt x="82" y="7"/>
                </a:lnTo>
                <a:lnTo>
                  <a:pt x="65" y="6"/>
                </a:lnTo>
                <a:lnTo>
                  <a:pt x="49" y="5"/>
                </a:lnTo>
                <a:lnTo>
                  <a:pt x="33" y="4"/>
                </a:lnTo>
                <a:lnTo>
                  <a:pt x="16" y="4"/>
                </a:lnTo>
                <a:lnTo>
                  <a:pt x="0" y="3"/>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057400" y="5934075"/>
            <a:ext cx="3743325" cy="552450"/>
          </a:xfrm>
          <a:custGeom>
            <a:avLst/>
            <a:gdLst/>
            <a:ahLst/>
            <a:cxnLst/>
            <a:rect l="l" t="t" r="r" b="b"/>
            <a:pathLst>
              <a:path w="393" h="58">
                <a:moveTo>
                  <a:pt x="0" y="0"/>
                </a:moveTo>
                <a:lnTo>
                  <a:pt x="16" y="1"/>
                </a:lnTo>
                <a:lnTo>
                  <a:pt x="33" y="2"/>
                </a:lnTo>
                <a:lnTo>
                  <a:pt x="49" y="3"/>
                </a:lnTo>
                <a:lnTo>
                  <a:pt x="65" y="4"/>
                </a:lnTo>
                <a:lnTo>
                  <a:pt x="82" y="6"/>
                </a:lnTo>
                <a:lnTo>
                  <a:pt x="98" y="9"/>
                </a:lnTo>
                <a:lnTo>
                  <a:pt x="114" y="11"/>
                </a:lnTo>
                <a:lnTo>
                  <a:pt x="131" y="14"/>
                </a:lnTo>
                <a:lnTo>
                  <a:pt x="147" y="17"/>
                </a:lnTo>
                <a:lnTo>
                  <a:pt x="164" y="21"/>
                </a:lnTo>
                <a:lnTo>
                  <a:pt x="180" y="24"/>
                </a:lnTo>
                <a:lnTo>
                  <a:pt x="196" y="27"/>
                </a:lnTo>
                <a:lnTo>
                  <a:pt x="213" y="30"/>
                </a:lnTo>
                <a:lnTo>
                  <a:pt x="229" y="34"/>
                </a:lnTo>
                <a:lnTo>
                  <a:pt x="246" y="37"/>
                </a:lnTo>
                <a:lnTo>
                  <a:pt x="262" y="40"/>
                </a:lnTo>
                <a:lnTo>
                  <a:pt x="278" y="43"/>
                </a:lnTo>
                <a:lnTo>
                  <a:pt x="295" y="45"/>
                </a:lnTo>
                <a:lnTo>
                  <a:pt x="311" y="48"/>
                </a:lnTo>
                <a:lnTo>
                  <a:pt x="327" y="50"/>
                </a:lnTo>
                <a:lnTo>
                  <a:pt x="344" y="51"/>
                </a:lnTo>
                <a:lnTo>
                  <a:pt x="360" y="53"/>
                </a:lnTo>
                <a:lnTo>
                  <a:pt x="377" y="54"/>
                </a:lnTo>
                <a:lnTo>
                  <a:pt x="393" y="54"/>
                </a:lnTo>
                <a:lnTo>
                  <a:pt x="393" y="58"/>
                </a:lnTo>
                <a:lnTo>
                  <a:pt x="377" y="58"/>
                </a:lnTo>
                <a:lnTo>
                  <a:pt x="360" y="57"/>
                </a:lnTo>
                <a:lnTo>
                  <a:pt x="344" y="56"/>
                </a:lnTo>
                <a:lnTo>
                  <a:pt x="327" y="54"/>
                </a:lnTo>
                <a:lnTo>
                  <a:pt x="311" y="52"/>
                </a:lnTo>
                <a:lnTo>
                  <a:pt x="295" y="50"/>
                </a:lnTo>
                <a:lnTo>
                  <a:pt x="278" y="47"/>
                </a:lnTo>
                <a:lnTo>
                  <a:pt x="262" y="44"/>
                </a:lnTo>
                <a:lnTo>
                  <a:pt x="246" y="41"/>
                </a:lnTo>
                <a:lnTo>
                  <a:pt x="229" y="38"/>
                </a:lnTo>
                <a:lnTo>
                  <a:pt x="213" y="35"/>
                </a:lnTo>
                <a:lnTo>
                  <a:pt x="196" y="31"/>
                </a:lnTo>
                <a:lnTo>
                  <a:pt x="180" y="28"/>
                </a:lnTo>
                <a:lnTo>
                  <a:pt x="164" y="25"/>
                </a:lnTo>
                <a:lnTo>
                  <a:pt x="147" y="21"/>
                </a:lnTo>
                <a:lnTo>
                  <a:pt x="131" y="18"/>
                </a:lnTo>
                <a:lnTo>
                  <a:pt x="114" y="16"/>
                </a:lnTo>
                <a:lnTo>
                  <a:pt x="98" y="13"/>
                </a:lnTo>
                <a:lnTo>
                  <a:pt x="82" y="11"/>
                </a:lnTo>
                <a:lnTo>
                  <a:pt x="65" y="9"/>
                </a:lnTo>
                <a:lnTo>
                  <a:pt x="49" y="7"/>
                </a:lnTo>
                <a:lnTo>
                  <a:pt x="33" y="6"/>
                </a:lnTo>
                <a:lnTo>
                  <a:pt x="16" y="5"/>
                </a:lnTo>
                <a:lnTo>
                  <a:pt x="0" y="5"/>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2057400" y="4676775"/>
            <a:ext cx="3743325" cy="1400175"/>
          </a:xfrm>
          <a:custGeom>
            <a:avLst/>
            <a:gdLst/>
            <a:ahLst/>
            <a:cxnLst/>
            <a:rect l="l" t="t" r="r" b="b"/>
            <a:pathLst>
              <a:path w="393" h="147">
                <a:moveTo>
                  <a:pt x="0" y="143"/>
                </a:moveTo>
                <a:lnTo>
                  <a:pt x="16" y="142"/>
                </a:lnTo>
                <a:lnTo>
                  <a:pt x="33" y="140"/>
                </a:lnTo>
                <a:lnTo>
                  <a:pt x="49" y="136"/>
                </a:lnTo>
                <a:lnTo>
                  <a:pt x="65" y="132"/>
                </a:lnTo>
                <a:lnTo>
                  <a:pt x="82" y="127"/>
                </a:lnTo>
                <a:lnTo>
                  <a:pt x="98" y="120"/>
                </a:lnTo>
                <a:lnTo>
                  <a:pt x="114" y="113"/>
                </a:lnTo>
                <a:lnTo>
                  <a:pt x="131" y="106"/>
                </a:lnTo>
                <a:lnTo>
                  <a:pt x="147" y="98"/>
                </a:lnTo>
                <a:lnTo>
                  <a:pt x="164" y="89"/>
                </a:lnTo>
                <a:lnTo>
                  <a:pt x="180" y="80"/>
                </a:lnTo>
                <a:lnTo>
                  <a:pt x="196" y="71"/>
                </a:lnTo>
                <a:lnTo>
                  <a:pt x="213" y="62"/>
                </a:lnTo>
                <a:lnTo>
                  <a:pt x="229" y="54"/>
                </a:lnTo>
                <a:lnTo>
                  <a:pt x="246" y="45"/>
                </a:lnTo>
                <a:lnTo>
                  <a:pt x="262" y="37"/>
                </a:lnTo>
                <a:lnTo>
                  <a:pt x="278" y="29"/>
                </a:lnTo>
                <a:lnTo>
                  <a:pt x="295" y="22"/>
                </a:lnTo>
                <a:lnTo>
                  <a:pt x="311" y="16"/>
                </a:lnTo>
                <a:lnTo>
                  <a:pt x="327" y="11"/>
                </a:lnTo>
                <a:lnTo>
                  <a:pt x="344" y="6"/>
                </a:lnTo>
                <a:lnTo>
                  <a:pt x="360" y="3"/>
                </a:lnTo>
                <a:lnTo>
                  <a:pt x="377" y="1"/>
                </a:lnTo>
                <a:lnTo>
                  <a:pt x="393" y="0"/>
                </a:lnTo>
                <a:lnTo>
                  <a:pt x="393" y="5"/>
                </a:lnTo>
                <a:lnTo>
                  <a:pt x="377" y="6"/>
                </a:lnTo>
                <a:lnTo>
                  <a:pt x="360" y="8"/>
                </a:lnTo>
                <a:lnTo>
                  <a:pt x="344" y="11"/>
                </a:lnTo>
                <a:lnTo>
                  <a:pt x="327" y="15"/>
                </a:lnTo>
                <a:lnTo>
                  <a:pt x="311" y="21"/>
                </a:lnTo>
                <a:lnTo>
                  <a:pt x="295" y="27"/>
                </a:lnTo>
                <a:lnTo>
                  <a:pt x="278" y="34"/>
                </a:lnTo>
                <a:lnTo>
                  <a:pt x="262" y="42"/>
                </a:lnTo>
                <a:lnTo>
                  <a:pt x="246" y="50"/>
                </a:lnTo>
                <a:lnTo>
                  <a:pt x="229" y="58"/>
                </a:lnTo>
                <a:lnTo>
                  <a:pt x="213" y="67"/>
                </a:lnTo>
                <a:lnTo>
                  <a:pt x="196" y="76"/>
                </a:lnTo>
                <a:lnTo>
                  <a:pt x="180" y="85"/>
                </a:lnTo>
                <a:lnTo>
                  <a:pt x="164" y="94"/>
                </a:lnTo>
                <a:lnTo>
                  <a:pt x="147" y="102"/>
                </a:lnTo>
                <a:lnTo>
                  <a:pt x="131" y="110"/>
                </a:lnTo>
                <a:lnTo>
                  <a:pt x="114" y="118"/>
                </a:lnTo>
                <a:lnTo>
                  <a:pt x="98" y="125"/>
                </a:lnTo>
                <a:lnTo>
                  <a:pt x="82" y="131"/>
                </a:lnTo>
                <a:lnTo>
                  <a:pt x="65" y="137"/>
                </a:lnTo>
                <a:lnTo>
                  <a:pt x="49" y="141"/>
                </a:lnTo>
                <a:lnTo>
                  <a:pt x="33" y="145"/>
                </a:lnTo>
                <a:lnTo>
                  <a:pt x="16" y="147"/>
                </a:lnTo>
                <a:lnTo>
                  <a:pt x="0" y="147"/>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057400" y="5181600"/>
            <a:ext cx="3743325" cy="933450"/>
          </a:xfrm>
          <a:custGeom>
            <a:avLst/>
            <a:gdLst/>
            <a:ahLst/>
            <a:cxnLst/>
            <a:rect l="l" t="t" r="r" b="b"/>
            <a:pathLst>
              <a:path w="393" h="98">
                <a:moveTo>
                  <a:pt x="0" y="94"/>
                </a:moveTo>
                <a:lnTo>
                  <a:pt x="16" y="94"/>
                </a:lnTo>
                <a:lnTo>
                  <a:pt x="33" y="92"/>
                </a:lnTo>
                <a:lnTo>
                  <a:pt x="49" y="90"/>
                </a:lnTo>
                <a:lnTo>
                  <a:pt x="65" y="87"/>
                </a:lnTo>
                <a:lnTo>
                  <a:pt x="82" y="84"/>
                </a:lnTo>
                <a:lnTo>
                  <a:pt x="98" y="80"/>
                </a:lnTo>
                <a:lnTo>
                  <a:pt x="114" y="75"/>
                </a:lnTo>
                <a:lnTo>
                  <a:pt x="131" y="70"/>
                </a:lnTo>
                <a:lnTo>
                  <a:pt x="147" y="64"/>
                </a:lnTo>
                <a:lnTo>
                  <a:pt x="164" y="59"/>
                </a:lnTo>
                <a:lnTo>
                  <a:pt x="180" y="53"/>
                </a:lnTo>
                <a:lnTo>
                  <a:pt x="196" y="47"/>
                </a:lnTo>
                <a:lnTo>
                  <a:pt x="213" y="41"/>
                </a:lnTo>
                <a:lnTo>
                  <a:pt x="229" y="35"/>
                </a:lnTo>
                <a:lnTo>
                  <a:pt x="246" y="30"/>
                </a:lnTo>
                <a:lnTo>
                  <a:pt x="262" y="24"/>
                </a:lnTo>
                <a:lnTo>
                  <a:pt x="278" y="19"/>
                </a:lnTo>
                <a:lnTo>
                  <a:pt x="295" y="15"/>
                </a:lnTo>
                <a:lnTo>
                  <a:pt x="311" y="10"/>
                </a:lnTo>
                <a:lnTo>
                  <a:pt x="327" y="7"/>
                </a:lnTo>
                <a:lnTo>
                  <a:pt x="344" y="4"/>
                </a:lnTo>
                <a:lnTo>
                  <a:pt x="360" y="2"/>
                </a:lnTo>
                <a:lnTo>
                  <a:pt x="377" y="0"/>
                </a:lnTo>
                <a:lnTo>
                  <a:pt x="393" y="0"/>
                </a:lnTo>
                <a:lnTo>
                  <a:pt x="393" y="4"/>
                </a:lnTo>
                <a:lnTo>
                  <a:pt x="377" y="4"/>
                </a:lnTo>
                <a:lnTo>
                  <a:pt x="360" y="6"/>
                </a:lnTo>
                <a:lnTo>
                  <a:pt x="344" y="8"/>
                </a:lnTo>
                <a:lnTo>
                  <a:pt x="327" y="11"/>
                </a:lnTo>
                <a:lnTo>
                  <a:pt x="311" y="15"/>
                </a:lnTo>
                <a:lnTo>
                  <a:pt x="295" y="19"/>
                </a:lnTo>
                <a:lnTo>
                  <a:pt x="278" y="23"/>
                </a:lnTo>
                <a:lnTo>
                  <a:pt x="262" y="28"/>
                </a:lnTo>
                <a:lnTo>
                  <a:pt x="246" y="34"/>
                </a:lnTo>
                <a:lnTo>
                  <a:pt x="229" y="39"/>
                </a:lnTo>
                <a:lnTo>
                  <a:pt x="213" y="45"/>
                </a:lnTo>
                <a:lnTo>
                  <a:pt x="196" y="51"/>
                </a:lnTo>
                <a:lnTo>
                  <a:pt x="180" y="57"/>
                </a:lnTo>
                <a:lnTo>
                  <a:pt x="164" y="63"/>
                </a:lnTo>
                <a:lnTo>
                  <a:pt x="147" y="68"/>
                </a:lnTo>
                <a:lnTo>
                  <a:pt x="131" y="74"/>
                </a:lnTo>
                <a:lnTo>
                  <a:pt x="114" y="79"/>
                </a:lnTo>
                <a:lnTo>
                  <a:pt x="98" y="84"/>
                </a:lnTo>
                <a:lnTo>
                  <a:pt x="82" y="88"/>
                </a:lnTo>
                <a:lnTo>
                  <a:pt x="65" y="91"/>
                </a:lnTo>
                <a:lnTo>
                  <a:pt x="49" y="94"/>
                </a:lnTo>
                <a:lnTo>
                  <a:pt x="33" y="96"/>
                </a:lnTo>
                <a:lnTo>
                  <a:pt x="16" y="98"/>
                </a:lnTo>
                <a:lnTo>
                  <a:pt x="0" y="98"/>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057400" y="5600700"/>
            <a:ext cx="3743325" cy="542925"/>
          </a:xfrm>
          <a:custGeom>
            <a:avLst/>
            <a:gdLst/>
            <a:ahLst/>
            <a:cxnLst/>
            <a:rect l="l" t="t" r="r" b="b"/>
            <a:pathLst>
              <a:path w="393" h="57">
                <a:moveTo>
                  <a:pt x="0" y="54"/>
                </a:moveTo>
                <a:lnTo>
                  <a:pt x="16" y="54"/>
                </a:lnTo>
                <a:lnTo>
                  <a:pt x="33" y="53"/>
                </a:lnTo>
                <a:lnTo>
                  <a:pt x="49" y="52"/>
                </a:lnTo>
                <a:lnTo>
                  <a:pt x="65" y="50"/>
                </a:lnTo>
                <a:lnTo>
                  <a:pt x="82" y="48"/>
                </a:lnTo>
                <a:lnTo>
                  <a:pt x="98" y="46"/>
                </a:lnTo>
                <a:lnTo>
                  <a:pt x="114" y="43"/>
                </a:lnTo>
                <a:lnTo>
                  <a:pt x="131" y="40"/>
                </a:lnTo>
                <a:lnTo>
                  <a:pt x="147" y="37"/>
                </a:lnTo>
                <a:lnTo>
                  <a:pt x="164" y="34"/>
                </a:lnTo>
                <a:lnTo>
                  <a:pt x="180" y="31"/>
                </a:lnTo>
                <a:lnTo>
                  <a:pt x="196" y="27"/>
                </a:lnTo>
                <a:lnTo>
                  <a:pt x="213" y="24"/>
                </a:lnTo>
                <a:lnTo>
                  <a:pt x="229" y="21"/>
                </a:lnTo>
                <a:lnTo>
                  <a:pt x="246" y="17"/>
                </a:lnTo>
                <a:lnTo>
                  <a:pt x="262" y="14"/>
                </a:lnTo>
                <a:lnTo>
                  <a:pt x="278" y="11"/>
                </a:lnTo>
                <a:lnTo>
                  <a:pt x="295" y="9"/>
                </a:lnTo>
                <a:lnTo>
                  <a:pt x="311" y="6"/>
                </a:lnTo>
                <a:lnTo>
                  <a:pt x="327" y="4"/>
                </a:lnTo>
                <a:lnTo>
                  <a:pt x="344" y="3"/>
                </a:lnTo>
                <a:lnTo>
                  <a:pt x="360" y="1"/>
                </a:lnTo>
                <a:lnTo>
                  <a:pt x="377" y="0"/>
                </a:lnTo>
                <a:lnTo>
                  <a:pt x="393" y="0"/>
                </a:lnTo>
                <a:lnTo>
                  <a:pt x="393" y="3"/>
                </a:lnTo>
                <a:lnTo>
                  <a:pt x="377" y="3"/>
                </a:lnTo>
                <a:lnTo>
                  <a:pt x="360" y="4"/>
                </a:lnTo>
                <a:lnTo>
                  <a:pt x="344" y="5"/>
                </a:lnTo>
                <a:lnTo>
                  <a:pt x="327" y="7"/>
                </a:lnTo>
                <a:lnTo>
                  <a:pt x="311" y="9"/>
                </a:lnTo>
                <a:lnTo>
                  <a:pt x="295" y="11"/>
                </a:lnTo>
                <a:lnTo>
                  <a:pt x="278" y="14"/>
                </a:lnTo>
                <a:lnTo>
                  <a:pt x="262" y="17"/>
                </a:lnTo>
                <a:lnTo>
                  <a:pt x="246" y="20"/>
                </a:lnTo>
                <a:lnTo>
                  <a:pt x="229" y="23"/>
                </a:lnTo>
                <a:lnTo>
                  <a:pt x="213" y="27"/>
                </a:lnTo>
                <a:lnTo>
                  <a:pt x="196" y="30"/>
                </a:lnTo>
                <a:lnTo>
                  <a:pt x="180" y="33"/>
                </a:lnTo>
                <a:lnTo>
                  <a:pt x="164" y="37"/>
                </a:lnTo>
                <a:lnTo>
                  <a:pt x="147" y="40"/>
                </a:lnTo>
                <a:lnTo>
                  <a:pt x="131" y="43"/>
                </a:lnTo>
                <a:lnTo>
                  <a:pt x="114" y="46"/>
                </a:lnTo>
                <a:lnTo>
                  <a:pt x="98" y="49"/>
                </a:lnTo>
                <a:lnTo>
                  <a:pt x="82" y="51"/>
                </a:lnTo>
                <a:lnTo>
                  <a:pt x="65" y="53"/>
                </a:lnTo>
                <a:lnTo>
                  <a:pt x="49" y="55"/>
                </a:lnTo>
                <a:lnTo>
                  <a:pt x="33" y="56"/>
                </a:lnTo>
                <a:lnTo>
                  <a:pt x="16" y="57"/>
                </a:lnTo>
                <a:lnTo>
                  <a:pt x="0" y="57"/>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057400" y="5943600"/>
            <a:ext cx="3743325" cy="228600"/>
          </a:xfrm>
          <a:custGeom>
            <a:avLst/>
            <a:gdLst/>
            <a:ahLst/>
            <a:cxnLst/>
            <a:rect l="l" t="t" r="r" b="b"/>
            <a:pathLst>
              <a:path w="393" h="24">
                <a:moveTo>
                  <a:pt x="0" y="21"/>
                </a:moveTo>
                <a:lnTo>
                  <a:pt x="16" y="21"/>
                </a:lnTo>
                <a:lnTo>
                  <a:pt x="33" y="21"/>
                </a:lnTo>
                <a:lnTo>
                  <a:pt x="49" y="20"/>
                </a:lnTo>
                <a:lnTo>
                  <a:pt x="65" y="19"/>
                </a:lnTo>
                <a:lnTo>
                  <a:pt x="82" y="19"/>
                </a:lnTo>
                <a:lnTo>
                  <a:pt x="98" y="18"/>
                </a:lnTo>
                <a:lnTo>
                  <a:pt x="114" y="17"/>
                </a:lnTo>
                <a:lnTo>
                  <a:pt x="131" y="16"/>
                </a:lnTo>
                <a:lnTo>
                  <a:pt x="147" y="14"/>
                </a:lnTo>
                <a:lnTo>
                  <a:pt x="164" y="13"/>
                </a:lnTo>
                <a:lnTo>
                  <a:pt x="180" y="12"/>
                </a:lnTo>
                <a:lnTo>
                  <a:pt x="196" y="10"/>
                </a:lnTo>
                <a:lnTo>
                  <a:pt x="213" y="9"/>
                </a:lnTo>
                <a:lnTo>
                  <a:pt x="229" y="8"/>
                </a:lnTo>
                <a:lnTo>
                  <a:pt x="246" y="7"/>
                </a:lnTo>
                <a:lnTo>
                  <a:pt x="262" y="5"/>
                </a:lnTo>
                <a:lnTo>
                  <a:pt x="278" y="4"/>
                </a:lnTo>
                <a:lnTo>
                  <a:pt x="295" y="3"/>
                </a:lnTo>
                <a:lnTo>
                  <a:pt x="311" y="2"/>
                </a:lnTo>
                <a:lnTo>
                  <a:pt x="327" y="1"/>
                </a:lnTo>
                <a:lnTo>
                  <a:pt x="344" y="1"/>
                </a:lnTo>
                <a:lnTo>
                  <a:pt x="360" y="0"/>
                </a:lnTo>
                <a:lnTo>
                  <a:pt x="377" y="0"/>
                </a:lnTo>
                <a:lnTo>
                  <a:pt x="393" y="0"/>
                </a:lnTo>
                <a:lnTo>
                  <a:pt x="393" y="3"/>
                </a:lnTo>
                <a:lnTo>
                  <a:pt x="377" y="3"/>
                </a:lnTo>
                <a:lnTo>
                  <a:pt x="360" y="3"/>
                </a:lnTo>
                <a:lnTo>
                  <a:pt x="344" y="3"/>
                </a:lnTo>
                <a:lnTo>
                  <a:pt x="327" y="4"/>
                </a:lnTo>
                <a:lnTo>
                  <a:pt x="311" y="5"/>
                </a:lnTo>
                <a:lnTo>
                  <a:pt x="295" y="6"/>
                </a:lnTo>
                <a:lnTo>
                  <a:pt x="278" y="7"/>
                </a:lnTo>
                <a:lnTo>
                  <a:pt x="262" y="8"/>
                </a:lnTo>
                <a:lnTo>
                  <a:pt x="246" y="9"/>
                </a:lnTo>
                <a:lnTo>
                  <a:pt x="229" y="11"/>
                </a:lnTo>
                <a:lnTo>
                  <a:pt x="213" y="12"/>
                </a:lnTo>
                <a:lnTo>
                  <a:pt x="196" y="13"/>
                </a:lnTo>
                <a:lnTo>
                  <a:pt x="180" y="15"/>
                </a:lnTo>
                <a:lnTo>
                  <a:pt x="164" y="16"/>
                </a:lnTo>
                <a:lnTo>
                  <a:pt x="147" y="17"/>
                </a:lnTo>
                <a:lnTo>
                  <a:pt x="131" y="18"/>
                </a:lnTo>
                <a:lnTo>
                  <a:pt x="114" y="19"/>
                </a:lnTo>
                <a:lnTo>
                  <a:pt x="98" y="20"/>
                </a:lnTo>
                <a:lnTo>
                  <a:pt x="82" y="21"/>
                </a:lnTo>
                <a:lnTo>
                  <a:pt x="65" y="22"/>
                </a:lnTo>
                <a:lnTo>
                  <a:pt x="49" y="23"/>
                </a:lnTo>
                <a:lnTo>
                  <a:pt x="33" y="23"/>
                </a:lnTo>
                <a:lnTo>
                  <a:pt x="16" y="24"/>
                </a:lnTo>
                <a:lnTo>
                  <a:pt x="0" y="24"/>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057400" y="6172200"/>
            <a:ext cx="3743325" cy="66675"/>
          </a:xfrm>
          <a:custGeom>
            <a:avLst/>
            <a:gdLst/>
            <a:ahLst/>
            <a:cxnLst/>
            <a:rect l="l" t="t" r="r" b="b"/>
            <a:pathLst>
              <a:path w="393" h="7">
                <a:moveTo>
                  <a:pt x="0" y="0"/>
                </a:moveTo>
                <a:lnTo>
                  <a:pt x="16" y="0"/>
                </a:lnTo>
                <a:lnTo>
                  <a:pt x="33" y="0"/>
                </a:lnTo>
                <a:lnTo>
                  <a:pt x="49" y="0"/>
                </a:lnTo>
                <a:lnTo>
                  <a:pt x="65" y="0"/>
                </a:lnTo>
                <a:lnTo>
                  <a:pt x="82" y="0"/>
                </a:lnTo>
                <a:lnTo>
                  <a:pt x="98" y="1"/>
                </a:lnTo>
                <a:lnTo>
                  <a:pt x="114" y="1"/>
                </a:lnTo>
                <a:lnTo>
                  <a:pt x="131" y="1"/>
                </a:lnTo>
                <a:lnTo>
                  <a:pt x="147" y="1"/>
                </a:lnTo>
                <a:lnTo>
                  <a:pt x="164" y="2"/>
                </a:lnTo>
                <a:lnTo>
                  <a:pt x="180" y="2"/>
                </a:lnTo>
                <a:lnTo>
                  <a:pt x="196" y="2"/>
                </a:lnTo>
                <a:lnTo>
                  <a:pt x="213" y="3"/>
                </a:lnTo>
                <a:lnTo>
                  <a:pt x="229" y="3"/>
                </a:lnTo>
                <a:lnTo>
                  <a:pt x="246" y="3"/>
                </a:lnTo>
                <a:lnTo>
                  <a:pt x="262" y="4"/>
                </a:lnTo>
                <a:lnTo>
                  <a:pt x="278" y="4"/>
                </a:lnTo>
                <a:lnTo>
                  <a:pt x="295" y="4"/>
                </a:lnTo>
                <a:lnTo>
                  <a:pt x="311" y="4"/>
                </a:lnTo>
                <a:lnTo>
                  <a:pt x="327" y="5"/>
                </a:lnTo>
                <a:lnTo>
                  <a:pt x="344" y="5"/>
                </a:lnTo>
                <a:lnTo>
                  <a:pt x="360" y="5"/>
                </a:lnTo>
                <a:lnTo>
                  <a:pt x="377" y="5"/>
                </a:lnTo>
                <a:lnTo>
                  <a:pt x="393" y="5"/>
                </a:lnTo>
                <a:lnTo>
                  <a:pt x="393" y="7"/>
                </a:lnTo>
                <a:lnTo>
                  <a:pt x="377" y="7"/>
                </a:lnTo>
                <a:lnTo>
                  <a:pt x="360" y="7"/>
                </a:lnTo>
                <a:lnTo>
                  <a:pt x="344" y="7"/>
                </a:lnTo>
                <a:lnTo>
                  <a:pt x="327" y="6"/>
                </a:lnTo>
                <a:lnTo>
                  <a:pt x="311" y="6"/>
                </a:lnTo>
                <a:lnTo>
                  <a:pt x="295" y="6"/>
                </a:lnTo>
                <a:lnTo>
                  <a:pt x="278" y="6"/>
                </a:lnTo>
                <a:lnTo>
                  <a:pt x="262" y="5"/>
                </a:lnTo>
                <a:lnTo>
                  <a:pt x="246" y="5"/>
                </a:lnTo>
                <a:lnTo>
                  <a:pt x="229" y="5"/>
                </a:lnTo>
                <a:lnTo>
                  <a:pt x="213" y="5"/>
                </a:lnTo>
                <a:lnTo>
                  <a:pt x="196" y="4"/>
                </a:lnTo>
                <a:lnTo>
                  <a:pt x="180" y="4"/>
                </a:lnTo>
                <a:lnTo>
                  <a:pt x="164" y="4"/>
                </a:lnTo>
                <a:lnTo>
                  <a:pt x="147" y="3"/>
                </a:lnTo>
                <a:lnTo>
                  <a:pt x="131" y="3"/>
                </a:lnTo>
                <a:lnTo>
                  <a:pt x="114" y="3"/>
                </a:lnTo>
                <a:lnTo>
                  <a:pt x="98" y="2"/>
                </a:lnTo>
                <a:lnTo>
                  <a:pt x="82" y="2"/>
                </a:lnTo>
                <a:lnTo>
                  <a:pt x="65" y="2"/>
                </a:lnTo>
                <a:lnTo>
                  <a:pt x="49" y="2"/>
                </a:lnTo>
                <a:lnTo>
                  <a:pt x="33" y="2"/>
                </a:lnTo>
                <a:lnTo>
                  <a:pt x="16" y="2"/>
                </a:lnTo>
                <a:lnTo>
                  <a:pt x="0" y="2"/>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057400" y="6191250"/>
            <a:ext cx="3743325" cy="323850"/>
          </a:xfrm>
          <a:custGeom>
            <a:avLst/>
            <a:gdLst/>
            <a:ahLst/>
            <a:cxnLst/>
            <a:rect l="l" t="t" r="r" b="b"/>
            <a:pathLst>
              <a:path w="393" h="34">
                <a:moveTo>
                  <a:pt x="0" y="0"/>
                </a:moveTo>
                <a:lnTo>
                  <a:pt x="16" y="0"/>
                </a:lnTo>
                <a:lnTo>
                  <a:pt x="33" y="0"/>
                </a:lnTo>
                <a:lnTo>
                  <a:pt x="49" y="1"/>
                </a:lnTo>
                <a:lnTo>
                  <a:pt x="65" y="2"/>
                </a:lnTo>
                <a:lnTo>
                  <a:pt x="82" y="3"/>
                </a:lnTo>
                <a:lnTo>
                  <a:pt x="98" y="4"/>
                </a:lnTo>
                <a:lnTo>
                  <a:pt x="114" y="6"/>
                </a:lnTo>
                <a:lnTo>
                  <a:pt x="131" y="8"/>
                </a:lnTo>
                <a:lnTo>
                  <a:pt x="147" y="10"/>
                </a:lnTo>
                <a:lnTo>
                  <a:pt x="164" y="11"/>
                </a:lnTo>
                <a:lnTo>
                  <a:pt x="180" y="13"/>
                </a:lnTo>
                <a:lnTo>
                  <a:pt x="196" y="15"/>
                </a:lnTo>
                <a:lnTo>
                  <a:pt x="213" y="17"/>
                </a:lnTo>
                <a:lnTo>
                  <a:pt x="229" y="19"/>
                </a:lnTo>
                <a:lnTo>
                  <a:pt x="246" y="21"/>
                </a:lnTo>
                <a:lnTo>
                  <a:pt x="262" y="23"/>
                </a:lnTo>
                <a:lnTo>
                  <a:pt x="278" y="24"/>
                </a:lnTo>
                <a:lnTo>
                  <a:pt x="295" y="26"/>
                </a:lnTo>
                <a:lnTo>
                  <a:pt x="311" y="27"/>
                </a:lnTo>
                <a:lnTo>
                  <a:pt x="327" y="29"/>
                </a:lnTo>
                <a:lnTo>
                  <a:pt x="344" y="30"/>
                </a:lnTo>
                <a:lnTo>
                  <a:pt x="360" y="30"/>
                </a:lnTo>
                <a:lnTo>
                  <a:pt x="377" y="31"/>
                </a:lnTo>
                <a:lnTo>
                  <a:pt x="393" y="31"/>
                </a:lnTo>
                <a:lnTo>
                  <a:pt x="393" y="34"/>
                </a:lnTo>
                <a:lnTo>
                  <a:pt x="377" y="33"/>
                </a:lnTo>
                <a:lnTo>
                  <a:pt x="360" y="33"/>
                </a:lnTo>
                <a:lnTo>
                  <a:pt x="344" y="32"/>
                </a:lnTo>
                <a:lnTo>
                  <a:pt x="327" y="31"/>
                </a:lnTo>
                <a:lnTo>
                  <a:pt x="311" y="30"/>
                </a:lnTo>
                <a:lnTo>
                  <a:pt x="295" y="29"/>
                </a:lnTo>
                <a:lnTo>
                  <a:pt x="278" y="27"/>
                </a:lnTo>
                <a:lnTo>
                  <a:pt x="262" y="25"/>
                </a:lnTo>
                <a:lnTo>
                  <a:pt x="246" y="24"/>
                </a:lnTo>
                <a:lnTo>
                  <a:pt x="229" y="22"/>
                </a:lnTo>
                <a:lnTo>
                  <a:pt x="213" y="20"/>
                </a:lnTo>
                <a:lnTo>
                  <a:pt x="196" y="18"/>
                </a:lnTo>
                <a:lnTo>
                  <a:pt x="180" y="16"/>
                </a:lnTo>
                <a:lnTo>
                  <a:pt x="164" y="14"/>
                </a:lnTo>
                <a:lnTo>
                  <a:pt x="147" y="12"/>
                </a:lnTo>
                <a:lnTo>
                  <a:pt x="131" y="10"/>
                </a:lnTo>
                <a:lnTo>
                  <a:pt x="114" y="9"/>
                </a:lnTo>
                <a:lnTo>
                  <a:pt x="98" y="7"/>
                </a:lnTo>
                <a:lnTo>
                  <a:pt x="82" y="6"/>
                </a:lnTo>
                <a:lnTo>
                  <a:pt x="65" y="5"/>
                </a:lnTo>
                <a:lnTo>
                  <a:pt x="49" y="4"/>
                </a:lnTo>
                <a:lnTo>
                  <a:pt x="33" y="3"/>
                </a:lnTo>
                <a:lnTo>
                  <a:pt x="16" y="2"/>
                </a:lnTo>
                <a:lnTo>
                  <a:pt x="0" y="2"/>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057400" y="4724400"/>
            <a:ext cx="3743325" cy="1571625"/>
          </a:xfrm>
          <a:custGeom>
            <a:avLst/>
            <a:gdLst/>
            <a:ahLst/>
            <a:cxnLst/>
            <a:rect l="l" t="t" r="r" b="b"/>
            <a:pathLst>
              <a:path w="393" h="165">
                <a:moveTo>
                  <a:pt x="0" y="162"/>
                </a:moveTo>
                <a:lnTo>
                  <a:pt x="16" y="161"/>
                </a:lnTo>
                <a:lnTo>
                  <a:pt x="33" y="159"/>
                </a:lnTo>
                <a:lnTo>
                  <a:pt x="49" y="155"/>
                </a:lnTo>
                <a:lnTo>
                  <a:pt x="65" y="150"/>
                </a:lnTo>
                <a:lnTo>
                  <a:pt x="82" y="144"/>
                </a:lnTo>
                <a:lnTo>
                  <a:pt x="98" y="137"/>
                </a:lnTo>
                <a:lnTo>
                  <a:pt x="114" y="129"/>
                </a:lnTo>
                <a:lnTo>
                  <a:pt x="131" y="120"/>
                </a:lnTo>
                <a:lnTo>
                  <a:pt x="147" y="111"/>
                </a:lnTo>
                <a:lnTo>
                  <a:pt x="164" y="101"/>
                </a:lnTo>
                <a:lnTo>
                  <a:pt x="180" y="91"/>
                </a:lnTo>
                <a:lnTo>
                  <a:pt x="196" y="81"/>
                </a:lnTo>
                <a:lnTo>
                  <a:pt x="213" y="71"/>
                </a:lnTo>
                <a:lnTo>
                  <a:pt x="229" y="61"/>
                </a:lnTo>
                <a:lnTo>
                  <a:pt x="246" y="51"/>
                </a:lnTo>
                <a:lnTo>
                  <a:pt x="262" y="42"/>
                </a:lnTo>
                <a:lnTo>
                  <a:pt x="278" y="33"/>
                </a:lnTo>
                <a:lnTo>
                  <a:pt x="295" y="25"/>
                </a:lnTo>
                <a:lnTo>
                  <a:pt x="311" y="18"/>
                </a:lnTo>
                <a:lnTo>
                  <a:pt x="327" y="12"/>
                </a:lnTo>
                <a:lnTo>
                  <a:pt x="344" y="7"/>
                </a:lnTo>
                <a:lnTo>
                  <a:pt x="360" y="3"/>
                </a:lnTo>
                <a:lnTo>
                  <a:pt x="377" y="1"/>
                </a:lnTo>
                <a:lnTo>
                  <a:pt x="393" y="0"/>
                </a:lnTo>
                <a:lnTo>
                  <a:pt x="393" y="3"/>
                </a:lnTo>
                <a:lnTo>
                  <a:pt x="377" y="4"/>
                </a:lnTo>
                <a:lnTo>
                  <a:pt x="360" y="6"/>
                </a:lnTo>
                <a:lnTo>
                  <a:pt x="344" y="10"/>
                </a:lnTo>
                <a:lnTo>
                  <a:pt x="327" y="15"/>
                </a:lnTo>
                <a:lnTo>
                  <a:pt x="311" y="21"/>
                </a:lnTo>
                <a:lnTo>
                  <a:pt x="295" y="28"/>
                </a:lnTo>
                <a:lnTo>
                  <a:pt x="278" y="36"/>
                </a:lnTo>
                <a:lnTo>
                  <a:pt x="262" y="45"/>
                </a:lnTo>
                <a:lnTo>
                  <a:pt x="246" y="54"/>
                </a:lnTo>
                <a:lnTo>
                  <a:pt x="229" y="64"/>
                </a:lnTo>
                <a:lnTo>
                  <a:pt x="213" y="74"/>
                </a:lnTo>
                <a:lnTo>
                  <a:pt x="196" y="84"/>
                </a:lnTo>
                <a:lnTo>
                  <a:pt x="180" y="94"/>
                </a:lnTo>
                <a:lnTo>
                  <a:pt x="164" y="104"/>
                </a:lnTo>
                <a:lnTo>
                  <a:pt x="147" y="114"/>
                </a:lnTo>
                <a:lnTo>
                  <a:pt x="131" y="123"/>
                </a:lnTo>
                <a:lnTo>
                  <a:pt x="114" y="132"/>
                </a:lnTo>
                <a:lnTo>
                  <a:pt x="98" y="140"/>
                </a:lnTo>
                <a:lnTo>
                  <a:pt x="82" y="147"/>
                </a:lnTo>
                <a:lnTo>
                  <a:pt x="65" y="153"/>
                </a:lnTo>
                <a:lnTo>
                  <a:pt x="49" y="158"/>
                </a:lnTo>
                <a:lnTo>
                  <a:pt x="33" y="162"/>
                </a:lnTo>
                <a:lnTo>
                  <a:pt x="16" y="165"/>
                </a:lnTo>
                <a:lnTo>
                  <a:pt x="0" y="165"/>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057400" y="5219700"/>
            <a:ext cx="3743325" cy="1114425"/>
          </a:xfrm>
          <a:custGeom>
            <a:avLst/>
            <a:gdLst/>
            <a:ahLst/>
            <a:cxnLst/>
            <a:rect l="l" t="t" r="r" b="b"/>
            <a:pathLst>
              <a:path w="393" h="117">
                <a:moveTo>
                  <a:pt x="0" y="113"/>
                </a:moveTo>
                <a:lnTo>
                  <a:pt x="16" y="113"/>
                </a:lnTo>
                <a:lnTo>
                  <a:pt x="33" y="111"/>
                </a:lnTo>
                <a:lnTo>
                  <a:pt x="49" y="109"/>
                </a:lnTo>
                <a:lnTo>
                  <a:pt x="65" y="105"/>
                </a:lnTo>
                <a:lnTo>
                  <a:pt x="82" y="101"/>
                </a:lnTo>
                <a:lnTo>
                  <a:pt x="98" y="96"/>
                </a:lnTo>
                <a:lnTo>
                  <a:pt x="114" y="90"/>
                </a:lnTo>
                <a:lnTo>
                  <a:pt x="131" y="84"/>
                </a:lnTo>
                <a:lnTo>
                  <a:pt x="147" y="78"/>
                </a:lnTo>
                <a:lnTo>
                  <a:pt x="164" y="71"/>
                </a:lnTo>
                <a:lnTo>
                  <a:pt x="180" y="64"/>
                </a:lnTo>
                <a:lnTo>
                  <a:pt x="196" y="57"/>
                </a:lnTo>
                <a:lnTo>
                  <a:pt x="213" y="50"/>
                </a:lnTo>
                <a:lnTo>
                  <a:pt x="229" y="43"/>
                </a:lnTo>
                <a:lnTo>
                  <a:pt x="246" y="36"/>
                </a:lnTo>
                <a:lnTo>
                  <a:pt x="262" y="29"/>
                </a:lnTo>
                <a:lnTo>
                  <a:pt x="278" y="23"/>
                </a:lnTo>
                <a:lnTo>
                  <a:pt x="295" y="18"/>
                </a:lnTo>
                <a:lnTo>
                  <a:pt x="311" y="13"/>
                </a:lnTo>
                <a:lnTo>
                  <a:pt x="327" y="8"/>
                </a:lnTo>
                <a:lnTo>
                  <a:pt x="344" y="5"/>
                </a:lnTo>
                <a:lnTo>
                  <a:pt x="360" y="2"/>
                </a:lnTo>
                <a:lnTo>
                  <a:pt x="377" y="0"/>
                </a:lnTo>
                <a:lnTo>
                  <a:pt x="393" y="0"/>
                </a:lnTo>
                <a:lnTo>
                  <a:pt x="393" y="3"/>
                </a:lnTo>
                <a:lnTo>
                  <a:pt x="377" y="4"/>
                </a:lnTo>
                <a:lnTo>
                  <a:pt x="360" y="6"/>
                </a:lnTo>
                <a:lnTo>
                  <a:pt x="344" y="8"/>
                </a:lnTo>
                <a:lnTo>
                  <a:pt x="327" y="12"/>
                </a:lnTo>
                <a:lnTo>
                  <a:pt x="311" y="16"/>
                </a:lnTo>
                <a:lnTo>
                  <a:pt x="295" y="21"/>
                </a:lnTo>
                <a:lnTo>
                  <a:pt x="278" y="27"/>
                </a:lnTo>
                <a:lnTo>
                  <a:pt x="262" y="33"/>
                </a:lnTo>
                <a:lnTo>
                  <a:pt x="246" y="39"/>
                </a:lnTo>
                <a:lnTo>
                  <a:pt x="229" y="46"/>
                </a:lnTo>
                <a:lnTo>
                  <a:pt x="213" y="53"/>
                </a:lnTo>
                <a:lnTo>
                  <a:pt x="196" y="60"/>
                </a:lnTo>
                <a:lnTo>
                  <a:pt x="180" y="67"/>
                </a:lnTo>
                <a:lnTo>
                  <a:pt x="164" y="74"/>
                </a:lnTo>
                <a:lnTo>
                  <a:pt x="147" y="81"/>
                </a:lnTo>
                <a:lnTo>
                  <a:pt x="131" y="88"/>
                </a:lnTo>
                <a:lnTo>
                  <a:pt x="114" y="94"/>
                </a:lnTo>
                <a:lnTo>
                  <a:pt x="98" y="99"/>
                </a:lnTo>
                <a:lnTo>
                  <a:pt x="82" y="104"/>
                </a:lnTo>
                <a:lnTo>
                  <a:pt x="65" y="109"/>
                </a:lnTo>
                <a:lnTo>
                  <a:pt x="49" y="112"/>
                </a:lnTo>
                <a:lnTo>
                  <a:pt x="33" y="115"/>
                </a:lnTo>
                <a:lnTo>
                  <a:pt x="16" y="116"/>
                </a:lnTo>
                <a:lnTo>
                  <a:pt x="0" y="117"/>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057400" y="5629275"/>
            <a:ext cx="3743325" cy="733425"/>
          </a:xfrm>
          <a:custGeom>
            <a:avLst/>
            <a:gdLst/>
            <a:ahLst/>
            <a:cxnLst/>
            <a:rect l="l" t="t" r="r" b="b"/>
            <a:pathLst>
              <a:path w="393" h="77">
                <a:moveTo>
                  <a:pt x="0" y="74"/>
                </a:moveTo>
                <a:lnTo>
                  <a:pt x="16" y="74"/>
                </a:lnTo>
                <a:lnTo>
                  <a:pt x="33" y="72"/>
                </a:lnTo>
                <a:lnTo>
                  <a:pt x="49" y="71"/>
                </a:lnTo>
                <a:lnTo>
                  <a:pt x="65" y="68"/>
                </a:lnTo>
                <a:lnTo>
                  <a:pt x="82" y="66"/>
                </a:lnTo>
                <a:lnTo>
                  <a:pt x="98" y="62"/>
                </a:lnTo>
                <a:lnTo>
                  <a:pt x="114" y="59"/>
                </a:lnTo>
                <a:lnTo>
                  <a:pt x="131" y="55"/>
                </a:lnTo>
                <a:lnTo>
                  <a:pt x="147" y="51"/>
                </a:lnTo>
                <a:lnTo>
                  <a:pt x="164" y="46"/>
                </a:lnTo>
                <a:lnTo>
                  <a:pt x="180" y="42"/>
                </a:lnTo>
                <a:lnTo>
                  <a:pt x="196" y="37"/>
                </a:lnTo>
                <a:lnTo>
                  <a:pt x="213" y="32"/>
                </a:lnTo>
                <a:lnTo>
                  <a:pt x="229" y="28"/>
                </a:lnTo>
                <a:lnTo>
                  <a:pt x="246" y="23"/>
                </a:lnTo>
                <a:lnTo>
                  <a:pt x="262" y="19"/>
                </a:lnTo>
                <a:lnTo>
                  <a:pt x="278" y="15"/>
                </a:lnTo>
                <a:lnTo>
                  <a:pt x="295" y="11"/>
                </a:lnTo>
                <a:lnTo>
                  <a:pt x="311" y="8"/>
                </a:lnTo>
                <a:lnTo>
                  <a:pt x="327" y="5"/>
                </a:lnTo>
                <a:lnTo>
                  <a:pt x="344" y="3"/>
                </a:lnTo>
                <a:lnTo>
                  <a:pt x="360" y="1"/>
                </a:lnTo>
                <a:lnTo>
                  <a:pt x="377" y="0"/>
                </a:lnTo>
                <a:lnTo>
                  <a:pt x="393" y="0"/>
                </a:lnTo>
                <a:lnTo>
                  <a:pt x="393" y="3"/>
                </a:lnTo>
                <a:lnTo>
                  <a:pt x="377" y="3"/>
                </a:lnTo>
                <a:lnTo>
                  <a:pt x="360" y="4"/>
                </a:lnTo>
                <a:lnTo>
                  <a:pt x="344" y="6"/>
                </a:lnTo>
                <a:lnTo>
                  <a:pt x="327" y="8"/>
                </a:lnTo>
                <a:lnTo>
                  <a:pt x="311" y="11"/>
                </a:lnTo>
                <a:lnTo>
                  <a:pt x="295" y="14"/>
                </a:lnTo>
                <a:lnTo>
                  <a:pt x="278" y="18"/>
                </a:lnTo>
                <a:lnTo>
                  <a:pt x="262" y="22"/>
                </a:lnTo>
                <a:lnTo>
                  <a:pt x="246" y="26"/>
                </a:lnTo>
                <a:lnTo>
                  <a:pt x="229" y="31"/>
                </a:lnTo>
                <a:lnTo>
                  <a:pt x="213" y="35"/>
                </a:lnTo>
                <a:lnTo>
                  <a:pt x="196" y="40"/>
                </a:lnTo>
                <a:lnTo>
                  <a:pt x="180" y="44"/>
                </a:lnTo>
                <a:lnTo>
                  <a:pt x="164" y="49"/>
                </a:lnTo>
                <a:lnTo>
                  <a:pt x="147" y="53"/>
                </a:lnTo>
                <a:lnTo>
                  <a:pt x="131" y="58"/>
                </a:lnTo>
                <a:lnTo>
                  <a:pt x="114" y="62"/>
                </a:lnTo>
                <a:lnTo>
                  <a:pt x="98" y="65"/>
                </a:lnTo>
                <a:lnTo>
                  <a:pt x="82" y="68"/>
                </a:lnTo>
                <a:lnTo>
                  <a:pt x="65" y="71"/>
                </a:lnTo>
                <a:lnTo>
                  <a:pt x="49" y="74"/>
                </a:lnTo>
                <a:lnTo>
                  <a:pt x="33" y="75"/>
                </a:lnTo>
                <a:lnTo>
                  <a:pt x="16" y="76"/>
                </a:lnTo>
                <a:lnTo>
                  <a:pt x="0" y="77"/>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2057400" y="5972175"/>
            <a:ext cx="3743325" cy="400050"/>
          </a:xfrm>
          <a:custGeom>
            <a:avLst/>
            <a:gdLst/>
            <a:ahLst/>
            <a:cxnLst/>
            <a:rect l="l" t="t" r="r" b="b"/>
            <a:pathLst>
              <a:path w="393" h="42">
                <a:moveTo>
                  <a:pt x="0" y="41"/>
                </a:moveTo>
                <a:lnTo>
                  <a:pt x="16" y="41"/>
                </a:lnTo>
                <a:lnTo>
                  <a:pt x="33" y="40"/>
                </a:lnTo>
                <a:lnTo>
                  <a:pt x="49" y="39"/>
                </a:lnTo>
                <a:lnTo>
                  <a:pt x="65" y="38"/>
                </a:lnTo>
                <a:lnTo>
                  <a:pt x="82" y="36"/>
                </a:lnTo>
                <a:lnTo>
                  <a:pt x="98" y="34"/>
                </a:lnTo>
                <a:lnTo>
                  <a:pt x="114" y="32"/>
                </a:lnTo>
                <a:lnTo>
                  <a:pt x="131" y="30"/>
                </a:lnTo>
                <a:lnTo>
                  <a:pt x="147" y="28"/>
                </a:lnTo>
                <a:lnTo>
                  <a:pt x="164" y="25"/>
                </a:lnTo>
                <a:lnTo>
                  <a:pt x="180" y="23"/>
                </a:lnTo>
                <a:lnTo>
                  <a:pt x="196" y="20"/>
                </a:lnTo>
                <a:lnTo>
                  <a:pt x="213" y="18"/>
                </a:lnTo>
                <a:lnTo>
                  <a:pt x="229" y="15"/>
                </a:lnTo>
                <a:lnTo>
                  <a:pt x="246" y="13"/>
                </a:lnTo>
                <a:lnTo>
                  <a:pt x="262" y="10"/>
                </a:lnTo>
                <a:lnTo>
                  <a:pt x="278" y="8"/>
                </a:lnTo>
                <a:lnTo>
                  <a:pt x="295" y="6"/>
                </a:lnTo>
                <a:lnTo>
                  <a:pt x="311" y="4"/>
                </a:lnTo>
                <a:lnTo>
                  <a:pt x="327" y="3"/>
                </a:lnTo>
                <a:lnTo>
                  <a:pt x="344" y="1"/>
                </a:lnTo>
                <a:lnTo>
                  <a:pt x="360" y="0"/>
                </a:lnTo>
                <a:lnTo>
                  <a:pt x="377" y="0"/>
                </a:lnTo>
                <a:lnTo>
                  <a:pt x="393" y="0"/>
                </a:lnTo>
                <a:lnTo>
                  <a:pt x="393" y="1"/>
                </a:lnTo>
                <a:lnTo>
                  <a:pt x="377" y="1"/>
                </a:lnTo>
                <a:lnTo>
                  <a:pt x="360" y="2"/>
                </a:lnTo>
                <a:lnTo>
                  <a:pt x="344" y="3"/>
                </a:lnTo>
                <a:lnTo>
                  <a:pt x="327" y="4"/>
                </a:lnTo>
                <a:lnTo>
                  <a:pt x="311" y="6"/>
                </a:lnTo>
                <a:lnTo>
                  <a:pt x="295" y="8"/>
                </a:lnTo>
                <a:lnTo>
                  <a:pt x="278" y="10"/>
                </a:lnTo>
                <a:lnTo>
                  <a:pt x="262" y="12"/>
                </a:lnTo>
                <a:lnTo>
                  <a:pt x="246" y="14"/>
                </a:lnTo>
                <a:lnTo>
                  <a:pt x="229" y="17"/>
                </a:lnTo>
                <a:lnTo>
                  <a:pt x="213" y="19"/>
                </a:lnTo>
                <a:lnTo>
                  <a:pt x="196" y="22"/>
                </a:lnTo>
                <a:lnTo>
                  <a:pt x="180" y="24"/>
                </a:lnTo>
                <a:lnTo>
                  <a:pt x="164" y="27"/>
                </a:lnTo>
                <a:lnTo>
                  <a:pt x="147" y="29"/>
                </a:lnTo>
                <a:lnTo>
                  <a:pt x="131" y="32"/>
                </a:lnTo>
                <a:lnTo>
                  <a:pt x="114" y="34"/>
                </a:lnTo>
                <a:lnTo>
                  <a:pt x="98" y="36"/>
                </a:lnTo>
                <a:lnTo>
                  <a:pt x="82" y="38"/>
                </a:lnTo>
                <a:lnTo>
                  <a:pt x="65" y="39"/>
                </a:lnTo>
                <a:lnTo>
                  <a:pt x="49" y="41"/>
                </a:lnTo>
                <a:lnTo>
                  <a:pt x="33" y="42"/>
                </a:lnTo>
                <a:lnTo>
                  <a:pt x="16" y="42"/>
                </a:lnTo>
                <a:lnTo>
                  <a:pt x="0" y="42"/>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2057400" y="6238875"/>
            <a:ext cx="3743325" cy="152400"/>
          </a:xfrm>
          <a:custGeom>
            <a:avLst/>
            <a:gdLst/>
            <a:ahLst/>
            <a:cxnLst/>
            <a:rect l="l" t="t" r="r" b="b"/>
            <a:pathLst>
              <a:path w="393" h="16">
                <a:moveTo>
                  <a:pt x="0" y="14"/>
                </a:moveTo>
                <a:lnTo>
                  <a:pt x="16" y="14"/>
                </a:lnTo>
                <a:lnTo>
                  <a:pt x="33" y="14"/>
                </a:lnTo>
                <a:lnTo>
                  <a:pt x="49" y="14"/>
                </a:lnTo>
                <a:lnTo>
                  <a:pt x="65" y="13"/>
                </a:lnTo>
                <a:lnTo>
                  <a:pt x="82" y="13"/>
                </a:lnTo>
                <a:lnTo>
                  <a:pt x="98" y="12"/>
                </a:lnTo>
                <a:lnTo>
                  <a:pt x="114" y="11"/>
                </a:lnTo>
                <a:lnTo>
                  <a:pt x="131" y="11"/>
                </a:lnTo>
                <a:lnTo>
                  <a:pt x="147" y="10"/>
                </a:lnTo>
                <a:lnTo>
                  <a:pt x="164" y="9"/>
                </a:lnTo>
                <a:lnTo>
                  <a:pt x="180" y="8"/>
                </a:lnTo>
                <a:lnTo>
                  <a:pt x="196" y="7"/>
                </a:lnTo>
                <a:lnTo>
                  <a:pt x="213" y="6"/>
                </a:lnTo>
                <a:lnTo>
                  <a:pt x="229" y="5"/>
                </a:lnTo>
                <a:lnTo>
                  <a:pt x="246" y="4"/>
                </a:lnTo>
                <a:lnTo>
                  <a:pt x="262" y="4"/>
                </a:lnTo>
                <a:lnTo>
                  <a:pt x="278" y="3"/>
                </a:lnTo>
                <a:lnTo>
                  <a:pt x="295" y="2"/>
                </a:lnTo>
                <a:lnTo>
                  <a:pt x="311" y="1"/>
                </a:lnTo>
                <a:lnTo>
                  <a:pt x="327" y="1"/>
                </a:lnTo>
                <a:lnTo>
                  <a:pt x="344" y="0"/>
                </a:lnTo>
                <a:lnTo>
                  <a:pt x="360" y="0"/>
                </a:lnTo>
                <a:lnTo>
                  <a:pt x="377" y="0"/>
                </a:lnTo>
                <a:lnTo>
                  <a:pt x="393" y="0"/>
                </a:lnTo>
                <a:lnTo>
                  <a:pt x="393" y="2"/>
                </a:lnTo>
                <a:lnTo>
                  <a:pt x="377" y="2"/>
                </a:lnTo>
                <a:lnTo>
                  <a:pt x="360" y="2"/>
                </a:lnTo>
                <a:lnTo>
                  <a:pt x="344" y="2"/>
                </a:lnTo>
                <a:lnTo>
                  <a:pt x="327" y="3"/>
                </a:lnTo>
                <a:lnTo>
                  <a:pt x="311" y="3"/>
                </a:lnTo>
                <a:lnTo>
                  <a:pt x="295" y="4"/>
                </a:lnTo>
                <a:lnTo>
                  <a:pt x="278" y="5"/>
                </a:lnTo>
                <a:lnTo>
                  <a:pt x="262" y="5"/>
                </a:lnTo>
                <a:lnTo>
                  <a:pt x="246" y="6"/>
                </a:lnTo>
                <a:lnTo>
                  <a:pt x="229" y="7"/>
                </a:lnTo>
                <a:lnTo>
                  <a:pt x="213" y="8"/>
                </a:lnTo>
                <a:lnTo>
                  <a:pt x="196" y="9"/>
                </a:lnTo>
                <a:lnTo>
                  <a:pt x="180" y="10"/>
                </a:lnTo>
                <a:lnTo>
                  <a:pt x="164" y="11"/>
                </a:lnTo>
                <a:lnTo>
                  <a:pt x="147" y="11"/>
                </a:lnTo>
                <a:lnTo>
                  <a:pt x="131" y="12"/>
                </a:lnTo>
                <a:lnTo>
                  <a:pt x="114" y="13"/>
                </a:lnTo>
                <a:lnTo>
                  <a:pt x="98" y="14"/>
                </a:lnTo>
                <a:lnTo>
                  <a:pt x="82" y="14"/>
                </a:lnTo>
                <a:lnTo>
                  <a:pt x="65" y="15"/>
                </a:lnTo>
                <a:lnTo>
                  <a:pt x="49" y="15"/>
                </a:lnTo>
                <a:lnTo>
                  <a:pt x="33" y="16"/>
                </a:lnTo>
                <a:lnTo>
                  <a:pt x="16" y="16"/>
                </a:lnTo>
                <a:lnTo>
                  <a:pt x="0" y="16"/>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2057400" y="6391275"/>
            <a:ext cx="3743325" cy="133350"/>
          </a:xfrm>
          <a:custGeom>
            <a:avLst/>
            <a:gdLst/>
            <a:ahLst/>
            <a:cxnLst/>
            <a:rect l="l" t="t" r="r" b="b"/>
            <a:pathLst>
              <a:path w="393" h="14">
                <a:moveTo>
                  <a:pt x="0" y="0"/>
                </a:moveTo>
                <a:lnTo>
                  <a:pt x="16" y="0"/>
                </a:lnTo>
                <a:lnTo>
                  <a:pt x="33" y="0"/>
                </a:lnTo>
                <a:lnTo>
                  <a:pt x="49" y="1"/>
                </a:lnTo>
                <a:lnTo>
                  <a:pt x="65" y="1"/>
                </a:lnTo>
                <a:lnTo>
                  <a:pt x="82" y="1"/>
                </a:lnTo>
                <a:lnTo>
                  <a:pt x="98" y="2"/>
                </a:lnTo>
                <a:lnTo>
                  <a:pt x="114" y="3"/>
                </a:lnTo>
                <a:lnTo>
                  <a:pt x="131" y="3"/>
                </a:lnTo>
                <a:lnTo>
                  <a:pt x="147" y="4"/>
                </a:lnTo>
                <a:lnTo>
                  <a:pt x="164" y="5"/>
                </a:lnTo>
                <a:lnTo>
                  <a:pt x="180" y="6"/>
                </a:lnTo>
                <a:lnTo>
                  <a:pt x="196" y="6"/>
                </a:lnTo>
                <a:lnTo>
                  <a:pt x="213" y="7"/>
                </a:lnTo>
                <a:lnTo>
                  <a:pt x="229" y="8"/>
                </a:lnTo>
                <a:lnTo>
                  <a:pt x="246" y="9"/>
                </a:lnTo>
                <a:lnTo>
                  <a:pt x="262" y="9"/>
                </a:lnTo>
                <a:lnTo>
                  <a:pt x="278" y="10"/>
                </a:lnTo>
                <a:lnTo>
                  <a:pt x="295" y="11"/>
                </a:lnTo>
                <a:lnTo>
                  <a:pt x="311" y="11"/>
                </a:lnTo>
                <a:lnTo>
                  <a:pt x="327" y="12"/>
                </a:lnTo>
                <a:lnTo>
                  <a:pt x="344" y="12"/>
                </a:lnTo>
                <a:lnTo>
                  <a:pt x="360" y="12"/>
                </a:lnTo>
                <a:lnTo>
                  <a:pt x="377" y="13"/>
                </a:lnTo>
                <a:lnTo>
                  <a:pt x="393" y="13"/>
                </a:lnTo>
                <a:lnTo>
                  <a:pt x="393" y="14"/>
                </a:lnTo>
                <a:lnTo>
                  <a:pt x="377" y="14"/>
                </a:lnTo>
                <a:lnTo>
                  <a:pt x="360" y="14"/>
                </a:lnTo>
                <a:lnTo>
                  <a:pt x="344" y="14"/>
                </a:lnTo>
                <a:lnTo>
                  <a:pt x="327" y="13"/>
                </a:lnTo>
                <a:lnTo>
                  <a:pt x="311" y="13"/>
                </a:lnTo>
                <a:lnTo>
                  <a:pt x="295" y="12"/>
                </a:lnTo>
                <a:lnTo>
                  <a:pt x="278" y="11"/>
                </a:lnTo>
                <a:lnTo>
                  <a:pt x="262" y="11"/>
                </a:lnTo>
                <a:lnTo>
                  <a:pt x="246" y="10"/>
                </a:lnTo>
                <a:lnTo>
                  <a:pt x="229" y="9"/>
                </a:lnTo>
                <a:lnTo>
                  <a:pt x="213" y="9"/>
                </a:lnTo>
                <a:lnTo>
                  <a:pt x="196" y="8"/>
                </a:lnTo>
                <a:lnTo>
                  <a:pt x="180" y="7"/>
                </a:lnTo>
                <a:lnTo>
                  <a:pt x="164" y="6"/>
                </a:lnTo>
                <a:lnTo>
                  <a:pt x="147" y="5"/>
                </a:lnTo>
                <a:lnTo>
                  <a:pt x="131" y="5"/>
                </a:lnTo>
                <a:lnTo>
                  <a:pt x="114" y="4"/>
                </a:lnTo>
                <a:lnTo>
                  <a:pt x="98" y="3"/>
                </a:lnTo>
                <a:lnTo>
                  <a:pt x="82" y="3"/>
                </a:lnTo>
                <a:lnTo>
                  <a:pt x="65" y="2"/>
                </a:lnTo>
                <a:lnTo>
                  <a:pt x="49" y="2"/>
                </a:lnTo>
                <a:lnTo>
                  <a:pt x="33" y="2"/>
                </a:lnTo>
                <a:lnTo>
                  <a:pt x="16" y="2"/>
                </a:lnTo>
                <a:lnTo>
                  <a:pt x="0" y="2"/>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2057400" y="4752975"/>
            <a:ext cx="3743325" cy="1724025"/>
          </a:xfrm>
          <a:custGeom>
            <a:avLst/>
            <a:gdLst/>
            <a:ahLst/>
            <a:cxnLst/>
            <a:rect l="l" t="t" r="r" b="b"/>
            <a:pathLst>
              <a:path w="393" h="181">
                <a:moveTo>
                  <a:pt x="0" y="180"/>
                </a:moveTo>
                <a:lnTo>
                  <a:pt x="16" y="179"/>
                </a:lnTo>
                <a:lnTo>
                  <a:pt x="33" y="176"/>
                </a:lnTo>
                <a:lnTo>
                  <a:pt x="49" y="172"/>
                </a:lnTo>
                <a:lnTo>
                  <a:pt x="65" y="166"/>
                </a:lnTo>
                <a:lnTo>
                  <a:pt x="82" y="159"/>
                </a:lnTo>
                <a:lnTo>
                  <a:pt x="98" y="151"/>
                </a:lnTo>
                <a:lnTo>
                  <a:pt x="114" y="143"/>
                </a:lnTo>
                <a:lnTo>
                  <a:pt x="131" y="133"/>
                </a:lnTo>
                <a:lnTo>
                  <a:pt x="147" y="123"/>
                </a:lnTo>
                <a:lnTo>
                  <a:pt x="164" y="112"/>
                </a:lnTo>
                <a:lnTo>
                  <a:pt x="180" y="101"/>
                </a:lnTo>
                <a:lnTo>
                  <a:pt x="196" y="90"/>
                </a:lnTo>
                <a:lnTo>
                  <a:pt x="213" y="79"/>
                </a:lnTo>
                <a:lnTo>
                  <a:pt x="229" y="68"/>
                </a:lnTo>
                <a:lnTo>
                  <a:pt x="246" y="57"/>
                </a:lnTo>
                <a:lnTo>
                  <a:pt x="262" y="47"/>
                </a:lnTo>
                <a:lnTo>
                  <a:pt x="278" y="37"/>
                </a:lnTo>
                <a:lnTo>
                  <a:pt x="295" y="28"/>
                </a:lnTo>
                <a:lnTo>
                  <a:pt x="311" y="20"/>
                </a:lnTo>
                <a:lnTo>
                  <a:pt x="327" y="13"/>
                </a:lnTo>
                <a:lnTo>
                  <a:pt x="344" y="8"/>
                </a:lnTo>
                <a:lnTo>
                  <a:pt x="360" y="4"/>
                </a:lnTo>
                <a:lnTo>
                  <a:pt x="377" y="1"/>
                </a:lnTo>
                <a:lnTo>
                  <a:pt x="393" y="0"/>
                </a:lnTo>
                <a:lnTo>
                  <a:pt x="393" y="2"/>
                </a:lnTo>
                <a:lnTo>
                  <a:pt x="377" y="3"/>
                </a:lnTo>
                <a:lnTo>
                  <a:pt x="360" y="5"/>
                </a:lnTo>
                <a:lnTo>
                  <a:pt x="344" y="9"/>
                </a:lnTo>
                <a:lnTo>
                  <a:pt x="327" y="15"/>
                </a:lnTo>
                <a:lnTo>
                  <a:pt x="311" y="22"/>
                </a:lnTo>
                <a:lnTo>
                  <a:pt x="295" y="30"/>
                </a:lnTo>
                <a:lnTo>
                  <a:pt x="278" y="39"/>
                </a:lnTo>
                <a:lnTo>
                  <a:pt x="262" y="48"/>
                </a:lnTo>
                <a:lnTo>
                  <a:pt x="246" y="58"/>
                </a:lnTo>
                <a:lnTo>
                  <a:pt x="229" y="69"/>
                </a:lnTo>
                <a:lnTo>
                  <a:pt x="213" y="80"/>
                </a:lnTo>
                <a:lnTo>
                  <a:pt x="196" y="91"/>
                </a:lnTo>
                <a:lnTo>
                  <a:pt x="180" y="103"/>
                </a:lnTo>
                <a:lnTo>
                  <a:pt x="164" y="114"/>
                </a:lnTo>
                <a:lnTo>
                  <a:pt x="147" y="124"/>
                </a:lnTo>
                <a:lnTo>
                  <a:pt x="131" y="135"/>
                </a:lnTo>
                <a:lnTo>
                  <a:pt x="114" y="144"/>
                </a:lnTo>
                <a:lnTo>
                  <a:pt x="98" y="153"/>
                </a:lnTo>
                <a:lnTo>
                  <a:pt x="82" y="161"/>
                </a:lnTo>
                <a:lnTo>
                  <a:pt x="65" y="168"/>
                </a:lnTo>
                <a:lnTo>
                  <a:pt x="49" y="173"/>
                </a:lnTo>
                <a:lnTo>
                  <a:pt x="33" y="178"/>
                </a:lnTo>
                <a:lnTo>
                  <a:pt x="16" y="180"/>
                </a:lnTo>
                <a:lnTo>
                  <a:pt x="0" y="181"/>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2057400" y="5248275"/>
            <a:ext cx="3743325" cy="1247775"/>
          </a:xfrm>
          <a:custGeom>
            <a:avLst/>
            <a:gdLst/>
            <a:ahLst/>
            <a:cxnLst/>
            <a:rect l="l" t="t" r="r" b="b"/>
            <a:pathLst>
              <a:path w="393" h="131">
                <a:moveTo>
                  <a:pt x="0" y="129"/>
                </a:moveTo>
                <a:lnTo>
                  <a:pt x="16" y="129"/>
                </a:lnTo>
                <a:lnTo>
                  <a:pt x="33" y="127"/>
                </a:lnTo>
                <a:lnTo>
                  <a:pt x="49" y="124"/>
                </a:lnTo>
                <a:lnTo>
                  <a:pt x="65" y="120"/>
                </a:lnTo>
                <a:lnTo>
                  <a:pt x="82" y="115"/>
                </a:lnTo>
                <a:lnTo>
                  <a:pt x="98" y="109"/>
                </a:lnTo>
                <a:lnTo>
                  <a:pt x="114" y="103"/>
                </a:lnTo>
                <a:lnTo>
                  <a:pt x="131" y="96"/>
                </a:lnTo>
                <a:lnTo>
                  <a:pt x="147" y="88"/>
                </a:lnTo>
                <a:lnTo>
                  <a:pt x="164" y="81"/>
                </a:lnTo>
                <a:lnTo>
                  <a:pt x="180" y="73"/>
                </a:lnTo>
                <a:lnTo>
                  <a:pt x="196" y="65"/>
                </a:lnTo>
                <a:lnTo>
                  <a:pt x="213" y="57"/>
                </a:lnTo>
                <a:lnTo>
                  <a:pt x="229" y="49"/>
                </a:lnTo>
                <a:lnTo>
                  <a:pt x="246" y="41"/>
                </a:lnTo>
                <a:lnTo>
                  <a:pt x="262" y="34"/>
                </a:lnTo>
                <a:lnTo>
                  <a:pt x="278" y="27"/>
                </a:lnTo>
                <a:lnTo>
                  <a:pt x="295" y="21"/>
                </a:lnTo>
                <a:lnTo>
                  <a:pt x="311" y="15"/>
                </a:lnTo>
                <a:lnTo>
                  <a:pt x="327" y="10"/>
                </a:lnTo>
                <a:lnTo>
                  <a:pt x="344" y="6"/>
                </a:lnTo>
                <a:lnTo>
                  <a:pt x="360" y="3"/>
                </a:lnTo>
                <a:lnTo>
                  <a:pt x="377" y="1"/>
                </a:lnTo>
                <a:lnTo>
                  <a:pt x="393" y="0"/>
                </a:lnTo>
                <a:lnTo>
                  <a:pt x="393" y="2"/>
                </a:lnTo>
                <a:lnTo>
                  <a:pt x="377" y="3"/>
                </a:lnTo>
                <a:lnTo>
                  <a:pt x="360" y="5"/>
                </a:lnTo>
                <a:lnTo>
                  <a:pt x="344" y="8"/>
                </a:lnTo>
                <a:lnTo>
                  <a:pt x="327" y="12"/>
                </a:lnTo>
                <a:lnTo>
                  <a:pt x="311" y="17"/>
                </a:lnTo>
                <a:lnTo>
                  <a:pt x="295" y="22"/>
                </a:lnTo>
                <a:lnTo>
                  <a:pt x="278" y="29"/>
                </a:lnTo>
                <a:lnTo>
                  <a:pt x="262" y="36"/>
                </a:lnTo>
                <a:lnTo>
                  <a:pt x="246" y="43"/>
                </a:lnTo>
                <a:lnTo>
                  <a:pt x="229" y="51"/>
                </a:lnTo>
                <a:lnTo>
                  <a:pt x="213" y="59"/>
                </a:lnTo>
                <a:lnTo>
                  <a:pt x="196" y="67"/>
                </a:lnTo>
                <a:lnTo>
                  <a:pt x="180" y="75"/>
                </a:lnTo>
                <a:lnTo>
                  <a:pt x="164" y="83"/>
                </a:lnTo>
                <a:lnTo>
                  <a:pt x="147" y="90"/>
                </a:lnTo>
                <a:lnTo>
                  <a:pt x="131" y="98"/>
                </a:lnTo>
                <a:lnTo>
                  <a:pt x="114" y="104"/>
                </a:lnTo>
                <a:lnTo>
                  <a:pt x="98" y="111"/>
                </a:lnTo>
                <a:lnTo>
                  <a:pt x="82" y="117"/>
                </a:lnTo>
                <a:lnTo>
                  <a:pt x="65" y="121"/>
                </a:lnTo>
                <a:lnTo>
                  <a:pt x="49" y="125"/>
                </a:lnTo>
                <a:lnTo>
                  <a:pt x="33" y="128"/>
                </a:lnTo>
                <a:lnTo>
                  <a:pt x="16" y="130"/>
                </a:lnTo>
                <a:lnTo>
                  <a:pt x="0" y="131"/>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2057400" y="5657850"/>
            <a:ext cx="3743325" cy="847725"/>
          </a:xfrm>
          <a:custGeom>
            <a:avLst/>
            <a:gdLst/>
            <a:ahLst/>
            <a:cxnLst/>
            <a:rect l="l" t="t" r="r" b="b"/>
            <a:pathLst>
              <a:path w="393" h="89">
                <a:moveTo>
                  <a:pt x="0" y="88"/>
                </a:moveTo>
                <a:lnTo>
                  <a:pt x="16" y="88"/>
                </a:lnTo>
                <a:lnTo>
                  <a:pt x="33" y="86"/>
                </a:lnTo>
                <a:lnTo>
                  <a:pt x="49" y="84"/>
                </a:lnTo>
                <a:lnTo>
                  <a:pt x="65" y="81"/>
                </a:lnTo>
                <a:lnTo>
                  <a:pt x="82" y="78"/>
                </a:lnTo>
                <a:lnTo>
                  <a:pt x="98" y="74"/>
                </a:lnTo>
                <a:lnTo>
                  <a:pt x="114" y="70"/>
                </a:lnTo>
                <a:lnTo>
                  <a:pt x="131" y="65"/>
                </a:lnTo>
                <a:lnTo>
                  <a:pt x="147" y="60"/>
                </a:lnTo>
                <a:lnTo>
                  <a:pt x="164" y="55"/>
                </a:lnTo>
                <a:lnTo>
                  <a:pt x="180" y="49"/>
                </a:lnTo>
                <a:lnTo>
                  <a:pt x="196" y="44"/>
                </a:lnTo>
                <a:lnTo>
                  <a:pt x="213" y="38"/>
                </a:lnTo>
                <a:lnTo>
                  <a:pt x="229" y="33"/>
                </a:lnTo>
                <a:lnTo>
                  <a:pt x="246" y="28"/>
                </a:lnTo>
                <a:lnTo>
                  <a:pt x="262" y="23"/>
                </a:lnTo>
                <a:lnTo>
                  <a:pt x="278" y="18"/>
                </a:lnTo>
                <a:lnTo>
                  <a:pt x="295" y="14"/>
                </a:lnTo>
                <a:lnTo>
                  <a:pt x="311" y="10"/>
                </a:lnTo>
                <a:lnTo>
                  <a:pt x="327" y="6"/>
                </a:lnTo>
                <a:lnTo>
                  <a:pt x="344" y="4"/>
                </a:lnTo>
                <a:lnTo>
                  <a:pt x="360" y="1"/>
                </a:lnTo>
                <a:lnTo>
                  <a:pt x="377" y="0"/>
                </a:lnTo>
                <a:lnTo>
                  <a:pt x="393" y="0"/>
                </a:lnTo>
                <a:lnTo>
                  <a:pt x="393" y="1"/>
                </a:lnTo>
                <a:lnTo>
                  <a:pt x="377" y="1"/>
                </a:lnTo>
                <a:lnTo>
                  <a:pt x="360" y="3"/>
                </a:lnTo>
                <a:lnTo>
                  <a:pt x="344" y="5"/>
                </a:lnTo>
                <a:lnTo>
                  <a:pt x="327" y="7"/>
                </a:lnTo>
                <a:lnTo>
                  <a:pt x="311" y="11"/>
                </a:lnTo>
                <a:lnTo>
                  <a:pt x="295" y="15"/>
                </a:lnTo>
                <a:lnTo>
                  <a:pt x="278" y="19"/>
                </a:lnTo>
                <a:lnTo>
                  <a:pt x="262" y="24"/>
                </a:lnTo>
                <a:lnTo>
                  <a:pt x="246" y="29"/>
                </a:lnTo>
                <a:lnTo>
                  <a:pt x="229" y="34"/>
                </a:lnTo>
                <a:lnTo>
                  <a:pt x="213" y="39"/>
                </a:lnTo>
                <a:lnTo>
                  <a:pt x="196" y="45"/>
                </a:lnTo>
                <a:lnTo>
                  <a:pt x="180" y="50"/>
                </a:lnTo>
                <a:lnTo>
                  <a:pt x="164" y="56"/>
                </a:lnTo>
                <a:lnTo>
                  <a:pt x="147" y="61"/>
                </a:lnTo>
                <a:lnTo>
                  <a:pt x="131" y="66"/>
                </a:lnTo>
                <a:lnTo>
                  <a:pt x="114" y="71"/>
                </a:lnTo>
                <a:lnTo>
                  <a:pt x="98" y="75"/>
                </a:lnTo>
                <a:lnTo>
                  <a:pt x="82" y="79"/>
                </a:lnTo>
                <a:lnTo>
                  <a:pt x="65" y="83"/>
                </a:lnTo>
                <a:lnTo>
                  <a:pt x="49" y="85"/>
                </a:lnTo>
                <a:lnTo>
                  <a:pt x="33" y="87"/>
                </a:lnTo>
                <a:lnTo>
                  <a:pt x="16" y="89"/>
                </a:lnTo>
                <a:lnTo>
                  <a:pt x="0" y="89"/>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2057400" y="5981700"/>
            <a:ext cx="3743325" cy="533400"/>
          </a:xfrm>
          <a:custGeom>
            <a:avLst/>
            <a:gdLst/>
            <a:ahLst/>
            <a:cxnLst/>
            <a:rect l="l" t="t" r="r" b="b"/>
            <a:pathLst>
              <a:path w="393" h="56">
                <a:moveTo>
                  <a:pt x="0" y="55"/>
                </a:moveTo>
                <a:lnTo>
                  <a:pt x="16" y="55"/>
                </a:lnTo>
                <a:lnTo>
                  <a:pt x="33" y="54"/>
                </a:lnTo>
                <a:lnTo>
                  <a:pt x="49" y="53"/>
                </a:lnTo>
                <a:lnTo>
                  <a:pt x="65" y="51"/>
                </a:lnTo>
                <a:lnTo>
                  <a:pt x="82" y="49"/>
                </a:lnTo>
                <a:lnTo>
                  <a:pt x="98" y="47"/>
                </a:lnTo>
                <a:lnTo>
                  <a:pt x="114" y="44"/>
                </a:lnTo>
                <a:lnTo>
                  <a:pt x="131" y="41"/>
                </a:lnTo>
                <a:lnTo>
                  <a:pt x="147" y="38"/>
                </a:lnTo>
                <a:lnTo>
                  <a:pt x="164" y="34"/>
                </a:lnTo>
                <a:lnTo>
                  <a:pt x="180" y="31"/>
                </a:lnTo>
                <a:lnTo>
                  <a:pt x="196" y="28"/>
                </a:lnTo>
                <a:lnTo>
                  <a:pt x="213" y="24"/>
                </a:lnTo>
                <a:lnTo>
                  <a:pt x="229" y="21"/>
                </a:lnTo>
                <a:lnTo>
                  <a:pt x="246" y="18"/>
                </a:lnTo>
                <a:lnTo>
                  <a:pt x="262" y="14"/>
                </a:lnTo>
                <a:lnTo>
                  <a:pt x="278" y="11"/>
                </a:lnTo>
                <a:lnTo>
                  <a:pt x="295" y="9"/>
                </a:lnTo>
                <a:lnTo>
                  <a:pt x="311" y="6"/>
                </a:lnTo>
                <a:lnTo>
                  <a:pt x="327" y="4"/>
                </a:lnTo>
                <a:lnTo>
                  <a:pt x="344" y="3"/>
                </a:lnTo>
                <a:lnTo>
                  <a:pt x="360" y="1"/>
                </a:lnTo>
                <a:lnTo>
                  <a:pt x="377" y="0"/>
                </a:lnTo>
                <a:lnTo>
                  <a:pt x="393" y="0"/>
                </a:lnTo>
                <a:lnTo>
                  <a:pt x="393" y="1"/>
                </a:lnTo>
                <a:lnTo>
                  <a:pt x="377" y="1"/>
                </a:lnTo>
                <a:lnTo>
                  <a:pt x="360" y="2"/>
                </a:lnTo>
                <a:lnTo>
                  <a:pt x="344" y="3"/>
                </a:lnTo>
                <a:lnTo>
                  <a:pt x="327" y="5"/>
                </a:lnTo>
                <a:lnTo>
                  <a:pt x="311" y="7"/>
                </a:lnTo>
                <a:lnTo>
                  <a:pt x="295" y="10"/>
                </a:lnTo>
                <a:lnTo>
                  <a:pt x="278" y="12"/>
                </a:lnTo>
                <a:lnTo>
                  <a:pt x="262" y="15"/>
                </a:lnTo>
                <a:lnTo>
                  <a:pt x="246" y="18"/>
                </a:lnTo>
                <a:lnTo>
                  <a:pt x="229" y="22"/>
                </a:lnTo>
                <a:lnTo>
                  <a:pt x="213" y="25"/>
                </a:lnTo>
                <a:lnTo>
                  <a:pt x="196" y="29"/>
                </a:lnTo>
                <a:lnTo>
                  <a:pt x="180" y="32"/>
                </a:lnTo>
                <a:lnTo>
                  <a:pt x="164" y="35"/>
                </a:lnTo>
                <a:lnTo>
                  <a:pt x="147" y="39"/>
                </a:lnTo>
                <a:lnTo>
                  <a:pt x="131" y="42"/>
                </a:lnTo>
                <a:lnTo>
                  <a:pt x="114" y="45"/>
                </a:lnTo>
                <a:lnTo>
                  <a:pt x="98" y="47"/>
                </a:lnTo>
                <a:lnTo>
                  <a:pt x="82" y="50"/>
                </a:lnTo>
                <a:lnTo>
                  <a:pt x="65" y="52"/>
                </a:lnTo>
                <a:lnTo>
                  <a:pt x="49" y="54"/>
                </a:lnTo>
                <a:lnTo>
                  <a:pt x="33" y="55"/>
                </a:lnTo>
                <a:lnTo>
                  <a:pt x="16" y="56"/>
                </a:lnTo>
                <a:lnTo>
                  <a:pt x="0" y="56"/>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2057400" y="6257925"/>
            <a:ext cx="3743325" cy="266700"/>
          </a:xfrm>
          <a:custGeom>
            <a:avLst/>
            <a:gdLst/>
            <a:ahLst/>
            <a:cxnLst/>
            <a:rect l="l" t="t" r="r" b="b"/>
            <a:pathLst>
              <a:path w="393" h="28">
                <a:moveTo>
                  <a:pt x="0" y="27"/>
                </a:moveTo>
                <a:lnTo>
                  <a:pt x="16" y="27"/>
                </a:lnTo>
                <a:lnTo>
                  <a:pt x="33" y="26"/>
                </a:lnTo>
                <a:lnTo>
                  <a:pt x="49" y="26"/>
                </a:lnTo>
                <a:lnTo>
                  <a:pt x="65" y="25"/>
                </a:lnTo>
                <a:lnTo>
                  <a:pt x="82" y="24"/>
                </a:lnTo>
                <a:lnTo>
                  <a:pt x="98" y="23"/>
                </a:lnTo>
                <a:lnTo>
                  <a:pt x="114" y="21"/>
                </a:lnTo>
                <a:lnTo>
                  <a:pt x="131" y="20"/>
                </a:lnTo>
                <a:lnTo>
                  <a:pt x="147" y="18"/>
                </a:lnTo>
                <a:lnTo>
                  <a:pt x="164" y="17"/>
                </a:lnTo>
                <a:lnTo>
                  <a:pt x="180" y="15"/>
                </a:lnTo>
                <a:lnTo>
                  <a:pt x="196" y="13"/>
                </a:lnTo>
                <a:lnTo>
                  <a:pt x="213" y="12"/>
                </a:lnTo>
                <a:lnTo>
                  <a:pt x="229" y="10"/>
                </a:lnTo>
                <a:lnTo>
                  <a:pt x="246" y="8"/>
                </a:lnTo>
                <a:lnTo>
                  <a:pt x="262" y="7"/>
                </a:lnTo>
                <a:lnTo>
                  <a:pt x="278" y="5"/>
                </a:lnTo>
                <a:lnTo>
                  <a:pt x="295" y="4"/>
                </a:lnTo>
                <a:lnTo>
                  <a:pt x="311" y="3"/>
                </a:lnTo>
                <a:lnTo>
                  <a:pt x="327" y="2"/>
                </a:lnTo>
                <a:lnTo>
                  <a:pt x="344" y="1"/>
                </a:lnTo>
                <a:lnTo>
                  <a:pt x="360" y="0"/>
                </a:lnTo>
                <a:lnTo>
                  <a:pt x="377" y="0"/>
                </a:lnTo>
                <a:lnTo>
                  <a:pt x="393" y="0"/>
                </a:lnTo>
                <a:lnTo>
                  <a:pt x="393" y="1"/>
                </a:lnTo>
                <a:lnTo>
                  <a:pt x="377" y="1"/>
                </a:lnTo>
                <a:lnTo>
                  <a:pt x="360" y="1"/>
                </a:lnTo>
                <a:lnTo>
                  <a:pt x="344" y="2"/>
                </a:lnTo>
                <a:lnTo>
                  <a:pt x="327" y="3"/>
                </a:lnTo>
                <a:lnTo>
                  <a:pt x="311" y="4"/>
                </a:lnTo>
                <a:lnTo>
                  <a:pt x="295" y="5"/>
                </a:lnTo>
                <a:lnTo>
                  <a:pt x="278" y="6"/>
                </a:lnTo>
                <a:lnTo>
                  <a:pt x="262" y="8"/>
                </a:lnTo>
                <a:lnTo>
                  <a:pt x="246" y="9"/>
                </a:lnTo>
                <a:lnTo>
                  <a:pt x="229" y="11"/>
                </a:lnTo>
                <a:lnTo>
                  <a:pt x="213" y="13"/>
                </a:lnTo>
                <a:lnTo>
                  <a:pt x="196" y="14"/>
                </a:lnTo>
                <a:lnTo>
                  <a:pt x="180" y="16"/>
                </a:lnTo>
                <a:lnTo>
                  <a:pt x="164" y="18"/>
                </a:lnTo>
                <a:lnTo>
                  <a:pt x="147" y="19"/>
                </a:lnTo>
                <a:lnTo>
                  <a:pt x="131" y="21"/>
                </a:lnTo>
                <a:lnTo>
                  <a:pt x="114" y="22"/>
                </a:lnTo>
                <a:lnTo>
                  <a:pt x="98" y="24"/>
                </a:lnTo>
                <a:lnTo>
                  <a:pt x="82" y="25"/>
                </a:lnTo>
                <a:lnTo>
                  <a:pt x="65" y="26"/>
                </a:lnTo>
                <a:lnTo>
                  <a:pt x="49" y="27"/>
                </a:lnTo>
                <a:lnTo>
                  <a:pt x="33" y="27"/>
                </a:lnTo>
                <a:lnTo>
                  <a:pt x="16" y="28"/>
                </a:lnTo>
                <a:lnTo>
                  <a:pt x="0" y="28"/>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2057400" y="6524625"/>
            <a:ext cx="3743325" cy="9525"/>
          </a:xfrm>
          <a:custGeom>
            <a:avLst/>
            <a:gdLst/>
            <a:ahLst/>
            <a:cxnLst/>
            <a:rect l="l" t="t" r="r" b="b"/>
            <a:pathLst>
              <a:path w="393" h="1">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1"/>
                </a:lnTo>
                <a:lnTo>
                  <a:pt x="377" y="1"/>
                </a:lnTo>
                <a:lnTo>
                  <a:pt x="360" y="1"/>
                </a:lnTo>
                <a:lnTo>
                  <a:pt x="344" y="1"/>
                </a:lnTo>
                <a:lnTo>
                  <a:pt x="327" y="1"/>
                </a:lnTo>
                <a:lnTo>
                  <a:pt x="311" y="1"/>
                </a:lnTo>
                <a:lnTo>
                  <a:pt x="295" y="1"/>
                </a:lnTo>
                <a:lnTo>
                  <a:pt x="278" y="1"/>
                </a:lnTo>
                <a:lnTo>
                  <a:pt x="262" y="1"/>
                </a:lnTo>
                <a:lnTo>
                  <a:pt x="246" y="1"/>
                </a:lnTo>
                <a:lnTo>
                  <a:pt x="229" y="1"/>
                </a:lnTo>
                <a:lnTo>
                  <a:pt x="213" y="1"/>
                </a:lnTo>
                <a:lnTo>
                  <a:pt x="196" y="1"/>
                </a:lnTo>
                <a:lnTo>
                  <a:pt x="180" y="1"/>
                </a:lnTo>
                <a:lnTo>
                  <a:pt x="164" y="1"/>
                </a:lnTo>
                <a:lnTo>
                  <a:pt x="147" y="1"/>
                </a:lnTo>
                <a:lnTo>
                  <a:pt x="131" y="1"/>
                </a:lnTo>
                <a:lnTo>
                  <a:pt x="114" y="1"/>
                </a:lnTo>
                <a:lnTo>
                  <a:pt x="98" y="1"/>
                </a:lnTo>
                <a:lnTo>
                  <a:pt x="82" y="1"/>
                </a:lnTo>
                <a:lnTo>
                  <a:pt x="65" y="1"/>
                </a:lnTo>
                <a:lnTo>
                  <a:pt x="49" y="1"/>
                </a:lnTo>
                <a:lnTo>
                  <a:pt x="33" y="1"/>
                </a:lnTo>
                <a:lnTo>
                  <a:pt x="16" y="1"/>
                </a:lnTo>
                <a:lnTo>
                  <a:pt x="0" y="1"/>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941195" y="4314825"/>
            <a:ext cx="114300" cy="792317"/>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941195" y="5164292"/>
            <a:ext cx="114300" cy="379458"/>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941195" y="5600900"/>
            <a:ext cx="114300" cy="37709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941195" y="6035144"/>
            <a:ext cx="114300" cy="177803"/>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941195" y="6270097"/>
            <a:ext cx="114300" cy="135657"/>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941195" y="6462904"/>
            <a:ext cx="114300" cy="71246"/>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800725" y="4314825"/>
            <a:ext cx="114300" cy="454107"/>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800725" y="4826082"/>
            <a:ext cx="114300" cy="44312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800725" y="5326361"/>
            <a:ext cx="114300" cy="339686"/>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800725" y="5723198"/>
            <a:ext cx="114300" cy="268643"/>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800725" y="6048991"/>
            <a:ext cx="114300" cy="214895"/>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5800725" y="6321036"/>
            <a:ext cx="114300" cy="213114"/>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57175" y="4639546"/>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5" name="TextBox 64"/>
          <p:cNvSpPr txBox="1"/>
          <p:nvPr/>
        </p:nvSpPr>
        <p:spPr>
          <a:xfrm>
            <a:off x="257175" y="5282583"/>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6" name="TextBox 65"/>
          <p:cNvSpPr txBox="1"/>
          <p:nvPr/>
        </p:nvSpPr>
        <p:spPr>
          <a:xfrm>
            <a:off x="257175" y="5718009"/>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7" name="TextBox 66"/>
          <p:cNvSpPr txBox="1"/>
          <p:nvPr/>
        </p:nvSpPr>
        <p:spPr>
          <a:xfrm>
            <a:off x="257175" y="6052608"/>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8" name="TextBox 67"/>
          <p:cNvSpPr txBox="1"/>
          <p:nvPr/>
        </p:nvSpPr>
        <p:spPr>
          <a:xfrm>
            <a:off x="257175" y="6238875"/>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69" name="TextBox 68"/>
          <p:cNvSpPr txBox="1"/>
          <p:nvPr/>
        </p:nvSpPr>
        <p:spPr>
          <a:xfrm>
            <a:off x="257175" y="6391275"/>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70" name="TextBox 69"/>
          <p:cNvSpPr txBox="1"/>
          <p:nvPr/>
        </p:nvSpPr>
        <p:spPr>
          <a:xfrm>
            <a:off x="5972175" y="4418054"/>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71" name="TextBox 70"/>
          <p:cNvSpPr txBox="1"/>
          <p:nvPr/>
        </p:nvSpPr>
        <p:spPr>
          <a:xfrm>
            <a:off x="5972175" y="4976209"/>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72" name="TextBox 71"/>
          <p:cNvSpPr txBox="1"/>
          <p:nvPr/>
        </p:nvSpPr>
        <p:spPr>
          <a:xfrm>
            <a:off x="5972175" y="5424767"/>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73" name="TextBox 72"/>
          <p:cNvSpPr txBox="1"/>
          <p:nvPr/>
        </p:nvSpPr>
        <p:spPr>
          <a:xfrm>
            <a:off x="5972175" y="5733694"/>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74" name="TextBox 73"/>
          <p:cNvSpPr txBox="1"/>
          <p:nvPr/>
        </p:nvSpPr>
        <p:spPr>
          <a:xfrm>
            <a:off x="5972175" y="6085001"/>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75" name="TextBox 74"/>
          <p:cNvSpPr txBox="1"/>
          <p:nvPr/>
        </p:nvSpPr>
        <p:spPr>
          <a:xfrm>
            <a:off x="5972175" y="6286500"/>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76" name="Rounded Rectangle 75"/>
          <p:cNvSpPr/>
          <p:nvPr/>
        </p:nvSpPr>
        <p:spPr>
          <a:xfrm>
            <a:off x="7581900" y="3990975"/>
            <a:ext cx="4457700" cy="2638425"/>
          </a:xfrm>
          <a:prstGeom prst="roundRect">
            <a:avLst>
              <a:gd name="adj" fmla="val 288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715250" y="4076700"/>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78" name="Rectangle 77"/>
          <p:cNvSpPr/>
          <p:nvPr/>
        </p:nvSpPr>
        <p:spPr>
          <a:xfrm>
            <a:off x="7715250" y="43148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715250" y="4400550"/>
            <a:ext cx="4191000" cy="21526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80" name="TextBox 7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1" name="Picture 80" descr="lock.png"/>
          <p:cNvPicPr>
            <a:picLocks noChangeAspect="1"/>
          </p:cNvPicPr>
          <p:nvPr/>
        </p:nvPicPr>
        <p:blipFill>
          <a:blip r:embed="rId4"/>
          <a:stretch>
            <a:fillRect/>
          </a:stretch>
        </p:blipFill>
        <p:spPr>
          <a:xfrm>
            <a:off x="6988869" y="2519100"/>
            <a:ext cx="366712" cy="533400"/>
          </a:xfrm>
          <a:prstGeom prst="rect">
            <a:avLst/>
          </a:prstGeom>
        </p:spPr>
      </p:pic>
      <p:sp>
        <p:nvSpPr>
          <p:cNvPr id="82" name="TextBox 81"/>
          <p:cNvSpPr txBox="1"/>
          <p:nvPr/>
        </p:nvSpPr>
        <p:spPr>
          <a:xfrm>
            <a:off x="852571" y="4650633"/>
            <a:ext cx="977723" cy="139750"/>
          </a:xfrm>
          <a:prstGeom prst="rect">
            <a:avLst/>
          </a:prstGeom>
          <a:noFill/>
        </p:spPr>
        <p:txBody>
          <a:bodyPr wrap="none" lIns="0" rIns="0" tIns="0" bIns="0">
            <a:spAutoFit/>
          </a:bodyPr>
          <a:lstStyle/>
          <a:p>
            <a:r>
              <a:rPr sz="791" b="1">
                <a:solidFill>
                  <a:srgbClr val="2E2E2E"/>
                </a:solidFill>
                <a:latin typeface="Calibri"/>
              </a:rPr>
              <a:t>Capsules and Softgels</a:t>
            </a:r>
          </a:p>
        </p:txBody>
      </p:sp>
      <p:pic>
        <p:nvPicPr>
          <p:cNvPr id="83" name="Picture 82" descr="lock.png"/>
          <p:cNvPicPr>
            <a:picLocks noChangeAspect="1"/>
          </p:cNvPicPr>
          <p:nvPr/>
        </p:nvPicPr>
        <p:blipFill>
          <a:blip r:embed="rId4"/>
          <a:stretch>
            <a:fillRect/>
          </a:stretch>
        </p:blipFill>
        <p:spPr>
          <a:xfrm>
            <a:off x="1771555" y="4643592"/>
            <a:ext cx="92663" cy="134782"/>
          </a:xfrm>
          <a:prstGeom prst="rect">
            <a:avLst/>
          </a:prstGeom>
        </p:spPr>
      </p:pic>
      <p:sp>
        <p:nvSpPr>
          <p:cNvPr id="84" name="TextBox 83"/>
          <p:cNvSpPr txBox="1"/>
          <p:nvPr/>
        </p:nvSpPr>
        <p:spPr>
          <a:xfrm>
            <a:off x="1301859" y="5293670"/>
            <a:ext cx="528435" cy="139750"/>
          </a:xfrm>
          <a:prstGeom prst="rect">
            <a:avLst/>
          </a:prstGeom>
          <a:noFill/>
        </p:spPr>
        <p:txBody>
          <a:bodyPr wrap="none" lIns="0" rIns="0" tIns="0" bIns="0">
            <a:spAutoFit/>
          </a:bodyPr>
          <a:lstStyle/>
          <a:p>
            <a:r>
              <a:rPr sz="791" b="1">
                <a:solidFill>
                  <a:srgbClr val="2E2E2E"/>
                </a:solidFill>
                <a:latin typeface="Calibri"/>
              </a:rPr>
              <a:t>Chewables</a:t>
            </a:r>
          </a:p>
        </p:txBody>
      </p:sp>
      <p:pic>
        <p:nvPicPr>
          <p:cNvPr id="85" name="Picture 84" descr="lock.png"/>
          <p:cNvPicPr>
            <a:picLocks noChangeAspect="1"/>
          </p:cNvPicPr>
          <p:nvPr/>
        </p:nvPicPr>
        <p:blipFill>
          <a:blip r:embed="rId4"/>
          <a:stretch>
            <a:fillRect/>
          </a:stretch>
        </p:blipFill>
        <p:spPr>
          <a:xfrm>
            <a:off x="1771555" y="5286629"/>
            <a:ext cx="92663" cy="134782"/>
          </a:xfrm>
          <a:prstGeom prst="rect">
            <a:avLst/>
          </a:prstGeom>
        </p:spPr>
      </p:pic>
      <p:sp>
        <p:nvSpPr>
          <p:cNvPr id="86" name="TextBox 85"/>
          <p:cNvSpPr txBox="1"/>
          <p:nvPr/>
        </p:nvSpPr>
        <p:spPr>
          <a:xfrm>
            <a:off x="1449985" y="5729096"/>
            <a:ext cx="380309" cy="139750"/>
          </a:xfrm>
          <a:prstGeom prst="rect">
            <a:avLst/>
          </a:prstGeom>
          <a:noFill/>
        </p:spPr>
        <p:txBody>
          <a:bodyPr wrap="none" lIns="0" rIns="0" tIns="0" bIns="0">
            <a:spAutoFit/>
          </a:bodyPr>
          <a:lstStyle/>
          <a:p>
            <a:r>
              <a:rPr sz="791" b="1">
                <a:solidFill>
                  <a:srgbClr val="2E2E2E"/>
                </a:solidFill>
                <a:latin typeface="Calibri"/>
              </a:rPr>
              <a:t>Tablets</a:t>
            </a:r>
          </a:p>
        </p:txBody>
      </p:sp>
      <p:pic>
        <p:nvPicPr>
          <p:cNvPr id="87" name="Picture 86" descr="lock.png"/>
          <p:cNvPicPr>
            <a:picLocks noChangeAspect="1"/>
          </p:cNvPicPr>
          <p:nvPr/>
        </p:nvPicPr>
        <p:blipFill>
          <a:blip r:embed="rId4"/>
          <a:stretch>
            <a:fillRect/>
          </a:stretch>
        </p:blipFill>
        <p:spPr>
          <a:xfrm>
            <a:off x="1771555" y="5722055"/>
            <a:ext cx="92663" cy="134782"/>
          </a:xfrm>
          <a:prstGeom prst="rect">
            <a:avLst/>
          </a:prstGeom>
        </p:spPr>
      </p:pic>
      <p:sp>
        <p:nvSpPr>
          <p:cNvPr id="88" name="TextBox 87"/>
          <p:cNvSpPr txBox="1"/>
          <p:nvPr/>
        </p:nvSpPr>
        <p:spPr>
          <a:xfrm>
            <a:off x="1102066" y="6063695"/>
            <a:ext cx="728227" cy="139750"/>
          </a:xfrm>
          <a:prstGeom prst="rect">
            <a:avLst/>
          </a:prstGeom>
          <a:noFill/>
        </p:spPr>
        <p:txBody>
          <a:bodyPr wrap="none" lIns="0" rIns="0" tIns="0" bIns="0">
            <a:spAutoFit/>
          </a:bodyPr>
          <a:lstStyle/>
          <a:p>
            <a:r>
              <a:rPr sz="791" b="1">
                <a:solidFill>
                  <a:srgbClr val="2E2E2E"/>
                </a:solidFill>
                <a:latin typeface="Calibri"/>
              </a:rPr>
              <a:t>Gels and Pastes</a:t>
            </a:r>
          </a:p>
        </p:txBody>
      </p:sp>
      <p:pic>
        <p:nvPicPr>
          <p:cNvPr id="89" name="Picture 88" descr="lock.png"/>
          <p:cNvPicPr>
            <a:picLocks noChangeAspect="1"/>
          </p:cNvPicPr>
          <p:nvPr/>
        </p:nvPicPr>
        <p:blipFill>
          <a:blip r:embed="rId4"/>
          <a:stretch>
            <a:fillRect/>
          </a:stretch>
        </p:blipFill>
        <p:spPr>
          <a:xfrm>
            <a:off x="1771555" y="6056654"/>
            <a:ext cx="92663" cy="134782"/>
          </a:xfrm>
          <a:prstGeom prst="rect">
            <a:avLst/>
          </a:prstGeom>
        </p:spPr>
      </p:pic>
      <p:sp>
        <p:nvSpPr>
          <p:cNvPr id="90" name="TextBox 89"/>
          <p:cNvSpPr txBox="1"/>
          <p:nvPr/>
        </p:nvSpPr>
        <p:spPr>
          <a:xfrm>
            <a:off x="1459807" y="6249962"/>
            <a:ext cx="370486" cy="139750"/>
          </a:xfrm>
          <a:prstGeom prst="rect">
            <a:avLst/>
          </a:prstGeom>
          <a:noFill/>
        </p:spPr>
        <p:txBody>
          <a:bodyPr wrap="none" lIns="0" rIns="0" tIns="0" bIns="0">
            <a:spAutoFit/>
          </a:bodyPr>
          <a:lstStyle/>
          <a:p>
            <a:r>
              <a:rPr sz="791" b="1">
                <a:solidFill>
                  <a:srgbClr val="2E2E2E"/>
                </a:solidFill>
                <a:latin typeface="Calibri"/>
              </a:rPr>
              <a:t>Liquids</a:t>
            </a:r>
          </a:p>
        </p:txBody>
      </p:sp>
      <p:pic>
        <p:nvPicPr>
          <p:cNvPr id="91" name="Picture 90" descr="lock.png"/>
          <p:cNvPicPr>
            <a:picLocks noChangeAspect="1"/>
          </p:cNvPicPr>
          <p:nvPr/>
        </p:nvPicPr>
        <p:blipFill>
          <a:blip r:embed="rId4"/>
          <a:stretch>
            <a:fillRect/>
          </a:stretch>
        </p:blipFill>
        <p:spPr>
          <a:xfrm>
            <a:off x="1771555" y="6242921"/>
            <a:ext cx="92663" cy="134782"/>
          </a:xfrm>
          <a:prstGeom prst="rect">
            <a:avLst/>
          </a:prstGeom>
        </p:spPr>
      </p:pic>
      <p:sp>
        <p:nvSpPr>
          <p:cNvPr id="92" name="TextBox 91"/>
          <p:cNvSpPr txBox="1"/>
          <p:nvPr/>
        </p:nvSpPr>
        <p:spPr>
          <a:xfrm>
            <a:off x="814459" y="6402362"/>
            <a:ext cx="1015835" cy="139750"/>
          </a:xfrm>
          <a:prstGeom prst="rect">
            <a:avLst/>
          </a:prstGeom>
          <a:noFill/>
        </p:spPr>
        <p:txBody>
          <a:bodyPr wrap="none" lIns="0" rIns="0" tIns="0" bIns="0">
            <a:spAutoFit/>
          </a:bodyPr>
          <a:lstStyle/>
          <a:p>
            <a:r>
              <a:rPr sz="791" b="1">
                <a:solidFill>
                  <a:srgbClr val="2E2E2E"/>
                </a:solidFill>
                <a:latin typeface="Calibri"/>
              </a:rPr>
              <a:t>Powders and Granules</a:t>
            </a:r>
          </a:p>
        </p:txBody>
      </p:sp>
      <p:pic>
        <p:nvPicPr>
          <p:cNvPr id="93" name="Picture 92" descr="lock.png"/>
          <p:cNvPicPr>
            <a:picLocks noChangeAspect="1"/>
          </p:cNvPicPr>
          <p:nvPr/>
        </p:nvPicPr>
        <p:blipFill>
          <a:blip r:embed="rId4"/>
          <a:stretch>
            <a:fillRect/>
          </a:stretch>
        </p:blipFill>
        <p:spPr>
          <a:xfrm>
            <a:off x="1771555" y="6395321"/>
            <a:ext cx="92663" cy="134782"/>
          </a:xfrm>
          <a:prstGeom prst="rect">
            <a:avLst/>
          </a:prstGeom>
        </p:spPr>
      </p:pic>
      <p:sp>
        <p:nvSpPr>
          <p:cNvPr id="94" name="TextBox 93"/>
          <p:cNvSpPr txBox="1"/>
          <p:nvPr/>
        </p:nvSpPr>
        <p:spPr>
          <a:xfrm>
            <a:off x="5972175" y="4421178"/>
            <a:ext cx="1058858" cy="139750"/>
          </a:xfrm>
          <a:prstGeom prst="rect">
            <a:avLst/>
          </a:prstGeom>
          <a:noFill/>
        </p:spPr>
        <p:txBody>
          <a:bodyPr wrap="none" lIns="0" rIns="0" tIns="0" bIns="0">
            <a:spAutoFit/>
          </a:bodyPr>
          <a:lstStyle/>
          <a:p>
            <a:r>
              <a:rPr sz="791" b="1">
                <a:solidFill>
                  <a:srgbClr val="2E2E2E"/>
                </a:solidFill>
                <a:latin typeface="Calibri"/>
              </a:rPr>
              <a:t>Cellular Energy Support</a:t>
            </a:r>
          </a:p>
        </p:txBody>
      </p:sp>
      <p:sp>
        <p:nvSpPr>
          <p:cNvPr id="95" name="TextBox 94"/>
          <p:cNvSpPr txBox="1"/>
          <p:nvPr/>
        </p:nvSpPr>
        <p:spPr>
          <a:xfrm>
            <a:off x="5972175" y="4541879"/>
            <a:ext cx="549848" cy="139750"/>
          </a:xfrm>
          <a:prstGeom prst="rect">
            <a:avLst/>
          </a:prstGeom>
          <a:noFill/>
        </p:spPr>
        <p:txBody>
          <a:bodyPr wrap="none" lIns="0" rIns="0" tIns="0" bIns="0">
            <a:spAutoFit/>
          </a:bodyPr>
          <a:lstStyle/>
          <a:p>
            <a:r>
              <a:rPr sz="791" b="1">
                <a:solidFill>
                  <a:srgbClr val="2E2E2E"/>
                </a:solidFill>
                <a:latin typeface="Calibri"/>
              </a:rPr>
              <a:t>Ingredients</a:t>
            </a:r>
          </a:p>
        </p:txBody>
      </p:sp>
      <p:pic>
        <p:nvPicPr>
          <p:cNvPr id="96" name="Picture 95" descr="lock.png"/>
          <p:cNvPicPr>
            <a:picLocks noChangeAspect="1"/>
          </p:cNvPicPr>
          <p:nvPr/>
        </p:nvPicPr>
        <p:blipFill>
          <a:blip r:embed="rId4"/>
          <a:stretch>
            <a:fillRect/>
          </a:stretch>
        </p:blipFill>
        <p:spPr>
          <a:xfrm>
            <a:off x="6463284" y="4534838"/>
            <a:ext cx="92663" cy="134782"/>
          </a:xfrm>
          <a:prstGeom prst="rect">
            <a:avLst/>
          </a:prstGeom>
        </p:spPr>
      </p:pic>
      <p:sp>
        <p:nvSpPr>
          <p:cNvPr id="97" name="TextBox 96"/>
          <p:cNvSpPr txBox="1"/>
          <p:nvPr/>
        </p:nvSpPr>
        <p:spPr>
          <a:xfrm>
            <a:off x="5972175" y="4987296"/>
            <a:ext cx="1064948" cy="139750"/>
          </a:xfrm>
          <a:prstGeom prst="rect">
            <a:avLst/>
          </a:prstGeom>
          <a:noFill/>
        </p:spPr>
        <p:txBody>
          <a:bodyPr wrap="none" lIns="0" rIns="0" tIns="0" bIns="0">
            <a:spAutoFit/>
          </a:bodyPr>
          <a:lstStyle/>
          <a:p>
            <a:r>
              <a:rPr sz="791" b="1">
                <a:solidFill>
                  <a:srgbClr val="2E2E2E"/>
                </a:solidFill>
                <a:latin typeface="Calibri"/>
              </a:rPr>
              <a:t>Antioxidant Ingredients</a:t>
            </a:r>
          </a:p>
        </p:txBody>
      </p:sp>
      <p:pic>
        <p:nvPicPr>
          <p:cNvPr id="98" name="Picture 97" descr="lock.png"/>
          <p:cNvPicPr>
            <a:picLocks noChangeAspect="1"/>
          </p:cNvPicPr>
          <p:nvPr/>
        </p:nvPicPr>
        <p:blipFill>
          <a:blip r:embed="rId4"/>
          <a:stretch>
            <a:fillRect/>
          </a:stretch>
        </p:blipFill>
        <p:spPr>
          <a:xfrm>
            <a:off x="6978384" y="4980255"/>
            <a:ext cx="92663" cy="134782"/>
          </a:xfrm>
          <a:prstGeom prst="rect">
            <a:avLst/>
          </a:prstGeom>
        </p:spPr>
      </p:pic>
      <p:sp>
        <p:nvSpPr>
          <p:cNvPr id="99" name="TextBox 98"/>
          <p:cNvSpPr txBox="1"/>
          <p:nvPr/>
        </p:nvSpPr>
        <p:spPr>
          <a:xfrm>
            <a:off x="5972175" y="5435854"/>
            <a:ext cx="937014" cy="139750"/>
          </a:xfrm>
          <a:prstGeom prst="rect">
            <a:avLst/>
          </a:prstGeom>
          <a:noFill/>
        </p:spPr>
        <p:txBody>
          <a:bodyPr wrap="none" lIns="0" rIns="0" tIns="0" bIns="0">
            <a:spAutoFit/>
          </a:bodyPr>
          <a:lstStyle/>
          <a:p>
            <a:r>
              <a:rPr sz="791" b="1">
                <a:solidFill>
                  <a:srgbClr val="2E2E2E"/>
                </a:solidFill>
                <a:latin typeface="Calibri"/>
              </a:rPr>
              <a:t>Omega-3 Fatty Acids</a:t>
            </a:r>
          </a:p>
        </p:txBody>
      </p:sp>
      <p:pic>
        <p:nvPicPr>
          <p:cNvPr id="100" name="Picture 99" descr="lock.png"/>
          <p:cNvPicPr>
            <a:picLocks noChangeAspect="1"/>
          </p:cNvPicPr>
          <p:nvPr/>
        </p:nvPicPr>
        <p:blipFill>
          <a:blip r:embed="rId4"/>
          <a:stretch>
            <a:fillRect/>
          </a:stretch>
        </p:blipFill>
        <p:spPr>
          <a:xfrm>
            <a:off x="6850450" y="5428813"/>
            <a:ext cx="92663" cy="134782"/>
          </a:xfrm>
          <a:prstGeom prst="rect">
            <a:avLst/>
          </a:prstGeom>
        </p:spPr>
      </p:pic>
      <p:sp>
        <p:nvSpPr>
          <p:cNvPr id="101" name="TextBox 100"/>
          <p:cNvSpPr txBox="1"/>
          <p:nvPr/>
        </p:nvSpPr>
        <p:spPr>
          <a:xfrm>
            <a:off x="5972175" y="5736818"/>
            <a:ext cx="990492" cy="139750"/>
          </a:xfrm>
          <a:prstGeom prst="rect">
            <a:avLst/>
          </a:prstGeom>
          <a:noFill/>
        </p:spPr>
        <p:txBody>
          <a:bodyPr wrap="none" lIns="0" rIns="0" tIns="0" bIns="0">
            <a:spAutoFit/>
          </a:bodyPr>
          <a:lstStyle/>
          <a:p>
            <a:r>
              <a:rPr sz="791" b="1">
                <a:solidFill>
                  <a:srgbClr val="2E2E2E"/>
                </a:solidFill>
                <a:latin typeface="Calibri"/>
              </a:rPr>
              <a:t>Microbiome-Targeted</a:t>
            </a:r>
          </a:p>
        </p:txBody>
      </p:sp>
      <p:sp>
        <p:nvSpPr>
          <p:cNvPr id="102" name="TextBox 101"/>
          <p:cNvSpPr txBox="1"/>
          <p:nvPr/>
        </p:nvSpPr>
        <p:spPr>
          <a:xfrm>
            <a:off x="5972175" y="5857519"/>
            <a:ext cx="549848" cy="139750"/>
          </a:xfrm>
          <a:prstGeom prst="rect">
            <a:avLst/>
          </a:prstGeom>
          <a:noFill/>
        </p:spPr>
        <p:txBody>
          <a:bodyPr wrap="none" lIns="0" rIns="0" tIns="0" bIns="0">
            <a:spAutoFit/>
          </a:bodyPr>
          <a:lstStyle/>
          <a:p>
            <a:r>
              <a:rPr sz="791" b="1">
                <a:solidFill>
                  <a:srgbClr val="2E2E2E"/>
                </a:solidFill>
                <a:latin typeface="Calibri"/>
              </a:rPr>
              <a:t>Ingredients</a:t>
            </a:r>
          </a:p>
        </p:txBody>
      </p:sp>
      <p:pic>
        <p:nvPicPr>
          <p:cNvPr id="103" name="Picture 102" descr="lock.png"/>
          <p:cNvPicPr>
            <a:picLocks noChangeAspect="1"/>
          </p:cNvPicPr>
          <p:nvPr/>
        </p:nvPicPr>
        <p:blipFill>
          <a:blip r:embed="rId4"/>
          <a:stretch>
            <a:fillRect/>
          </a:stretch>
        </p:blipFill>
        <p:spPr>
          <a:xfrm>
            <a:off x="6463284" y="5850478"/>
            <a:ext cx="92663" cy="134782"/>
          </a:xfrm>
          <a:prstGeom prst="rect">
            <a:avLst/>
          </a:prstGeom>
        </p:spPr>
      </p:pic>
      <p:sp>
        <p:nvSpPr>
          <p:cNvPr id="104" name="TextBox 103"/>
          <p:cNvSpPr txBox="1"/>
          <p:nvPr/>
        </p:nvSpPr>
        <p:spPr>
          <a:xfrm>
            <a:off x="5972175" y="6096088"/>
            <a:ext cx="962989" cy="139750"/>
          </a:xfrm>
          <a:prstGeom prst="rect">
            <a:avLst/>
          </a:prstGeom>
          <a:noFill/>
        </p:spPr>
        <p:txBody>
          <a:bodyPr wrap="none" lIns="0" rIns="0" tIns="0" bIns="0">
            <a:spAutoFit/>
          </a:bodyPr>
          <a:lstStyle/>
          <a:p>
            <a:r>
              <a:rPr sz="791" b="1">
                <a:solidFill>
                  <a:srgbClr val="2E2E2E"/>
                </a:solidFill>
                <a:latin typeface="Calibri"/>
              </a:rPr>
              <a:t>Botanical Ingredients</a:t>
            </a:r>
          </a:p>
        </p:txBody>
      </p:sp>
      <p:pic>
        <p:nvPicPr>
          <p:cNvPr id="105" name="Picture 104" descr="lock.png"/>
          <p:cNvPicPr>
            <a:picLocks noChangeAspect="1"/>
          </p:cNvPicPr>
          <p:nvPr/>
        </p:nvPicPr>
        <p:blipFill>
          <a:blip r:embed="rId4"/>
          <a:stretch>
            <a:fillRect/>
          </a:stretch>
        </p:blipFill>
        <p:spPr>
          <a:xfrm>
            <a:off x="6876425" y="6089047"/>
            <a:ext cx="92663" cy="134782"/>
          </a:xfrm>
          <a:prstGeom prst="rect">
            <a:avLst/>
          </a:prstGeom>
        </p:spPr>
      </p:pic>
      <p:sp>
        <p:nvSpPr>
          <p:cNvPr id="106" name="TextBox 105"/>
          <p:cNvSpPr txBox="1"/>
          <p:nvPr/>
        </p:nvSpPr>
        <p:spPr>
          <a:xfrm>
            <a:off x="5972175" y="6349974"/>
            <a:ext cx="1179284" cy="139750"/>
          </a:xfrm>
          <a:prstGeom prst="rect">
            <a:avLst/>
          </a:prstGeom>
          <a:noFill/>
        </p:spPr>
        <p:txBody>
          <a:bodyPr wrap="none" lIns="0" rIns="0" tIns="0" bIns="0">
            <a:spAutoFit/>
          </a:bodyPr>
          <a:lstStyle/>
          <a:p>
            <a:r>
              <a:rPr sz="791" b="1">
                <a:solidFill>
                  <a:srgbClr val="2E2E2E"/>
                </a:solidFill>
                <a:latin typeface="Calibri"/>
              </a:rPr>
              <a:t>Neurofunctional Nutrients</a:t>
            </a:r>
          </a:p>
        </p:txBody>
      </p:sp>
      <p:pic>
        <p:nvPicPr>
          <p:cNvPr id="107" name="Picture 106" descr="lock.png"/>
          <p:cNvPicPr>
            <a:picLocks noChangeAspect="1"/>
          </p:cNvPicPr>
          <p:nvPr/>
        </p:nvPicPr>
        <p:blipFill>
          <a:blip r:embed="rId4"/>
          <a:stretch>
            <a:fillRect/>
          </a:stretch>
        </p:blipFill>
        <p:spPr>
          <a:xfrm>
            <a:off x="7092720" y="6342933"/>
            <a:ext cx="92663" cy="134782"/>
          </a:xfrm>
          <a:prstGeom prst="rect">
            <a:avLst/>
          </a:prstGeom>
        </p:spPr>
      </p:pic>
      <p:sp>
        <p:nvSpPr>
          <p:cNvPr id="108" name="TextBox 107"/>
          <p:cNvSpPr txBox="1"/>
          <p:nvPr/>
        </p:nvSpPr>
        <p:spPr>
          <a:xfrm>
            <a:off x="7715250" y="4410075"/>
            <a:ext cx="3984525" cy="186689"/>
          </a:xfrm>
          <a:prstGeom prst="rect">
            <a:avLst/>
          </a:prstGeom>
          <a:noFill/>
        </p:spPr>
        <p:txBody>
          <a:bodyPr wrap="none" lIns="0" rIns="0" tIns="0" bIns="0">
            <a:spAutoFit/>
          </a:bodyPr>
          <a:lstStyle/>
          <a:p>
            <a:r>
              <a:rPr sz="1100" b="0">
                <a:solidFill>
                  <a:srgbClr val="2E2E2E"/>
                </a:solidFill>
                <a:latin typeface="Calibri"/>
              </a:rPr>
              <a:t>Capsules and softgels segment is projected to account for the largest</a:t>
            </a:r>
          </a:p>
        </p:txBody>
      </p:sp>
      <p:sp>
        <p:nvSpPr>
          <p:cNvPr id="109" name="TextBox 108"/>
          <p:cNvSpPr txBox="1"/>
          <p:nvPr/>
        </p:nvSpPr>
        <p:spPr>
          <a:xfrm>
            <a:off x="7715250" y="4577715"/>
            <a:ext cx="4171950" cy="186689"/>
          </a:xfrm>
          <a:prstGeom prst="rect">
            <a:avLst/>
          </a:prstGeom>
          <a:noFill/>
        </p:spPr>
        <p:txBody>
          <a:bodyPr wrap="none" lIns="0" rIns="0" tIns="0" bIns="0">
            <a:spAutoFit/>
          </a:bodyPr>
          <a:lstStyle/>
          <a:p>
            <a:r>
              <a:rPr sz="1100" b="0">
                <a:solidFill>
                  <a:srgbClr val="2E2E2E"/>
                </a:solidFill>
                <a:latin typeface="Calibri"/>
              </a:rPr>
              <a:t>share of the North America senior dog cognitive supplement market, led</a:t>
            </a:r>
          </a:p>
        </p:txBody>
      </p:sp>
      <p:sp>
        <p:nvSpPr>
          <p:cNvPr id="110" name="TextBox 109"/>
          <p:cNvSpPr txBox="1"/>
          <p:nvPr/>
        </p:nvSpPr>
        <p:spPr>
          <a:xfrm>
            <a:off x="7715250" y="4745355"/>
            <a:ext cx="1964332" cy="186689"/>
          </a:xfrm>
          <a:prstGeom prst="rect">
            <a:avLst/>
          </a:prstGeom>
          <a:noFill/>
        </p:spPr>
        <p:txBody>
          <a:bodyPr wrap="none" lIns="0" rIns="0" tIns="0" bIns="0">
            <a:spAutoFit/>
          </a:bodyPr>
          <a:lstStyle/>
          <a:p>
            <a:r>
              <a:rPr sz="1100" b="0">
                <a:solidFill>
                  <a:srgbClr val="2E2E2E"/>
                </a:solidFill>
                <a:latin typeface="Calibri"/>
              </a:rPr>
              <a:t>by antioxidant ingredients at US$</a:t>
            </a:r>
          </a:p>
        </p:txBody>
      </p:sp>
      <p:pic>
        <p:nvPicPr>
          <p:cNvPr id="111" name="Picture 110" descr="lock.png"/>
          <p:cNvPicPr>
            <a:picLocks noChangeAspect="1"/>
          </p:cNvPicPr>
          <p:nvPr/>
        </p:nvPicPr>
        <p:blipFill>
          <a:blip r:embed="rId4"/>
          <a:stretch>
            <a:fillRect/>
          </a:stretch>
        </p:blipFill>
        <p:spPr>
          <a:xfrm>
            <a:off x="9627634" y="4735576"/>
            <a:ext cx="128699" cy="187198"/>
          </a:xfrm>
          <a:prstGeom prst="rect">
            <a:avLst/>
          </a:prstGeom>
        </p:spPr>
      </p:pic>
      <p:sp>
        <p:nvSpPr>
          <p:cNvPr id="112" name="TextBox 111"/>
          <p:cNvSpPr txBox="1"/>
          <p:nvPr/>
        </p:nvSpPr>
        <p:spPr>
          <a:xfrm>
            <a:off x="9795130" y="4745355"/>
            <a:ext cx="2044824" cy="186689"/>
          </a:xfrm>
          <a:prstGeom prst="rect">
            <a:avLst/>
          </a:prstGeom>
          <a:noFill/>
        </p:spPr>
        <p:txBody>
          <a:bodyPr wrap="none" lIns="0" rIns="0" tIns="0" bIns="0">
            <a:spAutoFit/>
          </a:bodyPr>
          <a:lstStyle/>
          <a:p>
            <a:r>
              <a:rPr sz="1100" b="0">
                <a:solidFill>
                  <a:srgbClr val="2E2E2E"/>
                </a:solidFill>
                <a:latin typeface="Calibri"/>
              </a:rPr>
              <a:t>Mn in 2036. 'Capsules and Softgels</a:t>
            </a:r>
          </a:p>
        </p:txBody>
      </p:sp>
      <p:sp>
        <p:nvSpPr>
          <p:cNvPr id="113" name="TextBox 112"/>
          <p:cNvSpPr txBox="1"/>
          <p:nvPr/>
        </p:nvSpPr>
        <p:spPr>
          <a:xfrm>
            <a:off x="7715250" y="4912995"/>
            <a:ext cx="3831456" cy="186689"/>
          </a:xfrm>
          <a:prstGeom prst="rect">
            <a:avLst/>
          </a:prstGeom>
          <a:noFill/>
        </p:spPr>
        <p:txBody>
          <a:bodyPr wrap="none" lIns="0" rIns="0" tIns="0" bIns="0">
            <a:spAutoFit/>
          </a:bodyPr>
          <a:lstStyle/>
          <a:p>
            <a:r>
              <a:rPr sz="1100" b="0">
                <a:solidFill>
                  <a:srgbClr val="2E2E2E"/>
                </a:solidFill>
                <a:latin typeface="Calibri"/>
              </a:rPr>
              <a:t>× Antioxidant Ingredients' is the single largest cross-sectional cell (</a:t>
            </a:r>
          </a:p>
        </p:txBody>
      </p:sp>
      <p:pic>
        <p:nvPicPr>
          <p:cNvPr id="114" name="Picture 113" descr="lock.png"/>
          <p:cNvPicPr>
            <a:picLocks noChangeAspect="1"/>
          </p:cNvPicPr>
          <p:nvPr/>
        </p:nvPicPr>
        <p:blipFill>
          <a:blip r:embed="rId4"/>
          <a:stretch>
            <a:fillRect/>
          </a:stretch>
        </p:blipFill>
        <p:spPr>
          <a:xfrm>
            <a:off x="11494757" y="4903216"/>
            <a:ext cx="128699" cy="187198"/>
          </a:xfrm>
          <a:prstGeom prst="rect">
            <a:avLst/>
          </a:prstGeom>
        </p:spPr>
      </p:pic>
      <p:sp>
        <p:nvSpPr>
          <p:cNvPr id="115" name="TextBox 114"/>
          <p:cNvSpPr txBox="1"/>
          <p:nvPr/>
        </p:nvSpPr>
        <p:spPr>
          <a:xfrm>
            <a:off x="7715250" y="5080635"/>
            <a:ext cx="4171950" cy="186689"/>
          </a:xfrm>
          <a:prstGeom prst="rect">
            <a:avLst/>
          </a:prstGeom>
          <a:noFill/>
        </p:spPr>
        <p:txBody>
          <a:bodyPr wrap="none" lIns="0" rIns="0" tIns="0" bIns="0">
            <a:spAutoFit/>
          </a:bodyPr>
          <a:lstStyle/>
          <a:p>
            <a:r>
              <a:rPr sz="1100" b="0">
                <a:solidFill>
                  <a:srgbClr val="2E2E2E"/>
                </a:solidFill>
                <a:latin typeface="Calibri"/>
              </a:rPr>
              <a:t>US$ Mn, 2026E), while 'Chewables × Antioxidant Ingredients' records the</a:t>
            </a:r>
          </a:p>
        </p:txBody>
      </p:sp>
      <p:sp>
        <p:nvSpPr>
          <p:cNvPr id="116" name="TextBox 115"/>
          <p:cNvSpPr txBox="1"/>
          <p:nvPr/>
        </p:nvSpPr>
        <p:spPr>
          <a:xfrm>
            <a:off x="7715250" y="5248275"/>
            <a:ext cx="1640986" cy="186689"/>
          </a:xfrm>
          <a:prstGeom prst="rect">
            <a:avLst/>
          </a:prstGeom>
          <a:noFill/>
        </p:spPr>
        <p:txBody>
          <a:bodyPr wrap="none" lIns="0" rIns="0" tIns="0" bIns="0">
            <a:spAutoFit/>
          </a:bodyPr>
          <a:lstStyle/>
          <a:p>
            <a:r>
              <a:rPr sz="1100" b="0">
                <a:solidFill>
                  <a:srgbClr val="2E2E2E"/>
                </a:solidFill>
                <a:latin typeface="Calibri"/>
              </a:rPr>
              <a:t>fastest growth at a CAGR of</a:t>
            </a:r>
          </a:p>
        </p:txBody>
      </p:sp>
      <p:pic>
        <p:nvPicPr>
          <p:cNvPr id="117" name="Picture 116" descr="lock.png"/>
          <p:cNvPicPr>
            <a:picLocks noChangeAspect="1"/>
          </p:cNvPicPr>
          <p:nvPr/>
        </p:nvPicPr>
        <p:blipFill>
          <a:blip r:embed="rId4"/>
          <a:stretch>
            <a:fillRect/>
          </a:stretch>
        </p:blipFill>
        <p:spPr>
          <a:xfrm>
            <a:off x="9304288" y="5238496"/>
            <a:ext cx="128699" cy="187198"/>
          </a:xfrm>
          <a:prstGeom prst="rect">
            <a:avLst/>
          </a:prstGeom>
        </p:spPr>
      </p:pic>
      <p:sp>
        <p:nvSpPr>
          <p:cNvPr id="118" name="TextBox 117"/>
          <p:cNvSpPr txBox="1"/>
          <p:nvPr/>
        </p:nvSpPr>
        <p:spPr>
          <a:xfrm>
            <a:off x="9471784" y="5248275"/>
            <a:ext cx="1167401" cy="186689"/>
          </a:xfrm>
          <a:prstGeom prst="rect">
            <a:avLst/>
          </a:prstGeom>
          <a:noFill/>
        </p:spPr>
        <p:txBody>
          <a:bodyPr wrap="none" lIns="0" rIns="0" tIns="0" bIns="0">
            <a:spAutoFit/>
          </a:bodyPr>
          <a:lstStyle/>
          <a:p>
            <a:r>
              <a:rPr sz="1100" b="0">
                <a:solidFill>
                  <a:srgbClr val="2E2E2E"/>
                </a:solidFill>
                <a:latin typeface="Calibri"/>
              </a:rPr>
              <a:t>over 2026E–2036F.</a:t>
            </a:r>
          </a:p>
        </p:txBody>
      </p:sp>
      <p:sp>
        <p:nvSpPr>
          <p:cNvPr id="119" name="TextBox 118"/>
          <p:cNvSpPr txBox="1"/>
          <p:nvPr/>
        </p:nvSpPr>
        <p:spPr>
          <a:xfrm>
            <a:off x="7715250" y="5466207"/>
            <a:ext cx="4154239" cy="186689"/>
          </a:xfrm>
          <a:prstGeom prst="rect">
            <a:avLst/>
          </a:prstGeom>
          <a:noFill/>
        </p:spPr>
        <p:txBody>
          <a:bodyPr wrap="none" lIns="0" rIns="0" tIns="0" bIns="0">
            <a:spAutoFit/>
          </a:bodyPr>
          <a:lstStyle/>
          <a:p>
            <a:r>
              <a:rPr sz="1100" b="0">
                <a:solidFill>
                  <a:srgbClr val="2E2E2E"/>
                </a:solidFill>
                <a:latin typeface="Calibri"/>
              </a:rPr>
              <a:t>Combined, the top three form type × active ingredient cells generate an</a:t>
            </a:r>
          </a:p>
        </p:txBody>
      </p:sp>
      <p:sp>
        <p:nvSpPr>
          <p:cNvPr id="120" name="TextBox 119"/>
          <p:cNvSpPr txBox="1"/>
          <p:nvPr/>
        </p:nvSpPr>
        <p:spPr>
          <a:xfrm>
            <a:off x="7715250" y="5633847"/>
            <a:ext cx="1528043" cy="186689"/>
          </a:xfrm>
          <a:prstGeom prst="rect">
            <a:avLst/>
          </a:prstGeom>
          <a:noFill/>
        </p:spPr>
        <p:txBody>
          <a:bodyPr wrap="none" lIns="0" rIns="0" tIns="0" bIns="0">
            <a:spAutoFit/>
          </a:bodyPr>
          <a:lstStyle/>
          <a:p>
            <a:r>
              <a:rPr sz="1100" b="0">
                <a:solidFill>
                  <a:srgbClr val="2E2E2E"/>
                </a:solidFill>
                <a:latin typeface="Calibri"/>
              </a:rPr>
              <a:t>absolute $ opportunity of</a:t>
            </a:r>
          </a:p>
        </p:txBody>
      </p:sp>
      <p:pic>
        <p:nvPicPr>
          <p:cNvPr id="121" name="Picture 120" descr="lock.png"/>
          <p:cNvPicPr>
            <a:picLocks noChangeAspect="1"/>
          </p:cNvPicPr>
          <p:nvPr/>
        </p:nvPicPr>
        <p:blipFill>
          <a:blip r:embed="rId4"/>
          <a:stretch>
            <a:fillRect/>
          </a:stretch>
        </p:blipFill>
        <p:spPr>
          <a:xfrm>
            <a:off x="9191344" y="5624068"/>
            <a:ext cx="128699" cy="187198"/>
          </a:xfrm>
          <a:prstGeom prst="rect">
            <a:avLst/>
          </a:prstGeom>
        </p:spPr>
      </p:pic>
      <p:sp>
        <p:nvSpPr>
          <p:cNvPr id="122" name="TextBox 121"/>
          <p:cNvSpPr txBox="1"/>
          <p:nvPr/>
        </p:nvSpPr>
        <p:spPr>
          <a:xfrm>
            <a:off x="9358840" y="5633847"/>
            <a:ext cx="1108465" cy="186689"/>
          </a:xfrm>
          <a:prstGeom prst="rect">
            <a:avLst/>
          </a:prstGeom>
          <a:noFill/>
        </p:spPr>
        <p:txBody>
          <a:bodyPr wrap="none" lIns="0" rIns="0" tIns="0" bIns="0">
            <a:spAutoFit/>
          </a:bodyPr>
          <a:lstStyle/>
          <a:p>
            <a:r>
              <a:rPr sz="1100" b="0">
                <a:solidFill>
                  <a:srgbClr val="2E2E2E"/>
                </a:solidFill>
                <a:latin typeface="Calibri"/>
              </a:rPr>
              <a:t>US$ Mn by 2036F.</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Share Analysis: Form Type × Active Ingredient, 2026E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North America market value, each row split across all active ingredient sub-segments</a:t>
            </a:r>
          </a:p>
        </p:txBody>
      </p:sp>
      <p:sp>
        <p:nvSpPr>
          <p:cNvPr id="10" name="Rounded Rectangle 9"/>
          <p:cNvSpPr/>
          <p:nvPr/>
        </p:nvSpPr>
        <p:spPr>
          <a:xfrm>
            <a:off x="142875" y="981075"/>
            <a:ext cx="11906250" cy="2628900"/>
          </a:xfrm>
          <a:prstGeom prst="roundRect">
            <a:avLst>
              <a:gd name="adj" fmla="val 28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Share, Form Type × Active Ingredient, 2026E (% of each row)</a:t>
            </a:r>
          </a:p>
        </p:txBody>
      </p:sp>
      <p:graphicFrame>
        <p:nvGraphicFramePr>
          <p:cNvPr id="12" name="Table 11"/>
          <p:cNvGraphicFramePr>
            <a:graphicFrameLocks noGrp="1"/>
          </p:cNvGraphicFramePr>
          <p:nvPr/>
        </p:nvGraphicFramePr>
        <p:xfrm>
          <a:off x="152400" y="1238250"/>
          <a:ext cx="11889153" cy="2162172"/>
        </p:xfrm>
        <a:graphic>
          <a:graphicData uri="http://schemas.openxmlformats.org/drawingml/2006/table">
            <a:tbl>
              <a:tblPr>
                <a:tableStyleId>{5C22544A-7EE6-4342-B048-85BDC9FD1C3A}</a:tableStyleId>
              </a:tblPr>
              <a:tblGrid>
                <a:gridCol w="1498600"/>
                <a:gridCol w="1274888"/>
                <a:gridCol w="1464428"/>
                <a:gridCol w="1639852"/>
                <a:gridCol w="2109865"/>
                <a:gridCol w="1327823"/>
                <a:gridCol w="2029891"/>
                <a:gridCol w="543806"/>
              </a:tblGrid>
              <a:tr h="438912">
                <a:tc>
                  <a:txBody>
                    <a:bodyPr wrap="none"/>
                    <a:lstStyle/>
                    <a:p>
                      <a:pPr algn="l"/>
                      <a:r>
                        <a:rPr sz="1100" b="1">
                          <a:solidFill>
                            <a:srgbClr val="0B2E4A"/>
                          </a:solidFill>
                          <a:latin typeface="Calibri"/>
                        </a:rPr>
                        <a:t>Form Type</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Omega-3 Fatty Acids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Antioxidant Ingredients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Neurofunctional Nutrients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Cellular Energy Support Ingredients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Botanical Ingredients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Microbiome-Targeted Ingredients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6180">
                <a:tc>
                  <a:txBody>
                    <a:bodyPr wrap="none"/>
                    <a:lstStyle/>
                    <a:p>
                      <a:pPr algn="l"/>
                      <a:r>
                        <a:rPr sz="1100" b="1">
                          <a:solidFill>
                            <a:srgbClr val="2E2E2E"/>
                          </a:solidFill>
                          <a:latin typeface="Calibri"/>
                        </a:rPr>
                        <a:t>Chewables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80">
                <a:tc>
                  <a:txBody>
                    <a:bodyPr wrap="none"/>
                    <a:lstStyle/>
                    <a:p>
                      <a:pPr algn="l"/>
                      <a:r>
                        <a:rPr sz="1100" b="1">
                          <a:solidFill>
                            <a:srgbClr val="2E2E2E"/>
                          </a:solidFill>
                          <a:latin typeface="Calibri"/>
                        </a:rPr>
                        <a:t>Tablets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80">
                <a:tc>
                  <a:txBody>
                    <a:bodyPr wrap="none"/>
                    <a:lstStyle/>
                    <a:p>
                      <a:pPr algn="l"/>
                      <a:r>
                        <a:rPr sz="1100" b="1">
                          <a:solidFill>
                            <a:srgbClr val="2E2E2E"/>
                          </a:solidFill>
                          <a:latin typeface="Calibri"/>
                        </a:rPr>
                        <a:t>Capsules and Softgels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80">
                <a:tc>
                  <a:txBody>
                    <a:bodyPr wrap="none"/>
                    <a:lstStyle/>
                    <a:p>
                      <a:pPr algn="l"/>
                      <a:r>
                        <a:rPr sz="1100" b="1">
                          <a:solidFill>
                            <a:srgbClr val="2E2E2E"/>
                          </a:solidFill>
                          <a:latin typeface="Calibri"/>
                        </a:rPr>
                        <a:t>Powders and Granules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80">
                <a:tc>
                  <a:txBody>
                    <a:bodyPr wrap="none"/>
                    <a:lstStyle/>
                    <a:p>
                      <a:pPr algn="l"/>
                      <a:r>
                        <a:rPr sz="1100" b="1">
                          <a:solidFill>
                            <a:srgbClr val="2E2E2E"/>
                          </a:solidFill>
                          <a:latin typeface="Calibri"/>
                        </a:rPr>
                        <a:t>Liquids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80">
                <a:tc>
                  <a:txBody>
                    <a:bodyPr wrap="none"/>
                    <a:lstStyle/>
                    <a:p>
                      <a:pPr algn="l"/>
                      <a:r>
                        <a:rPr sz="1100" b="1">
                          <a:solidFill>
                            <a:srgbClr val="2E2E2E"/>
                          </a:solidFill>
                          <a:latin typeface="Calibri"/>
                        </a:rPr>
                        <a:t>Gels and Pastes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8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4099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743325"/>
            <a:ext cx="7286625" cy="2886075"/>
          </a:xfrm>
          <a:prstGeom prst="roundRect">
            <a:avLst>
              <a:gd name="adj" fmla="val 2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80047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Active Ingredient Mix by Form Type, 2026E (% share)</a:t>
            </a:r>
          </a:p>
        </p:txBody>
      </p:sp>
      <p:graphicFrame>
        <p:nvGraphicFramePr>
          <p:cNvPr id="16" name="Chart 15"/>
          <p:cNvGraphicFramePr>
            <a:graphicFrameLocks noGrp="1"/>
          </p:cNvGraphicFramePr>
          <p:nvPr/>
        </p:nvGraphicFramePr>
        <p:xfrm>
          <a:off x="238125" y="4029075"/>
          <a:ext cx="7096125" cy="2543175"/>
        </p:xfrm>
        <a:graphic>
          <a:graphicData uri="http://schemas.openxmlformats.org/drawingml/2006/chart">
            <c:chart xmlns:c="http://schemas.openxmlformats.org/drawingml/2006/chart" r:id="rId3"/>
          </a:graphicData>
        </a:graphic>
      </p:graphicFrame>
      <p:sp>
        <p:nvSpPr>
          <p:cNvPr id="17" name="Rounded Rectangle 16"/>
          <p:cNvSpPr/>
          <p:nvPr/>
        </p:nvSpPr>
        <p:spPr>
          <a:xfrm>
            <a:off x="7581900" y="3743325"/>
            <a:ext cx="4457700" cy="2886075"/>
          </a:xfrm>
          <a:prstGeom prst="roundRect">
            <a:avLst>
              <a:gd name="adj" fmla="val 2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5250" y="3829050"/>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9" name="Rectangle 18"/>
          <p:cNvSpPr/>
          <p:nvPr/>
        </p:nvSpPr>
        <p:spPr>
          <a:xfrm>
            <a:off x="7715250" y="406717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5250" y="4152900"/>
            <a:ext cx="4191000" cy="2400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6639864" y="2272092"/>
            <a:ext cx="366712" cy="533400"/>
          </a:xfrm>
          <a:prstGeom prst="rect">
            <a:avLst/>
          </a:prstGeom>
        </p:spPr>
      </p:pic>
      <p:pic>
        <p:nvPicPr>
          <p:cNvPr id="23" name="Picture 22" descr="lock.png"/>
          <p:cNvPicPr>
            <a:picLocks noChangeAspect="1"/>
          </p:cNvPicPr>
          <p:nvPr/>
        </p:nvPicPr>
        <p:blipFill>
          <a:blip r:embed="rId5"/>
          <a:stretch>
            <a:fillRect/>
          </a:stretch>
        </p:blipFill>
        <p:spPr>
          <a:xfrm>
            <a:off x="3775138" y="4568380"/>
            <a:ext cx="311705" cy="453389"/>
          </a:xfrm>
          <a:prstGeom prst="rect">
            <a:avLst/>
          </a:prstGeom>
        </p:spPr>
      </p:pic>
      <p:sp>
        <p:nvSpPr>
          <p:cNvPr id="24" name="TextBox 23"/>
          <p:cNvSpPr txBox="1"/>
          <p:nvPr/>
        </p:nvSpPr>
        <p:spPr>
          <a:xfrm>
            <a:off x="7715250" y="4162425"/>
            <a:ext cx="3896035" cy="194310"/>
          </a:xfrm>
          <a:prstGeom prst="rect">
            <a:avLst/>
          </a:prstGeom>
          <a:noFill/>
        </p:spPr>
        <p:txBody>
          <a:bodyPr wrap="none" lIns="0" rIns="0" tIns="0" bIns="0">
            <a:spAutoFit/>
          </a:bodyPr>
          <a:lstStyle/>
          <a:p>
            <a:r>
              <a:rPr sz="1150" b="0">
                <a:solidFill>
                  <a:srgbClr val="2E2E2E"/>
                </a:solidFill>
                <a:latin typeface="Calibri"/>
              </a:rPr>
              <a:t>▪ 'Cellular Energy Support Ingredients' holds the highest share of</a:t>
            </a:r>
          </a:p>
        </p:txBody>
      </p:sp>
      <p:sp>
        <p:nvSpPr>
          <p:cNvPr id="25" name="TextBox 24"/>
          <p:cNvSpPr txBox="1"/>
          <p:nvPr/>
        </p:nvSpPr>
        <p:spPr>
          <a:xfrm>
            <a:off x="7715250" y="4337685"/>
            <a:ext cx="934529" cy="194310"/>
          </a:xfrm>
          <a:prstGeom prst="rect">
            <a:avLst/>
          </a:prstGeom>
          <a:noFill/>
        </p:spPr>
        <p:txBody>
          <a:bodyPr wrap="none" lIns="0" rIns="0" tIns="0" bIns="0">
            <a:spAutoFit/>
          </a:bodyPr>
          <a:lstStyle/>
          <a:p>
            <a:r>
              <a:rPr sz="1150" b="0">
                <a:solidFill>
                  <a:srgbClr val="2E2E2E"/>
                </a:solidFill>
                <a:latin typeface="Calibri"/>
              </a:rPr>
              <a:t>'Chewables' at</a:t>
            </a:r>
          </a:p>
        </p:txBody>
      </p:sp>
      <p:pic>
        <p:nvPicPr>
          <p:cNvPr id="26" name="Picture 25" descr="lock.png"/>
          <p:cNvPicPr>
            <a:picLocks noChangeAspect="1"/>
          </p:cNvPicPr>
          <p:nvPr/>
        </p:nvPicPr>
        <p:blipFill>
          <a:blip r:embed="rId5"/>
          <a:stretch>
            <a:fillRect/>
          </a:stretch>
        </p:blipFill>
        <p:spPr>
          <a:xfrm>
            <a:off x="8598932" y="4327461"/>
            <a:ext cx="134549" cy="195707"/>
          </a:xfrm>
          <a:prstGeom prst="rect">
            <a:avLst/>
          </a:prstGeom>
        </p:spPr>
      </p:pic>
      <p:sp>
        <p:nvSpPr>
          <p:cNvPr id="27" name="TextBox 26"/>
          <p:cNvSpPr txBox="1"/>
          <p:nvPr/>
        </p:nvSpPr>
        <p:spPr>
          <a:xfrm>
            <a:off x="8774042" y="433768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8" name="TextBox 27"/>
          <p:cNvSpPr txBox="1"/>
          <p:nvPr/>
        </p:nvSpPr>
        <p:spPr>
          <a:xfrm>
            <a:off x="7715250" y="4565522"/>
            <a:ext cx="4139927" cy="194310"/>
          </a:xfrm>
          <a:prstGeom prst="rect">
            <a:avLst/>
          </a:prstGeom>
          <a:noFill/>
        </p:spPr>
        <p:txBody>
          <a:bodyPr wrap="none" lIns="0" rIns="0" tIns="0" bIns="0">
            <a:spAutoFit/>
          </a:bodyPr>
          <a:lstStyle/>
          <a:p>
            <a:r>
              <a:rPr sz="1150" b="0">
                <a:solidFill>
                  <a:srgbClr val="2E2E2E"/>
                </a:solidFill>
                <a:latin typeface="Calibri"/>
              </a:rPr>
              <a:t>▪ 'Chewables' is the most concentrated form type sub-segment, with</a:t>
            </a:r>
          </a:p>
        </p:txBody>
      </p:sp>
      <p:pic>
        <p:nvPicPr>
          <p:cNvPr id="29" name="Picture 28" descr="lock.png"/>
          <p:cNvPicPr>
            <a:picLocks noChangeAspect="1"/>
          </p:cNvPicPr>
          <p:nvPr/>
        </p:nvPicPr>
        <p:blipFill>
          <a:blip r:embed="rId5"/>
          <a:stretch>
            <a:fillRect/>
          </a:stretch>
        </p:blipFill>
        <p:spPr>
          <a:xfrm>
            <a:off x="7701170" y="4730559"/>
            <a:ext cx="134549" cy="195707"/>
          </a:xfrm>
          <a:prstGeom prst="rect">
            <a:avLst/>
          </a:prstGeom>
        </p:spPr>
      </p:pic>
      <p:sp>
        <p:nvSpPr>
          <p:cNvPr id="30" name="TextBox 29"/>
          <p:cNvSpPr txBox="1"/>
          <p:nvPr/>
        </p:nvSpPr>
        <p:spPr>
          <a:xfrm>
            <a:off x="7876279" y="4740782"/>
            <a:ext cx="3161220" cy="194310"/>
          </a:xfrm>
          <a:prstGeom prst="rect">
            <a:avLst/>
          </a:prstGeom>
          <a:noFill/>
        </p:spPr>
        <p:txBody>
          <a:bodyPr wrap="none" lIns="0" rIns="0" tIns="0" bIns="0">
            <a:spAutoFit/>
          </a:bodyPr>
          <a:lstStyle/>
          <a:p>
            <a:r>
              <a:rPr sz="1150" b="0">
                <a:solidFill>
                  <a:srgbClr val="2E2E2E"/>
                </a:solidFill>
                <a:latin typeface="Calibri"/>
              </a:rPr>
              <a:t>of its value via 'Cellular Energy Support Ingredients'.</a:t>
            </a:r>
          </a:p>
        </p:txBody>
      </p:sp>
      <p:sp>
        <p:nvSpPr>
          <p:cNvPr id="31" name="TextBox 30"/>
          <p:cNvSpPr txBox="1"/>
          <p:nvPr/>
        </p:nvSpPr>
        <p:spPr>
          <a:xfrm>
            <a:off x="7715250" y="4968620"/>
            <a:ext cx="2065845" cy="194310"/>
          </a:xfrm>
          <a:prstGeom prst="rect">
            <a:avLst/>
          </a:prstGeom>
          <a:noFill/>
        </p:spPr>
        <p:txBody>
          <a:bodyPr wrap="none" lIns="0" rIns="0" tIns="0" bIns="0">
            <a:spAutoFit/>
          </a:bodyPr>
          <a:lstStyle/>
          <a:p>
            <a:r>
              <a:rPr sz="1150" b="0">
                <a:solidFill>
                  <a:srgbClr val="2E2E2E"/>
                </a:solidFill>
                <a:latin typeface="Calibri"/>
              </a:rPr>
              <a:t>▪ 'Antioxidant Ingredients' gains +</a:t>
            </a:r>
          </a:p>
        </p:txBody>
      </p:sp>
      <p:pic>
        <p:nvPicPr>
          <p:cNvPr id="32" name="Picture 31" descr="lock.png"/>
          <p:cNvPicPr>
            <a:picLocks noChangeAspect="1"/>
          </p:cNvPicPr>
          <p:nvPr/>
        </p:nvPicPr>
        <p:blipFill>
          <a:blip r:embed="rId5"/>
          <a:stretch>
            <a:fillRect/>
          </a:stretch>
        </p:blipFill>
        <p:spPr>
          <a:xfrm>
            <a:off x="9730249" y="4958397"/>
            <a:ext cx="134549" cy="195707"/>
          </a:xfrm>
          <a:prstGeom prst="rect">
            <a:avLst/>
          </a:prstGeom>
        </p:spPr>
      </p:pic>
      <p:sp>
        <p:nvSpPr>
          <p:cNvPr id="33" name="TextBox 32"/>
          <p:cNvSpPr txBox="1"/>
          <p:nvPr/>
        </p:nvSpPr>
        <p:spPr>
          <a:xfrm>
            <a:off x="9905359" y="4968620"/>
            <a:ext cx="1581199" cy="194310"/>
          </a:xfrm>
          <a:prstGeom prst="rect">
            <a:avLst/>
          </a:prstGeom>
          <a:noFill/>
        </p:spPr>
        <p:txBody>
          <a:bodyPr wrap="none" lIns="0" rIns="0" tIns="0" bIns="0">
            <a:spAutoFit/>
          </a:bodyPr>
          <a:lstStyle/>
          <a:p>
            <a:r>
              <a:rPr sz="1150" b="0">
                <a:solidFill>
                  <a:srgbClr val="2E2E2E"/>
                </a:solidFill>
                <a:latin typeface="Calibri"/>
              </a:rPr>
              <a:t>BPS of share of the North</a:t>
            </a:r>
          </a:p>
        </p:txBody>
      </p:sp>
      <p:sp>
        <p:nvSpPr>
          <p:cNvPr id="34" name="TextBox 33"/>
          <p:cNvSpPr txBox="1"/>
          <p:nvPr/>
        </p:nvSpPr>
        <p:spPr>
          <a:xfrm>
            <a:off x="7715250" y="5143880"/>
            <a:ext cx="1986046" cy="194310"/>
          </a:xfrm>
          <a:prstGeom prst="rect">
            <a:avLst/>
          </a:prstGeom>
          <a:noFill/>
        </p:spPr>
        <p:txBody>
          <a:bodyPr wrap="none" lIns="0" rIns="0" tIns="0" bIns="0">
            <a:spAutoFit/>
          </a:bodyPr>
          <a:lstStyle/>
          <a:p>
            <a:r>
              <a:rPr sz="1150" b="0">
                <a:solidFill>
                  <a:srgbClr val="2E2E2E"/>
                </a:solidFill>
                <a:latin typeface="Calibri"/>
              </a:rPr>
              <a:t>America cross-section by 2036F.</a:t>
            </a:r>
          </a:p>
        </p:txBody>
      </p:sp>
      <p:sp>
        <p:nvSpPr>
          <p:cNvPr id="35" name="lockshield_16"/>
          <p:cNvSpPr/>
          <p:nvPr/>
        </p:nvSpPr>
        <p:spPr>
          <a:xfrm>
            <a:off x="238125" y="4029075"/>
            <a:ext cx="7096125" cy="25431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&amp; Attractiveness: Form Type × Active Ingredient,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2876550"/>
          </a:xfrm>
          <a:prstGeom prst="roundRect">
            <a:avLst>
              <a:gd name="adj" fmla="val 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Form Type × Active Ingredient, 2026E–2036F</a:t>
            </a:r>
          </a:p>
        </p:txBody>
      </p:sp>
      <p:graphicFrame>
        <p:nvGraphicFramePr>
          <p:cNvPr id="12" name="Table 11"/>
          <p:cNvGraphicFramePr>
            <a:graphicFrameLocks noGrp="1"/>
          </p:cNvGraphicFramePr>
          <p:nvPr/>
        </p:nvGraphicFramePr>
        <p:xfrm>
          <a:off x="152400" y="1238250"/>
          <a:ext cx="11887205" cy="2409824"/>
        </p:xfrm>
        <a:graphic>
          <a:graphicData uri="http://schemas.openxmlformats.org/drawingml/2006/table">
            <a:tbl>
              <a:tblPr>
                <a:tableStyleId>{5C22544A-7EE6-4342-B048-85BDC9FD1C3A}</a:tableStyleId>
              </a:tblPr>
              <a:tblGrid>
                <a:gridCol w="1811209"/>
                <a:gridCol w="719714"/>
                <a:gridCol w="719714"/>
                <a:gridCol w="719714"/>
                <a:gridCol w="719714"/>
                <a:gridCol w="719714"/>
                <a:gridCol w="719714"/>
                <a:gridCol w="719714"/>
                <a:gridCol w="719714"/>
                <a:gridCol w="719714"/>
                <a:gridCol w="719714"/>
                <a:gridCol w="719714"/>
                <a:gridCol w="719714"/>
                <a:gridCol w="719714"/>
                <a:gridCol w="719714"/>
              </a:tblGrid>
              <a:tr h="438912">
                <a:tc rowSpan="2">
                  <a:txBody>
                    <a:bodyPr wrap="none"/>
                    <a:lstStyle/>
                    <a:p>
                      <a:pPr algn="l"/>
                      <a:r>
                        <a:rPr sz="1100" b="1">
                          <a:solidFill>
                            <a:srgbClr val="0B2E4A"/>
                          </a:solidFill>
                          <a:latin typeface="Calibri"/>
                        </a:rPr>
                        <a:t>Form Type</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Omega-3 Fatty Acids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Antioxidant</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Neurofunctional</a:t>
                      </a:r>
                      <a:endParaRPr sz="1100"/>
                    </a:p>
                    <a:p>
                      <a:pPr algn="ctr"/>
                      <a:r>
                        <a:rPr sz="1100" b="1">
                          <a:solidFill>
                            <a:srgbClr val="0B2E4A"/>
                          </a:solidFill>
                          <a:latin typeface="Calibri"/>
                        </a:rPr>
                        <a:t>Nutrients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Cellular Energy</a:t>
                      </a:r>
                      <a:endParaRPr sz="1100"/>
                    </a:p>
                    <a:p>
                      <a:pPr algn="ctr"/>
                      <a:r>
                        <a:rPr sz="1100" b="1">
                          <a:solidFill>
                            <a:srgbClr val="0B2E4A"/>
                          </a:solidFill>
                          <a:latin typeface="Calibri"/>
                        </a:rPr>
                        <a:t>Support 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Botanical 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Microbiome-Targeted</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364">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6364">
                <a:tc>
                  <a:txBody>
                    <a:bodyPr wrap="none"/>
                    <a:lstStyle/>
                    <a:p>
                      <a:pPr algn="l"/>
                      <a:r>
                        <a:rPr sz="1100" b="1">
                          <a:solidFill>
                            <a:srgbClr val="2E2E2E"/>
                          </a:solidFill>
                          <a:latin typeface="Calibri"/>
                        </a:rPr>
                        <a:t>Chewables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64">
                <a:tc>
                  <a:txBody>
                    <a:bodyPr wrap="none"/>
                    <a:lstStyle/>
                    <a:p>
                      <a:pPr algn="l"/>
                      <a:r>
                        <a:rPr sz="1100" b="1">
                          <a:solidFill>
                            <a:srgbClr val="2E2E2E"/>
                          </a:solidFill>
                          <a:latin typeface="Calibri"/>
                        </a:rPr>
                        <a:t>Tablets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64">
                <a:tc>
                  <a:txBody>
                    <a:bodyPr wrap="none"/>
                    <a:lstStyle/>
                    <a:p>
                      <a:pPr algn="l"/>
                      <a:r>
                        <a:rPr sz="1100" b="1">
                          <a:solidFill>
                            <a:srgbClr val="2E2E2E"/>
                          </a:solidFill>
                          <a:latin typeface="Calibri"/>
                        </a:rPr>
                        <a:t>Capsules and Softgels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64">
                <a:tc>
                  <a:txBody>
                    <a:bodyPr wrap="none"/>
                    <a:lstStyle/>
                    <a:p>
                      <a:pPr algn="l"/>
                      <a:r>
                        <a:rPr sz="1100" b="1">
                          <a:solidFill>
                            <a:srgbClr val="2E2E2E"/>
                          </a:solidFill>
                          <a:latin typeface="Calibri"/>
                        </a:rPr>
                        <a:t>Powders and Granules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64">
                <a:tc>
                  <a:txBody>
                    <a:bodyPr wrap="none"/>
                    <a:lstStyle/>
                    <a:p>
                      <a:pPr algn="l"/>
                      <a:r>
                        <a:rPr sz="1100" b="1">
                          <a:solidFill>
                            <a:srgbClr val="2E2E2E"/>
                          </a:solidFill>
                          <a:latin typeface="Calibri"/>
                        </a:rPr>
                        <a:t>Liquids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64">
                <a:tc>
                  <a:txBody>
                    <a:bodyPr wrap="none"/>
                    <a:lstStyle/>
                    <a:p>
                      <a:pPr algn="l"/>
                      <a:r>
                        <a:rPr sz="1100" b="1">
                          <a:solidFill>
                            <a:srgbClr val="2E2E2E"/>
                          </a:solidFill>
                          <a:latin typeface="Calibri"/>
                        </a:rPr>
                        <a:t>Gels and Pastes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6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6576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990975"/>
            <a:ext cx="5600700" cy="2638425"/>
          </a:xfrm>
          <a:prstGeom prst="roundRect">
            <a:avLst>
              <a:gd name="adj" fmla="val 288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076700"/>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4314825"/>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400550"/>
            <a:ext cx="5334000" cy="21526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5895975" y="3990975"/>
            <a:ext cx="1943100" cy="26384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4076700"/>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43148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4400550"/>
            <a:ext cx="1676400" cy="21526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3990975"/>
            <a:ext cx="1943100" cy="26384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4076700"/>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43148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4400550"/>
            <a:ext cx="1676400" cy="21526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3990975"/>
            <a:ext cx="1943100" cy="26384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4076700"/>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43148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4400550"/>
            <a:ext cx="1676400" cy="21526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'Chewables × Antioxidant Ingredients' ranks highest (5/5); 'Powders and Granules × Botanical Ingredients'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6814916" y="2519100"/>
            <a:ext cx="366712" cy="533400"/>
          </a:xfrm>
          <a:prstGeom prst="rect">
            <a:avLst/>
          </a:prstGeom>
        </p:spPr>
      </p:pic>
      <p:sp>
        <p:nvSpPr>
          <p:cNvPr id="32" name="TextBox 31"/>
          <p:cNvSpPr txBox="1"/>
          <p:nvPr/>
        </p:nvSpPr>
        <p:spPr>
          <a:xfrm>
            <a:off x="276225" y="4410075"/>
            <a:ext cx="3226258" cy="194310"/>
          </a:xfrm>
          <a:prstGeom prst="rect">
            <a:avLst/>
          </a:prstGeom>
          <a:noFill/>
        </p:spPr>
        <p:txBody>
          <a:bodyPr wrap="none" lIns="0" rIns="0" tIns="0" bIns="0">
            <a:spAutoFit/>
          </a:bodyPr>
          <a:lstStyle/>
          <a:p>
            <a:r>
              <a:rPr sz="1150" b="0">
                <a:solidFill>
                  <a:srgbClr val="2E2E2E"/>
                </a:solidFill>
                <a:latin typeface="Calibri"/>
              </a:rPr>
              <a:t>▪ 1. Capsules and Softgels × Antioxidant Ingredients –</a:t>
            </a:r>
          </a:p>
        </p:txBody>
      </p:sp>
      <p:pic>
        <p:nvPicPr>
          <p:cNvPr id="33" name="Picture 32" descr="lock.png"/>
          <p:cNvPicPr>
            <a:picLocks noChangeAspect="1"/>
          </p:cNvPicPr>
          <p:nvPr/>
        </p:nvPicPr>
        <p:blipFill>
          <a:blip r:embed="rId4"/>
          <a:stretch>
            <a:fillRect/>
          </a:stretch>
        </p:blipFill>
        <p:spPr>
          <a:xfrm>
            <a:off x="3451637" y="4399851"/>
            <a:ext cx="134549" cy="195707"/>
          </a:xfrm>
          <a:prstGeom prst="rect">
            <a:avLst/>
          </a:prstGeom>
        </p:spPr>
      </p:pic>
      <p:sp>
        <p:nvSpPr>
          <p:cNvPr id="34" name="TextBox 33"/>
          <p:cNvSpPr txBox="1"/>
          <p:nvPr/>
        </p:nvSpPr>
        <p:spPr>
          <a:xfrm>
            <a:off x="3626747" y="441007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3688898" y="4399851"/>
            <a:ext cx="134549" cy="195707"/>
          </a:xfrm>
          <a:prstGeom prst="rect">
            <a:avLst/>
          </a:prstGeom>
        </p:spPr>
      </p:pic>
      <p:sp>
        <p:nvSpPr>
          <p:cNvPr id="36" name="TextBox 35"/>
          <p:cNvSpPr txBox="1"/>
          <p:nvPr/>
        </p:nvSpPr>
        <p:spPr>
          <a:xfrm>
            <a:off x="3864008" y="4410075"/>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7" name="TextBox 36"/>
          <p:cNvSpPr txBox="1"/>
          <p:nvPr/>
        </p:nvSpPr>
        <p:spPr>
          <a:xfrm>
            <a:off x="276225" y="4637913"/>
            <a:ext cx="3932547" cy="194310"/>
          </a:xfrm>
          <a:prstGeom prst="rect">
            <a:avLst/>
          </a:prstGeom>
          <a:noFill/>
        </p:spPr>
        <p:txBody>
          <a:bodyPr wrap="none" lIns="0" rIns="0" tIns="0" bIns="0">
            <a:spAutoFit/>
          </a:bodyPr>
          <a:lstStyle/>
          <a:p>
            <a:r>
              <a:rPr sz="1150" b="0">
                <a:solidFill>
                  <a:srgbClr val="2E2E2E"/>
                </a:solidFill>
                <a:latin typeface="Calibri"/>
              </a:rPr>
              <a:t>▪ 2. Capsules and Softgels × Cellular Energy Support Ingredients –</a:t>
            </a:r>
          </a:p>
        </p:txBody>
      </p:sp>
      <p:pic>
        <p:nvPicPr>
          <p:cNvPr id="38" name="Picture 37" descr="lock.png"/>
          <p:cNvPicPr>
            <a:picLocks noChangeAspect="1"/>
          </p:cNvPicPr>
          <p:nvPr/>
        </p:nvPicPr>
        <p:blipFill>
          <a:blip r:embed="rId4"/>
          <a:stretch>
            <a:fillRect/>
          </a:stretch>
        </p:blipFill>
        <p:spPr>
          <a:xfrm>
            <a:off x="4157926" y="4627689"/>
            <a:ext cx="134549" cy="195707"/>
          </a:xfrm>
          <a:prstGeom prst="rect">
            <a:avLst/>
          </a:prstGeom>
        </p:spPr>
      </p:pic>
      <p:sp>
        <p:nvSpPr>
          <p:cNvPr id="39" name="TextBox 38"/>
          <p:cNvSpPr txBox="1"/>
          <p:nvPr/>
        </p:nvSpPr>
        <p:spPr>
          <a:xfrm>
            <a:off x="4333035" y="463791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4395187" y="4627689"/>
            <a:ext cx="134549" cy="195707"/>
          </a:xfrm>
          <a:prstGeom prst="rect">
            <a:avLst/>
          </a:prstGeom>
        </p:spPr>
      </p:pic>
      <p:sp>
        <p:nvSpPr>
          <p:cNvPr id="41" name="TextBox 40"/>
          <p:cNvSpPr txBox="1"/>
          <p:nvPr/>
        </p:nvSpPr>
        <p:spPr>
          <a:xfrm>
            <a:off x="4570296" y="4637913"/>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2" name="TextBox 41"/>
          <p:cNvSpPr txBox="1"/>
          <p:nvPr/>
        </p:nvSpPr>
        <p:spPr>
          <a:xfrm>
            <a:off x="276225" y="4865750"/>
            <a:ext cx="3055614" cy="194310"/>
          </a:xfrm>
          <a:prstGeom prst="rect">
            <a:avLst/>
          </a:prstGeom>
          <a:noFill/>
        </p:spPr>
        <p:txBody>
          <a:bodyPr wrap="none" lIns="0" rIns="0" tIns="0" bIns="0">
            <a:spAutoFit/>
          </a:bodyPr>
          <a:lstStyle/>
          <a:p>
            <a:r>
              <a:rPr sz="1150" b="0">
                <a:solidFill>
                  <a:srgbClr val="2E2E2E"/>
                </a:solidFill>
                <a:latin typeface="Calibri"/>
              </a:rPr>
              <a:t>▪ 3. Capsules and Softgels × Omega-3 Fatty Acids –</a:t>
            </a:r>
          </a:p>
        </p:txBody>
      </p:sp>
      <p:pic>
        <p:nvPicPr>
          <p:cNvPr id="43" name="Picture 42" descr="lock.png"/>
          <p:cNvPicPr>
            <a:picLocks noChangeAspect="1"/>
          </p:cNvPicPr>
          <p:nvPr/>
        </p:nvPicPr>
        <p:blipFill>
          <a:blip r:embed="rId4"/>
          <a:stretch>
            <a:fillRect/>
          </a:stretch>
        </p:blipFill>
        <p:spPr>
          <a:xfrm>
            <a:off x="3280993" y="4855527"/>
            <a:ext cx="134549" cy="195707"/>
          </a:xfrm>
          <a:prstGeom prst="rect">
            <a:avLst/>
          </a:prstGeom>
        </p:spPr>
      </p:pic>
      <p:sp>
        <p:nvSpPr>
          <p:cNvPr id="44" name="TextBox 43"/>
          <p:cNvSpPr txBox="1"/>
          <p:nvPr/>
        </p:nvSpPr>
        <p:spPr>
          <a:xfrm>
            <a:off x="3456102" y="4865750"/>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5" name="Picture 44" descr="lock.png"/>
          <p:cNvPicPr>
            <a:picLocks noChangeAspect="1"/>
          </p:cNvPicPr>
          <p:nvPr/>
        </p:nvPicPr>
        <p:blipFill>
          <a:blip r:embed="rId4"/>
          <a:stretch>
            <a:fillRect/>
          </a:stretch>
        </p:blipFill>
        <p:spPr>
          <a:xfrm>
            <a:off x="3518254" y="4855527"/>
            <a:ext cx="134549" cy="195707"/>
          </a:xfrm>
          <a:prstGeom prst="rect">
            <a:avLst/>
          </a:prstGeom>
        </p:spPr>
      </p:pic>
      <p:sp>
        <p:nvSpPr>
          <p:cNvPr id="46" name="TextBox 45"/>
          <p:cNvSpPr txBox="1"/>
          <p:nvPr/>
        </p:nvSpPr>
        <p:spPr>
          <a:xfrm>
            <a:off x="3693363" y="4865750"/>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7" name="TextBox 46"/>
          <p:cNvSpPr txBox="1"/>
          <p:nvPr/>
        </p:nvSpPr>
        <p:spPr>
          <a:xfrm>
            <a:off x="276225" y="5093588"/>
            <a:ext cx="3293293" cy="194310"/>
          </a:xfrm>
          <a:prstGeom prst="rect">
            <a:avLst/>
          </a:prstGeom>
          <a:noFill/>
        </p:spPr>
        <p:txBody>
          <a:bodyPr wrap="none" lIns="0" rIns="0" tIns="0" bIns="0">
            <a:spAutoFit/>
          </a:bodyPr>
          <a:lstStyle/>
          <a:p>
            <a:r>
              <a:rPr sz="1150" b="0">
                <a:solidFill>
                  <a:srgbClr val="2E2E2E"/>
                </a:solidFill>
                <a:latin typeface="Calibri"/>
              </a:rPr>
              <a:t>▪ 4. Chewables × Cellular Energy Support Ingredients –</a:t>
            </a:r>
          </a:p>
        </p:txBody>
      </p:sp>
      <p:pic>
        <p:nvPicPr>
          <p:cNvPr id="48" name="Picture 47" descr="lock.png"/>
          <p:cNvPicPr>
            <a:picLocks noChangeAspect="1"/>
          </p:cNvPicPr>
          <p:nvPr/>
        </p:nvPicPr>
        <p:blipFill>
          <a:blip r:embed="rId4"/>
          <a:stretch>
            <a:fillRect/>
          </a:stretch>
        </p:blipFill>
        <p:spPr>
          <a:xfrm>
            <a:off x="3518672" y="5083365"/>
            <a:ext cx="134549" cy="195707"/>
          </a:xfrm>
          <a:prstGeom prst="rect">
            <a:avLst/>
          </a:prstGeom>
        </p:spPr>
      </p:pic>
      <p:sp>
        <p:nvSpPr>
          <p:cNvPr id="49" name="TextBox 48"/>
          <p:cNvSpPr txBox="1"/>
          <p:nvPr/>
        </p:nvSpPr>
        <p:spPr>
          <a:xfrm>
            <a:off x="3693781" y="5093588"/>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0" name="Picture 49" descr="lock.png"/>
          <p:cNvPicPr>
            <a:picLocks noChangeAspect="1"/>
          </p:cNvPicPr>
          <p:nvPr/>
        </p:nvPicPr>
        <p:blipFill>
          <a:blip r:embed="rId4"/>
          <a:stretch>
            <a:fillRect/>
          </a:stretch>
        </p:blipFill>
        <p:spPr>
          <a:xfrm>
            <a:off x="3755933" y="5083365"/>
            <a:ext cx="134549" cy="195707"/>
          </a:xfrm>
          <a:prstGeom prst="rect">
            <a:avLst/>
          </a:prstGeom>
        </p:spPr>
      </p:pic>
      <p:sp>
        <p:nvSpPr>
          <p:cNvPr id="51" name="TextBox 50"/>
          <p:cNvSpPr txBox="1"/>
          <p:nvPr/>
        </p:nvSpPr>
        <p:spPr>
          <a:xfrm>
            <a:off x="3931042" y="5093588"/>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52" name="TextBox 51"/>
          <p:cNvSpPr txBox="1"/>
          <p:nvPr/>
        </p:nvSpPr>
        <p:spPr>
          <a:xfrm>
            <a:off x="276225" y="5321426"/>
            <a:ext cx="2587004" cy="194310"/>
          </a:xfrm>
          <a:prstGeom prst="rect">
            <a:avLst/>
          </a:prstGeom>
          <a:noFill/>
        </p:spPr>
        <p:txBody>
          <a:bodyPr wrap="none" lIns="0" rIns="0" tIns="0" bIns="0">
            <a:spAutoFit/>
          </a:bodyPr>
          <a:lstStyle/>
          <a:p>
            <a:r>
              <a:rPr sz="1150" b="0">
                <a:solidFill>
                  <a:srgbClr val="2E2E2E"/>
                </a:solidFill>
                <a:latin typeface="Calibri"/>
              </a:rPr>
              <a:t>▪ 5. Chewables × Antioxidant Ingredients –</a:t>
            </a:r>
          </a:p>
        </p:txBody>
      </p:sp>
      <p:pic>
        <p:nvPicPr>
          <p:cNvPr id="53" name="Picture 52" descr="lock.png"/>
          <p:cNvPicPr>
            <a:picLocks noChangeAspect="1"/>
          </p:cNvPicPr>
          <p:nvPr/>
        </p:nvPicPr>
        <p:blipFill>
          <a:blip r:embed="rId4"/>
          <a:stretch>
            <a:fillRect/>
          </a:stretch>
        </p:blipFill>
        <p:spPr>
          <a:xfrm>
            <a:off x="2812383" y="5311203"/>
            <a:ext cx="134549" cy="195707"/>
          </a:xfrm>
          <a:prstGeom prst="rect">
            <a:avLst/>
          </a:prstGeom>
        </p:spPr>
      </p:pic>
      <p:sp>
        <p:nvSpPr>
          <p:cNvPr id="54" name="TextBox 53"/>
          <p:cNvSpPr txBox="1"/>
          <p:nvPr/>
        </p:nvSpPr>
        <p:spPr>
          <a:xfrm>
            <a:off x="2987493" y="5321426"/>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5" name="Picture 54" descr="lock.png"/>
          <p:cNvPicPr>
            <a:picLocks noChangeAspect="1"/>
          </p:cNvPicPr>
          <p:nvPr/>
        </p:nvPicPr>
        <p:blipFill>
          <a:blip r:embed="rId4"/>
          <a:stretch>
            <a:fillRect/>
          </a:stretch>
        </p:blipFill>
        <p:spPr>
          <a:xfrm>
            <a:off x="3049644" y="5311203"/>
            <a:ext cx="134549" cy="195707"/>
          </a:xfrm>
          <a:prstGeom prst="rect">
            <a:avLst/>
          </a:prstGeom>
        </p:spPr>
      </p:pic>
      <p:sp>
        <p:nvSpPr>
          <p:cNvPr id="56" name="TextBox 55"/>
          <p:cNvSpPr txBox="1"/>
          <p:nvPr/>
        </p:nvSpPr>
        <p:spPr>
          <a:xfrm>
            <a:off x="3224754" y="5321426"/>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57" name="TextBox 56"/>
          <p:cNvSpPr txBox="1"/>
          <p:nvPr/>
        </p:nvSpPr>
        <p:spPr>
          <a:xfrm>
            <a:off x="6029325" y="4410075"/>
            <a:ext cx="1580058" cy="194310"/>
          </a:xfrm>
          <a:prstGeom prst="rect">
            <a:avLst/>
          </a:prstGeom>
          <a:noFill/>
        </p:spPr>
        <p:txBody>
          <a:bodyPr wrap="none" lIns="0" rIns="0" tIns="0" bIns="0">
            <a:spAutoFit/>
          </a:bodyPr>
          <a:lstStyle/>
          <a:p>
            <a:r>
              <a:rPr sz="1150" b="0">
                <a:solidFill>
                  <a:srgbClr val="2E2E2E"/>
                </a:solidFill>
                <a:latin typeface="Calibri"/>
              </a:rPr>
              <a:t>▪ 'Capsules and Softgels ×</a:t>
            </a:r>
          </a:p>
        </p:txBody>
      </p:sp>
      <p:sp>
        <p:nvSpPr>
          <p:cNvPr id="58" name="TextBox 57"/>
          <p:cNvSpPr txBox="1"/>
          <p:nvPr/>
        </p:nvSpPr>
        <p:spPr>
          <a:xfrm>
            <a:off x="6029325" y="4585335"/>
            <a:ext cx="1503895" cy="194310"/>
          </a:xfrm>
          <a:prstGeom prst="rect">
            <a:avLst/>
          </a:prstGeom>
          <a:noFill/>
        </p:spPr>
        <p:txBody>
          <a:bodyPr wrap="none" lIns="0" rIns="0" tIns="0" bIns="0">
            <a:spAutoFit/>
          </a:bodyPr>
          <a:lstStyle/>
          <a:p>
            <a:r>
              <a:rPr sz="1150" b="0">
                <a:solidFill>
                  <a:srgbClr val="2E2E2E"/>
                </a:solidFill>
                <a:latin typeface="Calibri"/>
              </a:rPr>
              <a:t>Antioxidant Ingredients'</a:t>
            </a:r>
          </a:p>
        </p:txBody>
      </p:sp>
      <p:sp>
        <p:nvSpPr>
          <p:cNvPr id="59" name="TextBox 58"/>
          <p:cNvSpPr txBox="1"/>
          <p:nvPr/>
        </p:nvSpPr>
        <p:spPr>
          <a:xfrm>
            <a:off x="6029325" y="4760595"/>
            <a:ext cx="356604" cy="194310"/>
          </a:xfrm>
          <a:prstGeom prst="rect">
            <a:avLst/>
          </a:prstGeom>
          <a:noFill/>
        </p:spPr>
        <p:txBody>
          <a:bodyPr wrap="none" lIns="0" rIns="0" tIns="0" bIns="0">
            <a:spAutoFit/>
          </a:bodyPr>
          <a:lstStyle/>
          <a:p>
            <a:r>
              <a:rPr sz="1150" b="0">
                <a:solidFill>
                  <a:srgbClr val="2E2E2E"/>
                </a:solidFill>
                <a:latin typeface="Calibri"/>
              </a:rPr>
              <a:t>adds</a:t>
            </a:r>
          </a:p>
        </p:txBody>
      </p:sp>
      <p:pic>
        <p:nvPicPr>
          <p:cNvPr id="60" name="Picture 59" descr="lock.png"/>
          <p:cNvPicPr>
            <a:picLocks noChangeAspect="1"/>
          </p:cNvPicPr>
          <p:nvPr/>
        </p:nvPicPr>
        <p:blipFill>
          <a:blip r:embed="rId4"/>
          <a:stretch>
            <a:fillRect/>
          </a:stretch>
        </p:blipFill>
        <p:spPr>
          <a:xfrm>
            <a:off x="6335083" y="4750371"/>
            <a:ext cx="134549" cy="195707"/>
          </a:xfrm>
          <a:prstGeom prst="rect">
            <a:avLst/>
          </a:prstGeom>
        </p:spPr>
      </p:pic>
      <p:sp>
        <p:nvSpPr>
          <p:cNvPr id="61" name="TextBox 60"/>
          <p:cNvSpPr txBox="1"/>
          <p:nvPr/>
        </p:nvSpPr>
        <p:spPr>
          <a:xfrm>
            <a:off x="6510192" y="4760595"/>
            <a:ext cx="1118803" cy="194310"/>
          </a:xfrm>
          <a:prstGeom prst="rect">
            <a:avLst/>
          </a:prstGeom>
          <a:noFill/>
        </p:spPr>
        <p:txBody>
          <a:bodyPr wrap="none" lIns="0" rIns="0" tIns="0" bIns="0">
            <a:spAutoFit/>
          </a:bodyPr>
          <a:lstStyle/>
          <a:p>
            <a:r>
              <a:rPr sz="1150" b="0">
                <a:solidFill>
                  <a:srgbClr val="2E2E2E"/>
                </a:solidFill>
                <a:latin typeface="Calibri"/>
              </a:rPr>
              <a:t>US$ Mn by 2036F</a:t>
            </a:r>
          </a:p>
        </p:txBody>
      </p:sp>
      <p:sp>
        <p:nvSpPr>
          <p:cNvPr id="62" name="TextBox 61"/>
          <p:cNvSpPr txBox="1"/>
          <p:nvPr/>
        </p:nvSpPr>
        <p:spPr>
          <a:xfrm>
            <a:off x="6029325" y="4935854"/>
            <a:ext cx="148939"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63" name="Picture 62" descr="lock.png"/>
          <p:cNvPicPr>
            <a:picLocks noChangeAspect="1"/>
          </p:cNvPicPr>
          <p:nvPr/>
        </p:nvPicPr>
        <p:blipFill>
          <a:blip r:embed="rId4"/>
          <a:stretch>
            <a:fillRect/>
          </a:stretch>
        </p:blipFill>
        <p:spPr>
          <a:xfrm>
            <a:off x="6127418" y="4925631"/>
            <a:ext cx="134549" cy="195707"/>
          </a:xfrm>
          <a:prstGeom prst="rect">
            <a:avLst/>
          </a:prstGeom>
        </p:spPr>
      </p:pic>
      <p:sp>
        <p:nvSpPr>
          <p:cNvPr id="64" name="TextBox 63"/>
          <p:cNvSpPr txBox="1"/>
          <p:nvPr/>
        </p:nvSpPr>
        <p:spPr>
          <a:xfrm>
            <a:off x="6302527" y="4935854"/>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65" name="TextBox 64"/>
          <p:cNvSpPr txBox="1"/>
          <p:nvPr/>
        </p:nvSpPr>
        <p:spPr>
          <a:xfrm>
            <a:off x="6029325" y="5111114"/>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66" name="TextBox 65"/>
          <p:cNvSpPr txBox="1"/>
          <p:nvPr/>
        </p:nvSpPr>
        <p:spPr>
          <a:xfrm>
            <a:off x="8124825" y="4410075"/>
            <a:ext cx="1657350" cy="194310"/>
          </a:xfrm>
          <a:prstGeom prst="rect">
            <a:avLst/>
          </a:prstGeom>
          <a:noFill/>
        </p:spPr>
        <p:txBody>
          <a:bodyPr wrap="none" lIns="0" rIns="0" tIns="0" bIns="0">
            <a:spAutoFit/>
          </a:bodyPr>
          <a:lstStyle/>
          <a:p>
            <a:r>
              <a:rPr sz="1150" b="0">
                <a:solidFill>
                  <a:srgbClr val="2E2E2E"/>
                </a:solidFill>
                <a:latin typeface="Calibri"/>
              </a:rPr>
              <a:t>▪ 'Chewables × Antioxidant</a:t>
            </a:r>
          </a:p>
        </p:txBody>
      </p:sp>
      <p:sp>
        <p:nvSpPr>
          <p:cNvPr id="67" name="TextBox 66"/>
          <p:cNvSpPr txBox="1"/>
          <p:nvPr/>
        </p:nvSpPr>
        <p:spPr>
          <a:xfrm>
            <a:off x="8124825" y="4585335"/>
            <a:ext cx="1426877" cy="194310"/>
          </a:xfrm>
          <a:prstGeom prst="rect">
            <a:avLst/>
          </a:prstGeom>
          <a:noFill/>
        </p:spPr>
        <p:txBody>
          <a:bodyPr wrap="none" lIns="0" rIns="0" tIns="0" bIns="0">
            <a:spAutoFit/>
          </a:bodyPr>
          <a:lstStyle/>
          <a:p>
            <a:r>
              <a:rPr sz="1150" b="0">
                <a:solidFill>
                  <a:srgbClr val="2E2E2E"/>
                </a:solidFill>
                <a:latin typeface="Calibri"/>
              </a:rPr>
              <a:t>Ingredients' grows at a</a:t>
            </a:r>
          </a:p>
        </p:txBody>
      </p:sp>
      <p:pic>
        <p:nvPicPr>
          <p:cNvPr id="68" name="Picture 67" descr="lock.png"/>
          <p:cNvPicPr>
            <a:picLocks noChangeAspect="1"/>
          </p:cNvPicPr>
          <p:nvPr/>
        </p:nvPicPr>
        <p:blipFill>
          <a:blip r:embed="rId4"/>
          <a:stretch>
            <a:fillRect/>
          </a:stretch>
        </p:blipFill>
        <p:spPr>
          <a:xfrm>
            <a:off x="9500856" y="4575111"/>
            <a:ext cx="134549" cy="195707"/>
          </a:xfrm>
          <a:prstGeom prst="rect">
            <a:avLst/>
          </a:prstGeom>
        </p:spPr>
      </p:pic>
      <p:sp>
        <p:nvSpPr>
          <p:cNvPr id="69" name="TextBox 68"/>
          <p:cNvSpPr txBox="1"/>
          <p:nvPr/>
        </p:nvSpPr>
        <p:spPr>
          <a:xfrm>
            <a:off x="8124825" y="4760595"/>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70" name="Picture 69" descr="lock.png"/>
          <p:cNvPicPr>
            <a:picLocks noChangeAspect="1"/>
          </p:cNvPicPr>
          <p:nvPr/>
        </p:nvPicPr>
        <p:blipFill>
          <a:blip r:embed="rId4"/>
          <a:stretch>
            <a:fillRect/>
          </a:stretch>
        </p:blipFill>
        <p:spPr>
          <a:xfrm>
            <a:off x="8520420" y="4750371"/>
            <a:ext cx="134549" cy="195707"/>
          </a:xfrm>
          <a:prstGeom prst="rect">
            <a:avLst/>
          </a:prstGeom>
        </p:spPr>
      </p:pic>
      <p:sp>
        <p:nvSpPr>
          <p:cNvPr id="71" name="TextBox 70"/>
          <p:cNvSpPr txBox="1"/>
          <p:nvPr/>
        </p:nvSpPr>
        <p:spPr>
          <a:xfrm>
            <a:off x="8695529" y="4760595"/>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72" name="TextBox 71"/>
          <p:cNvSpPr txBox="1"/>
          <p:nvPr/>
        </p:nvSpPr>
        <p:spPr>
          <a:xfrm>
            <a:off x="8124825" y="4935854"/>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End-use Application × Active Ingredient</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End-use Application × Active Ingredient, 2026E vs 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end-use application sub-segment across active ingredient sub-segments</a:t>
            </a:r>
          </a:p>
        </p:txBody>
      </p:sp>
      <p:sp>
        <p:nvSpPr>
          <p:cNvPr id="10" name="Rounded Rectangle 9"/>
          <p:cNvSpPr/>
          <p:nvPr/>
        </p:nvSpPr>
        <p:spPr>
          <a:xfrm>
            <a:off x="142875" y="981075"/>
            <a:ext cx="11906250" cy="2581275"/>
          </a:xfrm>
          <a:prstGeom prst="roundRect">
            <a:avLst>
              <a:gd name="adj" fmla="val 295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Value, End-use Application × Active Ingredient, 2026E and 2036F (US$ Mn)</a:t>
            </a:r>
          </a:p>
        </p:txBody>
      </p:sp>
      <p:graphicFrame>
        <p:nvGraphicFramePr>
          <p:cNvPr id="12" name="Table 11"/>
          <p:cNvGraphicFramePr>
            <a:graphicFrameLocks noGrp="1"/>
          </p:cNvGraphicFramePr>
          <p:nvPr/>
        </p:nvGraphicFramePr>
        <p:xfrm>
          <a:off x="152400" y="1238250"/>
          <a:ext cx="11887198" cy="2114549"/>
        </p:xfrm>
        <a:graphic>
          <a:graphicData uri="http://schemas.openxmlformats.org/drawingml/2006/table">
            <a:tbl>
              <a:tblPr>
                <a:tableStyleId>{5C22544A-7EE6-4342-B048-85BDC9FD1C3A}</a:tableStyleId>
              </a:tblPr>
              <a:tblGrid>
                <a:gridCol w="4059014"/>
                <a:gridCol w="559156"/>
                <a:gridCol w="559156"/>
                <a:gridCol w="559156"/>
                <a:gridCol w="559156"/>
                <a:gridCol w="559156"/>
                <a:gridCol w="559156"/>
                <a:gridCol w="559156"/>
                <a:gridCol w="559156"/>
                <a:gridCol w="559156"/>
                <a:gridCol w="559156"/>
                <a:gridCol w="559156"/>
                <a:gridCol w="559156"/>
                <a:gridCol w="559156"/>
                <a:gridCol w="559156"/>
              </a:tblGrid>
              <a:tr h="631697">
                <a:tc rowSpan="2">
                  <a:txBody>
                    <a:bodyPr wrap="none"/>
                    <a:lstStyle/>
                    <a:p>
                      <a:pPr algn="l"/>
                      <a:r>
                        <a:rPr sz="1100" b="1">
                          <a:solidFill>
                            <a:srgbClr val="0B2E4A"/>
                          </a:solidFill>
                          <a:latin typeface="Calibri"/>
                        </a:rPr>
                        <a:t>End-use Application</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Omega-3 Fatty</a:t>
                      </a:r>
                      <a:endParaRPr sz="1100"/>
                    </a:p>
                    <a:p>
                      <a:pPr algn="ctr"/>
                      <a:r>
                        <a:rPr sz="1100" b="1">
                          <a:solidFill>
                            <a:srgbClr val="0B2E4A"/>
                          </a:solidFill>
                          <a:latin typeface="Calibri"/>
                        </a:rPr>
                        <a:t>Acids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Antioxidant</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Neurofunctional</a:t>
                      </a:r>
                      <a:endParaRPr sz="1100"/>
                    </a:p>
                    <a:p>
                      <a:pPr algn="ctr"/>
                      <a:r>
                        <a:rPr sz="1100" b="1">
                          <a:solidFill>
                            <a:srgbClr val="0B2E4A"/>
                          </a:solidFill>
                          <a:latin typeface="Calibri"/>
                        </a:rPr>
                        <a:t>Nutrients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Cellular Energy</a:t>
                      </a:r>
                      <a:endParaRPr sz="1100"/>
                    </a:p>
                    <a:p>
                      <a:pPr algn="ctr"/>
                      <a:r>
                        <a:rPr sz="1100" b="1">
                          <a:solidFill>
                            <a:srgbClr val="0B2E4A"/>
                          </a:solidFill>
                          <a:latin typeface="Calibri"/>
                        </a:rPr>
                        <a:t>Support</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Botanical</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Microbiome-</a:t>
                      </a:r>
                      <a:endParaRPr sz="1100"/>
                    </a:p>
                    <a:p>
                      <a:pPr algn="ctr"/>
                      <a:r>
                        <a:rPr sz="1100" b="1">
                          <a:solidFill>
                            <a:srgbClr val="0B2E4A"/>
                          </a:solidFill>
                          <a:latin typeface="Calibri"/>
                        </a:rPr>
                        <a:t>Targeted</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7142">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7142">
                <a:tc>
                  <a:txBody>
                    <a:bodyPr wrap="none"/>
                    <a:lstStyle/>
                    <a:p>
                      <a:pPr algn="l"/>
                      <a:r>
                        <a:rPr sz="1100" b="1">
                          <a:solidFill>
                            <a:srgbClr val="2E2E2E"/>
                          </a:solidFill>
                          <a:latin typeface="Calibri"/>
                        </a:rPr>
                        <a:t>Routine Cognitive Wellness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142">
                <a:tc>
                  <a:txBody>
                    <a:bodyPr wrap="none"/>
                    <a:lstStyle/>
                    <a:p>
                      <a:pPr algn="l"/>
                      <a:r>
                        <a:rPr sz="1100" b="1">
                          <a:solidFill>
                            <a:srgbClr val="2E2E2E"/>
                          </a:solidFill>
                          <a:latin typeface="Calibri"/>
                        </a:rPr>
                        <a:t>Preventive Cognitive Support for Senior Dogs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142">
                <a:tc>
                  <a:txBody>
                    <a:bodyPr wrap="none"/>
                    <a:lstStyle/>
                    <a:p>
                      <a:pPr algn="l"/>
                      <a:r>
                        <a:rPr sz="1100" b="1">
                          <a:solidFill>
                            <a:srgbClr val="2E2E2E"/>
                          </a:solidFill>
                          <a:latin typeface="Calibri"/>
                        </a:rPr>
                        <a:t>Support for Observable Age-Related Cognitive Changes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142">
                <a:tc>
                  <a:txBody>
                    <a:bodyPr wrap="none"/>
                    <a:lstStyle/>
                    <a:p>
                      <a:pPr algn="l"/>
                      <a:r>
                        <a:rPr sz="1100" b="1">
                          <a:solidFill>
                            <a:srgbClr val="2E2E2E"/>
                          </a:solidFill>
                          <a:latin typeface="Calibri"/>
                        </a:rPr>
                        <a:t>Veterinary-Guided Cognitive Dysfunction Support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142">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3623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695700"/>
            <a:ext cx="7286625"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75285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Flow, End-use Application → Active Ingredient, 2036F (US$ Mn)</a:t>
            </a:r>
          </a:p>
        </p:txBody>
      </p:sp>
      <p:sp>
        <p:nvSpPr>
          <p:cNvPr id="16" name="Freeform 15"/>
          <p:cNvSpPr/>
          <p:nvPr/>
        </p:nvSpPr>
        <p:spPr>
          <a:xfrm>
            <a:off x="2057400" y="4019550"/>
            <a:ext cx="3743325" cy="381000"/>
          </a:xfrm>
          <a:custGeom>
            <a:avLst/>
            <a:gdLst/>
            <a:ahLst/>
            <a:cxnLst/>
            <a:rect l="l" t="t" r="r" b="b"/>
            <a:pathLst>
              <a:path w="393" h="40">
                <a:moveTo>
                  <a:pt x="0" y="6"/>
                </a:moveTo>
                <a:lnTo>
                  <a:pt x="16" y="6"/>
                </a:lnTo>
                <a:lnTo>
                  <a:pt x="33" y="6"/>
                </a:lnTo>
                <a:lnTo>
                  <a:pt x="49" y="6"/>
                </a:lnTo>
                <a:lnTo>
                  <a:pt x="65" y="6"/>
                </a:lnTo>
                <a:lnTo>
                  <a:pt x="82" y="5"/>
                </a:lnTo>
                <a:lnTo>
                  <a:pt x="98" y="5"/>
                </a:lnTo>
                <a:lnTo>
                  <a:pt x="114" y="5"/>
                </a:lnTo>
                <a:lnTo>
                  <a:pt x="131" y="4"/>
                </a:lnTo>
                <a:lnTo>
                  <a:pt x="147" y="4"/>
                </a:lnTo>
                <a:lnTo>
                  <a:pt x="164" y="4"/>
                </a:lnTo>
                <a:lnTo>
                  <a:pt x="180" y="3"/>
                </a:lnTo>
                <a:lnTo>
                  <a:pt x="196" y="3"/>
                </a:lnTo>
                <a:lnTo>
                  <a:pt x="213" y="3"/>
                </a:lnTo>
                <a:lnTo>
                  <a:pt x="229" y="2"/>
                </a:lnTo>
                <a:lnTo>
                  <a:pt x="246" y="2"/>
                </a:lnTo>
                <a:lnTo>
                  <a:pt x="262" y="2"/>
                </a:lnTo>
                <a:lnTo>
                  <a:pt x="278" y="1"/>
                </a:lnTo>
                <a:lnTo>
                  <a:pt x="295" y="1"/>
                </a:lnTo>
                <a:lnTo>
                  <a:pt x="311" y="1"/>
                </a:lnTo>
                <a:lnTo>
                  <a:pt x="327" y="0"/>
                </a:lnTo>
                <a:lnTo>
                  <a:pt x="344" y="0"/>
                </a:lnTo>
                <a:lnTo>
                  <a:pt x="360" y="0"/>
                </a:lnTo>
                <a:lnTo>
                  <a:pt x="377" y="0"/>
                </a:lnTo>
                <a:lnTo>
                  <a:pt x="393" y="0"/>
                </a:lnTo>
                <a:lnTo>
                  <a:pt x="393" y="34"/>
                </a:lnTo>
                <a:lnTo>
                  <a:pt x="377" y="34"/>
                </a:lnTo>
                <a:lnTo>
                  <a:pt x="360" y="34"/>
                </a:lnTo>
                <a:lnTo>
                  <a:pt x="344" y="34"/>
                </a:lnTo>
                <a:lnTo>
                  <a:pt x="327" y="35"/>
                </a:lnTo>
                <a:lnTo>
                  <a:pt x="311" y="35"/>
                </a:lnTo>
                <a:lnTo>
                  <a:pt x="295" y="35"/>
                </a:lnTo>
                <a:lnTo>
                  <a:pt x="278" y="35"/>
                </a:lnTo>
                <a:lnTo>
                  <a:pt x="262" y="36"/>
                </a:lnTo>
                <a:lnTo>
                  <a:pt x="246" y="36"/>
                </a:lnTo>
                <a:lnTo>
                  <a:pt x="229" y="36"/>
                </a:lnTo>
                <a:lnTo>
                  <a:pt x="213" y="37"/>
                </a:lnTo>
                <a:lnTo>
                  <a:pt x="196" y="37"/>
                </a:lnTo>
                <a:lnTo>
                  <a:pt x="180" y="37"/>
                </a:lnTo>
                <a:lnTo>
                  <a:pt x="164" y="38"/>
                </a:lnTo>
                <a:lnTo>
                  <a:pt x="147" y="38"/>
                </a:lnTo>
                <a:lnTo>
                  <a:pt x="131" y="39"/>
                </a:lnTo>
                <a:lnTo>
                  <a:pt x="114" y="39"/>
                </a:lnTo>
                <a:lnTo>
                  <a:pt x="98" y="39"/>
                </a:lnTo>
                <a:lnTo>
                  <a:pt x="82" y="39"/>
                </a:lnTo>
                <a:lnTo>
                  <a:pt x="65" y="40"/>
                </a:lnTo>
                <a:lnTo>
                  <a:pt x="49" y="40"/>
                </a:lnTo>
                <a:lnTo>
                  <a:pt x="33" y="40"/>
                </a:lnTo>
                <a:lnTo>
                  <a:pt x="16" y="40"/>
                </a:lnTo>
                <a:lnTo>
                  <a:pt x="0" y="40"/>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4400550"/>
            <a:ext cx="3743325" cy="514350"/>
          </a:xfrm>
          <a:custGeom>
            <a:avLst/>
            <a:gdLst/>
            <a:ahLst/>
            <a:cxnLst/>
            <a:rect l="l" t="t" r="r" b="b"/>
            <a:pathLst>
              <a:path w="393" h="54">
                <a:moveTo>
                  <a:pt x="0" y="0"/>
                </a:moveTo>
                <a:lnTo>
                  <a:pt x="16" y="0"/>
                </a:lnTo>
                <a:lnTo>
                  <a:pt x="33" y="1"/>
                </a:lnTo>
                <a:lnTo>
                  <a:pt x="49" y="1"/>
                </a:lnTo>
                <a:lnTo>
                  <a:pt x="65" y="2"/>
                </a:lnTo>
                <a:lnTo>
                  <a:pt x="82" y="2"/>
                </a:lnTo>
                <a:lnTo>
                  <a:pt x="98" y="3"/>
                </a:lnTo>
                <a:lnTo>
                  <a:pt x="114" y="4"/>
                </a:lnTo>
                <a:lnTo>
                  <a:pt x="131" y="6"/>
                </a:lnTo>
                <a:lnTo>
                  <a:pt x="147" y="7"/>
                </a:lnTo>
                <a:lnTo>
                  <a:pt x="164" y="8"/>
                </a:lnTo>
                <a:lnTo>
                  <a:pt x="180" y="9"/>
                </a:lnTo>
                <a:lnTo>
                  <a:pt x="196" y="11"/>
                </a:lnTo>
                <a:lnTo>
                  <a:pt x="213" y="12"/>
                </a:lnTo>
                <a:lnTo>
                  <a:pt x="229" y="13"/>
                </a:lnTo>
                <a:lnTo>
                  <a:pt x="246" y="14"/>
                </a:lnTo>
                <a:lnTo>
                  <a:pt x="262" y="16"/>
                </a:lnTo>
                <a:lnTo>
                  <a:pt x="278" y="17"/>
                </a:lnTo>
                <a:lnTo>
                  <a:pt x="295" y="18"/>
                </a:lnTo>
                <a:lnTo>
                  <a:pt x="311" y="19"/>
                </a:lnTo>
                <a:lnTo>
                  <a:pt x="327" y="19"/>
                </a:lnTo>
                <a:lnTo>
                  <a:pt x="344" y="20"/>
                </a:lnTo>
                <a:lnTo>
                  <a:pt x="360" y="21"/>
                </a:lnTo>
                <a:lnTo>
                  <a:pt x="377" y="21"/>
                </a:lnTo>
                <a:lnTo>
                  <a:pt x="393" y="21"/>
                </a:lnTo>
                <a:lnTo>
                  <a:pt x="393" y="54"/>
                </a:lnTo>
                <a:lnTo>
                  <a:pt x="377" y="54"/>
                </a:lnTo>
                <a:lnTo>
                  <a:pt x="360" y="53"/>
                </a:lnTo>
                <a:lnTo>
                  <a:pt x="344" y="53"/>
                </a:lnTo>
                <a:lnTo>
                  <a:pt x="327" y="52"/>
                </a:lnTo>
                <a:lnTo>
                  <a:pt x="311" y="51"/>
                </a:lnTo>
                <a:lnTo>
                  <a:pt x="295" y="50"/>
                </a:lnTo>
                <a:lnTo>
                  <a:pt x="278" y="49"/>
                </a:lnTo>
                <a:lnTo>
                  <a:pt x="262" y="48"/>
                </a:lnTo>
                <a:lnTo>
                  <a:pt x="246" y="47"/>
                </a:lnTo>
                <a:lnTo>
                  <a:pt x="229" y="46"/>
                </a:lnTo>
                <a:lnTo>
                  <a:pt x="213" y="45"/>
                </a:lnTo>
                <a:lnTo>
                  <a:pt x="196" y="43"/>
                </a:lnTo>
                <a:lnTo>
                  <a:pt x="180" y="42"/>
                </a:lnTo>
                <a:lnTo>
                  <a:pt x="164" y="41"/>
                </a:lnTo>
                <a:lnTo>
                  <a:pt x="147" y="39"/>
                </a:lnTo>
                <a:lnTo>
                  <a:pt x="131" y="38"/>
                </a:lnTo>
                <a:lnTo>
                  <a:pt x="114" y="37"/>
                </a:lnTo>
                <a:lnTo>
                  <a:pt x="98" y="36"/>
                </a:lnTo>
                <a:lnTo>
                  <a:pt x="82" y="35"/>
                </a:lnTo>
                <a:lnTo>
                  <a:pt x="65" y="34"/>
                </a:lnTo>
                <a:lnTo>
                  <a:pt x="49" y="34"/>
                </a:lnTo>
                <a:lnTo>
                  <a:pt x="33" y="33"/>
                </a:lnTo>
                <a:lnTo>
                  <a:pt x="16" y="33"/>
                </a:lnTo>
                <a:lnTo>
                  <a:pt x="0" y="33"/>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4714875"/>
            <a:ext cx="3743325" cy="685800"/>
          </a:xfrm>
          <a:custGeom>
            <a:avLst/>
            <a:gdLst/>
            <a:ahLst/>
            <a:cxnLst/>
            <a:rect l="l" t="t" r="r" b="b"/>
            <a:pathLst>
              <a:path w="393" h="72">
                <a:moveTo>
                  <a:pt x="0" y="0"/>
                </a:moveTo>
                <a:lnTo>
                  <a:pt x="16" y="0"/>
                </a:lnTo>
                <a:lnTo>
                  <a:pt x="33" y="1"/>
                </a:lnTo>
                <a:lnTo>
                  <a:pt x="49" y="2"/>
                </a:lnTo>
                <a:lnTo>
                  <a:pt x="65" y="3"/>
                </a:lnTo>
                <a:lnTo>
                  <a:pt x="82" y="5"/>
                </a:lnTo>
                <a:lnTo>
                  <a:pt x="98" y="7"/>
                </a:lnTo>
                <a:lnTo>
                  <a:pt x="114" y="10"/>
                </a:lnTo>
                <a:lnTo>
                  <a:pt x="131" y="12"/>
                </a:lnTo>
                <a:lnTo>
                  <a:pt x="147" y="15"/>
                </a:lnTo>
                <a:lnTo>
                  <a:pt x="164" y="18"/>
                </a:lnTo>
                <a:lnTo>
                  <a:pt x="180" y="21"/>
                </a:lnTo>
                <a:lnTo>
                  <a:pt x="196" y="24"/>
                </a:lnTo>
                <a:lnTo>
                  <a:pt x="213" y="27"/>
                </a:lnTo>
                <a:lnTo>
                  <a:pt x="229" y="30"/>
                </a:lnTo>
                <a:lnTo>
                  <a:pt x="246" y="32"/>
                </a:lnTo>
                <a:lnTo>
                  <a:pt x="262" y="35"/>
                </a:lnTo>
                <a:lnTo>
                  <a:pt x="278" y="38"/>
                </a:lnTo>
                <a:lnTo>
                  <a:pt x="295" y="40"/>
                </a:lnTo>
                <a:lnTo>
                  <a:pt x="311" y="42"/>
                </a:lnTo>
                <a:lnTo>
                  <a:pt x="327" y="44"/>
                </a:lnTo>
                <a:lnTo>
                  <a:pt x="344" y="46"/>
                </a:lnTo>
                <a:lnTo>
                  <a:pt x="360" y="47"/>
                </a:lnTo>
                <a:lnTo>
                  <a:pt x="377" y="47"/>
                </a:lnTo>
                <a:lnTo>
                  <a:pt x="393" y="48"/>
                </a:lnTo>
                <a:lnTo>
                  <a:pt x="393" y="72"/>
                </a:lnTo>
                <a:lnTo>
                  <a:pt x="377" y="71"/>
                </a:lnTo>
                <a:lnTo>
                  <a:pt x="360" y="71"/>
                </a:lnTo>
                <a:lnTo>
                  <a:pt x="344" y="70"/>
                </a:lnTo>
                <a:lnTo>
                  <a:pt x="327" y="68"/>
                </a:lnTo>
                <a:lnTo>
                  <a:pt x="311" y="66"/>
                </a:lnTo>
                <a:lnTo>
                  <a:pt x="295" y="64"/>
                </a:lnTo>
                <a:lnTo>
                  <a:pt x="278" y="62"/>
                </a:lnTo>
                <a:lnTo>
                  <a:pt x="262" y="59"/>
                </a:lnTo>
                <a:lnTo>
                  <a:pt x="246" y="57"/>
                </a:lnTo>
                <a:lnTo>
                  <a:pt x="229" y="54"/>
                </a:lnTo>
                <a:lnTo>
                  <a:pt x="213" y="51"/>
                </a:lnTo>
                <a:lnTo>
                  <a:pt x="196" y="48"/>
                </a:lnTo>
                <a:lnTo>
                  <a:pt x="180" y="45"/>
                </a:lnTo>
                <a:lnTo>
                  <a:pt x="164" y="42"/>
                </a:lnTo>
                <a:lnTo>
                  <a:pt x="147" y="39"/>
                </a:lnTo>
                <a:lnTo>
                  <a:pt x="131" y="36"/>
                </a:lnTo>
                <a:lnTo>
                  <a:pt x="114" y="34"/>
                </a:lnTo>
                <a:lnTo>
                  <a:pt x="98" y="31"/>
                </a:lnTo>
                <a:lnTo>
                  <a:pt x="82" y="29"/>
                </a:lnTo>
                <a:lnTo>
                  <a:pt x="65" y="27"/>
                </a:lnTo>
                <a:lnTo>
                  <a:pt x="49" y="26"/>
                </a:lnTo>
                <a:lnTo>
                  <a:pt x="33" y="25"/>
                </a:lnTo>
                <a:lnTo>
                  <a:pt x="16" y="24"/>
                </a:lnTo>
                <a:lnTo>
                  <a:pt x="0" y="24"/>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4943475"/>
            <a:ext cx="3743325" cy="847725"/>
          </a:xfrm>
          <a:custGeom>
            <a:avLst/>
            <a:gdLst/>
            <a:ahLst/>
            <a:cxnLst/>
            <a:rect l="l" t="t" r="r" b="b"/>
            <a:pathLst>
              <a:path w="393" h="89">
                <a:moveTo>
                  <a:pt x="0" y="0"/>
                </a:moveTo>
                <a:lnTo>
                  <a:pt x="16" y="0"/>
                </a:lnTo>
                <a:lnTo>
                  <a:pt x="33" y="1"/>
                </a:lnTo>
                <a:lnTo>
                  <a:pt x="49" y="3"/>
                </a:lnTo>
                <a:lnTo>
                  <a:pt x="65" y="5"/>
                </a:lnTo>
                <a:lnTo>
                  <a:pt x="82" y="8"/>
                </a:lnTo>
                <a:lnTo>
                  <a:pt x="98" y="11"/>
                </a:lnTo>
                <a:lnTo>
                  <a:pt x="114" y="14"/>
                </a:lnTo>
                <a:lnTo>
                  <a:pt x="131" y="18"/>
                </a:lnTo>
                <a:lnTo>
                  <a:pt x="147" y="22"/>
                </a:lnTo>
                <a:lnTo>
                  <a:pt x="164" y="27"/>
                </a:lnTo>
                <a:lnTo>
                  <a:pt x="180" y="31"/>
                </a:lnTo>
                <a:lnTo>
                  <a:pt x="196" y="35"/>
                </a:lnTo>
                <a:lnTo>
                  <a:pt x="213" y="40"/>
                </a:lnTo>
                <a:lnTo>
                  <a:pt x="229" y="44"/>
                </a:lnTo>
                <a:lnTo>
                  <a:pt x="246" y="48"/>
                </a:lnTo>
                <a:lnTo>
                  <a:pt x="262" y="52"/>
                </a:lnTo>
                <a:lnTo>
                  <a:pt x="278" y="56"/>
                </a:lnTo>
                <a:lnTo>
                  <a:pt x="295" y="60"/>
                </a:lnTo>
                <a:lnTo>
                  <a:pt x="311" y="63"/>
                </a:lnTo>
                <a:lnTo>
                  <a:pt x="327" y="65"/>
                </a:lnTo>
                <a:lnTo>
                  <a:pt x="344" y="68"/>
                </a:lnTo>
                <a:lnTo>
                  <a:pt x="360" y="69"/>
                </a:lnTo>
                <a:lnTo>
                  <a:pt x="377" y="70"/>
                </a:lnTo>
                <a:lnTo>
                  <a:pt x="393" y="71"/>
                </a:lnTo>
                <a:lnTo>
                  <a:pt x="393" y="89"/>
                </a:lnTo>
                <a:lnTo>
                  <a:pt x="377" y="88"/>
                </a:lnTo>
                <a:lnTo>
                  <a:pt x="360" y="87"/>
                </a:lnTo>
                <a:lnTo>
                  <a:pt x="344" y="86"/>
                </a:lnTo>
                <a:lnTo>
                  <a:pt x="327" y="84"/>
                </a:lnTo>
                <a:lnTo>
                  <a:pt x="311" y="81"/>
                </a:lnTo>
                <a:lnTo>
                  <a:pt x="295" y="78"/>
                </a:lnTo>
                <a:lnTo>
                  <a:pt x="278" y="74"/>
                </a:lnTo>
                <a:lnTo>
                  <a:pt x="262" y="70"/>
                </a:lnTo>
                <a:lnTo>
                  <a:pt x="246" y="66"/>
                </a:lnTo>
                <a:lnTo>
                  <a:pt x="229" y="62"/>
                </a:lnTo>
                <a:lnTo>
                  <a:pt x="213" y="58"/>
                </a:lnTo>
                <a:lnTo>
                  <a:pt x="196" y="53"/>
                </a:lnTo>
                <a:lnTo>
                  <a:pt x="180" y="49"/>
                </a:lnTo>
                <a:lnTo>
                  <a:pt x="164" y="45"/>
                </a:lnTo>
                <a:lnTo>
                  <a:pt x="147" y="40"/>
                </a:lnTo>
                <a:lnTo>
                  <a:pt x="131" y="36"/>
                </a:lnTo>
                <a:lnTo>
                  <a:pt x="114" y="33"/>
                </a:lnTo>
                <a:lnTo>
                  <a:pt x="98" y="29"/>
                </a:lnTo>
                <a:lnTo>
                  <a:pt x="82" y="26"/>
                </a:lnTo>
                <a:lnTo>
                  <a:pt x="65" y="23"/>
                </a:lnTo>
                <a:lnTo>
                  <a:pt x="49" y="21"/>
                </a:lnTo>
                <a:lnTo>
                  <a:pt x="33" y="19"/>
                </a:lnTo>
                <a:lnTo>
                  <a:pt x="16" y="18"/>
                </a:lnTo>
                <a:lnTo>
                  <a:pt x="0" y="18"/>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5114925"/>
            <a:ext cx="3743325" cy="1000125"/>
          </a:xfrm>
          <a:custGeom>
            <a:avLst/>
            <a:gdLst/>
            <a:ahLst/>
            <a:cxnLst/>
            <a:rect l="l" t="t" r="r" b="b"/>
            <a:pathLst>
              <a:path w="393" h="105">
                <a:moveTo>
                  <a:pt x="0" y="0"/>
                </a:moveTo>
                <a:lnTo>
                  <a:pt x="16" y="0"/>
                </a:lnTo>
                <a:lnTo>
                  <a:pt x="33" y="2"/>
                </a:lnTo>
                <a:lnTo>
                  <a:pt x="49" y="4"/>
                </a:lnTo>
                <a:lnTo>
                  <a:pt x="65" y="7"/>
                </a:lnTo>
                <a:lnTo>
                  <a:pt x="82" y="10"/>
                </a:lnTo>
                <a:lnTo>
                  <a:pt x="98" y="14"/>
                </a:lnTo>
                <a:lnTo>
                  <a:pt x="114" y="19"/>
                </a:lnTo>
                <a:lnTo>
                  <a:pt x="131" y="24"/>
                </a:lnTo>
                <a:lnTo>
                  <a:pt x="147" y="29"/>
                </a:lnTo>
                <a:lnTo>
                  <a:pt x="164" y="34"/>
                </a:lnTo>
                <a:lnTo>
                  <a:pt x="180" y="40"/>
                </a:lnTo>
                <a:lnTo>
                  <a:pt x="196" y="46"/>
                </a:lnTo>
                <a:lnTo>
                  <a:pt x="213" y="51"/>
                </a:lnTo>
                <a:lnTo>
                  <a:pt x="229" y="57"/>
                </a:lnTo>
                <a:lnTo>
                  <a:pt x="246" y="62"/>
                </a:lnTo>
                <a:lnTo>
                  <a:pt x="262" y="68"/>
                </a:lnTo>
                <a:lnTo>
                  <a:pt x="278" y="72"/>
                </a:lnTo>
                <a:lnTo>
                  <a:pt x="295" y="77"/>
                </a:lnTo>
                <a:lnTo>
                  <a:pt x="311" y="81"/>
                </a:lnTo>
                <a:lnTo>
                  <a:pt x="327" y="84"/>
                </a:lnTo>
                <a:lnTo>
                  <a:pt x="344" y="87"/>
                </a:lnTo>
                <a:lnTo>
                  <a:pt x="360" y="89"/>
                </a:lnTo>
                <a:lnTo>
                  <a:pt x="377" y="91"/>
                </a:lnTo>
                <a:lnTo>
                  <a:pt x="393" y="91"/>
                </a:lnTo>
                <a:lnTo>
                  <a:pt x="393" y="105"/>
                </a:lnTo>
                <a:lnTo>
                  <a:pt x="377" y="104"/>
                </a:lnTo>
                <a:lnTo>
                  <a:pt x="360" y="103"/>
                </a:lnTo>
                <a:lnTo>
                  <a:pt x="344" y="101"/>
                </a:lnTo>
                <a:lnTo>
                  <a:pt x="327" y="98"/>
                </a:lnTo>
                <a:lnTo>
                  <a:pt x="311" y="94"/>
                </a:lnTo>
                <a:lnTo>
                  <a:pt x="295" y="90"/>
                </a:lnTo>
                <a:lnTo>
                  <a:pt x="278" y="86"/>
                </a:lnTo>
                <a:lnTo>
                  <a:pt x="262" y="81"/>
                </a:lnTo>
                <a:lnTo>
                  <a:pt x="246" y="76"/>
                </a:lnTo>
                <a:lnTo>
                  <a:pt x="229" y="70"/>
                </a:lnTo>
                <a:lnTo>
                  <a:pt x="213" y="65"/>
                </a:lnTo>
                <a:lnTo>
                  <a:pt x="196" y="59"/>
                </a:lnTo>
                <a:lnTo>
                  <a:pt x="180" y="53"/>
                </a:lnTo>
                <a:lnTo>
                  <a:pt x="164" y="48"/>
                </a:lnTo>
                <a:lnTo>
                  <a:pt x="147" y="42"/>
                </a:lnTo>
                <a:lnTo>
                  <a:pt x="131" y="37"/>
                </a:lnTo>
                <a:lnTo>
                  <a:pt x="114" y="32"/>
                </a:lnTo>
                <a:lnTo>
                  <a:pt x="98" y="28"/>
                </a:lnTo>
                <a:lnTo>
                  <a:pt x="82" y="24"/>
                </a:lnTo>
                <a:lnTo>
                  <a:pt x="65" y="20"/>
                </a:lnTo>
                <a:lnTo>
                  <a:pt x="49" y="17"/>
                </a:lnTo>
                <a:lnTo>
                  <a:pt x="33" y="15"/>
                </a:lnTo>
                <a:lnTo>
                  <a:pt x="16" y="14"/>
                </a:lnTo>
                <a:lnTo>
                  <a:pt x="0" y="13"/>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5238750"/>
            <a:ext cx="3743325" cy="1200150"/>
          </a:xfrm>
          <a:custGeom>
            <a:avLst/>
            <a:gdLst/>
            <a:ahLst/>
            <a:cxnLst/>
            <a:rect l="l" t="t" r="r" b="b"/>
            <a:pathLst>
              <a:path w="393" h="126">
                <a:moveTo>
                  <a:pt x="0" y="0"/>
                </a:moveTo>
                <a:lnTo>
                  <a:pt x="16" y="1"/>
                </a:lnTo>
                <a:lnTo>
                  <a:pt x="33" y="3"/>
                </a:lnTo>
                <a:lnTo>
                  <a:pt x="49" y="5"/>
                </a:lnTo>
                <a:lnTo>
                  <a:pt x="65" y="9"/>
                </a:lnTo>
                <a:lnTo>
                  <a:pt x="82" y="13"/>
                </a:lnTo>
                <a:lnTo>
                  <a:pt x="98" y="18"/>
                </a:lnTo>
                <a:lnTo>
                  <a:pt x="114" y="23"/>
                </a:lnTo>
                <a:lnTo>
                  <a:pt x="131" y="29"/>
                </a:lnTo>
                <a:lnTo>
                  <a:pt x="147" y="35"/>
                </a:lnTo>
                <a:lnTo>
                  <a:pt x="164" y="42"/>
                </a:lnTo>
                <a:lnTo>
                  <a:pt x="180" y="49"/>
                </a:lnTo>
                <a:lnTo>
                  <a:pt x="196" y="55"/>
                </a:lnTo>
                <a:lnTo>
                  <a:pt x="213" y="62"/>
                </a:lnTo>
                <a:lnTo>
                  <a:pt x="229" y="69"/>
                </a:lnTo>
                <a:lnTo>
                  <a:pt x="246" y="75"/>
                </a:lnTo>
                <a:lnTo>
                  <a:pt x="262" y="82"/>
                </a:lnTo>
                <a:lnTo>
                  <a:pt x="278" y="88"/>
                </a:lnTo>
                <a:lnTo>
                  <a:pt x="295" y="93"/>
                </a:lnTo>
                <a:lnTo>
                  <a:pt x="311" y="98"/>
                </a:lnTo>
                <a:lnTo>
                  <a:pt x="327" y="102"/>
                </a:lnTo>
                <a:lnTo>
                  <a:pt x="344" y="105"/>
                </a:lnTo>
                <a:lnTo>
                  <a:pt x="360" y="108"/>
                </a:lnTo>
                <a:lnTo>
                  <a:pt x="377" y="110"/>
                </a:lnTo>
                <a:lnTo>
                  <a:pt x="393" y="110"/>
                </a:lnTo>
                <a:lnTo>
                  <a:pt x="393" y="126"/>
                </a:lnTo>
                <a:lnTo>
                  <a:pt x="377" y="125"/>
                </a:lnTo>
                <a:lnTo>
                  <a:pt x="360" y="123"/>
                </a:lnTo>
                <a:lnTo>
                  <a:pt x="344" y="121"/>
                </a:lnTo>
                <a:lnTo>
                  <a:pt x="327" y="117"/>
                </a:lnTo>
                <a:lnTo>
                  <a:pt x="311" y="113"/>
                </a:lnTo>
                <a:lnTo>
                  <a:pt x="295" y="108"/>
                </a:lnTo>
                <a:lnTo>
                  <a:pt x="278" y="103"/>
                </a:lnTo>
                <a:lnTo>
                  <a:pt x="262" y="97"/>
                </a:lnTo>
                <a:lnTo>
                  <a:pt x="246" y="91"/>
                </a:lnTo>
                <a:lnTo>
                  <a:pt x="229" y="84"/>
                </a:lnTo>
                <a:lnTo>
                  <a:pt x="213" y="78"/>
                </a:lnTo>
                <a:lnTo>
                  <a:pt x="196" y="71"/>
                </a:lnTo>
                <a:lnTo>
                  <a:pt x="180" y="64"/>
                </a:lnTo>
                <a:lnTo>
                  <a:pt x="164" y="57"/>
                </a:lnTo>
                <a:lnTo>
                  <a:pt x="147" y="51"/>
                </a:lnTo>
                <a:lnTo>
                  <a:pt x="131" y="44"/>
                </a:lnTo>
                <a:lnTo>
                  <a:pt x="114" y="38"/>
                </a:lnTo>
                <a:lnTo>
                  <a:pt x="98" y="33"/>
                </a:lnTo>
                <a:lnTo>
                  <a:pt x="82" y="28"/>
                </a:lnTo>
                <a:lnTo>
                  <a:pt x="65" y="24"/>
                </a:lnTo>
                <a:lnTo>
                  <a:pt x="49" y="21"/>
                </a:lnTo>
                <a:lnTo>
                  <a:pt x="33" y="18"/>
                </a:lnTo>
                <a:lnTo>
                  <a:pt x="16" y="16"/>
                </a:lnTo>
                <a:lnTo>
                  <a:pt x="0" y="16"/>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4343400"/>
            <a:ext cx="3743325" cy="1200150"/>
          </a:xfrm>
          <a:custGeom>
            <a:avLst/>
            <a:gdLst/>
            <a:ahLst/>
            <a:cxnLst/>
            <a:rect l="l" t="t" r="r" b="b"/>
            <a:pathLst>
              <a:path w="393" h="126">
                <a:moveTo>
                  <a:pt x="0" y="116"/>
                </a:moveTo>
                <a:lnTo>
                  <a:pt x="16" y="115"/>
                </a:lnTo>
                <a:lnTo>
                  <a:pt x="33" y="114"/>
                </a:lnTo>
                <a:lnTo>
                  <a:pt x="49" y="111"/>
                </a:lnTo>
                <a:lnTo>
                  <a:pt x="65" y="107"/>
                </a:lnTo>
                <a:lnTo>
                  <a:pt x="82" y="103"/>
                </a:lnTo>
                <a:lnTo>
                  <a:pt x="98" y="98"/>
                </a:lnTo>
                <a:lnTo>
                  <a:pt x="114" y="92"/>
                </a:lnTo>
                <a:lnTo>
                  <a:pt x="131" y="86"/>
                </a:lnTo>
                <a:lnTo>
                  <a:pt x="147" y="79"/>
                </a:lnTo>
                <a:lnTo>
                  <a:pt x="164" y="72"/>
                </a:lnTo>
                <a:lnTo>
                  <a:pt x="180" y="65"/>
                </a:lnTo>
                <a:lnTo>
                  <a:pt x="196" y="58"/>
                </a:lnTo>
                <a:lnTo>
                  <a:pt x="213" y="51"/>
                </a:lnTo>
                <a:lnTo>
                  <a:pt x="229" y="44"/>
                </a:lnTo>
                <a:lnTo>
                  <a:pt x="246" y="37"/>
                </a:lnTo>
                <a:lnTo>
                  <a:pt x="262" y="30"/>
                </a:lnTo>
                <a:lnTo>
                  <a:pt x="278" y="24"/>
                </a:lnTo>
                <a:lnTo>
                  <a:pt x="295" y="18"/>
                </a:lnTo>
                <a:lnTo>
                  <a:pt x="311" y="13"/>
                </a:lnTo>
                <a:lnTo>
                  <a:pt x="327" y="9"/>
                </a:lnTo>
                <a:lnTo>
                  <a:pt x="344" y="5"/>
                </a:lnTo>
                <a:lnTo>
                  <a:pt x="360" y="2"/>
                </a:lnTo>
                <a:lnTo>
                  <a:pt x="377" y="1"/>
                </a:lnTo>
                <a:lnTo>
                  <a:pt x="393" y="0"/>
                </a:lnTo>
                <a:lnTo>
                  <a:pt x="393" y="10"/>
                </a:lnTo>
                <a:lnTo>
                  <a:pt x="377" y="10"/>
                </a:lnTo>
                <a:lnTo>
                  <a:pt x="360" y="12"/>
                </a:lnTo>
                <a:lnTo>
                  <a:pt x="344" y="15"/>
                </a:lnTo>
                <a:lnTo>
                  <a:pt x="327" y="18"/>
                </a:lnTo>
                <a:lnTo>
                  <a:pt x="311" y="23"/>
                </a:lnTo>
                <a:lnTo>
                  <a:pt x="295" y="28"/>
                </a:lnTo>
                <a:lnTo>
                  <a:pt x="278" y="34"/>
                </a:lnTo>
                <a:lnTo>
                  <a:pt x="262" y="40"/>
                </a:lnTo>
                <a:lnTo>
                  <a:pt x="246" y="46"/>
                </a:lnTo>
                <a:lnTo>
                  <a:pt x="229" y="53"/>
                </a:lnTo>
                <a:lnTo>
                  <a:pt x="213" y="61"/>
                </a:lnTo>
                <a:lnTo>
                  <a:pt x="196" y="68"/>
                </a:lnTo>
                <a:lnTo>
                  <a:pt x="180" y="75"/>
                </a:lnTo>
                <a:lnTo>
                  <a:pt x="164" y="82"/>
                </a:lnTo>
                <a:lnTo>
                  <a:pt x="147" y="89"/>
                </a:lnTo>
                <a:lnTo>
                  <a:pt x="131" y="96"/>
                </a:lnTo>
                <a:lnTo>
                  <a:pt x="114" y="102"/>
                </a:lnTo>
                <a:lnTo>
                  <a:pt x="98" y="108"/>
                </a:lnTo>
                <a:lnTo>
                  <a:pt x="82" y="113"/>
                </a:lnTo>
                <a:lnTo>
                  <a:pt x="65" y="117"/>
                </a:lnTo>
                <a:lnTo>
                  <a:pt x="49" y="121"/>
                </a:lnTo>
                <a:lnTo>
                  <a:pt x="33" y="123"/>
                </a:lnTo>
                <a:lnTo>
                  <a:pt x="16" y="125"/>
                </a:lnTo>
                <a:lnTo>
                  <a:pt x="0" y="126"/>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4914900"/>
            <a:ext cx="3743325" cy="714375"/>
          </a:xfrm>
          <a:custGeom>
            <a:avLst/>
            <a:gdLst/>
            <a:ahLst/>
            <a:cxnLst/>
            <a:rect l="l" t="t" r="r" b="b"/>
            <a:pathLst>
              <a:path w="393" h="75">
                <a:moveTo>
                  <a:pt x="0" y="66"/>
                </a:moveTo>
                <a:lnTo>
                  <a:pt x="16" y="65"/>
                </a:lnTo>
                <a:lnTo>
                  <a:pt x="33" y="64"/>
                </a:lnTo>
                <a:lnTo>
                  <a:pt x="49" y="63"/>
                </a:lnTo>
                <a:lnTo>
                  <a:pt x="65" y="61"/>
                </a:lnTo>
                <a:lnTo>
                  <a:pt x="82" y="58"/>
                </a:lnTo>
                <a:lnTo>
                  <a:pt x="98" y="55"/>
                </a:lnTo>
                <a:lnTo>
                  <a:pt x="114" y="52"/>
                </a:lnTo>
                <a:lnTo>
                  <a:pt x="131" y="49"/>
                </a:lnTo>
                <a:lnTo>
                  <a:pt x="147" y="45"/>
                </a:lnTo>
                <a:lnTo>
                  <a:pt x="164" y="41"/>
                </a:lnTo>
                <a:lnTo>
                  <a:pt x="180" y="37"/>
                </a:lnTo>
                <a:lnTo>
                  <a:pt x="196" y="33"/>
                </a:lnTo>
                <a:lnTo>
                  <a:pt x="213" y="29"/>
                </a:lnTo>
                <a:lnTo>
                  <a:pt x="229" y="24"/>
                </a:lnTo>
                <a:lnTo>
                  <a:pt x="246" y="21"/>
                </a:lnTo>
                <a:lnTo>
                  <a:pt x="262" y="17"/>
                </a:lnTo>
                <a:lnTo>
                  <a:pt x="278" y="13"/>
                </a:lnTo>
                <a:lnTo>
                  <a:pt x="295" y="10"/>
                </a:lnTo>
                <a:lnTo>
                  <a:pt x="311" y="7"/>
                </a:lnTo>
                <a:lnTo>
                  <a:pt x="327" y="5"/>
                </a:lnTo>
                <a:lnTo>
                  <a:pt x="344" y="2"/>
                </a:lnTo>
                <a:lnTo>
                  <a:pt x="360" y="1"/>
                </a:lnTo>
                <a:lnTo>
                  <a:pt x="377" y="0"/>
                </a:lnTo>
                <a:lnTo>
                  <a:pt x="393" y="0"/>
                </a:lnTo>
                <a:lnTo>
                  <a:pt x="393" y="9"/>
                </a:lnTo>
                <a:lnTo>
                  <a:pt x="377" y="9"/>
                </a:lnTo>
                <a:lnTo>
                  <a:pt x="360" y="10"/>
                </a:lnTo>
                <a:lnTo>
                  <a:pt x="344" y="12"/>
                </a:lnTo>
                <a:lnTo>
                  <a:pt x="327" y="14"/>
                </a:lnTo>
                <a:lnTo>
                  <a:pt x="311" y="16"/>
                </a:lnTo>
                <a:lnTo>
                  <a:pt x="295" y="19"/>
                </a:lnTo>
                <a:lnTo>
                  <a:pt x="278" y="22"/>
                </a:lnTo>
                <a:lnTo>
                  <a:pt x="262" y="26"/>
                </a:lnTo>
                <a:lnTo>
                  <a:pt x="246" y="30"/>
                </a:lnTo>
                <a:lnTo>
                  <a:pt x="229" y="34"/>
                </a:lnTo>
                <a:lnTo>
                  <a:pt x="213" y="38"/>
                </a:lnTo>
                <a:lnTo>
                  <a:pt x="196" y="42"/>
                </a:lnTo>
                <a:lnTo>
                  <a:pt x="180" y="46"/>
                </a:lnTo>
                <a:lnTo>
                  <a:pt x="164" y="50"/>
                </a:lnTo>
                <a:lnTo>
                  <a:pt x="147" y="54"/>
                </a:lnTo>
                <a:lnTo>
                  <a:pt x="131" y="58"/>
                </a:lnTo>
                <a:lnTo>
                  <a:pt x="114" y="61"/>
                </a:lnTo>
                <a:lnTo>
                  <a:pt x="98" y="64"/>
                </a:lnTo>
                <a:lnTo>
                  <a:pt x="82" y="67"/>
                </a:lnTo>
                <a:lnTo>
                  <a:pt x="65" y="70"/>
                </a:lnTo>
                <a:lnTo>
                  <a:pt x="49" y="72"/>
                </a:lnTo>
                <a:lnTo>
                  <a:pt x="33" y="73"/>
                </a:lnTo>
                <a:lnTo>
                  <a:pt x="16" y="74"/>
                </a:lnTo>
                <a:lnTo>
                  <a:pt x="0" y="75"/>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5400675"/>
            <a:ext cx="3743325" cy="304800"/>
          </a:xfrm>
          <a:custGeom>
            <a:avLst/>
            <a:gdLst/>
            <a:ahLst/>
            <a:cxnLst/>
            <a:rect l="l" t="t" r="r" b="b"/>
            <a:pathLst>
              <a:path w="393" h="32">
                <a:moveTo>
                  <a:pt x="0" y="24"/>
                </a:moveTo>
                <a:lnTo>
                  <a:pt x="16" y="24"/>
                </a:lnTo>
                <a:lnTo>
                  <a:pt x="33" y="23"/>
                </a:lnTo>
                <a:lnTo>
                  <a:pt x="49" y="23"/>
                </a:lnTo>
                <a:lnTo>
                  <a:pt x="65" y="22"/>
                </a:lnTo>
                <a:lnTo>
                  <a:pt x="82" y="21"/>
                </a:lnTo>
                <a:lnTo>
                  <a:pt x="98" y="20"/>
                </a:lnTo>
                <a:lnTo>
                  <a:pt x="114" y="19"/>
                </a:lnTo>
                <a:lnTo>
                  <a:pt x="131" y="18"/>
                </a:lnTo>
                <a:lnTo>
                  <a:pt x="147" y="16"/>
                </a:lnTo>
                <a:lnTo>
                  <a:pt x="164" y="15"/>
                </a:lnTo>
                <a:lnTo>
                  <a:pt x="180" y="13"/>
                </a:lnTo>
                <a:lnTo>
                  <a:pt x="196" y="12"/>
                </a:lnTo>
                <a:lnTo>
                  <a:pt x="213" y="10"/>
                </a:lnTo>
                <a:lnTo>
                  <a:pt x="229" y="9"/>
                </a:lnTo>
                <a:lnTo>
                  <a:pt x="246" y="7"/>
                </a:lnTo>
                <a:lnTo>
                  <a:pt x="262" y="6"/>
                </a:lnTo>
                <a:lnTo>
                  <a:pt x="278" y="5"/>
                </a:lnTo>
                <a:lnTo>
                  <a:pt x="295" y="3"/>
                </a:lnTo>
                <a:lnTo>
                  <a:pt x="311" y="2"/>
                </a:lnTo>
                <a:lnTo>
                  <a:pt x="327" y="1"/>
                </a:lnTo>
                <a:lnTo>
                  <a:pt x="344" y="1"/>
                </a:lnTo>
                <a:lnTo>
                  <a:pt x="360" y="0"/>
                </a:lnTo>
                <a:lnTo>
                  <a:pt x="377" y="0"/>
                </a:lnTo>
                <a:lnTo>
                  <a:pt x="393" y="0"/>
                </a:lnTo>
                <a:lnTo>
                  <a:pt x="393" y="8"/>
                </a:lnTo>
                <a:lnTo>
                  <a:pt x="377" y="8"/>
                </a:lnTo>
                <a:lnTo>
                  <a:pt x="360" y="8"/>
                </a:lnTo>
                <a:lnTo>
                  <a:pt x="344" y="9"/>
                </a:lnTo>
                <a:lnTo>
                  <a:pt x="327" y="10"/>
                </a:lnTo>
                <a:lnTo>
                  <a:pt x="311" y="10"/>
                </a:lnTo>
                <a:lnTo>
                  <a:pt x="295" y="12"/>
                </a:lnTo>
                <a:lnTo>
                  <a:pt x="278" y="13"/>
                </a:lnTo>
                <a:lnTo>
                  <a:pt x="262" y="14"/>
                </a:lnTo>
                <a:lnTo>
                  <a:pt x="246" y="15"/>
                </a:lnTo>
                <a:lnTo>
                  <a:pt x="229" y="17"/>
                </a:lnTo>
                <a:lnTo>
                  <a:pt x="213" y="18"/>
                </a:lnTo>
                <a:lnTo>
                  <a:pt x="196" y="20"/>
                </a:lnTo>
                <a:lnTo>
                  <a:pt x="180" y="21"/>
                </a:lnTo>
                <a:lnTo>
                  <a:pt x="164" y="23"/>
                </a:lnTo>
                <a:lnTo>
                  <a:pt x="147" y="24"/>
                </a:lnTo>
                <a:lnTo>
                  <a:pt x="131" y="26"/>
                </a:lnTo>
                <a:lnTo>
                  <a:pt x="114" y="27"/>
                </a:lnTo>
                <a:lnTo>
                  <a:pt x="98" y="28"/>
                </a:lnTo>
                <a:lnTo>
                  <a:pt x="82" y="29"/>
                </a:lnTo>
                <a:lnTo>
                  <a:pt x="65" y="30"/>
                </a:lnTo>
                <a:lnTo>
                  <a:pt x="49" y="31"/>
                </a:lnTo>
                <a:lnTo>
                  <a:pt x="33" y="31"/>
                </a:lnTo>
                <a:lnTo>
                  <a:pt x="16" y="32"/>
                </a:lnTo>
                <a:lnTo>
                  <a:pt x="0" y="32"/>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5705475"/>
            <a:ext cx="3743325" cy="152400"/>
          </a:xfrm>
          <a:custGeom>
            <a:avLst/>
            <a:gdLst/>
            <a:ahLst/>
            <a:cxnLst/>
            <a:rect l="l" t="t" r="r" b="b"/>
            <a:pathLst>
              <a:path w="393" h="16">
                <a:moveTo>
                  <a:pt x="0" y="0"/>
                </a:moveTo>
                <a:lnTo>
                  <a:pt x="16" y="0"/>
                </a:lnTo>
                <a:lnTo>
                  <a:pt x="33" y="0"/>
                </a:lnTo>
                <a:lnTo>
                  <a:pt x="49" y="0"/>
                </a:lnTo>
                <a:lnTo>
                  <a:pt x="65" y="1"/>
                </a:lnTo>
                <a:lnTo>
                  <a:pt x="82" y="1"/>
                </a:lnTo>
                <a:lnTo>
                  <a:pt x="98" y="1"/>
                </a:lnTo>
                <a:lnTo>
                  <a:pt x="114" y="2"/>
                </a:lnTo>
                <a:lnTo>
                  <a:pt x="131" y="2"/>
                </a:lnTo>
                <a:lnTo>
                  <a:pt x="147" y="3"/>
                </a:lnTo>
                <a:lnTo>
                  <a:pt x="164" y="3"/>
                </a:lnTo>
                <a:lnTo>
                  <a:pt x="180" y="4"/>
                </a:lnTo>
                <a:lnTo>
                  <a:pt x="196" y="4"/>
                </a:lnTo>
                <a:lnTo>
                  <a:pt x="213" y="5"/>
                </a:lnTo>
                <a:lnTo>
                  <a:pt x="229" y="5"/>
                </a:lnTo>
                <a:lnTo>
                  <a:pt x="246" y="6"/>
                </a:lnTo>
                <a:lnTo>
                  <a:pt x="262" y="6"/>
                </a:lnTo>
                <a:lnTo>
                  <a:pt x="278" y="7"/>
                </a:lnTo>
                <a:lnTo>
                  <a:pt x="295" y="7"/>
                </a:lnTo>
                <a:lnTo>
                  <a:pt x="311" y="8"/>
                </a:lnTo>
                <a:lnTo>
                  <a:pt x="327" y="8"/>
                </a:lnTo>
                <a:lnTo>
                  <a:pt x="344" y="8"/>
                </a:lnTo>
                <a:lnTo>
                  <a:pt x="360" y="9"/>
                </a:lnTo>
                <a:lnTo>
                  <a:pt x="377" y="9"/>
                </a:lnTo>
                <a:lnTo>
                  <a:pt x="393" y="9"/>
                </a:lnTo>
                <a:lnTo>
                  <a:pt x="393" y="16"/>
                </a:lnTo>
                <a:lnTo>
                  <a:pt x="377" y="16"/>
                </a:lnTo>
                <a:lnTo>
                  <a:pt x="360" y="16"/>
                </a:lnTo>
                <a:lnTo>
                  <a:pt x="344" y="16"/>
                </a:lnTo>
                <a:lnTo>
                  <a:pt x="327" y="16"/>
                </a:lnTo>
                <a:lnTo>
                  <a:pt x="311" y="15"/>
                </a:lnTo>
                <a:lnTo>
                  <a:pt x="295" y="15"/>
                </a:lnTo>
                <a:lnTo>
                  <a:pt x="278" y="15"/>
                </a:lnTo>
                <a:lnTo>
                  <a:pt x="262" y="14"/>
                </a:lnTo>
                <a:lnTo>
                  <a:pt x="246" y="14"/>
                </a:lnTo>
                <a:lnTo>
                  <a:pt x="229" y="13"/>
                </a:lnTo>
                <a:lnTo>
                  <a:pt x="213" y="12"/>
                </a:lnTo>
                <a:lnTo>
                  <a:pt x="196" y="12"/>
                </a:lnTo>
                <a:lnTo>
                  <a:pt x="180" y="11"/>
                </a:lnTo>
                <a:lnTo>
                  <a:pt x="164" y="11"/>
                </a:lnTo>
                <a:lnTo>
                  <a:pt x="147" y="10"/>
                </a:lnTo>
                <a:lnTo>
                  <a:pt x="131" y="10"/>
                </a:lnTo>
                <a:lnTo>
                  <a:pt x="114" y="9"/>
                </a:lnTo>
                <a:lnTo>
                  <a:pt x="98" y="9"/>
                </a:lnTo>
                <a:lnTo>
                  <a:pt x="82" y="8"/>
                </a:lnTo>
                <a:lnTo>
                  <a:pt x="65" y="8"/>
                </a:lnTo>
                <a:lnTo>
                  <a:pt x="49" y="8"/>
                </a:lnTo>
                <a:lnTo>
                  <a:pt x="33" y="8"/>
                </a:lnTo>
                <a:lnTo>
                  <a:pt x="16" y="7"/>
                </a:lnTo>
                <a:lnTo>
                  <a:pt x="0" y="7"/>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5772150"/>
            <a:ext cx="3743325" cy="400050"/>
          </a:xfrm>
          <a:custGeom>
            <a:avLst/>
            <a:gdLst/>
            <a:ahLst/>
            <a:cxnLst/>
            <a:rect l="l" t="t" r="r" b="b"/>
            <a:pathLst>
              <a:path w="393" h="42">
                <a:moveTo>
                  <a:pt x="0" y="0"/>
                </a:moveTo>
                <a:lnTo>
                  <a:pt x="16" y="1"/>
                </a:lnTo>
                <a:lnTo>
                  <a:pt x="33" y="1"/>
                </a:lnTo>
                <a:lnTo>
                  <a:pt x="49" y="2"/>
                </a:lnTo>
                <a:lnTo>
                  <a:pt x="65" y="3"/>
                </a:lnTo>
                <a:lnTo>
                  <a:pt x="82" y="4"/>
                </a:lnTo>
                <a:lnTo>
                  <a:pt x="98" y="6"/>
                </a:lnTo>
                <a:lnTo>
                  <a:pt x="114" y="8"/>
                </a:lnTo>
                <a:lnTo>
                  <a:pt x="131" y="10"/>
                </a:lnTo>
                <a:lnTo>
                  <a:pt x="147" y="12"/>
                </a:lnTo>
                <a:lnTo>
                  <a:pt x="164" y="14"/>
                </a:lnTo>
                <a:lnTo>
                  <a:pt x="180" y="16"/>
                </a:lnTo>
                <a:lnTo>
                  <a:pt x="196" y="18"/>
                </a:lnTo>
                <a:lnTo>
                  <a:pt x="213" y="20"/>
                </a:lnTo>
                <a:lnTo>
                  <a:pt x="229" y="22"/>
                </a:lnTo>
                <a:lnTo>
                  <a:pt x="246" y="25"/>
                </a:lnTo>
                <a:lnTo>
                  <a:pt x="262" y="27"/>
                </a:lnTo>
                <a:lnTo>
                  <a:pt x="278" y="28"/>
                </a:lnTo>
                <a:lnTo>
                  <a:pt x="295" y="30"/>
                </a:lnTo>
                <a:lnTo>
                  <a:pt x="311" y="32"/>
                </a:lnTo>
                <a:lnTo>
                  <a:pt x="327" y="33"/>
                </a:lnTo>
                <a:lnTo>
                  <a:pt x="344" y="34"/>
                </a:lnTo>
                <a:lnTo>
                  <a:pt x="360" y="35"/>
                </a:lnTo>
                <a:lnTo>
                  <a:pt x="377" y="35"/>
                </a:lnTo>
                <a:lnTo>
                  <a:pt x="393" y="36"/>
                </a:lnTo>
                <a:lnTo>
                  <a:pt x="393" y="42"/>
                </a:lnTo>
                <a:lnTo>
                  <a:pt x="377" y="41"/>
                </a:lnTo>
                <a:lnTo>
                  <a:pt x="360" y="41"/>
                </a:lnTo>
                <a:lnTo>
                  <a:pt x="344" y="40"/>
                </a:lnTo>
                <a:lnTo>
                  <a:pt x="327" y="39"/>
                </a:lnTo>
                <a:lnTo>
                  <a:pt x="311" y="38"/>
                </a:lnTo>
                <a:lnTo>
                  <a:pt x="295" y="36"/>
                </a:lnTo>
                <a:lnTo>
                  <a:pt x="278" y="34"/>
                </a:lnTo>
                <a:lnTo>
                  <a:pt x="262" y="32"/>
                </a:lnTo>
                <a:lnTo>
                  <a:pt x="246" y="30"/>
                </a:lnTo>
                <a:lnTo>
                  <a:pt x="229" y="28"/>
                </a:lnTo>
                <a:lnTo>
                  <a:pt x="213" y="26"/>
                </a:lnTo>
                <a:lnTo>
                  <a:pt x="196" y="24"/>
                </a:lnTo>
                <a:lnTo>
                  <a:pt x="180" y="22"/>
                </a:lnTo>
                <a:lnTo>
                  <a:pt x="164" y="20"/>
                </a:lnTo>
                <a:lnTo>
                  <a:pt x="147" y="17"/>
                </a:lnTo>
                <a:lnTo>
                  <a:pt x="131" y="15"/>
                </a:lnTo>
                <a:lnTo>
                  <a:pt x="114" y="14"/>
                </a:lnTo>
                <a:lnTo>
                  <a:pt x="98" y="12"/>
                </a:lnTo>
                <a:lnTo>
                  <a:pt x="82" y="10"/>
                </a:lnTo>
                <a:lnTo>
                  <a:pt x="65" y="9"/>
                </a:lnTo>
                <a:lnTo>
                  <a:pt x="49" y="8"/>
                </a:lnTo>
                <a:lnTo>
                  <a:pt x="33" y="7"/>
                </a:lnTo>
                <a:lnTo>
                  <a:pt x="16" y="6"/>
                </a:lnTo>
                <a:lnTo>
                  <a:pt x="0" y="6"/>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5829300"/>
            <a:ext cx="3743325" cy="657225"/>
          </a:xfrm>
          <a:custGeom>
            <a:avLst/>
            <a:gdLst/>
            <a:ahLst/>
            <a:cxnLst/>
            <a:rect l="l" t="t" r="r" b="b"/>
            <a:pathLst>
              <a:path w="393" h="69">
                <a:moveTo>
                  <a:pt x="0" y="0"/>
                </a:moveTo>
                <a:lnTo>
                  <a:pt x="16" y="1"/>
                </a:lnTo>
                <a:lnTo>
                  <a:pt x="33" y="2"/>
                </a:lnTo>
                <a:lnTo>
                  <a:pt x="49" y="3"/>
                </a:lnTo>
                <a:lnTo>
                  <a:pt x="65" y="5"/>
                </a:lnTo>
                <a:lnTo>
                  <a:pt x="82" y="7"/>
                </a:lnTo>
                <a:lnTo>
                  <a:pt x="98" y="10"/>
                </a:lnTo>
                <a:lnTo>
                  <a:pt x="114" y="13"/>
                </a:lnTo>
                <a:lnTo>
                  <a:pt x="131" y="17"/>
                </a:lnTo>
                <a:lnTo>
                  <a:pt x="147" y="20"/>
                </a:lnTo>
                <a:lnTo>
                  <a:pt x="164" y="24"/>
                </a:lnTo>
                <a:lnTo>
                  <a:pt x="180" y="28"/>
                </a:lnTo>
                <a:lnTo>
                  <a:pt x="196" y="32"/>
                </a:lnTo>
                <a:lnTo>
                  <a:pt x="213" y="36"/>
                </a:lnTo>
                <a:lnTo>
                  <a:pt x="229" y="40"/>
                </a:lnTo>
                <a:lnTo>
                  <a:pt x="246" y="44"/>
                </a:lnTo>
                <a:lnTo>
                  <a:pt x="262" y="47"/>
                </a:lnTo>
                <a:lnTo>
                  <a:pt x="278" y="51"/>
                </a:lnTo>
                <a:lnTo>
                  <a:pt x="295" y="54"/>
                </a:lnTo>
                <a:lnTo>
                  <a:pt x="311" y="57"/>
                </a:lnTo>
                <a:lnTo>
                  <a:pt x="327" y="59"/>
                </a:lnTo>
                <a:lnTo>
                  <a:pt x="344" y="61"/>
                </a:lnTo>
                <a:lnTo>
                  <a:pt x="360" y="62"/>
                </a:lnTo>
                <a:lnTo>
                  <a:pt x="377" y="63"/>
                </a:lnTo>
                <a:lnTo>
                  <a:pt x="393" y="64"/>
                </a:lnTo>
                <a:lnTo>
                  <a:pt x="393" y="69"/>
                </a:lnTo>
                <a:lnTo>
                  <a:pt x="377" y="69"/>
                </a:lnTo>
                <a:lnTo>
                  <a:pt x="360" y="68"/>
                </a:lnTo>
                <a:lnTo>
                  <a:pt x="344" y="66"/>
                </a:lnTo>
                <a:lnTo>
                  <a:pt x="327" y="64"/>
                </a:lnTo>
                <a:lnTo>
                  <a:pt x="311" y="62"/>
                </a:lnTo>
                <a:lnTo>
                  <a:pt x="295" y="59"/>
                </a:lnTo>
                <a:lnTo>
                  <a:pt x="278" y="56"/>
                </a:lnTo>
                <a:lnTo>
                  <a:pt x="262" y="53"/>
                </a:lnTo>
                <a:lnTo>
                  <a:pt x="246" y="49"/>
                </a:lnTo>
                <a:lnTo>
                  <a:pt x="229" y="45"/>
                </a:lnTo>
                <a:lnTo>
                  <a:pt x="213" y="41"/>
                </a:lnTo>
                <a:lnTo>
                  <a:pt x="196" y="37"/>
                </a:lnTo>
                <a:lnTo>
                  <a:pt x="180" y="33"/>
                </a:lnTo>
                <a:lnTo>
                  <a:pt x="164" y="30"/>
                </a:lnTo>
                <a:lnTo>
                  <a:pt x="147" y="26"/>
                </a:lnTo>
                <a:lnTo>
                  <a:pt x="131" y="22"/>
                </a:lnTo>
                <a:lnTo>
                  <a:pt x="114" y="19"/>
                </a:lnTo>
                <a:lnTo>
                  <a:pt x="98" y="16"/>
                </a:lnTo>
                <a:lnTo>
                  <a:pt x="82" y="13"/>
                </a:lnTo>
                <a:lnTo>
                  <a:pt x="65" y="10"/>
                </a:lnTo>
                <a:lnTo>
                  <a:pt x="49" y="8"/>
                </a:lnTo>
                <a:lnTo>
                  <a:pt x="33" y="7"/>
                </a:lnTo>
                <a:lnTo>
                  <a:pt x="16" y="6"/>
                </a:lnTo>
                <a:lnTo>
                  <a:pt x="0" y="6"/>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4438650"/>
            <a:ext cx="3743325" cy="1562100"/>
          </a:xfrm>
          <a:custGeom>
            <a:avLst/>
            <a:gdLst/>
            <a:ahLst/>
            <a:cxnLst/>
            <a:rect l="l" t="t" r="r" b="b"/>
            <a:pathLst>
              <a:path w="393" h="164">
                <a:moveTo>
                  <a:pt x="0" y="158"/>
                </a:moveTo>
                <a:lnTo>
                  <a:pt x="16" y="157"/>
                </a:lnTo>
                <a:lnTo>
                  <a:pt x="33" y="155"/>
                </a:lnTo>
                <a:lnTo>
                  <a:pt x="49" y="151"/>
                </a:lnTo>
                <a:lnTo>
                  <a:pt x="65" y="146"/>
                </a:lnTo>
                <a:lnTo>
                  <a:pt x="82" y="140"/>
                </a:lnTo>
                <a:lnTo>
                  <a:pt x="98" y="133"/>
                </a:lnTo>
                <a:lnTo>
                  <a:pt x="114" y="125"/>
                </a:lnTo>
                <a:lnTo>
                  <a:pt x="131" y="117"/>
                </a:lnTo>
                <a:lnTo>
                  <a:pt x="147" y="108"/>
                </a:lnTo>
                <a:lnTo>
                  <a:pt x="164" y="98"/>
                </a:lnTo>
                <a:lnTo>
                  <a:pt x="180" y="89"/>
                </a:lnTo>
                <a:lnTo>
                  <a:pt x="196" y="79"/>
                </a:lnTo>
                <a:lnTo>
                  <a:pt x="213" y="69"/>
                </a:lnTo>
                <a:lnTo>
                  <a:pt x="229" y="59"/>
                </a:lnTo>
                <a:lnTo>
                  <a:pt x="246" y="50"/>
                </a:lnTo>
                <a:lnTo>
                  <a:pt x="262" y="41"/>
                </a:lnTo>
                <a:lnTo>
                  <a:pt x="278" y="32"/>
                </a:lnTo>
                <a:lnTo>
                  <a:pt x="295" y="25"/>
                </a:lnTo>
                <a:lnTo>
                  <a:pt x="311" y="18"/>
                </a:lnTo>
                <a:lnTo>
                  <a:pt x="327" y="12"/>
                </a:lnTo>
                <a:lnTo>
                  <a:pt x="344" y="7"/>
                </a:lnTo>
                <a:lnTo>
                  <a:pt x="360" y="3"/>
                </a:lnTo>
                <a:lnTo>
                  <a:pt x="377" y="1"/>
                </a:lnTo>
                <a:lnTo>
                  <a:pt x="393" y="0"/>
                </a:lnTo>
                <a:lnTo>
                  <a:pt x="393" y="6"/>
                </a:lnTo>
                <a:lnTo>
                  <a:pt x="377" y="7"/>
                </a:lnTo>
                <a:lnTo>
                  <a:pt x="360" y="9"/>
                </a:lnTo>
                <a:lnTo>
                  <a:pt x="344" y="13"/>
                </a:lnTo>
                <a:lnTo>
                  <a:pt x="327" y="17"/>
                </a:lnTo>
                <a:lnTo>
                  <a:pt x="311" y="23"/>
                </a:lnTo>
                <a:lnTo>
                  <a:pt x="295" y="30"/>
                </a:lnTo>
                <a:lnTo>
                  <a:pt x="278" y="38"/>
                </a:lnTo>
                <a:lnTo>
                  <a:pt x="262" y="47"/>
                </a:lnTo>
                <a:lnTo>
                  <a:pt x="246" y="56"/>
                </a:lnTo>
                <a:lnTo>
                  <a:pt x="229" y="65"/>
                </a:lnTo>
                <a:lnTo>
                  <a:pt x="213" y="75"/>
                </a:lnTo>
                <a:lnTo>
                  <a:pt x="196" y="85"/>
                </a:lnTo>
                <a:lnTo>
                  <a:pt x="180" y="95"/>
                </a:lnTo>
                <a:lnTo>
                  <a:pt x="164" y="104"/>
                </a:lnTo>
                <a:lnTo>
                  <a:pt x="147" y="114"/>
                </a:lnTo>
                <a:lnTo>
                  <a:pt x="131" y="123"/>
                </a:lnTo>
                <a:lnTo>
                  <a:pt x="114" y="131"/>
                </a:lnTo>
                <a:lnTo>
                  <a:pt x="98" y="139"/>
                </a:lnTo>
                <a:lnTo>
                  <a:pt x="82" y="146"/>
                </a:lnTo>
                <a:lnTo>
                  <a:pt x="65" y="152"/>
                </a:lnTo>
                <a:lnTo>
                  <a:pt x="49" y="157"/>
                </a:lnTo>
                <a:lnTo>
                  <a:pt x="33" y="161"/>
                </a:lnTo>
                <a:lnTo>
                  <a:pt x="16" y="163"/>
                </a:lnTo>
                <a:lnTo>
                  <a:pt x="0" y="164"/>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5000625"/>
            <a:ext cx="3743325" cy="1057275"/>
          </a:xfrm>
          <a:custGeom>
            <a:avLst/>
            <a:gdLst/>
            <a:ahLst/>
            <a:cxnLst/>
            <a:rect l="l" t="t" r="r" b="b"/>
            <a:pathLst>
              <a:path w="393" h="111">
                <a:moveTo>
                  <a:pt x="0" y="105"/>
                </a:moveTo>
                <a:lnTo>
                  <a:pt x="16" y="104"/>
                </a:lnTo>
                <a:lnTo>
                  <a:pt x="33" y="103"/>
                </a:lnTo>
                <a:lnTo>
                  <a:pt x="49" y="100"/>
                </a:lnTo>
                <a:lnTo>
                  <a:pt x="65" y="97"/>
                </a:lnTo>
                <a:lnTo>
                  <a:pt x="82" y="93"/>
                </a:lnTo>
                <a:lnTo>
                  <a:pt x="98" y="88"/>
                </a:lnTo>
                <a:lnTo>
                  <a:pt x="114" y="83"/>
                </a:lnTo>
                <a:lnTo>
                  <a:pt x="131" y="77"/>
                </a:lnTo>
                <a:lnTo>
                  <a:pt x="147" y="71"/>
                </a:lnTo>
                <a:lnTo>
                  <a:pt x="164" y="65"/>
                </a:lnTo>
                <a:lnTo>
                  <a:pt x="180" y="59"/>
                </a:lnTo>
                <a:lnTo>
                  <a:pt x="196" y="52"/>
                </a:lnTo>
                <a:lnTo>
                  <a:pt x="213" y="46"/>
                </a:lnTo>
                <a:lnTo>
                  <a:pt x="229" y="39"/>
                </a:lnTo>
                <a:lnTo>
                  <a:pt x="246" y="33"/>
                </a:lnTo>
                <a:lnTo>
                  <a:pt x="262" y="27"/>
                </a:lnTo>
                <a:lnTo>
                  <a:pt x="278" y="21"/>
                </a:lnTo>
                <a:lnTo>
                  <a:pt x="295" y="16"/>
                </a:lnTo>
                <a:lnTo>
                  <a:pt x="311" y="12"/>
                </a:lnTo>
                <a:lnTo>
                  <a:pt x="327" y="8"/>
                </a:lnTo>
                <a:lnTo>
                  <a:pt x="344" y="4"/>
                </a:lnTo>
                <a:lnTo>
                  <a:pt x="360" y="2"/>
                </a:lnTo>
                <a:lnTo>
                  <a:pt x="377" y="0"/>
                </a:lnTo>
                <a:lnTo>
                  <a:pt x="393" y="0"/>
                </a:lnTo>
                <a:lnTo>
                  <a:pt x="393" y="6"/>
                </a:lnTo>
                <a:lnTo>
                  <a:pt x="377" y="7"/>
                </a:lnTo>
                <a:lnTo>
                  <a:pt x="360" y="8"/>
                </a:lnTo>
                <a:lnTo>
                  <a:pt x="344" y="11"/>
                </a:lnTo>
                <a:lnTo>
                  <a:pt x="327" y="14"/>
                </a:lnTo>
                <a:lnTo>
                  <a:pt x="311" y="18"/>
                </a:lnTo>
                <a:lnTo>
                  <a:pt x="295" y="23"/>
                </a:lnTo>
                <a:lnTo>
                  <a:pt x="278" y="28"/>
                </a:lnTo>
                <a:lnTo>
                  <a:pt x="262" y="33"/>
                </a:lnTo>
                <a:lnTo>
                  <a:pt x="246" y="39"/>
                </a:lnTo>
                <a:lnTo>
                  <a:pt x="229" y="46"/>
                </a:lnTo>
                <a:lnTo>
                  <a:pt x="213" y="52"/>
                </a:lnTo>
                <a:lnTo>
                  <a:pt x="196" y="59"/>
                </a:lnTo>
                <a:lnTo>
                  <a:pt x="180" y="65"/>
                </a:lnTo>
                <a:lnTo>
                  <a:pt x="164" y="72"/>
                </a:lnTo>
                <a:lnTo>
                  <a:pt x="147" y="78"/>
                </a:lnTo>
                <a:lnTo>
                  <a:pt x="131" y="84"/>
                </a:lnTo>
                <a:lnTo>
                  <a:pt x="114" y="90"/>
                </a:lnTo>
                <a:lnTo>
                  <a:pt x="98" y="95"/>
                </a:lnTo>
                <a:lnTo>
                  <a:pt x="82" y="99"/>
                </a:lnTo>
                <a:lnTo>
                  <a:pt x="65" y="103"/>
                </a:lnTo>
                <a:lnTo>
                  <a:pt x="49" y="107"/>
                </a:lnTo>
                <a:lnTo>
                  <a:pt x="33" y="109"/>
                </a:lnTo>
                <a:lnTo>
                  <a:pt x="16" y="111"/>
                </a:lnTo>
                <a:lnTo>
                  <a:pt x="0" y="111"/>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5476875"/>
            <a:ext cx="3743325" cy="628650"/>
          </a:xfrm>
          <a:custGeom>
            <a:avLst/>
            <a:gdLst/>
            <a:ahLst/>
            <a:cxnLst/>
            <a:rect l="l" t="t" r="r" b="b"/>
            <a:pathLst>
              <a:path w="393" h="66">
                <a:moveTo>
                  <a:pt x="0" y="61"/>
                </a:moveTo>
                <a:lnTo>
                  <a:pt x="16" y="61"/>
                </a:lnTo>
                <a:lnTo>
                  <a:pt x="33" y="60"/>
                </a:lnTo>
                <a:lnTo>
                  <a:pt x="49" y="58"/>
                </a:lnTo>
                <a:lnTo>
                  <a:pt x="65" y="57"/>
                </a:lnTo>
                <a:lnTo>
                  <a:pt x="82" y="54"/>
                </a:lnTo>
                <a:lnTo>
                  <a:pt x="98" y="52"/>
                </a:lnTo>
                <a:lnTo>
                  <a:pt x="114" y="49"/>
                </a:lnTo>
                <a:lnTo>
                  <a:pt x="131" y="45"/>
                </a:lnTo>
                <a:lnTo>
                  <a:pt x="147" y="42"/>
                </a:lnTo>
                <a:lnTo>
                  <a:pt x="164" y="38"/>
                </a:lnTo>
                <a:lnTo>
                  <a:pt x="180" y="34"/>
                </a:lnTo>
                <a:lnTo>
                  <a:pt x="196" y="30"/>
                </a:lnTo>
                <a:lnTo>
                  <a:pt x="213" y="27"/>
                </a:lnTo>
                <a:lnTo>
                  <a:pt x="229" y="23"/>
                </a:lnTo>
                <a:lnTo>
                  <a:pt x="246" y="19"/>
                </a:lnTo>
                <a:lnTo>
                  <a:pt x="262" y="16"/>
                </a:lnTo>
                <a:lnTo>
                  <a:pt x="278" y="12"/>
                </a:lnTo>
                <a:lnTo>
                  <a:pt x="295" y="9"/>
                </a:lnTo>
                <a:lnTo>
                  <a:pt x="311" y="7"/>
                </a:lnTo>
                <a:lnTo>
                  <a:pt x="327" y="4"/>
                </a:lnTo>
                <a:lnTo>
                  <a:pt x="344" y="2"/>
                </a:lnTo>
                <a:lnTo>
                  <a:pt x="360" y="1"/>
                </a:lnTo>
                <a:lnTo>
                  <a:pt x="377" y="0"/>
                </a:lnTo>
                <a:lnTo>
                  <a:pt x="393" y="0"/>
                </a:lnTo>
                <a:lnTo>
                  <a:pt x="393" y="5"/>
                </a:lnTo>
                <a:lnTo>
                  <a:pt x="377" y="5"/>
                </a:lnTo>
                <a:lnTo>
                  <a:pt x="360" y="6"/>
                </a:lnTo>
                <a:lnTo>
                  <a:pt x="344" y="7"/>
                </a:lnTo>
                <a:lnTo>
                  <a:pt x="327" y="9"/>
                </a:lnTo>
                <a:lnTo>
                  <a:pt x="311" y="12"/>
                </a:lnTo>
                <a:lnTo>
                  <a:pt x="295" y="14"/>
                </a:lnTo>
                <a:lnTo>
                  <a:pt x="278" y="17"/>
                </a:lnTo>
                <a:lnTo>
                  <a:pt x="262" y="21"/>
                </a:lnTo>
                <a:lnTo>
                  <a:pt x="246" y="24"/>
                </a:lnTo>
                <a:lnTo>
                  <a:pt x="229" y="28"/>
                </a:lnTo>
                <a:lnTo>
                  <a:pt x="213" y="32"/>
                </a:lnTo>
                <a:lnTo>
                  <a:pt x="196" y="35"/>
                </a:lnTo>
                <a:lnTo>
                  <a:pt x="180" y="39"/>
                </a:lnTo>
                <a:lnTo>
                  <a:pt x="164" y="43"/>
                </a:lnTo>
                <a:lnTo>
                  <a:pt x="147" y="47"/>
                </a:lnTo>
                <a:lnTo>
                  <a:pt x="131" y="50"/>
                </a:lnTo>
                <a:lnTo>
                  <a:pt x="114" y="54"/>
                </a:lnTo>
                <a:lnTo>
                  <a:pt x="98" y="57"/>
                </a:lnTo>
                <a:lnTo>
                  <a:pt x="82" y="59"/>
                </a:lnTo>
                <a:lnTo>
                  <a:pt x="65" y="62"/>
                </a:lnTo>
                <a:lnTo>
                  <a:pt x="49" y="64"/>
                </a:lnTo>
                <a:lnTo>
                  <a:pt x="33" y="65"/>
                </a:lnTo>
                <a:lnTo>
                  <a:pt x="16" y="66"/>
                </a:lnTo>
                <a:lnTo>
                  <a:pt x="0" y="66"/>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5857875"/>
            <a:ext cx="3743325" cy="285750"/>
          </a:xfrm>
          <a:custGeom>
            <a:avLst/>
            <a:gdLst/>
            <a:ahLst/>
            <a:cxnLst/>
            <a:rect l="l" t="t" r="r" b="b"/>
            <a:pathLst>
              <a:path w="393" h="30">
                <a:moveTo>
                  <a:pt x="0" y="26"/>
                </a:moveTo>
                <a:lnTo>
                  <a:pt x="16" y="26"/>
                </a:lnTo>
                <a:lnTo>
                  <a:pt x="33" y="26"/>
                </a:lnTo>
                <a:lnTo>
                  <a:pt x="49" y="25"/>
                </a:lnTo>
                <a:lnTo>
                  <a:pt x="65" y="24"/>
                </a:lnTo>
                <a:lnTo>
                  <a:pt x="82" y="23"/>
                </a:lnTo>
                <a:lnTo>
                  <a:pt x="98" y="22"/>
                </a:lnTo>
                <a:lnTo>
                  <a:pt x="114" y="21"/>
                </a:lnTo>
                <a:lnTo>
                  <a:pt x="131" y="19"/>
                </a:lnTo>
                <a:lnTo>
                  <a:pt x="147" y="18"/>
                </a:lnTo>
                <a:lnTo>
                  <a:pt x="164" y="16"/>
                </a:lnTo>
                <a:lnTo>
                  <a:pt x="180" y="15"/>
                </a:lnTo>
                <a:lnTo>
                  <a:pt x="196" y="13"/>
                </a:lnTo>
                <a:lnTo>
                  <a:pt x="213" y="12"/>
                </a:lnTo>
                <a:lnTo>
                  <a:pt x="229" y="10"/>
                </a:lnTo>
                <a:lnTo>
                  <a:pt x="246" y="9"/>
                </a:lnTo>
                <a:lnTo>
                  <a:pt x="262" y="7"/>
                </a:lnTo>
                <a:lnTo>
                  <a:pt x="278" y="6"/>
                </a:lnTo>
                <a:lnTo>
                  <a:pt x="295" y="4"/>
                </a:lnTo>
                <a:lnTo>
                  <a:pt x="311" y="3"/>
                </a:lnTo>
                <a:lnTo>
                  <a:pt x="327" y="2"/>
                </a:lnTo>
                <a:lnTo>
                  <a:pt x="344" y="1"/>
                </a:lnTo>
                <a:lnTo>
                  <a:pt x="360" y="1"/>
                </a:lnTo>
                <a:lnTo>
                  <a:pt x="377" y="0"/>
                </a:lnTo>
                <a:lnTo>
                  <a:pt x="393" y="0"/>
                </a:lnTo>
                <a:lnTo>
                  <a:pt x="393" y="4"/>
                </a:lnTo>
                <a:lnTo>
                  <a:pt x="377" y="4"/>
                </a:lnTo>
                <a:lnTo>
                  <a:pt x="360" y="5"/>
                </a:lnTo>
                <a:lnTo>
                  <a:pt x="344" y="5"/>
                </a:lnTo>
                <a:lnTo>
                  <a:pt x="327" y="6"/>
                </a:lnTo>
                <a:lnTo>
                  <a:pt x="311" y="7"/>
                </a:lnTo>
                <a:lnTo>
                  <a:pt x="295" y="8"/>
                </a:lnTo>
                <a:lnTo>
                  <a:pt x="278" y="9"/>
                </a:lnTo>
                <a:lnTo>
                  <a:pt x="262" y="11"/>
                </a:lnTo>
                <a:lnTo>
                  <a:pt x="246" y="12"/>
                </a:lnTo>
                <a:lnTo>
                  <a:pt x="229" y="14"/>
                </a:lnTo>
                <a:lnTo>
                  <a:pt x="213" y="15"/>
                </a:lnTo>
                <a:lnTo>
                  <a:pt x="196" y="17"/>
                </a:lnTo>
                <a:lnTo>
                  <a:pt x="180" y="19"/>
                </a:lnTo>
                <a:lnTo>
                  <a:pt x="164" y="20"/>
                </a:lnTo>
                <a:lnTo>
                  <a:pt x="147" y="22"/>
                </a:lnTo>
                <a:lnTo>
                  <a:pt x="131" y="23"/>
                </a:lnTo>
                <a:lnTo>
                  <a:pt x="114" y="25"/>
                </a:lnTo>
                <a:lnTo>
                  <a:pt x="98" y="26"/>
                </a:lnTo>
                <a:lnTo>
                  <a:pt x="82" y="27"/>
                </a:lnTo>
                <a:lnTo>
                  <a:pt x="65" y="28"/>
                </a:lnTo>
                <a:lnTo>
                  <a:pt x="49" y="29"/>
                </a:lnTo>
                <a:lnTo>
                  <a:pt x="33" y="29"/>
                </a:lnTo>
                <a:lnTo>
                  <a:pt x="16" y="30"/>
                </a:lnTo>
                <a:lnTo>
                  <a:pt x="0" y="30"/>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057400" y="6143625"/>
            <a:ext cx="3743325" cy="57150"/>
          </a:xfrm>
          <a:custGeom>
            <a:avLst/>
            <a:gdLst/>
            <a:ahLst/>
            <a:cxnLst/>
            <a:rect l="l" t="t" r="r" b="b"/>
            <a:pathLst>
              <a:path w="393" h="6">
                <a:moveTo>
                  <a:pt x="0" y="0"/>
                </a:moveTo>
                <a:lnTo>
                  <a:pt x="16" y="0"/>
                </a:lnTo>
                <a:lnTo>
                  <a:pt x="33" y="0"/>
                </a:lnTo>
                <a:lnTo>
                  <a:pt x="49" y="0"/>
                </a:lnTo>
                <a:lnTo>
                  <a:pt x="65" y="0"/>
                </a:lnTo>
                <a:lnTo>
                  <a:pt x="82" y="0"/>
                </a:lnTo>
                <a:lnTo>
                  <a:pt x="98" y="0"/>
                </a:lnTo>
                <a:lnTo>
                  <a:pt x="114" y="0"/>
                </a:lnTo>
                <a:lnTo>
                  <a:pt x="131" y="1"/>
                </a:lnTo>
                <a:lnTo>
                  <a:pt x="147" y="1"/>
                </a:lnTo>
                <a:lnTo>
                  <a:pt x="164" y="1"/>
                </a:lnTo>
                <a:lnTo>
                  <a:pt x="180" y="1"/>
                </a:lnTo>
                <a:lnTo>
                  <a:pt x="196" y="1"/>
                </a:lnTo>
                <a:lnTo>
                  <a:pt x="213" y="1"/>
                </a:lnTo>
                <a:lnTo>
                  <a:pt x="229" y="2"/>
                </a:lnTo>
                <a:lnTo>
                  <a:pt x="246" y="2"/>
                </a:lnTo>
                <a:lnTo>
                  <a:pt x="262" y="2"/>
                </a:lnTo>
                <a:lnTo>
                  <a:pt x="278" y="2"/>
                </a:lnTo>
                <a:lnTo>
                  <a:pt x="295" y="2"/>
                </a:lnTo>
                <a:lnTo>
                  <a:pt x="311" y="2"/>
                </a:lnTo>
                <a:lnTo>
                  <a:pt x="327" y="2"/>
                </a:lnTo>
                <a:lnTo>
                  <a:pt x="344" y="2"/>
                </a:lnTo>
                <a:lnTo>
                  <a:pt x="360" y="2"/>
                </a:lnTo>
                <a:lnTo>
                  <a:pt x="377" y="3"/>
                </a:lnTo>
                <a:lnTo>
                  <a:pt x="393" y="3"/>
                </a:lnTo>
                <a:lnTo>
                  <a:pt x="393" y="6"/>
                </a:lnTo>
                <a:lnTo>
                  <a:pt x="377" y="6"/>
                </a:lnTo>
                <a:lnTo>
                  <a:pt x="360" y="6"/>
                </a:lnTo>
                <a:lnTo>
                  <a:pt x="344" y="6"/>
                </a:lnTo>
                <a:lnTo>
                  <a:pt x="327" y="6"/>
                </a:lnTo>
                <a:lnTo>
                  <a:pt x="311" y="6"/>
                </a:lnTo>
                <a:lnTo>
                  <a:pt x="295" y="6"/>
                </a:lnTo>
                <a:lnTo>
                  <a:pt x="278" y="6"/>
                </a:lnTo>
                <a:lnTo>
                  <a:pt x="262" y="6"/>
                </a:lnTo>
                <a:lnTo>
                  <a:pt x="246" y="5"/>
                </a:lnTo>
                <a:lnTo>
                  <a:pt x="229" y="5"/>
                </a:lnTo>
                <a:lnTo>
                  <a:pt x="213" y="5"/>
                </a:lnTo>
                <a:lnTo>
                  <a:pt x="196" y="5"/>
                </a:lnTo>
                <a:lnTo>
                  <a:pt x="180" y="5"/>
                </a:lnTo>
                <a:lnTo>
                  <a:pt x="164" y="5"/>
                </a:lnTo>
                <a:lnTo>
                  <a:pt x="147" y="4"/>
                </a:lnTo>
                <a:lnTo>
                  <a:pt x="131" y="4"/>
                </a:lnTo>
                <a:lnTo>
                  <a:pt x="114" y="4"/>
                </a:lnTo>
                <a:lnTo>
                  <a:pt x="98" y="4"/>
                </a:lnTo>
                <a:lnTo>
                  <a:pt x="82" y="4"/>
                </a:lnTo>
                <a:lnTo>
                  <a:pt x="65" y="4"/>
                </a:lnTo>
                <a:lnTo>
                  <a:pt x="49" y="4"/>
                </a:lnTo>
                <a:lnTo>
                  <a:pt x="33" y="4"/>
                </a:lnTo>
                <a:lnTo>
                  <a:pt x="16" y="4"/>
                </a:lnTo>
                <a:lnTo>
                  <a:pt x="0" y="4"/>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057400" y="6181725"/>
            <a:ext cx="3743325" cy="323850"/>
          </a:xfrm>
          <a:custGeom>
            <a:avLst/>
            <a:gdLst/>
            <a:ahLst/>
            <a:cxnLst/>
            <a:rect l="l" t="t" r="r" b="b"/>
            <a:pathLst>
              <a:path w="393" h="34">
                <a:moveTo>
                  <a:pt x="0" y="0"/>
                </a:moveTo>
                <a:lnTo>
                  <a:pt x="16" y="0"/>
                </a:lnTo>
                <a:lnTo>
                  <a:pt x="33" y="0"/>
                </a:lnTo>
                <a:lnTo>
                  <a:pt x="49" y="1"/>
                </a:lnTo>
                <a:lnTo>
                  <a:pt x="65" y="2"/>
                </a:lnTo>
                <a:lnTo>
                  <a:pt x="82" y="3"/>
                </a:lnTo>
                <a:lnTo>
                  <a:pt x="98" y="5"/>
                </a:lnTo>
                <a:lnTo>
                  <a:pt x="114" y="6"/>
                </a:lnTo>
                <a:lnTo>
                  <a:pt x="131" y="8"/>
                </a:lnTo>
                <a:lnTo>
                  <a:pt x="147" y="10"/>
                </a:lnTo>
                <a:lnTo>
                  <a:pt x="164" y="12"/>
                </a:lnTo>
                <a:lnTo>
                  <a:pt x="180" y="14"/>
                </a:lnTo>
                <a:lnTo>
                  <a:pt x="196" y="16"/>
                </a:lnTo>
                <a:lnTo>
                  <a:pt x="213" y="18"/>
                </a:lnTo>
                <a:lnTo>
                  <a:pt x="229" y="20"/>
                </a:lnTo>
                <a:lnTo>
                  <a:pt x="246" y="22"/>
                </a:lnTo>
                <a:lnTo>
                  <a:pt x="262" y="24"/>
                </a:lnTo>
                <a:lnTo>
                  <a:pt x="278" y="25"/>
                </a:lnTo>
                <a:lnTo>
                  <a:pt x="295" y="27"/>
                </a:lnTo>
                <a:lnTo>
                  <a:pt x="311" y="28"/>
                </a:lnTo>
                <a:lnTo>
                  <a:pt x="327" y="30"/>
                </a:lnTo>
                <a:lnTo>
                  <a:pt x="344" y="31"/>
                </a:lnTo>
                <a:lnTo>
                  <a:pt x="360" y="31"/>
                </a:lnTo>
                <a:lnTo>
                  <a:pt x="377" y="32"/>
                </a:lnTo>
                <a:lnTo>
                  <a:pt x="393" y="32"/>
                </a:lnTo>
                <a:lnTo>
                  <a:pt x="393" y="34"/>
                </a:lnTo>
                <a:lnTo>
                  <a:pt x="377" y="34"/>
                </a:lnTo>
                <a:lnTo>
                  <a:pt x="360" y="34"/>
                </a:lnTo>
                <a:lnTo>
                  <a:pt x="344" y="33"/>
                </a:lnTo>
                <a:lnTo>
                  <a:pt x="327" y="32"/>
                </a:lnTo>
                <a:lnTo>
                  <a:pt x="311" y="31"/>
                </a:lnTo>
                <a:lnTo>
                  <a:pt x="295" y="29"/>
                </a:lnTo>
                <a:lnTo>
                  <a:pt x="278" y="28"/>
                </a:lnTo>
                <a:lnTo>
                  <a:pt x="262" y="26"/>
                </a:lnTo>
                <a:lnTo>
                  <a:pt x="246" y="24"/>
                </a:lnTo>
                <a:lnTo>
                  <a:pt x="229" y="22"/>
                </a:lnTo>
                <a:lnTo>
                  <a:pt x="213" y="20"/>
                </a:lnTo>
                <a:lnTo>
                  <a:pt x="196" y="18"/>
                </a:lnTo>
                <a:lnTo>
                  <a:pt x="180" y="16"/>
                </a:lnTo>
                <a:lnTo>
                  <a:pt x="164" y="14"/>
                </a:lnTo>
                <a:lnTo>
                  <a:pt x="147" y="12"/>
                </a:lnTo>
                <a:lnTo>
                  <a:pt x="131" y="10"/>
                </a:lnTo>
                <a:lnTo>
                  <a:pt x="114" y="9"/>
                </a:lnTo>
                <a:lnTo>
                  <a:pt x="98" y="7"/>
                </a:lnTo>
                <a:lnTo>
                  <a:pt x="82" y="6"/>
                </a:lnTo>
                <a:lnTo>
                  <a:pt x="65" y="4"/>
                </a:lnTo>
                <a:lnTo>
                  <a:pt x="49" y="3"/>
                </a:lnTo>
                <a:lnTo>
                  <a:pt x="33" y="3"/>
                </a:lnTo>
                <a:lnTo>
                  <a:pt x="16" y="2"/>
                </a:lnTo>
                <a:lnTo>
                  <a:pt x="0" y="2"/>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2057400" y="4495800"/>
            <a:ext cx="3743325" cy="1809750"/>
          </a:xfrm>
          <a:custGeom>
            <a:avLst/>
            <a:gdLst/>
            <a:ahLst/>
            <a:cxnLst/>
            <a:rect l="l" t="t" r="r" b="b"/>
            <a:pathLst>
              <a:path w="393" h="190">
                <a:moveTo>
                  <a:pt x="0" y="185"/>
                </a:moveTo>
                <a:lnTo>
                  <a:pt x="16" y="184"/>
                </a:lnTo>
                <a:lnTo>
                  <a:pt x="33" y="181"/>
                </a:lnTo>
                <a:lnTo>
                  <a:pt x="49" y="177"/>
                </a:lnTo>
                <a:lnTo>
                  <a:pt x="65" y="171"/>
                </a:lnTo>
                <a:lnTo>
                  <a:pt x="82" y="164"/>
                </a:lnTo>
                <a:lnTo>
                  <a:pt x="98" y="156"/>
                </a:lnTo>
                <a:lnTo>
                  <a:pt x="114" y="147"/>
                </a:lnTo>
                <a:lnTo>
                  <a:pt x="131" y="137"/>
                </a:lnTo>
                <a:lnTo>
                  <a:pt x="147" y="126"/>
                </a:lnTo>
                <a:lnTo>
                  <a:pt x="164" y="115"/>
                </a:lnTo>
                <a:lnTo>
                  <a:pt x="180" y="104"/>
                </a:lnTo>
                <a:lnTo>
                  <a:pt x="196" y="92"/>
                </a:lnTo>
                <a:lnTo>
                  <a:pt x="213" y="81"/>
                </a:lnTo>
                <a:lnTo>
                  <a:pt x="229" y="69"/>
                </a:lnTo>
                <a:lnTo>
                  <a:pt x="246" y="58"/>
                </a:lnTo>
                <a:lnTo>
                  <a:pt x="262" y="48"/>
                </a:lnTo>
                <a:lnTo>
                  <a:pt x="278" y="38"/>
                </a:lnTo>
                <a:lnTo>
                  <a:pt x="295" y="29"/>
                </a:lnTo>
                <a:lnTo>
                  <a:pt x="311" y="21"/>
                </a:lnTo>
                <a:lnTo>
                  <a:pt x="327" y="13"/>
                </a:lnTo>
                <a:lnTo>
                  <a:pt x="344" y="8"/>
                </a:lnTo>
                <a:lnTo>
                  <a:pt x="360" y="3"/>
                </a:lnTo>
                <a:lnTo>
                  <a:pt x="377" y="1"/>
                </a:lnTo>
                <a:lnTo>
                  <a:pt x="393" y="0"/>
                </a:lnTo>
                <a:lnTo>
                  <a:pt x="393" y="5"/>
                </a:lnTo>
                <a:lnTo>
                  <a:pt x="377" y="6"/>
                </a:lnTo>
                <a:lnTo>
                  <a:pt x="360" y="9"/>
                </a:lnTo>
                <a:lnTo>
                  <a:pt x="344" y="13"/>
                </a:lnTo>
                <a:lnTo>
                  <a:pt x="327" y="19"/>
                </a:lnTo>
                <a:lnTo>
                  <a:pt x="311" y="26"/>
                </a:lnTo>
                <a:lnTo>
                  <a:pt x="295" y="34"/>
                </a:lnTo>
                <a:lnTo>
                  <a:pt x="278" y="43"/>
                </a:lnTo>
                <a:lnTo>
                  <a:pt x="262" y="53"/>
                </a:lnTo>
                <a:lnTo>
                  <a:pt x="246" y="64"/>
                </a:lnTo>
                <a:lnTo>
                  <a:pt x="229" y="75"/>
                </a:lnTo>
                <a:lnTo>
                  <a:pt x="213" y="86"/>
                </a:lnTo>
                <a:lnTo>
                  <a:pt x="196" y="98"/>
                </a:lnTo>
                <a:lnTo>
                  <a:pt x="180" y="109"/>
                </a:lnTo>
                <a:lnTo>
                  <a:pt x="164" y="121"/>
                </a:lnTo>
                <a:lnTo>
                  <a:pt x="147" y="132"/>
                </a:lnTo>
                <a:lnTo>
                  <a:pt x="131" y="142"/>
                </a:lnTo>
                <a:lnTo>
                  <a:pt x="114" y="152"/>
                </a:lnTo>
                <a:lnTo>
                  <a:pt x="98" y="161"/>
                </a:lnTo>
                <a:lnTo>
                  <a:pt x="82" y="169"/>
                </a:lnTo>
                <a:lnTo>
                  <a:pt x="65" y="176"/>
                </a:lnTo>
                <a:lnTo>
                  <a:pt x="49" y="182"/>
                </a:lnTo>
                <a:lnTo>
                  <a:pt x="33" y="187"/>
                </a:lnTo>
                <a:lnTo>
                  <a:pt x="16" y="189"/>
                </a:lnTo>
                <a:lnTo>
                  <a:pt x="0" y="190"/>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057400" y="5057775"/>
            <a:ext cx="3743325" cy="1304925"/>
          </a:xfrm>
          <a:custGeom>
            <a:avLst/>
            <a:gdLst/>
            <a:ahLst/>
            <a:cxnLst/>
            <a:rect l="l" t="t" r="r" b="b"/>
            <a:pathLst>
              <a:path w="393" h="137">
                <a:moveTo>
                  <a:pt x="0" y="131"/>
                </a:moveTo>
                <a:lnTo>
                  <a:pt x="16" y="131"/>
                </a:lnTo>
                <a:lnTo>
                  <a:pt x="33" y="129"/>
                </a:lnTo>
                <a:lnTo>
                  <a:pt x="49" y="126"/>
                </a:lnTo>
                <a:lnTo>
                  <a:pt x="65" y="122"/>
                </a:lnTo>
                <a:lnTo>
                  <a:pt x="82" y="117"/>
                </a:lnTo>
                <a:lnTo>
                  <a:pt x="98" y="111"/>
                </a:lnTo>
                <a:lnTo>
                  <a:pt x="114" y="104"/>
                </a:lnTo>
                <a:lnTo>
                  <a:pt x="131" y="97"/>
                </a:lnTo>
                <a:lnTo>
                  <a:pt x="147" y="90"/>
                </a:lnTo>
                <a:lnTo>
                  <a:pt x="164" y="82"/>
                </a:lnTo>
                <a:lnTo>
                  <a:pt x="180" y="74"/>
                </a:lnTo>
                <a:lnTo>
                  <a:pt x="196" y="66"/>
                </a:lnTo>
                <a:lnTo>
                  <a:pt x="213" y="58"/>
                </a:lnTo>
                <a:lnTo>
                  <a:pt x="229" y="50"/>
                </a:lnTo>
                <a:lnTo>
                  <a:pt x="246" y="42"/>
                </a:lnTo>
                <a:lnTo>
                  <a:pt x="262" y="34"/>
                </a:lnTo>
                <a:lnTo>
                  <a:pt x="278" y="27"/>
                </a:lnTo>
                <a:lnTo>
                  <a:pt x="295" y="21"/>
                </a:lnTo>
                <a:lnTo>
                  <a:pt x="311" y="15"/>
                </a:lnTo>
                <a:lnTo>
                  <a:pt x="327" y="10"/>
                </a:lnTo>
                <a:lnTo>
                  <a:pt x="344" y="6"/>
                </a:lnTo>
                <a:lnTo>
                  <a:pt x="360" y="3"/>
                </a:lnTo>
                <a:lnTo>
                  <a:pt x="377" y="1"/>
                </a:lnTo>
                <a:lnTo>
                  <a:pt x="393" y="0"/>
                </a:lnTo>
                <a:lnTo>
                  <a:pt x="393" y="6"/>
                </a:lnTo>
                <a:lnTo>
                  <a:pt x="377" y="6"/>
                </a:lnTo>
                <a:lnTo>
                  <a:pt x="360" y="8"/>
                </a:lnTo>
                <a:lnTo>
                  <a:pt x="344" y="11"/>
                </a:lnTo>
                <a:lnTo>
                  <a:pt x="327" y="15"/>
                </a:lnTo>
                <a:lnTo>
                  <a:pt x="311" y="20"/>
                </a:lnTo>
                <a:lnTo>
                  <a:pt x="295" y="26"/>
                </a:lnTo>
                <a:lnTo>
                  <a:pt x="278" y="33"/>
                </a:lnTo>
                <a:lnTo>
                  <a:pt x="262" y="40"/>
                </a:lnTo>
                <a:lnTo>
                  <a:pt x="246" y="47"/>
                </a:lnTo>
                <a:lnTo>
                  <a:pt x="229" y="55"/>
                </a:lnTo>
                <a:lnTo>
                  <a:pt x="213" y="63"/>
                </a:lnTo>
                <a:lnTo>
                  <a:pt x="196" y="71"/>
                </a:lnTo>
                <a:lnTo>
                  <a:pt x="180" y="79"/>
                </a:lnTo>
                <a:lnTo>
                  <a:pt x="164" y="87"/>
                </a:lnTo>
                <a:lnTo>
                  <a:pt x="147" y="95"/>
                </a:lnTo>
                <a:lnTo>
                  <a:pt x="131" y="103"/>
                </a:lnTo>
                <a:lnTo>
                  <a:pt x="114" y="110"/>
                </a:lnTo>
                <a:lnTo>
                  <a:pt x="98" y="116"/>
                </a:lnTo>
                <a:lnTo>
                  <a:pt x="82" y="122"/>
                </a:lnTo>
                <a:lnTo>
                  <a:pt x="65" y="127"/>
                </a:lnTo>
                <a:lnTo>
                  <a:pt x="49" y="131"/>
                </a:lnTo>
                <a:lnTo>
                  <a:pt x="33" y="134"/>
                </a:lnTo>
                <a:lnTo>
                  <a:pt x="16" y="136"/>
                </a:lnTo>
                <a:lnTo>
                  <a:pt x="0" y="137"/>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057400" y="5524500"/>
            <a:ext cx="3743325" cy="866775"/>
          </a:xfrm>
          <a:custGeom>
            <a:avLst/>
            <a:gdLst/>
            <a:ahLst/>
            <a:cxnLst/>
            <a:rect l="l" t="t" r="r" b="b"/>
            <a:pathLst>
              <a:path w="393" h="91">
                <a:moveTo>
                  <a:pt x="0" y="88"/>
                </a:moveTo>
                <a:lnTo>
                  <a:pt x="16" y="87"/>
                </a:lnTo>
                <a:lnTo>
                  <a:pt x="33" y="86"/>
                </a:lnTo>
                <a:lnTo>
                  <a:pt x="49" y="84"/>
                </a:lnTo>
                <a:lnTo>
                  <a:pt x="65" y="81"/>
                </a:lnTo>
                <a:lnTo>
                  <a:pt x="82" y="78"/>
                </a:lnTo>
                <a:lnTo>
                  <a:pt x="98" y="74"/>
                </a:lnTo>
                <a:lnTo>
                  <a:pt x="114" y="70"/>
                </a:lnTo>
                <a:lnTo>
                  <a:pt x="131" y="65"/>
                </a:lnTo>
                <a:lnTo>
                  <a:pt x="147" y="60"/>
                </a:lnTo>
                <a:lnTo>
                  <a:pt x="164" y="55"/>
                </a:lnTo>
                <a:lnTo>
                  <a:pt x="180" y="49"/>
                </a:lnTo>
                <a:lnTo>
                  <a:pt x="196" y="44"/>
                </a:lnTo>
                <a:lnTo>
                  <a:pt x="213" y="38"/>
                </a:lnTo>
                <a:lnTo>
                  <a:pt x="229" y="33"/>
                </a:lnTo>
                <a:lnTo>
                  <a:pt x="246" y="28"/>
                </a:lnTo>
                <a:lnTo>
                  <a:pt x="262" y="23"/>
                </a:lnTo>
                <a:lnTo>
                  <a:pt x="278" y="18"/>
                </a:lnTo>
                <a:lnTo>
                  <a:pt x="295" y="14"/>
                </a:lnTo>
                <a:lnTo>
                  <a:pt x="311" y="10"/>
                </a:lnTo>
                <a:lnTo>
                  <a:pt x="327" y="6"/>
                </a:lnTo>
                <a:lnTo>
                  <a:pt x="344" y="4"/>
                </a:lnTo>
                <a:lnTo>
                  <a:pt x="360" y="2"/>
                </a:lnTo>
                <a:lnTo>
                  <a:pt x="377" y="0"/>
                </a:lnTo>
                <a:lnTo>
                  <a:pt x="393" y="0"/>
                </a:lnTo>
                <a:lnTo>
                  <a:pt x="393" y="4"/>
                </a:lnTo>
                <a:lnTo>
                  <a:pt x="377" y="4"/>
                </a:lnTo>
                <a:lnTo>
                  <a:pt x="360" y="5"/>
                </a:lnTo>
                <a:lnTo>
                  <a:pt x="344" y="7"/>
                </a:lnTo>
                <a:lnTo>
                  <a:pt x="327" y="10"/>
                </a:lnTo>
                <a:lnTo>
                  <a:pt x="311" y="14"/>
                </a:lnTo>
                <a:lnTo>
                  <a:pt x="295" y="17"/>
                </a:lnTo>
                <a:lnTo>
                  <a:pt x="278" y="22"/>
                </a:lnTo>
                <a:lnTo>
                  <a:pt x="262" y="26"/>
                </a:lnTo>
                <a:lnTo>
                  <a:pt x="246" y="31"/>
                </a:lnTo>
                <a:lnTo>
                  <a:pt x="229" y="37"/>
                </a:lnTo>
                <a:lnTo>
                  <a:pt x="213" y="42"/>
                </a:lnTo>
                <a:lnTo>
                  <a:pt x="196" y="48"/>
                </a:lnTo>
                <a:lnTo>
                  <a:pt x="180" y="53"/>
                </a:lnTo>
                <a:lnTo>
                  <a:pt x="164" y="58"/>
                </a:lnTo>
                <a:lnTo>
                  <a:pt x="147" y="64"/>
                </a:lnTo>
                <a:lnTo>
                  <a:pt x="131" y="69"/>
                </a:lnTo>
                <a:lnTo>
                  <a:pt x="114" y="73"/>
                </a:lnTo>
                <a:lnTo>
                  <a:pt x="98" y="78"/>
                </a:lnTo>
                <a:lnTo>
                  <a:pt x="82" y="82"/>
                </a:lnTo>
                <a:lnTo>
                  <a:pt x="65" y="85"/>
                </a:lnTo>
                <a:lnTo>
                  <a:pt x="49" y="88"/>
                </a:lnTo>
                <a:lnTo>
                  <a:pt x="33" y="90"/>
                </a:lnTo>
                <a:lnTo>
                  <a:pt x="16" y="91"/>
                </a:lnTo>
                <a:lnTo>
                  <a:pt x="0" y="91"/>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057400" y="5895975"/>
            <a:ext cx="3743325" cy="533400"/>
          </a:xfrm>
          <a:custGeom>
            <a:avLst/>
            <a:gdLst/>
            <a:ahLst/>
            <a:cxnLst/>
            <a:rect l="l" t="t" r="r" b="b"/>
            <a:pathLst>
              <a:path w="393" h="56">
                <a:moveTo>
                  <a:pt x="0" y="52"/>
                </a:moveTo>
                <a:lnTo>
                  <a:pt x="16" y="52"/>
                </a:lnTo>
                <a:lnTo>
                  <a:pt x="33" y="51"/>
                </a:lnTo>
                <a:lnTo>
                  <a:pt x="49" y="50"/>
                </a:lnTo>
                <a:lnTo>
                  <a:pt x="65" y="49"/>
                </a:lnTo>
                <a:lnTo>
                  <a:pt x="82" y="47"/>
                </a:lnTo>
                <a:lnTo>
                  <a:pt x="98" y="44"/>
                </a:lnTo>
                <a:lnTo>
                  <a:pt x="114" y="42"/>
                </a:lnTo>
                <a:lnTo>
                  <a:pt x="131" y="39"/>
                </a:lnTo>
                <a:lnTo>
                  <a:pt x="147" y="36"/>
                </a:lnTo>
                <a:lnTo>
                  <a:pt x="164" y="33"/>
                </a:lnTo>
                <a:lnTo>
                  <a:pt x="180" y="29"/>
                </a:lnTo>
                <a:lnTo>
                  <a:pt x="196" y="26"/>
                </a:lnTo>
                <a:lnTo>
                  <a:pt x="213" y="23"/>
                </a:lnTo>
                <a:lnTo>
                  <a:pt x="229" y="20"/>
                </a:lnTo>
                <a:lnTo>
                  <a:pt x="246" y="17"/>
                </a:lnTo>
                <a:lnTo>
                  <a:pt x="262" y="14"/>
                </a:lnTo>
                <a:lnTo>
                  <a:pt x="278" y="11"/>
                </a:lnTo>
                <a:lnTo>
                  <a:pt x="295" y="8"/>
                </a:lnTo>
                <a:lnTo>
                  <a:pt x="311" y="6"/>
                </a:lnTo>
                <a:lnTo>
                  <a:pt x="327" y="4"/>
                </a:lnTo>
                <a:lnTo>
                  <a:pt x="344" y="2"/>
                </a:lnTo>
                <a:lnTo>
                  <a:pt x="360" y="1"/>
                </a:lnTo>
                <a:lnTo>
                  <a:pt x="377" y="0"/>
                </a:lnTo>
                <a:lnTo>
                  <a:pt x="393" y="0"/>
                </a:lnTo>
                <a:lnTo>
                  <a:pt x="393" y="3"/>
                </a:lnTo>
                <a:lnTo>
                  <a:pt x="377" y="3"/>
                </a:lnTo>
                <a:lnTo>
                  <a:pt x="360" y="4"/>
                </a:lnTo>
                <a:lnTo>
                  <a:pt x="344" y="5"/>
                </a:lnTo>
                <a:lnTo>
                  <a:pt x="327" y="7"/>
                </a:lnTo>
                <a:lnTo>
                  <a:pt x="311" y="9"/>
                </a:lnTo>
                <a:lnTo>
                  <a:pt x="295" y="11"/>
                </a:lnTo>
                <a:lnTo>
                  <a:pt x="278" y="14"/>
                </a:lnTo>
                <a:lnTo>
                  <a:pt x="262" y="17"/>
                </a:lnTo>
                <a:lnTo>
                  <a:pt x="246" y="20"/>
                </a:lnTo>
                <a:lnTo>
                  <a:pt x="229" y="23"/>
                </a:lnTo>
                <a:lnTo>
                  <a:pt x="213" y="26"/>
                </a:lnTo>
                <a:lnTo>
                  <a:pt x="196" y="29"/>
                </a:lnTo>
                <a:lnTo>
                  <a:pt x="180" y="33"/>
                </a:lnTo>
                <a:lnTo>
                  <a:pt x="164" y="36"/>
                </a:lnTo>
                <a:lnTo>
                  <a:pt x="147" y="39"/>
                </a:lnTo>
                <a:lnTo>
                  <a:pt x="131" y="42"/>
                </a:lnTo>
                <a:lnTo>
                  <a:pt x="114" y="45"/>
                </a:lnTo>
                <a:lnTo>
                  <a:pt x="98" y="47"/>
                </a:lnTo>
                <a:lnTo>
                  <a:pt x="82" y="50"/>
                </a:lnTo>
                <a:lnTo>
                  <a:pt x="65" y="52"/>
                </a:lnTo>
                <a:lnTo>
                  <a:pt x="49" y="53"/>
                </a:lnTo>
                <a:lnTo>
                  <a:pt x="33" y="55"/>
                </a:lnTo>
                <a:lnTo>
                  <a:pt x="16" y="55"/>
                </a:lnTo>
                <a:lnTo>
                  <a:pt x="0" y="56"/>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057400" y="6200775"/>
            <a:ext cx="3743325" cy="247650"/>
          </a:xfrm>
          <a:custGeom>
            <a:avLst/>
            <a:gdLst/>
            <a:ahLst/>
            <a:cxnLst/>
            <a:rect l="l" t="t" r="r" b="b"/>
            <a:pathLst>
              <a:path w="393" h="26">
                <a:moveTo>
                  <a:pt x="0" y="24"/>
                </a:moveTo>
                <a:lnTo>
                  <a:pt x="16" y="23"/>
                </a:lnTo>
                <a:lnTo>
                  <a:pt x="33" y="23"/>
                </a:lnTo>
                <a:lnTo>
                  <a:pt x="49" y="23"/>
                </a:lnTo>
                <a:lnTo>
                  <a:pt x="65" y="22"/>
                </a:lnTo>
                <a:lnTo>
                  <a:pt x="82" y="21"/>
                </a:lnTo>
                <a:lnTo>
                  <a:pt x="98" y="20"/>
                </a:lnTo>
                <a:lnTo>
                  <a:pt x="114" y="19"/>
                </a:lnTo>
                <a:lnTo>
                  <a:pt x="131" y="18"/>
                </a:lnTo>
                <a:lnTo>
                  <a:pt x="147" y="16"/>
                </a:lnTo>
                <a:lnTo>
                  <a:pt x="164" y="15"/>
                </a:lnTo>
                <a:lnTo>
                  <a:pt x="180" y="13"/>
                </a:lnTo>
                <a:lnTo>
                  <a:pt x="196" y="12"/>
                </a:lnTo>
                <a:lnTo>
                  <a:pt x="213" y="11"/>
                </a:lnTo>
                <a:lnTo>
                  <a:pt x="229" y="9"/>
                </a:lnTo>
                <a:lnTo>
                  <a:pt x="246" y="8"/>
                </a:lnTo>
                <a:lnTo>
                  <a:pt x="262" y="6"/>
                </a:lnTo>
                <a:lnTo>
                  <a:pt x="278" y="5"/>
                </a:lnTo>
                <a:lnTo>
                  <a:pt x="295" y="4"/>
                </a:lnTo>
                <a:lnTo>
                  <a:pt x="311" y="3"/>
                </a:lnTo>
                <a:lnTo>
                  <a:pt x="327" y="2"/>
                </a:lnTo>
                <a:lnTo>
                  <a:pt x="344" y="1"/>
                </a:lnTo>
                <a:lnTo>
                  <a:pt x="360" y="1"/>
                </a:lnTo>
                <a:lnTo>
                  <a:pt x="377" y="0"/>
                </a:lnTo>
                <a:lnTo>
                  <a:pt x="393" y="0"/>
                </a:lnTo>
                <a:lnTo>
                  <a:pt x="393" y="3"/>
                </a:lnTo>
                <a:lnTo>
                  <a:pt x="377" y="3"/>
                </a:lnTo>
                <a:lnTo>
                  <a:pt x="360" y="4"/>
                </a:lnTo>
                <a:lnTo>
                  <a:pt x="344" y="4"/>
                </a:lnTo>
                <a:lnTo>
                  <a:pt x="327" y="5"/>
                </a:lnTo>
                <a:lnTo>
                  <a:pt x="311" y="6"/>
                </a:lnTo>
                <a:lnTo>
                  <a:pt x="295" y="7"/>
                </a:lnTo>
                <a:lnTo>
                  <a:pt x="278" y="8"/>
                </a:lnTo>
                <a:lnTo>
                  <a:pt x="262" y="9"/>
                </a:lnTo>
                <a:lnTo>
                  <a:pt x="246" y="11"/>
                </a:lnTo>
                <a:lnTo>
                  <a:pt x="229" y="12"/>
                </a:lnTo>
                <a:lnTo>
                  <a:pt x="213" y="13"/>
                </a:lnTo>
                <a:lnTo>
                  <a:pt x="196" y="15"/>
                </a:lnTo>
                <a:lnTo>
                  <a:pt x="180" y="16"/>
                </a:lnTo>
                <a:lnTo>
                  <a:pt x="164" y="18"/>
                </a:lnTo>
                <a:lnTo>
                  <a:pt x="147" y="19"/>
                </a:lnTo>
                <a:lnTo>
                  <a:pt x="131" y="20"/>
                </a:lnTo>
                <a:lnTo>
                  <a:pt x="114" y="22"/>
                </a:lnTo>
                <a:lnTo>
                  <a:pt x="98" y="23"/>
                </a:lnTo>
                <a:lnTo>
                  <a:pt x="82" y="24"/>
                </a:lnTo>
                <a:lnTo>
                  <a:pt x="65" y="25"/>
                </a:lnTo>
                <a:lnTo>
                  <a:pt x="49" y="25"/>
                </a:lnTo>
                <a:lnTo>
                  <a:pt x="33" y="26"/>
                </a:lnTo>
                <a:lnTo>
                  <a:pt x="16" y="26"/>
                </a:lnTo>
                <a:lnTo>
                  <a:pt x="0" y="26"/>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057400" y="6448425"/>
            <a:ext cx="3743325" cy="85725"/>
          </a:xfrm>
          <a:custGeom>
            <a:avLst/>
            <a:gdLst/>
            <a:ahLst/>
            <a:cxnLst/>
            <a:rect l="l" t="t" r="r" b="b"/>
            <a:pathLst>
              <a:path w="393" h="9">
                <a:moveTo>
                  <a:pt x="0" y="0"/>
                </a:moveTo>
                <a:lnTo>
                  <a:pt x="16" y="1"/>
                </a:lnTo>
                <a:lnTo>
                  <a:pt x="33" y="1"/>
                </a:lnTo>
                <a:lnTo>
                  <a:pt x="49" y="1"/>
                </a:lnTo>
                <a:lnTo>
                  <a:pt x="65" y="1"/>
                </a:lnTo>
                <a:lnTo>
                  <a:pt x="82" y="1"/>
                </a:lnTo>
                <a:lnTo>
                  <a:pt x="98" y="1"/>
                </a:lnTo>
                <a:lnTo>
                  <a:pt x="114" y="2"/>
                </a:lnTo>
                <a:lnTo>
                  <a:pt x="131" y="2"/>
                </a:lnTo>
                <a:lnTo>
                  <a:pt x="147" y="2"/>
                </a:lnTo>
                <a:lnTo>
                  <a:pt x="164" y="3"/>
                </a:lnTo>
                <a:lnTo>
                  <a:pt x="180" y="3"/>
                </a:lnTo>
                <a:lnTo>
                  <a:pt x="196" y="3"/>
                </a:lnTo>
                <a:lnTo>
                  <a:pt x="213" y="4"/>
                </a:lnTo>
                <a:lnTo>
                  <a:pt x="229" y="4"/>
                </a:lnTo>
                <a:lnTo>
                  <a:pt x="246" y="5"/>
                </a:lnTo>
                <a:lnTo>
                  <a:pt x="262" y="5"/>
                </a:lnTo>
                <a:lnTo>
                  <a:pt x="278" y="5"/>
                </a:lnTo>
                <a:lnTo>
                  <a:pt x="295" y="6"/>
                </a:lnTo>
                <a:lnTo>
                  <a:pt x="311" y="6"/>
                </a:lnTo>
                <a:lnTo>
                  <a:pt x="327" y="6"/>
                </a:lnTo>
                <a:lnTo>
                  <a:pt x="344" y="6"/>
                </a:lnTo>
                <a:lnTo>
                  <a:pt x="360" y="6"/>
                </a:lnTo>
                <a:lnTo>
                  <a:pt x="377" y="6"/>
                </a:lnTo>
                <a:lnTo>
                  <a:pt x="393" y="6"/>
                </a:lnTo>
                <a:lnTo>
                  <a:pt x="393" y="9"/>
                </a:lnTo>
                <a:lnTo>
                  <a:pt x="377" y="9"/>
                </a:lnTo>
                <a:lnTo>
                  <a:pt x="360" y="9"/>
                </a:lnTo>
                <a:lnTo>
                  <a:pt x="344" y="9"/>
                </a:lnTo>
                <a:lnTo>
                  <a:pt x="327" y="9"/>
                </a:lnTo>
                <a:lnTo>
                  <a:pt x="311" y="8"/>
                </a:lnTo>
                <a:lnTo>
                  <a:pt x="295" y="8"/>
                </a:lnTo>
                <a:lnTo>
                  <a:pt x="278" y="8"/>
                </a:lnTo>
                <a:lnTo>
                  <a:pt x="262" y="7"/>
                </a:lnTo>
                <a:lnTo>
                  <a:pt x="246" y="7"/>
                </a:lnTo>
                <a:lnTo>
                  <a:pt x="229" y="7"/>
                </a:lnTo>
                <a:lnTo>
                  <a:pt x="213" y="6"/>
                </a:lnTo>
                <a:lnTo>
                  <a:pt x="196" y="6"/>
                </a:lnTo>
                <a:lnTo>
                  <a:pt x="180" y="6"/>
                </a:lnTo>
                <a:lnTo>
                  <a:pt x="164" y="5"/>
                </a:lnTo>
                <a:lnTo>
                  <a:pt x="147" y="5"/>
                </a:lnTo>
                <a:lnTo>
                  <a:pt x="131" y="5"/>
                </a:lnTo>
                <a:lnTo>
                  <a:pt x="114" y="4"/>
                </a:lnTo>
                <a:lnTo>
                  <a:pt x="98" y="4"/>
                </a:lnTo>
                <a:lnTo>
                  <a:pt x="82" y="4"/>
                </a:lnTo>
                <a:lnTo>
                  <a:pt x="65" y="3"/>
                </a:lnTo>
                <a:lnTo>
                  <a:pt x="49" y="3"/>
                </a:lnTo>
                <a:lnTo>
                  <a:pt x="33" y="3"/>
                </a:lnTo>
                <a:lnTo>
                  <a:pt x="16" y="3"/>
                </a:lnTo>
                <a:lnTo>
                  <a:pt x="0" y="3"/>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941195" y="4076700"/>
            <a:ext cx="114300" cy="1313361"/>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941195" y="5447211"/>
            <a:ext cx="114300" cy="437121"/>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941195" y="5941483"/>
            <a:ext cx="114300" cy="259343"/>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941195" y="6257975"/>
            <a:ext cx="114300" cy="2190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800725" y="4019550"/>
            <a:ext cx="114300" cy="523453"/>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800725" y="4600153"/>
            <a:ext cx="114300" cy="510798"/>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800725" y="5168101"/>
            <a:ext cx="114300" cy="39156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800725" y="5616812"/>
            <a:ext cx="114300" cy="309668"/>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800725" y="5983630"/>
            <a:ext cx="114300" cy="24771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800725" y="6288491"/>
            <a:ext cx="114300" cy="24565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57175" y="4609556"/>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1" name="TextBox 50"/>
          <p:cNvSpPr txBox="1"/>
          <p:nvPr/>
        </p:nvSpPr>
        <p:spPr>
          <a:xfrm>
            <a:off x="257175" y="5594335"/>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2" name="TextBox 51"/>
          <p:cNvSpPr txBox="1"/>
          <p:nvPr/>
        </p:nvSpPr>
        <p:spPr>
          <a:xfrm>
            <a:off x="257175" y="5947329"/>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3" name="TextBox 52"/>
          <p:cNvSpPr txBox="1"/>
          <p:nvPr/>
        </p:nvSpPr>
        <p:spPr>
          <a:xfrm>
            <a:off x="257175" y="6243663"/>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4" name="TextBox 53"/>
          <p:cNvSpPr txBox="1"/>
          <p:nvPr/>
        </p:nvSpPr>
        <p:spPr>
          <a:xfrm>
            <a:off x="5972175" y="4157451"/>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5" name="TextBox 54"/>
          <p:cNvSpPr txBox="1"/>
          <p:nvPr/>
        </p:nvSpPr>
        <p:spPr>
          <a:xfrm>
            <a:off x="5972175" y="4784115"/>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6" name="TextBox 55"/>
          <p:cNvSpPr txBox="1"/>
          <p:nvPr/>
        </p:nvSpPr>
        <p:spPr>
          <a:xfrm>
            <a:off x="5972175" y="5292444"/>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7" name="TextBox 56"/>
          <p:cNvSpPr txBox="1"/>
          <p:nvPr/>
        </p:nvSpPr>
        <p:spPr>
          <a:xfrm>
            <a:off x="5972175" y="5647821"/>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8" name="TextBox 57"/>
          <p:cNvSpPr txBox="1"/>
          <p:nvPr/>
        </p:nvSpPr>
        <p:spPr>
          <a:xfrm>
            <a:off x="5972175" y="6036048"/>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9" name="TextBox 58"/>
          <p:cNvSpPr txBox="1"/>
          <p:nvPr/>
        </p:nvSpPr>
        <p:spPr>
          <a:xfrm>
            <a:off x="5972175" y="6286500"/>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0" name="Rounded Rectangle 59"/>
          <p:cNvSpPr/>
          <p:nvPr/>
        </p:nvSpPr>
        <p:spPr>
          <a:xfrm>
            <a:off x="7581900" y="3695700"/>
            <a:ext cx="4457700"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715250" y="3781425"/>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62" name="Rectangle 61"/>
          <p:cNvSpPr/>
          <p:nvPr/>
        </p:nvSpPr>
        <p:spPr>
          <a:xfrm>
            <a:off x="7715250" y="401955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715250" y="4105275"/>
            <a:ext cx="4191000" cy="24479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p:txBody>
      </p:sp>
      <p:sp>
        <p:nvSpPr>
          <p:cNvPr id="64" name="TextBox 6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5" name="Picture 64" descr="lock.png"/>
          <p:cNvPicPr>
            <a:picLocks noChangeAspect="1"/>
          </p:cNvPicPr>
          <p:nvPr/>
        </p:nvPicPr>
        <p:blipFill>
          <a:blip r:embed="rId4"/>
          <a:stretch>
            <a:fillRect/>
          </a:stretch>
        </p:blipFill>
        <p:spPr>
          <a:xfrm>
            <a:off x="7938815" y="2468245"/>
            <a:ext cx="366712" cy="533400"/>
          </a:xfrm>
          <a:prstGeom prst="rect">
            <a:avLst/>
          </a:prstGeom>
        </p:spPr>
      </p:pic>
      <p:sp>
        <p:nvSpPr>
          <p:cNvPr id="66" name="TextBox 65"/>
          <p:cNvSpPr txBox="1"/>
          <p:nvPr/>
        </p:nvSpPr>
        <p:spPr>
          <a:xfrm>
            <a:off x="353877" y="4612680"/>
            <a:ext cx="1511117" cy="139750"/>
          </a:xfrm>
          <a:prstGeom prst="rect">
            <a:avLst/>
          </a:prstGeom>
          <a:noFill/>
        </p:spPr>
        <p:txBody>
          <a:bodyPr wrap="none" lIns="0" rIns="0" tIns="0" bIns="0">
            <a:spAutoFit/>
          </a:bodyPr>
          <a:lstStyle/>
          <a:p>
            <a:r>
              <a:rPr sz="791" b="1">
                <a:solidFill>
                  <a:srgbClr val="2E2E2E"/>
                </a:solidFill>
                <a:latin typeface="Calibri"/>
              </a:rPr>
              <a:t>Support for Observable Age-Related</a:t>
            </a:r>
          </a:p>
        </p:txBody>
      </p:sp>
      <p:sp>
        <p:nvSpPr>
          <p:cNvPr id="67" name="TextBox 66"/>
          <p:cNvSpPr txBox="1"/>
          <p:nvPr/>
        </p:nvSpPr>
        <p:spPr>
          <a:xfrm>
            <a:off x="990088" y="4733381"/>
            <a:ext cx="840206" cy="139750"/>
          </a:xfrm>
          <a:prstGeom prst="rect">
            <a:avLst/>
          </a:prstGeom>
          <a:noFill/>
        </p:spPr>
        <p:txBody>
          <a:bodyPr wrap="none" lIns="0" rIns="0" tIns="0" bIns="0">
            <a:spAutoFit/>
          </a:bodyPr>
          <a:lstStyle/>
          <a:p>
            <a:r>
              <a:rPr sz="791" b="1">
                <a:solidFill>
                  <a:srgbClr val="2E2E2E"/>
                </a:solidFill>
                <a:latin typeface="Calibri"/>
              </a:rPr>
              <a:t>Cognitive Changes</a:t>
            </a:r>
          </a:p>
        </p:txBody>
      </p:sp>
      <p:pic>
        <p:nvPicPr>
          <p:cNvPr id="68" name="Picture 67" descr="lock.png"/>
          <p:cNvPicPr>
            <a:picLocks noChangeAspect="1"/>
          </p:cNvPicPr>
          <p:nvPr/>
        </p:nvPicPr>
        <p:blipFill>
          <a:blip r:embed="rId4"/>
          <a:stretch>
            <a:fillRect/>
          </a:stretch>
        </p:blipFill>
        <p:spPr>
          <a:xfrm>
            <a:off x="1771555" y="4726340"/>
            <a:ext cx="92663" cy="134782"/>
          </a:xfrm>
          <a:prstGeom prst="rect">
            <a:avLst/>
          </a:prstGeom>
        </p:spPr>
      </p:pic>
      <p:sp>
        <p:nvSpPr>
          <p:cNvPr id="69" name="TextBox 68"/>
          <p:cNvSpPr txBox="1"/>
          <p:nvPr/>
        </p:nvSpPr>
        <p:spPr>
          <a:xfrm>
            <a:off x="611523" y="5605422"/>
            <a:ext cx="1218771" cy="139750"/>
          </a:xfrm>
          <a:prstGeom prst="rect">
            <a:avLst/>
          </a:prstGeom>
          <a:noFill/>
        </p:spPr>
        <p:txBody>
          <a:bodyPr wrap="none" lIns="0" rIns="0" tIns="0" bIns="0">
            <a:spAutoFit/>
          </a:bodyPr>
          <a:lstStyle/>
          <a:p>
            <a:r>
              <a:rPr sz="791" b="1">
                <a:solidFill>
                  <a:srgbClr val="2E2E2E"/>
                </a:solidFill>
                <a:latin typeface="Calibri"/>
              </a:rPr>
              <a:t>Routine Cognitive Wellness</a:t>
            </a:r>
          </a:p>
        </p:txBody>
      </p:sp>
      <p:pic>
        <p:nvPicPr>
          <p:cNvPr id="70" name="Picture 69" descr="lock.png"/>
          <p:cNvPicPr>
            <a:picLocks noChangeAspect="1"/>
          </p:cNvPicPr>
          <p:nvPr/>
        </p:nvPicPr>
        <p:blipFill>
          <a:blip r:embed="rId4"/>
          <a:stretch>
            <a:fillRect/>
          </a:stretch>
        </p:blipFill>
        <p:spPr>
          <a:xfrm>
            <a:off x="1771555" y="5598381"/>
            <a:ext cx="92663" cy="134782"/>
          </a:xfrm>
          <a:prstGeom prst="rect">
            <a:avLst/>
          </a:prstGeom>
        </p:spPr>
      </p:pic>
      <p:sp>
        <p:nvSpPr>
          <p:cNvPr id="71" name="TextBox 70"/>
          <p:cNvSpPr txBox="1"/>
          <p:nvPr/>
        </p:nvSpPr>
        <p:spPr>
          <a:xfrm>
            <a:off x="498663" y="5950453"/>
            <a:ext cx="1366331" cy="139750"/>
          </a:xfrm>
          <a:prstGeom prst="rect">
            <a:avLst/>
          </a:prstGeom>
          <a:noFill/>
        </p:spPr>
        <p:txBody>
          <a:bodyPr wrap="none" lIns="0" rIns="0" tIns="0" bIns="0">
            <a:spAutoFit/>
          </a:bodyPr>
          <a:lstStyle/>
          <a:p>
            <a:r>
              <a:rPr sz="791" b="1">
                <a:solidFill>
                  <a:srgbClr val="2E2E2E"/>
                </a:solidFill>
                <a:latin typeface="Calibri"/>
              </a:rPr>
              <a:t>Preventive Cognitive Support for</a:t>
            </a:r>
          </a:p>
        </p:txBody>
      </p:sp>
      <p:sp>
        <p:nvSpPr>
          <p:cNvPr id="72" name="TextBox 71"/>
          <p:cNvSpPr txBox="1"/>
          <p:nvPr/>
        </p:nvSpPr>
        <p:spPr>
          <a:xfrm>
            <a:off x="1259229" y="6071154"/>
            <a:ext cx="571065" cy="139750"/>
          </a:xfrm>
          <a:prstGeom prst="rect">
            <a:avLst/>
          </a:prstGeom>
          <a:noFill/>
        </p:spPr>
        <p:txBody>
          <a:bodyPr wrap="none" lIns="0" rIns="0" tIns="0" bIns="0">
            <a:spAutoFit/>
          </a:bodyPr>
          <a:lstStyle/>
          <a:p>
            <a:r>
              <a:rPr sz="791" b="1">
                <a:solidFill>
                  <a:srgbClr val="2E2E2E"/>
                </a:solidFill>
                <a:latin typeface="Calibri"/>
              </a:rPr>
              <a:t>Senior Dogs</a:t>
            </a:r>
          </a:p>
        </p:txBody>
      </p:sp>
      <p:pic>
        <p:nvPicPr>
          <p:cNvPr id="73" name="Picture 72" descr="lock.png"/>
          <p:cNvPicPr>
            <a:picLocks noChangeAspect="1"/>
          </p:cNvPicPr>
          <p:nvPr/>
        </p:nvPicPr>
        <p:blipFill>
          <a:blip r:embed="rId4"/>
          <a:stretch>
            <a:fillRect/>
          </a:stretch>
        </p:blipFill>
        <p:spPr>
          <a:xfrm>
            <a:off x="1771555" y="6064113"/>
            <a:ext cx="92663" cy="134782"/>
          </a:xfrm>
          <a:prstGeom prst="rect">
            <a:avLst/>
          </a:prstGeom>
        </p:spPr>
      </p:pic>
      <p:sp>
        <p:nvSpPr>
          <p:cNvPr id="74" name="TextBox 73"/>
          <p:cNvSpPr txBox="1"/>
          <p:nvPr/>
        </p:nvSpPr>
        <p:spPr>
          <a:xfrm>
            <a:off x="674489" y="6246787"/>
            <a:ext cx="1190505" cy="139750"/>
          </a:xfrm>
          <a:prstGeom prst="rect">
            <a:avLst/>
          </a:prstGeom>
          <a:noFill/>
        </p:spPr>
        <p:txBody>
          <a:bodyPr wrap="none" lIns="0" rIns="0" tIns="0" bIns="0">
            <a:spAutoFit/>
          </a:bodyPr>
          <a:lstStyle/>
          <a:p>
            <a:r>
              <a:rPr sz="791" b="1">
                <a:solidFill>
                  <a:srgbClr val="2E2E2E"/>
                </a:solidFill>
                <a:latin typeface="Calibri"/>
              </a:rPr>
              <a:t>Veterinary-Guided Cognitive</a:t>
            </a:r>
          </a:p>
        </p:txBody>
      </p:sp>
      <p:sp>
        <p:nvSpPr>
          <p:cNvPr id="75" name="TextBox 74"/>
          <p:cNvSpPr txBox="1"/>
          <p:nvPr/>
        </p:nvSpPr>
        <p:spPr>
          <a:xfrm>
            <a:off x="895987" y="6367488"/>
            <a:ext cx="934307" cy="139750"/>
          </a:xfrm>
          <a:prstGeom prst="rect">
            <a:avLst/>
          </a:prstGeom>
          <a:noFill/>
        </p:spPr>
        <p:txBody>
          <a:bodyPr wrap="none" lIns="0" rIns="0" tIns="0" bIns="0">
            <a:spAutoFit/>
          </a:bodyPr>
          <a:lstStyle/>
          <a:p>
            <a:r>
              <a:rPr sz="791" b="1">
                <a:solidFill>
                  <a:srgbClr val="2E2E2E"/>
                </a:solidFill>
                <a:latin typeface="Calibri"/>
              </a:rPr>
              <a:t>Dysfunction Support</a:t>
            </a:r>
          </a:p>
        </p:txBody>
      </p:sp>
      <p:pic>
        <p:nvPicPr>
          <p:cNvPr id="76" name="Picture 75" descr="lock.png"/>
          <p:cNvPicPr>
            <a:picLocks noChangeAspect="1"/>
          </p:cNvPicPr>
          <p:nvPr/>
        </p:nvPicPr>
        <p:blipFill>
          <a:blip r:embed="rId4"/>
          <a:stretch>
            <a:fillRect/>
          </a:stretch>
        </p:blipFill>
        <p:spPr>
          <a:xfrm>
            <a:off x="1771555" y="6360447"/>
            <a:ext cx="92663" cy="134782"/>
          </a:xfrm>
          <a:prstGeom prst="rect">
            <a:avLst/>
          </a:prstGeom>
        </p:spPr>
      </p:pic>
      <p:sp>
        <p:nvSpPr>
          <p:cNvPr id="77" name="TextBox 76"/>
          <p:cNvSpPr txBox="1"/>
          <p:nvPr/>
        </p:nvSpPr>
        <p:spPr>
          <a:xfrm>
            <a:off x="5972175" y="4160575"/>
            <a:ext cx="1058858" cy="139750"/>
          </a:xfrm>
          <a:prstGeom prst="rect">
            <a:avLst/>
          </a:prstGeom>
          <a:noFill/>
        </p:spPr>
        <p:txBody>
          <a:bodyPr wrap="none" lIns="0" rIns="0" tIns="0" bIns="0">
            <a:spAutoFit/>
          </a:bodyPr>
          <a:lstStyle/>
          <a:p>
            <a:r>
              <a:rPr sz="791" b="1">
                <a:solidFill>
                  <a:srgbClr val="2E2E2E"/>
                </a:solidFill>
                <a:latin typeface="Calibri"/>
              </a:rPr>
              <a:t>Cellular Energy Support</a:t>
            </a:r>
          </a:p>
        </p:txBody>
      </p:sp>
      <p:sp>
        <p:nvSpPr>
          <p:cNvPr id="78" name="TextBox 77"/>
          <p:cNvSpPr txBox="1"/>
          <p:nvPr/>
        </p:nvSpPr>
        <p:spPr>
          <a:xfrm>
            <a:off x="5972175" y="4281276"/>
            <a:ext cx="549848" cy="139750"/>
          </a:xfrm>
          <a:prstGeom prst="rect">
            <a:avLst/>
          </a:prstGeom>
          <a:noFill/>
        </p:spPr>
        <p:txBody>
          <a:bodyPr wrap="none" lIns="0" rIns="0" tIns="0" bIns="0">
            <a:spAutoFit/>
          </a:bodyPr>
          <a:lstStyle/>
          <a:p>
            <a:r>
              <a:rPr sz="791" b="1">
                <a:solidFill>
                  <a:srgbClr val="2E2E2E"/>
                </a:solidFill>
                <a:latin typeface="Calibri"/>
              </a:rPr>
              <a:t>Ingredients</a:t>
            </a:r>
          </a:p>
        </p:txBody>
      </p:sp>
      <p:pic>
        <p:nvPicPr>
          <p:cNvPr id="79" name="Picture 78" descr="lock.png"/>
          <p:cNvPicPr>
            <a:picLocks noChangeAspect="1"/>
          </p:cNvPicPr>
          <p:nvPr/>
        </p:nvPicPr>
        <p:blipFill>
          <a:blip r:embed="rId4"/>
          <a:stretch>
            <a:fillRect/>
          </a:stretch>
        </p:blipFill>
        <p:spPr>
          <a:xfrm>
            <a:off x="6463284" y="4274235"/>
            <a:ext cx="92663" cy="134782"/>
          </a:xfrm>
          <a:prstGeom prst="rect">
            <a:avLst/>
          </a:prstGeom>
        </p:spPr>
      </p:pic>
      <p:sp>
        <p:nvSpPr>
          <p:cNvPr id="80" name="TextBox 79"/>
          <p:cNvSpPr txBox="1"/>
          <p:nvPr/>
        </p:nvSpPr>
        <p:spPr>
          <a:xfrm>
            <a:off x="5972175" y="4795202"/>
            <a:ext cx="1064948" cy="139750"/>
          </a:xfrm>
          <a:prstGeom prst="rect">
            <a:avLst/>
          </a:prstGeom>
          <a:noFill/>
        </p:spPr>
        <p:txBody>
          <a:bodyPr wrap="none" lIns="0" rIns="0" tIns="0" bIns="0">
            <a:spAutoFit/>
          </a:bodyPr>
          <a:lstStyle/>
          <a:p>
            <a:r>
              <a:rPr sz="791" b="1">
                <a:solidFill>
                  <a:srgbClr val="2E2E2E"/>
                </a:solidFill>
                <a:latin typeface="Calibri"/>
              </a:rPr>
              <a:t>Antioxidant Ingredients</a:t>
            </a:r>
          </a:p>
        </p:txBody>
      </p:sp>
      <p:pic>
        <p:nvPicPr>
          <p:cNvPr id="81" name="Picture 80" descr="lock.png"/>
          <p:cNvPicPr>
            <a:picLocks noChangeAspect="1"/>
          </p:cNvPicPr>
          <p:nvPr/>
        </p:nvPicPr>
        <p:blipFill>
          <a:blip r:embed="rId4"/>
          <a:stretch>
            <a:fillRect/>
          </a:stretch>
        </p:blipFill>
        <p:spPr>
          <a:xfrm>
            <a:off x="6978384" y="4788161"/>
            <a:ext cx="92663" cy="134782"/>
          </a:xfrm>
          <a:prstGeom prst="rect">
            <a:avLst/>
          </a:prstGeom>
        </p:spPr>
      </p:pic>
      <p:sp>
        <p:nvSpPr>
          <p:cNvPr id="82" name="TextBox 81"/>
          <p:cNvSpPr txBox="1"/>
          <p:nvPr/>
        </p:nvSpPr>
        <p:spPr>
          <a:xfrm>
            <a:off x="5972175" y="5303531"/>
            <a:ext cx="937014" cy="139750"/>
          </a:xfrm>
          <a:prstGeom prst="rect">
            <a:avLst/>
          </a:prstGeom>
          <a:noFill/>
        </p:spPr>
        <p:txBody>
          <a:bodyPr wrap="none" lIns="0" rIns="0" tIns="0" bIns="0">
            <a:spAutoFit/>
          </a:bodyPr>
          <a:lstStyle/>
          <a:p>
            <a:r>
              <a:rPr sz="791" b="1">
                <a:solidFill>
                  <a:srgbClr val="2E2E2E"/>
                </a:solidFill>
                <a:latin typeface="Calibri"/>
              </a:rPr>
              <a:t>Omega-3 Fatty Acids</a:t>
            </a:r>
          </a:p>
        </p:txBody>
      </p:sp>
      <p:pic>
        <p:nvPicPr>
          <p:cNvPr id="83" name="Picture 82" descr="lock.png"/>
          <p:cNvPicPr>
            <a:picLocks noChangeAspect="1"/>
          </p:cNvPicPr>
          <p:nvPr/>
        </p:nvPicPr>
        <p:blipFill>
          <a:blip r:embed="rId4"/>
          <a:stretch>
            <a:fillRect/>
          </a:stretch>
        </p:blipFill>
        <p:spPr>
          <a:xfrm>
            <a:off x="6850450" y="5296490"/>
            <a:ext cx="92663" cy="134782"/>
          </a:xfrm>
          <a:prstGeom prst="rect">
            <a:avLst/>
          </a:prstGeom>
        </p:spPr>
      </p:pic>
      <p:sp>
        <p:nvSpPr>
          <p:cNvPr id="84" name="TextBox 83"/>
          <p:cNvSpPr txBox="1"/>
          <p:nvPr/>
        </p:nvSpPr>
        <p:spPr>
          <a:xfrm>
            <a:off x="5972175" y="5650945"/>
            <a:ext cx="990492" cy="139750"/>
          </a:xfrm>
          <a:prstGeom prst="rect">
            <a:avLst/>
          </a:prstGeom>
          <a:noFill/>
        </p:spPr>
        <p:txBody>
          <a:bodyPr wrap="none" lIns="0" rIns="0" tIns="0" bIns="0">
            <a:spAutoFit/>
          </a:bodyPr>
          <a:lstStyle/>
          <a:p>
            <a:r>
              <a:rPr sz="791" b="1">
                <a:solidFill>
                  <a:srgbClr val="2E2E2E"/>
                </a:solidFill>
                <a:latin typeface="Calibri"/>
              </a:rPr>
              <a:t>Microbiome-Targeted</a:t>
            </a:r>
          </a:p>
        </p:txBody>
      </p:sp>
      <p:sp>
        <p:nvSpPr>
          <p:cNvPr id="85" name="TextBox 84"/>
          <p:cNvSpPr txBox="1"/>
          <p:nvPr/>
        </p:nvSpPr>
        <p:spPr>
          <a:xfrm>
            <a:off x="5972175" y="5771646"/>
            <a:ext cx="549848" cy="139750"/>
          </a:xfrm>
          <a:prstGeom prst="rect">
            <a:avLst/>
          </a:prstGeom>
          <a:noFill/>
        </p:spPr>
        <p:txBody>
          <a:bodyPr wrap="none" lIns="0" rIns="0" tIns="0" bIns="0">
            <a:spAutoFit/>
          </a:bodyPr>
          <a:lstStyle/>
          <a:p>
            <a:r>
              <a:rPr sz="791" b="1">
                <a:solidFill>
                  <a:srgbClr val="2E2E2E"/>
                </a:solidFill>
                <a:latin typeface="Calibri"/>
              </a:rPr>
              <a:t>Ingredients</a:t>
            </a:r>
          </a:p>
        </p:txBody>
      </p:sp>
      <p:pic>
        <p:nvPicPr>
          <p:cNvPr id="86" name="Picture 85" descr="lock.png"/>
          <p:cNvPicPr>
            <a:picLocks noChangeAspect="1"/>
          </p:cNvPicPr>
          <p:nvPr/>
        </p:nvPicPr>
        <p:blipFill>
          <a:blip r:embed="rId4"/>
          <a:stretch>
            <a:fillRect/>
          </a:stretch>
        </p:blipFill>
        <p:spPr>
          <a:xfrm>
            <a:off x="6463284" y="5764605"/>
            <a:ext cx="92663" cy="134782"/>
          </a:xfrm>
          <a:prstGeom prst="rect">
            <a:avLst/>
          </a:prstGeom>
        </p:spPr>
      </p:pic>
      <p:sp>
        <p:nvSpPr>
          <p:cNvPr id="87" name="TextBox 86"/>
          <p:cNvSpPr txBox="1"/>
          <p:nvPr/>
        </p:nvSpPr>
        <p:spPr>
          <a:xfrm>
            <a:off x="5972175" y="6047135"/>
            <a:ext cx="962989" cy="139750"/>
          </a:xfrm>
          <a:prstGeom prst="rect">
            <a:avLst/>
          </a:prstGeom>
          <a:noFill/>
        </p:spPr>
        <p:txBody>
          <a:bodyPr wrap="none" lIns="0" rIns="0" tIns="0" bIns="0">
            <a:spAutoFit/>
          </a:bodyPr>
          <a:lstStyle/>
          <a:p>
            <a:r>
              <a:rPr sz="791" b="1">
                <a:solidFill>
                  <a:srgbClr val="2E2E2E"/>
                </a:solidFill>
                <a:latin typeface="Calibri"/>
              </a:rPr>
              <a:t>Botanical Ingredients</a:t>
            </a:r>
          </a:p>
        </p:txBody>
      </p:sp>
      <p:pic>
        <p:nvPicPr>
          <p:cNvPr id="88" name="Picture 87" descr="lock.png"/>
          <p:cNvPicPr>
            <a:picLocks noChangeAspect="1"/>
          </p:cNvPicPr>
          <p:nvPr/>
        </p:nvPicPr>
        <p:blipFill>
          <a:blip r:embed="rId4"/>
          <a:stretch>
            <a:fillRect/>
          </a:stretch>
        </p:blipFill>
        <p:spPr>
          <a:xfrm>
            <a:off x="6876425" y="6040094"/>
            <a:ext cx="92663" cy="134782"/>
          </a:xfrm>
          <a:prstGeom prst="rect">
            <a:avLst/>
          </a:prstGeom>
        </p:spPr>
      </p:pic>
      <p:sp>
        <p:nvSpPr>
          <p:cNvPr id="89" name="TextBox 88"/>
          <p:cNvSpPr txBox="1"/>
          <p:nvPr/>
        </p:nvSpPr>
        <p:spPr>
          <a:xfrm>
            <a:off x="5972175" y="6349974"/>
            <a:ext cx="1179284" cy="139750"/>
          </a:xfrm>
          <a:prstGeom prst="rect">
            <a:avLst/>
          </a:prstGeom>
          <a:noFill/>
        </p:spPr>
        <p:txBody>
          <a:bodyPr wrap="none" lIns="0" rIns="0" tIns="0" bIns="0">
            <a:spAutoFit/>
          </a:bodyPr>
          <a:lstStyle/>
          <a:p>
            <a:r>
              <a:rPr sz="791" b="1">
                <a:solidFill>
                  <a:srgbClr val="2E2E2E"/>
                </a:solidFill>
                <a:latin typeface="Calibri"/>
              </a:rPr>
              <a:t>Neurofunctional Nutrients</a:t>
            </a:r>
          </a:p>
        </p:txBody>
      </p:sp>
      <p:pic>
        <p:nvPicPr>
          <p:cNvPr id="90" name="Picture 89" descr="lock.png"/>
          <p:cNvPicPr>
            <a:picLocks noChangeAspect="1"/>
          </p:cNvPicPr>
          <p:nvPr/>
        </p:nvPicPr>
        <p:blipFill>
          <a:blip r:embed="rId4"/>
          <a:stretch>
            <a:fillRect/>
          </a:stretch>
        </p:blipFill>
        <p:spPr>
          <a:xfrm>
            <a:off x="7092720" y="6342933"/>
            <a:ext cx="92663" cy="134782"/>
          </a:xfrm>
          <a:prstGeom prst="rect">
            <a:avLst/>
          </a:prstGeom>
        </p:spPr>
      </p:pic>
      <p:sp>
        <p:nvSpPr>
          <p:cNvPr id="91" name="TextBox 90"/>
          <p:cNvSpPr txBox="1"/>
          <p:nvPr/>
        </p:nvSpPr>
        <p:spPr>
          <a:xfrm>
            <a:off x="7715250" y="4114800"/>
            <a:ext cx="3750964" cy="186689"/>
          </a:xfrm>
          <a:prstGeom prst="rect">
            <a:avLst/>
          </a:prstGeom>
          <a:noFill/>
        </p:spPr>
        <p:txBody>
          <a:bodyPr wrap="none" lIns="0" rIns="0" tIns="0" bIns="0">
            <a:spAutoFit/>
          </a:bodyPr>
          <a:lstStyle/>
          <a:p>
            <a:r>
              <a:rPr sz="1100" b="0">
                <a:solidFill>
                  <a:srgbClr val="2E2E2E"/>
                </a:solidFill>
                <a:latin typeface="Calibri"/>
              </a:rPr>
              <a:t>Support for observable age-related cognitive changes segment is</a:t>
            </a:r>
          </a:p>
        </p:txBody>
      </p:sp>
      <p:sp>
        <p:nvSpPr>
          <p:cNvPr id="92" name="TextBox 91"/>
          <p:cNvSpPr txBox="1"/>
          <p:nvPr/>
        </p:nvSpPr>
        <p:spPr>
          <a:xfrm>
            <a:off x="7715250" y="4282440"/>
            <a:ext cx="4059287" cy="186689"/>
          </a:xfrm>
          <a:prstGeom prst="rect">
            <a:avLst/>
          </a:prstGeom>
          <a:noFill/>
        </p:spPr>
        <p:txBody>
          <a:bodyPr wrap="none" lIns="0" rIns="0" tIns="0" bIns="0">
            <a:spAutoFit/>
          </a:bodyPr>
          <a:lstStyle/>
          <a:p>
            <a:r>
              <a:rPr sz="1100" b="0">
                <a:solidFill>
                  <a:srgbClr val="2E2E2E"/>
                </a:solidFill>
                <a:latin typeface="Calibri"/>
              </a:rPr>
              <a:t>projected to account for the largest share of the North America senior</a:t>
            </a:r>
          </a:p>
        </p:txBody>
      </p:sp>
      <p:sp>
        <p:nvSpPr>
          <p:cNvPr id="93" name="TextBox 92"/>
          <p:cNvSpPr txBox="1"/>
          <p:nvPr/>
        </p:nvSpPr>
        <p:spPr>
          <a:xfrm>
            <a:off x="7715250" y="4450080"/>
            <a:ext cx="3739505" cy="186689"/>
          </a:xfrm>
          <a:prstGeom prst="rect">
            <a:avLst/>
          </a:prstGeom>
          <a:noFill/>
        </p:spPr>
        <p:txBody>
          <a:bodyPr wrap="none" lIns="0" rIns="0" tIns="0" bIns="0">
            <a:spAutoFit/>
          </a:bodyPr>
          <a:lstStyle/>
          <a:p>
            <a:r>
              <a:rPr sz="1100" b="0">
                <a:solidFill>
                  <a:srgbClr val="2E2E2E"/>
                </a:solidFill>
                <a:latin typeface="Calibri"/>
              </a:rPr>
              <a:t>dog cognitive supplement market, led by cellular energy support</a:t>
            </a:r>
          </a:p>
        </p:txBody>
      </p:sp>
      <p:sp>
        <p:nvSpPr>
          <p:cNvPr id="94" name="TextBox 93"/>
          <p:cNvSpPr txBox="1"/>
          <p:nvPr/>
        </p:nvSpPr>
        <p:spPr>
          <a:xfrm>
            <a:off x="7715250" y="4617720"/>
            <a:ext cx="1117947" cy="186689"/>
          </a:xfrm>
          <a:prstGeom prst="rect">
            <a:avLst/>
          </a:prstGeom>
          <a:noFill/>
        </p:spPr>
        <p:txBody>
          <a:bodyPr wrap="none" lIns="0" rIns="0" tIns="0" bIns="0">
            <a:spAutoFit/>
          </a:bodyPr>
          <a:lstStyle/>
          <a:p>
            <a:r>
              <a:rPr sz="1100" b="0">
                <a:solidFill>
                  <a:srgbClr val="2E2E2E"/>
                </a:solidFill>
                <a:latin typeface="Calibri"/>
              </a:rPr>
              <a:t>ingredients at US$</a:t>
            </a:r>
          </a:p>
        </p:txBody>
      </p:sp>
      <p:pic>
        <p:nvPicPr>
          <p:cNvPr id="95" name="Picture 94" descr="lock.png"/>
          <p:cNvPicPr>
            <a:picLocks noChangeAspect="1"/>
          </p:cNvPicPr>
          <p:nvPr/>
        </p:nvPicPr>
        <p:blipFill>
          <a:blip r:embed="rId4"/>
          <a:stretch>
            <a:fillRect/>
          </a:stretch>
        </p:blipFill>
        <p:spPr>
          <a:xfrm>
            <a:off x="8781248" y="4607941"/>
            <a:ext cx="128699" cy="187198"/>
          </a:xfrm>
          <a:prstGeom prst="rect">
            <a:avLst/>
          </a:prstGeom>
        </p:spPr>
      </p:pic>
      <p:sp>
        <p:nvSpPr>
          <p:cNvPr id="96" name="TextBox 95"/>
          <p:cNvSpPr txBox="1"/>
          <p:nvPr/>
        </p:nvSpPr>
        <p:spPr>
          <a:xfrm>
            <a:off x="8948744" y="4617720"/>
            <a:ext cx="2870472" cy="186689"/>
          </a:xfrm>
          <a:prstGeom prst="rect">
            <a:avLst/>
          </a:prstGeom>
          <a:noFill/>
        </p:spPr>
        <p:txBody>
          <a:bodyPr wrap="none" lIns="0" rIns="0" tIns="0" bIns="0">
            <a:spAutoFit/>
          </a:bodyPr>
          <a:lstStyle/>
          <a:p>
            <a:r>
              <a:rPr sz="1100" b="0">
                <a:solidFill>
                  <a:srgbClr val="2E2E2E"/>
                </a:solidFill>
                <a:latin typeface="Calibri"/>
              </a:rPr>
              <a:t>Mn in 2036. 'Support for Observable Age-Related</a:t>
            </a:r>
          </a:p>
        </p:txBody>
      </p:sp>
      <p:sp>
        <p:nvSpPr>
          <p:cNvPr id="97" name="TextBox 96"/>
          <p:cNvSpPr txBox="1"/>
          <p:nvPr/>
        </p:nvSpPr>
        <p:spPr>
          <a:xfrm>
            <a:off x="7715250" y="4785360"/>
            <a:ext cx="3990528" cy="186689"/>
          </a:xfrm>
          <a:prstGeom prst="rect">
            <a:avLst/>
          </a:prstGeom>
          <a:noFill/>
        </p:spPr>
        <p:txBody>
          <a:bodyPr wrap="none" lIns="0" rIns="0" tIns="0" bIns="0">
            <a:spAutoFit/>
          </a:bodyPr>
          <a:lstStyle/>
          <a:p>
            <a:r>
              <a:rPr sz="1100" b="0">
                <a:solidFill>
                  <a:srgbClr val="2E2E2E"/>
                </a:solidFill>
                <a:latin typeface="Calibri"/>
              </a:rPr>
              <a:t>Cognitive Changes × Cellular Energy Support Ingredients' is the single</a:t>
            </a:r>
          </a:p>
        </p:txBody>
      </p:sp>
      <p:sp>
        <p:nvSpPr>
          <p:cNvPr id="98" name="TextBox 97"/>
          <p:cNvSpPr txBox="1"/>
          <p:nvPr/>
        </p:nvSpPr>
        <p:spPr>
          <a:xfrm>
            <a:off x="7715250" y="4953000"/>
            <a:ext cx="1633636" cy="186689"/>
          </a:xfrm>
          <a:prstGeom prst="rect">
            <a:avLst/>
          </a:prstGeom>
          <a:noFill/>
        </p:spPr>
        <p:txBody>
          <a:bodyPr wrap="none" lIns="0" rIns="0" tIns="0" bIns="0">
            <a:spAutoFit/>
          </a:bodyPr>
          <a:lstStyle/>
          <a:p>
            <a:r>
              <a:rPr sz="1100" b="0">
                <a:solidFill>
                  <a:srgbClr val="2E2E2E"/>
                </a:solidFill>
                <a:latin typeface="Calibri"/>
              </a:rPr>
              <a:t>largest cross-sectional cell (</a:t>
            </a:r>
          </a:p>
        </p:txBody>
      </p:sp>
      <p:pic>
        <p:nvPicPr>
          <p:cNvPr id="99" name="Picture 98" descr="lock.png"/>
          <p:cNvPicPr>
            <a:picLocks noChangeAspect="1"/>
          </p:cNvPicPr>
          <p:nvPr/>
        </p:nvPicPr>
        <p:blipFill>
          <a:blip r:embed="rId4"/>
          <a:stretch>
            <a:fillRect/>
          </a:stretch>
        </p:blipFill>
        <p:spPr>
          <a:xfrm>
            <a:off x="9296938" y="4943221"/>
            <a:ext cx="128699" cy="187198"/>
          </a:xfrm>
          <a:prstGeom prst="rect">
            <a:avLst/>
          </a:prstGeom>
        </p:spPr>
      </p:pic>
      <p:sp>
        <p:nvSpPr>
          <p:cNvPr id="100" name="TextBox 99"/>
          <p:cNvSpPr txBox="1"/>
          <p:nvPr/>
        </p:nvSpPr>
        <p:spPr>
          <a:xfrm>
            <a:off x="9464434" y="4953000"/>
            <a:ext cx="1360239" cy="186689"/>
          </a:xfrm>
          <a:prstGeom prst="rect">
            <a:avLst/>
          </a:prstGeom>
          <a:noFill/>
        </p:spPr>
        <p:txBody>
          <a:bodyPr wrap="none" lIns="0" rIns="0" tIns="0" bIns="0">
            <a:spAutoFit/>
          </a:bodyPr>
          <a:lstStyle/>
          <a:p>
            <a:r>
              <a:rPr sz="1100" b="0">
                <a:solidFill>
                  <a:srgbClr val="2E2E2E"/>
                </a:solidFill>
                <a:latin typeface="Calibri"/>
              </a:rPr>
              <a:t>US$ Mn, 2026E), while</a:t>
            </a:r>
          </a:p>
        </p:txBody>
      </p:sp>
      <p:sp>
        <p:nvSpPr>
          <p:cNvPr id="101" name="TextBox 100"/>
          <p:cNvSpPr txBox="1"/>
          <p:nvPr/>
        </p:nvSpPr>
        <p:spPr>
          <a:xfrm>
            <a:off x="7715250" y="5120640"/>
            <a:ext cx="3710582" cy="186689"/>
          </a:xfrm>
          <a:prstGeom prst="rect">
            <a:avLst/>
          </a:prstGeom>
          <a:noFill/>
        </p:spPr>
        <p:txBody>
          <a:bodyPr wrap="none" lIns="0" rIns="0" tIns="0" bIns="0">
            <a:spAutoFit/>
          </a:bodyPr>
          <a:lstStyle/>
          <a:p>
            <a:r>
              <a:rPr sz="1100" b="0">
                <a:solidFill>
                  <a:srgbClr val="2E2E2E"/>
                </a:solidFill>
                <a:latin typeface="Calibri"/>
              </a:rPr>
              <a:t>'Veterinary-Guided Cognitive Dysfunction Support × Antioxidant</a:t>
            </a:r>
          </a:p>
        </p:txBody>
      </p:sp>
      <p:sp>
        <p:nvSpPr>
          <p:cNvPr id="102" name="TextBox 101"/>
          <p:cNvSpPr txBox="1"/>
          <p:nvPr/>
        </p:nvSpPr>
        <p:spPr>
          <a:xfrm>
            <a:off x="7715250" y="5288280"/>
            <a:ext cx="3027618" cy="186689"/>
          </a:xfrm>
          <a:prstGeom prst="rect">
            <a:avLst/>
          </a:prstGeom>
          <a:noFill/>
        </p:spPr>
        <p:txBody>
          <a:bodyPr wrap="none" lIns="0" rIns="0" tIns="0" bIns="0">
            <a:spAutoFit/>
          </a:bodyPr>
          <a:lstStyle/>
          <a:p>
            <a:r>
              <a:rPr sz="1100" b="0">
                <a:solidFill>
                  <a:srgbClr val="2E2E2E"/>
                </a:solidFill>
                <a:latin typeface="Calibri"/>
              </a:rPr>
              <a:t>Ingredients' records the fastest growth at a CAGR of</a:t>
            </a:r>
          </a:p>
        </p:txBody>
      </p:sp>
      <p:pic>
        <p:nvPicPr>
          <p:cNvPr id="103" name="Picture 102" descr="lock.png"/>
          <p:cNvPicPr>
            <a:picLocks noChangeAspect="1"/>
          </p:cNvPicPr>
          <p:nvPr/>
        </p:nvPicPr>
        <p:blipFill>
          <a:blip r:embed="rId4"/>
          <a:stretch>
            <a:fillRect/>
          </a:stretch>
        </p:blipFill>
        <p:spPr>
          <a:xfrm>
            <a:off x="10690919" y="5278501"/>
            <a:ext cx="128699" cy="187198"/>
          </a:xfrm>
          <a:prstGeom prst="rect">
            <a:avLst/>
          </a:prstGeom>
        </p:spPr>
      </p:pic>
      <p:sp>
        <p:nvSpPr>
          <p:cNvPr id="104" name="TextBox 103"/>
          <p:cNvSpPr txBox="1"/>
          <p:nvPr/>
        </p:nvSpPr>
        <p:spPr>
          <a:xfrm>
            <a:off x="10858415" y="5288280"/>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105" name="TextBox 104"/>
          <p:cNvSpPr txBox="1"/>
          <p:nvPr/>
        </p:nvSpPr>
        <p:spPr>
          <a:xfrm>
            <a:off x="7715250" y="5455920"/>
            <a:ext cx="880634" cy="186689"/>
          </a:xfrm>
          <a:prstGeom prst="rect">
            <a:avLst/>
          </a:prstGeom>
          <a:noFill/>
        </p:spPr>
        <p:txBody>
          <a:bodyPr wrap="none" lIns="0" rIns="0" tIns="0" bIns="0">
            <a:spAutoFit/>
          </a:bodyPr>
          <a:lstStyle/>
          <a:p>
            <a:r>
              <a:rPr sz="1100" b="0">
                <a:solidFill>
                  <a:srgbClr val="2E2E2E"/>
                </a:solidFill>
                <a:latin typeface="Calibri"/>
              </a:rPr>
              <a:t>2026E–2036F.</a:t>
            </a:r>
          </a:p>
        </p:txBody>
      </p:sp>
      <p:sp>
        <p:nvSpPr>
          <p:cNvPr id="106" name="TextBox 105"/>
          <p:cNvSpPr txBox="1"/>
          <p:nvPr/>
        </p:nvSpPr>
        <p:spPr>
          <a:xfrm>
            <a:off x="7715250" y="5673852"/>
            <a:ext cx="3997349" cy="186689"/>
          </a:xfrm>
          <a:prstGeom prst="rect">
            <a:avLst/>
          </a:prstGeom>
          <a:noFill/>
        </p:spPr>
        <p:txBody>
          <a:bodyPr wrap="none" lIns="0" rIns="0" tIns="0" bIns="0">
            <a:spAutoFit/>
          </a:bodyPr>
          <a:lstStyle/>
          <a:p>
            <a:r>
              <a:rPr sz="1100" b="0">
                <a:solidFill>
                  <a:srgbClr val="2E2E2E"/>
                </a:solidFill>
                <a:latin typeface="Calibri"/>
              </a:rPr>
              <a:t>Combined, the top three end-use application × active ingredient cells</a:t>
            </a:r>
          </a:p>
        </p:txBody>
      </p:sp>
      <p:sp>
        <p:nvSpPr>
          <p:cNvPr id="107" name="TextBox 106"/>
          <p:cNvSpPr txBox="1"/>
          <p:nvPr/>
        </p:nvSpPr>
        <p:spPr>
          <a:xfrm>
            <a:off x="7715250" y="5841492"/>
            <a:ext cx="2242095" cy="186689"/>
          </a:xfrm>
          <a:prstGeom prst="rect">
            <a:avLst/>
          </a:prstGeom>
          <a:noFill/>
        </p:spPr>
        <p:txBody>
          <a:bodyPr wrap="none" lIns="0" rIns="0" tIns="0" bIns="0">
            <a:spAutoFit/>
          </a:bodyPr>
          <a:lstStyle/>
          <a:p>
            <a:r>
              <a:rPr sz="1100" b="0">
                <a:solidFill>
                  <a:srgbClr val="2E2E2E"/>
                </a:solidFill>
                <a:latin typeface="Calibri"/>
              </a:rPr>
              <a:t>generate an absolute $ opportunity of</a:t>
            </a:r>
          </a:p>
        </p:txBody>
      </p:sp>
      <p:pic>
        <p:nvPicPr>
          <p:cNvPr id="108" name="Picture 107" descr="lock.png"/>
          <p:cNvPicPr>
            <a:picLocks noChangeAspect="1"/>
          </p:cNvPicPr>
          <p:nvPr/>
        </p:nvPicPr>
        <p:blipFill>
          <a:blip r:embed="rId4"/>
          <a:stretch>
            <a:fillRect/>
          </a:stretch>
        </p:blipFill>
        <p:spPr>
          <a:xfrm>
            <a:off x="9905397" y="5831713"/>
            <a:ext cx="128699" cy="187198"/>
          </a:xfrm>
          <a:prstGeom prst="rect">
            <a:avLst/>
          </a:prstGeom>
        </p:spPr>
      </p:pic>
      <p:sp>
        <p:nvSpPr>
          <p:cNvPr id="109" name="TextBox 108"/>
          <p:cNvSpPr txBox="1"/>
          <p:nvPr/>
        </p:nvSpPr>
        <p:spPr>
          <a:xfrm>
            <a:off x="10072893" y="5841492"/>
            <a:ext cx="1108465" cy="186689"/>
          </a:xfrm>
          <a:prstGeom prst="rect">
            <a:avLst/>
          </a:prstGeom>
          <a:noFill/>
        </p:spPr>
        <p:txBody>
          <a:bodyPr wrap="none" lIns="0" rIns="0" tIns="0" bIns="0">
            <a:spAutoFit/>
          </a:bodyPr>
          <a:lstStyle/>
          <a:p>
            <a:r>
              <a:rPr sz="1100" b="0">
                <a:solidFill>
                  <a:srgbClr val="2E2E2E"/>
                </a:solidFill>
                <a:latin typeface="Calibri"/>
              </a:rPr>
              <a:t>US$ Mn by 2036F.</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Share Analysis: End-use Application × Active Ingredient, 2026E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North America market value, each row split across all active ingredient sub-segments</a:t>
            </a:r>
          </a:p>
        </p:txBody>
      </p:sp>
      <p:sp>
        <p:nvSpPr>
          <p:cNvPr id="10" name="Rounded Rectangle 9"/>
          <p:cNvSpPr/>
          <p:nvPr/>
        </p:nvSpPr>
        <p:spPr>
          <a:xfrm>
            <a:off x="142875" y="981075"/>
            <a:ext cx="11906250" cy="2333625"/>
          </a:xfrm>
          <a:prstGeom prst="roundRect">
            <a:avLst>
              <a:gd name="adj" fmla="val 32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Share, End-use Application × Active Ingredient, 2026E (% of each row)</a:t>
            </a:r>
          </a:p>
        </p:txBody>
      </p:sp>
      <p:graphicFrame>
        <p:nvGraphicFramePr>
          <p:cNvPr id="12" name="Table 11"/>
          <p:cNvGraphicFramePr>
            <a:graphicFrameLocks noGrp="1"/>
          </p:cNvGraphicFramePr>
          <p:nvPr/>
        </p:nvGraphicFramePr>
        <p:xfrm>
          <a:off x="152400" y="1238250"/>
          <a:ext cx="11887200" cy="1866897"/>
        </p:xfrm>
        <a:graphic>
          <a:graphicData uri="http://schemas.openxmlformats.org/drawingml/2006/table">
            <a:tbl>
              <a:tblPr>
                <a:tableStyleId>{5C22544A-7EE6-4342-B048-85BDC9FD1C3A}</a:tableStyleId>
              </a:tblPr>
              <a:tblGrid>
                <a:gridCol w="3413450"/>
                <a:gridCol w="1002136"/>
                <a:gridCol w="1209278"/>
                <a:gridCol w="1427255"/>
                <a:gridCol w="1592151"/>
                <a:gridCol w="1117668"/>
                <a:gridCol w="1581456"/>
                <a:gridCol w="543806"/>
              </a:tblGrid>
              <a:tr h="631697">
                <a:tc>
                  <a:txBody>
                    <a:bodyPr wrap="none"/>
                    <a:lstStyle/>
                    <a:p>
                      <a:pPr algn="l"/>
                      <a:r>
                        <a:rPr sz="1100" b="1">
                          <a:solidFill>
                            <a:srgbClr val="0B2E4A"/>
                          </a:solidFill>
                          <a:latin typeface="Calibri"/>
                        </a:rPr>
                        <a:t>End-use Application</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Omega-3 Fatty Acids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Antioxidant Ingredients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Neurofunctional Nutrients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Cellular Energy Support Ingredients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Botanical Ingredients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Microbiome-Targeted Ingredients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7040">
                <a:tc>
                  <a:txBody>
                    <a:bodyPr wrap="none"/>
                    <a:lstStyle/>
                    <a:p>
                      <a:pPr algn="l"/>
                      <a:r>
                        <a:rPr sz="1100" b="1">
                          <a:solidFill>
                            <a:srgbClr val="2E2E2E"/>
                          </a:solidFill>
                          <a:latin typeface="Calibri"/>
                        </a:rPr>
                        <a:t>Routine Cognitive Wellness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040">
                <a:tc>
                  <a:txBody>
                    <a:bodyPr wrap="none"/>
                    <a:lstStyle/>
                    <a:p>
                      <a:pPr algn="l"/>
                      <a:r>
                        <a:rPr sz="1100" b="1">
                          <a:solidFill>
                            <a:srgbClr val="2E2E2E"/>
                          </a:solidFill>
                          <a:latin typeface="Calibri"/>
                        </a:rPr>
                        <a:t>Preventive Cognitive Support for Senior Dogs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040">
                <a:tc>
                  <a:txBody>
                    <a:bodyPr wrap="none"/>
                    <a:lstStyle/>
                    <a:p>
                      <a:pPr algn="l"/>
                      <a:r>
                        <a:rPr sz="1100" b="1">
                          <a:solidFill>
                            <a:srgbClr val="2E2E2E"/>
                          </a:solidFill>
                          <a:latin typeface="Calibri"/>
                        </a:rPr>
                        <a:t>Support for Observable Age-Related Cognitive Changes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040">
                <a:tc>
                  <a:txBody>
                    <a:bodyPr wrap="none"/>
                    <a:lstStyle/>
                    <a:p>
                      <a:pPr algn="l"/>
                      <a:r>
                        <a:rPr sz="1100" b="1">
                          <a:solidFill>
                            <a:srgbClr val="2E2E2E"/>
                          </a:solidFill>
                          <a:latin typeface="Calibri"/>
                        </a:rPr>
                        <a:t>Veterinary-Guided Cognitive Dysfunction Support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04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114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448050"/>
            <a:ext cx="7286625"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50520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Active Ingredient Mix by End-use Application, 2026E (% share)</a:t>
            </a:r>
          </a:p>
        </p:txBody>
      </p:sp>
      <p:graphicFrame>
        <p:nvGraphicFramePr>
          <p:cNvPr id="16" name="Chart 15"/>
          <p:cNvGraphicFramePr>
            <a:graphicFrameLocks noGrp="1"/>
          </p:cNvGraphicFramePr>
          <p:nvPr/>
        </p:nvGraphicFramePr>
        <p:xfrm>
          <a:off x="238125" y="3733800"/>
          <a:ext cx="7096125" cy="2838450"/>
        </p:xfrm>
        <a:graphic>
          <a:graphicData uri="http://schemas.openxmlformats.org/drawingml/2006/chart">
            <c:chart xmlns:c="http://schemas.openxmlformats.org/drawingml/2006/chart" r:id="rId3"/>
          </a:graphicData>
        </a:graphic>
      </p:graphicFrame>
      <p:sp>
        <p:nvSpPr>
          <p:cNvPr id="17" name="Rounded Rectangle 16"/>
          <p:cNvSpPr/>
          <p:nvPr/>
        </p:nvSpPr>
        <p:spPr>
          <a:xfrm>
            <a:off x="7581900" y="3448050"/>
            <a:ext cx="445770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5250" y="3533775"/>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9" name="Rectangle 18"/>
          <p:cNvSpPr/>
          <p:nvPr/>
        </p:nvSpPr>
        <p:spPr>
          <a:xfrm>
            <a:off x="7715250" y="377190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5250" y="3857625"/>
            <a:ext cx="4191000" cy="2695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7616034" y="2220847"/>
            <a:ext cx="366712" cy="533400"/>
          </a:xfrm>
          <a:prstGeom prst="rect">
            <a:avLst/>
          </a:prstGeom>
        </p:spPr>
      </p:pic>
      <p:pic>
        <p:nvPicPr>
          <p:cNvPr id="23" name="Picture 22" descr="lock.png"/>
          <p:cNvPicPr>
            <a:picLocks noChangeAspect="1"/>
          </p:cNvPicPr>
          <p:nvPr/>
        </p:nvPicPr>
        <p:blipFill>
          <a:blip r:embed="rId5"/>
          <a:stretch>
            <a:fillRect/>
          </a:stretch>
        </p:blipFill>
        <p:spPr>
          <a:xfrm>
            <a:off x="3745414" y="4331036"/>
            <a:ext cx="370092" cy="538315"/>
          </a:xfrm>
          <a:prstGeom prst="rect">
            <a:avLst/>
          </a:prstGeom>
        </p:spPr>
      </p:pic>
      <p:sp>
        <p:nvSpPr>
          <p:cNvPr id="24" name="TextBox 23"/>
          <p:cNvSpPr txBox="1"/>
          <p:nvPr/>
        </p:nvSpPr>
        <p:spPr>
          <a:xfrm>
            <a:off x="7715250" y="3867150"/>
            <a:ext cx="3896035" cy="194310"/>
          </a:xfrm>
          <a:prstGeom prst="rect">
            <a:avLst/>
          </a:prstGeom>
          <a:noFill/>
        </p:spPr>
        <p:txBody>
          <a:bodyPr wrap="none" lIns="0" rIns="0" tIns="0" bIns="0">
            <a:spAutoFit/>
          </a:bodyPr>
          <a:lstStyle/>
          <a:p>
            <a:r>
              <a:rPr sz="1150" b="0">
                <a:solidFill>
                  <a:srgbClr val="2E2E2E"/>
                </a:solidFill>
                <a:latin typeface="Calibri"/>
              </a:rPr>
              <a:t>▪ 'Cellular Energy Support Ingredients' holds the highest share of</a:t>
            </a:r>
          </a:p>
        </p:txBody>
      </p:sp>
      <p:sp>
        <p:nvSpPr>
          <p:cNvPr id="25" name="TextBox 24"/>
          <p:cNvSpPr txBox="1"/>
          <p:nvPr/>
        </p:nvSpPr>
        <p:spPr>
          <a:xfrm>
            <a:off x="7715250" y="4042410"/>
            <a:ext cx="3558294" cy="194310"/>
          </a:xfrm>
          <a:prstGeom prst="rect">
            <a:avLst/>
          </a:prstGeom>
          <a:noFill/>
        </p:spPr>
        <p:txBody>
          <a:bodyPr wrap="none" lIns="0" rIns="0" tIns="0" bIns="0">
            <a:spAutoFit/>
          </a:bodyPr>
          <a:lstStyle/>
          <a:p>
            <a:r>
              <a:rPr sz="1150" b="0">
                <a:solidFill>
                  <a:srgbClr val="2E2E2E"/>
                </a:solidFill>
                <a:latin typeface="Calibri"/>
              </a:rPr>
              <a:t>'Support for Observable Age-Related Cognitive Changes' at</a:t>
            </a:r>
          </a:p>
        </p:txBody>
      </p:sp>
      <p:pic>
        <p:nvPicPr>
          <p:cNvPr id="26" name="Picture 25" descr="lock.png"/>
          <p:cNvPicPr>
            <a:picLocks noChangeAspect="1"/>
          </p:cNvPicPr>
          <p:nvPr/>
        </p:nvPicPr>
        <p:blipFill>
          <a:blip r:embed="rId5"/>
          <a:stretch>
            <a:fillRect/>
          </a:stretch>
        </p:blipFill>
        <p:spPr>
          <a:xfrm>
            <a:off x="11222698" y="4032186"/>
            <a:ext cx="134549" cy="195707"/>
          </a:xfrm>
          <a:prstGeom prst="rect">
            <a:avLst/>
          </a:prstGeom>
        </p:spPr>
      </p:pic>
      <p:sp>
        <p:nvSpPr>
          <p:cNvPr id="27" name="TextBox 26"/>
          <p:cNvSpPr txBox="1"/>
          <p:nvPr/>
        </p:nvSpPr>
        <p:spPr>
          <a:xfrm>
            <a:off x="7715250" y="4217670"/>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8" name="TextBox 27"/>
          <p:cNvSpPr txBox="1"/>
          <p:nvPr/>
        </p:nvSpPr>
        <p:spPr>
          <a:xfrm>
            <a:off x="7715250" y="4445507"/>
            <a:ext cx="4171950" cy="194310"/>
          </a:xfrm>
          <a:prstGeom prst="rect">
            <a:avLst/>
          </a:prstGeom>
          <a:noFill/>
        </p:spPr>
        <p:txBody>
          <a:bodyPr wrap="none" lIns="0" rIns="0" tIns="0" bIns="0">
            <a:spAutoFit/>
          </a:bodyPr>
          <a:lstStyle/>
          <a:p>
            <a:r>
              <a:rPr sz="1150" b="0">
                <a:solidFill>
                  <a:srgbClr val="2E2E2E"/>
                </a:solidFill>
                <a:latin typeface="Calibri"/>
              </a:rPr>
              <a:t>▪ 'Support for Observable Age-Related Cognitive Changes' is the most</a:t>
            </a:r>
          </a:p>
        </p:txBody>
      </p:sp>
      <p:sp>
        <p:nvSpPr>
          <p:cNvPr id="29" name="TextBox 28"/>
          <p:cNvSpPr txBox="1"/>
          <p:nvPr/>
        </p:nvSpPr>
        <p:spPr>
          <a:xfrm>
            <a:off x="7715250" y="4620767"/>
            <a:ext cx="3209999" cy="194310"/>
          </a:xfrm>
          <a:prstGeom prst="rect">
            <a:avLst/>
          </a:prstGeom>
          <a:noFill/>
        </p:spPr>
        <p:txBody>
          <a:bodyPr wrap="none" lIns="0" rIns="0" tIns="0" bIns="0">
            <a:spAutoFit/>
          </a:bodyPr>
          <a:lstStyle/>
          <a:p>
            <a:r>
              <a:rPr sz="1150" b="0">
                <a:solidFill>
                  <a:srgbClr val="2E2E2E"/>
                </a:solidFill>
                <a:latin typeface="Calibri"/>
              </a:rPr>
              <a:t>concentrated end-use application sub-segment, with</a:t>
            </a:r>
          </a:p>
        </p:txBody>
      </p:sp>
      <p:pic>
        <p:nvPicPr>
          <p:cNvPr id="30" name="Picture 29" descr="lock.png"/>
          <p:cNvPicPr>
            <a:picLocks noChangeAspect="1"/>
          </p:cNvPicPr>
          <p:nvPr/>
        </p:nvPicPr>
        <p:blipFill>
          <a:blip r:embed="rId5"/>
          <a:stretch>
            <a:fillRect/>
          </a:stretch>
        </p:blipFill>
        <p:spPr>
          <a:xfrm>
            <a:off x="10874403" y="4610544"/>
            <a:ext cx="134549" cy="195707"/>
          </a:xfrm>
          <a:prstGeom prst="rect">
            <a:avLst/>
          </a:prstGeom>
        </p:spPr>
      </p:pic>
      <p:sp>
        <p:nvSpPr>
          <p:cNvPr id="31" name="TextBox 30"/>
          <p:cNvSpPr txBox="1"/>
          <p:nvPr/>
        </p:nvSpPr>
        <p:spPr>
          <a:xfrm>
            <a:off x="11049512" y="4620767"/>
            <a:ext cx="722585" cy="194310"/>
          </a:xfrm>
          <a:prstGeom prst="rect">
            <a:avLst/>
          </a:prstGeom>
          <a:noFill/>
        </p:spPr>
        <p:txBody>
          <a:bodyPr wrap="none" lIns="0" rIns="0" tIns="0" bIns="0">
            <a:spAutoFit/>
          </a:bodyPr>
          <a:lstStyle/>
          <a:p>
            <a:r>
              <a:rPr sz="1150" b="0">
                <a:solidFill>
                  <a:srgbClr val="2E2E2E"/>
                </a:solidFill>
                <a:latin typeface="Calibri"/>
              </a:rPr>
              <a:t>of its value</a:t>
            </a:r>
          </a:p>
        </p:txBody>
      </p:sp>
      <p:sp>
        <p:nvSpPr>
          <p:cNvPr id="32" name="TextBox 31"/>
          <p:cNvSpPr txBox="1"/>
          <p:nvPr/>
        </p:nvSpPr>
        <p:spPr>
          <a:xfrm>
            <a:off x="7715250" y="4796027"/>
            <a:ext cx="2481746" cy="194310"/>
          </a:xfrm>
          <a:prstGeom prst="rect">
            <a:avLst/>
          </a:prstGeom>
          <a:noFill/>
        </p:spPr>
        <p:txBody>
          <a:bodyPr wrap="none" lIns="0" rIns="0" tIns="0" bIns="0">
            <a:spAutoFit/>
          </a:bodyPr>
          <a:lstStyle/>
          <a:p>
            <a:r>
              <a:rPr sz="1150" b="0">
                <a:solidFill>
                  <a:srgbClr val="2E2E2E"/>
                </a:solidFill>
                <a:latin typeface="Calibri"/>
              </a:rPr>
              <a:t>via 'Cellular Energy Support Ingredients'.</a:t>
            </a:r>
          </a:p>
        </p:txBody>
      </p:sp>
      <p:sp>
        <p:nvSpPr>
          <p:cNvPr id="33" name="TextBox 32"/>
          <p:cNvSpPr txBox="1"/>
          <p:nvPr/>
        </p:nvSpPr>
        <p:spPr>
          <a:xfrm>
            <a:off x="7715250" y="5023865"/>
            <a:ext cx="2065845" cy="194310"/>
          </a:xfrm>
          <a:prstGeom prst="rect">
            <a:avLst/>
          </a:prstGeom>
          <a:noFill/>
        </p:spPr>
        <p:txBody>
          <a:bodyPr wrap="none" lIns="0" rIns="0" tIns="0" bIns="0">
            <a:spAutoFit/>
          </a:bodyPr>
          <a:lstStyle/>
          <a:p>
            <a:r>
              <a:rPr sz="1150" b="0">
                <a:solidFill>
                  <a:srgbClr val="2E2E2E"/>
                </a:solidFill>
                <a:latin typeface="Calibri"/>
              </a:rPr>
              <a:t>▪ 'Antioxidant Ingredients' gains +</a:t>
            </a:r>
          </a:p>
        </p:txBody>
      </p:sp>
      <p:pic>
        <p:nvPicPr>
          <p:cNvPr id="34" name="Picture 33" descr="lock.png"/>
          <p:cNvPicPr>
            <a:picLocks noChangeAspect="1"/>
          </p:cNvPicPr>
          <p:nvPr/>
        </p:nvPicPr>
        <p:blipFill>
          <a:blip r:embed="rId5"/>
          <a:stretch>
            <a:fillRect/>
          </a:stretch>
        </p:blipFill>
        <p:spPr>
          <a:xfrm>
            <a:off x="9730249" y="5013642"/>
            <a:ext cx="134549" cy="195707"/>
          </a:xfrm>
          <a:prstGeom prst="rect">
            <a:avLst/>
          </a:prstGeom>
        </p:spPr>
      </p:pic>
      <p:sp>
        <p:nvSpPr>
          <p:cNvPr id="35" name="TextBox 34"/>
          <p:cNvSpPr txBox="1"/>
          <p:nvPr/>
        </p:nvSpPr>
        <p:spPr>
          <a:xfrm>
            <a:off x="9905359" y="5023865"/>
            <a:ext cx="1581199" cy="194310"/>
          </a:xfrm>
          <a:prstGeom prst="rect">
            <a:avLst/>
          </a:prstGeom>
          <a:noFill/>
        </p:spPr>
        <p:txBody>
          <a:bodyPr wrap="none" lIns="0" rIns="0" tIns="0" bIns="0">
            <a:spAutoFit/>
          </a:bodyPr>
          <a:lstStyle/>
          <a:p>
            <a:r>
              <a:rPr sz="1150" b="0">
                <a:solidFill>
                  <a:srgbClr val="2E2E2E"/>
                </a:solidFill>
                <a:latin typeface="Calibri"/>
              </a:rPr>
              <a:t>BPS of share of the North</a:t>
            </a:r>
          </a:p>
        </p:txBody>
      </p:sp>
      <p:sp>
        <p:nvSpPr>
          <p:cNvPr id="36" name="TextBox 35"/>
          <p:cNvSpPr txBox="1"/>
          <p:nvPr/>
        </p:nvSpPr>
        <p:spPr>
          <a:xfrm>
            <a:off x="7715250" y="5199125"/>
            <a:ext cx="1986046" cy="194310"/>
          </a:xfrm>
          <a:prstGeom prst="rect">
            <a:avLst/>
          </a:prstGeom>
          <a:noFill/>
        </p:spPr>
        <p:txBody>
          <a:bodyPr wrap="none" lIns="0" rIns="0" tIns="0" bIns="0">
            <a:spAutoFit/>
          </a:bodyPr>
          <a:lstStyle/>
          <a:p>
            <a:r>
              <a:rPr sz="1150" b="0">
                <a:solidFill>
                  <a:srgbClr val="2E2E2E"/>
                </a:solidFill>
                <a:latin typeface="Calibri"/>
              </a:rPr>
              <a:t>America cross-section by 2036F.</a:t>
            </a:r>
          </a:p>
        </p:txBody>
      </p:sp>
      <p:sp>
        <p:nvSpPr>
          <p:cNvPr id="37" name="lockshield_16"/>
          <p:cNvSpPr/>
          <p:nvPr/>
        </p:nvSpPr>
        <p:spPr>
          <a:xfrm>
            <a:off x="238125" y="3733800"/>
            <a:ext cx="7096125" cy="2838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&amp; Attractiveness: End-use Application × Active Ingredient,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2581275"/>
          </a:xfrm>
          <a:prstGeom prst="roundRect">
            <a:avLst>
              <a:gd name="adj" fmla="val 295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End-use Application × Active Ingredient, 2026E–2036F</a:t>
            </a:r>
          </a:p>
        </p:txBody>
      </p:sp>
      <p:graphicFrame>
        <p:nvGraphicFramePr>
          <p:cNvPr id="12" name="Table 11"/>
          <p:cNvGraphicFramePr>
            <a:graphicFrameLocks noGrp="1"/>
          </p:cNvGraphicFramePr>
          <p:nvPr/>
        </p:nvGraphicFramePr>
        <p:xfrm>
          <a:off x="152400" y="1238250"/>
          <a:ext cx="11887195" cy="2114549"/>
        </p:xfrm>
        <a:graphic>
          <a:graphicData uri="http://schemas.openxmlformats.org/drawingml/2006/table">
            <a:tbl>
              <a:tblPr>
                <a:tableStyleId>{5C22544A-7EE6-4342-B048-85BDC9FD1C3A}</a:tableStyleId>
              </a:tblPr>
              <a:tblGrid>
                <a:gridCol w="3515601"/>
                <a:gridCol w="597971"/>
                <a:gridCol w="597971"/>
                <a:gridCol w="597971"/>
                <a:gridCol w="597971"/>
                <a:gridCol w="597971"/>
                <a:gridCol w="597971"/>
                <a:gridCol w="597971"/>
                <a:gridCol w="597971"/>
                <a:gridCol w="597971"/>
                <a:gridCol w="597971"/>
                <a:gridCol w="597971"/>
                <a:gridCol w="597971"/>
                <a:gridCol w="597971"/>
                <a:gridCol w="597971"/>
              </a:tblGrid>
              <a:tr h="631697">
                <a:tc rowSpan="2">
                  <a:txBody>
                    <a:bodyPr wrap="none"/>
                    <a:lstStyle/>
                    <a:p>
                      <a:pPr algn="l"/>
                      <a:r>
                        <a:rPr sz="1100" b="1">
                          <a:solidFill>
                            <a:srgbClr val="0B2E4A"/>
                          </a:solidFill>
                          <a:latin typeface="Calibri"/>
                        </a:rPr>
                        <a:t>End-use Application</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Omega-3 Fatty</a:t>
                      </a:r>
                      <a:endParaRPr sz="1100"/>
                    </a:p>
                    <a:p>
                      <a:pPr algn="ctr"/>
                      <a:r>
                        <a:rPr sz="1100" b="1">
                          <a:solidFill>
                            <a:srgbClr val="0B2E4A"/>
                          </a:solidFill>
                          <a:latin typeface="Calibri"/>
                        </a:rPr>
                        <a:t>Acids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Antioxidant</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Neurofunctional</a:t>
                      </a:r>
                      <a:endParaRPr sz="1100"/>
                    </a:p>
                    <a:p>
                      <a:pPr algn="ctr"/>
                      <a:r>
                        <a:rPr sz="1100" b="1">
                          <a:solidFill>
                            <a:srgbClr val="0B2E4A"/>
                          </a:solidFill>
                          <a:latin typeface="Calibri"/>
                        </a:rPr>
                        <a:t>Nutrients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Cellular Energy</a:t>
                      </a:r>
                      <a:endParaRPr sz="1100"/>
                    </a:p>
                    <a:p>
                      <a:pPr algn="ctr"/>
                      <a:r>
                        <a:rPr sz="1100" b="1">
                          <a:solidFill>
                            <a:srgbClr val="0B2E4A"/>
                          </a:solidFill>
                          <a:latin typeface="Calibri"/>
                        </a:rPr>
                        <a:t>Support</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Botanical</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Microbiome-</a:t>
                      </a:r>
                      <a:endParaRPr sz="1100"/>
                    </a:p>
                    <a:p>
                      <a:pPr algn="ctr"/>
                      <a:r>
                        <a:rPr sz="1100" b="1">
                          <a:solidFill>
                            <a:srgbClr val="0B2E4A"/>
                          </a:solidFill>
                          <a:latin typeface="Calibri"/>
                        </a:rPr>
                        <a:t>Targeted</a:t>
                      </a:r>
                      <a:endParaRPr sz="1100"/>
                    </a:p>
                    <a:p>
                      <a:pPr algn="ctr"/>
                      <a:r>
                        <a:rPr sz="1100" b="1">
                          <a:solidFill>
                            <a:srgbClr val="0B2E4A"/>
                          </a:solidFill>
                          <a:latin typeface="Calibri"/>
                        </a:rPr>
                        <a:t>Ingredients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7142">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7142">
                <a:tc>
                  <a:txBody>
                    <a:bodyPr wrap="none"/>
                    <a:lstStyle/>
                    <a:p>
                      <a:pPr algn="l"/>
                      <a:r>
                        <a:rPr sz="1100" b="1">
                          <a:solidFill>
                            <a:srgbClr val="2E2E2E"/>
                          </a:solidFill>
                          <a:latin typeface="Calibri"/>
                        </a:rPr>
                        <a:t>Routine Cognitive Wellness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142">
                <a:tc>
                  <a:txBody>
                    <a:bodyPr wrap="none"/>
                    <a:lstStyle/>
                    <a:p>
                      <a:pPr algn="l"/>
                      <a:r>
                        <a:rPr sz="1100" b="1">
                          <a:solidFill>
                            <a:srgbClr val="2E2E2E"/>
                          </a:solidFill>
                          <a:latin typeface="Calibri"/>
                        </a:rPr>
                        <a:t>Preventive Cognitive Support for Senior Dogs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142">
                <a:tc>
                  <a:txBody>
                    <a:bodyPr wrap="none"/>
                    <a:lstStyle/>
                    <a:p>
                      <a:pPr algn="l"/>
                      <a:r>
                        <a:rPr sz="1100" b="1">
                          <a:solidFill>
                            <a:srgbClr val="2E2E2E"/>
                          </a:solidFill>
                          <a:latin typeface="Calibri"/>
                        </a:rPr>
                        <a:t>Support for Observable Age-Related Cognitive Changes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142">
                <a:tc>
                  <a:txBody>
                    <a:bodyPr wrap="none"/>
                    <a:lstStyle/>
                    <a:p>
                      <a:pPr algn="l"/>
                      <a:r>
                        <a:rPr sz="1100" b="1">
                          <a:solidFill>
                            <a:srgbClr val="2E2E2E"/>
                          </a:solidFill>
                          <a:latin typeface="Calibri"/>
                        </a:rPr>
                        <a:t>Veterinary-Guided Cognitive Dysfunction Support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142">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3623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695700"/>
            <a:ext cx="5600700"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781425"/>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4019550"/>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105275"/>
            <a:ext cx="5334000" cy="2447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5895975" y="3695700"/>
            <a:ext cx="1943100" cy="29337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3781425"/>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40195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4105275"/>
            <a:ext cx="1676400" cy="2447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3695700"/>
            <a:ext cx="1943100" cy="29337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3781425"/>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40195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4105275"/>
            <a:ext cx="1676400" cy="2447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3695700"/>
            <a:ext cx="1943100" cy="29337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3781425"/>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40195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4105275"/>
            <a:ext cx="1676400" cy="2447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'Preventive Cognitive Support for Senior Dogs × Antioxidant Ingredients' ranks highest (5/5); 'Routine Cognitive Wellness × Botanical Ingredients'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7667108" y="2468245"/>
            <a:ext cx="366712" cy="533400"/>
          </a:xfrm>
          <a:prstGeom prst="rect">
            <a:avLst/>
          </a:prstGeom>
        </p:spPr>
      </p:pic>
      <p:sp>
        <p:nvSpPr>
          <p:cNvPr id="32" name="TextBox 31"/>
          <p:cNvSpPr txBox="1"/>
          <p:nvPr/>
        </p:nvSpPr>
        <p:spPr>
          <a:xfrm>
            <a:off x="276225" y="4114800"/>
            <a:ext cx="5106082" cy="194310"/>
          </a:xfrm>
          <a:prstGeom prst="rect">
            <a:avLst/>
          </a:prstGeom>
          <a:noFill/>
        </p:spPr>
        <p:txBody>
          <a:bodyPr wrap="none" lIns="0" rIns="0" tIns="0" bIns="0">
            <a:spAutoFit/>
          </a:bodyPr>
          <a:lstStyle/>
          <a:p>
            <a:r>
              <a:rPr sz="1150" b="0">
                <a:solidFill>
                  <a:srgbClr val="2E2E2E"/>
                </a:solidFill>
                <a:latin typeface="Calibri"/>
              </a:rPr>
              <a:t>▪ 1. Support for Observable Age-Related Cognitive Changes × Cellular Energy Support</a:t>
            </a:r>
          </a:p>
        </p:txBody>
      </p:sp>
      <p:sp>
        <p:nvSpPr>
          <p:cNvPr id="33" name="TextBox 32"/>
          <p:cNvSpPr txBox="1"/>
          <p:nvPr/>
        </p:nvSpPr>
        <p:spPr>
          <a:xfrm>
            <a:off x="276225" y="4290060"/>
            <a:ext cx="854087" cy="194310"/>
          </a:xfrm>
          <a:prstGeom prst="rect">
            <a:avLst/>
          </a:prstGeom>
          <a:noFill/>
        </p:spPr>
        <p:txBody>
          <a:bodyPr wrap="none" lIns="0" rIns="0" tIns="0" bIns="0">
            <a:spAutoFit/>
          </a:bodyPr>
          <a:lstStyle/>
          <a:p>
            <a:r>
              <a:rPr sz="1150" b="0">
                <a:solidFill>
                  <a:srgbClr val="2E2E2E"/>
                </a:solidFill>
                <a:latin typeface="Calibri"/>
              </a:rPr>
              <a:t>Ingredients –</a:t>
            </a:r>
          </a:p>
        </p:txBody>
      </p:sp>
      <p:pic>
        <p:nvPicPr>
          <p:cNvPr id="34" name="Picture 33" descr="lock.png"/>
          <p:cNvPicPr>
            <a:picLocks noChangeAspect="1"/>
          </p:cNvPicPr>
          <p:nvPr/>
        </p:nvPicPr>
        <p:blipFill>
          <a:blip r:embed="rId4"/>
          <a:stretch>
            <a:fillRect/>
          </a:stretch>
        </p:blipFill>
        <p:spPr>
          <a:xfrm>
            <a:off x="1079466" y="4279836"/>
            <a:ext cx="134549" cy="195707"/>
          </a:xfrm>
          <a:prstGeom prst="rect">
            <a:avLst/>
          </a:prstGeom>
        </p:spPr>
      </p:pic>
      <p:sp>
        <p:nvSpPr>
          <p:cNvPr id="35" name="TextBox 34"/>
          <p:cNvSpPr txBox="1"/>
          <p:nvPr/>
        </p:nvSpPr>
        <p:spPr>
          <a:xfrm>
            <a:off x="1254575" y="4290060"/>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6" name="Picture 35" descr="lock.png"/>
          <p:cNvPicPr>
            <a:picLocks noChangeAspect="1"/>
          </p:cNvPicPr>
          <p:nvPr/>
        </p:nvPicPr>
        <p:blipFill>
          <a:blip r:embed="rId4"/>
          <a:stretch>
            <a:fillRect/>
          </a:stretch>
        </p:blipFill>
        <p:spPr>
          <a:xfrm>
            <a:off x="1316727" y="4279836"/>
            <a:ext cx="134549" cy="195707"/>
          </a:xfrm>
          <a:prstGeom prst="rect">
            <a:avLst/>
          </a:prstGeom>
        </p:spPr>
      </p:pic>
      <p:sp>
        <p:nvSpPr>
          <p:cNvPr id="37" name="TextBox 36"/>
          <p:cNvSpPr txBox="1"/>
          <p:nvPr/>
        </p:nvSpPr>
        <p:spPr>
          <a:xfrm>
            <a:off x="1491836" y="4290060"/>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38" name="TextBox 37"/>
          <p:cNvSpPr txBox="1"/>
          <p:nvPr/>
        </p:nvSpPr>
        <p:spPr>
          <a:xfrm>
            <a:off x="276225" y="4517897"/>
            <a:ext cx="5210770" cy="194310"/>
          </a:xfrm>
          <a:prstGeom prst="rect">
            <a:avLst/>
          </a:prstGeom>
          <a:noFill/>
        </p:spPr>
        <p:txBody>
          <a:bodyPr wrap="none" lIns="0" rIns="0" tIns="0" bIns="0">
            <a:spAutoFit/>
          </a:bodyPr>
          <a:lstStyle/>
          <a:p>
            <a:r>
              <a:rPr sz="1150" b="0">
                <a:solidFill>
                  <a:srgbClr val="2E2E2E"/>
                </a:solidFill>
                <a:latin typeface="Calibri"/>
              </a:rPr>
              <a:t>▪ 2. Support for Observable Age-Related Cognitive Changes × Antioxidant Ingredients –</a:t>
            </a:r>
          </a:p>
        </p:txBody>
      </p:sp>
      <p:pic>
        <p:nvPicPr>
          <p:cNvPr id="39" name="Picture 38" descr="lock.png"/>
          <p:cNvPicPr>
            <a:picLocks noChangeAspect="1"/>
          </p:cNvPicPr>
          <p:nvPr/>
        </p:nvPicPr>
        <p:blipFill>
          <a:blip r:embed="rId4"/>
          <a:stretch>
            <a:fillRect/>
          </a:stretch>
        </p:blipFill>
        <p:spPr>
          <a:xfrm>
            <a:off x="262145" y="4682934"/>
            <a:ext cx="134549" cy="195707"/>
          </a:xfrm>
          <a:prstGeom prst="rect">
            <a:avLst/>
          </a:prstGeom>
        </p:spPr>
      </p:pic>
      <p:sp>
        <p:nvSpPr>
          <p:cNvPr id="40" name="TextBox 39"/>
          <p:cNvSpPr txBox="1"/>
          <p:nvPr/>
        </p:nvSpPr>
        <p:spPr>
          <a:xfrm>
            <a:off x="437254" y="4693157"/>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1" name="Picture 40" descr="lock.png"/>
          <p:cNvPicPr>
            <a:picLocks noChangeAspect="1"/>
          </p:cNvPicPr>
          <p:nvPr/>
        </p:nvPicPr>
        <p:blipFill>
          <a:blip r:embed="rId4"/>
          <a:stretch>
            <a:fillRect/>
          </a:stretch>
        </p:blipFill>
        <p:spPr>
          <a:xfrm>
            <a:off x="499406" y="4682934"/>
            <a:ext cx="134549" cy="195707"/>
          </a:xfrm>
          <a:prstGeom prst="rect">
            <a:avLst/>
          </a:prstGeom>
        </p:spPr>
      </p:pic>
      <p:sp>
        <p:nvSpPr>
          <p:cNvPr id="42" name="TextBox 41"/>
          <p:cNvSpPr txBox="1"/>
          <p:nvPr/>
        </p:nvSpPr>
        <p:spPr>
          <a:xfrm>
            <a:off x="674515" y="4693157"/>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43" name="TextBox 42"/>
          <p:cNvSpPr txBox="1"/>
          <p:nvPr/>
        </p:nvSpPr>
        <p:spPr>
          <a:xfrm>
            <a:off x="276225" y="4920995"/>
            <a:ext cx="5040126" cy="194310"/>
          </a:xfrm>
          <a:prstGeom prst="rect">
            <a:avLst/>
          </a:prstGeom>
          <a:noFill/>
        </p:spPr>
        <p:txBody>
          <a:bodyPr wrap="none" lIns="0" rIns="0" tIns="0" bIns="0">
            <a:spAutoFit/>
          </a:bodyPr>
          <a:lstStyle/>
          <a:p>
            <a:r>
              <a:rPr sz="1150" b="0">
                <a:solidFill>
                  <a:srgbClr val="2E2E2E"/>
                </a:solidFill>
                <a:latin typeface="Calibri"/>
              </a:rPr>
              <a:t>▪ 3. Support for Observable Age-Related Cognitive Changes × Omega-3 Fatty Acids –</a:t>
            </a:r>
          </a:p>
        </p:txBody>
      </p:sp>
      <p:pic>
        <p:nvPicPr>
          <p:cNvPr id="44" name="Picture 43" descr="lock.png"/>
          <p:cNvPicPr>
            <a:picLocks noChangeAspect="1"/>
          </p:cNvPicPr>
          <p:nvPr/>
        </p:nvPicPr>
        <p:blipFill>
          <a:blip r:embed="rId4"/>
          <a:stretch>
            <a:fillRect/>
          </a:stretch>
        </p:blipFill>
        <p:spPr>
          <a:xfrm>
            <a:off x="5265505" y="4910772"/>
            <a:ext cx="134549" cy="195707"/>
          </a:xfrm>
          <a:prstGeom prst="rect">
            <a:avLst/>
          </a:prstGeom>
        </p:spPr>
      </p:pic>
      <p:sp>
        <p:nvSpPr>
          <p:cNvPr id="45" name="TextBox 44"/>
          <p:cNvSpPr txBox="1"/>
          <p:nvPr/>
        </p:nvSpPr>
        <p:spPr>
          <a:xfrm>
            <a:off x="276225" y="509625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6" name="Picture 45" descr="lock.png"/>
          <p:cNvPicPr>
            <a:picLocks noChangeAspect="1"/>
          </p:cNvPicPr>
          <p:nvPr/>
        </p:nvPicPr>
        <p:blipFill>
          <a:blip r:embed="rId4"/>
          <a:stretch>
            <a:fillRect/>
          </a:stretch>
        </p:blipFill>
        <p:spPr>
          <a:xfrm>
            <a:off x="338376" y="5086032"/>
            <a:ext cx="134549" cy="195707"/>
          </a:xfrm>
          <a:prstGeom prst="rect">
            <a:avLst/>
          </a:prstGeom>
        </p:spPr>
      </p:pic>
      <p:sp>
        <p:nvSpPr>
          <p:cNvPr id="47" name="TextBox 46"/>
          <p:cNvSpPr txBox="1"/>
          <p:nvPr/>
        </p:nvSpPr>
        <p:spPr>
          <a:xfrm>
            <a:off x="513485" y="5096255"/>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48" name="TextBox 47"/>
          <p:cNvSpPr txBox="1"/>
          <p:nvPr/>
        </p:nvSpPr>
        <p:spPr>
          <a:xfrm>
            <a:off x="276225" y="5324093"/>
            <a:ext cx="4271999" cy="194310"/>
          </a:xfrm>
          <a:prstGeom prst="rect">
            <a:avLst/>
          </a:prstGeom>
          <a:noFill/>
        </p:spPr>
        <p:txBody>
          <a:bodyPr wrap="none" lIns="0" rIns="0" tIns="0" bIns="0">
            <a:spAutoFit/>
          </a:bodyPr>
          <a:lstStyle/>
          <a:p>
            <a:r>
              <a:rPr sz="1150" b="0">
                <a:solidFill>
                  <a:srgbClr val="2E2E2E"/>
                </a:solidFill>
                <a:latin typeface="Calibri"/>
              </a:rPr>
              <a:t>▪ 4. Routine Cognitive Wellness × Cellular Energy Support Ingredients –</a:t>
            </a:r>
          </a:p>
        </p:txBody>
      </p:sp>
      <p:pic>
        <p:nvPicPr>
          <p:cNvPr id="49" name="Picture 48" descr="lock.png"/>
          <p:cNvPicPr>
            <a:picLocks noChangeAspect="1"/>
          </p:cNvPicPr>
          <p:nvPr/>
        </p:nvPicPr>
        <p:blipFill>
          <a:blip r:embed="rId4"/>
          <a:stretch>
            <a:fillRect/>
          </a:stretch>
        </p:blipFill>
        <p:spPr>
          <a:xfrm>
            <a:off x="4497378" y="5313870"/>
            <a:ext cx="134549" cy="195707"/>
          </a:xfrm>
          <a:prstGeom prst="rect">
            <a:avLst/>
          </a:prstGeom>
        </p:spPr>
      </p:pic>
      <p:sp>
        <p:nvSpPr>
          <p:cNvPr id="50" name="TextBox 49"/>
          <p:cNvSpPr txBox="1"/>
          <p:nvPr/>
        </p:nvSpPr>
        <p:spPr>
          <a:xfrm>
            <a:off x="4672487" y="532409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1" name="Picture 50" descr="lock.png"/>
          <p:cNvPicPr>
            <a:picLocks noChangeAspect="1"/>
          </p:cNvPicPr>
          <p:nvPr/>
        </p:nvPicPr>
        <p:blipFill>
          <a:blip r:embed="rId4"/>
          <a:stretch>
            <a:fillRect/>
          </a:stretch>
        </p:blipFill>
        <p:spPr>
          <a:xfrm>
            <a:off x="4734639" y="5313870"/>
            <a:ext cx="134549" cy="195707"/>
          </a:xfrm>
          <a:prstGeom prst="rect">
            <a:avLst/>
          </a:prstGeom>
        </p:spPr>
      </p:pic>
      <p:sp>
        <p:nvSpPr>
          <p:cNvPr id="52" name="TextBox 51"/>
          <p:cNvSpPr txBox="1"/>
          <p:nvPr/>
        </p:nvSpPr>
        <p:spPr>
          <a:xfrm>
            <a:off x="4909748" y="5324093"/>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53" name="TextBox 52"/>
          <p:cNvSpPr txBox="1"/>
          <p:nvPr/>
        </p:nvSpPr>
        <p:spPr>
          <a:xfrm>
            <a:off x="276225" y="5551931"/>
            <a:ext cx="3565711" cy="194310"/>
          </a:xfrm>
          <a:prstGeom prst="rect">
            <a:avLst/>
          </a:prstGeom>
          <a:noFill/>
        </p:spPr>
        <p:txBody>
          <a:bodyPr wrap="none" lIns="0" rIns="0" tIns="0" bIns="0">
            <a:spAutoFit/>
          </a:bodyPr>
          <a:lstStyle/>
          <a:p>
            <a:r>
              <a:rPr sz="1150" b="0">
                <a:solidFill>
                  <a:srgbClr val="2E2E2E"/>
                </a:solidFill>
                <a:latin typeface="Calibri"/>
              </a:rPr>
              <a:t>▪ 5. Routine Cognitive Wellness × Antioxidant Ingredients –</a:t>
            </a:r>
          </a:p>
        </p:txBody>
      </p:sp>
      <p:pic>
        <p:nvPicPr>
          <p:cNvPr id="54" name="Picture 53" descr="lock.png"/>
          <p:cNvPicPr>
            <a:picLocks noChangeAspect="1"/>
          </p:cNvPicPr>
          <p:nvPr/>
        </p:nvPicPr>
        <p:blipFill>
          <a:blip r:embed="rId4"/>
          <a:stretch>
            <a:fillRect/>
          </a:stretch>
        </p:blipFill>
        <p:spPr>
          <a:xfrm>
            <a:off x="3791089" y="5541708"/>
            <a:ext cx="134549" cy="195707"/>
          </a:xfrm>
          <a:prstGeom prst="rect">
            <a:avLst/>
          </a:prstGeom>
        </p:spPr>
      </p:pic>
      <p:sp>
        <p:nvSpPr>
          <p:cNvPr id="55" name="TextBox 54"/>
          <p:cNvSpPr txBox="1"/>
          <p:nvPr/>
        </p:nvSpPr>
        <p:spPr>
          <a:xfrm>
            <a:off x="3966199" y="5551931"/>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6" name="Picture 55" descr="lock.png"/>
          <p:cNvPicPr>
            <a:picLocks noChangeAspect="1"/>
          </p:cNvPicPr>
          <p:nvPr/>
        </p:nvPicPr>
        <p:blipFill>
          <a:blip r:embed="rId4"/>
          <a:stretch>
            <a:fillRect/>
          </a:stretch>
        </p:blipFill>
        <p:spPr>
          <a:xfrm>
            <a:off x="4028350" y="5541708"/>
            <a:ext cx="134549" cy="195707"/>
          </a:xfrm>
          <a:prstGeom prst="rect">
            <a:avLst/>
          </a:prstGeom>
        </p:spPr>
      </p:pic>
      <p:sp>
        <p:nvSpPr>
          <p:cNvPr id="57" name="TextBox 56"/>
          <p:cNvSpPr txBox="1"/>
          <p:nvPr/>
        </p:nvSpPr>
        <p:spPr>
          <a:xfrm>
            <a:off x="4203460" y="5551931"/>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58" name="TextBox 57"/>
          <p:cNvSpPr txBox="1"/>
          <p:nvPr/>
        </p:nvSpPr>
        <p:spPr>
          <a:xfrm>
            <a:off x="6029325" y="4114800"/>
            <a:ext cx="1579488" cy="194310"/>
          </a:xfrm>
          <a:prstGeom prst="rect">
            <a:avLst/>
          </a:prstGeom>
          <a:noFill/>
        </p:spPr>
        <p:txBody>
          <a:bodyPr wrap="none" lIns="0" rIns="0" tIns="0" bIns="0">
            <a:spAutoFit/>
          </a:bodyPr>
          <a:lstStyle/>
          <a:p>
            <a:r>
              <a:rPr sz="1150" b="0">
                <a:solidFill>
                  <a:srgbClr val="2E2E2E"/>
                </a:solidFill>
                <a:latin typeface="Calibri"/>
              </a:rPr>
              <a:t>▪ 'Support for Observable</a:t>
            </a:r>
          </a:p>
        </p:txBody>
      </p:sp>
      <p:sp>
        <p:nvSpPr>
          <p:cNvPr id="59" name="TextBox 58"/>
          <p:cNvSpPr txBox="1"/>
          <p:nvPr/>
        </p:nvSpPr>
        <p:spPr>
          <a:xfrm>
            <a:off x="6029325" y="4290060"/>
            <a:ext cx="1389508" cy="194310"/>
          </a:xfrm>
          <a:prstGeom prst="rect">
            <a:avLst/>
          </a:prstGeom>
          <a:noFill/>
        </p:spPr>
        <p:txBody>
          <a:bodyPr wrap="none" lIns="0" rIns="0" tIns="0" bIns="0">
            <a:spAutoFit/>
          </a:bodyPr>
          <a:lstStyle/>
          <a:p>
            <a:r>
              <a:rPr sz="1150" b="0">
                <a:solidFill>
                  <a:srgbClr val="2E2E2E"/>
                </a:solidFill>
                <a:latin typeface="Calibri"/>
              </a:rPr>
              <a:t>Age-Related Cognitive</a:t>
            </a:r>
          </a:p>
        </p:txBody>
      </p:sp>
      <p:sp>
        <p:nvSpPr>
          <p:cNvPr id="60" name="TextBox 59"/>
          <p:cNvSpPr txBox="1"/>
          <p:nvPr/>
        </p:nvSpPr>
        <p:spPr>
          <a:xfrm>
            <a:off x="6029325" y="4465320"/>
            <a:ext cx="1604019" cy="194310"/>
          </a:xfrm>
          <a:prstGeom prst="rect">
            <a:avLst/>
          </a:prstGeom>
          <a:noFill/>
        </p:spPr>
        <p:txBody>
          <a:bodyPr wrap="none" lIns="0" rIns="0" tIns="0" bIns="0">
            <a:spAutoFit/>
          </a:bodyPr>
          <a:lstStyle/>
          <a:p>
            <a:r>
              <a:rPr sz="1150" b="0">
                <a:solidFill>
                  <a:srgbClr val="2E2E2E"/>
                </a:solidFill>
                <a:latin typeface="Calibri"/>
              </a:rPr>
              <a:t>Changes × Cellular Energy</a:t>
            </a:r>
          </a:p>
        </p:txBody>
      </p:sp>
      <p:sp>
        <p:nvSpPr>
          <p:cNvPr id="61" name="TextBox 60"/>
          <p:cNvSpPr txBox="1"/>
          <p:nvPr/>
        </p:nvSpPr>
        <p:spPr>
          <a:xfrm>
            <a:off x="6029325" y="4640579"/>
            <a:ext cx="1601452" cy="194310"/>
          </a:xfrm>
          <a:prstGeom prst="rect">
            <a:avLst/>
          </a:prstGeom>
          <a:noFill/>
        </p:spPr>
        <p:txBody>
          <a:bodyPr wrap="none" lIns="0" rIns="0" tIns="0" bIns="0">
            <a:spAutoFit/>
          </a:bodyPr>
          <a:lstStyle/>
          <a:p>
            <a:r>
              <a:rPr sz="1150" b="0">
                <a:solidFill>
                  <a:srgbClr val="2E2E2E"/>
                </a:solidFill>
                <a:latin typeface="Calibri"/>
              </a:rPr>
              <a:t>Support Ingredients' adds</a:t>
            </a:r>
          </a:p>
        </p:txBody>
      </p:sp>
      <p:pic>
        <p:nvPicPr>
          <p:cNvPr id="62" name="Picture 61" descr="lock.png"/>
          <p:cNvPicPr>
            <a:picLocks noChangeAspect="1"/>
          </p:cNvPicPr>
          <p:nvPr/>
        </p:nvPicPr>
        <p:blipFill>
          <a:blip r:embed="rId4"/>
          <a:stretch>
            <a:fillRect/>
          </a:stretch>
        </p:blipFill>
        <p:spPr>
          <a:xfrm>
            <a:off x="6015245" y="4805616"/>
            <a:ext cx="134549" cy="195707"/>
          </a:xfrm>
          <a:prstGeom prst="rect">
            <a:avLst/>
          </a:prstGeom>
        </p:spPr>
      </p:pic>
      <p:sp>
        <p:nvSpPr>
          <p:cNvPr id="63" name="TextBox 62"/>
          <p:cNvSpPr txBox="1"/>
          <p:nvPr/>
        </p:nvSpPr>
        <p:spPr>
          <a:xfrm>
            <a:off x="6190354" y="4815839"/>
            <a:ext cx="1224632" cy="194310"/>
          </a:xfrm>
          <a:prstGeom prst="rect">
            <a:avLst/>
          </a:prstGeom>
          <a:noFill/>
        </p:spPr>
        <p:txBody>
          <a:bodyPr wrap="none" lIns="0" rIns="0" tIns="0" bIns="0">
            <a:spAutoFit/>
          </a:bodyPr>
          <a:lstStyle/>
          <a:p>
            <a:r>
              <a:rPr sz="1150" b="0">
                <a:solidFill>
                  <a:srgbClr val="2E2E2E"/>
                </a:solidFill>
                <a:latin typeface="Calibri"/>
              </a:rPr>
              <a:t>US$ Mn by 2036F –</a:t>
            </a:r>
          </a:p>
        </p:txBody>
      </p:sp>
      <p:pic>
        <p:nvPicPr>
          <p:cNvPr id="64" name="Picture 63" descr="lock.png"/>
          <p:cNvPicPr>
            <a:picLocks noChangeAspect="1"/>
          </p:cNvPicPr>
          <p:nvPr/>
        </p:nvPicPr>
        <p:blipFill>
          <a:blip r:embed="rId4"/>
          <a:stretch>
            <a:fillRect/>
          </a:stretch>
        </p:blipFill>
        <p:spPr>
          <a:xfrm>
            <a:off x="6015245" y="4980876"/>
            <a:ext cx="134549" cy="195707"/>
          </a:xfrm>
          <a:prstGeom prst="rect">
            <a:avLst/>
          </a:prstGeom>
        </p:spPr>
      </p:pic>
      <p:sp>
        <p:nvSpPr>
          <p:cNvPr id="65" name="TextBox 64"/>
          <p:cNvSpPr txBox="1"/>
          <p:nvPr/>
        </p:nvSpPr>
        <p:spPr>
          <a:xfrm>
            <a:off x="6190354" y="4991099"/>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66" name="TextBox 65"/>
          <p:cNvSpPr txBox="1"/>
          <p:nvPr/>
        </p:nvSpPr>
        <p:spPr>
          <a:xfrm>
            <a:off x="6029325" y="5166359"/>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67" name="TextBox 66"/>
          <p:cNvSpPr txBox="1"/>
          <p:nvPr/>
        </p:nvSpPr>
        <p:spPr>
          <a:xfrm>
            <a:off x="8124825" y="4114800"/>
            <a:ext cx="1292807" cy="194310"/>
          </a:xfrm>
          <a:prstGeom prst="rect">
            <a:avLst/>
          </a:prstGeom>
          <a:noFill/>
        </p:spPr>
        <p:txBody>
          <a:bodyPr wrap="none" lIns="0" rIns="0" tIns="0" bIns="0">
            <a:spAutoFit/>
          </a:bodyPr>
          <a:lstStyle/>
          <a:p>
            <a:r>
              <a:rPr sz="1150" b="0">
                <a:solidFill>
                  <a:srgbClr val="2E2E2E"/>
                </a:solidFill>
                <a:latin typeface="Calibri"/>
              </a:rPr>
              <a:t>▪ 'Veterinary-Guided</a:t>
            </a:r>
          </a:p>
        </p:txBody>
      </p:sp>
      <p:sp>
        <p:nvSpPr>
          <p:cNvPr id="68" name="TextBox 67"/>
          <p:cNvSpPr txBox="1"/>
          <p:nvPr/>
        </p:nvSpPr>
        <p:spPr>
          <a:xfrm>
            <a:off x="8124825" y="4290060"/>
            <a:ext cx="1374105" cy="194310"/>
          </a:xfrm>
          <a:prstGeom prst="rect">
            <a:avLst/>
          </a:prstGeom>
          <a:noFill/>
        </p:spPr>
        <p:txBody>
          <a:bodyPr wrap="none" lIns="0" rIns="0" tIns="0" bIns="0">
            <a:spAutoFit/>
          </a:bodyPr>
          <a:lstStyle/>
          <a:p>
            <a:r>
              <a:rPr sz="1150" b="0">
                <a:solidFill>
                  <a:srgbClr val="2E2E2E"/>
                </a:solidFill>
                <a:latin typeface="Calibri"/>
              </a:rPr>
              <a:t>Cognitive Dysfunction</a:t>
            </a:r>
          </a:p>
        </p:txBody>
      </p:sp>
      <p:sp>
        <p:nvSpPr>
          <p:cNvPr id="69" name="TextBox 68"/>
          <p:cNvSpPr txBox="1"/>
          <p:nvPr/>
        </p:nvSpPr>
        <p:spPr>
          <a:xfrm>
            <a:off x="8124825" y="4465320"/>
            <a:ext cx="1379810" cy="194310"/>
          </a:xfrm>
          <a:prstGeom prst="rect">
            <a:avLst/>
          </a:prstGeom>
          <a:noFill/>
        </p:spPr>
        <p:txBody>
          <a:bodyPr wrap="none" lIns="0" rIns="0" tIns="0" bIns="0">
            <a:spAutoFit/>
          </a:bodyPr>
          <a:lstStyle/>
          <a:p>
            <a:r>
              <a:rPr sz="1150" b="0">
                <a:solidFill>
                  <a:srgbClr val="2E2E2E"/>
                </a:solidFill>
                <a:latin typeface="Calibri"/>
              </a:rPr>
              <a:t>Support × Antioxidant</a:t>
            </a:r>
          </a:p>
        </p:txBody>
      </p:sp>
      <p:sp>
        <p:nvSpPr>
          <p:cNvPr id="70" name="TextBox 69"/>
          <p:cNvSpPr txBox="1"/>
          <p:nvPr/>
        </p:nvSpPr>
        <p:spPr>
          <a:xfrm>
            <a:off x="8124825" y="4640579"/>
            <a:ext cx="1426877" cy="194310"/>
          </a:xfrm>
          <a:prstGeom prst="rect">
            <a:avLst/>
          </a:prstGeom>
          <a:noFill/>
        </p:spPr>
        <p:txBody>
          <a:bodyPr wrap="none" lIns="0" rIns="0" tIns="0" bIns="0">
            <a:spAutoFit/>
          </a:bodyPr>
          <a:lstStyle/>
          <a:p>
            <a:r>
              <a:rPr sz="1150" b="0">
                <a:solidFill>
                  <a:srgbClr val="2E2E2E"/>
                </a:solidFill>
                <a:latin typeface="Calibri"/>
              </a:rPr>
              <a:t>Ingredients' grows at a</a:t>
            </a:r>
          </a:p>
        </p:txBody>
      </p:sp>
      <p:pic>
        <p:nvPicPr>
          <p:cNvPr id="71" name="Picture 70" descr="lock.png"/>
          <p:cNvPicPr>
            <a:picLocks noChangeAspect="1"/>
          </p:cNvPicPr>
          <p:nvPr/>
        </p:nvPicPr>
        <p:blipFill>
          <a:blip r:embed="rId4"/>
          <a:stretch>
            <a:fillRect/>
          </a:stretch>
        </p:blipFill>
        <p:spPr>
          <a:xfrm>
            <a:off x="9500856" y="4630356"/>
            <a:ext cx="134549" cy="195707"/>
          </a:xfrm>
          <a:prstGeom prst="rect">
            <a:avLst/>
          </a:prstGeom>
        </p:spPr>
      </p:pic>
      <p:sp>
        <p:nvSpPr>
          <p:cNvPr id="72" name="TextBox 71"/>
          <p:cNvSpPr txBox="1"/>
          <p:nvPr/>
        </p:nvSpPr>
        <p:spPr>
          <a:xfrm>
            <a:off x="8124825" y="4815839"/>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73" name="Picture 72" descr="lock.png"/>
          <p:cNvPicPr>
            <a:picLocks noChangeAspect="1"/>
          </p:cNvPicPr>
          <p:nvPr/>
        </p:nvPicPr>
        <p:blipFill>
          <a:blip r:embed="rId4"/>
          <a:stretch>
            <a:fillRect/>
          </a:stretch>
        </p:blipFill>
        <p:spPr>
          <a:xfrm>
            <a:off x="8520420" y="4805616"/>
            <a:ext cx="134549" cy="195707"/>
          </a:xfrm>
          <a:prstGeom prst="rect">
            <a:avLst/>
          </a:prstGeom>
        </p:spPr>
      </p:pic>
      <p:sp>
        <p:nvSpPr>
          <p:cNvPr id="74" name="TextBox 73"/>
          <p:cNvSpPr txBox="1"/>
          <p:nvPr/>
        </p:nvSpPr>
        <p:spPr>
          <a:xfrm>
            <a:off x="8695529" y="4815839"/>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75" name="TextBox 74"/>
          <p:cNvSpPr txBox="1"/>
          <p:nvPr/>
        </p:nvSpPr>
        <p:spPr>
          <a:xfrm>
            <a:off x="8124825" y="4991099"/>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Sales Channel × End-use Application</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Sales Channel × End-use Application, 2026E vs 2036F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sales channel sub-segment across end-use application sub-segments</a:t>
            </a:r>
          </a:p>
        </p:txBody>
      </p:sp>
      <p:sp>
        <p:nvSpPr>
          <p:cNvPr id="10" name="Rounded Rectangle 9"/>
          <p:cNvSpPr/>
          <p:nvPr/>
        </p:nvSpPr>
        <p:spPr>
          <a:xfrm>
            <a:off x="142875" y="98107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Value, Sales Channel × End-use Application, 2026E and 2036F (US$ Mn)</a:t>
            </a:r>
          </a:p>
        </p:txBody>
      </p:sp>
      <p:graphicFrame>
        <p:nvGraphicFramePr>
          <p:cNvPr id="12" name="Table 11"/>
          <p:cNvGraphicFramePr>
            <a:graphicFrameLocks noGrp="1"/>
          </p:cNvGraphicFramePr>
          <p:nvPr/>
        </p:nvGraphicFramePr>
        <p:xfrm>
          <a:off x="152400" y="1238250"/>
          <a:ext cx="11887195" cy="2609849"/>
        </p:xfrm>
        <a:graphic>
          <a:graphicData uri="http://schemas.openxmlformats.org/drawingml/2006/table">
            <a:tbl>
              <a:tblPr>
                <a:tableStyleId>{5C22544A-7EE6-4342-B048-85BDC9FD1C3A}</a:tableStyleId>
              </a:tblPr>
              <a:tblGrid>
                <a:gridCol w="3195005"/>
                <a:gridCol w="869219"/>
                <a:gridCol w="869219"/>
                <a:gridCol w="869219"/>
                <a:gridCol w="869219"/>
                <a:gridCol w="869219"/>
                <a:gridCol w="869219"/>
                <a:gridCol w="869219"/>
                <a:gridCol w="869219"/>
                <a:gridCol w="869219"/>
                <a:gridCol w="869219"/>
              </a:tblGrid>
              <a:tr h="631697">
                <a:tc rowSpan="2">
                  <a:txBody>
                    <a:bodyPr wrap="none"/>
                    <a:lstStyle/>
                    <a:p>
                      <a:pPr algn="l"/>
                      <a:r>
                        <a:rPr sz="1100" b="1">
                          <a:solidFill>
                            <a:srgbClr val="0B2E4A"/>
                          </a:solidFill>
                          <a:latin typeface="Calibri"/>
                        </a:rPr>
                        <a:t>Sales Channel</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Routine Cognitive Wellness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Preventive Cognitive</a:t>
                      </a:r>
                      <a:endParaRPr sz="1100"/>
                    </a:p>
                    <a:p>
                      <a:pPr algn="ctr"/>
                      <a:r>
                        <a:rPr sz="1100" b="1">
                          <a:solidFill>
                            <a:srgbClr val="0B2E4A"/>
                          </a:solidFill>
                          <a:latin typeface="Calibri"/>
                        </a:rPr>
                        <a:t>Support for Senior Dogs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Support for Observable</a:t>
                      </a:r>
                      <a:endParaRPr sz="1100"/>
                    </a:p>
                    <a:p>
                      <a:pPr algn="ctr"/>
                      <a:r>
                        <a:rPr sz="1100" b="1">
                          <a:solidFill>
                            <a:srgbClr val="0B2E4A"/>
                          </a:solidFill>
                          <a:latin typeface="Calibri"/>
                        </a:rPr>
                        <a:t>Age-Related Cognitive</a:t>
                      </a:r>
                      <a:endParaRPr sz="1100"/>
                    </a:p>
                    <a:p>
                      <a:pPr algn="ctr"/>
                      <a:r>
                        <a:rPr sz="1100" b="1">
                          <a:solidFill>
                            <a:srgbClr val="0B2E4A"/>
                          </a:solidFill>
                          <a:latin typeface="Calibri"/>
                        </a:rPr>
                        <a:t>Changes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Veterinary-Guided</a:t>
                      </a:r>
                      <a:endParaRPr sz="1100"/>
                    </a:p>
                    <a:p>
                      <a:pPr algn="ctr"/>
                      <a:r>
                        <a:rPr sz="1100" b="1">
                          <a:solidFill>
                            <a:srgbClr val="0B2E4A"/>
                          </a:solidFill>
                          <a:latin typeface="Calibri"/>
                        </a:rPr>
                        <a:t>Cognitive Dysfunction</a:t>
                      </a:r>
                      <a:endParaRPr sz="1100"/>
                    </a:p>
                    <a:p>
                      <a:pPr algn="ctr"/>
                      <a:r>
                        <a:rPr sz="1100" b="1">
                          <a:solidFill>
                            <a:srgbClr val="0B2E4A"/>
                          </a:solidFill>
                          <a:latin typeface="Calibri"/>
                        </a:rPr>
                        <a:t>Support</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7269">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7269">
                <a:tc>
                  <a:txBody>
                    <a:bodyPr wrap="none"/>
                    <a:lstStyle/>
                    <a:p>
                      <a:pPr algn="l"/>
                      <a:r>
                        <a:rPr sz="1100" b="1">
                          <a:solidFill>
                            <a:srgbClr val="2E2E2E"/>
                          </a:solidFill>
                          <a:latin typeface="Calibri"/>
                        </a:rPr>
                        <a:t>Veterinary Channels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269">
                <a:tc>
                  <a:txBody>
                    <a:bodyPr wrap="none"/>
                    <a:lstStyle/>
                    <a:p>
                      <a:pPr algn="l"/>
                      <a:r>
                        <a:rPr sz="1100" b="1">
                          <a:solidFill>
                            <a:srgbClr val="2E2E2E"/>
                          </a:solidFill>
                          <a:latin typeface="Calibri"/>
                        </a:rPr>
                        <a:t>Specialist Pet Retail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269">
                <a:tc>
                  <a:txBody>
                    <a:bodyPr wrap="none"/>
                    <a:lstStyle/>
                    <a:p>
                      <a:pPr algn="l"/>
                      <a:r>
                        <a:rPr sz="1100" b="1">
                          <a:solidFill>
                            <a:srgbClr val="2E2E2E"/>
                          </a:solidFill>
                          <a:latin typeface="Calibri"/>
                        </a:rPr>
                        <a:t>General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269">
                <a:tc>
                  <a:txBody>
                    <a:bodyPr wrap="none"/>
                    <a:lstStyle/>
                    <a:p>
                      <a:pPr algn="l"/>
                      <a:r>
                        <a:rPr sz="1100" b="1">
                          <a:solidFill>
                            <a:srgbClr val="2E2E2E"/>
                          </a:solidFill>
                          <a:latin typeface="Calibri"/>
                        </a:rPr>
                        <a:t>Brand-Owned E-commerce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269">
                <a:tc>
                  <a:txBody>
                    <a:bodyPr wrap="none"/>
                    <a:lstStyle/>
                    <a:p>
                      <a:pPr algn="l"/>
                      <a:r>
                        <a:rPr sz="1100" b="1">
                          <a:solidFill>
                            <a:srgbClr val="2E2E2E"/>
                          </a:solidFill>
                          <a:latin typeface="Calibri"/>
                        </a:rPr>
                        <a:t>Third-Party E-commerce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269">
                <a:tc>
                  <a:txBody>
                    <a:bodyPr wrap="none"/>
                    <a:lstStyle/>
                    <a:p>
                      <a:pPr algn="l"/>
                      <a:r>
                        <a:rPr sz="1100" b="1">
                          <a:solidFill>
                            <a:srgbClr val="2E2E2E"/>
                          </a:solidFill>
                          <a:latin typeface="Calibri"/>
                        </a:rPr>
                        <a:t>Other Direct Sales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269">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8576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506810" y="2715958"/>
            <a:ext cx="366712" cy="533400"/>
          </a:xfrm>
          <a:prstGeom prst="rect">
            <a:avLst/>
          </a:prstGeom>
        </p:spPr>
      </p:pic>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Sales Channel × End-use Application, 2026E vs 2036F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sales channel sub-segment across end-use application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Flow, Sales Channel → End-use Application, 2036F (US$ Mn)</a:t>
            </a:r>
          </a:p>
        </p:txBody>
      </p:sp>
      <p:sp>
        <p:nvSpPr>
          <p:cNvPr id="12" name="Freeform 11"/>
          <p:cNvSpPr/>
          <p:nvPr/>
        </p:nvSpPr>
        <p:spPr>
          <a:xfrm>
            <a:off x="2057400" y="1304925"/>
            <a:ext cx="3743325" cy="771525"/>
          </a:xfrm>
          <a:custGeom>
            <a:avLst/>
            <a:gdLst/>
            <a:ahLst/>
            <a:cxnLst/>
            <a:rect l="l" t="t" r="r" b="b"/>
            <a:pathLst>
              <a:path w="393" h="81">
                <a:moveTo>
                  <a:pt x="0" y="0"/>
                </a:moveTo>
                <a:lnTo>
                  <a:pt x="16" y="0"/>
                </a:lnTo>
                <a:lnTo>
                  <a:pt x="33" y="0"/>
                </a:lnTo>
                <a:lnTo>
                  <a:pt x="49" y="0"/>
                </a:lnTo>
                <a:lnTo>
                  <a:pt x="65" y="0"/>
                </a:lnTo>
                <a:lnTo>
                  <a:pt x="82" y="1"/>
                </a:lnTo>
                <a:lnTo>
                  <a:pt x="98" y="1"/>
                </a:lnTo>
                <a:lnTo>
                  <a:pt x="114" y="1"/>
                </a:lnTo>
                <a:lnTo>
                  <a:pt x="131" y="2"/>
                </a:lnTo>
                <a:lnTo>
                  <a:pt x="147" y="2"/>
                </a:lnTo>
                <a:lnTo>
                  <a:pt x="164" y="2"/>
                </a:lnTo>
                <a:lnTo>
                  <a:pt x="180" y="3"/>
                </a:lnTo>
                <a:lnTo>
                  <a:pt x="196" y="3"/>
                </a:lnTo>
                <a:lnTo>
                  <a:pt x="213" y="3"/>
                </a:lnTo>
                <a:lnTo>
                  <a:pt x="229" y="4"/>
                </a:lnTo>
                <a:lnTo>
                  <a:pt x="246" y="4"/>
                </a:lnTo>
                <a:lnTo>
                  <a:pt x="262" y="4"/>
                </a:lnTo>
                <a:lnTo>
                  <a:pt x="278" y="5"/>
                </a:lnTo>
                <a:lnTo>
                  <a:pt x="295" y="5"/>
                </a:lnTo>
                <a:lnTo>
                  <a:pt x="311" y="5"/>
                </a:lnTo>
                <a:lnTo>
                  <a:pt x="327" y="6"/>
                </a:lnTo>
                <a:lnTo>
                  <a:pt x="344" y="6"/>
                </a:lnTo>
                <a:lnTo>
                  <a:pt x="360" y="6"/>
                </a:lnTo>
                <a:lnTo>
                  <a:pt x="377" y="6"/>
                </a:lnTo>
                <a:lnTo>
                  <a:pt x="393" y="6"/>
                </a:lnTo>
                <a:lnTo>
                  <a:pt x="393" y="81"/>
                </a:lnTo>
                <a:lnTo>
                  <a:pt x="377" y="81"/>
                </a:lnTo>
                <a:lnTo>
                  <a:pt x="360" y="81"/>
                </a:lnTo>
                <a:lnTo>
                  <a:pt x="344" y="81"/>
                </a:lnTo>
                <a:lnTo>
                  <a:pt x="327" y="81"/>
                </a:lnTo>
                <a:lnTo>
                  <a:pt x="311" y="80"/>
                </a:lnTo>
                <a:lnTo>
                  <a:pt x="295" y="80"/>
                </a:lnTo>
                <a:lnTo>
                  <a:pt x="278" y="80"/>
                </a:lnTo>
                <a:lnTo>
                  <a:pt x="262" y="79"/>
                </a:lnTo>
                <a:lnTo>
                  <a:pt x="246" y="79"/>
                </a:lnTo>
                <a:lnTo>
                  <a:pt x="229" y="79"/>
                </a:lnTo>
                <a:lnTo>
                  <a:pt x="213" y="78"/>
                </a:lnTo>
                <a:lnTo>
                  <a:pt x="196" y="78"/>
                </a:lnTo>
                <a:lnTo>
                  <a:pt x="180" y="78"/>
                </a:lnTo>
                <a:lnTo>
                  <a:pt x="164" y="77"/>
                </a:lnTo>
                <a:lnTo>
                  <a:pt x="147" y="77"/>
                </a:lnTo>
                <a:lnTo>
                  <a:pt x="131" y="77"/>
                </a:lnTo>
                <a:lnTo>
                  <a:pt x="114" y="76"/>
                </a:lnTo>
                <a:lnTo>
                  <a:pt x="98" y="76"/>
                </a:lnTo>
                <a:lnTo>
                  <a:pt x="82" y="76"/>
                </a:lnTo>
                <a:lnTo>
                  <a:pt x="65" y="75"/>
                </a:lnTo>
                <a:lnTo>
                  <a:pt x="49" y="75"/>
                </a:lnTo>
                <a:lnTo>
                  <a:pt x="33" y="75"/>
                </a:lnTo>
                <a:lnTo>
                  <a:pt x="16" y="75"/>
                </a:lnTo>
                <a:lnTo>
                  <a:pt x="0" y="75"/>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057400" y="2019300"/>
            <a:ext cx="3743325" cy="2562225"/>
          </a:xfrm>
          <a:custGeom>
            <a:avLst/>
            <a:gdLst/>
            <a:ahLst/>
            <a:cxnLst/>
            <a:rect l="l" t="t" r="r" b="b"/>
            <a:pathLst>
              <a:path w="393" h="269">
                <a:moveTo>
                  <a:pt x="0" y="0"/>
                </a:moveTo>
                <a:lnTo>
                  <a:pt x="16" y="1"/>
                </a:lnTo>
                <a:lnTo>
                  <a:pt x="33" y="5"/>
                </a:lnTo>
                <a:lnTo>
                  <a:pt x="49" y="10"/>
                </a:lnTo>
                <a:lnTo>
                  <a:pt x="65" y="18"/>
                </a:lnTo>
                <a:lnTo>
                  <a:pt x="82" y="27"/>
                </a:lnTo>
                <a:lnTo>
                  <a:pt x="98" y="38"/>
                </a:lnTo>
                <a:lnTo>
                  <a:pt x="114" y="50"/>
                </a:lnTo>
                <a:lnTo>
                  <a:pt x="131" y="63"/>
                </a:lnTo>
                <a:lnTo>
                  <a:pt x="147" y="77"/>
                </a:lnTo>
                <a:lnTo>
                  <a:pt x="164" y="91"/>
                </a:lnTo>
                <a:lnTo>
                  <a:pt x="180" y="106"/>
                </a:lnTo>
                <a:lnTo>
                  <a:pt x="196" y="121"/>
                </a:lnTo>
                <a:lnTo>
                  <a:pt x="213" y="137"/>
                </a:lnTo>
                <a:lnTo>
                  <a:pt x="229" y="151"/>
                </a:lnTo>
                <a:lnTo>
                  <a:pt x="246" y="166"/>
                </a:lnTo>
                <a:lnTo>
                  <a:pt x="262" y="180"/>
                </a:lnTo>
                <a:lnTo>
                  <a:pt x="278" y="193"/>
                </a:lnTo>
                <a:lnTo>
                  <a:pt x="295" y="205"/>
                </a:lnTo>
                <a:lnTo>
                  <a:pt x="311" y="216"/>
                </a:lnTo>
                <a:lnTo>
                  <a:pt x="327" y="225"/>
                </a:lnTo>
                <a:lnTo>
                  <a:pt x="344" y="232"/>
                </a:lnTo>
                <a:lnTo>
                  <a:pt x="360" y="238"/>
                </a:lnTo>
                <a:lnTo>
                  <a:pt x="377" y="242"/>
                </a:lnTo>
                <a:lnTo>
                  <a:pt x="393" y="243"/>
                </a:lnTo>
                <a:lnTo>
                  <a:pt x="393" y="269"/>
                </a:lnTo>
                <a:lnTo>
                  <a:pt x="377" y="268"/>
                </a:lnTo>
                <a:lnTo>
                  <a:pt x="360" y="264"/>
                </a:lnTo>
                <a:lnTo>
                  <a:pt x="344" y="258"/>
                </a:lnTo>
                <a:lnTo>
                  <a:pt x="327" y="251"/>
                </a:lnTo>
                <a:lnTo>
                  <a:pt x="311" y="242"/>
                </a:lnTo>
                <a:lnTo>
                  <a:pt x="295" y="231"/>
                </a:lnTo>
                <a:lnTo>
                  <a:pt x="278" y="219"/>
                </a:lnTo>
                <a:lnTo>
                  <a:pt x="262" y="206"/>
                </a:lnTo>
                <a:lnTo>
                  <a:pt x="246" y="192"/>
                </a:lnTo>
                <a:lnTo>
                  <a:pt x="229" y="178"/>
                </a:lnTo>
                <a:lnTo>
                  <a:pt x="213" y="163"/>
                </a:lnTo>
                <a:lnTo>
                  <a:pt x="196" y="148"/>
                </a:lnTo>
                <a:lnTo>
                  <a:pt x="180" y="132"/>
                </a:lnTo>
                <a:lnTo>
                  <a:pt x="164" y="117"/>
                </a:lnTo>
                <a:lnTo>
                  <a:pt x="147" y="103"/>
                </a:lnTo>
                <a:lnTo>
                  <a:pt x="131" y="89"/>
                </a:lnTo>
                <a:lnTo>
                  <a:pt x="114" y="76"/>
                </a:lnTo>
                <a:lnTo>
                  <a:pt x="98" y="64"/>
                </a:lnTo>
                <a:lnTo>
                  <a:pt x="82" y="53"/>
                </a:lnTo>
                <a:lnTo>
                  <a:pt x="65" y="44"/>
                </a:lnTo>
                <a:lnTo>
                  <a:pt x="49" y="37"/>
                </a:lnTo>
                <a:lnTo>
                  <a:pt x="33" y="31"/>
                </a:lnTo>
                <a:lnTo>
                  <a:pt x="16" y="27"/>
                </a:lnTo>
                <a:lnTo>
                  <a:pt x="0" y="26"/>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057400" y="2266950"/>
            <a:ext cx="3743325" cy="3257550"/>
          </a:xfrm>
          <a:custGeom>
            <a:avLst/>
            <a:gdLst/>
            <a:ahLst/>
            <a:cxnLst/>
            <a:rect l="l" t="t" r="r" b="b"/>
            <a:pathLst>
              <a:path w="393" h="342">
                <a:moveTo>
                  <a:pt x="0" y="0"/>
                </a:moveTo>
                <a:lnTo>
                  <a:pt x="16" y="2"/>
                </a:lnTo>
                <a:lnTo>
                  <a:pt x="33" y="6"/>
                </a:lnTo>
                <a:lnTo>
                  <a:pt x="49" y="14"/>
                </a:lnTo>
                <a:lnTo>
                  <a:pt x="65" y="24"/>
                </a:lnTo>
                <a:lnTo>
                  <a:pt x="82" y="36"/>
                </a:lnTo>
                <a:lnTo>
                  <a:pt x="98" y="51"/>
                </a:lnTo>
                <a:lnTo>
                  <a:pt x="114" y="67"/>
                </a:lnTo>
                <a:lnTo>
                  <a:pt x="131" y="84"/>
                </a:lnTo>
                <a:lnTo>
                  <a:pt x="147" y="103"/>
                </a:lnTo>
                <a:lnTo>
                  <a:pt x="164" y="122"/>
                </a:lnTo>
                <a:lnTo>
                  <a:pt x="180" y="142"/>
                </a:lnTo>
                <a:lnTo>
                  <a:pt x="196" y="162"/>
                </a:lnTo>
                <a:lnTo>
                  <a:pt x="213" y="183"/>
                </a:lnTo>
                <a:lnTo>
                  <a:pt x="229" y="203"/>
                </a:lnTo>
                <a:lnTo>
                  <a:pt x="246" y="222"/>
                </a:lnTo>
                <a:lnTo>
                  <a:pt x="262" y="240"/>
                </a:lnTo>
                <a:lnTo>
                  <a:pt x="278" y="258"/>
                </a:lnTo>
                <a:lnTo>
                  <a:pt x="295" y="274"/>
                </a:lnTo>
                <a:lnTo>
                  <a:pt x="311" y="288"/>
                </a:lnTo>
                <a:lnTo>
                  <a:pt x="327" y="301"/>
                </a:lnTo>
                <a:lnTo>
                  <a:pt x="344" y="311"/>
                </a:lnTo>
                <a:lnTo>
                  <a:pt x="360" y="318"/>
                </a:lnTo>
                <a:lnTo>
                  <a:pt x="377" y="323"/>
                </a:lnTo>
                <a:lnTo>
                  <a:pt x="393" y="325"/>
                </a:lnTo>
                <a:lnTo>
                  <a:pt x="393" y="342"/>
                </a:lnTo>
                <a:lnTo>
                  <a:pt x="377" y="340"/>
                </a:lnTo>
                <a:lnTo>
                  <a:pt x="360" y="336"/>
                </a:lnTo>
                <a:lnTo>
                  <a:pt x="344" y="328"/>
                </a:lnTo>
                <a:lnTo>
                  <a:pt x="327" y="318"/>
                </a:lnTo>
                <a:lnTo>
                  <a:pt x="311" y="306"/>
                </a:lnTo>
                <a:lnTo>
                  <a:pt x="295" y="291"/>
                </a:lnTo>
                <a:lnTo>
                  <a:pt x="278" y="275"/>
                </a:lnTo>
                <a:lnTo>
                  <a:pt x="262" y="258"/>
                </a:lnTo>
                <a:lnTo>
                  <a:pt x="246" y="239"/>
                </a:lnTo>
                <a:lnTo>
                  <a:pt x="229" y="220"/>
                </a:lnTo>
                <a:lnTo>
                  <a:pt x="213" y="200"/>
                </a:lnTo>
                <a:lnTo>
                  <a:pt x="196" y="180"/>
                </a:lnTo>
                <a:lnTo>
                  <a:pt x="180" y="160"/>
                </a:lnTo>
                <a:lnTo>
                  <a:pt x="164" y="140"/>
                </a:lnTo>
                <a:lnTo>
                  <a:pt x="147" y="120"/>
                </a:lnTo>
                <a:lnTo>
                  <a:pt x="131" y="102"/>
                </a:lnTo>
                <a:lnTo>
                  <a:pt x="114" y="84"/>
                </a:lnTo>
                <a:lnTo>
                  <a:pt x="98" y="68"/>
                </a:lnTo>
                <a:lnTo>
                  <a:pt x="82" y="54"/>
                </a:lnTo>
                <a:lnTo>
                  <a:pt x="65" y="42"/>
                </a:lnTo>
                <a:lnTo>
                  <a:pt x="49" y="32"/>
                </a:lnTo>
                <a:lnTo>
                  <a:pt x="33" y="24"/>
                </a:lnTo>
                <a:lnTo>
                  <a:pt x="16" y="19"/>
                </a:lnTo>
                <a:lnTo>
                  <a:pt x="0" y="18"/>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57400" y="2438400"/>
            <a:ext cx="3743325" cy="3724275"/>
          </a:xfrm>
          <a:custGeom>
            <a:avLst/>
            <a:gdLst/>
            <a:ahLst/>
            <a:cxnLst/>
            <a:rect l="l" t="t" r="r" b="b"/>
            <a:pathLst>
              <a:path w="393" h="391">
                <a:moveTo>
                  <a:pt x="0" y="0"/>
                </a:moveTo>
                <a:lnTo>
                  <a:pt x="16" y="2"/>
                </a:lnTo>
                <a:lnTo>
                  <a:pt x="33" y="7"/>
                </a:lnTo>
                <a:lnTo>
                  <a:pt x="49" y="16"/>
                </a:lnTo>
                <a:lnTo>
                  <a:pt x="65" y="27"/>
                </a:lnTo>
                <a:lnTo>
                  <a:pt x="82" y="41"/>
                </a:lnTo>
                <a:lnTo>
                  <a:pt x="98" y="58"/>
                </a:lnTo>
                <a:lnTo>
                  <a:pt x="114" y="76"/>
                </a:lnTo>
                <a:lnTo>
                  <a:pt x="131" y="96"/>
                </a:lnTo>
                <a:lnTo>
                  <a:pt x="147" y="118"/>
                </a:lnTo>
                <a:lnTo>
                  <a:pt x="164" y="140"/>
                </a:lnTo>
                <a:lnTo>
                  <a:pt x="180" y="163"/>
                </a:lnTo>
                <a:lnTo>
                  <a:pt x="196" y="186"/>
                </a:lnTo>
                <a:lnTo>
                  <a:pt x="213" y="210"/>
                </a:lnTo>
                <a:lnTo>
                  <a:pt x="229" y="233"/>
                </a:lnTo>
                <a:lnTo>
                  <a:pt x="246" y="255"/>
                </a:lnTo>
                <a:lnTo>
                  <a:pt x="262" y="276"/>
                </a:lnTo>
                <a:lnTo>
                  <a:pt x="278" y="296"/>
                </a:lnTo>
                <a:lnTo>
                  <a:pt x="295" y="315"/>
                </a:lnTo>
                <a:lnTo>
                  <a:pt x="311" y="331"/>
                </a:lnTo>
                <a:lnTo>
                  <a:pt x="327" y="345"/>
                </a:lnTo>
                <a:lnTo>
                  <a:pt x="344" y="357"/>
                </a:lnTo>
                <a:lnTo>
                  <a:pt x="360" y="366"/>
                </a:lnTo>
                <a:lnTo>
                  <a:pt x="377" y="371"/>
                </a:lnTo>
                <a:lnTo>
                  <a:pt x="393" y="373"/>
                </a:lnTo>
                <a:lnTo>
                  <a:pt x="393" y="391"/>
                </a:lnTo>
                <a:lnTo>
                  <a:pt x="377" y="389"/>
                </a:lnTo>
                <a:lnTo>
                  <a:pt x="360" y="384"/>
                </a:lnTo>
                <a:lnTo>
                  <a:pt x="344" y="375"/>
                </a:lnTo>
                <a:lnTo>
                  <a:pt x="327" y="363"/>
                </a:lnTo>
                <a:lnTo>
                  <a:pt x="311" y="349"/>
                </a:lnTo>
                <a:lnTo>
                  <a:pt x="295" y="333"/>
                </a:lnTo>
                <a:lnTo>
                  <a:pt x="278" y="314"/>
                </a:lnTo>
                <a:lnTo>
                  <a:pt x="262" y="294"/>
                </a:lnTo>
                <a:lnTo>
                  <a:pt x="246" y="273"/>
                </a:lnTo>
                <a:lnTo>
                  <a:pt x="229" y="250"/>
                </a:lnTo>
                <a:lnTo>
                  <a:pt x="213" y="227"/>
                </a:lnTo>
                <a:lnTo>
                  <a:pt x="196" y="204"/>
                </a:lnTo>
                <a:lnTo>
                  <a:pt x="180" y="181"/>
                </a:lnTo>
                <a:lnTo>
                  <a:pt x="164" y="158"/>
                </a:lnTo>
                <a:lnTo>
                  <a:pt x="147" y="136"/>
                </a:lnTo>
                <a:lnTo>
                  <a:pt x="131" y="114"/>
                </a:lnTo>
                <a:lnTo>
                  <a:pt x="114" y="94"/>
                </a:lnTo>
                <a:lnTo>
                  <a:pt x="98" y="76"/>
                </a:lnTo>
                <a:lnTo>
                  <a:pt x="82" y="59"/>
                </a:lnTo>
                <a:lnTo>
                  <a:pt x="65" y="45"/>
                </a:lnTo>
                <a:lnTo>
                  <a:pt x="49" y="34"/>
                </a:lnTo>
                <a:lnTo>
                  <a:pt x="33" y="25"/>
                </a:lnTo>
                <a:lnTo>
                  <a:pt x="16" y="19"/>
                </a:lnTo>
                <a:lnTo>
                  <a:pt x="0" y="17"/>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057400" y="2076450"/>
            <a:ext cx="3743325" cy="1247775"/>
          </a:xfrm>
          <a:custGeom>
            <a:avLst/>
            <a:gdLst/>
            <a:ahLst/>
            <a:cxnLst/>
            <a:rect l="l" t="t" r="r" b="b"/>
            <a:pathLst>
              <a:path w="393" h="131">
                <a:moveTo>
                  <a:pt x="0" y="61"/>
                </a:moveTo>
                <a:lnTo>
                  <a:pt x="16" y="61"/>
                </a:lnTo>
                <a:lnTo>
                  <a:pt x="33" y="60"/>
                </a:lnTo>
                <a:lnTo>
                  <a:pt x="49" y="59"/>
                </a:lnTo>
                <a:lnTo>
                  <a:pt x="65" y="57"/>
                </a:lnTo>
                <a:lnTo>
                  <a:pt x="82" y="55"/>
                </a:lnTo>
                <a:lnTo>
                  <a:pt x="98" y="52"/>
                </a:lnTo>
                <a:lnTo>
                  <a:pt x="114" y="49"/>
                </a:lnTo>
                <a:lnTo>
                  <a:pt x="131" y="46"/>
                </a:lnTo>
                <a:lnTo>
                  <a:pt x="147" y="42"/>
                </a:lnTo>
                <a:lnTo>
                  <a:pt x="164" y="38"/>
                </a:lnTo>
                <a:lnTo>
                  <a:pt x="180" y="35"/>
                </a:lnTo>
                <a:lnTo>
                  <a:pt x="196" y="31"/>
                </a:lnTo>
                <a:lnTo>
                  <a:pt x="213" y="27"/>
                </a:lnTo>
                <a:lnTo>
                  <a:pt x="229" y="23"/>
                </a:lnTo>
                <a:lnTo>
                  <a:pt x="246" y="19"/>
                </a:lnTo>
                <a:lnTo>
                  <a:pt x="262" y="16"/>
                </a:lnTo>
                <a:lnTo>
                  <a:pt x="278" y="13"/>
                </a:lnTo>
                <a:lnTo>
                  <a:pt x="295" y="10"/>
                </a:lnTo>
                <a:lnTo>
                  <a:pt x="311" y="7"/>
                </a:lnTo>
                <a:lnTo>
                  <a:pt x="327" y="5"/>
                </a:lnTo>
                <a:lnTo>
                  <a:pt x="344" y="3"/>
                </a:lnTo>
                <a:lnTo>
                  <a:pt x="360" y="1"/>
                </a:lnTo>
                <a:lnTo>
                  <a:pt x="377" y="0"/>
                </a:lnTo>
                <a:lnTo>
                  <a:pt x="393" y="0"/>
                </a:lnTo>
                <a:lnTo>
                  <a:pt x="393" y="70"/>
                </a:lnTo>
                <a:lnTo>
                  <a:pt x="377" y="70"/>
                </a:lnTo>
                <a:lnTo>
                  <a:pt x="360" y="71"/>
                </a:lnTo>
                <a:lnTo>
                  <a:pt x="344" y="72"/>
                </a:lnTo>
                <a:lnTo>
                  <a:pt x="327" y="74"/>
                </a:lnTo>
                <a:lnTo>
                  <a:pt x="311" y="76"/>
                </a:lnTo>
                <a:lnTo>
                  <a:pt x="295" y="79"/>
                </a:lnTo>
                <a:lnTo>
                  <a:pt x="278" y="82"/>
                </a:lnTo>
                <a:lnTo>
                  <a:pt x="262" y="85"/>
                </a:lnTo>
                <a:lnTo>
                  <a:pt x="246" y="89"/>
                </a:lnTo>
                <a:lnTo>
                  <a:pt x="229" y="93"/>
                </a:lnTo>
                <a:lnTo>
                  <a:pt x="213" y="96"/>
                </a:lnTo>
                <a:lnTo>
                  <a:pt x="196" y="100"/>
                </a:lnTo>
                <a:lnTo>
                  <a:pt x="180" y="104"/>
                </a:lnTo>
                <a:lnTo>
                  <a:pt x="164" y="108"/>
                </a:lnTo>
                <a:lnTo>
                  <a:pt x="147" y="112"/>
                </a:lnTo>
                <a:lnTo>
                  <a:pt x="131" y="115"/>
                </a:lnTo>
                <a:lnTo>
                  <a:pt x="114" y="118"/>
                </a:lnTo>
                <a:lnTo>
                  <a:pt x="98" y="121"/>
                </a:lnTo>
                <a:lnTo>
                  <a:pt x="82" y="124"/>
                </a:lnTo>
                <a:lnTo>
                  <a:pt x="65" y="126"/>
                </a:lnTo>
                <a:lnTo>
                  <a:pt x="49" y="128"/>
                </a:lnTo>
                <a:lnTo>
                  <a:pt x="33" y="130"/>
                </a:lnTo>
                <a:lnTo>
                  <a:pt x="16" y="131"/>
                </a:lnTo>
                <a:lnTo>
                  <a:pt x="0" y="131"/>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3324225"/>
            <a:ext cx="3743325" cy="1476375"/>
          </a:xfrm>
          <a:custGeom>
            <a:avLst/>
            <a:gdLst/>
            <a:ahLst/>
            <a:cxnLst/>
            <a:rect l="l" t="t" r="r" b="b"/>
            <a:pathLst>
              <a:path w="393" h="155">
                <a:moveTo>
                  <a:pt x="0" y="0"/>
                </a:moveTo>
                <a:lnTo>
                  <a:pt x="16" y="1"/>
                </a:lnTo>
                <a:lnTo>
                  <a:pt x="33" y="3"/>
                </a:lnTo>
                <a:lnTo>
                  <a:pt x="49" y="6"/>
                </a:lnTo>
                <a:lnTo>
                  <a:pt x="65" y="10"/>
                </a:lnTo>
                <a:lnTo>
                  <a:pt x="82" y="15"/>
                </a:lnTo>
                <a:lnTo>
                  <a:pt x="98" y="21"/>
                </a:lnTo>
                <a:lnTo>
                  <a:pt x="114" y="27"/>
                </a:lnTo>
                <a:lnTo>
                  <a:pt x="131" y="34"/>
                </a:lnTo>
                <a:lnTo>
                  <a:pt x="147" y="42"/>
                </a:lnTo>
                <a:lnTo>
                  <a:pt x="164" y="50"/>
                </a:lnTo>
                <a:lnTo>
                  <a:pt x="180" y="58"/>
                </a:lnTo>
                <a:lnTo>
                  <a:pt x="196" y="66"/>
                </a:lnTo>
                <a:lnTo>
                  <a:pt x="213" y="74"/>
                </a:lnTo>
                <a:lnTo>
                  <a:pt x="229" y="82"/>
                </a:lnTo>
                <a:lnTo>
                  <a:pt x="246" y="90"/>
                </a:lnTo>
                <a:lnTo>
                  <a:pt x="262" y="98"/>
                </a:lnTo>
                <a:lnTo>
                  <a:pt x="278" y="105"/>
                </a:lnTo>
                <a:lnTo>
                  <a:pt x="295" y="111"/>
                </a:lnTo>
                <a:lnTo>
                  <a:pt x="311" y="117"/>
                </a:lnTo>
                <a:lnTo>
                  <a:pt x="327" y="122"/>
                </a:lnTo>
                <a:lnTo>
                  <a:pt x="344" y="126"/>
                </a:lnTo>
                <a:lnTo>
                  <a:pt x="360" y="129"/>
                </a:lnTo>
                <a:lnTo>
                  <a:pt x="377" y="131"/>
                </a:lnTo>
                <a:lnTo>
                  <a:pt x="393" y="132"/>
                </a:lnTo>
                <a:lnTo>
                  <a:pt x="393" y="155"/>
                </a:lnTo>
                <a:lnTo>
                  <a:pt x="377" y="155"/>
                </a:lnTo>
                <a:lnTo>
                  <a:pt x="360" y="153"/>
                </a:lnTo>
                <a:lnTo>
                  <a:pt x="344" y="150"/>
                </a:lnTo>
                <a:lnTo>
                  <a:pt x="327" y="146"/>
                </a:lnTo>
                <a:lnTo>
                  <a:pt x="311" y="141"/>
                </a:lnTo>
                <a:lnTo>
                  <a:pt x="295" y="135"/>
                </a:lnTo>
                <a:lnTo>
                  <a:pt x="278" y="128"/>
                </a:lnTo>
                <a:lnTo>
                  <a:pt x="262" y="121"/>
                </a:lnTo>
                <a:lnTo>
                  <a:pt x="246" y="114"/>
                </a:lnTo>
                <a:lnTo>
                  <a:pt x="229" y="106"/>
                </a:lnTo>
                <a:lnTo>
                  <a:pt x="213" y="98"/>
                </a:lnTo>
                <a:lnTo>
                  <a:pt x="196" y="89"/>
                </a:lnTo>
                <a:lnTo>
                  <a:pt x="180" y="81"/>
                </a:lnTo>
                <a:lnTo>
                  <a:pt x="164" y="73"/>
                </a:lnTo>
                <a:lnTo>
                  <a:pt x="147" y="65"/>
                </a:lnTo>
                <a:lnTo>
                  <a:pt x="131" y="58"/>
                </a:lnTo>
                <a:lnTo>
                  <a:pt x="114" y="51"/>
                </a:lnTo>
                <a:lnTo>
                  <a:pt x="98" y="44"/>
                </a:lnTo>
                <a:lnTo>
                  <a:pt x="82" y="38"/>
                </a:lnTo>
                <a:lnTo>
                  <a:pt x="65" y="33"/>
                </a:lnTo>
                <a:lnTo>
                  <a:pt x="49" y="29"/>
                </a:lnTo>
                <a:lnTo>
                  <a:pt x="33" y="26"/>
                </a:lnTo>
                <a:lnTo>
                  <a:pt x="16" y="24"/>
                </a:lnTo>
                <a:lnTo>
                  <a:pt x="0" y="23"/>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3543300"/>
            <a:ext cx="3743325" cy="2105025"/>
          </a:xfrm>
          <a:custGeom>
            <a:avLst/>
            <a:gdLst/>
            <a:ahLst/>
            <a:cxnLst/>
            <a:rect l="l" t="t" r="r" b="b"/>
            <a:pathLst>
              <a:path w="393" h="221">
                <a:moveTo>
                  <a:pt x="0" y="0"/>
                </a:moveTo>
                <a:lnTo>
                  <a:pt x="16" y="1"/>
                </a:lnTo>
                <a:lnTo>
                  <a:pt x="33" y="4"/>
                </a:lnTo>
                <a:lnTo>
                  <a:pt x="49" y="9"/>
                </a:lnTo>
                <a:lnTo>
                  <a:pt x="65" y="16"/>
                </a:lnTo>
                <a:lnTo>
                  <a:pt x="82" y="24"/>
                </a:lnTo>
                <a:lnTo>
                  <a:pt x="98" y="33"/>
                </a:lnTo>
                <a:lnTo>
                  <a:pt x="114" y="43"/>
                </a:lnTo>
                <a:lnTo>
                  <a:pt x="131" y="54"/>
                </a:lnTo>
                <a:lnTo>
                  <a:pt x="147" y="66"/>
                </a:lnTo>
                <a:lnTo>
                  <a:pt x="164" y="79"/>
                </a:lnTo>
                <a:lnTo>
                  <a:pt x="180" y="91"/>
                </a:lnTo>
                <a:lnTo>
                  <a:pt x="196" y="104"/>
                </a:lnTo>
                <a:lnTo>
                  <a:pt x="213" y="117"/>
                </a:lnTo>
                <a:lnTo>
                  <a:pt x="229" y="130"/>
                </a:lnTo>
                <a:lnTo>
                  <a:pt x="246" y="142"/>
                </a:lnTo>
                <a:lnTo>
                  <a:pt x="262" y="154"/>
                </a:lnTo>
                <a:lnTo>
                  <a:pt x="278" y="165"/>
                </a:lnTo>
                <a:lnTo>
                  <a:pt x="295" y="176"/>
                </a:lnTo>
                <a:lnTo>
                  <a:pt x="311" y="185"/>
                </a:lnTo>
                <a:lnTo>
                  <a:pt x="327" y="193"/>
                </a:lnTo>
                <a:lnTo>
                  <a:pt x="344" y="199"/>
                </a:lnTo>
                <a:lnTo>
                  <a:pt x="360" y="204"/>
                </a:lnTo>
                <a:lnTo>
                  <a:pt x="377" y="207"/>
                </a:lnTo>
                <a:lnTo>
                  <a:pt x="393" y="208"/>
                </a:lnTo>
                <a:lnTo>
                  <a:pt x="393" y="221"/>
                </a:lnTo>
                <a:lnTo>
                  <a:pt x="377" y="220"/>
                </a:lnTo>
                <a:lnTo>
                  <a:pt x="360" y="217"/>
                </a:lnTo>
                <a:lnTo>
                  <a:pt x="344" y="212"/>
                </a:lnTo>
                <a:lnTo>
                  <a:pt x="327" y="206"/>
                </a:lnTo>
                <a:lnTo>
                  <a:pt x="311" y="198"/>
                </a:lnTo>
                <a:lnTo>
                  <a:pt x="295" y="188"/>
                </a:lnTo>
                <a:lnTo>
                  <a:pt x="278" y="178"/>
                </a:lnTo>
                <a:lnTo>
                  <a:pt x="262" y="167"/>
                </a:lnTo>
                <a:lnTo>
                  <a:pt x="246" y="155"/>
                </a:lnTo>
                <a:lnTo>
                  <a:pt x="229" y="143"/>
                </a:lnTo>
                <a:lnTo>
                  <a:pt x="213" y="130"/>
                </a:lnTo>
                <a:lnTo>
                  <a:pt x="196" y="117"/>
                </a:lnTo>
                <a:lnTo>
                  <a:pt x="180" y="104"/>
                </a:lnTo>
                <a:lnTo>
                  <a:pt x="164" y="91"/>
                </a:lnTo>
                <a:lnTo>
                  <a:pt x="147" y="79"/>
                </a:lnTo>
                <a:lnTo>
                  <a:pt x="131" y="67"/>
                </a:lnTo>
                <a:lnTo>
                  <a:pt x="114" y="56"/>
                </a:lnTo>
                <a:lnTo>
                  <a:pt x="98" y="46"/>
                </a:lnTo>
                <a:lnTo>
                  <a:pt x="82" y="37"/>
                </a:lnTo>
                <a:lnTo>
                  <a:pt x="65" y="29"/>
                </a:lnTo>
                <a:lnTo>
                  <a:pt x="49" y="22"/>
                </a:lnTo>
                <a:lnTo>
                  <a:pt x="33" y="17"/>
                </a:lnTo>
                <a:lnTo>
                  <a:pt x="16" y="14"/>
                </a:lnTo>
                <a:lnTo>
                  <a:pt x="0" y="13"/>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3667125"/>
            <a:ext cx="3743325" cy="2590800"/>
          </a:xfrm>
          <a:custGeom>
            <a:avLst/>
            <a:gdLst/>
            <a:ahLst/>
            <a:cxnLst/>
            <a:rect l="l" t="t" r="r" b="b"/>
            <a:pathLst>
              <a:path w="393" h="272">
                <a:moveTo>
                  <a:pt x="0" y="0"/>
                </a:moveTo>
                <a:lnTo>
                  <a:pt x="16" y="2"/>
                </a:lnTo>
                <a:lnTo>
                  <a:pt x="33" y="5"/>
                </a:lnTo>
                <a:lnTo>
                  <a:pt x="49" y="11"/>
                </a:lnTo>
                <a:lnTo>
                  <a:pt x="65" y="20"/>
                </a:lnTo>
                <a:lnTo>
                  <a:pt x="82" y="30"/>
                </a:lnTo>
                <a:lnTo>
                  <a:pt x="98" y="41"/>
                </a:lnTo>
                <a:lnTo>
                  <a:pt x="114" y="54"/>
                </a:lnTo>
                <a:lnTo>
                  <a:pt x="131" y="68"/>
                </a:lnTo>
                <a:lnTo>
                  <a:pt x="147" y="83"/>
                </a:lnTo>
                <a:lnTo>
                  <a:pt x="164" y="99"/>
                </a:lnTo>
                <a:lnTo>
                  <a:pt x="180" y="115"/>
                </a:lnTo>
                <a:lnTo>
                  <a:pt x="196" y="131"/>
                </a:lnTo>
                <a:lnTo>
                  <a:pt x="213" y="147"/>
                </a:lnTo>
                <a:lnTo>
                  <a:pt x="229" y="163"/>
                </a:lnTo>
                <a:lnTo>
                  <a:pt x="246" y="179"/>
                </a:lnTo>
                <a:lnTo>
                  <a:pt x="262" y="194"/>
                </a:lnTo>
                <a:lnTo>
                  <a:pt x="278" y="208"/>
                </a:lnTo>
                <a:lnTo>
                  <a:pt x="295" y="221"/>
                </a:lnTo>
                <a:lnTo>
                  <a:pt x="311" y="233"/>
                </a:lnTo>
                <a:lnTo>
                  <a:pt x="327" y="242"/>
                </a:lnTo>
                <a:lnTo>
                  <a:pt x="344" y="251"/>
                </a:lnTo>
                <a:lnTo>
                  <a:pt x="360" y="257"/>
                </a:lnTo>
                <a:lnTo>
                  <a:pt x="377" y="261"/>
                </a:lnTo>
                <a:lnTo>
                  <a:pt x="393" y="262"/>
                </a:lnTo>
                <a:lnTo>
                  <a:pt x="393" y="272"/>
                </a:lnTo>
                <a:lnTo>
                  <a:pt x="377" y="271"/>
                </a:lnTo>
                <a:lnTo>
                  <a:pt x="360" y="267"/>
                </a:lnTo>
                <a:lnTo>
                  <a:pt x="344" y="261"/>
                </a:lnTo>
                <a:lnTo>
                  <a:pt x="327" y="253"/>
                </a:lnTo>
                <a:lnTo>
                  <a:pt x="311" y="243"/>
                </a:lnTo>
                <a:lnTo>
                  <a:pt x="295" y="232"/>
                </a:lnTo>
                <a:lnTo>
                  <a:pt x="278" y="219"/>
                </a:lnTo>
                <a:lnTo>
                  <a:pt x="262" y="205"/>
                </a:lnTo>
                <a:lnTo>
                  <a:pt x="246" y="190"/>
                </a:lnTo>
                <a:lnTo>
                  <a:pt x="229" y="174"/>
                </a:lnTo>
                <a:lnTo>
                  <a:pt x="213" y="158"/>
                </a:lnTo>
                <a:lnTo>
                  <a:pt x="196" y="142"/>
                </a:lnTo>
                <a:lnTo>
                  <a:pt x="180" y="125"/>
                </a:lnTo>
                <a:lnTo>
                  <a:pt x="164" y="109"/>
                </a:lnTo>
                <a:lnTo>
                  <a:pt x="147" y="94"/>
                </a:lnTo>
                <a:lnTo>
                  <a:pt x="131" y="79"/>
                </a:lnTo>
                <a:lnTo>
                  <a:pt x="114" y="65"/>
                </a:lnTo>
                <a:lnTo>
                  <a:pt x="98" y="52"/>
                </a:lnTo>
                <a:lnTo>
                  <a:pt x="82" y="40"/>
                </a:lnTo>
                <a:lnTo>
                  <a:pt x="65" y="30"/>
                </a:lnTo>
                <a:lnTo>
                  <a:pt x="49" y="22"/>
                </a:lnTo>
                <a:lnTo>
                  <a:pt x="33" y="16"/>
                </a:lnTo>
                <a:lnTo>
                  <a:pt x="16" y="12"/>
                </a:lnTo>
                <a:lnTo>
                  <a:pt x="0" y="11"/>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2743200"/>
            <a:ext cx="3743325" cy="1762125"/>
          </a:xfrm>
          <a:custGeom>
            <a:avLst/>
            <a:gdLst/>
            <a:ahLst/>
            <a:cxnLst/>
            <a:rect l="l" t="t" r="r" b="b"/>
            <a:pathLst>
              <a:path w="393" h="185">
                <a:moveTo>
                  <a:pt x="0" y="114"/>
                </a:moveTo>
                <a:lnTo>
                  <a:pt x="16" y="113"/>
                </a:lnTo>
                <a:lnTo>
                  <a:pt x="33" y="112"/>
                </a:lnTo>
                <a:lnTo>
                  <a:pt x="49" y="109"/>
                </a:lnTo>
                <a:lnTo>
                  <a:pt x="65" y="105"/>
                </a:lnTo>
                <a:lnTo>
                  <a:pt x="82" y="101"/>
                </a:lnTo>
                <a:lnTo>
                  <a:pt x="98" y="96"/>
                </a:lnTo>
                <a:lnTo>
                  <a:pt x="114" y="90"/>
                </a:lnTo>
                <a:lnTo>
                  <a:pt x="131" y="84"/>
                </a:lnTo>
                <a:lnTo>
                  <a:pt x="147" y="78"/>
                </a:lnTo>
                <a:lnTo>
                  <a:pt x="164" y="71"/>
                </a:lnTo>
                <a:lnTo>
                  <a:pt x="180" y="64"/>
                </a:lnTo>
                <a:lnTo>
                  <a:pt x="196" y="57"/>
                </a:lnTo>
                <a:lnTo>
                  <a:pt x="213" y="50"/>
                </a:lnTo>
                <a:lnTo>
                  <a:pt x="229" y="43"/>
                </a:lnTo>
                <a:lnTo>
                  <a:pt x="246" y="36"/>
                </a:lnTo>
                <a:lnTo>
                  <a:pt x="262" y="29"/>
                </a:lnTo>
                <a:lnTo>
                  <a:pt x="278" y="23"/>
                </a:lnTo>
                <a:lnTo>
                  <a:pt x="295" y="17"/>
                </a:lnTo>
                <a:lnTo>
                  <a:pt x="311" y="12"/>
                </a:lnTo>
                <a:lnTo>
                  <a:pt x="327" y="8"/>
                </a:lnTo>
                <a:lnTo>
                  <a:pt x="344" y="4"/>
                </a:lnTo>
                <a:lnTo>
                  <a:pt x="360" y="2"/>
                </a:lnTo>
                <a:lnTo>
                  <a:pt x="377" y="0"/>
                </a:lnTo>
                <a:lnTo>
                  <a:pt x="393" y="0"/>
                </a:lnTo>
                <a:lnTo>
                  <a:pt x="393" y="70"/>
                </a:lnTo>
                <a:lnTo>
                  <a:pt x="377" y="71"/>
                </a:lnTo>
                <a:lnTo>
                  <a:pt x="360" y="73"/>
                </a:lnTo>
                <a:lnTo>
                  <a:pt x="344" y="75"/>
                </a:lnTo>
                <a:lnTo>
                  <a:pt x="327" y="79"/>
                </a:lnTo>
                <a:lnTo>
                  <a:pt x="311" y="83"/>
                </a:lnTo>
                <a:lnTo>
                  <a:pt x="295" y="88"/>
                </a:lnTo>
                <a:lnTo>
                  <a:pt x="278" y="94"/>
                </a:lnTo>
                <a:lnTo>
                  <a:pt x="262" y="100"/>
                </a:lnTo>
                <a:lnTo>
                  <a:pt x="246" y="107"/>
                </a:lnTo>
                <a:lnTo>
                  <a:pt x="229" y="113"/>
                </a:lnTo>
                <a:lnTo>
                  <a:pt x="213" y="120"/>
                </a:lnTo>
                <a:lnTo>
                  <a:pt x="196" y="128"/>
                </a:lnTo>
                <a:lnTo>
                  <a:pt x="180" y="135"/>
                </a:lnTo>
                <a:lnTo>
                  <a:pt x="164" y="142"/>
                </a:lnTo>
                <a:lnTo>
                  <a:pt x="147" y="149"/>
                </a:lnTo>
                <a:lnTo>
                  <a:pt x="131" y="155"/>
                </a:lnTo>
                <a:lnTo>
                  <a:pt x="114" y="161"/>
                </a:lnTo>
                <a:lnTo>
                  <a:pt x="98" y="167"/>
                </a:lnTo>
                <a:lnTo>
                  <a:pt x="82" y="172"/>
                </a:lnTo>
                <a:lnTo>
                  <a:pt x="65" y="176"/>
                </a:lnTo>
                <a:lnTo>
                  <a:pt x="49" y="180"/>
                </a:lnTo>
                <a:lnTo>
                  <a:pt x="33" y="182"/>
                </a:lnTo>
                <a:lnTo>
                  <a:pt x="16" y="184"/>
                </a:lnTo>
                <a:lnTo>
                  <a:pt x="0" y="185"/>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4505325"/>
            <a:ext cx="3743325" cy="485775"/>
          </a:xfrm>
          <a:custGeom>
            <a:avLst/>
            <a:gdLst/>
            <a:ahLst/>
            <a:cxnLst/>
            <a:rect l="l" t="t" r="r" b="b"/>
            <a:pathLst>
              <a:path w="393" h="51">
                <a:moveTo>
                  <a:pt x="0" y="0"/>
                </a:moveTo>
                <a:lnTo>
                  <a:pt x="16" y="0"/>
                </a:lnTo>
                <a:lnTo>
                  <a:pt x="33" y="0"/>
                </a:lnTo>
                <a:lnTo>
                  <a:pt x="49" y="1"/>
                </a:lnTo>
                <a:lnTo>
                  <a:pt x="65" y="2"/>
                </a:lnTo>
                <a:lnTo>
                  <a:pt x="82" y="3"/>
                </a:lnTo>
                <a:lnTo>
                  <a:pt x="98" y="5"/>
                </a:lnTo>
                <a:lnTo>
                  <a:pt x="114" y="6"/>
                </a:lnTo>
                <a:lnTo>
                  <a:pt x="131" y="8"/>
                </a:lnTo>
                <a:lnTo>
                  <a:pt x="147" y="10"/>
                </a:lnTo>
                <a:lnTo>
                  <a:pt x="164" y="12"/>
                </a:lnTo>
                <a:lnTo>
                  <a:pt x="180" y="14"/>
                </a:lnTo>
                <a:lnTo>
                  <a:pt x="196" y="16"/>
                </a:lnTo>
                <a:lnTo>
                  <a:pt x="213" y="17"/>
                </a:lnTo>
                <a:lnTo>
                  <a:pt x="229" y="19"/>
                </a:lnTo>
                <a:lnTo>
                  <a:pt x="246" y="21"/>
                </a:lnTo>
                <a:lnTo>
                  <a:pt x="262" y="23"/>
                </a:lnTo>
                <a:lnTo>
                  <a:pt x="278" y="25"/>
                </a:lnTo>
                <a:lnTo>
                  <a:pt x="295" y="26"/>
                </a:lnTo>
                <a:lnTo>
                  <a:pt x="311" y="28"/>
                </a:lnTo>
                <a:lnTo>
                  <a:pt x="327" y="29"/>
                </a:lnTo>
                <a:lnTo>
                  <a:pt x="344" y="30"/>
                </a:lnTo>
                <a:lnTo>
                  <a:pt x="360" y="31"/>
                </a:lnTo>
                <a:lnTo>
                  <a:pt x="377" y="31"/>
                </a:lnTo>
                <a:lnTo>
                  <a:pt x="393" y="31"/>
                </a:lnTo>
                <a:lnTo>
                  <a:pt x="393" y="51"/>
                </a:lnTo>
                <a:lnTo>
                  <a:pt x="377" y="51"/>
                </a:lnTo>
                <a:lnTo>
                  <a:pt x="360" y="50"/>
                </a:lnTo>
                <a:lnTo>
                  <a:pt x="344" y="50"/>
                </a:lnTo>
                <a:lnTo>
                  <a:pt x="327" y="49"/>
                </a:lnTo>
                <a:lnTo>
                  <a:pt x="311" y="47"/>
                </a:lnTo>
                <a:lnTo>
                  <a:pt x="295" y="46"/>
                </a:lnTo>
                <a:lnTo>
                  <a:pt x="278" y="44"/>
                </a:lnTo>
                <a:lnTo>
                  <a:pt x="262" y="43"/>
                </a:lnTo>
                <a:lnTo>
                  <a:pt x="246" y="41"/>
                </a:lnTo>
                <a:lnTo>
                  <a:pt x="229" y="39"/>
                </a:lnTo>
                <a:lnTo>
                  <a:pt x="213" y="37"/>
                </a:lnTo>
                <a:lnTo>
                  <a:pt x="196" y="35"/>
                </a:lnTo>
                <a:lnTo>
                  <a:pt x="180" y="33"/>
                </a:lnTo>
                <a:lnTo>
                  <a:pt x="164" y="31"/>
                </a:lnTo>
                <a:lnTo>
                  <a:pt x="147" y="29"/>
                </a:lnTo>
                <a:lnTo>
                  <a:pt x="131" y="28"/>
                </a:lnTo>
                <a:lnTo>
                  <a:pt x="114" y="26"/>
                </a:lnTo>
                <a:lnTo>
                  <a:pt x="98" y="24"/>
                </a:lnTo>
                <a:lnTo>
                  <a:pt x="82" y="23"/>
                </a:lnTo>
                <a:lnTo>
                  <a:pt x="65" y="22"/>
                </a:lnTo>
                <a:lnTo>
                  <a:pt x="49" y="21"/>
                </a:lnTo>
                <a:lnTo>
                  <a:pt x="33" y="20"/>
                </a:lnTo>
                <a:lnTo>
                  <a:pt x="16" y="20"/>
                </a:lnTo>
                <a:lnTo>
                  <a:pt x="0" y="19"/>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4686300"/>
            <a:ext cx="3743325" cy="1047750"/>
          </a:xfrm>
          <a:custGeom>
            <a:avLst/>
            <a:gdLst/>
            <a:ahLst/>
            <a:cxnLst/>
            <a:rect l="l" t="t" r="r" b="b"/>
            <a:pathLst>
              <a:path w="393" h="110">
                <a:moveTo>
                  <a:pt x="0" y="0"/>
                </a:moveTo>
                <a:lnTo>
                  <a:pt x="16" y="1"/>
                </a:lnTo>
                <a:lnTo>
                  <a:pt x="33" y="2"/>
                </a:lnTo>
                <a:lnTo>
                  <a:pt x="49" y="5"/>
                </a:lnTo>
                <a:lnTo>
                  <a:pt x="65" y="8"/>
                </a:lnTo>
                <a:lnTo>
                  <a:pt x="82" y="12"/>
                </a:lnTo>
                <a:lnTo>
                  <a:pt x="98" y="16"/>
                </a:lnTo>
                <a:lnTo>
                  <a:pt x="114" y="21"/>
                </a:lnTo>
                <a:lnTo>
                  <a:pt x="131" y="26"/>
                </a:lnTo>
                <a:lnTo>
                  <a:pt x="147" y="32"/>
                </a:lnTo>
                <a:lnTo>
                  <a:pt x="164" y="38"/>
                </a:lnTo>
                <a:lnTo>
                  <a:pt x="180" y="44"/>
                </a:lnTo>
                <a:lnTo>
                  <a:pt x="196" y="51"/>
                </a:lnTo>
                <a:lnTo>
                  <a:pt x="213" y="57"/>
                </a:lnTo>
                <a:lnTo>
                  <a:pt x="229" y="63"/>
                </a:lnTo>
                <a:lnTo>
                  <a:pt x="246" y="69"/>
                </a:lnTo>
                <a:lnTo>
                  <a:pt x="262" y="75"/>
                </a:lnTo>
                <a:lnTo>
                  <a:pt x="278" y="80"/>
                </a:lnTo>
                <a:lnTo>
                  <a:pt x="295" y="85"/>
                </a:lnTo>
                <a:lnTo>
                  <a:pt x="311" y="90"/>
                </a:lnTo>
                <a:lnTo>
                  <a:pt x="327" y="93"/>
                </a:lnTo>
                <a:lnTo>
                  <a:pt x="344" y="97"/>
                </a:lnTo>
                <a:lnTo>
                  <a:pt x="360" y="99"/>
                </a:lnTo>
                <a:lnTo>
                  <a:pt x="377" y="100"/>
                </a:lnTo>
                <a:lnTo>
                  <a:pt x="393" y="101"/>
                </a:lnTo>
                <a:lnTo>
                  <a:pt x="393" y="110"/>
                </a:lnTo>
                <a:lnTo>
                  <a:pt x="377" y="110"/>
                </a:lnTo>
                <a:lnTo>
                  <a:pt x="360" y="108"/>
                </a:lnTo>
                <a:lnTo>
                  <a:pt x="344" y="106"/>
                </a:lnTo>
                <a:lnTo>
                  <a:pt x="327" y="103"/>
                </a:lnTo>
                <a:lnTo>
                  <a:pt x="311" y="99"/>
                </a:lnTo>
                <a:lnTo>
                  <a:pt x="295" y="95"/>
                </a:lnTo>
                <a:lnTo>
                  <a:pt x="278" y="90"/>
                </a:lnTo>
                <a:lnTo>
                  <a:pt x="262" y="84"/>
                </a:lnTo>
                <a:lnTo>
                  <a:pt x="246" y="79"/>
                </a:lnTo>
                <a:lnTo>
                  <a:pt x="229" y="73"/>
                </a:lnTo>
                <a:lnTo>
                  <a:pt x="213" y="66"/>
                </a:lnTo>
                <a:lnTo>
                  <a:pt x="196" y="60"/>
                </a:lnTo>
                <a:lnTo>
                  <a:pt x="180" y="54"/>
                </a:lnTo>
                <a:lnTo>
                  <a:pt x="164" y="48"/>
                </a:lnTo>
                <a:lnTo>
                  <a:pt x="147" y="42"/>
                </a:lnTo>
                <a:lnTo>
                  <a:pt x="131" y="36"/>
                </a:lnTo>
                <a:lnTo>
                  <a:pt x="114" y="31"/>
                </a:lnTo>
                <a:lnTo>
                  <a:pt x="98" y="26"/>
                </a:lnTo>
                <a:lnTo>
                  <a:pt x="82" y="21"/>
                </a:lnTo>
                <a:lnTo>
                  <a:pt x="65" y="17"/>
                </a:lnTo>
                <a:lnTo>
                  <a:pt x="49" y="14"/>
                </a:lnTo>
                <a:lnTo>
                  <a:pt x="33" y="12"/>
                </a:lnTo>
                <a:lnTo>
                  <a:pt x="16" y="10"/>
                </a:lnTo>
                <a:lnTo>
                  <a:pt x="0" y="10"/>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4781550"/>
            <a:ext cx="3743325" cy="1552575"/>
          </a:xfrm>
          <a:custGeom>
            <a:avLst/>
            <a:gdLst/>
            <a:ahLst/>
            <a:cxnLst/>
            <a:rect l="l" t="t" r="r" b="b"/>
            <a:pathLst>
              <a:path w="393" h="163">
                <a:moveTo>
                  <a:pt x="0" y="0"/>
                </a:moveTo>
                <a:lnTo>
                  <a:pt x="16" y="1"/>
                </a:lnTo>
                <a:lnTo>
                  <a:pt x="33" y="3"/>
                </a:lnTo>
                <a:lnTo>
                  <a:pt x="49" y="7"/>
                </a:lnTo>
                <a:lnTo>
                  <a:pt x="65" y="11"/>
                </a:lnTo>
                <a:lnTo>
                  <a:pt x="82" y="17"/>
                </a:lnTo>
                <a:lnTo>
                  <a:pt x="98" y="24"/>
                </a:lnTo>
                <a:lnTo>
                  <a:pt x="114" y="32"/>
                </a:lnTo>
                <a:lnTo>
                  <a:pt x="131" y="40"/>
                </a:lnTo>
                <a:lnTo>
                  <a:pt x="147" y="49"/>
                </a:lnTo>
                <a:lnTo>
                  <a:pt x="164" y="58"/>
                </a:lnTo>
                <a:lnTo>
                  <a:pt x="180" y="68"/>
                </a:lnTo>
                <a:lnTo>
                  <a:pt x="196" y="78"/>
                </a:lnTo>
                <a:lnTo>
                  <a:pt x="213" y="87"/>
                </a:lnTo>
                <a:lnTo>
                  <a:pt x="229" y="97"/>
                </a:lnTo>
                <a:lnTo>
                  <a:pt x="246" y="106"/>
                </a:lnTo>
                <a:lnTo>
                  <a:pt x="262" y="115"/>
                </a:lnTo>
                <a:lnTo>
                  <a:pt x="278" y="123"/>
                </a:lnTo>
                <a:lnTo>
                  <a:pt x="295" y="131"/>
                </a:lnTo>
                <a:lnTo>
                  <a:pt x="311" y="138"/>
                </a:lnTo>
                <a:lnTo>
                  <a:pt x="327" y="144"/>
                </a:lnTo>
                <a:lnTo>
                  <a:pt x="344" y="149"/>
                </a:lnTo>
                <a:lnTo>
                  <a:pt x="360" y="152"/>
                </a:lnTo>
                <a:lnTo>
                  <a:pt x="377" y="155"/>
                </a:lnTo>
                <a:lnTo>
                  <a:pt x="393" y="155"/>
                </a:lnTo>
                <a:lnTo>
                  <a:pt x="393" y="163"/>
                </a:lnTo>
                <a:lnTo>
                  <a:pt x="377" y="163"/>
                </a:lnTo>
                <a:lnTo>
                  <a:pt x="360" y="160"/>
                </a:lnTo>
                <a:lnTo>
                  <a:pt x="344" y="157"/>
                </a:lnTo>
                <a:lnTo>
                  <a:pt x="327" y="152"/>
                </a:lnTo>
                <a:lnTo>
                  <a:pt x="311" y="146"/>
                </a:lnTo>
                <a:lnTo>
                  <a:pt x="295" y="139"/>
                </a:lnTo>
                <a:lnTo>
                  <a:pt x="278" y="131"/>
                </a:lnTo>
                <a:lnTo>
                  <a:pt x="262" y="123"/>
                </a:lnTo>
                <a:lnTo>
                  <a:pt x="246" y="114"/>
                </a:lnTo>
                <a:lnTo>
                  <a:pt x="229" y="105"/>
                </a:lnTo>
                <a:lnTo>
                  <a:pt x="213" y="95"/>
                </a:lnTo>
                <a:lnTo>
                  <a:pt x="196" y="86"/>
                </a:lnTo>
                <a:lnTo>
                  <a:pt x="180" y="76"/>
                </a:lnTo>
                <a:lnTo>
                  <a:pt x="164" y="66"/>
                </a:lnTo>
                <a:lnTo>
                  <a:pt x="147" y="57"/>
                </a:lnTo>
                <a:lnTo>
                  <a:pt x="131" y="48"/>
                </a:lnTo>
                <a:lnTo>
                  <a:pt x="114" y="40"/>
                </a:lnTo>
                <a:lnTo>
                  <a:pt x="98" y="32"/>
                </a:lnTo>
                <a:lnTo>
                  <a:pt x="82" y="25"/>
                </a:lnTo>
                <a:lnTo>
                  <a:pt x="65" y="19"/>
                </a:lnTo>
                <a:lnTo>
                  <a:pt x="49" y="15"/>
                </a:lnTo>
                <a:lnTo>
                  <a:pt x="33" y="11"/>
                </a:lnTo>
                <a:lnTo>
                  <a:pt x="16" y="9"/>
                </a:lnTo>
                <a:lnTo>
                  <a:pt x="0" y="8"/>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3409950"/>
            <a:ext cx="3743325" cy="1943100"/>
          </a:xfrm>
          <a:custGeom>
            <a:avLst/>
            <a:gdLst/>
            <a:ahLst/>
            <a:cxnLst/>
            <a:rect l="l" t="t" r="r" b="b"/>
            <a:pathLst>
              <a:path w="393" h="204">
                <a:moveTo>
                  <a:pt x="0" y="158"/>
                </a:moveTo>
                <a:lnTo>
                  <a:pt x="16" y="157"/>
                </a:lnTo>
                <a:lnTo>
                  <a:pt x="33" y="155"/>
                </a:lnTo>
                <a:lnTo>
                  <a:pt x="49" y="151"/>
                </a:lnTo>
                <a:lnTo>
                  <a:pt x="65" y="146"/>
                </a:lnTo>
                <a:lnTo>
                  <a:pt x="82" y="140"/>
                </a:lnTo>
                <a:lnTo>
                  <a:pt x="98" y="133"/>
                </a:lnTo>
                <a:lnTo>
                  <a:pt x="114" y="125"/>
                </a:lnTo>
                <a:lnTo>
                  <a:pt x="131" y="117"/>
                </a:lnTo>
                <a:lnTo>
                  <a:pt x="147" y="108"/>
                </a:lnTo>
                <a:lnTo>
                  <a:pt x="164" y="99"/>
                </a:lnTo>
                <a:lnTo>
                  <a:pt x="180" y="89"/>
                </a:lnTo>
                <a:lnTo>
                  <a:pt x="196" y="79"/>
                </a:lnTo>
                <a:lnTo>
                  <a:pt x="213" y="69"/>
                </a:lnTo>
                <a:lnTo>
                  <a:pt x="229" y="60"/>
                </a:lnTo>
                <a:lnTo>
                  <a:pt x="246" y="50"/>
                </a:lnTo>
                <a:lnTo>
                  <a:pt x="262" y="41"/>
                </a:lnTo>
                <a:lnTo>
                  <a:pt x="278" y="33"/>
                </a:lnTo>
                <a:lnTo>
                  <a:pt x="295" y="25"/>
                </a:lnTo>
                <a:lnTo>
                  <a:pt x="311" y="18"/>
                </a:lnTo>
                <a:lnTo>
                  <a:pt x="327" y="12"/>
                </a:lnTo>
                <a:lnTo>
                  <a:pt x="344" y="7"/>
                </a:lnTo>
                <a:lnTo>
                  <a:pt x="360" y="3"/>
                </a:lnTo>
                <a:lnTo>
                  <a:pt x="377" y="1"/>
                </a:lnTo>
                <a:lnTo>
                  <a:pt x="393" y="0"/>
                </a:lnTo>
                <a:lnTo>
                  <a:pt x="393" y="47"/>
                </a:lnTo>
                <a:lnTo>
                  <a:pt x="377" y="48"/>
                </a:lnTo>
                <a:lnTo>
                  <a:pt x="360" y="50"/>
                </a:lnTo>
                <a:lnTo>
                  <a:pt x="344" y="54"/>
                </a:lnTo>
                <a:lnTo>
                  <a:pt x="327" y="59"/>
                </a:lnTo>
                <a:lnTo>
                  <a:pt x="311" y="65"/>
                </a:lnTo>
                <a:lnTo>
                  <a:pt x="295" y="72"/>
                </a:lnTo>
                <a:lnTo>
                  <a:pt x="278" y="79"/>
                </a:lnTo>
                <a:lnTo>
                  <a:pt x="262" y="88"/>
                </a:lnTo>
                <a:lnTo>
                  <a:pt x="246" y="97"/>
                </a:lnTo>
                <a:lnTo>
                  <a:pt x="229" y="106"/>
                </a:lnTo>
                <a:lnTo>
                  <a:pt x="213" y="116"/>
                </a:lnTo>
                <a:lnTo>
                  <a:pt x="196" y="126"/>
                </a:lnTo>
                <a:lnTo>
                  <a:pt x="180" y="136"/>
                </a:lnTo>
                <a:lnTo>
                  <a:pt x="164" y="145"/>
                </a:lnTo>
                <a:lnTo>
                  <a:pt x="147" y="155"/>
                </a:lnTo>
                <a:lnTo>
                  <a:pt x="131" y="164"/>
                </a:lnTo>
                <a:lnTo>
                  <a:pt x="114" y="172"/>
                </a:lnTo>
                <a:lnTo>
                  <a:pt x="98" y="180"/>
                </a:lnTo>
                <a:lnTo>
                  <a:pt x="82" y="187"/>
                </a:lnTo>
                <a:lnTo>
                  <a:pt x="65" y="193"/>
                </a:lnTo>
                <a:lnTo>
                  <a:pt x="49" y="198"/>
                </a:lnTo>
                <a:lnTo>
                  <a:pt x="33" y="201"/>
                </a:lnTo>
                <a:lnTo>
                  <a:pt x="16" y="204"/>
                </a:lnTo>
                <a:lnTo>
                  <a:pt x="0" y="204"/>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4991100"/>
            <a:ext cx="3743325" cy="523875"/>
          </a:xfrm>
          <a:custGeom>
            <a:avLst/>
            <a:gdLst/>
            <a:ahLst/>
            <a:cxnLst/>
            <a:rect l="l" t="t" r="r" b="b"/>
            <a:pathLst>
              <a:path w="393" h="55">
                <a:moveTo>
                  <a:pt x="0" y="38"/>
                </a:moveTo>
                <a:lnTo>
                  <a:pt x="16" y="38"/>
                </a:lnTo>
                <a:lnTo>
                  <a:pt x="33" y="38"/>
                </a:lnTo>
                <a:lnTo>
                  <a:pt x="49" y="37"/>
                </a:lnTo>
                <a:lnTo>
                  <a:pt x="65" y="36"/>
                </a:lnTo>
                <a:lnTo>
                  <a:pt x="82" y="34"/>
                </a:lnTo>
                <a:lnTo>
                  <a:pt x="98" y="32"/>
                </a:lnTo>
                <a:lnTo>
                  <a:pt x="114" y="31"/>
                </a:lnTo>
                <a:lnTo>
                  <a:pt x="131" y="29"/>
                </a:lnTo>
                <a:lnTo>
                  <a:pt x="147" y="26"/>
                </a:lnTo>
                <a:lnTo>
                  <a:pt x="164" y="24"/>
                </a:lnTo>
                <a:lnTo>
                  <a:pt x="180" y="22"/>
                </a:lnTo>
                <a:lnTo>
                  <a:pt x="196" y="19"/>
                </a:lnTo>
                <a:lnTo>
                  <a:pt x="213" y="17"/>
                </a:lnTo>
                <a:lnTo>
                  <a:pt x="229" y="14"/>
                </a:lnTo>
                <a:lnTo>
                  <a:pt x="246" y="12"/>
                </a:lnTo>
                <a:lnTo>
                  <a:pt x="262" y="10"/>
                </a:lnTo>
                <a:lnTo>
                  <a:pt x="278" y="8"/>
                </a:lnTo>
                <a:lnTo>
                  <a:pt x="295" y="6"/>
                </a:lnTo>
                <a:lnTo>
                  <a:pt x="311" y="4"/>
                </a:lnTo>
                <a:lnTo>
                  <a:pt x="327" y="3"/>
                </a:lnTo>
                <a:lnTo>
                  <a:pt x="344" y="2"/>
                </a:lnTo>
                <a:lnTo>
                  <a:pt x="360" y="1"/>
                </a:lnTo>
                <a:lnTo>
                  <a:pt x="377" y="0"/>
                </a:lnTo>
                <a:lnTo>
                  <a:pt x="393" y="0"/>
                </a:lnTo>
                <a:lnTo>
                  <a:pt x="393" y="16"/>
                </a:lnTo>
                <a:lnTo>
                  <a:pt x="377" y="17"/>
                </a:lnTo>
                <a:lnTo>
                  <a:pt x="360" y="17"/>
                </a:lnTo>
                <a:lnTo>
                  <a:pt x="344" y="18"/>
                </a:lnTo>
                <a:lnTo>
                  <a:pt x="327" y="19"/>
                </a:lnTo>
                <a:lnTo>
                  <a:pt x="311" y="21"/>
                </a:lnTo>
                <a:lnTo>
                  <a:pt x="295" y="22"/>
                </a:lnTo>
                <a:lnTo>
                  <a:pt x="278" y="24"/>
                </a:lnTo>
                <a:lnTo>
                  <a:pt x="262" y="26"/>
                </a:lnTo>
                <a:lnTo>
                  <a:pt x="246" y="29"/>
                </a:lnTo>
                <a:lnTo>
                  <a:pt x="229" y="31"/>
                </a:lnTo>
                <a:lnTo>
                  <a:pt x="213" y="33"/>
                </a:lnTo>
                <a:lnTo>
                  <a:pt x="196" y="36"/>
                </a:lnTo>
                <a:lnTo>
                  <a:pt x="180" y="38"/>
                </a:lnTo>
                <a:lnTo>
                  <a:pt x="164" y="40"/>
                </a:lnTo>
                <a:lnTo>
                  <a:pt x="147" y="43"/>
                </a:lnTo>
                <a:lnTo>
                  <a:pt x="131" y="45"/>
                </a:lnTo>
                <a:lnTo>
                  <a:pt x="114" y="47"/>
                </a:lnTo>
                <a:lnTo>
                  <a:pt x="98" y="49"/>
                </a:lnTo>
                <a:lnTo>
                  <a:pt x="82" y="51"/>
                </a:lnTo>
                <a:lnTo>
                  <a:pt x="65" y="52"/>
                </a:lnTo>
                <a:lnTo>
                  <a:pt x="49" y="53"/>
                </a:lnTo>
                <a:lnTo>
                  <a:pt x="33" y="54"/>
                </a:lnTo>
                <a:lnTo>
                  <a:pt x="16" y="55"/>
                </a:lnTo>
                <a:lnTo>
                  <a:pt x="0" y="55"/>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5514975"/>
            <a:ext cx="3743325" cy="323850"/>
          </a:xfrm>
          <a:custGeom>
            <a:avLst/>
            <a:gdLst/>
            <a:ahLst/>
            <a:cxnLst/>
            <a:rect l="l" t="t" r="r" b="b"/>
            <a:pathLst>
              <a:path w="393" h="34">
                <a:moveTo>
                  <a:pt x="0" y="0"/>
                </a:moveTo>
                <a:lnTo>
                  <a:pt x="16" y="0"/>
                </a:lnTo>
                <a:lnTo>
                  <a:pt x="33" y="0"/>
                </a:lnTo>
                <a:lnTo>
                  <a:pt x="49" y="1"/>
                </a:lnTo>
                <a:lnTo>
                  <a:pt x="65" y="2"/>
                </a:lnTo>
                <a:lnTo>
                  <a:pt x="82" y="3"/>
                </a:lnTo>
                <a:lnTo>
                  <a:pt x="98" y="4"/>
                </a:lnTo>
                <a:lnTo>
                  <a:pt x="114" y="5"/>
                </a:lnTo>
                <a:lnTo>
                  <a:pt x="131" y="6"/>
                </a:lnTo>
                <a:lnTo>
                  <a:pt x="147" y="7"/>
                </a:lnTo>
                <a:lnTo>
                  <a:pt x="164" y="9"/>
                </a:lnTo>
                <a:lnTo>
                  <a:pt x="180" y="10"/>
                </a:lnTo>
                <a:lnTo>
                  <a:pt x="196" y="12"/>
                </a:lnTo>
                <a:lnTo>
                  <a:pt x="213" y="13"/>
                </a:lnTo>
                <a:lnTo>
                  <a:pt x="229" y="15"/>
                </a:lnTo>
                <a:lnTo>
                  <a:pt x="246" y="16"/>
                </a:lnTo>
                <a:lnTo>
                  <a:pt x="262" y="17"/>
                </a:lnTo>
                <a:lnTo>
                  <a:pt x="278" y="19"/>
                </a:lnTo>
                <a:lnTo>
                  <a:pt x="295" y="20"/>
                </a:lnTo>
                <a:lnTo>
                  <a:pt x="311" y="21"/>
                </a:lnTo>
                <a:lnTo>
                  <a:pt x="327" y="22"/>
                </a:lnTo>
                <a:lnTo>
                  <a:pt x="344" y="22"/>
                </a:lnTo>
                <a:lnTo>
                  <a:pt x="360" y="23"/>
                </a:lnTo>
                <a:lnTo>
                  <a:pt x="377" y="23"/>
                </a:lnTo>
                <a:lnTo>
                  <a:pt x="393" y="23"/>
                </a:lnTo>
                <a:lnTo>
                  <a:pt x="393" y="34"/>
                </a:lnTo>
                <a:lnTo>
                  <a:pt x="377" y="34"/>
                </a:lnTo>
                <a:lnTo>
                  <a:pt x="360" y="33"/>
                </a:lnTo>
                <a:lnTo>
                  <a:pt x="344" y="33"/>
                </a:lnTo>
                <a:lnTo>
                  <a:pt x="327" y="32"/>
                </a:lnTo>
                <a:lnTo>
                  <a:pt x="311" y="31"/>
                </a:lnTo>
                <a:lnTo>
                  <a:pt x="295" y="30"/>
                </a:lnTo>
                <a:lnTo>
                  <a:pt x="278" y="29"/>
                </a:lnTo>
                <a:lnTo>
                  <a:pt x="262" y="28"/>
                </a:lnTo>
                <a:lnTo>
                  <a:pt x="246" y="26"/>
                </a:lnTo>
                <a:lnTo>
                  <a:pt x="229" y="25"/>
                </a:lnTo>
                <a:lnTo>
                  <a:pt x="213" y="24"/>
                </a:lnTo>
                <a:lnTo>
                  <a:pt x="196" y="22"/>
                </a:lnTo>
                <a:lnTo>
                  <a:pt x="180" y="21"/>
                </a:lnTo>
                <a:lnTo>
                  <a:pt x="164" y="19"/>
                </a:lnTo>
                <a:lnTo>
                  <a:pt x="147" y="18"/>
                </a:lnTo>
                <a:lnTo>
                  <a:pt x="131" y="16"/>
                </a:lnTo>
                <a:lnTo>
                  <a:pt x="114" y="15"/>
                </a:lnTo>
                <a:lnTo>
                  <a:pt x="98" y="14"/>
                </a:lnTo>
                <a:lnTo>
                  <a:pt x="82" y="13"/>
                </a:lnTo>
                <a:lnTo>
                  <a:pt x="65" y="12"/>
                </a:lnTo>
                <a:lnTo>
                  <a:pt x="49" y="11"/>
                </a:lnTo>
                <a:lnTo>
                  <a:pt x="33" y="11"/>
                </a:lnTo>
                <a:lnTo>
                  <a:pt x="16" y="10"/>
                </a:lnTo>
                <a:lnTo>
                  <a:pt x="0" y="10"/>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5610225"/>
            <a:ext cx="3743325" cy="800100"/>
          </a:xfrm>
          <a:custGeom>
            <a:avLst/>
            <a:gdLst/>
            <a:ahLst/>
            <a:cxnLst/>
            <a:rect l="l" t="t" r="r" b="b"/>
            <a:pathLst>
              <a:path w="393" h="84">
                <a:moveTo>
                  <a:pt x="0" y="0"/>
                </a:moveTo>
                <a:lnTo>
                  <a:pt x="16" y="1"/>
                </a:lnTo>
                <a:lnTo>
                  <a:pt x="33" y="2"/>
                </a:lnTo>
                <a:lnTo>
                  <a:pt x="49" y="4"/>
                </a:lnTo>
                <a:lnTo>
                  <a:pt x="65" y="6"/>
                </a:lnTo>
                <a:lnTo>
                  <a:pt x="82" y="9"/>
                </a:lnTo>
                <a:lnTo>
                  <a:pt x="98" y="12"/>
                </a:lnTo>
                <a:lnTo>
                  <a:pt x="114" y="16"/>
                </a:lnTo>
                <a:lnTo>
                  <a:pt x="131" y="20"/>
                </a:lnTo>
                <a:lnTo>
                  <a:pt x="147" y="24"/>
                </a:lnTo>
                <a:lnTo>
                  <a:pt x="164" y="29"/>
                </a:lnTo>
                <a:lnTo>
                  <a:pt x="180" y="34"/>
                </a:lnTo>
                <a:lnTo>
                  <a:pt x="196" y="38"/>
                </a:lnTo>
                <a:lnTo>
                  <a:pt x="213" y="43"/>
                </a:lnTo>
                <a:lnTo>
                  <a:pt x="229" y="48"/>
                </a:lnTo>
                <a:lnTo>
                  <a:pt x="246" y="52"/>
                </a:lnTo>
                <a:lnTo>
                  <a:pt x="262" y="57"/>
                </a:lnTo>
                <a:lnTo>
                  <a:pt x="278" y="61"/>
                </a:lnTo>
                <a:lnTo>
                  <a:pt x="295" y="65"/>
                </a:lnTo>
                <a:lnTo>
                  <a:pt x="311" y="68"/>
                </a:lnTo>
                <a:lnTo>
                  <a:pt x="327" y="71"/>
                </a:lnTo>
                <a:lnTo>
                  <a:pt x="344" y="73"/>
                </a:lnTo>
                <a:lnTo>
                  <a:pt x="360" y="75"/>
                </a:lnTo>
                <a:lnTo>
                  <a:pt x="377" y="76"/>
                </a:lnTo>
                <a:lnTo>
                  <a:pt x="393" y="76"/>
                </a:lnTo>
                <a:lnTo>
                  <a:pt x="393" y="84"/>
                </a:lnTo>
                <a:lnTo>
                  <a:pt x="377" y="83"/>
                </a:lnTo>
                <a:lnTo>
                  <a:pt x="360" y="82"/>
                </a:lnTo>
                <a:lnTo>
                  <a:pt x="344" y="80"/>
                </a:lnTo>
                <a:lnTo>
                  <a:pt x="327" y="78"/>
                </a:lnTo>
                <a:lnTo>
                  <a:pt x="311" y="75"/>
                </a:lnTo>
                <a:lnTo>
                  <a:pt x="295" y="72"/>
                </a:lnTo>
                <a:lnTo>
                  <a:pt x="278" y="68"/>
                </a:lnTo>
                <a:lnTo>
                  <a:pt x="262" y="64"/>
                </a:lnTo>
                <a:lnTo>
                  <a:pt x="246" y="59"/>
                </a:lnTo>
                <a:lnTo>
                  <a:pt x="229" y="55"/>
                </a:lnTo>
                <a:lnTo>
                  <a:pt x="213" y="50"/>
                </a:lnTo>
                <a:lnTo>
                  <a:pt x="196" y="45"/>
                </a:lnTo>
                <a:lnTo>
                  <a:pt x="180" y="41"/>
                </a:lnTo>
                <a:lnTo>
                  <a:pt x="164" y="36"/>
                </a:lnTo>
                <a:lnTo>
                  <a:pt x="147" y="31"/>
                </a:lnTo>
                <a:lnTo>
                  <a:pt x="131" y="27"/>
                </a:lnTo>
                <a:lnTo>
                  <a:pt x="114" y="23"/>
                </a:lnTo>
                <a:lnTo>
                  <a:pt x="98" y="19"/>
                </a:lnTo>
                <a:lnTo>
                  <a:pt x="82" y="16"/>
                </a:lnTo>
                <a:lnTo>
                  <a:pt x="65" y="13"/>
                </a:lnTo>
                <a:lnTo>
                  <a:pt x="49" y="11"/>
                </a:lnTo>
                <a:lnTo>
                  <a:pt x="33" y="9"/>
                </a:lnTo>
                <a:lnTo>
                  <a:pt x="16" y="8"/>
                </a:lnTo>
                <a:lnTo>
                  <a:pt x="0" y="7"/>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3857625"/>
            <a:ext cx="3743325" cy="2095500"/>
          </a:xfrm>
          <a:custGeom>
            <a:avLst/>
            <a:gdLst/>
            <a:ahLst/>
            <a:cxnLst/>
            <a:rect l="l" t="t" r="r" b="b"/>
            <a:pathLst>
              <a:path w="393" h="220">
                <a:moveTo>
                  <a:pt x="0" y="197"/>
                </a:moveTo>
                <a:lnTo>
                  <a:pt x="16" y="196"/>
                </a:lnTo>
                <a:lnTo>
                  <a:pt x="33" y="194"/>
                </a:lnTo>
                <a:lnTo>
                  <a:pt x="49" y="189"/>
                </a:lnTo>
                <a:lnTo>
                  <a:pt x="65" y="183"/>
                </a:lnTo>
                <a:lnTo>
                  <a:pt x="82" y="175"/>
                </a:lnTo>
                <a:lnTo>
                  <a:pt x="98" y="167"/>
                </a:lnTo>
                <a:lnTo>
                  <a:pt x="114" y="157"/>
                </a:lnTo>
                <a:lnTo>
                  <a:pt x="131" y="146"/>
                </a:lnTo>
                <a:lnTo>
                  <a:pt x="147" y="135"/>
                </a:lnTo>
                <a:lnTo>
                  <a:pt x="164" y="123"/>
                </a:lnTo>
                <a:lnTo>
                  <a:pt x="180" y="111"/>
                </a:lnTo>
                <a:lnTo>
                  <a:pt x="196" y="99"/>
                </a:lnTo>
                <a:lnTo>
                  <a:pt x="213" y="86"/>
                </a:lnTo>
                <a:lnTo>
                  <a:pt x="229" y="74"/>
                </a:lnTo>
                <a:lnTo>
                  <a:pt x="246" y="62"/>
                </a:lnTo>
                <a:lnTo>
                  <a:pt x="262" y="51"/>
                </a:lnTo>
                <a:lnTo>
                  <a:pt x="278" y="41"/>
                </a:lnTo>
                <a:lnTo>
                  <a:pt x="295" y="31"/>
                </a:lnTo>
                <a:lnTo>
                  <a:pt x="311" y="22"/>
                </a:lnTo>
                <a:lnTo>
                  <a:pt x="327" y="15"/>
                </a:lnTo>
                <a:lnTo>
                  <a:pt x="344" y="9"/>
                </a:lnTo>
                <a:lnTo>
                  <a:pt x="360" y="4"/>
                </a:lnTo>
                <a:lnTo>
                  <a:pt x="377" y="1"/>
                </a:lnTo>
                <a:lnTo>
                  <a:pt x="393" y="0"/>
                </a:lnTo>
                <a:lnTo>
                  <a:pt x="393" y="23"/>
                </a:lnTo>
                <a:lnTo>
                  <a:pt x="377" y="24"/>
                </a:lnTo>
                <a:lnTo>
                  <a:pt x="360" y="27"/>
                </a:lnTo>
                <a:lnTo>
                  <a:pt x="344" y="31"/>
                </a:lnTo>
                <a:lnTo>
                  <a:pt x="327" y="37"/>
                </a:lnTo>
                <a:lnTo>
                  <a:pt x="311" y="45"/>
                </a:lnTo>
                <a:lnTo>
                  <a:pt x="295" y="54"/>
                </a:lnTo>
                <a:lnTo>
                  <a:pt x="278" y="63"/>
                </a:lnTo>
                <a:lnTo>
                  <a:pt x="262" y="74"/>
                </a:lnTo>
                <a:lnTo>
                  <a:pt x="246" y="85"/>
                </a:lnTo>
                <a:lnTo>
                  <a:pt x="229" y="97"/>
                </a:lnTo>
                <a:lnTo>
                  <a:pt x="213" y="109"/>
                </a:lnTo>
                <a:lnTo>
                  <a:pt x="196" y="121"/>
                </a:lnTo>
                <a:lnTo>
                  <a:pt x="180" y="134"/>
                </a:lnTo>
                <a:lnTo>
                  <a:pt x="164" y="146"/>
                </a:lnTo>
                <a:lnTo>
                  <a:pt x="147" y="158"/>
                </a:lnTo>
                <a:lnTo>
                  <a:pt x="131" y="169"/>
                </a:lnTo>
                <a:lnTo>
                  <a:pt x="114" y="180"/>
                </a:lnTo>
                <a:lnTo>
                  <a:pt x="98" y="189"/>
                </a:lnTo>
                <a:lnTo>
                  <a:pt x="82" y="198"/>
                </a:lnTo>
                <a:lnTo>
                  <a:pt x="65" y="205"/>
                </a:lnTo>
                <a:lnTo>
                  <a:pt x="49" y="212"/>
                </a:lnTo>
                <a:lnTo>
                  <a:pt x="33" y="216"/>
                </a:lnTo>
                <a:lnTo>
                  <a:pt x="16" y="219"/>
                </a:lnTo>
                <a:lnTo>
                  <a:pt x="0" y="220"/>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5143500"/>
            <a:ext cx="3743325" cy="904875"/>
          </a:xfrm>
          <a:custGeom>
            <a:avLst/>
            <a:gdLst/>
            <a:ahLst/>
            <a:cxnLst/>
            <a:rect l="l" t="t" r="r" b="b"/>
            <a:pathLst>
              <a:path w="393" h="95">
                <a:moveTo>
                  <a:pt x="0" y="85"/>
                </a:moveTo>
                <a:lnTo>
                  <a:pt x="16" y="85"/>
                </a:lnTo>
                <a:lnTo>
                  <a:pt x="33" y="83"/>
                </a:lnTo>
                <a:lnTo>
                  <a:pt x="49" y="81"/>
                </a:lnTo>
                <a:lnTo>
                  <a:pt x="65" y="79"/>
                </a:lnTo>
                <a:lnTo>
                  <a:pt x="82" y="76"/>
                </a:lnTo>
                <a:lnTo>
                  <a:pt x="98" y="72"/>
                </a:lnTo>
                <a:lnTo>
                  <a:pt x="114" y="68"/>
                </a:lnTo>
                <a:lnTo>
                  <a:pt x="131" y="63"/>
                </a:lnTo>
                <a:lnTo>
                  <a:pt x="147" y="58"/>
                </a:lnTo>
                <a:lnTo>
                  <a:pt x="164" y="53"/>
                </a:lnTo>
                <a:lnTo>
                  <a:pt x="180" y="48"/>
                </a:lnTo>
                <a:lnTo>
                  <a:pt x="196" y="43"/>
                </a:lnTo>
                <a:lnTo>
                  <a:pt x="213" y="37"/>
                </a:lnTo>
                <a:lnTo>
                  <a:pt x="229" y="32"/>
                </a:lnTo>
                <a:lnTo>
                  <a:pt x="246" y="27"/>
                </a:lnTo>
                <a:lnTo>
                  <a:pt x="262" y="22"/>
                </a:lnTo>
                <a:lnTo>
                  <a:pt x="278" y="18"/>
                </a:lnTo>
                <a:lnTo>
                  <a:pt x="295" y="14"/>
                </a:lnTo>
                <a:lnTo>
                  <a:pt x="311" y="10"/>
                </a:lnTo>
                <a:lnTo>
                  <a:pt x="327" y="7"/>
                </a:lnTo>
                <a:lnTo>
                  <a:pt x="344" y="4"/>
                </a:lnTo>
                <a:lnTo>
                  <a:pt x="360" y="2"/>
                </a:lnTo>
                <a:lnTo>
                  <a:pt x="377" y="1"/>
                </a:lnTo>
                <a:lnTo>
                  <a:pt x="393" y="0"/>
                </a:lnTo>
                <a:lnTo>
                  <a:pt x="393" y="10"/>
                </a:lnTo>
                <a:lnTo>
                  <a:pt x="377" y="11"/>
                </a:lnTo>
                <a:lnTo>
                  <a:pt x="360" y="12"/>
                </a:lnTo>
                <a:lnTo>
                  <a:pt x="344" y="14"/>
                </a:lnTo>
                <a:lnTo>
                  <a:pt x="327" y="16"/>
                </a:lnTo>
                <a:lnTo>
                  <a:pt x="311" y="20"/>
                </a:lnTo>
                <a:lnTo>
                  <a:pt x="295" y="23"/>
                </a:lnTo>
                <a:lnTo>
                  <a:pt x="278" y="28"/>
                </a:lnTo>
                <a:lnTo>
                  <a:pt x="262" y="32"/>
                </a:lnTo>
                <a:lnTo>
                  <a:pt x="246" y="37"/>
                </a:lnTo>
                <a:lnTo>
                  <a:pt x="229" y="42"/>
                </a:lnTo>
                <a:lnTo>
                  <a:pt x="213" y="47"/>
                </a:lnTo>
                <a:lnTo>
                  <a:pt x="196" y="52"/>
                </a:lnTo>
                <a:lnTo>
                  <a:pt x="180" y="58"/>
                </a:lnTo>
                <a:lnTo>
                  <a:pt x="164" y="63"/>
                </a:lnTo>
                <a:lnTo>
                  <a:pt x="147" y="68"/>
                </a:lnTo>
                <a:lnTo>
                  <a:pt x="131" y="73"/>
                </a:lnTo>
                <a:lnTo>
                  <a:pt x="114" y="77"/>
                </a:lnTo>
                <a:lnTo>
                  <a:pt x="98" y="82"/>
                </a:lnTo>
                <a:lnTo>
                  <a:pt x="82" y="85"/>
                </a:lnTo>
                <a:lnTo>
                  <a:pt x="65" y="89"/>
                </a:lnTo>
                <a:lnTo>
                  <a:pt x="49" y="91"/>
                </a:lnTo>
                <a:lnTo>
                  <a:pt x="33" y="93"/>
                </a:lnTo>
                <a:lnTo>
                  <a:pt x="16" y="94"/>
                </a:lnTo>
                <a:lnTo>
                  <a:pt x="0" y="95"/>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5838825"/>
            <a:ext cx="3743325" cy="257175"/>
          </a:xfrm>
          <a:custGeom>
            <a:avLst/>
            <a:gdLst/>
            <a:ahLst/>
            <a:cxnLst/>
            <a:rect l="l" t="t" r="r" b="b"/>
            <a:pathLst>
              <a:path w="393" h="27">
                <a:moveTo>
                  <a:pt x="0" y="22"/>
                </a:moveTo>
                <a:lnTo>
                  <a:pt x="16" y="22"/>
                </a:lnTo>
                <a:lnTo>
                  <a:pt x="33" y="21"/>
                </a:lnTo>
                <a:lnTo>
                  <a:pt x="49" y="21"/>
                </a:lnTo>
                <a:lnTo>
                  <a:pt x="65" y="20"/>
                </a:lnTo>
                <a:lnTo>
                  <a:pt x="82" y="19"/>
                </a:lnTo>
                <a:lnTo>
                  <a:pt x="98" y="18"/>
                </a:lnTo>
                <a:lnTo>
                  <a:pt x="114" y="17"/>
                </a:lnTo>
                <a:lnTo>
                  <a:pt x="131" y="16"/>
                </a:lnTo>
                <a:lnTo>
                  <a:pt x="147" y="15"/>
                </a:lnTo>
                <a:lnTo>
                  <a:pt x="164" y="14"/>
                </a:lnTo>
                <a:lnTo>
                  <a:pt x="180" y="12"/>
                </a:lnTo>
                <a:lnTo>
                  <a:pt x="196" y="11"/>
                </a:lnTo>
                <a:lnTo>
                  <a:pt x="213" y="9"/>
                </a:lnTo>
                <a:lnTo>
                  <a:pt x="229" y="8"/>
                </a:lnTo>
                <a:lnTo>
                  <a:pt x="246" y="7"/>
                </a:lnTo>
                <a:lnTo>
                  <a:pt x="262" y="6"/>
                </a:lnTo>
                <a:lnTo>
                  <a:pt x="278" y="4"/>
                </a:lnTo>
                <a:lnTo>
                  <a:pt x="295" y="3"/>
                </a:lnTo>
                <a:lnTo>
                  <a:pt x="311" y="2"/>
                </a:lnTo>
                <a:lnTo>
                  <a:pt x="327" y="2"/>
                </a:lnTo>
                <a:lnTo>
                  <a:pt x="344" y="1"/>
                </a:lnTo>
                <a:lnTo>
                  <a:pt x="360" y="0"/>
                </a:lnTo>
                <a:lnTo>
                  <a:pt x="377" y="0"/>
                </a:lnTo>
                <a:lnTo>
                  <a:pt x="393" y="0"/>
                </a:lnTo>
                <a:lnTo>
                  <a:pt x="393" y="5"/>
                </a:lnTo>
                <a:lnTo>
                  <a:pt x="377" y="5"/>
                </a:lnTo>
                <a:lnTo>
                  <a:pt x="360" y="6"/>
                </a:lnTo>
                <a:lnTo>
                  <a:pt x="344" y="6"/>
                </a:lnTo>
                <a:lnTo>
                  <a:pt x="327" y="7"/>
                </a:lnTo>
                <a:lnTo>
                  <a:pt x="311" y="8"/>
                </a:lnTo>
                <a:lnTo>
                  <a:pt x="295" y="9"/>
                </a:lnTo>
                <a:lnTo>
                  <a:pt x="278" y="10"/>
                </a:lnTo>
                <a:lnTo>
                  <a:pt x="262" y="11"/>
                </a:lnTo>
                <a:lnTo>
                  <a:pt x="246" y="12"/>
                </a:lnTo>
                <a:lnTo>
                  <a:pt x="229" y="13"/>
                </a:lnTo>
                <a:lnTo>
                  <a:pt x="213" y="15"/>
                </a:lnTo>
                <a:lnTo>
                  <a:pt x="196" y="16"/>
                </a:lnTo>
                <a:lnTo>
                  <a:pt x="180" y="18"/>
                </a:lnTo>
                <a:lnTo>
                  <a:pt x="164" y="19"/>
                </a:lnTo>
                <a:lnTo>
                  <a:pt x="147" y="20"/>
                </a:lnTo>
                <a:lnTo>
                  <a:pt x="131" y="21"/>
                </a:lnTo>
                <a:lnTo>
                  <a:pt x="114" y="23"/>
                </a:lnTo>
                <a:lnTo>
                  <a:pt x="98" y="24"/>
                </a:lnTo>
                <a:lnTo>
                  <a:pt x="82" y="25"/>
                </a:lnTo>
                <a:lnTo>
                  <a:pt x="65" y="26"/>
                </a:lnTo>
                <a:lnTo>
                  <a:pt x="49" y="26"/>
                </a:lnTo>
                <a:lnTo>
                  <a:pt x="33" y="27"/>
                </a:lnTo>
                <a:lnTo>
                  <a:pt x="16" y="27"/>
                </a:lnTo>
                <a:lnTo>
                  <a:pt x="0" y="27"/>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6096000"/>
            <a:ext cx="3743325" cy="352425"/>
          </a:xfrm>
          <a:custGeom>
            <a:avLst/>
            <a:gdLst/>
            <a:ahLst/>
            <a:cxnLst/>
            <a:rect l="l" t="t" r="r" b="b"/>
            <a:pathLst>
              <a:path w="393" h="37">
                <a:moveTo>
                  <a:pt x="0" y="0"/>
                </a:moveTo>
                <a:lnTo>
                  <a:pt x="16" y="0"/>
                </a:lnTo>
                <a:lnTo>
                  <a:pt x="33" y="1"/>
                </a:lnTo>
                <a:lnTo>
                  <a:pt x="49" y="2"/>
                </a:lnTo>
                <a:lnTo>
                  <a:pt x="65" y="3"/>
                </a:lnTo>
                <a:lnTo>
                  <a:pt x="82" y="4"/>
                </a:lnTo>
                <a:lnTo>
                  <a:pt x="98" y="5"/>
                </a:lnTo>
                <a:lnTo>
                  <a:pt x="114" y="7"/>
                </a:lnTo>
                <a:lnTo>
                  <a:pt x="131" y="9"/>
                </a:lnTo>
                <a:lnTo>
                  <a:pt x="147" y="10"/>
                </a:lnTo>
                <a:lnTo>
                  <a:pt x="164" y="12"/>
                </a:lnTo>
                <a:lnTo>
                  <a:pt x="180" y="14"/>
                </a:lnTo>
                <a:lnTo>
                  <a:pt x="196" y="16"/>
                </a:lnTo>
                <a:lnTo>
                  <a:pt x="213" y="18"/>
                </a:lnTo>
                <a:lnTo>
                  <a:pt x="229" y="20"/>
                </a:lnTo>
                <a:lnTo>
                  <a:pt x="246" y="22"/>
                </a:lnTo>
                <a:lnTo>
                  <a:pt x="262" y="24"/>
                </a:lnTo>
                <a:lnTo>
                  <a:pt x="278" y="26"/>
                </a:lnTo>
                <a:lnTo>
                  <a:pt x="295" y="27"/>
                </a:lnTo>
                <a:lnTo>
                  <a:pt x="311" y="29"/>
                </a:lnTo>
                <a:lnTo>
                  <a:pt x="327" y="30"/>
                </a:lnTo>
                <a:lnTo>
                  <a:pt x="344" y="31"/>
                </a:lnTo>
                <a:lnTo>
                  <a:pt x="360" y="32"/>
                </a:lnTo>
                <a:lnTo>
                  <a:pt x="377" y="32"/>
                </a:lnTo>
                <a:lnTo>
                  <a:pt x="393" y="33"/>
                </a:lnTo>
                <a:lnTo>
                  <a:pt x="393" y="37"/>
                </a:lnTo>
                <a:lnTo>
                  <a:pt x="377" y="36"/>
                </a:lnTo>
                <a:lnTo>
                  <a:pt x="360" y="36"/>
                </a:lnTo>
                <a:lnTo>
                  <a:pt x="344" y="35"/>
                </a:lnTo>
                <a:lnTo>
                  <a:pt x="327" y="34"/>
                </a:lnTo>
                <a:lnTo>
                  <a:pt x="311" y="33"/>
                </a:lnTo>
                <a:lnTo>
                  <a:pt x="295" y="32"/>
                </a:lnTo>
                <a:lnTo>
                  <a:pt x="278" y="30"/>
                </a:lnTo>
                <a:lnTo>
                  <a:pt x="262" y="28"/>
                </a:lnTo>
                <a:lnTo>
                  <a:pt x="246" y="26"/>
                </a:lnTo>
                <a:lnTo>
                  <a:pt x="229" y="24"/>
                </a:lnTo>
                <a:lnTo>
                  <a:pt x="213" y="22"/>
                </a:lnTo>
                <a:lnTo>
                  <a:pt x="196" y="20"/>
                </a:lnTo>
                <a:lnTo>
                  <a:pt x="180" y="18"/>
                </a:lnTo>
                <a:lnTo>
                  <a:pt x="164" y="16"/>
                </a:lnTo>
                <a:lnTo>
                  <a:pt x="147" y="14"/>
                </a:lnTo>
                <a:lnTo>
                  <a:pt x="131" y="13"/>
                </a:lnTo>
                <a:lnTo>
                  <a:pt x="114" y="11"/>
                </a:lnTo>
                <a:lnTo>
                  <a:pt x="98" y="9"/>
                </a:lnTo>
                <a:lnTo>
                  <a:pt x="82" y="8"/>
                </a:lnTo>
                <a:lnTo>
                  <a:pt x="65" y="7"/>
                </a:lnTo>
                <a:lnTo>
                  <a:pt x="49" y="6"/>
                </a:lnTo>
                <a:lnTo>
                  <a:pt x="33" y="5"/>
                </a:lnTo>
                <a:lnTo>
                  <a:pt x="16" y="4"/>
                </a:lnTo>
                <a:lnTo>
                  <a:pt x="0" y="4"/>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057400" y="4076700"/>
            <a:ext cx="3743325" cy="2314575"/>
          </a:xfrm>
          <a:custGeom>
            <a:avLst/>
            <a:gdLst/>
            <a:ahLst/>
            <a:cxnLst/>
            <a:rect l="l" t="t" r="r" b="b"/>
            <a:pathLst>
              <a:path w="393" h="243">
                <a:moveTo>
                  <a:pt x="0" y="222"/>
                </a:moveTo>
                <a:lnTo>
                  <a:pt x="16" y="221"/>
                </a:lnTo>
                <a:lnTo>
                  <a:pt x="33" y="218"/>
                </a:lnTo>
                <a:lnTo>
                  <a:pt x="49" y="213"/>
                </a:lnTo>
                <a:lnTo>
                  <a:pt x="65" y="206"/>
                </a:lnTo>
                <a:lnTo>
                  <a:pt x="82" y="197"/>
                </a:lnTo>
                <a:lnTo>
                  <a:pt x="98" y="187"/>
                </a:lnTo>
                <a:lnTo>
                  <a:pt x="114" y="177"/>
                </a:lnTo>
                <a:lnTo>
                  <a:pt x="131" y="165"/>
                </a:lnTo>
                <a:lnTo>
                  <a:pt x="147" y="152"/>
                </a:lnTo>
                <a:lnTo>
                  <a:pt x="164" y="139"/>
                </a:lnTo>
                <a:lnTo>
                  <a:pt x="180" y="125"/>
                </a:lnTo>
                <a:lnTo>
                  <a:pt x="196" y="111"/>
                </a:lnTo>
                <a:lnTo>
                  <a:pt x="213" y="97"/>
                </a:lnTo>
                <a:lnTo>
                  <a:pt x="229" y="83"/>
                </a:lnTo>
                <a:lnTo>
                  <a:pt x="246" y="70"/>
                </a:lnTo>
                <a:lnTo>
                  <a:pt x="262" y="57"/>
                </a:lnTo>
                <a:lnTo>
                  <a:pt x="278" y="45"/>
                </a:lnTo>
                <a:lnTo>
                  <a:pt x="295" y="35"/>
                </a:lnTo>
                <a:lnTo>
                  <a:pt x="311" y="25"/>
                </a:lnTo>
                <a:lnTo>
                  <a:pt x="327" y="16"/>
                </a:lnTo>
                <a:lnTo>
                  <a:pt x="344" y="9"/>
                </a:lnTo>
                <a:lnTo>
                  <a:pt x="360" y="4"/>
                </a:lnTo>
                <a:lnTo>
                  <a:pt x="377" y="1"/>
                </a:lnTo>
                <a:lnTo>
                  <a:pt x="393" y="0"/>
                </a:lnTo>
                <a:lnTo>
                  <a:pt x="393" y="21"/>
                </a:lnTo>
                <a:lnTo>
                  <a:pt x="377" y="22"/>
                </a:lnTo>
                <a:lnTo>
                  <a:pt x="360" y="25"/>
                </a:lnTo>
                <a:lnTo>
                  <a:pt x="344" y="30"/>
                </a:lnTo>
                <a:lnTo>
                  <a:pt x="327" y="37"/>
                </a:lnTo>
                <a:lnTo>
                  <a:pt x="311" y="46"/>
                </a:lnTo>
                <a:lnTo>
                  <a:pt x="295" y="56"/>
                </a:lnTo>
                <a:lnTo>
                  <a:pt x="278" y="67"/>
                </a:lnTo>
                <a:lnTo>
                  <a:pt x="262" y="79"/>
                </a:lnTo>
                <a:lnTo>
                  <a:pt x="246" y="91"/>
                </a:lnTo>
                <a:lnTo>
                  <a:pt x="229" y="105"/>
                </a:lnTo>
                <a:lnTo>
                  <a:pt x="213" y="118"/>
                </a:lnTo>
                <a:lnTo>
                  <a:pt x="196" y="132"/>
                </a:lnTo>
                <a:lnTo>
                  <a:pt x="180" y="146"/>
                </a:lnTo>
                <a:lnTo>
                  <a:pt x="164" y="160"/>
                </a:lnTo>
                <a:lnTo>
                  <a:pt x="147" y="173"/>
                </a:lnTo>
                <a:lnTo>
                  <a:pt x="131" y="186"/>
                </a:lnTo>
                <a:lnTo>
                  <a:pt x="114" y="198"/>
                </a:lnTo>
                <a:lnTo>
                  <a:pt x="98" y="209"/>
                </a:lnTo>
                <a:lnTo>
                  <a:pt x="82" y="218"/>
                </a:lnTo>
                <a:lnTo>
                  <a:pt x="65" y="227"/>
                </a:lnTo>
                <a:lnTo>
                  <a:pt x="49" y="234"/>
                </a:lnTo>
                <a:lnTo>
                  <a:pt x="33" y="239"/>
                </a:lnTo>
                <a:lnTo>
                  <a:pt x="16" y="242"/>
                </a:lnTo>
                <a:lnTo>
                  <a:pt x="0" y="243"/>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057400" y="5238750"/>
            <a:ext cx="3743325" cy="1219200"/>
          </a:xfrm>
          <a:custGeom>
            <a:avLst/>
            <a:gdLst/>
            <a:ahLst/>
            <a:cxnLst/>
            <a:rect l="l" t="t" r="r" b="b"/>
            <a:pathLst>
              <a:path w="393" h="128">
                <a:moveTo>
                  <a:pt x="0" y="121"/>
                </a:moveTo>
                <a:lnTo>
                  <a:pt x="16" y="121"/>
                </a:lnTo>
                <a:lnTo>
                  <a:pt x="33" y="119"/>
                </a:lnTo>
                <a:lnTo>
                  <a:pt x="49" y="116"/>
                </a:lnTo>
                <a:lnTo>
                  <a:pt x="65" y="112"/>
                </a:lnTo>
                <a:lnTo>
                  <a:pt x="82" y="108"/>
                </a:lnTo>
                <a:lnTo>
                  <a:pt x="98" y="102"/>
                </a:lnTo>
                <a:lnTo>
                  <a:pt x="114" y="96"/>
                </a:lnTo>
                <a:lnTo>
                  <a:pt x="131" y="90"/>
                </a:lnTo>
                <a:lnTo>
                  <a:pt x="147" y="83"/>
                </a:lnTo>
                <a:lnTo>
                  <a:pt x="164" y="76"/>
                </a:lnTo>
                <a:lnTo>
                  <a:pt x="180" y="68"/>
                </a:lnTo>
                <a:lnTo>
                  <a:pt x="196" y="61"/>
                </a:lnTo>
                <a:lnTo>
                  <a:pt x="213" y="53"/>
                </a:lnTo>
                <a:lnTo>
                  <a:pt x="229" y="46"/>
                </a:lnTo>
                <a:lnTo>
                  <a:pt x="246" y="38"/>
                </a:lnTo>
                <a:lnTo>
                  <a:pt x="262" y="32"/>
                </a:lnTo>
                <a:lnTo>
                  <a:pt x="278" y="25"/>
                </a:lnTo>
                <a:lnTo>
                  <a:pt x="295" y="19"/>
                </a:lnTo>
                <a:lnTo>
                  <a:pt x="311" y="14"/>
                </a:lnTo>
                <a:lnTo>
                  <a:pt x="327" y="9"/>
                </a:lnTo>
                <a:lnTo>
                  <a:pt x="344" y="5"/>
                </a:lnTo>
                <a:lnTo>
                  <a:pt x="360" y="3"/>
                </a:lnTo>
                <a:lnTo>
                  <a:pt x="377" y="1"/>
                </a:lnTo>
                <a:lnTo>
                  <a:pt x="393" y="0"/>
                </a:lnTo>
                <a:lnTo>
                  <a:pt x="393" y="7"/>
                </a:lnTo>
                <a:lnTo>
                  <a:pt x="377" y="7"/>
                </a:lnTo>
                <a:lnTo>
                  <a:pt x="360" y="9"/>
                </a:lnTo>
                <a:lnTo>
                  <a:pt x="344" y="12"/>
                </a:lnTo>
                <a:lnTo>
                  <a:pt x="327" y="16"/>
                </a:lnTo>
                <a:lnTo>
                  <a:pt x="311" y="20"/>
                </a:lnTo>
                <a:lnTo>
                  <a:pt x="295" y="26"/>
                </a:lnTo>
                <a:lnTo>
                  <a:pt x="278" y="32"/>
                </a:lnTo>
                <a:lnTo>
                  <a:pt x="262" y="38"/>
                </a:lnTo>
                <a:lnTo>
                  <a:pt x="246" y="45"/>
                </a:lnTo>
                <a:lnTo>
                  <a:pt x="229" y="52"/>
                </a:lnTo>
                <a:lnTo>
                  <a:pt x="213" y="60"/>
                </a:lnTo>
                <a:lnTo>
                  <a:pt x="196" y="67"/>
                </a:lnTo>
                <a:lnTo>
                  <a:pt x="180" y="75"/>
                </a:lnTo>
                <a:lnTo>
                  <a:pt x="164" y="82"/>
                </a:lnTo>
                <a:lnTo>
                  <a:pt x="147" y="89"/>
                </a:lnTo>
                <a:lnTo>
                  <a:pt x="131" y="96"/>
                </a:lnTo>
                <a:lnTo>
                  <a:pt x="114" y="103"/>
                </a:lnTo>
                <a:lnTo>
                  <a:pt x="98" y="109"/>
                </a:lnTo>
                <a:lnTo>
                  <a:pt x="82" y="114"/>
                </a:lnTo>
                <a:lnTo>
                  <a:pt x="65" y="119"/>
                </a:lnTo>
                <a:lnTo>
                  <a:pt x="49" y="123"/>
                </a:lnTo>
                <a:lnTo>
                  <a:pt x="33" y="125"/>
                </a:lnTo>
                <a:lnTo>
                  <a:pt x="16" y="127"/>
                </a:lnTo>
                <a:lnTo>
                  <a:pt x="0" y="128"/>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2057400" y="5886450"/>
            <a:ext cx="3743325" cy="619125"/>
          </a:xfrm>
          <a:custGeom>
            <a:avLst/>
            <a:gdLst/>
            <a:ahLst/>
            <a:cxnLst/>
            <a:rect l="l" t="t" r="r" b="b"/>
            <a:pathLst>
              <a:path w="393" h="65">
                <a:moveTo>
                  <a:pt x="0" y="60"/>
                </a:moveTo>
                <a:lnTo>
                  <a:pt x="16" y="60"/>
                </a:lnTo>
                <a:lnTo>
                  <a:pt x="33" y="59"/>
                </a:lnTo>
                <a:lnTo>
                  <a:pt x="49" y="57"/>
                </a:lnTo>
                <a:lnTo>
                  <a:pt x="65" y="55"/>
                </a:lnTo>
                <a:lnTo>
                  <a:pt x="82" y="53"/>
                </a:lnTo>
                <a:lnTo>
                  <a:pt x="98" y="51"/>
                </a:lnTo>
                <a:lnTo>
                  <a:pt x="114" y="48"/>
                </a:lnTo>
                <a:lnTo>
                  <a:pt x="131" y="44"/>
                </a:lnTo>
                <a:lnTo>
                  <a:pt x="147" y="41"/>
                </a:lnTo>
                <a:lnTo>
                  <a:pt x="164" y="37"/>
                </a:lnTo>
                <a:lnTo>
                  <a:pt x="180" y="34"/>
                </a:lnTo>
                <a:lnTo>
                  <a:pt x="196" y="30"/>
                </a:lnTo>
                <a:lnTo>
                  <a:pt x="213" y="26"/>
                </a:lnTo>
                <a:lnTo>
                  <a:pt x="229" y="23"/>
                </a:lnTo>
                <a:lnTo>
                  <a:pt x="246" y="19"/>
                </a:lnTo>
                <a:lnTo>
                  <a:pt x="262" y="16"/>
                </a:lnTo>
                <a:lnTo>
                  <a:pt x="278" y="12"/>
                </a:lnTo>
                <a:lnTo>
                  <a:pt x="295" y="10"/>
                </a:lnTo>
                <a:lnTo>
                  <a:pt x="311" y="7"/>
                </a:lnTo>
                <a:lnTo>
                  <a:pt x="327" y="5"/>
                </a:lnTo>
                <a:lnTo>
                  <a:pt x="344" y="3"/>
                </a:lnTo>
                <a:lnTo>
                  <a:pt x="360" y="1"/>
                </a:lnTo>
                <a:lnTo>
                  <a:pt x="377" y="1"/>
                </a:lnTo>
                <a:lnTo>
                  <a:pt x="393" y="0"/>
                </a:lnTo>
                <a:lnTo>
                  <a:pt x="393" y="5"/>
                </a:lnTo>
                <a:lnTo>
                  <a:pt x="377" y="5"/>
                </a:lnTo>
                <a:lnTo>
                  <a:pt x="360" y="6"/>
                </a:lnTo>
                <a:lnTo>
                  <a:pt x="344" y="8"/>
                </a:lnTo>
                <a:lnTo>
                  <a:pt x="327" y="9"/>
                </a:lnTo>
                <a:lnTo>
                  <a:pt x="311" y="12"/>
                </a:lnTo>
                <a:lnTo>
                  <a:pt x="295" y="14"/>
                </a:lnTo>
                <a:lnTo>
                  <a:pt x="278" y="17"/>
                </a:lnTo>
                <a:lnTo>
                  <a:pt x="262" y="20"/>
                </a:lnTo>
                <a:lnTo>
                  <a:pt x="246" y="24"/>
                </a:lnTo>
                <a:lnTo>
                  <a:pt x="229" y="27"/>
                </a:lnTo>
                <a:lnTo>
                  <a:pt x="213" y="31"/>
                </a:lnTo>
                <a:lnTo>
                  <a:pt x="196" y="35"/>
                </a:lnTo>
                <a:lnTo>
                  <a:pt x="180" y="39"/>
                </a:lnTo>
                <a:lnTo>
                  <a:pt x="164" y="42"/>
                </a:lnTo>
                <a:lnTo>
                  <a:pt x="147" y="46"/>
                </a:lnTo>
                <a:lnTo>
                  <a:pt x="131" y="49"/>
                </a:lnTo>
                <a:lnTo>
                  <a:pt x="114" y="52"/>
                </a:lnTo>
                <a:lnTo>
                  <a:pt x="98" y="55"/>
                </a:lnTo>
                <a:lnTo>
                  <a:pt x="82" y="58"/>
                </a:lnTo>
                <a:lnTo>
                  <a:pt x="65" y="60"/>
                </a:lnTo>
                <a:lnTo>
                  <a:pt x="49" y="62"/>
                </a:lnTo>
                <a:lnTo>
                  <a:pt x="33" y="63"/>
                </a:lnTo>
                <a:lnTo>
                  <a:pt x="16" y="64"/>
                </a:lnTo>
                <a:lnTo>
                  <a:pt x="0" y="65"/>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057400" y="6448425"/>
            <a:ext cx="3743325" cy="85725"/>
          </a:xfrm>
          <a:custGeom>
            <a:avLst/>
            <a:gdLst/>
            <a:ahLst/>
            <a:cxnLst/>
            <a:rect l="l" t="t" r="r" b="b"/>
            <a:pathLst>
              <a:path w="393" h="9">
                <a:moveTo>
                  <a:pt x="0" y="6"/>
                </a:moveTo>
                <a:lnTo>
                  <a:pt x="16" y="6"/>
                </a:lnTo>
                <a:lnTo>
                  <a:pt x="33" y="5"/>
                </a:lnTo>
                <a:lnTo>
                  <a:pt x="49" y="5"/>
                </a:lnTo>
                <a:lnTo>
                  <a:pt x="65" y="5"/>
                </a:lnTo>
                <a:lnTo>
                  <a:pt x="82" y="5"/>
                </a:lnTo>
                <a:lnTo>
                  <a:pt x="98" y="5"/>
                </a:lnTo>
                <a:lnTo>
                  <a:pt x="114" y="4"/>
                </a:lnTo>
                <a:lnTo>
                  <a:pt x="131" y="4"/>
                </a:lnTo>
                <a:lnTo>
                  <a:pt x="147" y="4"/>
                </a:lnTo>
                <a:lnTo>
                  <a:pt x="164" y="3"/>
                </a:lnTo>
                <a:lnTo>
                  <a:pt x="180" y="3"/>
                </a:lnTo>
                <a:lnTo>
                  <a:pt x="196" y="3"/>
                </a:lnTo>
                <a:lnTo>
                  <a:pt x="213" y="2"/>
                </a:lnTo>
                <a:lnTo>
                  <a:pt x="229" y="2"/>
                </a:lnTo>
                <a:lnTo>
                  <a:pt x="246" y="1"/>
                </a:lnTo>
                <a:lnTo>
                  <a:pt x="262" y="1"/>
                </a:lnTo>
                <a:lnTo>
                  <a:pt x="278" y="1"/>
                </a:lnTo>
                <a:lnTo>
                  <a:pt x="295" y="1"/>
                </a:lnTo>
                <a:lnTo>
                  <a:pt x="311" y="0"/>
                </a:lnTo>
                <a:lnTo>
                  <a:pt x="327" y="0"/>
                </a:lnTo>
                <a:lnTo>
                  <a:pt x="344" y="0"/>
                </a:lnTo>
                <a:lnTo>
                  <a:pt x="360" y="0"/>
                </a:lnTo>
                <a:lnTo>
                  <a:pt x="377" y="0"/>
                </a:lnTo>
                <a:lnTo>
                  <a:pt x="393" y="0"/>
                </a:lnTo>
                <a:lnTo>
                  <a:pt x="393" y="3"/>
                </a:lnTo>
                <a:lnTo>
                  <a:pt x="377" y="3"/>
                </a:lnTo>
                <a:lnTo>
                  <a:pt x="360" y="3"/>
                </a:lnTo>
                <a:lnTo>
                  <a:pt x="344" y="3"/>
                </a:lnTo>
                <a:lnTo>
                  <a:pt x="327" y="3"/>
                </a:lnTo>
                <a:lnTo>
                  <a:pt x="311" y="4"/>
                </a:lnTo>
                <a:lnTo>
                  <a:pt x="295" y="4"/>
                </a:lnTo>
                <a:lnTo>
                  <a:pt x="278" y="4"/>
                </a:lnTo>
                <a:lnTo>
                  <a:pt x="262" y="5"/>
                </a:lnTo>
                <a:lnTo>
                  <a:pt x="246" y="5"/>
                </a:lnTo>
                <a:lnTo>
                  <a:pt x="229" y="5"/>
                </a:lnTo>
                <a:lnTo>
                  <a:pt x="213" y="6"/>
                </a:lnTo>
                <a:lnTo>
                  <a:pt x="196" y="6"/>
                </a:lnTo>
                <a:lnTo>
                  <a:pt x="180" y="6"/>
                </a:lnTo>
                <a:lnTo>
                  <a:pt x="164" y="7"/>
                </a:lnTo>
                <a:lnTo>
                  <a:pt x="147" y="7"/>
                </a:lnTo>
                <a:lnTo>
                  <a:pt x="131" y="7"/>
                </a:lnTo>
                <a:lnTo>
                  <a:pt x="114" y="8"/>
                </a:lnTo>
                <a:lnTo>
                  <a:pt x="98" y="8"/>
                </a:lnTo>
                <a:lnTo>
                  <a:pt x="82" y="8"/>
                </a:lnTo>
                <a:lnTo>
                  <a:pt x="65" y="9"/>
                </a:lnTo>
                <a:lnTo>
                  <a:pt x="49" y="9"/>
                </a:lnTo>
                <a:lnTo>
                  <a:pt x="33" y="9"/>
                </a:lnTo>
                <a:lnTo>
                  <a:pt x="16" y="9"/>
                </a:lnTo>
                <a:lnTo>
                  <a:pt x="0" y="9"/>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941195" y="1304925"/>
            <a:ext cx="114300" cy="1299883"/>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941195" y="2661958"/>
            <a:ext cx="114300" cy="1108617"/>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941195" y="3827725"/>
            <a:ext cx="114300" cy="1028417"/>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941195" y="4913292"/>
            <a:ext cx="114300" cy="767639"/>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941195" y="5738081"/>
            <a:ext cx="114300" cy="398543"/>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941195" y="6193774"/>
            <a:ext cx="114300" cy="340376"/>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800725" y="1362075"/>
            <a:ext cx="114300" cy="291296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800725" y="4332194"/>
            <a:ext cx="114300" cy="96951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800725" y="5358856"/>
            <a:ext cx="114300" cy="57520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800725" y="5991214"/>
            <a:ext cx="114300" cy="485786"/>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57175" y="1883429"/>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7" name="TextBox 46"/>
          <p:cNvSpPr txBox="1"/>
          <p:nvPr/>
        </p:nvSpPr>
        <p:spPr>
          <a:xfrm>
            <a:off x="257175" y="3144829"/>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8" name="TextBox 47"/>
          <p:cNvSpPr txBox="1"/>
          <p:nvPr/>
        </p:nvSpPr>
        <p:spPr>
          <a:xfrm>
            <a:off x="257175" y="4270496"/>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9" name="TextBox 48"/>
          <p:cNvSpPr txBox="1"/>
          <p:nvPr/>
        </p:nvSpPr>
        <p:spPr>
          <a:xfrm>
            <a:off x="257175" y="5225674"/>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0" name="TextBox 49"/>
          <p:cNvSpPr txBox="1"/>
          <p:nvPr/>
        </p:nvSpPr>
        <p:spPr>
          <a:xfrm>
            <a:off x="257175" y="5865915"/>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1" name="TextBox 50"/>
          <p:cNvSpPr txBox="1"/>
          <p:nvPr/>
        </p:nvSpPr>
        <p:spPr>
          <a:xfrm>
            <a:off x="257175" y="6292525"/>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2" name="TextBox 51"/>
          <p:cNvSpPr txBox="1"/>
          <p:nvPr/>
        </p:nvSpPr>
        <p:spPr>
          <a:xfrm>
            <a:off x="5972175" y="2694735"/>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3" name="TextBox 52"/>
          <p:cNvSpPr txBox="1"/>
          <p:nvPr/>
        </p:nvSpPr>
        <p:spPr>
          <a:xfrm>
            <a:off x="5972175" y="4693125"/>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4" name="TextBox 53"/>
          <p:cNvSpPr txBox="1"/>
          <p:nvPr/>
        </p:nvSpPr>
        <p:spPr>
          <a:xfrm>
            <a:off x="5972175" y="5522635"/>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5" name="TextBox 54"/>
          <p:cNvSpPr txBox="1"/>
          <p:nvPr/>
        </p:nvSpPr>
        <p:spPr>
          <a:xfrm>
            <a:off x="5972175" y="6110282"/>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6" name="Rounded Rectangle 55"/>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58" name="Rectangle 57"/>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1" name="TextBox 60"/>
          <p:cNvSpPr txBox="1"/>
          <p:nvPr/>
        </p:nvSpPr>
        <p:spPr>
          <a:xfrm>
            <a:off x="907185" y="1894516"/>
            <a:ext cx="923109" cy="139750"/>
          </a:xfrm>
          <a:prstGeom prst="rect">
            <a:avLst/>
          </a:prstGeom>
          <a:noFill/>
        </p:spPr>
        <p:txBody>
          <a:bodyPr wrap="none" lIns="0" rIns="0" tIns="0" bIns="0">
            <a:spAutoFit/>
          </a:bodyPr>
          <a:lstStyle/>
          <a:p>
            <a:r>
              <a:rPr sz="791" b="1">
                <a:solidFill>
                  <a:srgbClr val="2E2E2E"/>
                </a:solidFill>
                <a:latin typeface="Calibri"/>
              </a:rPr>
              <a:t>Veterinary Channels</a:t>
            </a:r>
          </a:p>
        </p:txBody>
      </p:sp>
      <p:pic>
        <p:nvPicPr>
          <p:cNvPr id="62" name="Picture 61" descr="lock.png"/>
          <p:cNvPicPr>
            <a:picLocks noChangeAspect="1"/>
          </p:cNvPicPr>
          <p:nvPr/>
        </p:nvPicPr>
        <p:blipFill>
          <a:blip r:embed="rId4"/>
          <a:stretch>
            <a:fillRect/>
          </a:stretch>
        </p:blipFill>
        <p:spPr>
          <a:xfrm>
            <a:off x="1771555" y="1887475"/>
            <a:ext cx="92663" cy="134782"/>
          </a:xfrm>
          <a:prstGeom prst="rect">
            <a:avLst/>
          </a:prstGeom>
        </p:spPr>
      </p:pic>
      <p:sp>
        <p:nvSpPr>
          <p:cNvPr id="63" name="TextBox 62"/>
          <p:cNvSpPr txBox="1"/>
          <p:nvPr/>
        </p:nvSpPr>
        <p:spPr>
          <a:xfrm>
            <a:off x="934492" y="3155916"/>
            <a:ext cx="895802" cy="139750"/>
          </a:xfrm>
          <a:prstGeom prst="rect">
            <a:avLst/>
          </a:prstGeom>
          <a:noFill/>
        </p:spPr>
        <p:txBody>
          <a:bodyPr wrap="none" lIns="0" rIns="0" tIns="0" bIns="0">
            <a:spAutoFit/>
          </a:bodyPr>
          <a:lstStyle/>
          <a:p>
            <a:r>
              <a:rPr sz="791" b="1">
                <a:solidFill>
                  <a:srgbClr val="2E2E2E"/>
                </a:solidFill>
                <a:latin typeface="Calibri"/>
              </a:rPr>
              <a:t>Specialist Pet Retail</a:t>
            </a:r>
          </a:p>
        </p:txBody>
      </p:sp>
      <p:pic>
        <p:nvPicPr>
          <p:cNvPr id="64" name="Picture 63" descr="lock.png"/>
          <p:cNvPicPr>
            <a:picLocks noChangeAspect="1"/>
          </p:cNvPicPr>
          <p:nvPr/>
        </p:nvPicPr>
        <p:blipFill>
          <a:blip r:embed="rId4"/>
          <a:stretch>
            <a:fillRect/>
          </a:stretch>
        </p:blipFill>
        <p:spPr>
          <a:xfrm>
            <a:off x="1771555" y="3148875"/>
            <a:ext cx="92663" cy="134782"/>
          </a:xfrm>
          <a:prstGeom prst="rect">
            <a:avLst/>
          </a:prstGeom>
        </p:spPr>
      </p:pic>
      <p:sp>
        <p:nvSpPr>
          <p:cNvPr id="65" name="TextBox 64"/>
          <p:cNvSpPr txBox="1"/>
          <p:nvPr/>
        </p:nvSpPr>
        <p:spPr>
          <a:xfrm>
            <a:off x="741212" y="4281583"/>
            <a:ext cx="1089081" cy="139750"/>
          </a:xfrm>
          <a:prstGeom prst="rect">
            <a:avLst/>
          </a:prstGeom>
          <a:noFill/>
        </p:spPr>
        <p:txBody>
          <a:bodyPr wrap="none" lIns="0" rIns="0" tIns="0" bIns="0">
            <a:spAutoFit/>
          </a:bodyPr>
          <a:lstStyle/>
          <a:p>
            <a:r>
              <a:rPr sz="791" b="1">
                <a:solidFill>
                  <a:srgbClr val="2E2E2E"/>
                </a:solidFill>
                <a:latin typeface="Calibri"/>
              </a:rPr>
              <a:t>Third-Party E-commerce</a:t>
            </a:r>
          </a:p>
        </p:txBody>
      </p:sp>
      <p:pic>
        <p:nvPicPr>
          <p:cNvPr id="66" name="Picture 65" descr="lock.png"/>
          <p:cNvPicPr>
            <a:picLocks noChangeAspect="1"/>
          </p:cNvPicPr>
          <p:nvPr/>
        </p:nvPicPr>
        <p:blipFill>
          <a:blip r:embed="rId4"/>
          <a:stretch>
            <a:fillRect/>
          </a:stretch>
        </p:blipFill>
        <p:spPr>
          <a:xfrm>
            <a:off x="1771555" y="4274542"/>
            <a:ext cx="92663" cy="134782"/>
          </a:xfrm>
          <a:prstGeom prst="rect">
            <a:avLst/>
          </a:prstGeom>
        </p:spPr>
      </p:pic>
      <p:sp>
        <p:nvSpPr>
          <p:cNvPr id="67" name="TextBox 66"/>
          <p:cNvSpPr txBox="1"/>
          <p:nvPr/>
        </p:nvSpPr>
        <p:spPr>
          <a:xfrm>
            <a:off x="629824" y="5236761"/>
            <a:ext cx="1200470" cy="139750"/>
          </a:xfrm>
          <a:prstGeom prst="rect">
            <a:avLst/>
          </a:prstGeom>
          <a:noFill/>
        </p:spPr>
        <p:txBody>
          <a:bodyPr wrap="none" lIns="0" rIns="0" tIns="0" bIns="0">
            <a:spAutoFit/>
          </a:bodyPr>
          <a:lstStyle/>
          <a:p>
            <a:r>
              <a:rPr sz="791" b="1">
                <a:solidFill>
                  <a:srgbClr val="2E2E2E"/>
                </a:solidFill>
                <a:latin typeface="Calibri"/>
              </a:rPr>
              <a:t>Brand-Owned E-commerce</a:t>
            </a:r>
          </a:p>
        </p:txBody>
      </p:sp>
      <p:pic>
        <p:nvPicPr>
          <p:cNvPr id="68" name="Picture 67" descr="lock.png"/>
          <p:cNvPicPr>
            <a:picLocks noChangeAspect="1"/>
          </p:cNvPicPr>
          <p:nvPr/>
        </p:nvPicPr>
        <p:blipFill>
          <a:blip r:embed="rId4"/>
          <a:stretch>
            <a:fillRect/>
          </a:stretch>
        </p:blipFill>
        <p:spPr>
          <a:xfrm>
            <a:off x="1771555" y="5229720"/>
            <a:ext cx="92663" cy="134782"/>
          </a:xfrm>
          <a:prstGeom prst="rect">
            <a:avLst/>
          </a:prstGeom>
        </p:spPr>
      </p:pic>
      <p:sp>
        <p:nvSpPr>
          <p:cNvPr id="69" name="TextBox 68"/>
          <p:cNvSpPr txBox="1"/>
          <p:nvPr/>
        </p:nvSpPr>
        <p:spPr>
          <a:xfrm>
            <a:off x="1000696" y="5877002"/>
            <a:ext cx="829597" cy="139750"/>
          </a:xfrm>
          <a:prstGeom prst="rect">
            <a:avLst/>
          </a:prstGeom>
          <a:noFill/>
        </p:spPr>
        <p:txBody>
          <a:bodyPr wrap="none" lIns="0" rIns="0" tIns="0" bIns="0">
            <a:spAutoFit/>
          </a:bodyPr>
          <a:lstStyle/>
          <a:p>
            <a:r>
              <a:rPr sz="791" b="1">
                <a:solidFill>
                  <a:srgbClr val="2E2E2E"/>
                </a:solidFill>
                <a:latin typeface="Calibri"/>
              </a:rPr>
              <a:t>Other Direct Sales</a:t>
            </a:r>
          </a:p>
        </p:txBody>
      </p:sp>
      <p:pic>
        <p:nvPicPr>
          <p:cNvPr id="70" name="Picture 69" descr="lock.png"/>
          <p:cNvPicPr>
            <a:picLocks noChangeAspect="1"/>
          </p:cNvPicPr>
          <p:nvPr/>
        </p:nvPicPr>
        <p:blipFill>
          <a:blip r:embed="rId4"/>
          <a:stretch>
            <a:fillRect/>
          </a:stretch>
        </p:blipFill>
        <p:spPr>
          <a:xfrm>
            <a:off x="1771555" y="5869961"/>
            <a:ext cx="92663" cy="134782"/>
          </a:xfrm>
          <a:prstGeom prst="rect">
            <a:avLst/>
          </a:prstGeom>
        </p:spPr>
      </p:pic>
      <p:sp>
        <p:nvSpPr>
          <p:cNvPr id="71" name="TextBox 70"/>
          <p:cNvSpPr txBox="1"/>
          <p:nvPr/>
        </p:nvSpPr>
        <p:spPr>
          <a:xfrm>
            <a:off x="1160216" y="6303612"/>
            <a:ext cx="670077" cy="139750"/>
          </a:xfrm>
          <a:prstGeom prst="rect">
            <a:avLst/>
          </a:prstGeom>
          <a:noFill/>
        </p:spPr>
        <p:txBody>
          <a:bodyPr wrap="none" lIns="0" rIns="0" tIns="0" bIns="0">
            <a:spAutoFit/>
          </a:bodyPr>
          <a:lstStyle/>
          <a:p>
            <a:r>
              <a:rPr sz="791" b="1">
                <a:solidFill>
                  <a:srgbClr val="2E2E2E"/>
                </a:solidFill>
                <a:latin typeface="Calibri"/>
              </a:rPr>
              <a:t>General Retail</a:t>
            </a:r>
          </a:p>
        </p:txBody>
      </p:sp>
      <p:pic>
        <p:nvPicPr>
          <p:cNvPr id="72" name="Picture 71" descr="lock.png"/>
          <p:cNvPicPr>
            <a:picLocks noChangeAspect="1"/>
          </p:cNvPicPr>
          <p:nvPr/>
        </p:nvPicPr>
        <p:blipFill>
          <a:blip r:embed="rId4"/>
          <a:stretch>
            <a:fillRect/>
          </a:stretch>
        </p:blipFill>
        <p:spPr>
          <a:xfrm>
            <a:off x="1771555" y="6296571"/>
            <a:ext cx="92663" cy="134782"/>
          </a:xfrm>
          <a:prstGeom prst="rect">
            <a:avLst/>
          </a:prstGeom>
        </p:spPr>
      </p:pic>
      <p:sp>
        <p:nvSpPr>
          <p:cNvPr id="73" name="TextBox 72"/>
          <p:cNvSpPr txBox="1"/>
          <p:nvPr/>
        </p:nvSpPr>
        <p:spPr>
          <a:xfrm>
            <a:off x="5972175" y="2694734"/>
            <a:ext cx="1052964" cy="139750"/>
          </a:xfrm>
          <a:prstGeom prst="rect">
            <a:avLst/>
          </a:prstGeom>
          <a:noFill/>
        </p:spPr>
        <p:txBody>
          <a:bodyPr wrap="none" lIns="0" rIns="0" tIns="0" bIns="0">
            <a:spAutoFit/>
          </a:bodyPr>
          <a:lstStyle/>
          <a:p>
            <a:r>
              <a:rPr sz="791" b="1">
                <a:solidFill>
                  <a:srgbClr val="2E2E2E"/>
                </a:solidFill>
                <a:latin typeface="Calibri"/>
              </a:rPr>
              <a:t>Support for Observable</a:t>
            </a:r>
          </a:p>
        </p:txBody>
      </p:sp>
      <p:sp>
        <p:nvSpPr>
          <p:cNvPr id="74" name="TextBox 73"/>
          <p:cNvSpPr txBox="1"/>
          <p:nvPr/>
        </p:nvSpPr>
        <p:spPr>
          <a:xfrm>
            <a:off x="5972175" y="2815435"/>
            <a:ext cx="1362075" cy="139750"/>
          </a:xfrm>
          <a:prstGeom prst="rect">
            <a:avLst/>
          </a:prstGeom>
          <a:noFill/>
        </p:spPr>
        <p:txBody>
          <a:bodyPr wrap="none" lIns="0" rIns="0" tIns="0" bIns="0">
            <a:spAutoFit/>
          </a:bodyPr>
          <a:lstStyle/>
          <a:p>
            <a:r>
              <a:rPr sz="791" b="1">
                <a:solidFill>
                  <a:srgbClr val="2E2E2E"/>
                </a:solidFill>
                <a:latin typeface="Calibri"/>
              </a:rPr>
              <a:t>Age-Related Cognitive Changes</a:t>
            </a:r>
          </a:p>
        </p:txBody>
      </p:sp>
      <p:pic>
        <p:nvPicPr>
          <p:cNvPr id="75" name="Picture 74" descr="lock.png"/>
          <p:cNvPicPr>
            <a:picLocks noChangeAspect="1"/>
          </p:cNvPicPr>
          <p:nvPr/>
        </p:nvPicPr>
        <p:blipFill>
          <a:blip r:embed="rId4"/>
          <a:stretch>
            <a:fillRect/>
          </a:stretch>
        </p:blipFill>
        <p:spPr>
          <a:xfrm>
            <a:off x="5962478" y="2929095"/>
            <a:ext cx="92663" cy="134782"/>
          </a:xfrm>
          <a:prstGeom prst="rect">
            <a:avLst/>
          </a:prstGeom>
        </p:spPr>
      </p:pic>
      <p:sp>
        <p:nvSpPr>
          <p:cNvPr id="76" name="TextBox 75"/>
          <p:cNvSpPr txBox="1"/>
          <p:nvPr/>
        </p:nvSpPr>
        <p:spPr>
          <a:xfrm>
            <a:off x="5972175" y="4756599"/>
            <a:ext cx="1218771" cy="139750"/>
          </a:xfrm>
          <a:prstGeom prst="rect">
            <a:avLst/>
          </a:prstGeom>
          <a:noFill/>
        </p:spPr>
        <p:txBody>
          <a:bodyPr wrap="none" lIns="0" rIns="0" tIns="0" bIns="0">
            <a:spAutoFit/>
          </a:bodyPr>
          <a:lstStyle/>
          <a:p>
            <a:r>
              <a:rPr sz="791" b="1">
                <a:solidFill>
                  <a:srgbClr val="2E2E2E"/>
                </a:solidFill>
                <a:latin typeface="Calibri"/>
              </a:rPr>
              <a:t>Routine Cognitive Wellness</a:t>
            </a:r>
          </a:p>
        </p:txBody>
      </p:sp>
      <p:pic>
        <p:nvPicPr>
          <p:cNvPr id="77" name="Picture 76" descr="lock.png"/>
          <p:cNvPicPr>
            <a:picLocks noChangeAspect="1"/>
          </p:cNvPicPr>
          <p:nvPr/>
        </p:nvPicPr>
        <p:blipFill>
          <a:blip r:embed="rId4"/>
          <a:stretch>
            <a:fillRect/>
          </a:stretch>
        </p:blipFill>
        <p:spPr>
          <a:xfrm>
            <a:off x="7132207" y="4749558"/>
            <a:ext cx="92663" cy="134782"/>
          </a:xfrm>
          <a:prstGeom prst="rect">
            <a:avLst/>
          </a:prstGeom>
        </p:spPr>
      </p:pic>
      <p:sp>
        <p:nvSpPr>
          <p:cNvPr id="78" name="TextBox 77"/>
          <p:cNvSpPr txBox="1"/>
          <p:nvPr/>
        </p:nvSpPr>
        <p:spPr>
          <a:xfrm>
            <a:off x="5972175" y="5525759"/>
            <a:ext cx="1298138" cy="139750"/>
          </a:xfrm>
          <a:prstGeom prst="rect">
            <a:avLst/>
          </a:prstGeom>
          <a:noFill/>
        </p:spPr>
        <p:txBody>
          <a:bodyPr wrap="none" lIns="0" rIns="0" tIns="0" bIns="0">
            <a:spAutoFit/>
          </a:bodyPr>
          <a:lstStyle/>
          <a:p>
            <a:r>
              <a:rPr sz="791" b="1">
                <a:solidFill>
                  <a:srgbClr val="2E2E2E"/>
                </a:solidFill>
                <a:latin typeface="Calibri"/>
              </a:rPr>
              <a:t>Preventive Cognitive Support</a:t>
            </a:r>
          </a:p>
        </p:txBody>
      </p:sp>
      <p:sp>
        <p:nvSpPr>
          <p:cNvPr id="79" name="TextBox 78"/>
          <p:cNvSpPr txBox="1"/>
          <p:nvPr/>
        </p:nvSpPr>
        <p:spPr>
          <a:xfrm>
            <a:off x="5972175" y="5646460"/>
            <a:ext cx="715458" cy="139750"/>
          </a:xfrm>
          <a:prstGeom prst="rect">
            <a:avLst/>
          </a:prstGeom>
          <a:noFill/>
        </p:spPr>
        <p:txBody>
          <a:bodyPr wrap="none" lIns="0" rIns="0" tIns="0" bIns="0">
            <a:spAutoFit/>
          </a:bodyPr>
          <a:lstStyle/>
          <a:p>
            <a:r>
              <a:rPr sz="791" b="1">
                <a:solidFill>
                  <a:srgbClr val="2E2E2E"/>
                </a:solidFill>
                <a:latin typeface="Calibri"/>
              </a:rPr>
              <a:t>for Senior Dogs</a:t>
            </a:r>
          </a:p>
        </p:txBody>
      </p:sp>
      <p:pic>
        <p:nvPicPr>
          <p:cNvPr id="80" name="Picture 79" descr="lock.png"/>
          <p:cNvPicPr>
            <a:picLocks noChangeAspect="1"/>
          </p:cNvPicPr>
          <p:nvPr/>
        </p:nvPicPr>
        <p:blipFill>
          <a:blip r:embed="rId4"/>
          <a:stretch>
            <a:fillRect/>
          </a:stretch>
        </p:blipFill>
        <p:spPr>
          <a:xfrm>
            <a:off x="6628894" y="5639419"/>
            <a:ext cx="92663" cy="134782"/>
          </a:xfrm>
          <a:prstGeom prst="rect">
            <a:avLst/>
          </a:prstGeom>
        </p:spPr>
      </p:pic>
      <p:sp>
        <p:nvSpPr>
          <p:cNvPr id="81" name="TextBox 80"/>
          <p:cNvSpPr txBox="1"/>
          <p:nvPr/>
        </p:nvSpPr>
        <p:spPr>
          <a:xfrm>
            <a:off x="5972175" y="6113406"/>
            <a:ext cx="1266705" cy="139750"/>
          </a:xfrm>
          <a:prstGeom prst="rect">
            <a:avLst/>
          </a:prstGeom>
          <a:noFill/>
        </p:spPr>
        <p:txBody>
          <a:bodyPr wrap="none" lIns="0" rIns="0" tIns="0" bIns="0">
            <a:spAutoFit/>
          </a:bodyPr>
          <a:lstStyle/>
          <a:p>
            <a:r>
              <a:rPr sz="791" b="1">
                <a:solidFill>
                  <a:srgbClr val="2E2E2E"/>
                </a:solidFill>
                <a:latin typeface="Calibri"/>
              </a:rPr>
              <a:t>Veterinary-Guided Cognitive</a:t>
            </a:r>
          </a:p>
        </p:txBody>
      </p:sp>
      <p:sp>
        <p:nvSpPr>
          <p:cNvPr id="82" name="TextBox 81"/>
          <p:cNvSpPr txBox="1"/>
          <p:nvPr/>
        </p:nvSpPr>
        <p:spPr>
          <a:xfrm>
            <a:off x="5972175" y="6234107"/>
            <a:ext cx="934307" cy="139750"/>
          </a:xfrm>
          <a:prstGeom prst="rect">
            <a:avLst/>
          </a:prstGeom>
          <a:noFill/>
        </p:spPr>
        <p:txBody>
          <a:bodyPr wrap="none" lIns="0" rIns="0" tIns="0" bIns="0">
            <a:spAutoFit/>
          </a:bodyPr>
          <a:lstStyle/>
          <a:p>
            <a:r>
              <a:rPr sz="791" b="1">
                <a:solidFill>
                  <a:srgbClr val="2E2E2E"/>
                </a:solidFill>
                <a:latin typeface="Calibri"/>
              </a:rPr>
              <a:t>Dysfunction Support</a:t>
            </a:r>
          </a:p>
        </p:txBody>
      </p:sp>
      <p:pic>
        <p:nvPicPr>
          <p:cNvPr id="83" name="Picture 82" descr="lock.png"/>
          <p:cNvPicPr>
            <a:picLocks noChangeAspect="1"/>
          </p:cNvPicPr>
          <p:nvPr/>
        </p:nvPicPr>
        <p:blipFill>
          <a:blip r:embed="rId4"/>
          <a:stretch>
            <a:fillRect/>
          </a:stretch>
        </p:blipFill>
        <p:spPr>
          <a:xfrm>
            <a:off x="6847743" y="6227066"/>
            <a:ext cx="92663" cy="134782"/>
          </a:xfrm>
          <a:prstGeom prst="rect">
            <a:avLst/>
          </a:prstGeom>
        </p:spPr>
      </p:pic>
      <p:sp>
        <p:nvSpPr>
          <p:cNvPr id="84" name="TextBox 83"/>
          <p:cNvSpPr txBox="1"/>
          <p:nvPr/>
        </p:nvSpPr>
        <p:spPr>
          <a:xfrm>
            <a:off x="7715250" y="1400175"/>
            <a:ext cx="4075745" cy="194310"/>
          </a:xfrm>
          <a:prstGeom prst="rect">
            <a:avLst/>
          </a:prstGeom>
          <a:noFill/>
        </p:spPr>
        <p:txBody>
          <a:bodyPr wrap="none" lIns="0" rIns="0" tIns="0" bIns="0">
            <a:spAutoFit/>
          </a:bodyPr>
          <a:lstStyle/>
          <a:p>
            <a:r>
              <a:rPr sz="1150" b="0">
                <a:solidFill>
                  <a:srgbClr val="2E2E2E"/>
                </a:solidFill>
                <a:latin typeface="Calibri"/>
              </a:rPr>
              <a:t>Veterinary channels segment is projected to account for the largest</a:t>
            </a:r>
          </a:p>
        </p:txBody>
      </p:sp>
      <p:sp>
        <p:nvSpPr>
          <p:cNvPr id="85" name="TextBox 84"/>
          <p:cNvSpPr txBox="1"/>
          <p:nvPr/>
        </p:nvSpPr>
        <p:spPr>
          <a:xfrm>
            <a:off x="7715250" y="1575435"/>
            <a:ext cx="4161606" cy="194310"/>
          </a:xfrm>
          <a:prstGeom prst="rect">
            <a:avLst/>
          </a:prstGeom>
          <a:noFill/>
        </p:spPr>
        <p:txBody>
          <a:bodyPr wrap="none" lIns="0" rIns="0" tIns="0" bIns="0">
            <a:spAutoFit/>
          </a:bodyPr>
          <a:lstStyle/>
          <a:p>
            <a:r>
              <a:rPr sz="1150" b="0">
                <a:solidFill>
                  <a:srgbClr val="2E2E2E"/>
                </a:solidFill>
                <a:latin typeface="Calibri"/>
              </a:rPr>
              <a:t>share of the North America senior dog cognitive supplement market,</a:t>
            </a:r>
          </a:p>
        </p:txBody>
      </p:sp>
      <p:sp>
        <p:nvSpPr>
          <p:cNvPr id="86" name="TextBox 85"/>
          <p:cNvSpPr txBox="1"/>
          <p:nvPr/>
        </p:nvSpPr>
        <p:spPr>
          <a:xfrm>
            <a:off x="7715250" y="1750695"/>
            <a:ext cx="4049786" cy="194310"/>
          </a:xfrm>
          <a:prstGeom prst="rect">
            <a:avLst/>
          </a:prstGeom>
          <a:noFill/>
        </p:spPr>
        <p:txBody>
          <a:bodyPr wrap="none" lIns="0" rIns="0" tIns="0" bIns="0">
            <a:spAutoFit/>
          </a:bodyPr>
          <a:lstStyle/>
          <a:p>
            <a:r>
              <a:rPr sz="1150" b="0">
                <a:solidFill>
                  <a:srgbClr val="2E2E2E"/>
                </a:solidFill>
                <a:latin typeface="Calibri"/>
              </a:rPr>
              <a:t>led by support for observable age-related cognitive changes at US$</a:t>
            </a:r>
          </a:p>
        </p:txBody>
      </p:sp>
      <p:pic>
        <p:nvPicPr>
          <p:cNvPr id="87" name="Picture 86" descr="lock.png"/>
          <p:cNvPicPr>
            <a:picLocks noChangeAspect="1"/>
          </p:cNvPicPr>
          <p:nvPr/>
        </p:nvPicPr>
        <p:blipFill>
          <a:blip r:embed="rId4"/>
          <a:stretch>
            <a:fillRect/>
          </a:stretch>
        </p:blipFill>
        <p:spPr>
          <a:xfrm>
            <a:off x="7701170" y="1915731"/>
            <a:ext cx="134549" cy="195707"/>
          </a:xfrm>
          <a:prstGeom prst="rect">
            <a:avLst/>
          </a:prstGeom>
        </p:spPr>
      </p:pic>
      <p:sp>
        <p:nvSpPr>
          <p:cNvPr id="88" name="TextBox 87"/>
          <p:cNvSpPr txBox="1"/>
          <p:nvPr/>
        </p:nvSpPr>
        <p:spPr>
          <a:xfrm>
            <a:off x="7876279" y="1925955"/>
            <a:ext cx="3579117" cy="194310"/>
          </a:xfrm>
          <a:prstGeom prst="rect">
            <a:avLst/>
          </a:prstGeom>
          <a:noFill/>
        </p:spPr>
        <p:txBody>
          <a:bodyPr wrap="none" lIns="0" rIns="0" tIns="0" bIns="0">
            <a:spAutoFit/>
          </a:bodyPr>
          <a:lstStyle/>
          <a:p>
            <a:r>
              <a:rPr sz="1150" b="0">
                <a:solidFill>
                  <a:srgbClr val="2E2E2E"/>
                </a:solidFill>
                <a:latin typeface="Calibri"/>
              </a:rPr>
              <a:t>Mn in 2036. 'Veterinary Channels × Support for Observable</a:t>
            </a:r>
          </a:p>
        </p:txBody>
      </p:sp>
      <p:sp>
        <p:nvSpPr>
          <p:cNvPr id="89" name="TextBox 88"/>
          <p:cNvSpPr txBox="1"/>
          <p:nvPr/>
        </p:nvSpPr>
        <p:spPr>
          <a:xfrm>
            <a:off x="7715250" y="2101215"/>
            <a:ext cx="4034668" cy="194310"/>
          </a:xfrm>
          <a:prstGeom prst="rect">
            <a:avLst/>
          </a:prstGeom>
          <a:noFill/>
        </p:spPr>
        <p:txBody>
          <a:bodyPr wrap="none" lIns="0" rIns="0" tIns="0" bIns="0">
            <a:spAutoFit/>
          </a:bodyPr>
          <a:lstStyle/>
          <a:p>
            <a:r>
              <a:rPr sz="1150" b="0">
                <a:solidFill>
                  <a:srgbClr val="2E2E2E"/>
                </a:solidFill>
                <a:latin typeface="Calibri"/>
              </a:rPr>
              <a:t>Age-Related Cognitive Changes' is the single largest cross-sectional</a:t>
            </a:r>
          </a:p>
        </p:txBody>
      </p:sp>
      <p:sp>
        <p:nvSpPr>
          <p:cNvPr id="90" name="TextBox 89"/>
          <p:cNvSpPr txBox="1"/>
          <p:nvPr/>
        </p:nvSpPr>
        <p:spPr>
          <a:xfrm>
            <a:off x="7715250" y="2276475"/>
            <a:ext cx="355463" cy="194310"/>
          </a:xfrm>
          <a:prstGeom prst="rect">
            <a:avLst/>
          </a:prstGeom>
          <a:noFill/>
        </p:spPr>
        <p:txBody>
          <a:bodyPr wrap="none" lIns="0" rIns="0" tIns="0" bIns="0">
            <a:spAutoFit/>
          </a:bodyPr>
          <a:lstStyle/>
          <a:p>
            <a:r>
              <a:rPr sz="1150" b="0">
                <a:solidFill>
                  <a:srgbClr val="2E2E2E"/>
                </a:solidFill>
                <a:latin typeface="Calibri"/>
              </a:rPr>
              <a:t>cell (</a:t>
            </a:r>
          </a:p>
        </p:txBody>
      </p:sp>
      <p:pic>
        <p:nvPicPr>
          <p:cNvPr id="91" name="Picture 90" descr="lock.png"/>
          <p:cNvPicPr>
            <a:picLocks noChangeAspect="1"/>
          </p:cNvPicPr>
          <p:nvPr/>
        </p:nvPicPr>
        <p:blipFill>
          <a:blip r:embed="rId4"/>
          <a:stretch>
            <a:fillRect/>
          </a:stretch>
        </p:blipFill>
        <p:spPr>
          <a:xfrm>
            <a:off x="8019867" y="2266251"/>
            <a:ext cx="134549" cy="195707"/>
          </a:xfrm>
          <a:prstGeom prst="rect">
            <a:avLst/>
          </a:prstGeom>
        </p:spPr>
      </p:pic>
      <p:sp>
        <p:nvSpPr>
          <p:cNvPr id="92" name="TextBox 91"/>
          <p:cNvSpPr txBox="1"/>
          <p:nvPr/>
        </p:nvSpPr>
        <p:spPr>
          <a:xfrm>
            <a:off x="8194976" y="2276475"/>
            <a:ext cx="3035678" cy="194310"/>
          </a:xfrm>
          <a:prstGeom prst="rect">
            <a:avLst/>
          </a:prstGeom>
          <a:noFill/>
        </p:spPr>
        <p:txBody>
          <a:bodyPr wrap="none" lIns="0" rIns="0" tIns="0" bIns="0">
            <a:spAutoFit/>
          </a:bodyPr>
          <a:lstStyle/>
          <a:p>
            <a:r>
              <a:rPr sz="1150" b="0">
                <a:solidFill>
                  <a:srgbClr val="2E2E2E"/>
                </a:solidFill>
                <a:latin typeface="Calibri"/>
              </a:rPr>
              <a:t>US$ Mn, 2026E), while 'Third-Party E-commerce ×</a:t>
            </a:r>
          </a:p>
        </p:txBody>
      </p:sp>
      <p:sp>
        <p:nvSpPr>
          <p:cNvPr id="93" name="TextBox 92"/>
          <p:cNvSpPr txBox="1"/>
          <p:nvPr/>
        </p:nvSpPr>
        <p:spPr>
          <a:xfrm>
            <a:off x="7715250" y="2451735"/>
            <a:ext cx="4171950" cy="194310"/>
          </a:xfrm>
          <a:prstGeom prst="rect">
            <a:avLst/>
          </a:prstGeom>
          <a:noFill/>
        </p:spPr>
        <p:txBody>
          <a:bodyPr wrap="none" lIns="0" rIns="0" tIns="0" bIns="0">
            <a:spAutoFit/>
          </a:bodyPr>
          <a:lstStyle/>
          <a:p>
            <a:r>
              <a:rPr sz="1150" b="0">
                <a:solidFill>
                  <a:srgbClr val="2E2E2E"/>
                </a:solidFill>
                <a:latin typeface="Calibri"/>
              </a:rPr>
              <a:t>Veterinary-Guided Cognitive Dysfunction Support' records the fastest</a:t>
            </a:r>
          </a:p>
        </p:txBody>
      </p:sp>
      <p:sp>
        <p:nvSpPr>
          <p:cNvPr id="94" name="TextBox 93"/>
          <p:cNvSpPr txBox="1"/>
          <p:nvPr/>
        </p:nvSpPr>
        <p:spPr>
          <a:xfrm>
            <a:off x="7715250" y="2626995"/>
            <a:ext cx="1279668" cy="194310"/>
          </a:xfrm>
          <a:prstGeom prst="rect">
            <a:avLst/>
          </a:prstGeom>
          <a:noFill/>
        </p:spPr>
        <p:txBody>
          <a:bodyPr wrap="none" lIns="0" rIns="0" tIns="0" bIns="0">
            <a:spAutoFit/>
          </a:bodyPr>
          <a:lstStyle/>
          <a:p>
            <a:r>
              <a:rPr sz="1150" b="0">
                <a:solidFill>
                  <a:srgbClr val="2E2E2E"/>
                </a:solidFill>
                <a:latin typeface="Calibri"/>
              </a:rPr>
              <a:t>growth at a CAGR of</a:t>
            </a:r>
          </a:p>
        </p:txBody>
      </p:sp>
      <p:pic>
        <p:nvPicPr>
          <p:cNvPr id="95" name="Picture 94" descr="lock.png"/>
          <p:cNvPicPr>
            <a:picLocks noChangeAspect="1"/>
          </p:cNvPicPr>
          <p:nvPr/>
        </p:nvPicPr>
        <p:blipFill>
          <a:blip r:embed="rId4"/>
          <a:stretch>
            <a:fillRect/>
          </a:stretch>
        </p:blipFill>
        <p:spPr>
          <a:xfrm>
            <a:off x="8944072" y="2616771"/>
            <a:ext cx="134549" cy="195707"/>
          </a:xfrm>
          <a:prstGeom prst="rect">
            <a:avLst/>
          </a:prstGeom>
        </p:spPr>
      </p:pic>
      <p:sp>
        <p:nvSpPr>
          <p:cNvPr id="96" name="TextBox 95"/>
          <p:cNvSpPr txBox="1"/>
          <p:nvPr/>
        </p:nvSpPr>
        <p:spPr>
          <a:xfrm>
            <a:off x="9119181" y="2626995"/>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97" name="TextBox 96"/>
          <p:cNvSpPr txBox="1"/>
          <p:nvPr/>
        </p:nvSpPr>
        <p:spPr>
          <a:xfrm>
            <a:off x="7715250" y="2854832"/>
            <a:ext cx="3969345" cy="194310"/>
          </a:xfrm>
          <a:prstGeom prst="rect">
            <a:avLst/>
          </a:prstGeom>
          <a:noFill/>
        </p:spPr>
        <p:txBody>
          <a:bodyPr wrap="none" lIns="0" rIns="0" tIns="0" bIns="0">
            <a:spAutoFit/>
          </a:bodyPr>
          <a:lstStyle/>
          <a:p>
            <a:r>
              <a:rPr sz="1150" b="0">
                <a:solidFill>
                  <a:srgbClr val="2E2E2E"/>
                </a:solidFill>
                <a:latin typeface="Calibri"/>
              </a:rPr>
              <a:t>Combined, the top three sales channel × end-use application cells</a:t>
            </a:r>
          </a:p>
        </p:txBody>
      </p:sp>
      <p:sp>
        <p:nvSpPr>
          <p:cNvPr id="98" name="TextBox 97"/>
          <p:cNvSpPr txBox="1"/>
          <p:nvPr/>
        </p:nvSpPr>
        <p:spPr>
          <a:xfrm>
            <a:off x="7715250" y="3030092"/>
            <a:ext cx="2340545" cy="194310"/>
          </a:xfrm>
          <a:prstGeom prst="rect">
            <a:avLst/>
          </a:prstGeom>
          <a:noFill/>
        </p:spPr>
        <p:txBody>
          <a:bodyPr wrap="none" lIns="0" rIns="0" tIns="0" bIns="0">
            <a:spAutoFit/>
          </a:bodyPr>
          <a:lstStyle/>
          <a:p>
            <a:r>
              <a:rPr sz="1150" b="0">
                <a:solidFill>
                  <a:srgbClr val="2E2E2E"/>
                </a:solidFill>
                <a:latin typeface="Calibri"/>
              </a:rPr>
              <a:t>generate an absolute $ opportunity of</a:t>
            </a:r>
          </a:p>
        </p:txBody>
      </p:sp>
      <p:pic>
        <p:nvPicPr>
          <p:cNvPr id="99" name="Picture 98" descr="lock.png"/>
          <p:cNvPicPr>
            <a:picLocks noChangeAspect="1"/>
          </p:cNvPicPr>
          <p:nvPr/>
        </p:nvPicPr>
        <p:blipFill>
          <a:blip r:embed="rId4"/>
          <a:stretch>
            <a:fillRect/>
          </a:stretch>
        </p:blipFill>
        <p:spPr>
          <a:xfrm>
            <a:off x="10004949" y="3019869"/>
            <a:ext cx="134549" cy="195707"/>
          </a:xfrm>
          <a:prstGeom prst="rect">
            <a:avLst/>
          </a:prstGeom>
        </p:spPr>
      </p:pic>
      <p:sp>
        <p:nvSpPr>
          <p:cNvPr id="100" name="TextBox 99"/>
          <p:cNvSpPr txBox="1"/>
          <p:nvPr/>
        </p:nvSpPr>
        <p:spPr>
          <a:xfrm>
            <a:off x="10180058" y="3030092"/>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Share Analysis: Sales Channel × End-use Application, 2026E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North America market value, each row split across all end-use application sub-segments</a:t>
            </a:r>
          </a:p>
        </p:txBody>
      </p:sp>
      <p:sp>
        <p:nvSpPr>
          <p:cNvPr id="10" name="Rounded Rectangle 9"/>
          <p:cNvSpPr/>
          <p:nvPr/>
        </p:nvSpPr>
        <p:spPr>
          <a:xfrm>
            <a:off x="142875" y="981075"/>
            <a:ext cx="11906250" cy="2628900"/>
          </a:xfrm>
          <a:prstGeom prst="roundRect">
            <a:avLst>
              <a:gd name="adj" fmla="val 28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Share, Sales Channel × End-use Application, 2026E (% of each row)</a:t>
            </a:r>
          </a:p>
        </p:txBody>
      </p:sp>
      <p:graphicFrame>
        <p:nvGraphicFramePr>
          <p:cNvPr id="12" name="Table 11"/>
          <p:cNvGraphicFramePr>
            <a:graphicFrameLocks noGrp="1"/>
          </p:cNvGraphicFramePr>
          <p:nvPr/>
        </p:nvGraphicFramePr>
        <p:xfrm>
          <a:off x="152400" y="1238250"/>
          <a:ext cx="11887718" cy="2162172"/>
        </p:xfrm>
        <a:graphic>
          <a:graphicData uri="http://schemas.openxmlformats.org/drawingml/2006/table">
            <a:tbl>
              <a:tblPr>
                <a:tableStyleId>{5C22544A-7EE6-4342-B048-85BDC9FD1C3A}</a:tableStyleId>
              </a:tblPr>
              <a:tblGrid>
                <a:gridCol w="1738086"/>
                <a:gridCol w="1549593"/>
                <a:gridCol w="2440805"/>
                <a:gridCol w="2937973"/>
                <a:gridCol w="2677455"/>
                <a:gridCol w="543806"/>
              </a:tblGrid>
              <a:tr h="438912">
                <a:tc>
                  <a:txBody>
                    <a:bodyPr wrap="none"/>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Routine Cognitive Wellness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Preventive Cognitive Support for Senior Dogs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Support for Observable Age-Related Cognitive Changes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Veterinary-Guided Cognitive Dysfunction Support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6180">
                <a:tc>
                  <a:txBody>
                    <a:bodyPr wrap="none"/>
                    <a:lstStyle/>
                    <a:p>
                      <a:pPr algn="l"/>
                      <a:r>
                        <a:rPr sz="1100" b="1">
                          <a:solidFill>
                            <a:srgbClr val="2E2E2E"/>
                          </a:solidFill>
                          <a:latin typeface="Calibri"/>
                        </a:rPr>
                        <a:t>Veterinary Channels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80">
                <a:tc>
                  <a:txBody>
                    <a:bodyPr wrap="none"/>
                    <a:lstStyle/>
                    <a:p>
                      <a:pPr algn="l"/>
                      <a:r>
                        <a:rPr sz="1100" b="1">
                          <a:solidFill>
                            <a:srgbClr val="2E2E2E"/>
                          </a:solidFill>
                          <a:latin typeface="Calibri"/>
                        </a:rPr>
                        <a:t>Specialist Pet Retail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80">
                <a:tc>
                  <a:txBody>
                    <a:bodyPr wrap="none"/>
                    <a:lstStyle/>
                    <a:p>
                      <a:pPr algn="l"/>
                      <a:r>
                        <a:rPr sz="1100" b="1">
                          <a:solidFill>
                            <a:srgbClr val="2E2E2E"/>
                          </a:solidFill>
                          <a:latin typeface="Calibri"/>
                        </a:rPr>
                        <a:t>General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80">
                <a:tc>
                  <a:txBody>
                    <a:bodyPr wrap="none"/>
                    <a:lstStyle/>
                    <a:p>
                      <a:pPr algn="l"/>
                      <a:r>
                        <a:rPr sz="1100" b="1">
                          <a:solidFill>
                            <a:srgbClr val="2E2E2E"/>
                          </a:solidFill>
                          <a:latin typeface="Calibri"/>
                        </a:rPr>
                        <a:t>Brand-Owned E-commerce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80">
                <a:tc>
                  <a:txBody>
                    <a:bodyPr wrap="none"/>
                    <a:lstStyle/>
                    <a:p>
                      <a:pPr algn="l"/>
                      <a:r>
                        <a:rPr sz="1100" b="1">
                          <a:solidFill>
                            <a:srgbClr val="2E2E2E"/>
                          </a:solidFill>
                          <a:latin typeface="Calibri"/>
                        </a:rPr>
                        <a:t>Third-Party E-commerce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80">
                <a:tc>
                  <a:txBody>
                    <a:bodyPr wrap="none"/>
                    <a:lstStyle/>
                    <a:p>
                      <a:pPr algn="l"/>
                      <a:r>
                        <a:rPr sz="1100" b="1">
                          <a:solidFill>
                            <a:srgbClr val="2E2E2E"/>
                          </a:solidFill>
                          <a:latin typeface="Calibri"/>
                        </a:rPr>
                        <a:t>Other Direct Sales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8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4099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743325"/>
            <a:ext cx="7286625" cy="2886075"/>
          </a:xfrm>
          <a:prstGeom prst="roundRect">
            <a:avLst>
              <a:gd name="adj" fmla="val 2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80047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End-use Application Mix by Sales Channel, 2026E (% share)</a:t>
            </a:r>
          </a:p>
        </p:txBody>
      </p:sp>
      <p:graphicFrame>
        <p:nvGraphicFramePr>
          <p:cNvPr id="16" name="Chart 15"/>
          <p:cNvGraphicFramePr>
            <a:graphicFrameLocks noGrp="1"/>
          </p:cNvGraphicFramePr>
          <p:nvPr/>
        </p:nvGraphicFramePr>
        <p:xfrm>
          <a:off x="238125" y="4029075"/>
          <a:ext cx="7096125" cy="2543175"/>
        </p:xfrm>
        <a:graphic>
          <a:graphicData uri="http://schemas.openxmlformats.org/drawingml/2006/chart">
            <c:chart xmlns:c="http://schemas.openxmlformats.org/drawingml/2006/chart" r:id="rId3"/>
          </a:graphicData>
        </a:graphic>
      </p:graphicFrame>
      <p:sp>
        <p:nvSpPr>
          <p:cNvPr id="17" name="Rounded Rectangle 16"/>
          <p:cNvSpPr/>
          <p:nvPr/>
        </p:nvSpPr>
        <p:spPr>
          <a:xfrm>
            <a:off x="7581900" y="3743325"/>
            <a:ext cx="4457700" cy="2886075"/>
          </a:xfrm>
          <a:prstGeom prst="roundRect">
            <a:avLst>
              <a:gd name="adj" fmla="val 2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5250" y="3829050"/>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9" name="Rectangle 18"/>
          <p:cNvSpPr/>
          <p:nvPr/>
        </p:nvSpPr>
        <p:spPr>
          <a:xfrm>
            <a:off x="7715250" y="406717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5250" y="4152900"/>
            <a:ext cx="4191000" cy="2400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6773517" y="2272092"/>
            <a:ext cx="366712" cy="533400"/>
          </a:xfrm>
          <a:prstGeom prst="rect">
            <a:avLst/>
          </a:prstGeom>
        </p:spPr>
      </p:pic>
      <p:pic>
        <p:nvPicPr>
          <p:cNvPr id="23" name="Picture 22" descr="lock.png"/>
          <p:cNvPicPr>
            <a:picLocks noChangeAspect="1"/>
          </p:cNvPicPr>
          <p:nvPr/>
        </p:nvPicPr>
        <p:blipFill>
          <a:blip r:embed="rId5"/>
          <a:stretch>
            <a:fillRect/>
          </a:stretch>
        </p:blipFill>
        <p:spPr>
          <a:xfrm>
            <a:off x="3775138" y="4568380"/>
            <a:ext cx="311705" cy="453389"/>
          </a:xfrm>
          <a:prstGeom prst="rect">
            <a:avLst/>
          </a:prstGeom>
        </p:spPr>
      </p:pic>
      <p:sp>
        <p:nvSpPr>
          <p:cNvPr id="24" name="TextBox 23"/>
          <p:cNvSpPr txBox="1"/>
          <p:nvPr/>
        </p:nvSpPr>
        <p:spPr>
          <a:xfrm>
            <a:off x="7715250" y="4162425"/>
            <a:ext cx="4076886" cy="194310"/>
          </a:xfrm>
          <a:prstGeom prst="rect">
            <a:avLst/>
          </a:prstGeom>
          <a:noFill/>
        </p:spPr>
        <p:txBody>
          <a:bodyPr wrap="none" lIns="0" rIns="0" tIns="0" bIns="0">
            <a:spAutoFit/>
          </a:bodyPr>
          <a:lstStyle/>
          <a:p>
            <a:r>
              <a:rPr sz="1150" b="0">
                <a:solidFill>
                  <a:srgbClr val="2E2E2E"/>
                </a:solidFill>
                <a:latin typeface="Calibri"/>
              </a:rPr>
              <a:t>▪ 'Support for Observable Age-Related Cognitive Changes' holds the</a:t>
            </a:r>
          </a:p>
        </p:txBody>
      </p:sp>
      <p:sp>
        <p:nvSpPr>
          <p:cNvPr id="25" name="TextBox 24"/>
          <p:cNvSpPr txBox="1"/>
          <p:nvPr/>
        </p:nvSpPr>
        <p:spPr>
          <a:xfrm>
            <a:off x="7715250" y="4337685"/>
            <a:ext cx="2721613" cy="194310"/>
          </a:xfrm>
          <a:prstGeom prst="rect">
            <a:avLst/>
          </a:prstGeom>
          <a:noFill/>
        </p:spPr>
        <p:txBody>
          <a:bodyPr wrap="none" lIns="0" rIns="0" tIns="0" bIns="0">
            <a:spAutoFit/>
          </a:bodyPr>
          <a:lstStyle/>
          <a:p>
            <a:r>
              <a:rPr sz="1150" b="0">
                <a:solidFill>
                  <a:srgbClr val="2E2E2E"/>
                </a:solidFill>
                <a:latin typeface="Calibri"/>
              </a:rPr>
              <a:t>highest share of 'Third-Party E-commerce' at</a:t>
            </a:r>
          </a:p>
        </p:txBody>
      </p:sp>
      <p:pic>
        <p:nvPicPr>
          <p:cNvPr id="26" name="Picture 25" descr="lock.png"/>
          <p:cNvPicPr>
            <a:picLocks noChangeAspect="1"/>
          </p:cNvPicPr>
          <p:nvPr/>
        </p:nvPicPr>
        <p:blipFill>
          <a:blip r:embed="rId5"/>
          <a:stretch>
            <a:fillRect/>
          </a:stretch>
        </p:blipFill>
        <p:spPr>
          <a:xfrm>
            <a:off x="10386017" y="4327461"/>
            <a:ext cx="134549" cy="195707"/>
          </a:xfrm>
          <a:prstGeom prst="rect">
            <a:avLst/>
          </a:prstGeom>
        </p:spPr>
      </p:pic>
      <p:sp>
        <p:nvSpPr>
          <p:cNvPr id="27" name="TextBox 26"/>
          <p:cNvSpPr txBox="1"/>
          <p:nvPr/>
        </p:nvSpPr>
        <p:spPr>
          <a:xfrm>
            <a:off x="10561126" y="433768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8" name="TextBox 27"/>
          <p:cNvSpPr txBox="1"/>
          <p:nvPr/>
        </p:nvSpPr>
        <p:spPr>
          <a:xfrm>
            <a:off x="7715250" y="4565522"/>
            <a:ext cx="4013243" cy="194310"/>
          </a:xfrm>
          <a:prstGeom prst="rect">
            <a:avLst/>
          </a:prstGeom>
          <a:noFill/>
        </p:spPr>
        <p:txBody>
          <a:bodyPr wrap="none" lIns="0" rIns="0" tIns="0" bIns="0">
            <a:spAutoFit/>
          </a:bodyPr>
          <a:lstStyle/>
          <a:p>
            <a:r>
              <a:rPr sz="1150" b="0">
                <a:solidFill>
                  <a:srgbClr val="2E2E2E"/>
                </a:solidFill>
                <a:latin typeface="Calibri"/>
              </a:rPr>
              <a:t>▪ 'Third-Party E-commerce' is the most concentrated sales channel</a:t>
            </a:r>
          </a:p>
        </p:txBody>
      </p:sp>
      <p:sp>
        <p:nvSpPr>
          <p:cNvPr id="29" name="TextBox 28"/>
          <p:cNvSpPr txBox="1"/>
          <p:nvPr/>
        </p:nvSpPr>
        <p:spPr>
          <a:xfrm>
            <a:off x="7715250" y="4740782"/>
            <a:ext cx="1178706" cy="194310"/>
          </a:xfrm>
          <a:prstGeom prst="rect">
            <a:avLst/>
          </a:prstGeom>
          <a:noFill/>
        </p:spPr>
        <p:txBody>
          <a:bodyPr wrap="none" lIns="0" rIns="0" tIns="0" bIns="0">
            <a:spAutoFit/>
          </a:bodyPr>
          <a:lstStyle/>
          <a:p>
            <a:r>
              <a:rPr sz="1150" b="0">
                <a:solidFill>
                  <a:srgbClr val="2E2E2E"/>
                </a:solidFill>
                <a:latin typeface="Calibri"/>
              </a:rPr>
              <a:t>sub-segment, with</a:t>
            </a:r>
          </a:p>
        </p:txBody>
      </p:sp>
      <p:pic>
        <p:nvPicPr>
          <p:cNvPr id="30" name="Picture 29" descr="lock.png"/>
          <p:cNvPicPr>
            <a:picLocks noChangeAspect="1"/>
          </p:cNvPicPr>
          <p:nvPr/>
        </p:nvPicPr>
        <p:blipFill>
          <a:blip r:embed="rId5"/>
          <a:stretch>
            <a:fillRect/>
          </a:stretch>
        </p:blipFill>
        <p:spPr>
          <a:xfrm>
            <a:off x="8843110" y="4730559"/>
            <a:ext cx="134549" cy="195707"/>
          </a:xfrm>
          <a:prstGeom prst="rect">
            <a:avLst/>
          </a:prstGeom>
        </p:spPr>
      </p:pic>
      <p:sp>
        <p:nvSpPr>
          <p:cNvPr id="31" name="TextBox 30"/>
          <p:cNvSpPr txBox="1"/>
          <p:nvPr/>
        </p:nvSpPr>
        <p:spPr>
          <a:xfrm>
            <a:off x="9018219" y="4740782"/>
            <a:ext cx="2376772" cy="194310"/>
          </a:xfrm>
          <a:prstGeom prst="rect">
            <a:avLst/>
          </a:prstGeom>
          <a:noFill/>
        </p:spPr>
        <p:txBody>
          <a:bodyPr wrap="none" lIns="0" rIns="0" tIns="0" bIns="0">
            <a:spAutoFit/>
          </a:bodyPr>
          <a:lstStyle/>
          <a:p>
            <a:r>
              <a:rPr sz="1150" b="0">
                <a:solidFill>
                  <a:srgbClr val="2E2E2E"/>
                </a:solidFill>
                <a:latin typeface="Calibri"/>
              </a:rPr>
              <a:t>of its value via 'Support for Observable</a:t>
            </a:r>
          </a:p>
        </p:txBody>
      </p:sp>
      <p:sp>
        <p:nvSpPr>
          <p:cNvPr id="32" name="TextBox 31"/>
          <p:cNvSpPr txBox="1"/>
          <p:nvPr/>
        </p:nvSpPr>
        <p:spPr>
          <a:xfrm>
            <a:off x="7715250" y="4916042"/>
            <a:ext cx="1991394" cy="194310"/>
          </a:xfrm>
          <a:prstGeom prst="rect">
            <a:avLst/>
          </a:prstGeom>
          <a:noFill/>
        </p:spPr>
        <p:txBody>
          <a:bodyPr wrap="none" lIns="0" rIns="0" tIns="0" bIns="0">
            <a:spAutoFit/>
          </a:bodyPr>
          <a:lstStyle/>
          <a:p>
            <a:r>
              <a:rPr sz="1150" b="0">
                <a:solidFill>
                  <a:srgbClr val="2E2E2E"/>
                </a:solidFill>
                <a:latin typeface="Calibri"/>
              </a:rPr>
              <a:t>Age-Related Cognitive Changes'.</a:t>
            </a:r>
          </a:p>
        </p:txBody>
      </p:sp>
      <p:sp>
        <p:nvSpPr>
          <p:cNvPr id="33" name="TextBox 32"/>
          <p:cNvSpPr txBox="1"/>
          <p:nvPr/>
        </p:nvSpPr>
        <p:spPr>
          <a:xfrm>
            <a:off x="7715250" y="5143880"/>
            <a:ext cx="3345209" cy="194310"/>
          </a:xfrm>
          <a:prstGeom prst="rect">
            <a:avLst/>
          </a:prstGeom>
          <a:noFill/>
        </p:spPr>
        <p:txBody>
          <a:bodyPr wrap="none" lIns="0" rIns="0" tIns="0" bIns="0">
            <a:spAutoFit/>
          </a:bodyPr>
          <a:lstStyle/>
          <a:p>
            <a:r>
              <a:rPr sz="1150" b="0">
                <a:solidFill>
                  <a:srgbClr val="2E2E2E"/>
                </a:solidFill>
                <a:latin typeface="Calibri"/>
              </a:rPr>
              <a:t>▪ 'Preventive Cognitive Support for Senior Dogs' gains +</a:t>
            </a:r>
          </a:p>
        </p:txBody>
      </p:sp>
      <p:pic>
        <p:nvPicPr>
          <p:cNvPr id="34" name="Picture 33" descr="lock.png"/>
          <p:cNvPicPr>
            <a:picLocks noChangeAspect="1"/>
          </p:cNvPicPr>
          <p:nvPr/>
        </p:nvPicPr>
        <p:blipFill>
          <a:blip r:embed="rId5"/>
          <a:stretch>
            <a:fillRect/>
          </a:stretch>
        </p:blipFill>
        <p:spPr>
          <a:xfrm>
            <a:off x="11009613" y="5133657"/>
            <a:ext cx="134549" cy="195707"/>
          </a:xfrm>
          <a:prstGeom prst="rect">
            <a:avLst/>
          </a:prstGeom>
        </p:spPr>
      </p:pic>
      <p:sp>
        <p:nvSpPr>
          <p:cNvPr id="35" name="TextBox 34"/>
          <p:cNvSpPr txBox="1"/>
          <p:nvPr/>
        </p:nvSpPr>
        <p:spPr>
          <a:xfrm>
            <a:off x="11184722" y="5143880"/>
            <a:ext cx="453020" cy="194310"/>
          </a:xfrm>
          <a:prstGeom prst="rect">
            <a:avLst/>
          </a:prstGeom>
          <a:noFill/>
        </p:spPr>
        <p:txBody>
          <a:bodyPr wrap="none" lIns="0" rIns="0" tIns="0" bIns="0">
            <a:spAutoFit/>
          </a:bodyPr>
          <a:lstStyle/>
          <a:p>
            <a:r>
              <a:rPr sz="1150" b="0">
                <a:solidFill>
                  <a:srgbClr val="2E2E2E"/>
                </a:solidFill>
                <a:latin typeface="Calibri"/>
              </a:rPr>
              <a:t>BPS of</a:t>
            </a:r>
          </a:p>
        </p:txBody>
      </p:sp>
      <p:sp>
        <p:nvSpPr>
          <p:cNvPr id="36" name="TextBox 35"/>
          <p:cNvSpPr txBox="1"/>
          <p:nvPr/>
        </p:nvSpPr>
        <p:spPr>
          <a:xfrm>
            <a:off x="7715250" y="5319140"/>
            <a:ext cx="3114225" cy="194310"/>
          </a:xfrm>
          <a:prstGeom prst="rect">
            <a:avLst/>
          </a:prstGeom>
          <a:noFill/>
        </p:spPr>
        <p:txBody>
          <a:bodyPr wrap="none" lIns="0" rIns="0" tIns="0" bIns="0">
            <a:spAutoFit/>
          </a:bodyPr>
          <a:lstStyle/>
          <a:p>
            <a:r>
              <a:rPr sz="1150" b="0">
                <a:solidFill>
                  <a:srgbClr val="2E2E2E"/>
                </a:solidFill>
                <a:latin typeface="Calibri"/>
              </a:rPr>
              <a:t>share of the North America cross-section by 2036F.</a:t>
            </a:r>
          </a:p>
        </p:txBody>
      </p:sp>
      <p:sp>
        <p:nvSpPr>
          <p:cNvPr id="37" name="lockshield_16"/>
          <p:cNvSpPr/>
          <p:nvPr/>
        </p:nvSpPr>
        <p:spPr>
          <a:xfrm>
            <a:off x="238125" y="4029075"/>
            <a:ext cx="7096125" cy="25431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&amp; Attractiveness: Sales Channel × End-use Application,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2876550"/>
          </a:xfrm>
          <a:prstGeom prst="roundRect">
            <a:avLst>
              <a:gd name="adj" fmla="val 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Sales Channel × End-use Application, 2026E–2036F</a:t>
            </a:r>
          </a:p>
        </p:txBody>
      </p:sp>
      <p:graphicFrame>
        <p:nvGraphicFramePr>
          <p:cNvPr id="12" name="Table 11"/>
          <p:cNvGraphicFramePr>
            <a:graphicFrameLocks noGrp="1"/>
          </p:cNvGraphicFramePr>
          <p:nvPr/>
        </p:nvGraphicFramePr>
        <p:xfrm>
          <a:off x="152400" y="1238250"/>
          <a:ext cx="11887200" cy="2409824"/>
        </p:xfrm>
        <a:graphic>
          <a:graphicData uri="http://schemas.openxmlformats.org/drawingml/2006/table">
            <a:tbl>
              <a:tblPr>
                <a:tableStyleId>{5C22544A-7EE6-4342-B048-85BDC9FD1C3A}</a:tableStyleId>
              </a:tblPr>
              <a:tblGrid>
                <a:gridCol w="2726970"/>
                <a:gridCol w="916023"/>
                <a:gridCol w="916023"/>
                <a:gridCol w="916023"/>
                <a:gridCol w="916023"/>
                <a:gridCol w="916023"/>
                <a:gridCol w="916023"/>
                <a:gridCol w="916023"/>
                <a:gridCol w="916023"/>
                <a:gridCol w="916023"/>
                <a:gridCol w="916023"/>
              </a:tblGrid>
              <a:tr h="438912">
                <a:tc rowSpan="2">
                  <a:txBody>
                    <a:bodyPr wrap="none"/>
                    <a:lstStyle/>
                    <a:p>
                      <a:pPr algn="l"/>
                      <a:r>
                        <a:rPr sz="1100" b="1">
                          <a:solidFill>
                            <a:srgbClr val="0B2E4A"/>
                          </a:solidFill>
                          <a:latin typeface="Calibri"/>
                        </a:rPr>
                        <a:t>Sales Channel</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Routine Cognitive Wellness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Preventive Cognitive</a:t>
                      </a:r>
                      <a:endParaRPr sz="1100"/>
                    </a:p>
                    <a:p>
                      <a:pPr algn="ctr"/>
                      <a:r>
                        <a:rPr sz="1100" b="1">
                          <a:solidFill>
                            <a:srgbClr val="0B2E4A"/>
                          </a:solidFill>
                          <a:latin typeface="Calibri"/>
                        </a:rPr>
                        <a:t>Support for Senior Dogs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Support for Observable Age-</a:t>
                      </a:r>
                      <a:endParaRPr sz="1100"/>
                    </a:p>
                    <a:p>
                      <a:pPr algn="ctr"/>
                      <a:r>
                        <a:rPr sz="1100" b="1">
                          <a:solidFill>
                            <a:srgbClr val="0B2E4A"/>
                          </a:solidFill>
                          <a:latin typeface="Calibri"/>
                        </a:rPr>
                        <a:t>Related Cognitive Changes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Veterinary-Guided Cognitive</a:t>
                      </a:r>
                      <a:endParaRPr sz="1100"/>
                    </a:p>
                    <a:p>
                      <a:pPr algn="ctr"/>
                      <a:r>
                        <a:rPr sz="1100" b="1">
                          <a:solidFill>
                            <a:srgbClr val="0B2E4A"/>
                          </a:solidFill>
                          <a:latin typeface="Calibri"/>
                        </a:rPr>
                        <a:t>Dysfunction Support</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364">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6364">
                <a:tc>
                  <a:txBody>
                    <a:bodyPr wrap="none"/>
                    <a:lstStyle/>
                    <a:p>
                      <a:pPr algn="l"/>
                      <a:r>
                        <a:rPr sz="1100" b="1">
                          <a:solidFill>
                            <a:srgbClr val="2E2E2E"/>
                          </a:solidFill>
                          <a:latin typeface="Calibri"/>
                        </a:rPr>
                        <a:t>Veterinary Channels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64">
                <a:tc>
                  <a:txBody>
                    <a:bodyPr wrap="none"/>
                    <a:lstStyle/>
                    <a:p>
                      <a:pPr algn="l"/>
                      <a:r>
                        <a:rPr sz="1100" b="1">
                          <a:solidFill>
                            <a:srgbClr val="2E2E2E"/>
                          </a:solidFill>
                          <a:latin typeface="Calibri"/>
                        </a:rPr>
                        <a:t>Specialist Pet Retail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64">
                <a:tc>
                  <a:txBody>
                    <a:bodyPr wrap="none"/>
                    <a:lstStyle/>
                    <a:p>
                      <a:pPr algn="l"/>
                      <a:r>
                        <a:rPr sz="1100" b="1">
                          <a:solidFill>
                            <a:srgbClr val="2E2E2E"/>
                          </a:solidFill>
                          <a:latin typeface="Calibri"/>
                        </a:rPr>
                        <a:t>General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64">
                <a:tc>
                  <a:txBody>
                    <a:bodyPr wrap="none"/>
                    <a:lstStyle/>
                    <a:p>
                      <a:pPr algn="l"/>
                      <a:r>
                        <a:rPr sz="1100" b="1">
                          <a:solidFill>
                            <a:srgbClr val="2E2E2E"/>
                          </a:solidFill>
                          <a:latin typeface="Calibri"/>
                        </a:rPr>
                        <a:t>Brand-Owned E-commerce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64">
                <a:tc>
                  <a:txBody>
                    <a:bodyPr wrap="none"/>
                    <a:lstStyle/>
                    <a:p>
                      <a:pPr algn="l"/>
                      <a:r>
                        <a:rPr sz="1100" b="1">
                          <a:solidFill>
                            <a:srgbClr val="2E2E2E"/>
                          </a:solidFill>
                          <a:latin typeface="Calibri"/>
                        </a:rPr>
                        <a:t>Third-Party E-commerce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64">
                <a:tc>
                  <a:txBody>
                    <a:bodyPr wrap="none"/>
                    <a:lstStyle/>
                    <a:p>
                      <a:pPr algn="l"/>
                      <a:r>
                        <a:rPr sz="1100" b="1">
                          <a:solidFill>
                            <a:srgbClr val="2E2E2E"/>
                          </a:solidFill>
                          <a:latin typeface="Calibri"/>
                        </a:rPr>
                        <a:t>Other Direct Sales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6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6576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990975"/>
            <a:ext cx="5600700" cy="2638425"/>
          </a:xfrm>
          <a:prstGeom prst="roundRect">
            <a:avLst>
              <a:gd name="adj" fmla="val 288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076700"/>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4314825"/>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400550"/>
            <a:ext cx="5334000" cy="21526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5895975" y="3990975"/>
            <a:ext cx="1943100" cy="26384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4076700"/>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43148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4400550"/>
            <a:ext cx="1676400" cy="21526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3990975"/>
            <a:ext cx="1943100" cy="26384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4076700"/>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43148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4400550"/>
            <a:ext cx="1676400" cy="21526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3990975"/>
            <a:ext cx="1943100" cy="263842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4076700"/>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431482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4400550"/>
            <a:ext cx="1676400" cy="21526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'Veterinary Channels × Preventive Cognitive Support for Senior Dogs' ranks highest (5/5); 'General Retail × Routine Cognitive Wellness'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7272794" y="2519100"/>
            <a:ext cx="366712" cy="533400"/>
          </a:xfrm>
          <a:prstGeom prst="rect">
            <a:avLst/>
          </a:prstGeom>
        </p:spPr>
      </p:pic>
      <p:sp>
        <p:nvSpPr>
          <p:cNvPr id="32" name="TextBox 31"/>
          <p:cNvSpPr txBox="1"/>
          <p:nvPr/>
        </p:nvSpPr>
        <p:spPr>
          <a:xfrm>
            <a:off x="276225" y="4410075"/>
            <a:ext cx="5261229" cy="194310"/>
          </a:xfrm>
          <a:prstGeom prst="rect">
            <a:avLst/>
          </a:prstGeom>
          <a:noFill/>
        </p:spPr>
        <p:txBody>
          <a:bodyPr wrap="none" lIns="0" rIns="0" tIns="0" bIns="0">
            <a:spAutoFit/>
          </a:bodyPr>
          <a:lstStyle/>
          <a:p>
            <a:r>
              <a:rPr sz="1150" b="0">
                <a:solidFill>
                  <a:srgbClr val="2E2E2E"/>
                </a:solidFill>
                <a:latin typeface="Calibri"/>
              </a:rPr>
              <a:t>▪ 1. Third-Party E-commerce × Support for Observable Age-Related Cognitive Changes –</a:t>
            </a:r>
          </a:p>
        </p:txBody>
      </p:sp>
      <p:pic>
        <p:nvPicPr>
          <p:cNvPr id="33" name="Picture 32" descr="lock.png"/>
          <p:cNvPicPr>
            <a:picLocks noChangeAspect="1"/>
          </p:cNvPicPr>
          <p:nvPr/>
        </p:nvPicPr>
        <p:blipFill>
          <a:blip r:embed="rId4"/>
          <a:stretch>
            <a:fillRect/>
          </a:stretch>
        </p:blipFill>
        <p:spPr>
          <a:xfrm>
            <a:off x="262145" y="4575111"/>
            <a:ext cx="134549" cy="195707"/>
          </a:xfrm>
          <a:prstGeom prst="rect">
            <a:avLst/>
          </a:prstGeom>
        </p:spPr>
      </p:pic>
      <p:sp>
        <p:nvSpPr>
          <p:cNvPr id="34" name="TextBox 33"/>
          <p:cNvSpPr txBox="1"/>
          <p:nvPr/>
        </p:nvSpPr>
        <p:spPr>
          <a:xfrm>
            <a:off x="437254" y="458533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499406" y="4575111"/>
            <a:ext cx="134549" cy="195707"/>
          </a:xfrm>
          <a:prstGeom prst="rect">
            <a:avLst/>
          </a:prstGeom>
        </p:spPr>
      </p:pic>
      <p:sp>
        <p:nvSpPr>
          <p:cNvPr id="36" name="TextBox 35"/>
          <p:cNvSpPr txBox="1"/>
          <p:nvPr/>
        </p:nvSpPr>
        <p:spPr>
          <a:xfrm>
            <a:off x="674515" y="4585335"/>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7" name="TextBox 36"/>
          <p:cNvSpPr txBox="1"/>
          <p:nvPr/>
        </p:nvSpPr>
        <p:spPr>
          <a:xfrm>
            <a:off x="276225" y="4813172"/>
            <a:ext cx="4972583" cy="194310"/>
          </a:xfrm>
          <a:prstGeom prst="rect">
            <a:avLst/>
          </a:prstGeom>
          <a:noFill/>
        </p:spPr>
        <p:txBody>
          <a:bodyPr wrap="none" lIns="0" rIns="0" tIns="0" bIns="0">
            <a:spAutoFit/>
          </a:bodyPr>
          <a:lstStyle/>
          <a:p>
            <a:r>
              <a:rPr sz="1150" b="0">
                <a:solidFill>
                  <a:srgbClr val="2E2E2E"/>
                </a:solidFill>
                <a:latin typeface="Calibri"/>
              </a:rPr>
              <a:t>▪ 2. Specialist Pet Retail × Support for Observable Age-Related Cognitive Changes –</a:t>
            </a:r>
          </a:p>
        </p:txBody>
      </p:sp>
      <p:pic>
        <p:nvPicPr>
          <p:cNvPr id="38" name="Picture 37" descr="lock.png"/>
          <p:cNvPicPr>
            <a:picLocks noChangeAspect="1"/>
          </p:cNvPicPr>
          <p:nvPr/>
        </p:nvPicPr>
        <p:blipFill>
          <a:blip r:embed="rId4"/>
          <a:stretch>
            <a:fillRect/>
          </a:stretch>
        </p:blipFill>
        <p:spPr>
          <a:xfrm>
            <a:off x="5197962" y="4802949"/>
            <a:ext cx="134549" cy="195707"/>
          </a:xfrm>
          <a:prstGeom prst="rect">
            <a:avLst/>
          </a:prstGeom>
        </p:spPr>
      </p:pic>
      <p:sp>
        <p:nvSpPr>
          <p:cNvPr id="39" name="TextBox 38"/>
          <p:cNvSpPr txBox="1"/>
          <p:nvPr/>
        </p:nvSpPr>
        <p:spPr>
          <a:xfrm>
            <a:off x="5373071" y="4813172"/>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262145" y="4978209"/>
            <a:ext cx="134549" cy="195707"/>
          </a:xfrm>
          <a:prstGeom prst="rect">
            <a:avLst/>
          </a:prstGeom>
        </p:spPr>
      </p:pic>
      <p:sp>
        <p:nvSpPr>
          <p:cNvPr id="41" name="TextBox 40"/>
          <p:cNvSpPr txBox="1"/>
          <p:nvPr/>
        </p:nvSpPr>
        <p:spPr>
          <a:xfrm>
            <a:off x="437254" y="4988432"/>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2" name="TextBox 41"/>
          <p:cNvSpPr txBox="1"/>
          <p:nvPr/>
        </p:nvSpPr>
        <p:spPr>
          <a:xfrm>
            <a:off x="276225" y="5216270"/>
            <a:ext cx="5015941" cy="194310"/>
          </a:xfrm>
          <a:prstGeom prst="rect">
            <a:avLst/>
          </a:prstGeom>
          <a:noFill/>
        </p:spPr>
        <p:txBody>
          <a:bodyPr wrap="none" lIns="0" rIns="0" tIns="0" bIns="0">
            <a:spAutoFit/>
          </a:bodyPr>
          <a:lstStyle/>
          <a:p>
            <a:r>
              <a:rPr sz="1150" b="0">
                <a:solidFill>
                  <a:srgbClr val="2E2E2E"/>
                </a:solidFill>
                <a:latin typeface="Calibri"/>
              </a:rPr>
              <a:t>▪ 3. Veterinary Channels × Support for Observable Age-Related Cognitive Changes –</a:t>
            </a:r>
          </a:p>
        </p:txBody>
      </p:sp>
      <p:pic>
        <p:nvPicPr>
          <p:cNvPr id="43" name="Picture 42" descr="lock.png"/>
          <p:cNvPicPr>
            <a:picLocks noChangeAspect="1"/>
          </p:cNvPicPr>
          <p:nvPr/>
        </p:nvPicPr>
        <p:blipFill>
          <a:blip r:embed="rId4"/>
          <a:stretch>
            <a:fillRect/>
          </a:stretch>
        </p:blipFill>
        <p:spPr>
          <a:xfrm>
            <a:off x="5241320" y="5206047"/>
            <a:ext cx="134549" cy="195707"/>
          </a:xfrm>
          <a:prstGeom prst="rect">
            <a:avLst/>
          </a:prstGeom>
        </p:spPr>
      </p:pic>
      <p:sp>
        <p:nvSpPr>
          <p:cNvPr id="44" name="TextBox 43"/>
          <p:cNvSpPr txBox="1"/>
          <p:nvPr/>
        </p:nvSpPr>
        <p:spPr>
          <a:xfrm>
            <a:off x="5416430" y="5216270"/>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5" name="Picture 44" descr="lock.png"/>
          <p:cNvPicPr>
            <a:picLocks noChangeAspect="1"/>
          </p:cNvPicPr>
          <p:nvPr/>
        </p:nvPicPr>
        <p:blipFill>
          <a:blip r:embed="rId4"/>
          <a:stretch>
            <a:fillRect/>
          </a:stretch>
        </p:blipFill>
        <p:spPr>
          <a:xfrm>
            <a:off x="262145" y="5381307"/>
            <a:ext cx="134549" cy="195707"/>
          </a:xfrm>
          <a:prstGeom prst="rect">
            <a:avLst/>
          </a:prstGeom>
        </p:spPr>
      </p:pic>
      <p:sp>
        <p:nvSpPr>
          <p:cNvPr id="46" name="TextBox 45"/>
          <p:cNvSpPr txBox="1"/>
          <p:nvPr/>
        </p:nvSpPr>
        <p:spPr>
          <a:xfrm>
            <a:off x="437254" y="5391530"/>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47" name="TextBox 46"/>
          <p:cNvSpPr txBox="1"/>
          <p:nvPr/>
        </p:nvSpPr>
        <p:spPr>
          <a:xfrm>
            <a:off x="276225" y="5619368"/>
            <a:ext cx="3327524" cy="194310"/>
          </a:xfrm>
          <a:prstGeom prst="rect">
            <a:avLst/>
          </a:prstGeom>
          <a:noFill/>
        </p:spPr>
        <p:txBody>
          <a:bodyPr wrap="none" lIns="0" rIns="0" tIns="0" bIns="0">
            <a:spAutoFit/>
          </a:bodyPr>
          <a:lstStyle/>
          <a:p>
            <a:r>
              <a:rPr sz="1150" b="0">
                <a:solidFill>
                  <a:srgbClr val="2E2E2E"/>
                </a:solidFill>
                <a:latin typeface="Calibri"/>
              </a:rPr>
              <a:t>▪ 4. Specialist Pet Retail × Routine Cognitive Wellness –</a:t>
            </a:r>
          </a:p>
        </p:txBody>
      </p:sp>
      <p:pic>
        <p:nvPicPr>
          <p:cNvPr id="48" name="Picture 47" descr="lock.png"/>
          <p:cNvPicPr>
            <a:picLocks noChangeAspect="1"/>
          </p:cNvPicPr>
          <p:nvPr/>
        </p:nvPicPr>
        <p:blipFill>
          <a:blip r:embed="rId4"/>
          <a:stretch>
            <a:fillRect/>
          </a:stretch>
        </p:blipFill>
        <p:spPr>
          <a:xfrm>
            <a:off x="3552902" y="5609145"/>
            <a:ext cx="134549" cy="195707"/>
          </a:xfrm>
          <a:prstGeom prst="rect">
            <a:avLst/>
          </a:prstGeom>
        </p:spPr>
      </p:pic>
      <p:sp>
        <p:nvSpPr>
          <p:cNvPr id="49" name="TextBox 48"/>
          <p:cNvSpPr txBox="1"/>
          <p:nvPr/>
        </p:nvSpPr>
        <p:spPr>
          <a:xfrm>
            <a:off x="3728012" y="5619368"/>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0" name="Picture 49" descr="lock.png"/>
          <p:cNvPicPr>
            <a:picLocks noChangeAspect="1"/>
          </p:cNvPicPr>
          <p:nvPr/>
        </p:nvPicPr>
        <p:blipFill>
          <a:blip r:embed="rId4"/>
          <a:stretch>
            <a:fillRect/>
          </a:stretch>
        </p:blipFill>
        <p:spPr>
          <a:xfrm>
            <a:off x="3790163" y="5609145"/>
            <a:ext cx="134549" cy="195707"/>
          </a:xfrm>
          <a:prstGeom prst="rect">
            <a:avLst/>
          </a:prstGeom>
        </p:spPr>
      </p:pic>
      <p:sp>
        <p:nvSpPr>
          <p:cNvPr id="51" name="TextBox 50"/>
          <p:cNvSpPr txBox="1"/>
          <p:nvPr/>
        </p:nvSpPr>
        <p:spPr>
          <a:xfrm>
            <a:off x="3965273" y="5619368"/>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52" name="TextBox 51"/>
          <p:cNvSpPr txBox="1"/>
          <p:nvPr/>
        </p:nvSpPr>
        <p:spPr>
          <a:xfrm>
            <a:off x="276225" y="5847206"/>
            <a:ext cx="3616169" cy="194310"/>
          </a:xfrm>
          <a:prstGeom prst="rect">
            <a:avLst/>
          </a:prstGeom>
          <a:noFill/>
        </p:spPr>
        <p:txBody>
          <a:bodyPr wrap="none" lIns="0" rIns="0" tIns="0" bIns="0">
            <a:spAutoFit/>
          </a:bodyPr>
          <a:lstStyle/>
          <a:p>
            <a:r>
              <a:rPr sz="1150" b="0">
                <a:solidFill>
                  <a:srgbClr val="2E2E2E"/>
                </a:solidFill>
                <a:latin typeface="Calibri"/>
              </a:rPr>
              <a:t>▪ 5. Third-Party E-commerce × Routine Cognitive Wellness –</a:t>
            </a:r>
          </a:p>
        </p:txBody>
      </p:sp>
      <p:pic>
        <p:nvPicPr>
          <p:cNvPr id="53" name="Picture 52" descr="lock.png"/>
          <p:cNvPicPr>
            <a:picLocks noChangeAspect="1"/>
          </p:cNvPicPr>
          <p:nvPr/>
        </p:nvPicPr>
        <p:blipFill>
          <a:blip r:embed="rId4"/>
          <a:stretch>
            <a:fillRect/>
          </a:stretch>
        </p:blipFill>
        <p:spPr>
          <a:xfrm>
            <a:off x="3841548" y="5836983"/>
            <a:ext cx="134549" cy="195707"/>
          </a:xfrm>
          <a:prstGeom prst="rect">
            <a:avLst/>
          </a:prstGeom>
        </p:spPr>
      </p:pic>
      <p:sp>
        <p:nvSpPr>
          <p:cNvPr id="54" name="TextBox 53"/>
          <p:cNvSpPr txBox="1"/>
          <p:nvPr/>
        </p:nvSpPr>
        <p:spPr>
          <a:xfrm>
            <a:off x="4016657" y="5847206"/>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5" name="Picture 54" descr="lock.png"/>
          <p:cNvPicPr>
            <a:picLocks noChangeAspect="1"/>
          </p:cNvPicPr>
          <p:nvPr/>
        </p:nvPicPr>
        <p:blipFill>
          <a:blip r:embed="rId4"/>
          <a:stretch>
            <a:fillRect/>
          </a:stretch>
        </p:blipFill>
        <p:spPr>
          <a:xfrm>
            <a:off x="4078809" y="5836983"/>
            <a:ext cx="134549" cy="195707"/>
          </a:xfrm>
          <a:prstGeom prst="rect">
            <a:avLst/>
          </a:prstGeom>
        </p:spPr>
      </p:pic>
      <p:sp>
        <p:nvSpPr>
          <p:cNvPr id="56" name="TextBox 55"/>
          <p:cNvSpPr txBox="1"/>
          <p:nvPr/>
        </p:nvSpPr>
        <p:spPr>
          <a:xfrm>
            <a:off x="4253918" y="5847206"/>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57" name="TextBox 56"/>
          <p:cNvSpPr txBox="1"/>
          <p:nvPr/>
        </p:nvSpPr>
        <p:spPr>
          <a:xfrm>
            <a:off x="6029325" y="4410075"/>
            <a:ext cx="1639074" cy="194310"/>
          </a:xfrm>
          <a:prstGeom prst="rect">
            <a:avLst/>
          </a:prstGeom>
          <a:noFill/>
        </p:spPr>
        <p:txBody>
          <a:bodyPr wrap="none" lIns="0" rIns="0" tIns="0" bIns="0">
            <a:spAutoFit/>
          </a:bodyPr>
          <a:lstStyle/>
          <a:p>
            <a:r>
              <a:rPr sz="1150" b="0">
                <a:solidFill>
                  <a:srgbClr val="2E2E2E"/>
                </a:solidFill>
                <a:latin typeface="Calibri"/>
              </a:rPr>
              <a:t>▪ 'Third-Party E-commerce</a:t>
            </a:r>
          </a:p>
        </p:txBody>
      </p:sp>
      <p:sp>
        <p:nvSpPr>
          <p:cNvPr id="58" name="TextBox 57"/>
          <p:cNvSpPr txBox="1"/>
          <p:nvPr/>
        </p:nvSpPr>
        <p:spPr>
          <a:xfrm>
            <a:off x="6029325" y="4585335"/>
            <a:ext cx="1568363" cy="194310"/>
          </a:xfrm>
          <a:prstGeom prst="rect">
            <a:avLst/>
          </a:prstGeom>
          <a:noFill/>
        </p:spPr>
        <p:txBody>
          <a:bodyPr wrap="none" lIns="0" rIns="0" tIns="0" bIns="0">
            <a:spAutoFit/>
          </a:bodyPr>
          <a:lstStyle/>
          <a:p>
            <a:r>
              <a:rPr sz="1150" b="0">
                <a:solidFill>
                  <a:srgbClr val="2E2E2E"/>
                </a:solidFill>
                <a:latin typeface="Calibri"/>
              </a:rPr>
              <a:t>× Support for Observable</a:t>
            </a:r>
          </a:p>
        </p:txBody>
      </p:sp>
      <p:sp>
        <p:nvSpPr>
          <p:cNvPr id="59" name="TextBox 58"/>
          <p:cNvSpPr txBox="1"/>
          <p:nvPr/>
        </p:nvSpPr>
        <p:spPr>
          <a:xfrm>
            <a:off x="6029325" y="4760595"/>
            <a:ext cx="1389508" cy="194310"/>
          </a:xfrm>
          <a:prstGeom prst="rect">
            <a:avLst/>
          </a:prstGeom>
          <a:noFill/>
        </p:spPr>
        <p:txBody>
          <a:bodyPr wrap="none" lIns="0" rIns="0" tIns="0" bIns="0">
            <a:spAutoFit/>
          </a:bodyPr>
          <a:lstStyle/>
          <a:p>
            <a:r>
              <a:rPr sz="1150" b="0">
                <a:solidFill>
                  <a:srgbClr val="2E2E2E"/>
                </a:solidFill>
                <a:latin typeface="Calibri"/>
              </a:rPr>
              <a:t>Age-Related Cognitive</a:t>
            </a:r>
          </a:p>
        </p:txBody>
      </p:sp>
      <p:sp>
        <p:nvSpPr>
          <p:cNvPr id="60" name="TextBox 59"/>
          <p:cNvSpPr txBox="1"/>
          <p:nvPr/>
        </p:nvSpPr>
        <p:spPr>
          <a:xfrm>
            <a:off x="6029325" y="4935854"/>
            <a:ext cx="921692" cy="194310"/>
          </a:xfrm>
          <a:prstGeom prst="rect">
            <a:avLst/>
          </a:prstGeom>
          <a:noFill/>
        </p:spPr>
        <p:txBody>
          <a:bodyPr wrap="none" lIns="0" rIns="0" tIns="0" bIns="0">
            <a:spAutoFit/>
          </a:bodyPr>
          <a:lstStyle/>
          <a:p>
            <a:r>
              <a:rPr sz="1150" b="0">
                <a:solidFill>
                  <a:srgbClr val="2E2E2E"/>
                </a:solidFill>
                <a:latin typeface="Calibri"/>
              </a:rPr>
              <a:t>Changes' adds</a:t>
            </a:r>
          </a:p>
        </p:txBody>
      </p:sp>
      <p:pic>
        <p:nvPicPr>
          <p:cNvPr id="61" name="Picture 60" descr="lock.png"/>
          <p:cNvPicPr>
            <a:picLocks noChangeAspect="1"/>
          </p:cNvPicPr>
          <p:nvPr/>
        </p:nvPicPr>
        <p:blipFill>
          <a:blip r:embed="rId4"/>
          <a:stretch>
            <a:fillRect/>
          </a:stretch>
        </p:blipFill>
        <p:spPr>
          <a:xfrm>
            <a:off x="6900171" y="4925631"/>
            <a:ext cx="134549" cy="195707"/>
          </a:xfrm>
          <a:prstGeom prst="rect">
            <a:avLst/>
          </a:prstGeom>
        </p:spPr>
      </p:pic>
      <p:sp>
        <p:nvSpPr>
          <p:cNvPr id="62" name="TextBox 61"/>
          <p:cNvSpPr txBox="1"/>
          <p:nvPr/>
        </p:nvSpPr>
        <p:spPr>
          <a:xfrm>
            <a:off x="7075280" y="4935854"/>
            <a:ext cx="546013" cy="194310"/>
          </a:xfrm>
          <a:prstGeom prst="rect">
            <a:avLst/>
          </a:prstGeom>
          <a:noFill/>
        </p:spPr>
        <p:txBody>
          <a:bodyPr wrap="none" lIns="0" rIns="0" tIns="0" bIns="0">
            <a:spAutoFit/>
          </a:bodyPr>
          <a:lstStyle/>
          <a:p>
            <a:r>
              <a:rPr sz="1150" b="0">
                <a:solidFill>
                  <a:srgbClr val="2E2E2E"/>
                </a:solidFill>
                <a:latin typeface="Calibri"/>
              </a:rPr>
              <a:t>US$ Mn</a:t>
            </a:r>
          </a:p>
        </p:txBody>
      </p:sp>
      <p:sp>
        <p:nvSpPr>
          <p:cNvPr id="63" name="TextBox 62"/>
          <p:cNvSpPr txBox="1"/>
          <p:nvPr/>
        </p:nvSpPr>
        <p:spPr>
          <a:xfrm>
            <a:off x="6029325" y="5111114"/>
            <a:ext cx="721729" cy="194310"/>
          </a:xfrm>
          <a:prstGeom prst="rect">
            <a:avLst/>
          </a:prstGeom>
          <a:noFill/>
        </p:spPr>
        <p:txBody>
          <a:bodyPr wrap="none" lIns="0" rIns="0" tIns="0" bIns="0">
            <a:spAutoFit/>
          </a:bodyPr>
          <a:lstStyle/>
          <a:p>
            <a:r>
              <a:rPr sz="1150" b="0">
                <a:solidFill>
                  <a:srgbClr val="2E2E2E"/>
                </a:solidFill>
                <a:latin typeface="Calibri"/>
              </a:rPr>
              <a:t>by 2036F –</a:t>
            </a:r>
          </a:p>
        </p:txBody>
      </p:sp>
      <p:pic>
        <p:nvPicPr>
          <p:cNvPr id="64" name="Picture 63" descr="lock.png"/>
          <p:cNvPicPr>
            <a:picLocks noChangeAspect="1"/>
          </p:cNvPicPr>
          <p:nvPr/>
        </p:nvPicPr>
        <p:blipFill>
          <a:blip r:embed="rId4"/>
          <a:stretch>
            <a:fillRect/>
          </a:stretch>
        </p:blipFill>
        <p:spPr>
          <a:xfrm>
            <a:off x="6700208" y="5100891"/>
            <a:ext cx="134549" cy="195707"/>
          </a:xfrm>
          <a:prstGeom prst="rect">
            <a:avLst/>
          </a:prstGeom>
        </p:spPr>
      </p:pic>
      <p:sp>
        <p:nvSpPr>
          <p:cNvPr id="65" name="TextBox 64"/>
          <p:cNvSpPr txBox="1"/>
          <p:nvPr/>
        </p:nvSpPr>
        <p:spPr>
          <a:xfrm>
            <a:off x="6875317" y="5111114"/>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66" name="TextBox 65"/>
          <p:cNvSpPr txBox="1"/>
          <p:nvPr/>
        </p:nvSpPr>
        <p:spPr>
          <a:xfrm>
            <a:off x="6029325" y="5286374"/>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67" name="TextBox 66"/>
          <p:cNvSpPr txBox="1"/>
          <p:nvPr/>
        </p:nvSpPr>
        <p:spPr>
          <a:xfrm>
            <a:off x="8124825" y="4410075"/>
            <a:ext cx="1639074" cy="194310"/>
          </a:xfrm>
          <a:prstGeom prst="rect">
            <a:avLst/>
          </a:prstGeom>
          <a:noFill/>
        </p:spPr>
        <p:txBody>
          <a:bodyPr wrap="none" lIns="0" rIns="0" tIns="0" bIns="0">
            <a:spAutoFit/>
          </a:bodyPr>
          <a:lstStyle/>
          <a:p>
            <a:r>
              <a:rPr sz="1150" b="0">
                <a:solidFill>
                  <a:srgbClr val="2E2E2E"/>
                </a:solidFill>
                <a:latin typeface="Calibri"/>
              </a:rPr>
              <a:t>▪ 'Third-Party E-commerce</a:t>
            </a:r>
          </a:p>
        </p:txBody>
      </p:sp>
      <p:sp>
        <p:nvSpPr>
          <p:cNvPr id="68" name="TextBox 67"/>
          <p:cNvSpPr txBox="1"/>
          <p:nvPr/>
        </p:nvSpPr>
        <p:spPr>
          <a:xfrm>
            <a:off x="8124825" y="4585335"/>
            <a:ext cx="1281683" cy="194310"/>
          </a:xfrm>
          <a:prstGeom prst="rect">
            <a:avLst/>
          </a:prstGeom>
          <a:noFill/>
        </p:spPr>
        <p:txBody>
          <a:bodyPr wrap="none" lIns="0" rIns="0" tIns="0" bIns="0">
            <a:spAutoFit/>
          </a:bodyPr>
          <a:lstStyle/>
          <a:p>
            <a:r>
              <a:rPr sz="1150" b="0">
                <a:solidFill>
                  <a:srgbClr val="2E2E2E"/>
                </a:solidFill>
                <a:latin typeface="Calibri"/>
              </a:rPr>
              <a:t>× Veterinary-Guided</a:t>
            </a:r>
          </a:p>
        </p:txBody>
      </p:sp>
      <p:sp>
        <p:nvSpPr>
          <p:cNvPr id="69" name="TextBox 68"/>
          <p:cNvSpPr txBox="1"/>
          <p:nvPr/>
        </p:nvSpPr>
        <p:spPr>
          <a:xfrm>
            <a:off x="8124825" y="4760595"/>
            <a:ext cx="1374105" cy="194310"/>
          </a:xfrm>
          <a:prstGeom prst="rect">
            <a:avLst/>
          </a:prstGeom>
          <a:noFill/>
        </p:spPr>
        <p:txBody>
          <a:bodyPr wrap="none" lIns="0" rIns="0" tIns="0" bIns="0">
            <a:spAutoFit/>
          </a:bodyPr>
          <a:lstStyle/>
          <a:p>
            <a:r>
              <a:rPr sz="1150" b="0">
                <a:solidFill>
                  <a:srgbClr val="2E2E2E"/>
                </a:solidFill>
                <a:latin typeface="Calibri"/>
              </a:rPr>
              <a:t>Cognitive Dysfunction</a:t>
            </a:r>
          </a:p>
        </p:txBody>
      </p:sp>
      <p:sp>
        <p:nvSpPr>
          <p:cNvPr id="70" name="TextBox 69"/>
          <p:cNvSpPr txBox="1"/>
          <p:nvPr/>
        </p:nvSpPr>
        <p:spPr>
          <a:xfrm>
            <a:off x="8124825" y="4935854"/>
            <a:ext cx="1229196" cy="194310"/>
          </a:xfrm>
          <a:prstGeom prst="rect">
            <a:avLst/>
          </a:prstGeom>
          <a:noFill/>
        </p:spPr>
        <p:txBody>
          <a:bodyPr wrap="none" lIns="0" rIns="0" tIns="0" bIns="0">
            <a:spAutoFit/>
          </a:bodyPr>
          <a:lstStyle/>
          <a:p>
            <a:r>
              <a:rPr sz="1150" b="0">
                <a:solidFill>
                  <a:srgbClr val="2E2E2E"/>
                </a:solidFill>
                <a:latin typeface="Calibri"/>
              </a:rPr>
              <a:t>Support' grows at a</a:t>
            </a:r>
          </a:p>
        </p:txBody>
      </p:sp>
      <p:pic>
        <p:nvPicPr>
          <p:cNvPr id="71" name="Picture 70" descr="lock.png"/>
          <p:cNvPicPr>
            <a:picLocks noChangeAspect="1"/>
          </p:cNvPicPr>
          <p:nvPr/>
        </p:nvPicPr>
        <p:blipFill>
          <a:blip r:embed="rId4"/>
          <a:stretch>
            <a:fillRect/>
          </a:stretch>
        </p:blipFill>
        <p:spPr>
          <a:xfrm>
            <a:off x="9303175" y="4925631"/>
            <a:ext cx="134549" cy="195707"/>
          </a:xfrm>
          <a:prstGeom prst="rect">
            <a:avLst/>
          </a:prstGeom>
        </p:spPr>
      </p:pic>
      <p:sp>
        <p:nvSpPr>
          <p:cNvPr id="72" name="TextBox 71"/>
          <p:cNvSpPr txBox="1"/>
          <p:nvPr/>
        </p:nvSpPr>
        <p:spPr>
          <a:xfrm>
            <a:off x="8124825" y="5111114"/>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73" name="Picture 72" descr="lock.png"/>
          <p:cNvPicPr>
            <a:picLocks noChangeAspect="1"/>
          </p:cNvPicPr>
          <p:nvPr/>
        </p:nvPicPr>
        <p:blipFill>
          <a:blip r:embed="rId4"/>
          <a:stretch>
            <a:fillRect/>
          </a:stretch>
        </p:blipFill>
        <p:spPr>
          <a:xfrm>
            <a:off x="8520420" y="5100891"/>
            <a:ext cx="134549" cy="195707"/>
          </a:xfrm>
          <a:prstGeom prst="rect">
            <a:avLst/>
          </a:prstGeom>
        </p:spPr>
      </p:pic>
      <p:sp>
        <p:nvSpPr>
          <p:cNvPr id="74" name="TextBox 73"/>
          <p:cNvSpPr txBox="1"/>
          <p:nvPr/>
        </p:nvSpPr>
        <p:spPr>
          <a:xfrm>
            <a:off x="8695529" y="5111114"/>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75" name="TextBox 74"/>
          <p:cNvSpPr txBox="1"/>
          <p:nvPr/>
        </p:nvSpPr>
        <p:spPr>
          <a:xfrm>
            <a:off x="8124825" y="5286374"/>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508250"/>
            <a:ext cx="7239000" cy="247650"/>
          </a:xfrm>
          <a:prstGeom prst="rect">
            <a:avLst/>
          </a:prstGeom>
          <a:noFill/>
        </p:spPr>
        <p:txBody>
          <a:bodyPr wrap="none" lIns="0" tIns="0">
            <a:spAutoFit/>
          </a:bodyPr>
          <a:lstStyle/>
          <a:p>
            <a:r>
              <a:rPr sz="1400" b="0">
                <a:solidFill>
                  <a:srgbClr val="8FC8F2"/>
                </a:solidFill>
                <a:latin typeface="Calibri"/>
              </a:rPr>
              <a:t>Senior Dog Cognitive Supplement Market</a:t>
            </a:r>
          </a:p>
        </p:txBody>
      </p:sp>
      <p:sp>
        <p:nvSpPr>
          <p:cNvPr id="6" name="FMI Breaker Title"/>
          <p:cNvSpPr txBox="1"/>
          <p:nvPr/>
        </p:nvSpPr>
        <p:spPr>
          <a:xfrm>
            <a:off x="914400" y="2813050"/>
            <a:ext cx="7239000" cy="514350"/>
          </a:xfrm>
          <a:prstGeom prst="rect">
            <a:avLst/>
          </a:prstGeom>
          <a:noFill/>
        </p:spPr>
        <p:txBody>
          <a:bodyPr wrap="square" lIns="0" rIns="0" tIns="0">
            <a:spAutoFit/>
          </a:bodyPr>
          <a:lstStyle/>
          <a:p>
            <a:r>
              <a:rPr sz="3000" b="1" cap="all" spc="400">
                <a:solidFill>
                  <a:srgbClr val="FFFFFF"/>
                </a:solidFill>
                <a:latin typeface="Calibri"/>
              </a:rPr>
              <a:t>Country Market Outlook</a:t>
            </a:r>
          </a:p>
        </p:txBody>
      </p:sp>
      <p:sp>
        <p:nvSpPr>
          <p:cNvPr id="7" name="TextBox 6"/>
          <p:cNvSpPr txBox="1"/>
          <p:nvPr/>
        </p:nvSpPr>
        <p:spPr>
          <a:xfrm>
            <a:off x="914400" y="3517900"/>
            <a:ext cx="7124700" cy="226060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Overview (Volume &amp; Value)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Segment Overview (Volume &amp; Value)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Form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Active Ingredient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End-use Application</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Packaging Format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Sales Channel</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Overview (Volume &amp; Value)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Segments (Value)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Senior Dog Cognitive Supplement Market Volume Overview (MT)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U.S. market in volume: size, growth, YoY momentum and gap to the Global benchmark</a:t>
            </a:r>
          </a:p>
        </p:txBody>
      </p:sp>
      <p:sp>
        <p:nvSpPr>
          <p:cNvPr id="10" name="Rounded Rectangle 9"/>
          <p:cNvSpPr/>
          <p:nvPr/>
        </p:nvSpPr>
        <p:spPr>
          <a:xfrm>
            <a:off x="1428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(MT)</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estimate year</a:t>
            </a:r>
          </a:p>
        </p:txBody>
      </p:sp>
      <p:sp>
        <p:nvSpPr>
          <p:cNvPr id="11" name="Rounded Rectangle 10"/>
          <p:cNvSpPr/>
          <p:nvPr/>
        </p:nvSpPr>
        <p:spPr>
          <a:xfrm>
            <a:off x="31527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(MT)</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forecast horizon</a:t>
            </a:r>
          </a:p>
        </p:txBody>
      </p:sp>
      <p:sp>
        <p:nvSpPr>
          <p:cNvPr id="12" name="Rounded Rectangle 11"/>
          <p:cNvSpPr/>
          <p:nvPr/>
        </p:nvSpPr>
        <p:spPr>
          <a:xfrm>
            <a:off x="61626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0E72AE"/>
                </a:solidFill>
                <a:latin typeface="Calibri"/>
              </a:rPr>
              <a:t> </a:t>
            </a:r>
          </a:p>
        </p:txBody>
      </p:sp>
      <p:sp>
        <p:nvSpPr>
          <p:cNvPr id="13" name="Rounded Rectangle 12"/>
          <p:cNvSpPr/>
          <p:nvPr/>
        </p:nvSpPr>
        <p:spPr>
          <a:xfrm>
            <a:off x="91725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819275"/>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Volume (MT), 2021–2036</a:t>
            </a:r>
          </a:p>
        </p:txBody>
      </p:sp>
      <p:graphicFrame>
        <p:nvGraphicFramePr>
          <p:cNvPr id="16" name="Chart 15"/>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7" name="Rounded Rectangle 16"/>
          <p:cNvSpPr/>
          <p:nvPr/>
        </p:nvSpPr>
        <p:spPr>
          <a:xfrm>
            <a:off x="4991100" y="1819275"/>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19" name="Chart 18"/>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20" name="TextBox 19"/>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44D3A"/>
                </a:solidFill>
                <a:latin typeface="Calibri"/>
              </a:rPr>
              <a:t> </a:t>
            </a:r>
          </a:p>
          <a:p>
            <a:pPr algn="ctr"/>
            <a:r>
              <a:rPr sz="1100" b="0">
                <a:solidFill>
                  <a:srgbClr val="6C7A89"/>
                </a:solidFill>
                <a:latin typeface="Calibri"/>
              </a:rPr>
              <a:t>vs North America benchmark</a:t>
            </a:r>
          </a:p>
          <a:p>
            <a:pPr algn="ctr"/>
            <a:r>
              <a:rPr sz="1100" b="1">
                <a:solidFill>
                  <a:srgbClr val="E44D3A"/>
                </a:solidFill>
                <a:latin typeface="Calibri"/>
              </a:rPr>
              <a:t>▼ below benchmark</a:t>
            </a:r>
          </a:p>
        </p:txBody>
      </p:sp>
      <p:sp>
        <p:nvSpPr>
          <p:cNvPr id="21" name="TextBox 20"/>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22" name="Rounded Rectangle 21"/>
          <p:cNvSpPr/>
          <p:nvPr/>
        </p:nvSpPr>
        <p:spPr>
          <a:xfrm>
            <a:off x="142875" y="3733800"/>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(MT)</a:t>
            </a:r>
          </a:p>
        </p:txBody>
      </p:sp>
      <p:graphicFrame>
        <p:nvGraphicFramePr>
          <p:cNvPr id="24" name="Chart 23"/>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5" name="Rounded Rectangle 24"/>
          <p:cNvSpPr/>
          <p:nvPr/>
        </p:nvSpPr>
        <p:spPr>
          <a:xfrm>
            <a:off x="4991100" y="3733800"/>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Share, 2026</a:t>
            </a:r>
          </a:p>
        </p:txBody>
      </p:sp>
      <p:graphicFrame>
        <p:nvGraphicFramePr>
          <p:cNvPr id="27" name="Chart 26"/>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8" name="Rounded Rectangle 27"/>
          <p:cNvSpPr/>
          <p:nvPr/>
        </p:nvSpPr>
        <p:spPr>
          <a:xfrm>
            <a:off x="142875"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9" name="Rounded Rectangle 28"/>
          <p:cNvSpPr/>
          <p:nvPr/>
        </p:nvSpPr>
        <p:spPr>
          <a:xfrm>
            <a:off x="6172200"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8"/>
          <a:stretch>
            <a:fillRect/>
          </a:stretch>
        </p:blipFill>
        <p:spPr>
          <a:xfrm>
            <a:off x="1493044" y="1219200"/>
            <a:ext cx="157162" cy="228600"/>
          </a:xfrm>
          <a:prstGeom prst="rect">
            <a:avLst/>
          </a:prstGeom>
        </p:spPr>
      </p:pic>
      <p:pic>
        <p:nvPicPr>
          <p:cNvPr id="32" name="Picture 31" descr="lock.png"/>
          <p:cNvPicPr>
            <a:picLocks noChangeAspect="1"/>
          </p:cNvPicPr>
          <p:nvPr/>
        </p:nvPicPr>
        <p:blipFill>
          <a:blip r:embed="rId8"/>
          <a:stretch>
            <a:fillRect/>
          </a:stretch>
        </p:blipFill>
        <p:spPr>
          <a:xfrm>
            <a:off x="4502944" y="1219200"/>
            <a:ext cx="157162" cy="228600"/>
          </a:xfrm>
          <a:prstGeom prst="rect">
            <a:avLst/>
          </a:prstGeom>
        </p:spPr>
      </p:pic>
      <p:pic>
        <p:nvPicPr>
          <p:cNvPr id="33" name="Picture 32" descr="lock.png"/>
          <p:cNvPicPr>
            <a:picLocks noChangeAspect="1"/>
          </p:cNvPicPr>
          <p:nvPr/>
        </p:nvPicPr>
        <p:blipFill>
          <a:blip r:embed="rId8"/>
          <a:stretch>
            <a:fillRect/>
          </a:stretch>
        </p:blipFill>
        <p:spPr>
          <a:xfrm>
            <a:off x="7512844" y="1303020"/>
            <a:ext cx="157162" cy="228600"/>
          </a:xfrm>
          <a:prstGeom prst="rect">
            <a:avLst/>
          </a:prstGeom>
        </p:spPr>
      </p:pic>
      <p:pic>
        <p:nvPicPr>
          <p:cNvPr id="34" name="Picture 33" descr="lock.png"/>
          <p:cNvPicPr>
            <a:picLocks noChangeAspect="1"/>
          </p:cNvPicPr>
          <p:nvPr/>
        </p:nvPicPr>
        <p:blipFill>
          <a:blip r:embed="rId8"/>
          <a:stretch>
            <a:fillRect/>
          </a:stretch>
        </p:blipFill>
        <p:spPr>
          <a:xfrm>
            <a:off x="10522744" y="1303020"/>
            <a:ext cx="157162" cy="228600"/>
          </a:xfrm>
          <a:prstGeom prst="rect">
            <a:avLst/>
          </a:prstGeom>
        </p:spPr>
      </p:pic>
      <p:pic>
        <p:nvPicPr>
          <p:cNvPr id="35" name="Picture 34" descr="lock.png"/>
          <p:cNvPicPr>
            <a:picLocks noChangeAspect="1"/>
          </p:cNvPicPr>
          <p:nvPr/>
        </p:nvPicPr>
        <p:blipFill>
          <a:blip r:embed="rId8"/>
          <a:stretch>
            <a:fillRect/>
          </a:stretch>
        </p:blipFill>
        <p:spPr>
          <a:xfrm>
            <a:off x="2554414" y="2661285"/>
            <a:ext cx="165021" cy="240030"/>
          </a:xfrm>
          <a:prstGeom prst="rect">
            <a:avLst/>
          </a:prstGeom>
        </p:spPr>
      </p:pic>
      <p:pic>
        <p:nvPicPr>
          <p:cNvPr id="36" name="Picture 35" descr="lock.png"/>
          <p:cNvPicPr>
            <a:picLocks noChangeAspect="1"/>
          </p:cNvPicPr>
          <p:nvPr/>
        </p:nvPicPr>
        <p:blipFill>
          <a:blip r:embed="rId8"/>
          <a:stretch>
            <a:fillRect/>
          </a:stretch>
        </p:blipFill>
        <p:spPr>
          <a:xfrm>
            <a:off x="6762365" y="2599095"/>
            <a:ext cx="191595" cy="278683"/>
          </a:xfrm>
          <a:prstGeom prst="rect">
            <a:avLst/>
          </a:prstGeom>
        </p:spPr>
      </p:pic>
      <p:pic>
        <p:nvPicPr>
          <p:cNvPr id="37" name="Picture 36" descr="lock.png"/>
          <p:cNvPicPr>
            <a:picLocks noChangeAspect="1"/>
          </p:cNvPicPr>
          <p:nvPr/>
        </p:nvPicPr>
        <p:blipFill>
          <a:blip r:embed="rId8"/>
          <a:stretch>
            <a:fillRect/>
          </a:stretch>
        </p:blipFill>
        <p:spPr>
          <a:xfrm>
            <a:off x="9878378" y="2141220"/>
            <a:ext cx="230504" cy="335279"/>
          </a:xfrm>
          <a:prstGeom prst="rect">
            <a:avLst/>
          </a:prstGeom>
        </p:spPr>
      </p:pic>
      <p:pic>
        <p:nvPicPr>
          <p:cNvPr id="38" name="Picture 37" descr="lock.png"/>
          <p:cNvPicPr>
            <a:picLocks noChangeAspect="1"/>
          </p:cNvPicPr>
          <p:nvPr/>
        </p:nvPicPr>
        <p:blipFill>
          <a:blip r:embed="rId8"/>
          <a:stretch>
            <a:fillRect/>
          </a:stretch>
        </p:blipFill>
        <p:spPr>
          <a:xfrm>
            <a:off x="2554414" y="4575810"/>
            <a:ext cx="165021" cy="240030"/>
          </a:xfrm>
          <a:prstGeom prst="rect">
            <a:avLst/>
          </a:prstGeom>
        </p:spPr>
      </p:pic>
      <p:pic>
        <p:nvPicPr>
          <p:cNvPr id="39" name="Picture 38" descr="lock.png"/>
          <p:cNvPicPr>
            <a:picLocks noChangeAspect="1"/>
          </p:cNvPicPr>
          <p:nvPr/>
        </p:nvPicPr>
        <p:blipFill>
          <a:blip r:embed="rId8"/>
          <a:stretch>
            <a:fillRect/>
          </a:stretch>
        </p:blipFill>
        <p:spPr>
          <a:xfrm>
            <a:off x="8715708" y="4462938"/>
            <a:ext cx="261282" cy="380047"/>
          </a:xfrm>
          <a:prstGeom prst="rect">
            <a:avLst/>
          </a:prstGeom>
        </p:spPr>
      </p:pic>
      <p:sp>
        <p:nvSpPr>
          <p:cNvPr id="40" name="TextBox 39"/>
          <p:cNvSpPr txBox="1"/>
          <p:nvPr/>
        </p:nvSpPr>
        <p:spPr>
          <a:xfrm>
            <a:off x="8071485" y="2876550"/>
            <a:ext cx="3359422" cy="186689"/>
          </a:xfrm>
          <a:prstGeom prst="rect">
            <a:avLst/>
          </a:prstGeom>
          <a:noFill/>
        </p:spPr>
        <p:txBody>
          <a:bodyPr wrap="none" lIns="0" rIns="0" tIns="0" bIns="0">
            <a:spAutoFit/>
          </a:bodyPr>
          <a:lstStyle/>
          <a:p>
            <a:r>
              <a:rPr sz="1100" b="0">
                <a:solidFill>
                  <a:srgbClr val="2E2E2E"/>
                </a:solidFill>
                <a:latin typeface="Calibri"/>
              </a:rPr>
              <a:t>U.S.'s senior dog cognitive supplement market expands at</a:t>
            </a:r>
          </a:p>
        </p:txBody>
      </p:sp>
      <p:pic>
        <p:nvPicPr>
          <p:cNvPr id="41" name="Picture 40" descr="lock.png"/>
          <p:cNvPicPr>
            <a:picLocks noChangeAspect="1"/>
          </p:cNvPicPr>
          <p:nvPr/>
        </p:nvPicPr>
        <p:blipFill>
          <a:blip r:embed="rId8"/>
          <a:stretch>
            <a:fillRect/>
          </a:stretch>
        </p:blipFill>
        <p:spPr>
          <a:xfrm>
            <a:off x="11378959" y="2866771"/>
            <a:ext cx="128699" cy="187198"/>
          </a:xfrm>
          <a:prstGeom prst="rect">
            <a:avLst/>
          </a:prstGeom>
        </p:spPr>
      </p:pic>
      <p:sp>
        <p:nvSpPr>
          <p:cNvPr id="42" name="TextBox 41"/>
          <p:cNvSpPr txBox="1"/>
          <p:nvPr/>
        </p:nvSpPr>
        <p:spPr>
          <a:xfrm>
            <a:off x="8071485" y="3044190"/>
            <a:ext cx="3569228" cy="186689"/>
          </a:xfrm>
          <a:prstGeom prst="rect">
            <a:avLst/>
          </a:prstGeom>
          <a:noFill/>
        </p:spPr>
        <p:txBody>
          <a:bodyPr wrap="none" lIns="0" rIns="0" tIns="0" bIns="0">
            <a:spAutoFit/>
          </a:bodyPr>
          <a:lstStyle/>
          <a:p>
            <a:r>
              <a:rPr sz="1100" b="0">
                <a:solidFill>
                  <a:srgbClr val="2E2E2E"/>
                </a:solidFill>
                <a:latin typeface="Calibri"/>
              </a:rPr>
              <a:t>CAGR through 2036, trailing the North America benchmark of</a:t>
            </a:r>
          </a:p>
        </p:txBody>
      </p:sp>
      <p:pic>
        <p:nvPicPr>
          <p:cNvPr id="43" name="Picture 42" descr="lock.png"/>
          <p:cNvPicPr>
            <a:picLocks noChangeAspect="1"/>
          </p:cNvPicPr>
          <p:nvPr/>
        </p:nvPicPr>
        <p:blipFill>
          <a:blip r:embed="rId8"/>
          <a:stretch>
            <a:fillRect/>
          </a:stretch>
        </p:blipFill>
        <p:spPr>
          <a:xfrm>
            <a:off x="11588765" y="3034411"/>
            <a:ext cx="128699" cy="187198"/>
          </a:xfrm>
          <a:prstGeom prst="rect">
            <a:avLst/>
          </a:prstGeom>
        </p:spPr>
      </p:pic>
      <p:sp>
        <p:nvSpPr>
          <p:cNvPr id="44" name="TextBox 43"/>
          <p:cNvSpPr txBox="1"/>
          <p:nvPr/>
        </p:nvSpPr>
        <p:spPr>
          <a:xfrm>
            <a:off x="8071485" y="321183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5" name="Picture 44" descr="lock.png"/>
          <p:cNvPicPr>
            <a:picLocks noChangeAspect="1"/>
          </p:cNvPicPr>
          <p:nvPr/>
        </p:nvPicPr>
        <p:blipFill>
          <a:blip r:embed="rId8"/>
          <a:stretch>
            <a:fillRect/>
          </a:stretch>
        </p:blipFill>
        <p:spPr>
          <a:xfrm>
            <a:off x="8232435" y="3202051"/>
            <a:ext cx="128699" cy="187198"/>
          </a:xfrm>
          <a:prstGeom prst="rect">
            <a:avLst/>
          </a:prstGeom>
        </p:spPr>
      </p:pic>
      <p:sp>
        <p:nvSpPr>
          <p:cNvPr id="46" name="TextBox 45"/>
          <p:cNvSpPr txBox="1"/>
          <p:nvPr/>
        </p:nvSpPr>
        <p:spPr>
          <a:xfrm>
            <a:off x="8399931" y="321183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7" name="TextBox 46"/>
          <p:cNvSpPr txBox="1"/>
          <p:nvPr/>
        </p:nvSpPr>
        <p:spPr>
          <a:xfrm>
            <a:off x="257175" y="5966460"/>
            <a:ext cx="639365" cy="186689"/>
          </a:xfrm>
          <a:prstGeom prst="rect">
            <a:avLst/>
          </a:prstGeom>
          <a:noFill/>
        </p:spPr>
        <p:txBody>
          <a:bodyPr wrap="none" lIns="0" rIns="0" tIns="0" bIns="0">
            <a:spAutoFit/>
          </a:bodyPr>
          <a:lstStyle/>
          <a:p>
            <a:r>
              <a:rPr sz="1100" b="0">
                <a:solidFill>
                  <a:srgbClr val="2E2E2E"/>
                </a:solidFill>
                <a:latin typeface="Calibri"/>
              </a:rPr>
              <a:t>U.S. holds</a:t>
            </a:r>
          </a:p>
        </p:txBody>
      </p:sp>
      <p:pic>
        <p:nvPicPr>
          <p:cNvPr id="48" name="Picture 47" descr="lock.png"/>
          <p:cNvPicPr>
            <a:picLocks noChangeAspect="1"/>
          </p:cNvPicPr>
          <p:nvPr/>
        </p:nvPicPr>
        <p:blipFill>
          <a:blip r:embed="rId8"/>
          <a:stretch>
            <a:fillRect/>
          </a:stretch>
        </p:blipFill>
        <p:spPr>
          <a:xfrm>
            <a:off x="844592" y="5956680"/>
            <a:ext cx="128699" cy="187198"/>
          </a:xfrm>
          <a:prstGeom prst="rect">
            <a:avLst/>
          </a:prstGeom>
        </p:spPr>
      </p:pic>
      <p:sp>
        <p:nvSpPr>
          <p:cNvPr id="49" name="TextBox 48"/>
          <p:cNvSpPr txBox="1"/>
          <p:nvPr/>
        </p:nvSpPr>
        <p:spPr>
          <a:xfrm>
            <a:off x="1012088"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50" name="Picture 49" descr="lock.png"/>
          <p:cNvPicPr>
            <a:picLocks noChangeAspect="1"/>
          </p:cNvPicPr>
          <p:nvPr/>
        </p:nvPicPr>
        <p:blipFill>
          <a:blip r:embed="rId8"/>
          <a:stretch>
            <a:fillRect/>
          </a:stretch>
        </p:blipFill>
        <p:spPr>
          <a:xfrm>
            <a:off x="1995140" y="5956680"/>
            <a:ext cx="128699" cy="187198"/>
          </a:xfrm>
          <a:prstGeom prst="rect">
            <a:avLst/>
          </a:prstGeom>
        </p:spPr>
      </p:pic>
      <p:sp>
        <p:nvSpPr>
          <p:cNvPr id="51" name="TextBox 50"/>
          <p:cNvSpPr txBox="1"/>
          <p:nvPr/>
        </p:nvSpPr>
        <p:spPr>
          <a:xfrm>
            <a:off x="2162635" y="5966460"/>
            <a:ext cx="3165152" cy="186689"/>
          </a:xfrm>
          <a:prstGeom prst="rect">
            <a:avLst/>
          </a:prstGeom>
          <a:noFill/>
        </p:spPr>
        <p:txBody>
          <a:bodyPr wrap="none" lIns="0" rIns="0" tIns="0" bIns="0">
            <a:spAutoFit/>
          </a:bodyPr>
          <a:lstStyle/>
          <a:p>
            <a:r>
              <a:rPr sz="1100" b="0">
                <a:solidFill>
                  <a:srgbClr val="2E2E2E"/>
                </a:solidFill>
                <a:latin typeface="Calibri"/>
              </a:rPr>
              <a:t>of the North America senior dog cognitive supplement</a:t>
            </a:r>
          </a:p>
        </p:txBody>
      </p:sp>
      <p:sp>
        <p:nvSpPr>
          <p:cNvPr id="52" name="TextBox 51"/>
          <p:cNvSpPr txBox="1"/>
          <p:nvPr/>
        </p:nvSpPr>
        <p:spPr>
          <a:xfrm>
            <a:off x="257175" y="6134100"/>
            <a:ext cx="2708399" cy="186689"/>
          </a:xfrm>
          <a:prstGeom prst="rect">
            <a:avLst/>
          </a:prstGeom>
          <a:noFill/>
        </p:spPr>
        <p:txBody>
          <a:bodyPr wrap="none" lIns="0" rIns="0" tIns="0" bIns="0">
            <a:spAutoFit/>
          </a:bodyPr>
          <a:lstStyle/>
          <a:p>
            <a:r>
              <a:rPr sz="1100" b="0">
                <a:solidFill>
                  <a:srgbClr val="2E2E2E"/>
                </a:solidFill>
                <a:latin typeface="Calibri"/>
              </a:rPr>
              <a:t>market in 2026; by 2036 those shares move to</a:t>
            </a:r>
          </a:p>
        </p:txBody>
      </p:sp>
      <p:pic>
        <p:nvPicPr>
          <p:cNvPr id="53" name="Picture 52" descr="lock.png"/>
          <p:cNvPicPr>
            <a:picLocks noChangeAspect="1"/>
          </p:cNvPicPr>
          <p:nvPr/>
        </p:nvPicPr>
        <p:blipFill>
          <a:blip r:embed="rId8"/>
          <a:stretch>
            <a:fillRect/>
          </a:stretch>
        </p:blipFill>
        <p:spPr>
          <a:xfrm>
            <a:off x="2913625" y="6124320"/>
            <a:ext cx="128699" cy="187198"/>
          </a:xfrm>
          <a:prstGeom prst="rect">
            <a:avLst/>
          </a:prstGeom>
        </p:spPr>
      </p:pic>
      <p:sp>
        <p:nvSpPr>
          <p:cNvPr id="54" name="TextBox 53"/>
          <p:cNvSpPr txBox="1"/>
          <p:nvPr/>
        </p:nvSpPr>
        <p:spPr>
          <a:xfrm>
            <a:off x="3081121"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5" name="Picture 54" descr="lock.png"/>
          <p:cNvPicPr>
            <a:picLocks noChangeAspect="1"/>
          </p:cNvPicPr>
          <p:nvPr/>
        </p:nvPicPr>
        <p:blipFill>
          <a:blip r:embed="rId8"/>
          <a:stretch>
            <a:fillRect/>
          </a:stretch>
        </p:blipFill>
        <p:spPr>
          <a:xfrm>
            <a:off x="3319015" y="6124320"/>
            <a:ext cx="128699" cy="187198"/>
          </a:xfrm>
          <a:prstGeom prst="rect">
            <a:avLst/>
          </a:prstGeom>
        </p:spPr>
      </p:pic>
      <p:sp>
        <p:nvSpPr>
          <p:cNvPr id="56" name="TextBox 55"/>
          <p:cNvSpPr txBox="1"/>
          <p:nvPr/>
        </p:nvSpPr>
        <p:spPr>
          <a:xfrm>
            <a:off x="3486511"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7" name="TextBox 56"/>
          <p:cNvSpPr txBox="1"/>
          <p:nvPr/>
        </p:nvSpPr>
        <p:spPr>
          <a:xfrm>
            <a:off x="6286500" y="5966460"/>
            <a:ext cx="1586979" cy="186689"/>
          </a:xfrm>
          <a:prstGeom prst="rect">
            <a:avLst/>
          </a:prstGeom>
          <a:noFill/>
        </p:spPr>
        <p:txBody>
          <a:bodyPr wrap="none" lIns="0" rIns="0" tIns="0" bIns="0">
            <a:spAutoFit/>
          </a:bodyPr>
          <a:lstStyle/>
          <a:p>
            <a:r>
              <a:rPr sz="1100" b="0">
                <a:solidFill>
                  <a:srgbClr val="2E2E2E"/>
                </a:solidFill>
                <a:latin typeface="Calibri"/>
              </a:rPr>
              <a:t>The forecast build-up adds</a:t>
            </a:r>
          </a:p>
        </p:txBody>
      </p:sp>
      <p:pic>
        <p:nvPicPr>
          <p:cNvPr id="58" name="Picture 57" descr="lock.png"/>
          <p:cNvPicPr>
            <a:picLocks noChangeAspect="1"/>
          </p:cNvPicPr>
          <p:nvPr/>
        </p:nvPicPr>
        <p:blipFill>
          <a:blip r:embed="rId8"/>
          <a:stretch>
            <a:fillRect/>
          </a:stretch>
        </p:blipFill>
        <p:spPr>
          <a:xfrm>
            <a:off x="7821530" y="5956680"/>
            <a:ext cx="128699" cy="187198"/>
          </a:xfrm>
          <a:prstGeom prst="rect">
            <a:avLst/>
          </a:prstGeom>
        </p:spPr>
      </p:pic>
      <p:sp>
        <p:nvSpPr>
          <p:cNvPr id="59" name="TextBox 58"/>
          <p:cNvSpPr txBox="1"/>
          <p:nvPr/>
        </p:nvSpPr>
        <p:spPr>
          <a:xfrm>
            <a:off x="7989026" y="5966460"/>
            <a:ext cx="3117130" cy="186689"/>
          </a:xfrm>
          <a:prstGeom prst="rect">
            <a:avLst/>
          </a:prstGeom>
          <a:noFill/>
        </p:spPr>
        <p:txBody>
          <a:bodyPr wrap="none" lIns="0" rIns="0" tIns="0" bIns="0">
            <a:spAutoFit/>
          </a:bodyPr>
          <a:lstStyle/>
          <a:p>
            <a:r>
              <a:rPr sz="1100" b="0">
                <a:solidFill>
                  <a:srgbClr val="2E2E2E"/>
                </a:solidFill>
                <a:latin typeface="Calibri"/>
              </a:rPr>
              <a:t>MT between 2026 and 2036 the U.S. market grows to</a:t>
            </a:r>
          </a:p>
        </p:txBody>
      </p:sp>
      <p:pic>
        <p:nvPicPr>
          <p:cNvPr id="60" name="Picture 59" descr="lock.png"/>
          <p:cNvPicPr>
            <a:picLocks noChangeAspect="1"/>
          </p:cNvPicPr>
          <p:nvPr/>
        </p:nvPicPr>
        <p:blipFill>
          <a:blip r:embed="rId8"/>
          <a:stretch>
            <a:fillRect/>
          </a:stretch>
        </p:blipFill>
        <p:spPr>
          <a:xfrm>
            <a:off x="11054208" y="5956680"/>
            <a:ext cx="128699" cy="187198"/>
          </a:xfrm>
          <a:prstGeom prst="rect">
            <a:avLst/>
          </a:prstGeom>
        </p:spPr>
      </p:pic>
      <p:sp>
        <p:nvSpPr>
          <p:cNvPr id="61" name="TextBox 60"/>
          <p:cNvSpPr txBox="1"/>
          <p:nvPr/>
        </p:nvSpPr>
        <p:spPr>
          <a:xfrm>
            <a:off x="11221704" y="5966460"/>
            <a:ext cx="311125" cy="186689"/>
          </a:xfrm>
          <a:prstGeom prst="rect">
            <a:avLst/>
          </a:prstGeom>
          <a:noFill/>
        </p:spPr>
        <p:txBody>
          <a:bodyPr wrap="none" lIns="0" rIns="0" tIns="0" bIns="0">
            <a:spAutoFit/>
          </a:bodyPr>
          <a:lstStyle/>
          <a:p>
            <a:r>
              <a:rPr sz="1100" b="0">
                <a:solidFill>
                  <a:srgbClr val="2E2E2E"/>
                </a:solidFill>
                <a:latin typeface="Calibri"/>
              </a:rPr>
              <a:t>× its</a:t>
            </a:r>
          </a:p>
        </p:txBody>
      </p:sp>
      <p:sp>
        <p:nvSpPr>
          <p:cNvPr id="62" name="TextBox 61"/>
          <p:cNvSpPr txBox="1"/>
          <p:nvPr/>
        </p:nvSpPr>
        <p:spPr>
          <a:xfrm>
            <a:off x="6286500" y="6134100"/>
            <a:ext cx="1590253" cy="186689"/>
          </a:xfrm>
          <a:prstGeom prst="rect">
            <a:avLst/>
          </a:prstGeom>
          <a:noFill/>
        </p:spPr>
        <p:txBody>
          <a:bodyPr wrap="none" lIns="0" rIns="0" tIns="0" bIns="0">
            <a:spAutoFit/>
          </a:bodyPr>
          <a:lstStyle/>
          <a:p>
            <a:r>
              <a:rPr sz="1100" b="0">
                <a:solidFill>
                  <a:srgbClr val="2E2E2E"/>
                </a:solidFill>
                <a:latin typeface="Calibri"/>
              </a:rPr>
              <a:t>2026 size over the decade.</a:t>
            </a:r>
          </a:p>
        </p:txBody>
      </p:sp>
      <p:sp>
        <p:nvSpPr>
          <p:cNvPr id="63" name="lockshield_16"/>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lockshield_19"/>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lockshield_24"/>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ockshield_27"/>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Senior Dog Cognitive Supplement Market Value Overview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U.S. market in value: size, growth, YoY momentum and gap to the Global benchmark</a:t>
            </a:r>
          </a:p>
        </p:txBody>
      </p:sp>
      <p:sp>
        <p:nvSpPr>
          <p:cNvPr id="10" name="Rounded Rectangle 9"/>
          <p:cNvSpPr/>
          <p:nvPr/>
        </p:nvSpPr>
        <p:spPr>
          <a:xfrm>
            <a:off x="1428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estimate year</a:t>
            </a:r>
          </a:p>
        </p:txBody>
      </p:sp>
      <p:sp>
        <p:nvSpPr>
          <p:cNvPr id="11" name="Rounded Rectangle 10"/>
          <p:cNvSpPr/>
          <p:nvPr/>
        </p:nvSpPr>
        <p:spPr>
          <a:xfrm>
            <a:off x="31527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forecast horizon</a:t>
            </a:r>
          </a:p>
        </p:txBody>
      </p:sp>
      <p:sp>
        <p:nvSpPr>
          <p:cNvPr id="12" name="Rounded Rectangle 11"/>
          <p:cNvSpPr/>
          <p:nvPr/>
        </p:nvSpPr>
        <p:spPr>
          <a:xfrm>
            <a:off x="61626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0E72AE"/>
                </a:solidFill>
                <a:latin typeface="Calibri"/>
              </a:rPr>
              <a:t> </a:t>
            </a:r>
          </a:p>
        </p:txBody>
      </p:sp>
      <p:sp>
        <p:nvSpPr>
          <p:cNvPr id="13" name="Rounded Rectangle 12"/>
          <p:cNvSpPr/>
          <p:nvPr/>
        </p:nvSpPr>
        <p:spPr>
          <a:xfrm>
            <a:off x="91725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819275"/>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(US$ Mn), 2021–2036</a:t>
            </a:r>
          </a:p>
        </p:txBody>
      </p:sp>
      <p:graphicFrame>
        <p:nvGraphicFramePr>
          <p:cNvPr id="16" name="Chart 15"/>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7" name="Rounded Rectangle 16"/>
          <p:cNvSpPr/>
          <p:nvPr/>
        </p:nvSpPr>
        <p:spPr>
          <a:xfrm>
            <a:off x="4991100" y="1819275"/>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19" name="Chart 18"/>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20" name="TextBox 19"/>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44D3A"/>
                </a:solidFill>
                <a:latin typeface="Calibri"/>
              </a:rPr>
              <a:t> </a:t>
            </a:r>
          </a:p>
          <a:p>
            <a:pPr algn="ctr"/>
            <a:r>
              <a:rPr sz="1100" b="0">
                <a:solidFill>
                  <a:srgbClr val="6C7A89"/>
                </a:solidFill>
                <a:latin typeface="Calibri"/>
              </a:rPr>
              <a:t>vs North America benchmark</a:t>
            </a:r>
          </a:p>
          <a:p>
            <a:pPr algn="ctr"/>
            <a:r>
              <a:rPr sz="1100" b="1">
                <a:solidFill>
                  <a:srgbClr val="E44D3A"/>
                </a:solidFill>
                <a:latin typeface="Calibri"/>
              </a:rPr>
              <a:t>▼ below benchmark</a:t>
            </a:r>
          </a:p>
        </p:txBody>
      </p:sp>
      <p:sp>
        <p:nvSpPr>
          <p:cNvPr id="21" name="TextBox 20"/>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22" name="Rounded Rectangle 21"/>
          <p:cNvSpPr/>
          <p:nvPr/>
        </p:nvSpPr>
        <p:spPr>
          <a:xfrm>
            <a:off x="142875" y="3733800"/>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(US$ Mn)</a:t>
            </a:r>
          </a:p>
        </p:txBody>
      </p:sp>
      <p:graphicFrame>
        <p:nvGraphicFramePr>
          <p:cNvPr id="24" name="Chart 23"/>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5" name="Rounded Rectangle 24"/>
          <p:cNvSpPr/>
          <p:nvPr/>
        </p:nvSpPr>
        <p:spPr>
          <a:xfrm>
            <a:off x="4991100" y="3733800"/>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Share, 2026</a:t>
            </a:r>
          </a:p>
        </p:txBody>
      </p:sp>
      <p:graphicFrame>
        <p:nvGraphicFramePr>
          <p:cNvPr id="27" name="Chart 26"/>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8" name="Rounded Rectangle 27"/>
          <p:cNvSpPr/>
          <p:nvPr/>
        </p:nvSpPr>
        <p:spPr>
          <a:xfrm>
            <a:off x="142875"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9" name="Rounded Rectangle 28"/>
          <p:cNvSpPr/>
          <p:nvPr/>
        </p:nvSpPr>
        <p:spPr>
          <a:xfrm>
            <a:off x="6172200"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8"/>
          <a:stretch>
            <a:fillRect/>
          </a:stretch>
        </p:blipFill>
        <p:spPr>
          <a:xfrm>
            <a:off x="1493044" y="1219200"/>
            <a:ext cx="157162" cy="228600"/>
          </a:xfrm>
          <a:prstGeom prst="rect">
            <a:avLst/>
          </a:prstGeom>
        </p:spPr>
      </p:pic>
      <p:pic>
        <p:nvPicPr>
          <p:cNvPr id="32" name="Picture 31" descr="lock.png"/>
          <p:cNvPicPr>
            <a:picLocks noChangeAspect="1"/>
          </p:cNvPicPr>
          <p:nvPr/>
        </p:nvPicPr>
        <p:blipFill>
          <a:blip r:embed="rId8"/>
          <a:stretch>
            <a:fillRect/>
          </a:stretch>
        </p:blipFill>
        <p:spPr>
          <a:xfrm>
            <a:off x="4502944" y="1219200"/>
            <a:ext cx="157162" cy="228600"/>
          </a:xfrm>
          <a:prstGeom prst="rect">
            <a:avLst/>
          </a:prstGeom>
        </p:spPr>
      </p:pic>
      <p:pic>
        <p:nvPicPr>
          <p:cNvPr id="33" name="Picture 32" descr="lock.png"/>
          <p:cNvPicPr>
            <a:picLocks noChangeAspect="1"/>
          </p:cNvPicPr>
          <p:nvPr/>
        </p:nvPicPr>
        <p:blipFill>
          <a:blip r:embed="rId8"/>
          <a:stretch>
            <a:fillRect/>
          </a:stretch>
        </p:blipFill>
        <p:spPr>
          <a:xfrm>
            <a:off x="7512844" y="1303020"/>
            <a:ext cx="157162" cy="228600"/>
          </a:xfrm>
          <a:prstGeom prst="rect">
            <a:avLst/>
          </a:prstGeom>
        </p:spPr>
      </p:pic>
      <p:pic>
        <p:nvPicPr>
          <p:cNvPr id="34" name="Picture 33" descr="lock.png"/>
          <p:cNvPicPr>
            <a:picLocks noChangeAspect="1"/>
          </p:cNvPicPr>
          <p:nvPr/>
        </p:nvPicPr>
        <p:blipFill>
          <a:blip r:embed="rId8"/>
          <a:stretch>
            <a:fillRect/>
          </a:stretch>
        </p:blipFill>
        <p:spPr>
          <a:xfrm>
            <a:off x="10522744" y="1303020"/>
            <a:ext cx="157162" cy="228600"/>
          </a:xfrm>
          <a:prstGeom prst="rect">
            <a:avLst/>
          </a:prstGeom>
        </p:spPr>
      </p:pic>
      <p:pic>
        <p:nvPicPr>
          <p:cNvPr id="35" name="Picture 34" descr="lock.png"/>
          <p:cNvPicPr>
            <a:picLocks noChangeAspect="1"/>
          </p:cNvPicPr>
          <p:nvPr/>
        </p:nvPicPr>
        <p:blipFill>
          <a:blip r:embed="rId8"/>
          <a:stretch>
            <a:fillRect/>
          </a:stretch>
        </p:blipFill>
        <p:spPr>
          <a:xfrm>
            <a:off x="2554414" y="2661285"/>
            <a:ext cx="165021" cy="240030"/>
          </a:xfrm>
          <a:prstGeom prst="rect">
            <a:avLst/>
          </a:prstGeom>
        </p:spPr>
      </p:pic>
      <p:pic>
        <p:nvPicPr>
          <p:cNvPr id="36" name="Picture 35" descr="lock.png"/>
          <p:cNvPicPr>
            <a:picLocks noChangeAspect="1"/>
          </p:cNvPicPr>
          <p:nvPr/>
        </p:nvPicPr>
        <p:blipFill>
          <a:blip r:embed="rId8"/>
          <a:stretch>
            <a:fillRect/>
          </a:stretch>
        </p:blipFill>
        <p:spPr>
          <a:xfrm>
            <a:off x="6762365" y="2599095"/>
            <a:ext cx="191595" cy="278683"/>
          </a:xfrm>
          <a:prstGeom prst="rect">
            <a:avLst/>
          </a:prstGeom>
        </p:spPr>
      </p:pic>
      <p:pic>
        <p:nvPicPr>
          <p:cNvPr id="37" name="Picture 36" descr="lock.png"/>
          <p:cNvPicPr>
            <a:picLocks noChangeAspect="1"/>
          </p:cNvPicPr>
          <p:nvPr/>
        </p:nvPicPr>
        <p:blipFill>
          <a:blip r:embed="rId8"/>
          <a:stretch>
            <a:fillRect/>
          </a:stretch>
        </p:blipFill>
        <p:spPr>
          <a:xfrm>
            <a:off x="9878378" y="2141220"/>
            <a:ext cx="230504" cy="335279"/>
          </a:xfrm>
          <a:prstGeom prst="rect">
            <a:avLst/>
          </a:prstGeom>
        </p:spPr>
      </p:pic>
      <p:pic>
        <p:nvPicPr>
          <p:cNvPr id="38" name="Picture 37" descr="lock.png"/>
          <p:cNvPicPr>
            <a:picLocks noChangeAspect="1"/>
          </p:cNvPicPr>
          <p:nvPr/>
        </p:nvPicPr>
        <p:blipFill>
          <a:blip r:embed="rId8"/>
          <a:stretch>
            <a:fillRect/>
          </a:stretch>
        </p:blipFill>
        <p:spPr>
          <a:xfrm>
            <a:off x="2554414" y="4575810"/>
            <a:ext cx="165021" cy="240030"/>
          </a:xfrm>
          <a:prstGeom prst="rect">
            <a:avLst/>
          </a:prstGeom>
        </p:spPr>
      </p:pic>
      <p:pic>
        <p:nvPicPr>
          <p:cNvPr id="39" name="Picture 38" descr="lock.png"/>
          <p:cNvPicPr>
            <a:picLocks noChangeAspect="1"/>
          </p:cNvPicPr>
          <p:nvPr/>
        </p:nvPicPr>
        <p:blipFill>
          <a:blip r:embed="rId8"/>
          <a:stretch>
            <a:fillRect/>
          </a:stretch>
        </p:blipFill>
        <p:spPr>
          <a:xfrm>
            <a:off x="8715708" y="4462938"/>
            <a:ext cx="261282" cy="380047"/>
          </a:xfrm>
          <a:prstGeom prst="rect">
            <a:avLst/>
          </a:prstGeom>
        </p:spPr>
      </p:pic>
      <p:sp>
        <p:nvSpPr>
          <p:cNvPr id="40" name="TextBox 39"/>
          <p:cNvSpPr txBox="1"/>
          <p:nvPr/>
        </p:nvSpPr>
        <p:spPr>
          <a:xfrm>
            <a:off x="8071485" y="2876550"/>
            <a:ext cx="3359422" cy="186689"/>
          </a:xfrm>
          <a:prstGeom prst="rect">
            <a:avLst/>
          </a:prstGeom>
          <a:noFill/>
        </p:spPr>
        <p:txBody>
          <a:bodyPr wrap="none" lIns="0" rIns="0" tIns="0" bIns="0">
            <a:spAutoFit/>
          </a:bodyPr>
          <a:lstStyle/>
          <a:p>
            <a:r>
              <a:rPr sz="1100" b="0">
                <a:solidFill>
                  <a:srgbClr val="2E2E2E"/>
                </a:solidFill>
                <a:latin typeface="Calibri"/>
              </a:rPr>
              <a:t>U.S.'s senior dog cognitive supplement market expands at</a:t>
            </a:r>
          </a:p>
        </p:txBody>
      </p:sp>
      <p:pic>
        <p:nvPicPr>
          <p:cNvPr id="41" name="Picture 40" descr="lock.png"/>
          <p:cNvPicPr>
            <a:picLocks noChangeAspect="1"/>
          </p:cNvPicPr>
          <p:nvPr/>
        </p:nvPicPr>
        <p:blipFill>
          <a:blip r:embed="rId8"/>
          <a:stretch>
            <a:fillRect/>
          </a:stretch>
        </p:blipFill>
        <p:spPr>
          <a:xfrm>
            <a:off x="11378959" y="2866771"/>
            <a:ext cx="128699" cy="187198"/>
          </a:xfrm>
          <a:prstGeom prst="rect">
            <a:avLst/>
          </a:prstGeom>
        </p:spPr>
      </p:pic>
      <p:sp>
        <p:nvSpPr>
          <p:cNvPr id="42" name="TextBox 41"/>
          <p:cNvSpPr txBox="1"/>
          <p:nvPr/>
        </p:nvSpPr>
        <p:spPr>
          <a:xfrm>
            <a:off x="8071485" y="3044190"/>
            <a:ext cx="3569228" cy="186689"/>
          </a:xfrm>
          <a:prstGeom prst="rect">
            <a:avLst/>
          </a:prstGeom>
          <a:noFill/>
        </p:spPr>
        <p:txBody>
          <a:bodyPr wrap="none" lIns="0" rIns="0" tIns="0" bIns="0">
            <a:spAutoFit/>
          </a:bodyPr>
          <a:lstStyle/>
          <a:p>
            <a:r>
              <a:rPr sz="1100" b="0">
                <a:solidFill>
                  <a:srgbClr val="2E2E2E"/>
                </a:solidFill>
                <a:latin typeface="Calibri"/>
              </a:rPr>
              <a:t>CAGR through 2036, trailing the North America benchmark of</a:t>
            </a:r>
          </a:p>
        </p:txBody>
      </p:sp>
      <p:pic>
        <p:nvPicPr>
          <p:cNvPr id="43" name="Picture 42" descr="lock.png"/>
          <p:cNvPicPr>
            <a:picLocks noChangeAspect="1"/>
          </p:cNvPicPr>
          <p:nvPr/>
        </p:nvPicPr>
        <p:blipFill>
          <a:blip r:embed="rId8"/>
          <a:stretch>
            <a:fillRect/>
          </a:stretch>
        </p:blipFill>
        <p:spPr>
          <a:xfrm>
            <a:off x="11588765" y="3034411"/>
            <a:ext cx="128699" cy="187198"/>
          </a:xfrm>
          <a:prstGeom prst="rect">
            <a:avLst/>
          </a:prstGeom>
        </p:spPr>
      </p:pic>
      <p:sp>
        <p:nvSpPr>
          <p:cNvPr id="44" name="TextBox 43"/>
          <p:cNvSpPr txBox="1"/>
          <p:nvPr/>
        </p:nvSpPr>
        <p:spPr>
          <a:xfrm>
            <a:off x="8071485" y="321183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5" name="Picture 44" descr="lock.png"/>
          <p:cNvPicPr>
            <a:picLocks noChangeAspect="1"/>
          </p:cNvPicPr>
          <p:nvPr/>
        </p:nvPicPr>
        <p:blipFill>
          <a:blip r:embed="rId8"/>
          <a:stretch>
            <a:fillRect/>
          </a:stretch>
        </p:blipFill>
        <p:spPr>
          <a:xfrm>
            <a:off x="8232435" y="3202051"/>
            <a:ext cx="128699" cy="187198"/>
          </a:xfrm>
          <a:prstGeom prst="rect">
            <a:avLst/>
          </a:prstGeom>
        </p:spPr>
      </p:pic>
      <p:sp>
        <p:nvSpPr>
          <p:cNvPr id="46" name="TextBox 45"/>
          <p:cNvSpPr txBox="1"/>
          <p:nvPr/>
        </p:nvSpPr>
        <p:spPr>
          <a:xfrm>
            <a:off x="8399931" y="321183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7" name="TextBox 46"/>
          <p:cNvSpPr txBox="1"/>
          <p:nvPr/>
        </p:nvSpPr>
        <p:spPr>
          <a:xfrm>
            <a:off x="257175" y="5966460"/>
            <a:ext cx="639365" cy="186689"/>
          </a:xfrm>
          <a:prstGeom prst="rect">
            <a:avLst/>
          </a:prstGeom>
          <a:noFill/>
        </p:spPr>
        <p:txBody>
          <a:bodyPr wrap="none" lIns="0" rIns="0" tIns="0" bIns="0">
            <a:spAutoFit/>
          </a:bodyPr>
          <a:lstStyle/>
          <a:p>
            <a:r>
              <a:rPr sz="1100" b="0">
                <a:solidFill>
                  <a:srgbClr val="2E2E2E"/>
                </a:solidFill>
                <a:latin typeface="Calibri"/>
              </a:rPr>
              <a:t>U.S. holds</a:t>
            </a:r>
          </a:p>
        </p:txBody>
      </p:sp>
      <p:pic>
        <p:nvPicPr>
          <p:cNvPr id="48" name="Picture 47" descr="lock.png"/>
          <p:cNvPicPr>
            <a:picLocks noChangeAspect="1"/>
          </p:cNvPicPr>
          <p:nvPr/>
        </p:nvPicPr>
        <p:blipFill>
          <a:blip r:embed="rId8"/>
          <a:stretch>
            <a:fillRect/>
          </a:stretch>
        </p:blipFill>
        <p:spPr>
          <a:xfrm>
            <a:off x="844592" y="5956680"/>
            <a:ext cx="128699" cy="187198"/>
          </a:xfrm>
          <a:prstGeom prst="rect">
            <a:avLst/>
          </a:prstGeom>
        </p:spPr>
      </p:pic>
      <p:sp>
        <p:nvSpPr>
          <p:cNvPr id="49" name="TextBox 48"/>
          <p:cNvSpPr txBox="1"/>
          <p:nvPr/>
        </p:nvSpPr>
        <p:spPr>
          <a:xfrm>
            <a:off x="1012088"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50" name="Picture 49" descr="lock.png"/>
          <p:cNvPicPr>
            <a:picLocks noChangeAspect="1"/>
          </p:cNvPicPr>
          <p:nvPr/>
        </p:nvPicPr>
        <p:blipFill>
          <a:blip r:embed="rId8"/>
          <a:stretch>
            <a:fillRect/>
          </a:stretch>
        </p:blipFill>
        <p:spPr>
          <a:xfrm>
            <a:off x="1995140" y="5956680"/>
            <a:ext cx="128699" cy="187198"/>
          </a:xfrm>
          <a:prstGeom prst="rect">
            <a:avLst/>
          </a:prstGeom>
        </p:spPr>
      </p:pic>
      <p:sp>
        <p:nvSpPr>
          <p:cNvPr id="51" name="TextBox 50"/>
          <p:cNvSpPr txBox="1"/>
          <p:nvPr/>
        </p:nvSpPr>
        <p:spPr>
          <a:xfrm>
            <a:off x="2162635" y="5966460"/>
            <a:ext cx="3165152" cy="186689"/>
          </a:xfrm>
          <a:prstGeom prst="rect">
            <a:avLst/>
          </a:prstGeom>
          <a:noFill/>
        </p:spPr>
        <p:txBody>
          <a:bodyPr wrap="none" lIns="0" rIns="0" tIns="0" bIns="0">
            <a:spAutoFit/>
          </a:bodyPr>
          <a:lstStyle/>
          <a:p>
            <a:r>
              <a:rPr sz="1100" b="0">
                <a:solidFill>
                  <a:srgbClr val="2E2E2E"/>
                </a:solidFill>
                <a:latin typeface="Calibri"/>
              </a:rPr>
              <a:t>of the North America senior dog cognitive supplement</a:t>
            </a:r>
          </a:p>
        </p:txBody>
      </p:sp>
      <p:sp>
        <p:nvSpPr>
          <p:cNvPr id="52" name="TextBox 51"/>
          <p:cNvSpPr txBox="1"/>
          <p:nvPr/>
        </p:nvSpPr>
        <p:spPr>
          <a:xfrm>
            <a:off x="257175" y="6134100"/>
            <a:ext cx="2708399" cy="186689"/>
          </a:xfrm>
          <a:prstGeom prst="rect">
            <a:avLst/>
          </a:prstGeom>
          <a:noFill/>
        </p:spPr>
        <p:txBody>
          <a:bodyPr wrap="none" lIns="0" rIns="0" tIns="0" bIns="0">
            <a:spAutoFit/>
          </a:bodyPr>
          <a:lstStyle/>
          <a:p>
            <a:r>
              <a:rPr sz="1100" b="0">
                <a:solidFill>
                  <a:srgbClr val="2E2E2E"/>
                </a:solidFill>
                <a:latin typeface="Calibri"/>
              </a:rPr>
              <a:t>market in 2026; by 2036 those shares move to</a:t>
            </a:r>
          </a:p>
        </p:txBody>
      </p:sp>
      <p:pic>
        <p:nvPicPr>
          <p:cNvPr id="53" name="Picture 52" descr="lock.png"/>
          <p:cNvPicPr>
            <a:picLocks noChangeAspect="1"/>
          </p:cNvPicPr>
          <p:nvPr/>
        </p:nvPicPr>
        <p:blipFill>
          <a:blip r:embed="rId8"/>
          <a:stretch>
            <a:fillRect/>
          </a:stretch>
        </p:blipFill>
        <p:spPr>
          <a:xfrm>
            <a:off x="2913625" y="6124320"/>
            <a:ext cx="128699" cy="187198"/>
          </a:xfrm>
          <a:prstGeom prst="rect">
            <a:avLst/>
          </a:prstGeom>
        </p:spPr>
      </p:pic>
      <p:sp>
        <p:nvSpPr>
          <p:cNvPr id="54" name="TextBox 53"/>
          <p:cNvSpPr txBox="1"/>
          <p:nvPr/>
        </p:nvSpPr>
        <p:spPr>
          <a:xfrm>
            <a:off x="3081121"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5" name="Picture 54" descr="lock.png"/>
          <p:cNvPicPr>
            <a:picLocks noChangeAspect="1"/>
          </p:cNvPicPr>
          <p:nvPr/>
        </p:nvPicPr>
        <p:blipFill>
          <a:blip r:embed="rId8"/>
          <a:stretch>
            <a:fillRect/>
          </a:stretch>
        </p:blipFill>
        <p:spPr>
          <a:xfrm>
            <a:off x="3319015" y="6124320"/>
            <a:ext cx="128699" cy="187198"/>
          </a:xfrm>
          <a:prstGeom prst="rect">
            <a:avLst/>
          </a:prstGeom>
        </p:spPr>
      </p:pic>
      <p:sp>
        <p:nvSpPr>
          <p:cNvPr id="56" name="TextBox 55"/>
          <p:cNvSpPr txBox="1"/>
          <p:nvPr/>
        </p:nvSpPr>
        <p:spPr>
          <a:xfrm>
            <a:off x="3486511"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7" name="TextBox 56"/>
          <p:cNvSpPr txBox="1"/>
          <p:nvPr/>
        </p:nvSpPr>
        <p:spPr>
          <a:xfrm>
            <a:off x="6286500" y="5882640"/>
            <a:ext cx="3103215" cy="186689"/>
          </a:xfrm>
          <a:prstGeom prst="rect">
            <a:avLst/>
          </a:prstGeom>
          <a:noFill/>
        </p:spPr>
        <p:txBody>
          <a:bodyPr wrap="none" lIns="0" rIns="0" tIns="0" bIns="0">
            <a:spAutoFit/>
          </a:bodyPr>
          <a:lstStyle/>
          <a:p>
            <a:r>
              <a:rPr sz="1100" b="0">
                <a:solidFill>
                  <a:srgbClr val="2E2E2E"/>
                </a:solidFill>
                <a:latin typeface="Calibri"/>
              </a:rPr>
              <a:t>The market in the U.S. is expected to account for US$</a:t>
            </a:r>
          </a:p>
        </p:txBody>
      </p:sp>
      <p:pic>
        <p:nvPicPr>
          <p:cNvPr id="58" name="Picture 57" descr="lock.png"/>
          <p:cNvPicPr>
            <a:picLocks noChangeAspect="1"/>
          </p:cNvPicPr>
          <p:nvPr/>
        </p:nvPicPr>
        <p:blipFill>
          <a:blip r:embed="rId8"/>
          <a:stretch>
            <a:fillRect/>
          </a:stretch>
        </p:blipFill>
        <p:spPr>
          <a:xfrm>
            <a:off x="9337766" y="5872860"/>
            <a:ext cx="128699" cy="187198"/>
          </a:xfrm>
          <a:prstGeom prst="rect">
            <a:avLst/>
          </a:prstGeom>
        </p:spPr>
      </p:pic>
      <p:sp>
        <p:nvSpPr>
          <p:cNvPr id="59" name="TextBox 58"/>
          <p:cNvSpPr txBox="1"/>
          <p:nvPr/>
        </p:nvSpPr>
        <p:spPr>
          <a:xfrm>
            <a:off x="9505262" y="5882640"/>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60" name="Picture 59" descr="lock.png"/>
          <p:cNvPicPr>
            <a:picLocks noChangeAspect="1"/>
          </p:cNvPicPr>
          <p:nvPr/>
        </p:nvPicPr>
        <p:blipFill>
          <a:blip r:embed="rId8"/>
          <a:stretch>
            <a:fillRect/>
          </a:stretch>
        </p:blipFill>
        <p:spPr>
          <a:xfrm>
            <a:off x="10948871" y="5872860"/>
            <a:ext cx="128699" cy="187198"/>
          </a:xfrm>
          <a:prstGeom prst="rect">
            <a:avLst/>
          </a:prstGeom>
        </p:spPr>
      </p:pic>
      <p:sp>
        <p:nvSpPr>
          <p:cNvPr id="61" name="TextBox 60"/>
          <p:cNvSpPr txBox="1"/>
          <p:nvPr/>
        </p:nvSpPr>
        <p:spPr>
          <a:xfrm>
            <a:off x="11116366" y="5882640"/>
            <a:ext cx="552871" cy="186689"/>
          </a:xfrm>
          <a:prstGeom prst="rect">
            <a:avLst/>
          </a:prstGeom>
          <a:noFill/>
        </p:spPr>
        <p:txBody>
          <a:bodyPr wrap="none" lIns="0" rIns="0" tIns="0" bIns="0">
            <a:spAutoFit/>
          </a:bodyPr>
          <a:lstStyle/>
          <a:p>
            <a:r>
              <a:rPr sz="1100" b="0">
                <a:solidFill>
                  <a:srgbClr val="2E2E2E"/>
                </a:solidFill>
                <a:latin typeface="Calibri"/>
              </a:rPr>
              <a:t>over the</a:t>
            </a:r>
          </a:p>
        </p:txBody>
      </p:sp>
      <p:sp>
        <p:nvSpPr>
          <p:cNvPr id="62" name="TextBox 61"/>
          <p:cNvSpPr txBox="1"/>
          <p:nvPr/>
        </p:nvSpPr>
        <p:spPr>
          <a:xfrm>
            <a:off x="6286500" y="6050280"/>
            <a:ext cx="4694758" cy="186689"/>
          </a:xfrm>
          <a:prstGeom prst="rect">
            <a:avLst/>
          </a:prstGeom>
          <a:noFill/>
        </p:spPr>
        <p:txBody>
          <a:bodyPr wrap="none" lIns="0" rIns="0" tIns="0" bIns="0">
            <a:spAutoFit/>
          </a:bodyPr>
          <a:lstStyle/>
          <a:p>
            <a:r>
              <a:rPr sz="1100" b="0">
                <a:solidFill>
                  <a:srgbClr val="2E2E2E"/>
                </a:solidFill>
                <a:latin typeface="Calibri"/>
              </a:rPr>
              <a:t>forecast period. The U.S. is expected to create an incremental opportunity of US$</a:t>
            </a:r>
          </a:p>
        </p:txBody>
      </p:sp>
      <p:pic>
        <p:nvPicPr>
          <p:cNvPr id="63" name="Picture 62" descr="lock.png"/>
          <p:cNvPicPr>
            <a:picLocks noChangeAspect="1"/>
          </p:cNvPicPr>
          <p:nvPr/>
        </p:nvPicPr>
        <p:blipFill>
          <a:blip r:embed="rId8"/>
          <a:stretch>
            <a:fillRect/>
          </a:stretch>
        </p:blipFill>
        <p:spPr>
          <a:xfrm>
            <a:off x="10929309" y="6040501"/>
            <a:ext cx="128699" cy="187198"/>
          </a:xfrm>
          <a:prstGeom prst="rect">
            <a:avLst/>
          </a:prstGeom>
        </p:spPr>
      </p:pic>
      <p:sp>
        <p:nvSpPr>
          <p:cNvPr id="64" name="TextBox 63"/>
          <p:cNvSpPr txBox="1"/>
          <p:nvPr/>
        </p:nvSpPr>
        <p:spPr>
          <a:xfrm>
            <a:off x="11096805" y="6050280"/>
            <a:ext cx="687387" cy="186689"/>
          </a:xfrm>
          <a:prstGeom prst="rect">
            <a:avLst/>
          </a:prstGeom>
          <a:noFill/>
        </p:spPr>
        <p:txBody>
          <a:bodyPr wrap="none" lIns="0" rIns="0" tIns="0" bIns="0">
            <a:spAutoFit/>
          </a:bodyPr>
          <a:lstStyle/>
          <a:p>
            <a:r>
              <a:rPr sz="1100" b="0">
                <a:solidFill>
                  <a:srgbClr val="2E2E2E"/>
                </a:solidFill>
                <a:latin typeface="Calibri"/>
              </a:rPr>
              <a:t>Mn for the</a:t>
            </a:r>
          </a:p>
        </p:txBody>
      </p:sp>
      <p:sp>
        <p:nvSpPr>
          <p:cNvPr id="65" name="TextBox 64"/>
          <p:cNvSpPr txBox="1"/>
          <p:nvPr/>
        </p:nvSpPr>
        <p:spPr>
          <a:xfrm>
            <a:off x="6286500" y="6217920"/>
            <a:ext cx="3913857" cy="186689"/>
          </a:xfrm>
          <a:prstGeom prst="rect">
            <a:avLst/>
          </a:prstGeom>
          <a:noFill/>
        </p:spPr>
        <p:txBody>
          <a:bodyPr wrap="none" lIns="0" rIns="0" tIns="0" bIns="0">
            <a:spAutoFit/>
          </a:bodyPr>
          <a:lstStyle/>
          <a:p>
            <a:r>
              <a:rPr sz="1100" b="0">
                <a:solidFill>
                  <a:srgbClr val="2E2E2E"/>
                </a:solidFill>
                <a:latin typeface="Calibri"/>
              </a:rPr>
              <a:t>overall senior dog cognitive supplement market from 2025 to 2036.</a:t>
            </a:r>
          </a:p>
        </p:txBody>
      </p:sp>
      <p:sp>
        <p:nvSpPr>
          <p:cNvPr id="66" name="lockshield_16"/>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ockshield_19"/>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lockshield_24"/>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lockshield_27"/>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Senior Dog Cognitive Supplement Market Key Segments Overview, By Value (2026)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U.S.'s key segments by value, highlighting the leading sub-segment of every segmentation</a:t>
            </a:r>
          </a:p>
        </p:txBody>
      </p:sp>
      <p:sp>
        <p:nvSpPr>
          <p:cNvPr id="10" name="Rounded Rectangle 9"/>
          <p:cNvSpPr/>
          <p:nvPr/>
        </p:nvSpPr>
        <p:spPr>
          <a:xfrm>
            <a:off x="142875" y="981075"/>
            <a:ext cx="2857500" cy="1771650"/>
          </a:xfrm>
          <a:prstGeom prst="roundRect">
            <a:avLst>
              <a:gd name="adj" fmla="val 43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Form Type  (US$ Mn)</a:t>
            </a:r>
          </a:p>
        </p:txBody>
      </p:sp>
      <p:graphicFrame>
        <p:nvGraphicFramePr>
          <p:cNvPr id="12" name="Chart 11"/>
          <p:cNvGraphicFramePr>
            <a:graphicFrameLocks noGrp="1"/>
          </p:cNvGraphicFramePr>
          <p:nvPr/>
        </p:nvGraphicFramePr>
        <p:xfrm>
          <a:off x="238125" y="1266825"/>
          <a:ext cx="2667000" cy="1428750"/>
        </p:xfrm>
        <a:graphic>
          <a:graphicData uri="http://schemas.openxmlformats.org/drawingml/2006/chart">
            <c:chart xmlns:c="http://schemas.openxmlformats.org/drawingml/2006/chart" r:id="rId3"/>
          </a:graphicData>
        </a:graphic>
      </p:graphicFrame>
      <p:sp>
        <p:nvSpPr>
          <p:cNvPr id="13" name="Rounded Rectangle 12"/>
          <p:cNvSpPr/>
          <p:nvPr/>
        </p:nvSpPr>
        <p:spPr>
          <a:xfrm>
            <a:off x="3152775" y="981075"/>
            <a:ext cx="2857500" cy="1771650"/>
          </a:xfrm>
          <a:prstGeom prst="roundRect">
            <a:avLst>
              <a:gd name="adj" fmla="val 43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480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Active Ingredient  (US$ Mn)</a:t>
            </a:r>
          </a:p>
        </p:txBody>
      </p:sp>
      <p:graphicFrame>
        <p:nvGraphicFramePr>
          <p:cNvPr id="15" name="Chart 14"/>
          <p:cNvGraphicFramePr>
            <a:graphicFrameLocks noGrp="1"/>
          </p:cNvGraphicFramePr>
          <p:nvPr/>
        </p:nvGraphicFramePr>
        <p:xfrm>
          <a:off x="3248025" y="1266825"/>
          <a:ext cx="2667000" cy="1428750"/>
        </p:xfrm>
        <a:graphic>
          <a:graphicData uri="http://schemas.openxmlformats.org/drawingml/2006/chart">
            <c:chart xmlns:c="http://schemas.openxmlformats.org/drawingml/2006/chart" r:id="rId4"/>
          </a:graphicData>
        </a:graphic>
      </p:graphicFrame>
      <p:sp>
        <p:nvSpPr>
          <p:cNvPr id="16" name="Rounded Rectangle 15"/>
          <p:cNvSpPr/>
          <p:nvPr/>
        </p:nvSpPr>
        <p:spPr>
          <a:xfrm>
            <a:off x="6162675" y="981075"/>
            <a:ext cx="2857500" cy="1771650"/>
          </a:xfrm>
          <a:prstGeom prst="roundRect">
            <a:avLst>
              <a:gd name="adj" fmla="val 43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579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End-use Application  (US$ Mn)</a:t>
            </a:r>
          </a:p>
        </p:txBody>
      </p:sp>
      <p:graphicFrame>
        <p:nvGraphicFramePr>
          <p:cNvPr id="18" name="Chart 17"/>
          <p:cNvGraphicFramePr>
            <a:graphicFrameLocks noGrp="1"/>
          </p:cNvGraphicFramePr>
          <p:nvPr/>
        </p:nvGraphicFramePr>
        <p:xfrm>
          <a:off x="6257925" y="1266825"/>
          <a:ext cx="2667000" cy="1428750"/>
        </p:xfrm>
        <a:graphic>
          <a:graphicData uri="http://schemas.openxmlformats.org/drawingml/2006/chart">
            <c:chart xmlns:c="http://schemas.openxmlformats.org/drawingml/2006/chart" r:id="rId5"/>
          </a:graphicData>
        </a:graphic>
      </p:graphicFrame>
      <p:sp>
        <p:nvSpPr>
          <p:cNvPr id="19" name="Rounded Rectangle 18"/>
          <p:cNvSpPr/>
          <p:nvPr/>
        </p:nvSpPr>
        <p:spPr>
          <a:xfrm>
            <a:off x="9172575" y="981075"/>
            <a:ext cx="2857500" cy="1771650"/>
          </a:xfrm>
          <a:prstGeom prst="roundRect">
            <a:avLst>
              <a:gd name="adj" fmla="val 43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678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Packaging Format  (US$ Mn)</a:t>
            </a:r>
          </a:p>
        </p:txBody>
      </p:sp>
      <p:graphicFrame>
        <p:nvGraphicFramePr>
          <p:cNvPr id="21" name="Chart 20"/>
          <p:cNvGraphicFramePr>
            <a:graphicFrameLocks noGrp="1"/>
          </p:cNvGraphicFramePr>
          <p:nvPr/>
        </p:nvGraphicFramePr>
        <p:xfrm>
          <a:off x="9267825" y="1266825"/>
          <a:ext cx="2667000" cy="1428750"/>
        </p:xfrm>
        <a:graphic>
          <a:graphicData uri="http://schemas.openxmlformats.org/drawingml/2006/chart">
            <c:chart xmlns:c="http://schemas.openxmlformats.org/drawingml/2006/chart" r:id="rId6"/>
          </a:graphicData>
        </a:graphic>
      </p:graphicFrame>
      <p:sp>
        <p:nvSpPr>
          <p:cNvPr id="22" name="Rounded Rectangle 21"/>
          <p:cNvSpPr/>
          <p:nvPr/>
        </p:nvSpPr>
        <p:spPr>
          <a:xfrm>
            <a:off x="142875" y="2886075"/>
            <a:ext cx="2971800" cy="1771650"/>
          </a:xfrm>
          <a:prstGeom prst="roundRect">
            <a:avLst>
              <a:gd name="adj" fmla="val 43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8125" y="2943225"/>
            <a:ext cx="27813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Sales Channel  (US$ Mn)</a:t>
            </a:r>
          </a:p>
        </p:txBody>
      </p:sp>
      <p:graphicFrame>
        <p:nvGraphicFramePr>
          <p:cNvPr id="24" name="Chart 23"/>
          <p:cNvGraphicFramePr>
            <a:graphicFrameLocks noGrp="1"/>
          </p:cNvGraphicFramePr>
          <p:nvPr/>
        </p:nvGraphicFramePr>
        <p:xfrm>
          <a:off x="238125" y="3171825"/>
          <a:ext cx="2781300" cy="1428750"/>
        </p:xfrm>
        <a:graphic>
          <a:graphicData uri="http://schemas.openxmlformats.org/drawingml/2006/chart">
            <c:chart xmlns:c="http://schemas.openxmlformats.org/drawingml/2006/chart" r:id="rId7"/>
          </a:graphicData>
        </a:graphic>
      </p:graphicFrame>
      <p:sp>
        <p:nvSpPr>
          <p:cNvPr id="25" name="Rounded Rectangle 24"/>
          <p:cNvSpPr/>
          <p:nvPr/>
        </p:nvSpPr>
        <p:spPr>
          <a:xfrm>
            <a:off x="142875" y="4791075"/>
            <a:ext cx="11906250" cy="1828800"/>
          </a:xfrm>
          <a:prstGeom prst="roundRect">
            <a:avLst>
              <a:gd name="adj" fmla="val 41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4876800"/>
            <a:ext cx="11639550" cy="209550"/>
          </a:xfrm>
          <a:prstGeom prst="rect">
            <a:avLst/>
          </a:prstGeom>
          <a:noFill/>
        </p:spPr>
        <p:txBody>
          <a:bodyPr wrap="square" lIns="0" rIns="19050" tIns="9525" bIns="9525">
            <a:spAutoFit/>
          </a:bodyPr>
          <a:lstStyle/>
          <a:p>
            <a:pPr algn="l"/>
            <a:r>
              <a:rPr sz="1300" b="1">
                <a:solidFill>
                  <a:srgbClr val="0B2E4A"/>
                </a:solidFill>
                <a:latin typeface="Calibri"/>
              </a:rPr>
              <a:t/>
            </a:r>
          </a:p>
        </p:txBody>
      </p:sp>
      <p:sp>
        <p:nvSpPr>
          <p:cNvPr id="27" name="Rectangle 26"/>
          <p:cNvSpPr/>
          <p:nvPr/>
        </p:nvSpPr>
        <p:spPr>
          <a:xfrm>
            <a:off x="276225" y="511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6225" y="5200650"/>
            <a:ext cx="11639550" cy="13430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0" name="Picture 29" descr="lock.png"/>
          <p:cNvPicPr>
            <a:picLocks noChangeAspect="1"/>
          </p:cNvPicPr>
          <p:nvPr/>
        </p:nvPicPr>
        <p:blipFill>
          <a:blip r:embed="rId9"/>
          <a:stretch>
            <a:fillRect/>
          </a:stretch>
        </p:blipFill>
        <p:spPr>
          <a:xfrm>
            <a:off x="1811655" y="1762125"/>
            <a:ext cx="183356" cy="266700"/>
          </a:xfrm>
          <a:prstGeom prst="rect">
            <a:avLst/>
          </a:prstGeom>
        </p:spPr>
      </p:pic>
      <p:pic>
        <p:nvPicPr>
          <p:cNvPr id="31" name="Picture 30" descr="lock.png"/>
          <p:cNvPicPr>
            <a:picLocks noChangeAspect="1"/>
          </p:cNvPicPr>
          <p:nvPr/>
        </p:nvPicPr>
        <p:blipFill>
          <a:blip r:embed="rId9"/>
          <a:stretch>
            <a:fillRect/>
          </a:stretch>
        </p:blipFill>
        <p:spPr>
          <a:xfrm>
            <a:off x="4821555" y="1762125"/>
            <a:ext cx="183356" cy="266700"/>
          </a:xfrm>
          <a:prstGeom prst="rect">
            <a:avLst/>
          </a:prstGeom>
        </p:spPr>
      </p:pic>
      <p:pic>
        <p:nvPicPr>
          <p:cNvPr id="32" name="Picture 31" descr="lock.png"/>
          <p:cNvPicPr>
            <a:picLocks noChangeAspect="1"/>
          </p:cNvPicPr>
          <p:nvPr/>
        </p:nvPicPr>
        <p:blipFill>
          <a:blip r:embed="rId9"/>
          <a:stretch>
            <a:fillRect/>
          </a:stretch>
        </p:blipFill>
        <p:spPr>
          <a:xfrm>
            <a:off x="7831455" y="1762125"/>
            <a:ext cx="183356" cy="266700"/>
          </a:xfrm>
          <a:prstGeom prst="rect">
            <a:avLst/>
          </a:prstGeom>
        </p:spPr>
      </p:pic>
      <p:pic>
        <p:nvPicPr>
          <p:cNvPr id="33" name="Picture 32" descr="lock.png"/>
          <p:cNvPicPr>
            <a:picLocks noChangeAspect="1"/>
          </p:cNvPicPr>
          <p:nvPr/>
        </p:nvPicPr>
        <p:blipFill>
          <a:blip r:embed="rId9"/>
          <a:stretch>
            <a:fillRect/>
          </a:stretch>
        </p:blipFill>
        <p:spPr>
          <a:xfrm>
            <a:off x="10841355" y="1762125"/>
            <a:ext cx="183356" cy="266700"/>
          </a:xfrm>
          <a:prstGeom prst="rect">
            <a:avLst/>
          </a:prstGeom>
        </p:spPr>
      </p:pic>
      <p:pic>
        <p:nvPicPr>
          <p:cNvPr id="34" name="Picture 33" descr="lock.png"/>
          <p:cNvPicPr>
            <a:picLocks noChangeAspect="1"/>
          </p:cNvPicPr>
          <p:nvPr/>
        </p:nvPicPr>
        <p:blipFill>
          <a:blip r:embed="rId9"/>
          <a:stretch>
            <a:fillRect/>
          </a:stretch>
        </p:blipFill>
        <p:spPr>
          <a:xfrm>
            <a:off x="1868805" y="3667125"/>
            <a:ext cx="183356" cy="266700"/>
          </a:xfrm>
          <a:prstGeom prst="rect">
            <a:avLst/>
          </a:prstGeom>
        </p:spPr>
      </p:pic>
      <p:sp>
        <p:nvSpPr>
          <p:cNvPr id="35" name="TextBox 34"/>
          <p:cNvSpPr txBox="1"/>
          <p:nvPr/>
        </p:nvSpPr>
        <p:spPr>
          <a:xfrm>
            <a:off x="276225" y="4886325"/>
            <a:ext cx="1468037" cy="161696"/>
          </a:xfrm>
          <a:prstGeom prst="rect">
            <a:avLst/>
          </a:prstGeom>
          <a:noFill/>
        </p:spPr>
        <p:txBody>
          <a:bodyPr wrap="none" lIns="0" rIns="0" tIns="0" bIns="0">
            <a:spAutoFit/>
          </a:bodyPr>
          <a:lstStyle/>
          <a:p>
            <a:r>
              <a:rPr sz="935" b="1">
                <a:solidFill>
                  <a:srgbClr val="0B2E4A"/>
                </a:solidFill>
                <a:latin typeface="Calibri"/>
              </a:rPr>
              <a:t>Key Takeaways · 2026 Total:</a:t>
            </a:r>
          </a:p>
        </p:txBody>
      </p:sp>
      <p:pic>
        <p:nvPicPr>
          <p:cNvPr id="36" name="Picture 35" descr="lock.png"/>
          <p:cNvPicPr>
            <a:picLocks noChangeAspect="1"/>
          </p:cNvPicPr>
          <p:nvPr/>
        </p:nvPicPr>
        <p:blipFill>
          <a:blip r:embed="rId9"/>
          <a:stretch>
            <a:fillRect/>
          </a:stretch>
        </p:blipFill>
        <p:spPr>
          <a:xfrm>
            <a:off x="1688698" y="4878003"/>
            <a:ext cx="109510" cy="159288"/>
          </a:xfrm>
          <a:prstGeom prst="rect">
            <a:avLst/>
          </a:prstGeom>
        </p:spPr>
      </p:pic>
      <p:sp>
        <p:nvSpPr>
          <p:cNvPr id="37" name="TextBox 36"/>
          <p:cNvSpPr txBox="1"/>
          <p:nvPr/>
        </p:nvSpPr>
        <p:spPr>
          <a:xfrm>
            <a:off x="1831222" y="4886325"/>
            <a:ext cx="465087" cy="161696"/>
          </a:xfrm>
          <a:prstGeom prst="rect">
            <a:avLst/>
          </a:prstGeom>
          <a:noFill/>
        </p:spPr>
        <p:txBody>
          <a:bodyPr wrap="none" lIns="0" rIns="0" tIns="0" bIns="0">
            <a:spAutoFit/>
          </a:bodyPr>
          <a:lstStyle/>
          <a:p>
            <a:r>
              <a:rPr sz="935" b="1">
                <a:solidFill>
                  <a:srgbClr val="0B2E4A"/>
                </a:solidFill>
                <a:latin typeface="Calibri"/>
              </a:rPr>
              <a:t>US$ Mn</a:t>
            </a:r>
          </a:p>
        </p:txBody>
      </p:sp>
      <p:sp>
        <p:nvSpPr>
          <p:cNvPr id="38" name="TextBox 37"/>
          <p:cNvSpPr txBox="1"/>
          <p:nvPr/>
        </p:nvSpPr>
        <p:spPr>
          <a:xfrm>
            <a:off x="276225" y="5210175"/>
            <a:ext cx="2759916" cy="186689"/>
          </a:xfrm>
          <a:prstGeom prst="rect">
            <a:avLst/>
          </a:prstGeom>
          <a:noFill/>
        </p:spPr>
        <p:txBody>
          <a:bodyPr wrap="none" lIns="0" rIns="0" tIns="0" bIns="0">
            <a:spAutoFit/>
          </a:bodyPr>
          <a:lstStyle/>
          <a:p>
            <a:r>
              <a:rPr sz="1100" b="0">
                <a:solidFill>
                  <a:srgbClr val="2E2E2E"/>
                </a:solidFill>
                <a:latin typeface="Calibri"/>
              </a:rPr>
              <a:t>▪ By Form Type, 'Capsules and Softgels' leads at</a:t>
            </a:r>
          </a:p>
        </p:txBody>
      </p:sp>
      <p:pic>
        <p:nvPicPr>
          <p:cNvPr id="39" name="Picture 38" descr="lock.png"/>
          <p:cNvPicPr>
            <a:picLocks noChangeAspect="1"/>
          </p:cNvPicPr>
          <p:nvPr/>
        </p:nvPicPr>
        <p:blipFill>
          <a:blip r:embed="rId9"/>
          <a:stretch>
            <a:fillRect/>
          </a:stretch>
        </p:blipFill>
        <p:spPr>
          <a:xfrm>
            <a:off x="2984193" y="5200395"/>
            <a:ext cx="128699" cy="187198"/>
          </a:xfrm>
          <a:prstGeom prst="rect">
            <a:avLst/>
          </a:prstGeom>
        </p:spPr>
      </p:pic>
      <p:sp>
        <p:nvSpPr>
          <p:cNvPr id="40" name="TextBox 39"/>
          <p:cNvSpPr txBox="1"/>
          <p:nvPr/>
        </p:nvSpPr>
        <p:spPr>
          <a:xfrm>
            <a:off x="3151689" y="5210175"/>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41" name="Picture 40" descr="lock.png"/>
          <p:cNvPicPr>
            <a:picLocks noChangeAspect="1"/>
          </p:cNvPicPr>
          <p:nvPr/>
        </p:nvPicPr>
        <p:blipFill>
          <a:blip r:embed="rId9"/>
          <a:stretch>
            <a:fillRect/>
          </a:stretch>
        </p:blipFill>
        <p:spPr>
          <a:xfrm>
            <a:off x="3699270" y="5200395"/>
            <a:ext cx="128699" cy="187198"/>
          </a:xfrm>
          <a:prstGeom prst="rect">
            <a:avLst/>
          </a:prstGeom>
        </p:spPr>
      </p:pic>
      <p:sp>
        <p:nvSpPr>
          <p:cNvPr id="42" name="TextBox 41"/>
          <p:cNvSpPr txBox="1"/>
          <p:nvPr/>
        </p:nvSpPr>
        <p:spPr>
          <a:xfrm>
            <a:off x="3866765" y="5210175"/>
            <a:ext cx="1575246" cy="186689"/>
          </a:xfrm>
          <a:prstGeom prst="rect">
            <a:avLst/>
          </a:prstGeom>
          <a:noFill/>
        </p:spPr>
        <p:txBody>
          <a:bodyPr wrap="none" lIns="0" rIns="0" tIns="0" bIns="0">
            <a:spAutoFit/>
          </a:bodyPr>
          <a:lstStyle/>
          <a:p>
            <a:r>
              <a:rPr sz="1100" b="0">
                <a:solidFill>
                  <a:srgbClr val="2E2E2E"/>
                </a:solidFill>
                <a:latin typeface="Calibri"/>
              </a:rPr>
              <a:t>share), ahead of 'Tablets' (</a:t>
            </a:r>
          </a:p>
        </p:txBody>
      </p:sp>
      <p:pic>
        <p:nvPicPr>
          <p:cNvPr id="43" name="Picture 42" descr="lock.png"/>
          <p:cNvPicPr>
            <a:picLocks noChangeAspect="1"/>
          </p:cNvPicPr>
          <p:nvPr/>
        </p:nvPicPr>
        <p:blipFill>
          <a:blip r:embed="rId9"/>
          <a:stretch>
            <a:fillRect/>
          </a:stretch>
        </p:blipFill>
        <p:spPr>
          <a:xfrm>
            <a:off x="5390064" y="5200395"/>
            <a:ext cx="128699" cy="187198"/>
          </a:xfrm>
          <a:prstGeom prst="rect">
            <a:avLst/>
          </a:prstGeom>
        </p:spPr>
      </p:pic>
      <p:sp>
        <p:nvSpPr>
          <p:cNvPr id="44" name="TextBox 43"/>
          <p:cNvSpPr txBox="1"/>
          <p:nvPr/>
        </p:nvSpPr>
        <p:spPr>
          <a:xfrm>
            <a:off x="5557559" y="5210175"/>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5" name="TextBox 44"/>
          <p:cNvSpPr txBox="1"/>
          <p:nvPr/>
        </p:nvSpPr>
        <p:spPr>
          <a:xfrm>
            <a:off x="276225" y="5428107"/>
            <a:ext cx="3912198" cy="186689"/>
          </a:xfrm>
          <a:prstGeom prst="rect">
            <a:avLst/>
          </a:prstGeom>
          <a:noFill/>
        </p:spPr>
        <p:txBody>
          <a:bodyPr wrap="none" lIns="0" rIns="0" tIns="0" bIns="0">
            <a:spAutoFit/>
          </a:bodyPr>
          <a:lstStyle/>
          <a:p>
            <a:r>
              <a:rPr sz="1100" b="0">
                <a:solidFill>
                  <a:srgbClr val="2E2E2E"/>
                </a:solidFill>
                <a:latin typeface="Calibri"/>
              </a:rPr>
              <a:t>▪ By Active Ingredient, 'Cellular Energy Support Ingredients' leads at</a:t>
            </a:r>
          </a:p>
        </p:txBody>
      </p:sp>
      <p:pic>
        <p:nvPicPr>
          <p:cNvPr id="46" name="Picture 45" descr="lock.png"/>
          <p:cNvPicPr>
            <a:picLocks noChangeAspect="1"/>
          </p:cNvPicPr>
          <p:nvPr/>
        </p:nvPicPr>
        <p:blipFill>
          <a:blip r:embed="rId9"/>
          <a:stretch>
            <a:fillRect/>
          </a:stretch>
        </p:blipFill>
        <p:spPr>
          <a:xfrm>
            <a:off x="4136475" y="5418327"/>
            <a:ext cx="128699" cy="187198"/>
          </a:xfrm>
          <a:prstGeom prst="rect">
            <a:avLst/>
          </a:prstGeom>
        </p:spPr>
      </p:pic>
      <p:sp>
        <p:nvSpPr>
          <p:cNvPr id="47" name="TextBox 46"/>
          <p:cNvSpPr txBox="1"/>
          <p:nvPr/>
        </p:nvSpPr>
        <p:spPr>
          <a:xfrm>
            <a:off x="4303971" y="5428107"/>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48" name="Picture 47" descr="lock.png"/>
          <p:cNvPicPr>
            <a:picLocks noChangeAspect="1"/>
          </p:cNvPicPr>
          <p:nvPr/>
        </p:nvPicPr>
        <p:blipFill>
          <a:blip r:embed="rId9"/>
          <a:stretch>
            <a:fillRect/>
          </a:stretch>
        </p:blipFill>
        <p:spPr>
          <a:xfrm>
            <a:off x="4851552" y="5418327"/>
            <a:ext cx="128699" cy="187198"/>
          </a:xfrm>
          <a:prstGeom prst="rect">
            <a:avLst/>
          </a:prstGeom>
        </p:spPr>
      </p:pic>
      <p:sp>
        <p:nvSpPr>
          <p:cNvPr id="49" name="TextBox 48"/>
          <p:cNvSpPr txBox="1"/>
          <p:nvPr/>
        </p:nvSpPr>
        <p:spPr>
          <a:xfrm>
            <a:off x="5019047" y="5428107"/>
            <a:ext cx="2498303" cy="186689"/>
          </a:xfrm>
          <a:prstGeom prst="rect">
            <a:avLst/>
          </a:prstGeom>
          <a:noFill/>
        </p:spPr>
        <p:txBody>
          <a:bodyPr wrap="none" lIns="0" rIns="0" tIns="0" bIns="0">
            <a:spAutoFit/>
          </a:bodyPr>
          <a:lstStyle/>
          <a:p>
            <a:r>
              <a:rPr sz="1100" b="0">
                <a:solidFill>
                  <a:srgbClr val="2E2E2E"/>
                </a:solidFill>
                <a:latin typeface="Calibri"/>
              </a:rPr>
              <a:t>share), ahead of 'Antioxidant Ingredients' (</a:t>
            </a:r>
          </a:p>
        </p:txBody>
      </p:sp>
      <p:pic>
        <p:nvPicPr>
          <p:cNvPr id="50" name="Picture 49" descr="lock.png"/>
          <p:cNvPicPr>
            <a:picLocks noChangeAspect="1"/>
          </p:cNvPicPr>
          <p:nvPr/>
        </p:nvPicPr>
        <p:blipFill>
          <a:blip r:embed="rId9"/>
          <a:stretch>
            <a:fillRect/>
          </a:stretch>
        </p:blipFill>
        <p:spPr>
          <a:xfrm>
            <a:off x="7465402" y="5418327"/>
            <a:ext cx="128699" cy="187198"/>
          </a:xfrm>
          <a:prstGeom prst="rect">
            <a:avLst/>
          </a:prstGeom>
        </p:spPr>
      </p:pic>
      <p:sp>
        <p:nvSpPr>
          <p:cNvPr id="51" name="TextBox 50"/>
          <p:cNvSpPr txBox="1"/>
          <p:nvPr/>
        </p:nvSpPr>
        <p:spPr>
          <a:xfrm>
            <a:off x="7632898" y="5428107"/>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52" name="TextBox 51"/>
          <p:cNvSpPr txBox="1"/>
          <p:nvPr/>
        </p:nvSpPr>
        <p:spPr>
          <a:xfrm>
            <a:off x="276225" y="5646039"/>
            <a:ext cx="5185051" cy="186689"/>
          </a:xfrm>
          <a:prstGeom prst="rect">
            <a:avLst/>
          </a:prstGeom>
          <a:noFill/>
        </p:spPr>
        <p:txBody>
          <a:bodyPr wrap="none" lIns="0" rIns="0" tIns="0" bIns="0">
            <a:spAutoFit/>
          </a:bodyPr>
          <a:lstStyle/>
          <a:p>
            <a:r>
              <a:rPr sz="1100" b="0">
                <a:solidFill>
                  <a:srgbClr val="2E2E2E"/>
                </a:solidFill>
                <a:latin typeface="Calibri"/>
              </a:rPr>
              <a:t>▪ By End-use Application, 'Support for Observable Age-Related Cognitive Changes' leads at</a:t>
            </a:r>
          </a:p>
        </p:txBody>
      </p:sp>
      <p:pic>
        <p:nvPicPr>
          <p:cNvPr id="53" name="Picture 52" descr="lock.png"/>
          <p:cNvPicPr>
            <a:picLocks noChangeAspect="1"/>
          </p:cNvPicPr>
          <p:nvPr/>
        </p:nvPicPr>
        <p:blipFill>
          <a:blip r:embed="rId9"/>
          <a:stretch>
            <a:fillRect/>
          </a:stretch>
        </p:blipFill>
        <p:spPr>
          <a:xfrm>
            <a:off x="5409327" y="5636259"/>
            <a:ext cx="128699" cy="187198"/>
          </a:xfrm>
          <a:prstGeom prst="rect">
            <a:avLst/>
          </a:prstGeom>
        </p:spPr>
      </p:pic>
      <p:sp>
        <p:nvSpPr>
          <p:cNvPr id="54" name="TextBox 53"/>
          <p:cNvSpPr txBox="1"/>
          <p:nvPr/>
        </p:nvSpPr>
        <p:spPr>
          <a:xfrm>
            <a:off x="5576823" y="5646039"/>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55" name="Picture 54" descr="lock.png"/>
          <p:cNvPicPr>
            <a:picLocks noChangeAspect="1"/>
          </p:cNvPicPr>
          <p:nvPr/>
        </p:nvPicPr>
        <p:blipFill>
          <a:blip r:embed="rId9"/>
          <a:stretch>
            <a:fillRect/>
          </a:stretch>
        </p:blipFill>
        <p:spPr>
          <a:xfrm>
            <a:off x="6124404" y="5636259"/>
            <a:ext cx="128699" cy="187198"/>
          </a:xfrm>
          <a:prstGeom prst="rect">
            <a:avLst/>
          </a:prstGeom>
        </p:spPr>
      </p:pic>
      <p:sp>
        <p:nvSpPr>
          <p:cNvPr id="56" name="TextBox 55"/>
          <p:cNvSpPr txBox="1"/>
          <p:nvPr/>
        </p:nvSpPr>
        <p:spPr>
          <a:xfrm>
            <a:off x="6291900" y="5646039"/>
            <a:ext cx="2713583" cy="186689"/>
          </a:xfrm>
          <a:prstGeom prst="rect">
            <a:avLst/>
          </a:prstGeom>
          <a:noFill/>
        </p:spPr>
        <p:txBody>
          <a:bodyPr wrap="none" lIns="0" rIns="0" tIns="0" bIns="0">
            <a:spAutoFit/>
          </a:bodyPr>
          <a:lstStyle/>
          <a:p>
            <a:r>
              <a:rPr sz="1100" b="0">
                <a:solidFill>
                  <a:srgbClr val="2E2E2E"/>
                </a:solidFill>
                <a:latin typeface="Calibri"/>
              </a:rPr>
              <a:t>share), ahead of 'Routine Cognitive Wellness' (</a:t>
            </a:r>
          </a:p>
        </p:txBody>
      </p:sp>
      <p:pic>
        <p:nvPicPr>
          <p:cNvPr id="57" name="Picture 56" descr="lock.png"/>
          <p:cNvPicPr>
            <a:picLocks noChangeAspect="1"/>
          </p:cNvPicPr>
          <p:nvPr/>
        </p:nvPicPr>
        <p:blipFill>
          <a:blip r:embed="rId9"/>
          <a:stretch>
            <a:fillRect/>
          </a:stretch>
        </p:blipFill>
        <p:spPr>
          <a:xfrm>
            <a:off x="8953535" y="5636259"/>
            <a:ext cx="128699" cy="187198"/>
          </a:xfrm>
          <a:prstGeom prst="rect">
            <a:avLst/>
          </a:prstGeom>
        </p:spPr>
      </p:pic>
      <p:sp>
        <p:nvSpPr>
          <p:cNvPr id="58" name="TextBox 57"/>
          <p:cNvSpPr txBox="1"/>
          <p:nvPr/>
        </p:nvSpPr>
        <p:spPr>
          <a:xfrm>
            <a:off x="9121031" y="5646039"/>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59" name="TextBox 58"/>
          <p:cNvSpPr txBox="1"/>
          <p:nvPr/>
        </p:nvSpPr>
        <p:spPr>
          <a:xfrm>
            <a:off x="276225" y="5863971"/>
            <a:ext cx="2648320" cy="186689"/>
          </a:xfrm>
          <a:prstGeom prst="rect">
            <a:avLst/>
          </a:prstGeom>
          <a:noFill/>
        </p:spPr>
        <p:txBody>
          <a:bodyPr wrap="none" lIns="0" rIns="0" tIns="0" bIns="0">
            <a:spAutoFit/>
          </a:bodyPr>
          <a:lstStyle/>
          <a:p>
            <a:r>
              <a:rPr sz="1100" b="0">
                <a:solidFill>
                  <a:srgbClr val="2E2E2E"/>
                </a:solidFill>
                <a:latin typeface="Calibri"/>
              </a:rPr>
              <a:t>▪ By Packaging Format, 'Blister Packs' leads at</a:t>
            </a:r>
          </a:p>
        </p:txBody>
      </p:sp>
      <p:pic>
        <p:nvPicPr>
          <p:cNvPr id="60" name="Picture 59" descr="lock.png"/>
          <p:cNvPicPr>
            <a:picLocks noChangeAspect="1"/>
          </p:cNvPicPr>
          <p:nvPr/>
        </p:nvPicPr>
        <p:blipFill>
          <a:blip r:embed="rId9"/>
          <a:stretch>
            <a:fillRect/>
          </a:stretch>
        </p:blipFill>
        <p:spPr>
          <a:xfrm>
            <a:off x="2872597" y="5854191"/>
            <a:ext cx="128699" cy="187198"/>
          </a:xfrm>
          <a:prstGeom prst="rect">
            <a:avLst/>
          </a:prstGeom>
        </p:spPr>
      </p:pic>
      <p:sp>
        <p:nvSpPr>
          <p:cNvPr id="61" name="TextBox 60"/>
          <p:cNvSpPr txBox="1"/>
          <p:nvPr/>
        </p:nvSpPr>
        <p:spPr>
          <a:xfrm>
            <a:off x="3040092" y="5863971"/>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62" name="Picture 61" descr="lock.png"/>
          <p:cNvPicPr>
            <a:picLocks noChangeAspect="1"/>
          </p:cNvPicPr>
          <p:nvPr/>
        </p:nvPicPr>
        <p:blipFill>
          <a:blip r:embed="rId9"/>
          <a:stretch>
            <a:fillRect/>
          </a:stretch>
        </p:blipFill>
        <p:spPr>
          <a:xfrm>
            <a:off x="3587673" y="5854191"/>
            <a:ext cx="128699" cy="187198"/>
          </a:xfrm>
          <a:prstGeom prst="rect">
            <a:avLst/>
          </a:prstGeom>
        </p:spPr>
      </p:pic>
      <p:sp>
        <p:nvSpPr>
          <p:cNvPr id="63" name="TextBox 62"/>
          <p:cNvSpPr txBox="1"/>
          <p:nvPr/>
        </p:nvSpPr>
        <p:spPr>
          <a:xfrm>
            <a:off x="3755169" y="5863971"/>
            <a:ext cx="1598166" cy="186689"/>
          </a:xfrm>
          <a:prstGeom prst="rect">
            <a:avLst/>
          </a:prstGeom>
          <a:noFill/>
        </p:spPr>
        <p:txBody>
          <a:bodyPr wrap="none" lIns="0" rIns="0" tIns="0" bIns="0">
            <a:spAutoFit/>
          </a:bodyPr>
          <a:lstStyle/>
          <a:p>
            <a:r>
              <a:rPr sz="1100" b="0">
                <a:solidFill>
                  <a:srgbClr val="2E2E2E"/>
                </a:solidFill>
                <a:latin typeface="Calibri"/>
              </a:rPr>
              <a:t>share), ahead of 'Sachets' (</a:t>
            </a:r>
          </a:p>
        </p:txBody>
      </p:sp>
      <p:pic>
        <p:nvPicPr>
          <p:cNvPr id="64" name="Picture 63" descr="lock.png"/>
          <p:cNvPicPr>
            <a:picLocks noChangeAspect="1"/>
          </p:cNvPicPr>
          <p:nvPr/>
        </p:nvPicPr>
        <p:blipFill>
          <a:blip r:embed="rId9"/>
          <a:stretch>
            <a:fillRect/>
          </a:stretch>
        </p:blipFill>
        <p:spPr>
          <a:xfrm>
            <a:off x="5301387" y="5854191"/>
            <a:ext cx="128699" cy="187198"/>
          </a:xfrm>
          <a:prstGeom prst="rect">
            <a:avLst/>
          </a:prstGeom>
        </p:spPr>
      </p:pic>
      <p:sp>
        <p:nvSpPr>
          <p:cNvPr id="65" name="TextBox 64"/>
          <p:cNvSpPr txBox="1"/>
          <p:nvPr/>
        </p:nvSpPr>
        <p:spPr>
          <a:xfrm>
            <a:off x="5468883" y="5863971"/>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66" name="TextBox 65"/>
          <p:cNvSpPr txBox="1"/>
          <p:nvPr/>
        </p:nvSpPr>
        <p:spPr>
          <a:xfrm>
            <a:off x="276225" y="6081903"/>
            <a:ext cx="2860901" cy="186689"/>
          </a:xfrm>
          <a:prstGeom prst="rect">
            <a:avLst/>
          </a:prstGeom>
          <a:noFill/>
        </p:spPr>
        <p:txBody>
          <a:bodyPr wrap="none" lIns="0" rIns="0" tIns="0" bIns="0">
            <a:spAutoFit/>
          </a:bodyPr>
          <a:lstStyle/>
          <a:p>
            <a:r>
              <a:rPr sz="1100" b="0">
                <a:solidFill>
                  <a:srgbClr val="2E2E2E"/>
                </a:solidFill>
                <a:latin typeface="Calibri"/>
              </a:rPr>
              <a:t>▪ By Sales Channel, 'Veterinary Channels' leads at</a:t>
            </a:r>
          </a:p>
        </p:txBody>
      </p:sp>
      <p:pic>
        <p:nvPicPr>
          <p:cNvPr id="67" name="Picture 66" descr="lock.png"/>
          <p:cNvPicPr>
            <a:picLocks noChangeAspect="1"/>
          </p:cNvPicPr>
          <p:nvPr/>
        </p:nvPicPr>
        <p:blipFill>
          <a:blip r:embed="rId9"/>
          <a:stretch>
            <a:fillRect/>
          </a:stretch>
        </p:blipFill>
        <p:spPr>
          <a:xfrm>
            <a:off x="3085178" y="6072123"/>
            <a:ext cx="128699" cy="187198"/>
          </a:xfrm>
          <a:prstGeom prst="rect">
            <a:avLst/>
          </a:prstGeom>
        </p:spPr>
      </p:pic>
      <p:sp>
        <p:nvSpPr>
          <p:cNvPr id="68" name="TextBox 67"/>
          <p:cNvSpPr txBox="1"/>
          <p:nvPr/>
        </p:nvSpPr>
        <p:spPr>
          <a:xfrm>
            <a:off x="3252674" y="6081903"/>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69" name="Picture 68" descr="lock.png"/>
          <p:cNvPicPr>
            <a:picLocks noChangeAspect="1"/>
          </p:cNvPicPr>
          <p:nvPr/>
        </p:nvPicPr>
        <p:blipFill>
          <a:blip r:embed="rId9"/>
          <a:stretch>
            <a:fillRect/>
          </a:stretch>
        </p:blipFill>
        <p:spPr>
          <a:xfrm>
            <a:off x="3800255" y="6072123"/>
            <a:ext cx="128699" cy="187198"/>
          </a:xfrm>
          <a:prstGeom prst="rect">
            <a:avLst/>
          </a:prstGeom>
        </p:spPr>
      </p:pic>
      <p:sp>
        <p:nvSpPr>
          <p:cNvPr id="70" name="TextBox 69"/>
          <p:cNvSpPr txBox="1"/>
          <p:nvPr/>
        </p:nvSpPr>
        <p:spPr>
          <a:xfrm>
            <a:off x="3967750" y="6081903"/>
            <a:ext cx="2270472" cy="186689"/>
          </a:xfrm>
          <a:prstGeom prst="rect">
            <a:avLst/>
          </a:prstGeom>
          <a:noFill/>
        </p:spPr>
        <p:txBody>
          <a:bodyPr wrap="none" lIns="0" rIns="0" tIns="0" bIns="0">
            <a:spAutoFit/>
          </a:bodyPr>
          <a:lstStyle/>
          <a:p>
            <a:r>
              <a:rPr sz="1100" b="0">
                <a:solidFill>
                  <a:srgbClr val="2E2E2E"/>
                </a:solidFill>
                <a:latin typeface="Calibri"/>
              </a:rPr>
              <a:t>share), ahead of 'Specialist Pet Retail' (</a:t>
            </a:r>
          </a:p>
        </p:txBody>
      </p:sp>
      <p:pic>
        <p:nvPicPr>
          <p:cNvPr id="71" name="Picture 70" descr="lock.png"/>
          <p:cNvPicPr>
            <a:picLocks noChangeAspect="1"/>
          </p:cNvPicPr>
          <p:nvPr/>
        </p:nvPicPr>
        <p:blipFill>
          <a:blip r:embed="rId9"/>
          <a:stretch>
            <a:fillRect/>
          </a:stretch>
        </p:blipFill>
        <p:spPr>
          <a:xfrm>
            <a:off x="6186274" y="6072123"/>
            <a:ext cx="128699" cy="187198"/>
          </a:xfrm>
          <a:prstGeom prst="rect">
            <a:avLst/>
          </a:prstGeom>
        </p:spPr>
      </p:pic>
      <p:sp>
        <p:nvSpPr>
          <p:cNvPr id="72" name="TextBox 71"/>
          <p:cNvSpPr txBox="1"/>
          <p:nvPr/>
        </p:nvSpPr>
        <p:spPr>
          <a:xfrm>
            <a:off x="6353770" y="6081903"/>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73" name="TextBox 72"/>
          <p:cNvSpPr txBox="1"/>
          <p:nvPr/>
        </p:nvSpPr>
        <p:spPr>
          <a:xfrm>
            <a:off x="276225" y="6299835"/>
            <a:ext cx="6677843" cy="186689"/>
          </a:xfrm>
          <a:prstGeom prst="rect">
            <a:avLst/>
          </a:prstGeom>
          <a:noFill/>
        </p:spPr>
        <p:txBody>
          <a:bodyPr wrap="none" lIns="0" rIns="0" tIns="0" bIns="0">
            <a:spAutoFit/>
          </a:bodyPr>
          <a:lstStyle/>
          <a:p>
            <a:r>
              <a:rPr sz="1100" b="0">
                <a:solidFill>
                  <a:srgbClr val="2E2E2E"/>
                </a:solidFill>
                <a:latin typeface="Calibri"/>
              </a:rPr>
              <a:t>▪ Use the Country slicer in the top band to switch country the selection stays synced across every page of the report.</a:t>
            </a:r>
          </a:p>
        </p:txBody>
      </p:sp>
      <p:sp>
        <p:nvSpPr>
          <p:cNvPr id="74" name="lockshield_12"/>
          <p:cNvSpPr/>
          <p:nvPr/>
        </p:nvSpPr>
        <p:spPr>
          <a:xfrm>
            <a:off x="238125" y="1266825"/>
            <a:ext cx="2667000" cy="1428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lockshield_15"/>
          <p:cNvSpPr/>
          <p:nvPr/>
        </p:nvSpPr>
        <p:spPr>
          <a:xfrm>
            <a:off x="3248025" y="1266825"/>
            <a:ext cx="2667000" cy="1428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lockshield_18"/>
          <p:cNvSpPr/>
          <p:nvPr/>
        </p:nvSpPr>
        <p:spPr>
          <a:xfrm>
            <a:off x="6257925" y="1266825"/>
            <a:ext cx="2667000" cy="1428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lockshield_21"/>
          <p:cNvSpPr/>
          <p:nvPr/>
        </p:nvSpPr>
        <p:spPr>
          <a:xfrm>
            <a:off x="9267825" y="1266825"/>
            <a:ext cx="2667000" cy="1428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lockshield_24"/>
          <p:cNvSpPr/>
          <p:nvPr/>
        </p:nvSpPr>
        <p:spPr>
          <a:xfrm>
            <a:off x="238125" y="3171825"/>
            <a:ext cx="2781300" cy="1428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Segment Overview (Volume &amp; Value)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Form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Active Ingredient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End-use Application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Packaging Format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Sales Channel</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Form Type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Senior Dog Cognitive Supplement Market Segmental Analysis Form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Form Type: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Form Type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Form Type</a:t>
            </a:r>
          </a:p>
        </p:txBody>
      </p:sp>
      <p:graphicFrame>
        <p:nvGraphicFramePr>
          <p:cNvPr id="15" name="Table 14"/>
          <p:cNvGraphicFramePr>
            <a:graphicFrameLocks noGrp="1"/>
          </p:cNvGraphicFramePr>
          <p:nvPr/>
        </p:nvGraphicFramePr>
        <p:xfrm>
          <a:off x="6181725" y="1238250"/>
          <a:ext cx="5857874" cy="2286000"/>
        </p:xfrm>
        <a:graphic>
          <a:graphicData uri="http://schemas.openxmlformats.org/drawingml/2006/table">
            <a:tbl>
              <a:tblPr>
                <a:tableStyleId>{5C22544A-7EE6-4342-B048-85BDC9FD1C3A}</a:tableStyleId>
              </a:tblPr>
              <a:tblGrid>
                <a:gridCol w="1593014"/>
                <a:gridCol w="1066215"/>
                <a:gridCol w="1066215"/>
                <a:gridCol w="1066215"/>
                <a:gridCol w="1066215"/>
              </a:tblGrid>
              <a:tr h="246126">
                <a:tc>
                  <a:txBody>
                    <a:bodyPr wrap="none"/>
                    <a:lstStyle/>
                    <a:p>
                      <a:pPr algn="l"/>
                      <a:r>
                        <a:rPr sz="1100" b="1">
                          <a:solidFill>
                            <a:srgbClr val="0B2E4A"/>
                          </a:solidFill>
                          <a:latin typeface="Calibri"/>
                        </a:rPr>
                        <a:t>Form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339979">
                <a:tc>
                  <a:txBody>
                    <a:bodyPr wrap="none"/>
                    <a:lstStyle/>
                    <a:p>
                      <a:pPr algn="l"/>
                      <a:r>
                        <a:rPr sz="1100" b="1">
                          <a:solidFill>
                            <a:srgbClr val="2E2E2E"/>
                          </a:solidFill>
                          <a:latin typeface="Calibri"/>
                        </a:rPr>
                        <a:t>Chewables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Tablets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9979">
                <a:tc>
                  <a:txBody>
                    <a:bodyPr wrap="none"/>
                    <a:lstStyle/>
                    <a:p>
                      <a:pPr algn="l"/>
                      <a:r>
                        <a:rPr sz="1100" b="1">
                          <a:solidFill>
                            <a:srgbClr val="2E2E2E"/>
                          </a:solidFill>
                          <a:latin typeface="Calibri"/>
                        </a:rPr>
                        <a:t>Capsules and Softgels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Powders and Granules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9979">
                <a:tc>
                  <a:txBody>
                    <a:bodyPr wrap="none"/>
                    <a:lstStyle/>
                    <a:p>
                      <a:pPr algn="l"/>
                      <a:r>
                        <a:rPr sz="1100" b="1">
                          <a:solidFill>
                            <a:srgbClr val="2E2E2E"/>
                          </a:solidFill>
                          <a:latin typeface="Calibri"/>
                        </a:rPr>
                        <a:t>Liquids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Gels and Pastes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Form Type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720479" y="2237613"/>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Senior Dog Cognitive Supplement Market Tables Form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Form Type, 2021–2036</a:t>
            </a:r>
          </a:p>
        </p:txBody>
      </p:sp>
      <p:sp>
        <p:nvSpPr>
          <p:cNvPr id="14" name="Rounded Rectangle 13"/>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Form Type (US$ Mn)</a:t>
            </a:r>
          </a:p>
        </p:txBody>
      </p:sp>
      <p:graphicFrame>
        <p:nvGraphicFramePr>
          <p:cNvPr id="16" name="Table 15"/>
          <p:cNvGraphicFramePr>
            <a:graphicFrameLocks noGrp="1"/>
          </p:cNvGraphicFramePr>
          <p:nvPr/>
        </p:nvGraphicFramePr>
        <p:xfrm>
          <a:off x="152400" y="1238250"/>
          <a:ext cx="11887195" cy="1971675"/>
        </p:xfrm>
        <a:graphic>
          <a:graphicData uri="http://schemas.openxmlformats.org/drawingml/2006/table">
            <a:tbl>
              <a:tblPr>
                <a:tableStyleId>{5C22544A-7EE6-4342-B048-85BDC9FD1C3A}</a:tableStyleId>
              </a:tblPr>
              <a:tblGrid>
                <a:gridCol w="1597554"/>
                <a:gridCol w="605273"/>
                <a:gridCol w="605273"/>
                <a:gridCol w="605273"/>
                <a:gridCol w="605273"/>
                <a:gridCol w="605273"/>
                <a:gridCol w="605273"/>
                <a:gridCol w="605273"/>
                <a:gridCol w="605273"/>
                <a:gridCol w="605273"/>
                <a:gridCol w="605273"/>
                <a:gridCol w="605273"/>
                <a:gridCol w="605273"/>
                <a:gridCol w="605273"/>
                <a:gridCol w="605273"/>
                <a:gridCol w="605273"/>
                <a:gridCol w="605273"/>
                <a:gridCol w="605273"/>
              </a:tblGrid>
              <a:tr h="246126">
                <a:tc>
                  <a:txBody>
                    <a:bodyPr wrap="none"/>
                    <a:lstStyle/>
                    <a:p>
                      <a:pPr algn="l"/>
                      <a:r>
                        <a:rPr sz="1100" b="1">
                          <a:solidFill>
                            <a:srgbClr val="0B2E4A"/>
                          </a:solidFill>
                          <a:latin typeface="Calibri"/>
                        </a:rPr>
                        <a:t>Form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Chewables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Tablets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Capsules and Softgels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Powders and Granules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Liquids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Gels and Pastes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708084" y="2080450"/>
            <a:ext cx="366712" cy="533400"/>
          </a:xfrm>
          <a:prstGeom prst="rect">
            <a:avLst/>
          </a:prstGeom>
        </p:spPr>
      </p:pic>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Active Ingredient</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Senior Dog Cognitive Supplement Market Segmental Analysis Active Ingredient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Active Ingredient: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Active Ingredient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Active Ingredient</a:t>
            </a:r>
          </a:p>
        </p:txBody>
      </p:sp>
      <p:graphicFrame>
        <p:nvGraphicFramePr>
          <p:cNvPr id="15" name="Table 14"/>
          <p:cNvGraphicFramePr>
            <a:graphicFrameLocks noGrp="1"/>
          </p:cNvGraphicFramePr>
          <p:nvPr/>
        </p:nvGraphicFramePr>
        <p:xfrm>
          <a:off x="6181725" y="1238250"/>
          <a:ext cx="5857875" cy="2286000"/>
        </p:xfrm>
        <a:graphic>
          <a:graphicData uri="http://schemas.openxmlformats.org/drawingml/2006/table">
            <a:tbl>
              <a:tblPr>
                <a:tableStyleId>{5C22544A-7EE6-4342-B048-85BDC9FD1C3A}</a:tableStyleId>
              </a:tblPr>
              <a:tblGrid>
                <a:gridCol w="2462352"/>
                <a:gridCol w="853623"/>
                <a:gridCol w="853623"/>
                <a:gridCol w="1078034"/>
                <a:gridCol w="610243"/>
              </a:tblGrid>
              <a:tr h="246126">
                <a:tc>
                  <a:txBody>
                    <a:bodyPr wrap="none"/>
                    <a:lstStyle/>
                    <a:p>
                      <a:pPr algn="l"/>
                      <a:r>
                        <a:rPr sz="1100" b="1">
                          <a:solidFill>
                            <a:srgbClr val="0B2E4A"/>
                          </a:solidFill>
                          <a:latin typeface="Calibri"/>
                        </a:rPr>
                        <a:t>Active Ingredient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339979">
                <a:tc>
                  <a:txBody>
                    <a:bodyPr wrap="none"/>
                    <a:lstStyle/>
                    <a:p>
                      <a:pPr algn="l"/>
                      <a:r>
                        <a:rPr sz="1100" b="1">
                          <a:solidFill>
                            <a:srgbClr val="2E2E2E"/>
                          </a:solidFill>
                          <a:latin typeface="Calibri"/>
                        </a:rPr>
                        <a:t>Omega-3 Fatty Acids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Antioxidant Ingredients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9979">
                <a:tc>
                  <a:txBody>
                    <a:bodyPr wrap="none"/>
                    <a:lstStyle/>
                    <a:p>
                      <a:pPr algn="l"/>
                      <a:r>
                        <a:rPr sz="1100" b="1">
                          <a:solidFill>
                            <a:srgbClr val="2E2E2E"/>
                          </a:solidFill>
                          <a:latin typeface="Calibri"/>
                        </a:rPr>
                        <a:t>Neurofunctional Nutrients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Cellular Energy Support Ingredients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9979">
                <a:tc>
                  <a:txBody>
                    <a:bodyPr wrap="none"/>
                    <a:lstStyle/>
                    <a:p>
                      <a:pPr algn="l"/>
                      <a:r>
                        <a:rPr sz="1100" b="1">
                          <a:solidFill>
                            <a:srgbClr val="2E2E2E"/>
                          </a:solidFill>
                          <a:latin typeface="Calibri"/>
                        </a:rPr>
                        <a:t>Botanical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Microbiome-Targeted Ingredients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Active Ingredient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10155148" y="2237613"/>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Senior Dog Cognitive Supplement Market Tables Active Ingredient (1/3)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Active Ingredient, 2021–2036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Senior Dog Cognitive Supplement Market Tables Active Ingredient (2/3)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Active Ingredient, 2021–2036</a:t>
            </a:r>
          </a:p>
        </p:txBody>
      </p:sp>
      <p:sp>
        <p:nvSpPr>
          <p:cNvPr id="14" name="Rounded Rectangle 13"/>
          <p:cNvSpPr/>
          <p:nvPr/>
        </p:nvSpPr>
        <p:spPr>
          <a:xfrm>
            <a:off x="142875" y="981075"/>
            <a:ext cx="11906250"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Active Ingredient (US$ Mn)</a:t>
            </a:r>
          </a:p>
        </p:txBody>
      </p:sp>
      <p:graphicFrame>
        <p:nvGraphicFramePr>
          <p:cNvPr id="16" name="Table 15"/>
          <p:cNvGraphicFramePr>
            <a:graphicFrameLocks noGrp="1"/>
          </p:cNvGraphicFramePr>
          <p:nvPr/>
        </p:nvGraphicFramePr>
        <p:xfrm>
          <a:off x="152400" y="1238250"/>
          <a:ext cx="11887207" cy="2466975"/>
        </p:xfrm>
        <a:graphic>
          <a:graphicData uri="http://schemas.openxmlformats.org/drawingml/2006/table">
            <a:tbl>
              <a:tblPr>
                <a:tableStyleId>{5C22544A-7EE6-4342-B048-85BDC9FD1C3A}</a:tableStyleId>
              </a:tblPr>
              <a:tblGrid>
                <a:gridCol w="1773244"/>
                <a:gridCol w="594939"/>
                <a:gridCol w="594939"/>
                <a:gridCol w="594939"/>
                <a:gridCol w="594939"/>
                <a:gridCol w="594939"/>
                <a:gridCol w="594939"/>
                <a:gridCol w="594939"/>
                <a:gridCol w="594939"/>
                <a:gridCol w="594939"/>
                <a:gridCol w="594939"/>
                <a:gridCol w="594939"/>
                <a:gridCol w="594939"/>
                <a:gridCol w="594939"/>
                <a:gridCol w="594939"/>
                <a:gridCol w="594939"/>
                <a:gridCol w="594939"/>
                <a:gridCol w="594939"/>
              </a:tblGrid>
              <a:tr h="246126">
                <a:tc>
                  <a:txBody>
                    <a:bodyPr wrap="none"/>
                    <a:lstStyle/>
                    <a:p>
                      <a:pPr algn="l"/>
                      <a:r>
                        <a:rPr sz="1100" b="1">
                          <a:solidFill>
                            <a:srgbClr val="0B2E4A"/>
                          </a:solidFill>
                          <a:latin typeface="Calibri"/>
                        </a:rPr>
                        <a:t>Active Ingredient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761">
                <a:tc>
                  <a:txBody>
                    <a:bodyPr wrap="none"/>
                    <a:lstStyle/>
                    <a:p>
                      <a:pPr algn="l"/>
                      <a:r>
                        <a:rPr sz="1100" b="1">
                          <a:solidFill>
                            <a:srgbClr val="2E2E2E"/>
                          </a:solidFill>
                          <a:latin typeface="Calibri"/>
                        </a:rPr>
                        <a:t>Omega-3 Fatty Acids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 DHA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 EPA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 DHA–EPA Combinations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Antioxidant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 Vitamin 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 Vitamin 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 Selenium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 Other Antioxidants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7" name="TextBox 16"/>
          <p:cNvSpPr txBox="1"/>
          <p:nvPr/>
        </p:nvSpPr>
        <p:spPr>
          <a:xfrm>
            <a:off x="219075" y="3714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795935" y="2328100"/>
            <a:ext cx="366712" cy="533400"/>
          </a:xfrm>
          <a:prstGeom prst="rect">
            <a:avLst/>
          </a:prstGeom>
        </p:spPr>
      </p:pic>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Senior Dog Cognitive Supplement Market Tables Active Ingredient (3/3)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value of the U.S. market by Active Ingredient, 2021–2036</a:t>
            </a:r>
          </a:p>
        </p:txBody>
      </p:sp>
      <p:sp>
        <p:nvSpPr>
          <p:cNvPr id="10" name="Rounded Rectangle 9"/>
          <p:cNvSpPr/>
          <p:nvPr/>
        </p:nvSpPr>
        <p:spPr>
          <a:xfrm>
            <a:off x="142875" y="981075"/>
            <a:ext cx="11906250" cy="5143500"/>
          </a:xfrm>
          <a:prstGeom prst="roundRect">
            <a:avLst>
              <a:gd name="adj" fmla="val 14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Active Ingredient (US$ Mn)</a:t>
            </a:r>
          </a:p>
        </p:txBody>
      </p:sp>
      <p:graphicFrame>
        <p:nvGraphicFramePr>
          <p:cNvPr id="12" name="Table 11"/>
          <p:cNvGraphicFramePr>
            <a:graphicFrameLocks noGrp="1"/>
          </p:cNvGraphicFramePr>
          <p:nvPr/>
        </p:nvGraphicFramePr>
        <p:xfrm>
          <a:off x="152400" y="1238250"/>
          <a:ext cx="11887199" cy="4676772"/>
        </p:xfrm>
        <a:graphic>
          <a:graphicData uri="http://schemas.openxmlformats.org/drawingml/2006/table">
            <a:tbl>
              <a:tblPr>
                <a:tableStyleId>{5C22544A-7EE6-4342-B048-85BDC9FD1C3A}</a:tableStyleId>
              </a:tblPr>
              <a:tblGrid>
                <a:gridCol w="2358529"/>
                <a:gridCol w="560510"/>
                <a:gridCol w="560510"/>
                <a:gridCol w="560510"/>
                <a:gridCol w="560510"/>
                <a:gridCol w="560510"/>
                <a:gridCol w="560510"/>
                <a:gridCol w="560510"/>
                <a:gridCol w="560510"/>
                <a:gridCol w="560510"/>
                <a:gridCol w="560510"/>
                <a:gridCol w="560510"/>
                <a:gridCol w="560510"/>
                <a:gridCol w="560510"/>
                <a:gridCol w="560510"/>
                <a:gridCol w="560510"/>
                <a:gridCol w="560510"/>
                <a:gridCol w="560510"/>
              </a:tblGrid>
              <a:tr h="246126">
                <a:tc>
                  <a:txBody>
                    <a:bodyPr wrap="none"/>
                    <a:lstStyle/>
                    <a:p>
                      <a:pPr algn="l"/>
                      <a:r>
                        <a:rPr sz="1100" b="1">
                          <a:solidFill>
                            <a:srgbClr val="0B2E4A"/>
                          </a:solidFill>
                          <a:latin typeface="Calibri"/>
                        </a:rPr>
                        <a:t>Active Ingredient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147">
                <a:tc>
                  <a:txBody>
                    <a:bodyPr wrap="none"/>
                    <a:lstStyle/>
                    <a:p>
                      <a:pPr algn="l"/>
                      <a:r>
                        <a:rPr sz="1100" b="1">
                          <a:solidFill>
                            <a:srgbClr val="2E2E2E"/>
                          </a:solidFill>
                          <a:latin typeface="Calibri"/>
                        </a:rPr>
                        <a:t>Neurofunctional Nutrients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Phosphatidylserine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47">
                <a:tc>
                  <a:txBody>
                    <a:bodyPr wrap="none"/>
                    <a:lstStyle/>
                    <a:p>
                      <a:pPr algn="l"/>
                      <a:r>
                        <a:rPr sz="1100" b="1">
                          <a:solidFill>
                            <a:srgbClr val="2E2E2E"/>
                          </a:solidFill>
                          <a:latin typeface="Calibri"/>
                        </a:rPr>
                        <a:t>– B Vitamins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Choline-Related Ingredients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47">
                <a:tc>
                  <a:txBody>
                    <a:bodyPr wrap="none"/>
                    <a:lstStyle/>
                    <a:p>
                      <a:pPr algn="l"/>
                      <a:r>
                        <a:rPr sz="1100" b="1">
                          <a:solidFill>
                            <a:srgbClr val="2E2E2E"/>
                          </a:solidFill>
                          <a:latin typeface="Calibri"/>
                        </a:rPr>
                        <a:t>Cellular Energy Support Ingredients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L-Carnitine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47">
                <a:tc>
                  <a:txBody>
                    <a:bodyPr wrap="none"/>
                    <a:lstStyle/>
                    <a:p>
                      <a:pPr algn="l"/>
                      <a:r>
                        <a:rPr sz="1100" b="1">
                          <a:solidFill>
                            <a:srgbClr val="2E2E2E"/>
                          </a:solidFill>
                          <a:latin typeface="Calibri"/>
                        </a:rPr>
                        <a:t>– Acetyl-L-Carnitine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Coenzyme Q10</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47">
                <a:tc>
                  <a:txBody>
                    <a:bodyPr wrap="none"/>
                    <a:lstStyle/>
                    <a:p>
                      <a:pPr algn="l"/>
                      <a:r>
                        <a:rPr sz="1100" b="1">
                          <a:solidFill>
                            <a:srgbClr val="2E2E2E"/>
                          </a:solidFill>
                          <a:latin typeface="Calibri"/>
                        </a:rPr>
                        <a:t>– Alpha-Lipoic Acid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Botanical Ingredients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47">
                <a:tc>
                  <a:txBody>
                    <a:bodyPr wrap="none"/>
                    <a:lstStyle/>
                    <a:p>
                      <a:pPr algn="l"/>
                      <a:r>
                        <a:rPr sz="1100" b="1">
                          <a:solidFill>
                            <a:srgbClr val="2E2E2E"/>
                          </a:solidFill>
                          <a:latin typeface="Calibri"/>
                        </a:rPr>
                        <a:t>– Ginkgo Biloba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Resveratrol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47">
                <a:tc>
                  <a:txBody>
                    <a:bodyPr wrap="none"/>
                    <a:lstStyle/>
                    <a:p>
                      <a:pPr algn="l"/>
                      <a:r>
                        <a:rPr sz="1100" b="1">
                          <a:solidFill>
                            <a:srgbClr val="2E2E2E"/>
                          </a:solidFill>
                          <a:latin typeface="Calibri"/>
                        </a:rPr>
                        <a:t>– Other Cognitive-Support Botanicals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Microbiome-Targeted Ingredients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47">
                <a:tc>
                  <a:txBody>
                    <a:bodyPr wrap="none"/>
                    <a:lstStyle/>
                    <a:p>
                      <a:pPr algn="l"/>
                      <a:r>
                        <a:rPr sz="1100" b="1">
                          <a:solidFill>
                            <a:srgbClr val="2E2E2E"/>
                          </a:solidFill>
                          <a:latin typeface="Calibri"/>
                        </a:rPr>
                        <a:t>– Prebiotics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Probiotics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147">
                <a:tc>
                  <a:txBody>
                    <a:bodyPr wrap="none"/>
                    <a:lstStyle/>
                    <a:p>
                      <a:pPr algn="l"/>
                      <a:r>
                        <a:rPr sz="1100" b="1">
                          <a:solidFill>
                            <a:srgbClr val="2E2E2E"/>
                          </a:solidFill>
                          <a:latin typeface="Calibri"/>
                        </a:rPr>
                        <a:t>– Postbiotics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59245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088574" y="3432998"/>
            <a:ext cx="366712" cy="533400"/>
          </a:xfrm>
          <a:prstGeom prst="rect">
            <a:avLst/>
          </a:prstGeom>
        </p:spPr>
      </p:pic>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End-use Application</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Senior Dog Cognitive Supplement Market Segmental Analysis End-use Application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End-use Application: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End-use Application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End-use Application</a:t>
            </a:r>
          </a:p>
        </p:txBody>
      </p:sp>
      <p:graphicFrame>
        <p:nvGraphicFramePr>
          <p:cNvPr id="15" name="Table 14"/>
          <p:cNvGraphicFramePr>
            <a:graphicFrameLocks noGrp="1"/>
          </p:cNvGraphicFramePr>
          <p:nvPr/>
        </p:nvGraphicFramePr>
        <p:xfrm>
          <a:off x="6181725" y="1238250"/>
          <a:ext cx="5857873" cy="2285996"/>
        </p:xfrm>
        <a:graphic>
          <a:graphicData uri="http://schemas.openxmlformats.org/drawingml/2006/table">
            <a:tbl>
              <a:tblPr>
                <a:tableStyleId>{5C22544A-7EE6-4342-B048-85BDC9FD1C3A}</a:tableStyleId>
              </a:tblPr>
              <a:tblGrid>
                <a:gridCol w="3413450"/>
                <a:gridCol w="591456"/>
                <a:gridCol w="591456"/>
                <a:gridCol w="773255"/>
                <a:gridCol w="488256"/>
              </a:tblGrid>
              <a:tr h="438912">
                <a:tc>
                  <a:txBody>
                    <a:bodyPr wrap="none"/>
                    <a:lstStyle/>
                    <a:p>
                      <a:pPr algn="l"/>
                      <a:r>
                        <a:rPr sz="1100" b="1">
                          <a:solidFill>
                            <a:srgbClr val="0B2E4A"/>
                          </a:solidFill>
                          <a:latin typeface="Calibri"/>
                        </a:rPr>
                        <a:t>End-use Application</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F-CAGR</a:t>
                      </a:r>
                      <a:endParaRPr sz="1100"/>
                    </a:p>
                  </a:txBody>
                  <a:tcPr marL="47625" marR="38100" marT="19050" marB="19050" anchor="ctr">
                    <a:solidFill>
                      <a:srgbClr val="E0E8EF"/>
                    </a:solidFill>
                  </a:tcPr>
                </a:tc>
              </a:tr>
              <a:tr h="461771">
                <a:tc>
                  <a:txBody>
                    <a:bodyPr wrap="none"/>
                    <a:lstStyle/>
                    <a:p>
                      <a:pPr algn="l"/>
                      <a:r>
                        <a:rPr sz="1100" b="1">
                          <a:solidFill>
                            <a:srgbClr val="2E2E2E"/>
                          </a:solidFill>
                          <a:latin typeface="Calibri"/>
                        </a:rPr>
                        <a:t>Routine Cognitive Wellness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61771">
                <a:tc>
                  <a:txBody>
                    <a:bodyPr wrap="none"/>
                    <a:lstStyle/>
                    <a:p>
                      <a:pPr algn="l"/>
                      <a:r>
                        <a:rPr sz="1100" b="1">
                          <a:solidFill>
                            <a:srgbClr val="2E2E2E"/>
                          </a:solidFill>
                          <a:latin typeface="Calibri"/>
                        </a:rPr>
                        <a:t>Preventive Cognitive Support for Senior Dogs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61771">
                <a:tc>
                  <a:txBody>
                    <a:bodyPr wrap="none"/>
                    <a:lstStyle/>
                    <a:p>
                      <a:pPr algn="l"/>
                      <a:r>
                        <a:rPr sz="1100" b="1">
                          <a:solidFill>
                            <a:srgbClr val="2E2E2E"/>
                          </a:solidFill>
                          <a:latin typeface="Calibri"/>
                        </a:rPr>
                        <a:t>Support for Observable Age-Related Cognitive Changes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61771">
                <a:tc>
                  <a:txBody>
                    <a:bodyPr wrap="none"/>
                    <a:lstStyle/>
                    <a:p>
                      <a:pPr algn="l"/>
                      <a:r>
                        <a:rPr sz="1100" b="1">
                          <a:solidFill>
                            <a:srgbClr val="2E2E2E"/>
                          </a:solidFill>
                          <a:latin typeface="Calibri"/>
                        </a:rPr>
                        <a:t>Veterinary-Guided Cognitive Dysfunction Support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End-use Application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10649365" y="2360675"/>
            <a:ext cx="330041" cy="48006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Senior Dog Cognitive Supplement Market Tables End-use Application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End-use Application, 2021–2036</a:t>
            </a:r>
          </a:p>
        </p:txBody>
      </p:sp>
      <p:sp>
        <p:nvSpPr>
          <p:cNvPr id="14" name="Rounded Rectangle 13"/>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End-use Application (US$ Mn)</a:t>
            </a:r>
          </a:p>
        </p:txBody>
      </p:sp>
      <p:graphicFrame>
        <p:nvGraphicFramePr>
          <p:cNvPr id="16" name="Table 15"/>
          <p:cNvGraphicFramePr>
            <a:graphicFrameLocks noGrp="1"/>
          </p:cNvGraphicFramePr>
          <p:nvPr/>
        </p:nvGraphicFramePr>
        <p:xfrm>
          <a:off x="152400" y="1238250"/>
          <a:ext cx="11887202" cy="1485896"/>
        </p:xfrm>
        <a:graphic>
          <a:graphicData uri="http://schemas.openxmlformats.org/drawingml/2006/table">
            <a:tbl>
              <a:tblPr>
                <a:tableStyleId>{5C22544A-7EE6-4342-B048-85BDC9FD1C3A}</a:tableStyleId>
              </a:tblPr>
              <a:tblGrid>
                <a:gridCol w="3519985"/>
                <a:gridCol w="502606"/>
                <a:gridCol w="502606"/>
                <a:gridCol w="502606"/>
                <a:gridCol w="502606"/>
                <a:gridCol w="502606"/>
                <a:gridCol w="484901"/>
                <a:gridCol w="479843"/>
                <a:gridCol w="479843"/>
                <a:gridCol w="479843"/>
                <a:gridCol w="479843"/>
                <a:gridCol w="479843"/>
                <a:gridCol w="479843"/>
                <a:gridCol w="479843"/>
                <a:gridCol w="479843"/>
                <a:gridCol w="479843"/>
                <a:gridCol w="479843"/>
                <a:gridCol w="570856"/>
              </a:tblGrid>
              <a:tr h="246126">
                <a:tc>
                  <a:txBody>
                    <a:bodyPr wrap="none"/>
                    <a:lstStyle/>
                    <a:p>
                      <a:pPr algn="l"/>
                      <a:r>
                        <a:rPr sz="1100" b="1">
                          <a:solidFill>
                            <a:srgbClr val="0B2E4A"/>
                          </a:solidFill>
                          <a:latin typeface="Calibri"/>
                        </a:rPr>
                        <a:t>End-use Application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Routine Cognitive Wellness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Preventive Cognitive Support for Senior Dogs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Support for Observable Age-Related Cognitive Changes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Veterinary-Guided Cognitive Dysfunction Support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7669303" y="1837563"/>
            <a:ext cx="366712" cy="533400"/>
          </a:xfrm>
          <a:prstGeom prst="rect">
            <a:avLst/>
          </a:prstGeom>
        </p:spPr>
      </p:pic>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Packaging Format</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Senior Dog Cognitive Supplement Market Segmental Analysis Packaging Format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Packaging Format: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Packaging Format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Packaging Format</a:t>
            </a:r>
          </a:p>
        </p:txBody>
      </p:sp>
      <p:graphicFrame>
        <p:nvGraphicFramePr>
          <p:cNvPr id="15" name="Table 14"/>
          <p:cNvGraphicFramePr>
            <a:graphicFrameLocks noGrp="1"/>
          </p:cNvGraphicFramePr>
          <p:nvPr/>
        </p:nvGraphicFramePr>
        <p:xfrm>
          <a:off x="6181725" y="1238250"/>
          <a:ext cx="5857874" cy="2286000"/>
        </p:xfrm>
        <a:graphic>
          <a:graphicData uri="http://schemas.openxmlformats.org/drawingml/2006/table">
            <a:tbl>
              <a:tblPr>
                <a:tableStyleId>{5C22544A-7EE6-4342-B048-85BDC9FD1C3A}</a:tableStyleId>
              </a:tblPr>
              <a:tblGrid>
                <a:gridCol w="1347990"/>
                <a:gridCol w="1127471"/>
                <a:gridCol w="1127471"/>
                <a:gridCol w="1127471"/>
                <a:gridCol w="1127471"/>
              </a:tblGrid>
              <a:tr h="246126">
                <a:tc>
                  <a:txBody>
                    <a:bodyPr wrap="none"/>
                    <a:lstStyle/>
                    <a:p>
                      <a:pPr algn="l"/>
                      <a:r>
                        <a:rPr sz="1100" b="1">
                          <a:solidFill>
                            <a:srgbClr val="0B2E4A"/>
                          </a:solidFill>
                          <a:latin typeface="Calibri"/>
                        </a:rPr>
                        <a:t>Packaging Format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339979">
                <a:tc>
                  <a:txBody>
                    <a:bodyPr wrap="none"/>
                    <a:lstStyle/>
                    <a:p>
                      <a:pPr algn="l"/>
                      <a:r>
                        <a:rPr sz="1100" b="1">
                          <a:solidFill>
                            <a:srgbClr val="2E2E2E"/>
                          </a:solidFill>
                          <a:latin typeface="Calibri"/>
                        </a:rPr>
                        <a:t>Bottles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Jars and Tubs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9979">
                <a:tc>
                  <a:txBody>
                    <a:bodyPr wrap="none"/>
                    <a:lstStyle/>
                    <a:p>
                      <a:pPr algn="l"/>
                      <a:r>
                        <a:rPr sz="1100" b="1">
                          <a:solidFill>
                            <a:srgbClr val="2E2E2E"/>
                          </a:solidFill>
                          <a:latin typeface="Calibri"/>
                        </a:rPr>
                        <a:t>Pouches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Sachets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9979">
                <a:tc>
                  <a:txBody>
                    <a:bodyPr wrap="none"/>
                    <a:lstStyle/>
                    <a:p>
                      <a:pPr algn="l"/>
                      <a:r>
                        <a:rPr sz="1100" b="1">
                          <a:solidFill>
                            <a:srgbClr val="2E2E2E"/>
                          </a:solidFill>
                          <a:latin typeface="Calibri"/>
                        </a:rPr>
                        <a:t>Blister Packs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Canisters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Packaging Format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597967" y="2237613"/>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Senior Dog Cognitive Supplement Market Tables Packaging Format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Packaging Format, 2021–2036</a:t>
            </a:r>
          </a:p>
        </p:txBody>
      </p:sp>
      <p:sp>
        <p:nvSpPr>
          <p:cNvPr id="14" name="Rounded Rectangle 13"/>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Packaging Format (US$ Mn)</a:t>
            </a:r>
          </a:p>
        </p:txBody>
      </p:sp>
      <p:graphicFrame>
        <p:nvGraphicFramePr>
          <p:cNvPr id="16" name="Table 15"/>
          <p:cNvGraphicFramePr>
            <a:graphicFrameLocks noGrp="1"/>
          </p:cNvGraphicFramePr>
          <p:nvPr/>
        </p:nvGraphicFramePr>
        <p:xfrm>
          <a:off x="152400" y="1238250"/>
          <a:ext cx="11887199" cy="1971675"/>
        </p:xfrm>
        <a:graphic>
          <a:graphicData uri="http://schemas.openxmlformats.org/drawingml/2006/table">
            <a:tbl>
              <a:tblPr>
                <a:tableStyleId>{5C22544A-7EE6-4342-B048-85BDC9FD1C3A}</a:tableStyleId>
              </a:tblPr>
              <a:tblGrid>
                <a:gridCol w="1313658"/>
                <a:gridCol w="621973"/>
                <a:gridCol w="621973"/>
                <a:gridCol w="621973"/>
                <a:gridCol w="621973"/>
                <a:gridCol w="621973"/>
                <a:gridCol w="621973"/>
                <a:gridCol w="621973"/>
                <a:gridCol w="621973"/>
                <a:gridCol w="621973"/>
                <a:gridCol w="621973"/>
                <a:gridCol w="621973"/>
                <a:gridCol w="621973"/>
                <a:gridCol w="621973"/>
                <a:gridCol w="621973"/>
                <a:gridCol w="621973"/>
                <a:gridCol w="621973"/>
                <a:gridCol w="621973"/>
              </a:tblGrid>
              <a:tr h="246126">
                <a:tc>
                  <a:txBody>
                    <a:bodyPr wrap="none"/>
                    <a:lstStyle/>
                    <a:p>
                      <a:pPr algn="l"/>
                      <a:r>
                        <a:rPr sz="1100" b="1">
                          <a:solidFill>
                            <a:srgbClr val="0B2E4A"/>
                          </a:solidFill>
                          <a:latin typeface="Calibri"/>
                        </a:rPr>
                        <a:t>Packaging Format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Bottles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Jars and Tubs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Pouches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Sachets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Blister Packs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Canisters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566138" y="2080450"/>
            <a:ext cx="366712" cy="533400"/>
          </a:xfrm>
          <a:prstGeom prst="rect">
            <a:avLst/>
          </a:prstGeom>
        </p:spPr>
      </p:pic>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Sales Channel</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Senior Dog Cognitive Supplement Market Segmental Analysis Sales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Sales Channel: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Sales Channel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Sales Channel</a:t>
            </a:r>
          </a:p>
        </p:txBody>
      </p:sp>
      <p:graphicFrame>
        <p:nvGraphicFramePr>
          <p:cNvPr id="15" name="Table 14"/>
          <p:cNvGraphicFramePr>
            <a:graphicFrameLocks noGrp="1"/>
          </p:cNvGraphicFramePr>
          <p:nvPr/>
        </p:nvGraphicFramePr>
        <p:xfrm>
          <a:off x="6181725" y="1238250"/>
          <a:ext cx="5857876" cy="2286000"/>
        </p:xfrm>
        <a:graphic>
          <a:graphicData uri="http://schemas.openxmlformats.org/drawingml/2006/table">
            <a:tbl>
              <a:tblPr>
                <a:tableStyleId>{5C22544A-7EE6-4342-B048-85BDC9FD1C3A}</a:tableStyleId>
              </a:tblPr>
              <a:tblGrid>
                <a:gridCol w="1795140"/>
                <a:gridCol w="1015684"/>
                <a:gridCol w="1015684"/>
                <a:gridCol w="1015684"/>
                <a:gridCol w="1015684"/>
              </a:tblGrid>
              <a:tr h="246126">
                <a:tc>
                  <a:txBody>
                    <a:bodyPr wrap="none"/>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339979">
                <a:tc>
                  <a:txBody>
                    <a:bodyPr wrap="none"/>
                    <a:lstStyle/>
                    <a:p>
                      <a:pPr algn="l"/>
                      <a:r>
                        <a:rPr sz="1100" b="1">
                          <a:solidFill>
                            <a:srgbClr val="2E2E2E"/>
                          </a:solidFill>
                          <a:latin typeface="Calibri"/>
                        </a:rPr>
                        <a:t>Veterinary Channels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Specialist Pet Retail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9979">
                <a:tc>
                  <a:txBody>
                    <a:bodyPr wrap="none"/>
                    <a:lstStyle/>
                    <a:p>
                      <a:pPr algn="l"/>
                      <a:r>
                        <a:rPr sz="1100" b="1">
                          <a:solidFill>
                            <a:srgbClr val="2E2E2E"/>
                          </a:solidFill>
                          <a:latin typeface="Calibri"/>
                        </a:rPr>
                        <a:t>General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Brand-Owned E-commerce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9979">
                <a:tc>
                  <a:txBody>
                    <a:bodyPr wrap="none"/>
                    <a:lstStyle/>
                    <a:p>
                      <a:pPr algn="l"/>
                      <a:r>
                        <a:rPr sz="1100" b="1">
                          <a:solidFill>
                            <a:srgbClr val="2E2E2E"/>
                          </a:solidFill>
                          <a:latin typeface="Calibri"/>
                        </a:rPr>
                        <a:t>Third-Party E-commerce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Other Direct Sales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Sales Channel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821543" y="2237613"/>
            <a:ext cx="366712" cy="533399"/>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Senior Dog Cognitive Supplement Market Tables Sales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Sales Channel, 2021–2036</a:t>
            </a:r>
          </a:p>
        </p:txBody>
      </p:sp>
      <p:sp>
        <p:nvSpPr>
          <p:cNvPr id="14" name="Rounded Rectangle 13"/>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Sales Channel (US$ Mn)</a:t>
            </a:r>
          </a:p>
        </p:txBody>
      </p:sp>
      <p:graphicFrame>
        <p:nvGraphicFramePr>
          <p:cNvPr id="16" name="Table 15"/>
          <p:cNvGraphicFramePr>
            <a:graphicFrameLocks noGrp="1"/>
          </p:cNvGraphicFramePr>
          <p:nvPr/>
        </p:nvGraphicFramePr>
        <p:xfrm>
          <a:off x="152400" y="1238250"/>
          <a:ext cx="11887204" cy="1971675"/>
        </p:xfrm>
        <a:graphic>
          <a:graphicData uri="http://schemas.openxmlformats.org/drawingml/2006/table">
            <a:tbl>
              <a:tblPr>
                <a:tableStyleId>{5C22544A-7EE6-4342-B048-85BDC9FD1C3A}</a:tableStyleId>
              </a:tblPr>
              <a:tblGrid>
                <a:gridCol w="1844471"/>
                <a:gridCol w="590749"/>
                <a:gridCol w="590749"/>
                <a:gridCol w="590749"/>
                <a:gridCol w="590749"/>
                <a:gridCol w="590749"/>
                <a:gridCol w="590749"/>
                <a:gridCol w="590749"/>
                <a:gridCol w="590749"/>
                <a:gridCol w="590749"/>
                <a:gridCol w="590749"/>
                <a:gridCol w="590749"/>
                <a:gridCol w="590749"/>
                <a:gridCol w="590749"/>
                <a:gridCol w="590749"/>
                <a:gridCol w="590749"/>
                <a:gridCol w="590749"/>
                <a:gridCol w="590749"/>
              </a:tblGrid>
              <a:tr h="246126">
                <a:tc>
                  <a:txBody>
                    <a:bodyPr wrap="none"/>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Veterinary Channels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Specialist Pet Retail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General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Brand-Owned E-commerce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Third-Party E-commerce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Other Direct Sales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831547" y="2080450"/>
            <a:ext cx="366712" cy="533400"/>
          </a:xfrm>
          <a:prstGeom prst="rect">
            <a:avLst/>
          </a:prstGeom>
        </p:spPr>
      </p:pic>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Senior Dog Cognitive Supplement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Pricing Assessment</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Pricing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Pricing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Pricing &amp; Regional Price Index Trends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Pricing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Price Positioning &amp; Key Findings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Pricing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Factors Impacting Pricing</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Product Pricing &amp; Regional Price Index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range by sub-segment and indexed regional price movement, highlighting dispersion and structural shifts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average USD pricing by product type and indexed regional price movement with base-year inflation adjustments.</a:t>
            </a:r>
          </a:p>
        </p:txBody>
      </p:sp>
      <p:sp>
        <p:nvSpPr>
          <p:cNvPr id="11" name="Rounded Rectangle 10"/>
          <p:cNvSpPr/>
          <p:nvPr/>
        </p:nvSpPr>
        <p:spPr>
          <a:xfrm>
            <a:off x="142875" y="1317574"/>
            <a:ext cx="7696200"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Pricing by Product Type</a:t>
            </a:r>
          </a:p>
        </p:txBody>
      </p:sp>
      <p:sp>
        <p:nvSpPr>
          <p:cNvPr id="13" name="TextBox 12"/>
          <p:cNvSpPr txBox="1"/>
          <p:nvPr/>
        </p:nvSpPr>
        <p:spPr>
          <a:xfrm>
            <a:off x="111919" y="3471051"/>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2457.0</a:t>
            </a:r>
          </a:p>
        </p:txBody>
      </p:sp>
      <p:sp>
        <p:nvSpPr>
          <p:cNvPr id="14" name="TextBox 13"/>
          <p:cNvSpPr txBox="1"/>
          <p:nvPr/>
        </p:nvSpPr>
        <p:spPr>
          <a:xfrm>
            <a:off x="111919" y="2561000"/>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4444.0</a:t>
            </a:r>
          </a:p>
        </p:txBody>
      </p:sp>
      <p:sp>
        <p:nvSpPr>
          <p:cNvPr id="15" name="TextBox 14"/>
          <p:cNvSpPr txBox="1"/>
          <p:nvPr/>
        </p:nvSpPr>
        <p:spPr>
          <a:xfrm>
            <a:off x="111919" y="1650949"/>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6430.9</a:t>
            </a:r>
          </a:p>
        </p:txBody>
      </p:sp>
      <p:cxnSp>
        <p:nvCxnSpPr>
          <p:cNvPr id="16" name="Connector 15"/>
          <p:cNvCxnSpPr/>
          <p:nvPr/>
        </p:nvCxnSpPr>
        <p:spPr>
          <a:xfrm>
            <a:off x="1241425" y="3056827"/>
            <a:ext cx="0" cy="129134"/>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1022350" y="3056827"/>
            <a:ext cx="438150" cy="129134"/>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7225" y="2904427"/>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19" name="TextBox 18"/>
          <p:cNvSpPr txBox="1"/>
          <p:nvPr/>
        </p:nvSpPr>
        <p:spPr>
          <a:xfrm>
            <a:off x="657225" y="3566301"/>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Chewables</a:t>
            </a:r>
          </a:p>
        </p:txBody>
      </p:sp>
      <p:cxnSp>
        <p:nvCxnSpPr>
          <p:cNvPr id="20" name="Connector 19"/>
          <p:cNvCxnSpPr/>
          <p:nvPr/>
        </p:nvCxnSpPr>
        <p:spPr>
          <a:xfrm>
            <a:off x="2409825" y="3222287"/>
            <a:ext cx="0" cy="105427"/>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2190750" y="3222287"/>
            <a:ext cx="438150" cy="105428"/>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5625" y="3069887"/>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23" name="TextBox 22"/>
          <p:cNvSpPr txBox="1"/>
          <p:nvPr/>
        </p:nvSpPr>
        <p:spPr>
          <a:xfrm>
            <a:off x="1825625" y="3566301"/>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Tablets</a:t>
            </a:r>
          </a:p>
        </p:txBody>
      </p:sp>
      <p:cxnSp>
        <p:nvCxnSpPr>
          <p:cNvPr id="24" name="Connector 23"/>
          <p:cNvCxnSpPr/>
          <p:nvPr/>
        </p:nvCxnSpPr>
        <p:spPr>
          <a:xfrm>
            <a:off x="3578225" y="1927636"/>
            <a:ext cx="0" cy="228529"/>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359150" y="1927636"/>
            <a:ext cx="438150" cy="228529"/>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94025" y="1775236"/>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27" name="TextBox 26"/>
          <p:cNvSpPr txBox="1"/>
          <p:nvPr/>
        </p:nvSpPr>
        <p:spPr>
          <a:xfrm>
            <a:off x="2994025" y="3566301"/>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Capsules and Softgels</a:t>
            </a:r>
          </a:p>
        </p:txBody>
      </p:sp>
      <p:cxnSp>
        <p:nvCxnSpPr>
          <p:cNvPr id="28" name="Connector 27"/>
          <p:cNvCxnSpPr/>
          <p:nvPr/>
        </p:nvCxnSpPr>
        <p:spPr>
          <a:xfrm>
            <a:off x="4746625" y="2013198"/>
            <a:ext cx="0" cy="182572"/>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27550" y="2013198"/>
            <a:ext cx="438150" cy="182572"/>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62425" y="1860798"/>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31" name="TextBox 30"/>
          <p:cNvSpPr txBox="1"/>
          <p:nvPr/>
        </p:nvSpPr>
        <p:spPr>
          <a:xfrm>
            <a:off x="4162425" y="3566301"/>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Powders and Granules</a:t>
            </a:r>
          </a:p>
        </p:txBody>
      </p:sp>
      <p:cxnSp>
        <p:nvCxnSpPr>
          <p:cNvPr id="32" name="Connector 31"/>
          <p:cNvCxnSpPr/>
          <p:nvPr/>
        </p:nvCxnSpPr>
        <p:spPr>
          <a:xfrm>
            <a:off x="5915025" y="2045868"/>
            <a:ext cx="0" cy="191710"/>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695950" y="2045868"/>
            <a:ext cx="438150" cy="191710"/>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30825" y="1893468"/>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35" name="TextBox 34"/>
          <p:cNvSpPr txBox="1"/>
          <p:nvPr/>
        </p:nvSpPr>
        <p:spPr>
          <a:xfrm>
            <a:off x="5330825" y="3566301"/>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Liquids</a:t>
            </a:r>
          </a:p>
        </p:txBody>
      </p:sp>
      <p:cxnSp>
        <p:nvCxnSpPr>
          <p:cNvPr id="36" name="Connector 35"/>
          <p:cNvCxnSpPr/>
          <p:nvPr/>
        </p:nvCxnSpPr>
        <p:spPr>
          <a:xfrm>
            <a:off x="7083425" y="2839018"/>
            <a:ext cx="0" cy="147896"/>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6864350" y="2839018"/>
            <a:ext cx="438150" cy="147896"/>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99225" y="2686618"/>
            <a:ext cx="11684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39" name="TextBox 38"/>
          <p:cNvSpPr txBox="1"/>
          <p:nvPr/>
        </p:nvSpPr>
        <p:spPr>
          <a:xfrm>
            <a:off x="6499225" y="3566301"/>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Gels and Pastes</a:t>
            </a:r>
          </a:p>
        </p:txBody>
      </p:sp>
      <p:sp>
        <p:nvSpPr>
          <p:cNvPr id="40" name="Rounded Rectangle 39"/>
          <p:cNvSpPr/>
          <p:nvPr/>
        </p:nvSpPr>
        <p:spPr>
          <a:xfrm>
            <a:off x="142875" y="3991741"/>
            <a:ext cx="7696200" cy="2564645"/>
          </a:xfrm>
          <a:prstGeom prst="roundRect">
            <a:avLst>
              <a:gd name="adj" fmla="val 29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38125" y="4048891"/>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Price Trend (2026–2036)</a:t>
            </a:r>
          </a:p>
        </p:txBody>
      </p:sp>
      <p:cxnSp>
        <p:nvCxnSpPr>
          <p:cNvPr id="42" name="Connector 41"/>
          <p:cNvCxnSpPr/>
          <p:nvPr/>
        </p:nvCxnSpPr>
        <p:spPr>
          <a:xfrm>
            <a:off x="619125" y="452283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19125" y="4886067"/>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19125" y="524929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19125" y="5612529"/>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19125" y="597576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19125" y="4522836"/>
            <a:ext cx="0" cy="1452924"/>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90550" y="452283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90550" y="4886067"/>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90550" y="52492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90550" y="5612529"/>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90550" y="597576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53" name="FMI Scale tick"/>
          <p:cNvSpPr txBox="1"/>
          <p:nvPr/>
        </p:nvSpPr>
        <p:spPr>
          <a:xfrm>
            <a:off x="219075" y="4456161"/>
            <a:ext cx="361950" cy="133350"/>
          </a:xfrm>
          <a:prstGeom prst="rect">
            <a:avLst/>
          </a:prstGeom>
          <a:noFill/>
        </p:spPr>
        <p:txBody>
          <a:bodyPr wrap="none" lIns="0" rIns="0" tIns="0" bIns="0" anchor="ctr">
            <a:spAutoFit/>
          </a:bodyPr>
          <a:lstStyle/>
          <a:p>
            <a:pPr algn="r"/>
            <a:r>
              <a:rPr sz="1100" b="0">
                <a:solidFill>
                  <a:srgbClr val="6C7A89"/>
                </a:solidFill>
                <a:latin typeface="Calibri"/>
              </a:rPr>
              <a:t>+11%</a:t>
            </a:r>
          </a:p>
        </p:txBody>
      </p:sp>
      <p:sp>
        <p:nvSpPr>
          <p:cNvPr id="54" name="FMI Scale tick"/>
          <p:cNvSpPr txBox="1"/>
          <p:nvPr/>
        </p:nvSpPr>
        <p:spPr>
          <a:xfrm>
            <a:off x="219075" y="4819392"/>
            <a:ext cx="361950" cy="133350"/>
          </a:xfrm>
          <a:prstGeom prst="rect">
            <a:avLst/>
          </a:prstGeom>
          <a:noFill/>
        </p:spPr>
        <p:txBody>
          <a:bodyPr wrap="none" lIns="0" rIns="0" tIns="0" bIns="0" anchor="ctr">
            <a:spAutoFit/>
          </a:bodyPr>
          <a:lstStyle/>
          <a:p>
            <a:pPr algn="r"/>
            <a:r>
              <a:rPr sz="1100" b="0">
                <a:solidFill>
                  <a:srgbClr val="6C7A89"/>
                </a:solidFill>
                <a:latin typeface="Calibri"/>
              </a:rPr>
              <a:t>+5%</a:t>
            </a:r>
          </a:p>
        </p:txBody>
      </p:sp>
      <p:sp>
        <p:nvSpPr>
          <p:cNvPr id="55" name="FMI Scale tick"/>
          <p:cNvSpPr txBox="1"/>
          <p:nvPr/>
        </p:nvSpPr>
        <p:spPr>
          <a:xfrm>
            <a:off x="219075" y="5182623"/>
            <a:ext cx="361950" cy="13335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56" name="FMI Scale tick"/>
          <p:cNvSpPr txBox="1"/>
          <p:nvPr/>
        </p:nvSpPr>
        <p:spPr>
          <a:xfrm>
            <a:off x="219075" y="5545854"/>
            <a:ext cx="361950" cy="133350"/>
          </a:xfrm>
          <a:prstGeom prst="rect">
            <a:avLst/>
          </a:prstGeom>
          <a:noFill/>
        </p:spPr>
        <p:txBody>
          <a:bodyPr wrap="none" lIns="0" rIns="0" tIns="0" bIns="0" anchor="ctr">
            <a:spAutoFit/>
          </a:bodyPr>
          <a:lstStyle/>
          <a:p>
            <a:pPr algn="r"/>
            <a:r>
              <a:rPr sz="1100" b="0">
                <a:solidFill>
                  <a:srgbClr val="6C7A89"/>
                </a:solidFill>
                <a:latin typeface="Calibri"/>
              </a:rPr>
              <a:t>-5%</a:t>
            </a:r>
          </a:p>
        </p:txBody>
      </p:sp>
      <p:sp>
        <p:nvSpPr>
          <p:cNvPr id="57" name="FMI Scale tick"/>
          <p:cNvSpPr txBox="1"/>
          <p:nvPr/>
        </p:nvSpPr>
        <p:spPr>
          <a:xfrm>
            <a:off x="219075" y="5909085"/>
            <a:ext cx="361950" cy="133350"/>
          </a:xfrm>
          <a:prstGeom prst="rect">
            <a:avLst/>
          </a:prstGeom>
          <a:noFill/>
        </p:spPr>
        <p:txBody>
          <a:bodyPr wrap="none" lIns="0" rIns="0" tIns="0" bIns="0" anchor="ctr">
            <a:spAutoFit/>
          </a:bodyPr>
          <a:lstStyle/>
          <a:p>
            <a:pPr algn="r"/>
            <a:r>
              <a:rPr sz="1100" b="0">
                <a:solidFill>
                  <a:srgbClr val="6C7A89"/>
                </a:solidFill>
                <a:latin typeface="Calibri"/>
              </a:rPr>
              <a:t>-11%</a:t>
            </a:r>
          </a:p>
        </p:txBody>
      </p:sp>
      <p:cxnSp>
        <p:nvCxnSpPr>
          <p:cNvPr id="58" name="Connector 57"/>
          <p:cNvCxnSpPr/>
          <p:nvPr/>
        </p:nvCxnSpPr>
        <p:spPr>
          <a:xfrm>
            <a:off x="619125" y="5249298"/>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977900" y="4614107"/>
            <a:ext cx="457200" cy="63519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MI Data Label"/>
          <p:cNvSpPr txBox="1"/>
          <p:nvPr/>
        </p:nvSpPr>
        <p:spPr>
          <a:xfrm>
            <a:off x="619125" y="4471232"/>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1" name="Rectangle 60"/>
          <p:cNvSpPr/>
          <p:nvPr/>
        </p:nvSpPr>
        <p:spPr>
          <a:xfrm>
            <a:off x="2152650" y="5205209"/>
            <a:ext cx="457200" cy="44089"/>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MI Data Label"/>
          <p:cNvSpPr txBox="1"/>
          <p:nvPr/>
        </p:nvSpPr>
        <p:spPr>
          <a:xfrm>
            <a:off x="1793875" y="5062334"/>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3" name="Rectangle 62"/>
          <p:cNvSpPr/>
          <p:nvPr/>
        </p:nvSpPr>
        <p:spPr>
          <a:xfrm>
            <a:off x="3327400" y="4769281"/>
            <a:ext cx="457200" cy="480017"/>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MI Data Label"/>
          <p:cNvSpPr txBox="1"/>
          <p:nvPr/>
        </p:nvSpPr>
        <p:spPr>
          <a:xfrm>
            <a:off x="2968625" y="4626406"/>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5" name="Rectangle 64"/>
          <p:cNvSpPr/>
          <p:nvPr/>
        </p:nvSpPr>
        <p:spPr>
          <a:xfrm>
            <a:off x="4502150" y="5249298"/>
            <a:ext cx="457200" cy="379732"/>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MI Data Label"/>
          <p:cNvSpPr txBox="1"/>
          <p:nvPr/>
        </p:nvSpPr>
        <p:spPr>
          <a:xfrm>
            <a:off x="4143375" y="5638555"/>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7" name="Rectangle 66"/>
          <p:cNvSpPr/>
          <p:nvPr/>
        </p:nvSpPr>
        <p:spPr>
          <a:xfrm>
            <a:off x="5676900" y="5249298"/>
            <a:ext cx="457200" cy="378968"/>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MI Data Label"/>
          <p:cNvSpPr txBox="1"/>
          <p:nvPr/>
        </p:nvSpPr>
        <p:spPr>
          <a:xfrm>
            <a:off x="5318125" y="5637791"/>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9" name="Rectangle 68"/>
          <p:cNvSpPr/>
          <p:nvPr/>
        </p:nvSpPr>
        <p:spPr>
          <a:xfrm>
            <a:off x="6851650" y="5249298"/>
            <a:ext cx="457200" cy="76626"/>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MI Data Label"/>
          <p:cNvSpPr txBox="1"/>
          <p:nvPr/>
        </p:nvSpPr>
        <p:spPr>
          <a:xfrm>
            <a:off x="6492875" y="5335449"/>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1" name="TextBox 70"/>
          <p:cNvSpPr txBox="1"/>
          <p:nvPr/>
        </p:nvSpPr>
        <p:spPr>
          <a:xfrm>
            <a:off x="619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72" name="TextBox 71"/>
          <p:cNvSpPr txBox="1"/>
          <p:nvPr/>
        </p:nvSpPr>
        <p:spPr>
          <a:xfrm>
            <a:off x="1793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73" name="TextBox 72"/>
          <p:cNvSpPr txBox="1"/>
          <p:nvPr/>
        </p:nvSpPr>
        <p:spPr>
          <a:xfrm>
            <a:off x="29686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Europe</a:t>
            </a:r>
          </a:p>
        </p:txBody>
      </p:sp>
      <p:sp>
        <p:nvSpPr>
          <p:cNvPr id="74" name="TextBox 73"/>
          <p:cNvSpPr txBox="1"/>
          <p:nvPr/>
        </p:nvSpPr>
        <p:spPr>
          <a:xfrm>
            <a:off x="41433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75" name="TextBox 74"/>
          <p:cNvSpPr txBox="1"/>
          <p:nvPr/>
        </p:nvSpPr>
        <p:spPr>
          <a:xfrm>
            <a:off x="5318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76" name="TextBox 75"/>
          <p:cNvSpPr txBox="1"/>
          <p:nvPr/>
        </p:nvSpPr>
        <p:spPr>
          <a:xfrm>
            <a:off x="6492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Middle East &amp; Africa</a:t>
            </a:r>
          </a:p>
        </p:txBody>
      </p:sp>
      <p:sp>
        <p:nvSpPr>
          <p:cNvPr id="77" name="Rounded Rectangle 76"/>
          <p:cNvSpPr/>
          <p:nvPr/>
        </p:nvSpPr>
        <p:spPr>
          <a:xfrm>
            <a:off x="7915275" y="1317574"/>
            <a:ext cx="4133850" cy="5238811"/>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79" name="Rectangle 78"/>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81" name="TextBox 8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2" name="Picture 81" descr="lock.png"/>
          <p:cNvPicPr>
            <a:picLocks noChangeAspect="1"/>
          </p:cNvPicPr>
          <p:nvPr/>
        </p:nvPicPr>
        <p:blipFill>
          <a:blip r:embed="rId4"/>
          <a:stretch>
            <a:fillRect/>
          </a:stretch>
        </p:blipFill>
        <p:spPr>
          <a:xfrm>
            <a:off x="1177075" y="2877503"/>
            <a:ext cx="128699" cy="187198"/>
          </a:xfrm>
          <a:prstGeom prst="rect">
            <a:avLst/>
          </a:prstGeom>
        </p:spPr>
      </p:pic>
      <p:pic>
        <p:nvPicPr>
          <p:cNvPr id="83" name="Picture 82" descr="lock.png"/>
          <p:cNvPicPr>
            <a:picLocks noChangeAspect="1"/>
          </p:cNvPicPr>
          <p:nvPr/>
        </p:nvPicPr>
        <p:blipFill>
          <a:blip r:embed="rId4"/>
          <a:stretch>
            <a:fillRect/>
          </a:stretch>
        </p:blipFill>
        <p:spPr>
          <a:xfrm>
            <a:off x="2345475" y="3042963"/>
            <a:ext cx="128699" cy="187198"/>
          </a:xfrm>
          <a:prstGeom prst="rect">
            <a:avLst/>
          </a:prstGeom>
        </p:spPr>
      </p:pic>
      <p:pic>
        <p:nvPicPr>
          <p:cNvPr id="84" name="Picture 83" descr="lock.png"/>
          <p:cNvPicPr>
            <a:picLocks noChangeAspect="1"/>
          </p:cNvPicPr>
          <p:nvPr/>
        </p:nvPicPr>
        <p:blipFill>
          <a:blip r:embed="rId4"/>
          <a:stretch>
            <a:fillRect/>
          </a:stretch>
        </p:blipFill>
        <p:spPr>
          <a:xfrm>
            <a:off x="3513875" y="1748312"/>
            <a:ext cx="128699" cy="187198"/>
          </a:xfrm>
          <a:prstGeom prst="rect">
            <a:avLst/>
          </a:prstGeom>
        </p:spPr>
      </p:pic>
      <p:pic>
        <p:nvPicPr>
          <p:cNvPr id="85" name="Picture 84" descr="lock.png"/>
          <p:cNvPicPr>
            <a:picLocks noChangeAspect="1"/>
          </p:cNvPicPr>
          <p:nvPr/>
        </p:nvPicPr>
        <p:blipFill>
          <a:blip r:embed="rId4"/>
          <a:stretch>
            <a:fillRect/>
          </a:stretch>
        </p:blipFill>
        <p:spPr>
          <a:xfrm>
            <a:off x="4682275" y="1833874"/>
            <a:ext cx="128699" cy="187198"/>
          </a:xfrm>
          <a:prstGeom prst="rect">
            <a:avLst/>
          </a:prstGeom>
        </p:spPr>
      </p:pic>
      <p:pic>
        <p:nvPicPr>
          <p:cNvPr id="86" name="Picture 85" descr="lock.png"/>
          <p:cNvPicPr>
            <a:picLocks noChangeAspect="1"/>
          </p:cNvPicPr>
          <p:nvPr/>
        </p:nvPicPr>
        <p:blipFill>
          <a:blip r:embed="rId4"/>
          <a:stretch>
            <a:fillRect/>
          </a:stretch>
        </p:blipFill>
        <p:spPr>
          <a:xfrm>
            <a:off x="5850675" y="1866544"/>
            <a:ext cx="128699" cy="187198"/>
          </a:xfrm>
          <a:prstGeom prst="rect">
            <a:avLst/>
          </a:prstGeom>
        </p:spPr>
      </p:pic>
      <p:pic>
        <p:nvPicPr>
          <p:cNvPr id="87" name="Picture 86" descr="lock.png"/>
          <p:cNvPicPr>
            <a:picLocks noChangeAspect="1"/>
          </p:cNvPicPr>
          <p:nvPr/>
        </p:nvPicPr>
        <p:blipFill>
          <a:blip r:embed="rId4"/>
          <a:stretch>
            <a:fillRect/>
          </a:stretch>
        </p:blipFill>
        <p:spPr>
          <a:xfrm>
            <a:off x="7019075" y="2659694"/>
            <a:ext cx="128699" cy="187198"/>
          </a:xfrm>
          <a:prstGeom prst="rect">
            <a:avLst/>
          </a:prstGeom>
        </p:spPr>
      </p:pic>
      <p:pic>
        <p:nvPicPr>
          <p:cNvPr id="88" name="Picture 87" descr="lock.png"/>
          <p:cNvPicPr>
            <a:picLocks noChangeAspect="1"/>
          </p:cNvPicPr>
          <p:nvPr/>
        </p:nvPicPr>
        <p:blipFill>
          <a:blip r:embed="rId4"/>
          <a:stretch>
            <a:fillRect/>
          </a:stretch>
        </p:blipFill>
        <p:spPr>
          <a:xfrm>
            <a:off x="1142150" y="4444308"/>
            <a:ext cx="128699" cy="187198"/>
          </a:xfrm>
          <a:prstGeom prst="rect">
            <a:avLst/>
          </a:prstGeom>
        </p:spPr>
      </p:pic>
      <p:pic>
        <p:nvPicPr>
          <p:cNvPr id="89" name="Picture 88" descr="lock.png"/>
          <p:cNvPicPr>
            <a:picLocks noChangeAspect="1"/>
          </p:cNvPicPr>
          <p:nvPr/>
        </p:nvPicPr>
        <p:blipFill>
          <a:blip r:embed="rId4"/>
          <a:stretch>
            <a:fillRect/>
          </a:stretch>
        </p:blipFill>
        <p:spPr>
          <a:xfrm>
            <a:off x="2316900" y="5035409"/>
            <a:ext cx="128699" cy="187198"/>
          </a:xfrm>
          <a:prstGeom prst="rect">
            <a:avLst/>
          </a:prstGeom>
        </p:spPr>
      </p:pic>
      <p:pic>
        <p:nvPicPr>
          <p:cNvPr id="90" name="Picture 89" descr="lock.png"/>
          <p:cNvPicPr>
            <a:picLocks noChangeAspect="1"/>
          </p:cNvPicPr>
          <p:nvPr/>
        </p:nvPicPr>
        <p:blipFill>
          <a:blip r:embed="rId4"/>
          <a:stretch>
            <a:fillRect/>
          </a:stretch>
        </p:blipFill>
        <p:spPr>
          <a:xfrm>
            <a:off x="3491650" y="4599482"/>
            <a:ext cx="128699" cy="187198"/>
          </a:xfrm>
          <a:prstGeom prst="rect">
            <a:avLst/>
          </a:prstGeom>
        </p:spPr>
      </p:pic>
      <p:pic>
        <p:nvPicPr>
          <p:cNvPr id="91" name="Picture 90" descr="lock.png"/>
          <p:cNvPicPr>
            <a:picLocks noChangeAspect="1"/>
          </p:cNvPicPr>
          <p:nvPr/>
        </p:nvPicPr>
        <p:blipFill>
          <a:blip r:embed="rId4"/>
          <a:stretch>
            <a:fillRect/>
          </a:stretch>
        </p:blipFill>
        <p:spPr>
          <a:xfrm>
            <a:off x="4666400" y="5611630"/>
            <a:ext cx="128699" cy="187198"/>
          </a:xfrm>
          <a:prstGeom prst="rect">
            <a:avLst/>
          </a:prstGeom>
        </p:spPr>
      </p:pic>
      <p:pic>
        <p:nvPicPr>
          <p:cNvPr id="92" name="Picture 91" descr="lock.png"/>
          <p:cNvPicPr>
            <a:picLocks noChangeAspect="1"/>
          </p:cNvPicPr>
          <p:nvPr/>
        </p:nvPicPr>
        <p:blipFill>
          <a:blip r:embed="rId4"/>
          <a:stretch>
            <a:fillRect/>
          </a:stretch>
        </p:blipFill>
        <p:spPr>
          <a:xfrm>
            <a:off x="5841150" y="5610866"/>
            <a:ext cx="128699" cy="187198"/>
          </a:xfrm>
          <a:prstGeom prst="rect">
            <a:avLst/>
          </a:prstGeom>
        </p:spPr>
      </p:pic>
      <p:pic>
        <p:nvPicPr>
          <p:cNvPr id="93" name="Picture 92" descr="lock.png"/>
          <p:cNvPicPr>
            <a:picLocks noChangeAspect="1"/>
          </p:cNvPicPr>
          <p:nvPr/>
        </p:nvPicPr>
        <p:blipFill>
          <a:blip r:embed="rId4"/>
          <a:stretch>
            <a:fillRect/>
          </a:stretch>
        </p:blipFill>
        <p:spPr>
          <a:xfrm>
            <a:off x="7015900" y="5308524"/>
            <a:ext cx="128699" cy="187198"/>
          </a:xfrm>
          <a:prstGeom prst="rect">
            <a:avLst/>
          </a:prstGeom>
        </p:spPr>
      </p:pic>
      <p:sp>
        <p:nvSpPr>
          <p:cNvPr id="94" name="TextBox 93"/>
          <p:cNvSpPr txBox="1"/>
          <p:nvPr/>
        </p:nvSpPr>
        <p:spPr>
          <a:xfrm>
            <a:off x="8048625" y="1736673"/>
            <a:ext cx="3829285" cy="194310"/>
          </a:xfrm>
          <a:prstGeom prst="rect">
            <a:avLst/>
          </a:prstGeom>
          <a:noFill/>
        </p:spPr>
        <p:txBody>
          <a:bodyPr wrap="none" lIns="0" rIns="0" tIns="0" bIns="0">
            <a:spAutoFit/>
          </a:bodyPr>
          <a:lstStyle/>
          <a:p>
            <a:r>
              <a:rPr sz="1150" b="0">
                <a:solidFill>
                  <a:srgbClr val="2E2E2E"/>
                </a:solidFill>
                <a:latin typeface="Calibri"/>
              </a:rPr>
              <a:t>▪ The chart shows global average pricing of key form type types</a:t>
            </a:r>
          </a:p>
        </p:txBody>
      </p:sp>
      <p:sp>
        <p:nvSpPr>
          <p:cNvPr id="95" name="TextBox 94"/>
          <p:cNvSpPr txBox="1"/>
          <p:nvPr/>
        </p:nvSpPr>
        <p:spPr>
          <a:xfrm>
            <a:off x="8048625" y="1911934"/>
            <a:ext cx="3770140" cy="194310"/>
          </a:xfrm>
          <a:prstGeom prst="rect">
            <a:avLst/>
          </a:prstGeom>
          <a:noFill/>
        </p:spPr>
        <p:txBody>
          <a:bodyPr wrap="none" lIns="0" rIns="0" tIns="0" bIns="0">
            <a:spAutoFit/>
          </a:bodyPr>
          <a:lstStyle/>
          <a:p>
            <a:r>
              <a:rPr sz="1150" b="0">
                <a:solidFill>
                  <a:srgbClr val="2E2E2E"/>
                </a:solidFill>
                <a:latin typeface="Calibri"/>
              </a:rPr>
              <a:t>in USD, harmonised across regions. Each candlestick spans the</a:t>
            </a:r>
          </a:p>
        </p:txBody>
      </p:sp>
      <p:sp>
        <p:nvSpPr>
          <p:cNvPr id="96" name="TextBox 95"/>
          <p:cNvSpPr txBox="1"/>
          <p:nvPr/>
        </p:nvSpPr>
        <p:spPr>
          <a:xfrm>
            <a:off x="8048625" y="2087194"/>
            <a:ext cx="3646437" cy="194310"/>
          </a:xfrm>
          <a:prstGeom prst="rect">
            <a:avLst/>
          </a:prstGeom>
          <a:noFill/>
        </p:spPr>
        <p:txBody>
          <a:bodyPr wrap="none" lIns="0" rIns="0" tIns="0" bIns="0">
            <a:spAutoFit/>
          </a:bodyPr>
          <a:lstStyle/>
          <a:p>
            <a:r>
              <a:rPr sz="1150" b="0">
                <a:solidFill>
                  <a:srgbClr val="2E2E2E"/>
                </a:solidFill>
                <a:latin typeface="Calibri"/>
              </a:rPr>
              <a:t>minimum-to-maximum observed price within the base year,</a:t>
            </a:r>
          </a:p>
        </p:txBody>
      </p:sp>
      <p:sp>
        <p:nvSpPr>
          <p:cNvPr id="97" name="TextBox 96"/>
          <p:cNvSpPr txBox="1"/>
          <p:nvPr/>
        </p:nvSpPr>
        <p:spPr>
          <a:xfrm>
            <a:off x="8048625" y="2262454"/>
            <a:ext cx="3406254" cy="194310"/>
          </a:xfrm>
          <a:prstGeom prst="rect">
            <a:avLst/>
          </a:prstGeom>
          <a:noFill/>
        </p:spPr>
        <p:txBody>
          <a:bodyPr wrap="none" lIns="0" rIns="0" tIns="0" bIns="0">
            <a:spAutoFit/>
          </a:bodyPr>
          <a:lstStyle/>
          <a:p>
            <a:r>
              <a:rPr sz="1150" b="0">
                <a:solidFill>
                  <a:srgbClr val="2E2E2E"/>
                </a:solidFill>
                <a:latin typeface="Calibri"/>
              </a:rPr>
              <a:t>giving a clear read of price range and market dispersion.</a:t>
            </a:r>
          </a:p>
        </p:txBody>
      </p:sp>
      <p:sp>
        <p:nvSpPr>
          <p:cNvPr id="98" name="TextBox 97"/>
          <p:cNvSpPr txBox="1"/>
          <p:nvPr/>
        </p:nvSpPr>
        <p:spPr>
          <a:xfrm>
            <a:off x="8048625" y="2490292"/>
            <a:ext cx="3793058" cy="194310"/>
          </a:xfrm>
          <a:prstGeom prst="rect">
            <a:avLst/>
          </a:prstGeom>
          <a:noFill/>
        </p:spPr>
        <p:txBody>
          <a:bodyPr wrap="none" lIns="0" rIns="0" tIns="0" bIns="0">
            <a:spAutoFit/>
          </a:bodyPr>
          <a:lstStyle/>
          <a:p>
            <a:r>
              <a:rPr sz="1150" b="0">
                <a:solidFill>
                  <a:srgbClr val="2E2E2E"/>
                </a:solidFill>
                <a:latin typeface="Calibri"/>
              </a:rPr>
              <a:t>▪ Wider bodies mark a larger gap between opening and closing</a:t>
            </a:r>
          </a:p>
        </p:txBody>
      </p:sp>
      <p:sp>
        <p:nvSpPr>
          <p:cNvPr id="99" name="TextBox 98"/>
          <p:cNvSpPr txBox="1"/>
          <p:nvPr/>
        </p:nvSpPr>
        <p:spPr>
          <a:xfrm>
            <a:off x="8048625" y="2665551"/>
            <a:ext cx="3770238" cy="194310"/>
          </a:xfrm>
          <a:prstGeom prst="rect">
            <a:avLst/>
          </a:prstGeom>
          <a:noFill/>
        </p:spPr>
        <p:txBody>
          <a:bodyPr wrap="none" lIns="0" rIns="0" tIns="0" bIns="0">
            <a:spAutoFit/>
          </a:bodyPr>
          <a:lstStyle/>
          <a:p>
            <a:r>
              <a:rPr sz="1150" b="0">
                <a:solidFill>
                  <a:srgbClr val="2E2E2E"/>
                </a:solidFill>
                <a:latin typeface="Calibri"/>
              </a:rPr>
              <a:t>price levels 'Capsules and Softgels' shows the most movement</a:t>
            </a:r>
          </a:p>
        </p:txBody>
      </p:sp>
      <p:sp>
        <p:nvSpPr>
          <p:cNvPr id="100" name="TextBox 99"/>
          <p:cNvSpPr txBox="1"/>
          <p:nvPr/>
        </p:nvSpPr>
        <p:spPr>
          <a:xfrm>
            <a:off x="8048625" y="2840811"/>
            <a:ext cx="193154"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101" name="Picture 100" descr="lock.png"/>
          <p:cNvPicPr>
            <a:picLocks noChangeAspect="1"/>
          </p:cNvPicPr>
          <p:nvPr/>
        </p:nvPicPr>
        <p:blipFill>
          <a:blip r:embed="rId4"/>
          <a:stretch>
            <a:fillRect/>
          </a:stretch>
        </p:blipFill>
        <p:spPr>
          <a:xfrm>
            <a:off x="8190933" y="2830588"/>
            <a:ext cx="134549" cy="195707"/>
          </a:xfrm>
          <a:prstGeom prst="rect">
            <a:avLst/>
          </a:prstGeom>
        </p:spPr>
      </p:pic>
      <p:sp>
        <p:nvSpPr>
          <p:cNvPr id="102" name="TextBox 101"/>
          <p:cNvSpPr txBox="1"/>
          <p:nvPr/>
        </p:nvSpPr>
        <p:spPr>
          <a:xfrm>
            <a:off x="8366042" y="2840811"/>
            <a:ext cx="2505707" cy="194310"/>
          </a:xfrm>
          <a:prstGeom prst="rect">
            <a:avLst/>
          </a:prstGeom>
          <a:noFill/>
        </p:spPr>
        <p:txBody>
          <a:bodyPr wrap="none" lIns="0" rIns="0" tIns="0" bIns="0">
            <a:spAutoFit/>
          </a:bodyPr>
          <a:lstStyle/>
          <a:p>
            <a:r>
              <a:rPr sz="1150" b="0">
                <a:solidFill>
                  <a:srgbClr val="2E2E2E"/>
                </a:solidFill>
                <a:latin typeface="Calibri"/>
              </a:rPr>
              <a:t>) and 'Powders and Granules' the least (+</a:t>
            </a:r>
          </a:p>
        </p:txBody>
      </p:sp>
      <p:pic>
        <p:nvPicPr>
          <p:cNvPr id="103" name="Picture 102" descr="lock.png"/>
          <p:cNvPicPr>
            <a:picLocks noChangeAspect="1"/>
          </p:cNvPicPr>
          <p:nvPr/>
        </p:nvPicPr>
        <p:blipFill>
          <a:blip r:embed="rId4"/>
          <a:stretch>
            <a:fillRect/>
          </a:stretch>
        </p:blipFill>
        <p:spPr>
          <a:xfrm>
            <a:off x="10820903" y="2830588"/>
            <a:ext cx="134549" cy="195707"/>
          </a:xfrm>
          <a:prstGeom prst="rect">
            <a:avLst/>
          </a:prstGeom>
        </p:spPr>
      </p:pic>
      <p:sp>
        <p:nvSpPr>
          <p:cNvPr id="104" name="TextBox 103"/>
          <p:cNvSpPr txBox="1"/>
          <p:nvPr/>
        </p:nvSpPr>
        <p:spPr>
          <a:xfrm>
            <a:off x="10996013" y="2840811"/>
            <a:ext cx="736848" cy="194310"/>
          </a:xfrm>
          <a:prstGeom prst="rect">
            <a:avLst/>
          </a:prstGeom>
          <a:noFill/>
        </p:spPr>
        <p:txBody>
          <a:bodyPr wrap="none" lIns="0" rIns="0" tIns="0" bIns="0">
            <a:spAutoFit/>
          </a:bodyPr>
          <a:lstStyle/>
          <a:p>
            <a:r>
              <a:rPr sz="1150" b="0">
                <a:solidFill>
                  <a:srgbClr val="2E2E2E"/>
                </a:solidFill>
                <a:latin typeface="Calibri"/>
              </a:rPr>
              <a:t>) variability</a:t>
            </a:r>
          </a:p>
        </p:txBody>
      </p:sp>
      <p:sp>
        <p:nvSpPr>
          <p:cNvPr id="105" name="TextBox 104"/>
          <p:cNvSpPr txBox="1"/>
          <p:nvPr/>
        </p:nvSpPr>
        <p:spPr>
          <a:xfrm>
            <a:off x="8048625" y="3016071"/>
            <a:ext cx="3668117" cy="194310"/>
          </a:xfrm>
          <a:prstGeom prst="rect">
            <a:avLst/>
          </a:prstGeom>
          <a:noFill/>
        </p:spPr>
        <p:txBody>
          <a:bodyPr wrap="none" lIns="0" rIns="0" tIns="0" bIns="0">
            <a:spAutoFit/>
          </a:bodyPr>
          <a:lstStyle/>
          <a:p>
            <a:r>
              <a:rPr sz="1150" b="0">
                <a:solidFill>
                  <a:srgbClr val="2E2E2E"/>
                </a:solidFill>
                <a:latin typeface="Calibri"/>
              </a:rPr>
              <a:t>stakeholders should monitor when planning procurement or</a:t>
            </a:r>
          </a:p>
        </p:txBody>
      </p:sp>
      <p:sp>
        <p:nvSpPr>
          <p:cNvPr id="106" name="TextBox 105"/>
          <p:cNvSpPr txBox="1"/>
          <p:nvPr/>
        </p:nvSpPr>
        <p:spPr>
          <a:xfrm>
            <a:off x="8048625" y="3191331"/>
            <a:ext cx="515491" cy="194310"/>
          </a:xfrm>
          <a:prstGeom prst="rect">
            <a:avLst/>
          </a:prstGeom>
          <a:noFill/>
        </p:spPr>
        <p:txBody>
          <a:bodyPr wrap="none" lIns="0" rIns="0" tIns="0" bIns="0">
            <a:spAutoFit/>
          </a:bodyPr>
          <a:lstStyle/>
          <a:p>
            <a:r>
              <a:rPr sz="1150" b="0">
                <a:solidFill>
                  <a:srgbClr val="2E2E2E"/>
                </a:solidFill>
                <a:latin typeface="Calibri"/>
              </a:rPr>
              <a:t>pricing.</a:t>
            </a:r>
          </a:p>
        </p:txBody>
      </p:sp>
      <p:sp>
        <p:nvSpPr>
          <p:cNvPr id="107" name="TextBox 106"/>
          <p:cNvSpPr txBox="1"/>
          <p:nvPr/>
        </p:nvSpPr>
        <p:spPr>
          <a:xfrm>
            <a:off x="8048625" y="3419169"/>
            <a:ext cx="3718607" cy="194310"/>
          </a:xfrm>
          <a:prstGeom prst="rect">
            <a:avLst/>
          </a:prstGeom>
          <a:noFill/>
        </p:spPr>
        <p:txBody>
          <a:bodyPr wrap="none" lIns="0" rIns="0" tIns="0" bIns="0">
            <a:spAutoFit/>
          </a:bodyPr>
          <a:lstStyle/>
          <a:p>
            <a:r>
              <a:rPr sz="1150" b="0">
                <a:solidFill>
                  <a:srgbClr val="2E2E2E"/>
                </a:solidFill>
                <a:latin typeface="Calibri"/>
              </a:rPr>
              <a:t>▪ The lower chart indexes region-level price movement to the</a:t>
            </a:r>
          </a:p>
        </p:txBody>
      </p:sp>
      <p:sp>
        <p:nvSpPr>
          <p:cNvPr id="108" name="TextBox 107"/>
          <p:cNvSpPr txBox="1"/>
          <p:nvPr/>
        </p:nvSpPr>
        <p:spPr>
          <a:xfrm>
            <a:off x="8048625" y="3594429"/>
            <a:ext cx="3716610" cy="194310"/>
          </a:xfrm>
          <a:prstGeom prst="rect">
            <a:avLst/>
          </a:prstGeom>
          <a:noFill/>
        </p:spPr>
        <p:txBody>
          <a:bodyPr wrap="none" lIns="0" rIns="0" tIns="0" bIns="0">
            <a:spAutoFit/>
          </a:bodyPr>
          <a:lstStyle/>
          <a:p>
            <a:r>
              <a:rPr sz="1150" b="0">
                <a:solidFill>
                  <a:srgbClr val="2E2E2E"/>
                </a:solidFill>
                <a:latin typeface="Calibri"/>
              </a:rPr>
              <a:t>base year, applied consistently across the horizon to strip out</a:t>
            </a:r>
          </a:p>
        </p:txBody>
      </p:sp>
      <p:sp>
        <p:nvSpPr>
          <p:cNvPr id="109" name="TextBox 108"/>
          <p:cNvSpPr txBox="1"/>
          <p:nvPr/>
        </p:nvSpPr>
        <p:spPr>
          <a:xfrm>
            <a:off x="8048625" y="3769689"/>
            <a:ext cx="3693219" cy="194310"/>
          </a:xfrm>
          <a:prstGeom prst="rect">
            <a:avLst/>
          </a:prstGeom>
          <a:noFill/>
        </p:spPr>
        <p:txBody>
          <a:bodyPr wrap="none" lIns="0" rIns="0" tIns="0" bIns="0">
            <a:spAutoFit/>
          </a:bodyPr>
          <a:lstStyle/>
          <a:p>
            <a:r>
              <a:rPr sz="1150" b="0">
                <a:solidFill>
                  <a:srgbClr val="2E2E2E"/>
                </a:solidFill>
                <a:latin typeface="Calibri"/>
              </a:rPr>
              <a:t>year-on-year inflationary volatility and reveal structural price</a:t>
            </a:r>
          </a:p>
        </p:txBody>
      </p:sp>
      <p:sp>
        <p:nvSpPr>
          <p:cNvPr id="110" name="TextBox 109"/>
          <p:cNvSpPr txBox="1"/>
          <p:nvPr/>
        </p:nvSpPr>
        <p:spPr>
          <a:xfrm>
            <a:off x="8048625" y="3944949"/>
            <a:ext cx="431055" cy="194310"/>
          </a:xfrm>
          <a:prstGeom prst="rect">
            <a:avLst/>
          </a:prstGeom>
          <a:noFill/>
        </p:spPr>
        <p:txBody>
          <a:bodyPr wrap="none" lIns="0" rIns="0" tIns="0" bIns="0">
            <a:spAutoFit/>
          </a:bodyPr>
          <a:lstStyle/>
          <a:p>
            <a:r>
              <a:rPr sz="1150" b="0">
                <a:solidFill>
                  <a:srgbClr val="2E2E2E"/>
                </a:solidFill>
                <a:latin typeface="Calibri"/>
              </a:rPr>
              <a:t>shifts.</a:t>
            </a:r>
          </a:p>
        </p:txBody>
      </p:sp>
      <p:sp>
        <p:nvSpPr>
          <p:cNvPr id="111" name="TextBox 110"/>
          <p:cNvSpPr txBox="1"/>
          <p:nvPr/>
        </p:nvSpPr>
        <p:spPr>
          <a:xfrm>
            <a:off x="8048625" y="4172787"/>
            <a:ext cx="2340260" cy="194310"/>
          </a:xfrm>
          <a:prstGeom prst="rect">
            <a:avLst/>
          </a:prstGeom>
          <a:noFill/>
        </p:spPr>
        <p:txBody>
          <a:bodyPr wrap="none" lIns="0" rIns="0" tIns="0" bIns="0">
            <a:spAutoFit/>
          </a:bodyPr>
          <a:lstStyle/>
          <a:p>
            <a:r>
              <a:rPr sz="1150" b="0">
                <a:solidFill>
                  <a:srgbClr val="2E2E2E"/>
                </a:solidFill>
                <a:latin typeface="Calibri"/>
              </a:rPr>
              <a:t>▪ Region price indices diverge by up to</a:t>
            </a:r>
          </a:p>
        </p:txBody>
      </p:sp>
      <p:pic>
        <p:nvPicPr>
          <p:cNvPr id="112" name="Picture 111" descr="lock.png"/>
          <p:cNvPicPr>
            <a:picLocks noChangeAspect="1"/>
          </p:cNvPicPr>
          <p:nvPr/>
        </p:nvPicPr>
        <p:blipFill>
          <a:blip r:embed="rId4"/>
          <a:stretch>
            <a:fillRect/>
          </a:stretch>
        </p:blipFill>
        <p:spPr>
          <a:xfrm>
            <a:off x="10338039" y="4162564"/>
            <a:ext cx="134549" cy="195707"/>
          </a:xfrm>
          <a:prstGeom prst="rect">
            <a:avLst/>
          </a:prstGeom>
        </p:spPr>
      </p:pic>
      <p:sp>
        <p:nvSpPr>
          <p:cNvPr id="113" name="TextBox 112"/>
          <p:cNvSpPr txBox="1"/>
          <p:nvPr/>
        </p:nvSpPr>
        <p:spPr>
          <a:xfrm>
            <a:off x="10513148" y="4172787"/>
            <a:ext cx="1187549" cy="194310"/>
          </a:xfrm>
          <a:prstGeom prst="rect">
            <a:avLst/>
          </a:prstGeom>
          <a:noFill/>
        </p:spPr>
        <p:txBody>
          <a:bodyPr wrap="none" lIns="0" rIns="0" tIns="0" bIns="0">
            <a:spAutoFit/>
          </a:bodyPr>
          <a:lstStyle/>
          <a:p>
            <a:r>
              <a:rPr sz="1150" b="0">
                <a:solidFill>
                  <a:srgbClr val="2E2E2E"/>
                </a:solidFill>
                <a:latin typeface="Calibri"/>
              </a:rPr>
              <a:t>between 2026 and</a:t>
            </a:r>
          </a:p>
        </p:txBody>
      </p:sp>
      <p:sp>
        <p:nvSpPr>
          <p:cNvPr id="114" name="TextBox 113"/>
          <p:cNvSpPr txBox="1"/>
          <p:nvPr/>
        </p:nvSpPr>
        <p:spPr>
          <a:xfrm>
            <a:off x="8048625" y="4348047"/>
            <a:ext cx="3848100" cy="194310"/>
          </a:xfrm>
          <a:prstGeom prst="rect">
            <a:avLst/>
          </a:prstGeom>
          <a:noFill/>
        </p:spPr>
        <p:txBody>
          <a:bodyPr wrap="none" lIns="0" rIns="0" tIns="0" bIns="0">
            <a:spAutoFit/>
          </a:bodyPr>
          <a:lstStyle/>
          <a:p>
            <a:r>
              <a:rPr sz="1150" b="0">
                <a:solidFill>
                  <a:srgbClr val="2E2E2E"/>
                </a:solidFill>
                <a:latin typeface="Calibri"/>
              </a:rPr>
              <a:t>2036: higher-priced regions start higher and grow steadily, while</a:t>
            </a:r>
          </a:p>
        </p:txBody>
      </p:sp>
      <p:sp>
        <p:nvSpPr>
          <p:cNvPr id="115" name="TextBox 114"/>
          <p:cNvSpPr txBox="1"/>
          <p:nvPr/>
        </p:nvSpPr>
        <p:spPr>
          <a:xfrm>
            <a:off x="8048625" y="4523307"/>
            <a:ext cx="3454747" cy="194310"/>
          </a:xfrm>
          <a:prstGeom prst="rect">
            <a:avLst/>
          </a:prstGeom>
          <a:noFill/>
        </p:spPr>
        <p:txBody>
          <a:bodyPr wrap="none" lIns="0" rIns="0" tIns="0" bIns="0">
            <a:spAutoFit/>
          </a:bodyPr>
          <a:lstStyle/>
          <a:p>
            <a:r>
              <a:rPr sz="1150" b="0">
                <a:solidFill>
                  <a:srgbClr val="2E2E2E"/>
                </a:solidFill>
                <a:latin typeface="Calibri"/>
              </a:rPr>
              <a:t>lower-priced regions start lower and converge, reflecting</a:t>
            </a:r>
          </a:p>
        </p:txBody>
      </p:sp>
      <p:sp>
        <p:nvSpPr>
          <p:cNvPr id="116" name="TextBox 115"/>
          <p:cNvSpPr txBox="1"/>
          <p:nvPr/>
        </p:nvSpPr>
        <p:spPr>
          <a:xfrm>
            <a:off x="8048625" y="4698567"/>
            <a:ext cx="1090848" cy="194310"/>
          </a:xfrm>
          <a:prstGeom prst="rect">
            <a:avLst/>
          </a:prstGeom>
          <a:noFill/>
        </p:spPr>
        <p:txBody>
          <a:bodyPr wrap="none" lIns="0" rIns="0" tIns="0" bIns="0">
            <a:spAutoFit/>
          </a:bodyPr>
          <a:lstStyle/>
          <a:p>
            <a:r>
              <a:rPr sz="1150" b="0">
                <a:solidFill>
                  <a:srgbClr val="2E2E2E"/>
                </a:solidFill>
                <a:latin typeface="Calibri"/>
              </a:rPr>
              <a:t>catch-up growth.</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Senior Dog Cognitive Supplement Market Pricing Assessment: By Form Type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Average price (US$/MT) by form type, 2021 to 2036, with 2026 price index and growth outlook</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11" name="Rectangle 10"/>
          <p:cNvSpPr/>
          <p:nvPr/>
        </p:nvSpPr>
        <p:spPr>
          <a:xfrm>
            <a:off x="274320" y="1529715"/>
            <a:ext cx="644652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6217920" cy="257175"/>
          </a:xfrm>
          <a:prstGeom prst="rect">
            <a:avLst/>
          </a:prstGeom>
          <a:noFill/>
        </p:spPr>
        <p:txBody>
          <a:bodyPr wrap="square" anchor="t" lIns="27432" rIns="27432" tIns="27432" bIns="27432">
            <a:spAutoFit/>
          </a:bodyPr>
          <a:lstStyle/>
          <a:p>
            <a:pPr algn="l"/>
            <a:r>
              <a:rPr sz="1150" b="1" i="0">
                <a:solidFill>
                  <a:srgbClr val="0B2E4A"/>
                </a:solidFill>
                <a:latin typeface="Calibri"/>
              </a:rPr>
              <a:t>Price Trend by Form Type, 2021 to 2036 (US$/MT)</a:t>
            </a:r>
          </a:p>
        </p:txBody>
      </p:sp>
      <p:graphicFrame>
        <p:nvGraphicFramePr>
          <p:cNvPr id="13" name="FMI Price Chart"/>
          <p:cNvGraphicFramePr>
            <a:graphicFrameLocks noGrp="1"/>
          </p:cNvGraphicFramePr>
          <p:nvPr/>
        </p:nvGraphicFramePr>
        <p:xfrm>
          <a:off x="347472" y="1831467"/>
          <a:ext cx="6309360" cy="3182112"/>
        </p:xfrm>
        <a:graphic>
          <a:graphicData uri="http://schemas.openxmlformats.org/drawingml/2006/chart">
            <c:chart xmlns:c="http://schemas.openxmlformats.org/drawingml/2006/chart" r:id="rId3"/>
          </a:graphicData>
        </a:graphic>
      </p:graphicFrame>
      <p:sp>
        <p:nvSpPr>
          <p:cNvPr id="14" name="TextBox 13"/>
          <p:cNvSpPr txBox="1"/>
          <p:nvPr/>
        </p:nvSpPr>
        <p:spPr>
          <a:xfrm>
            <a:off x="4572000" y="1593723"/>
            <a:ext cx="2103120" cy="228600"/>
          </a:xfrm>
          <a:prstGeom prst="rect">
            <a:avLst/>
          </a:prstGeom>
          <a:noFill/>
        </p:spPr>
        <p:txBody>
          <a:bodyPr wrap="square" anchor="t" lIns="27432" rIns="27432" tIns="27432" bIns="27432">
            <a:spAutoFit/>
          </a:bodyPr>
          <a:lstStyle/>
          <a:p>
            <a:pPr algn="r"/>
            <a:r>
              <a:rPr sz="850" b="0" i="1">
                <a:solidFill>
                  <a:srgbClr val="59636E"/>
                </a:solidFill>
                <a:latin typeface="Calibri"/>
              </a:rPr>
              <a:t>Forecast period: 2026 to 2036</a:t>
            </a:r>
          </a:p>
        </p:txBody>
      </p:sp>
      <p:sp>
        <p:nvSpPr>
          <p:cNvPr id="15" name="Rectangle 14"/>
          <p:cNvSpPr/>
          <p:nvPr/>
        </p:nvSpPr>
        <p:spPr>
          <a:xfrm>
            <a:off x="6858000" y="1529715"/>
            <a:ext cx="5056632" cy="1600200"/>
          </a:xfrm>
          <a:prstGeom prst="rect">
            <a:avLst/>
          </a:prstGeom>
          <a:solidFill>
            <a:srgbClr val="F3F6F9"/>
          </a:solidFill>
          <a:ln>
            <a:noFill/>
          </a:ln>
          <a:effectLst/>
        </p:spPr>
        <p:txBody>
          <a:bodyPr rtlCol="0" anchor="ctr"/>
          <a:lstStyle/>
          <a:p>
            <a:pPr algn="ctr"/>
          </a:p>
        </p:txBody>
      </p:sp>
      <p:sp>
        <p:nvSpPr>
          <p:cNvPr id="16" name="TextBox 15"/>
          <p:cNvSpPr txBox="1"/>
          <p:nvPr/>
        </p:nvSpPr>
        <p:spPr>
          <a:xfrm>
            <a:off x="6967728" y="1575435"/>
            <a:ext cx="4846320" cy="257175"/>
          </a:xfrm>
          <a:prstGeom prst="rect">
            <a:avLst/>
          </a:prstGeom>
          <a:noFill/>
        </p:spPr>
        <p:txBody>
          <a:bodyPr wrap="square" anchor="t" lIns="27432" rIns="27432" tIns="27432" bIns="27432">
            <a:spAutoFit/>
          </a:bodyPr>
          <a:lstStyle/>
          <a:p>
            <a:pPr algn="l"/>
            <a:r>
              <a:rPr sz="1150" b="1" i="0">
                <a:solidFill>
                  <a:srgbClr val="0B2E4A"/>
                </a:solidFill>
                <a:latin typeface="Calibri"/>
              </a:rPr>
              <a:t/>
            </a:r>
          </a:p>
        </p:txBody>
      </p:sp>
      <p:graphicFrame>
        <p:nvGraphicFramePr>
          <p:cNvPr id="17" name="FMI Open Chart"/>
          <p:cNvGraphicFramePr>
            <a:graphicFrameLocks noGrp="1"/>
          </p:cNvGraphicFramePr>
          <p:nvPr/>
        </p:nvGraphicFramePr>
        <p:xfrm>
          <a:off x="6903720" y="1785747"/>
          <a:ext cx="4965192" cy="1325880"/>
        </p:xfrm>
        <a:graphic>
          <a:graphicData uri="http://schemas.openxmlformats.org/drawingml/2006/chart">
            <c:chart xmlns:c="http://schemas.openxmlformats.org/drawingml/2006/chart" r:id="rId4"/>
          </a:graphicData>
        </a:graphic>
      </p:graphicFrame>
      <p:graphicFrame>
        <p:nvGraphicFramePr>
          <p:cNvPr id="18" name="Table 17"/>
          <p:cNvGraphicFramePr>
            <a:graphicFrameLocks noGrp="1"/>
          </p:cNvGraphicFramePr>
          <p:nvPr/>
        </p:nvGraphicFramePr>
        <p:xfrm>
          <a:off x="6858000" y="3203067"/>
          <a:ext cx="5056632" cy="1847088"/>
        </p:xfrm>
        <a:graphic>
          <a:graphicData uri="http://schemas.openxmlformats.org/drawingml/2006/table">
            <a:tbl>
              <a:tblPr firstRow="1" bandRow="1">
                <a:tableStyleId>{5C22544A-7EE6-4342-B048-85BDC9FD1C3A}</a:tableStyleId>
              </a:tblPr>
              <a:tblGrid>
                <a:gridCol w="2130552"/>
                <a:gridCol w="548640"/>
                <a:gridCol w="548640"/>
                <a:gridCol w="548640"/>
                <a:gridCol w="777240"/>
                <a:gridCol w="502920"/>
              </a:tblGrid>
              <a:tr h="230886">
                <a:tc>
                  <a:txBody>
                    <a:bodyPr wrap="square"/>
                    <a:lstStyle/>
                    <a:p>
                      <a:pPr algn="l"/>
                      <a:r>
                        <a:rPr sz="850" b="1">
                          <a:solidFill>
                            <a:srgbClr val="FFFFFF"/>
                          </a:solidFill>
                          <a:latin typeface="Calibri"/>
                        </a:rPr>
                        <a:t>Form Type</a:t>
                      </a:r>
                    </a:p>
                  </a:txBody>
                  <a:tcPr marL="36576" marR="36576" marT="9144" marB="9144" anchor="ctr">
                    <a:solidFill>
                      <a:srgbClr val="0B2E4A"/>
                    </a:solidFill>
                  </a:tcPr>
                </a:tc>
                <a:tc>
                  <a:txBody>
                    <a:bodyPr wrap="square"/>
                    <a:lstStyle/>
                    <a:p>
                      <a:pPr algn="ctr"/>
                      <a:r>
                        <a:rPr sz="850" b="1">
                          <a:solidFill>
                            <a:srgbClr val="FFFFFF"/>
                          </a:solidFill>
                          <a:latin typeface="Calibri"/>
                        </a:rPr>
                        <a:t>2021</a:t>
                      </a:r>
                    </a:p>
                  </a:txBody>
                  <a:tcPr marL="36576" marR="36576" marT="9144" marB="9144" anchor="ctr">
                    <a:solidFill>
                      <a:srgbClr val="0B2E4A"/>
                    </a:solidFill>
                  </a:tcPr>
                </a:tc>
                <a:tc>
                  <a:txBody>
                    <a:bodyPr wrap="square"/>
                    <a:lstStyle/>
                    <a:p>
                      <a:pPr algn="ctr"/>
                      <a:r>
                        <a:rPr sz="850" b="1">
                          <a:solidFill>
                            <a:srgbClr val="FFFFFF"/>
                          </a:solidFill>
                          <a:latin typeface="Calibri"/>
                        </a:rPr>
                        <a:t>2026</a:t>
                      </a:r>
                    </a:p>
                  </a:txBody>
                  <a:tcPr marL="36576" marR="36576" marT="9144" marB="9144" anchor="ctr">
                    <a:solidFill>
                      <a:srgbClr val="0B2E4A"/>
                    </a:solidFill>
                  </a:tcPr>
                </a:tc>
                <a:tc>
                  <a:txBody>
                    <a:bodyPr wrap="square"/>
                    <a:lstStyle/>
                    <a:p>
                      <a:pPr algn="ctr"/>
                      <a:r>
                        <a:rPr sz="850" b="1">
                          <a:solidFill>
                            <a:srgbClr val="FFFFFF"/>
                          </a:solidFill>
                          <a:latin typeface="Calibri"/>
                        </a:rPr>
                        <a:t>2036</a:t>
                      </a:r>
                    </a:p>
                  </a:txBody>
                  <a:tcPr marL="36576" marR="36576" marT="9144" marB="9144" anchor="ctr">
                    <a:solidFill>
                      <a:srgbClr val="0B2E4A"/>
                    </a:solidFill>
                  </a:tcPr>
                </a:tc>
                <a:tc>
                  <a:txBody>
                    <a:bodyPr wrap="square"/>
                    <a:lstStyle/>
                    <a:p>
                      <a:pPr algn="ctr"/>
                      <a:r>
                        <a:rPr sz="850" b="1">
                          <a:solidFill>
                            <a:srgbClr val="FFFFFF"/>
                          </a:solidFill>
                          <a:latin typeface="Calibri"/>
                        </a:rPr>
                        <a:t>CAGR 2026 to 2036</a:t>
                      </a:r>
                    </a:p>
                  </a:txBody>
                  <a:tcPr marL="36576" marR="36576" marT="9144" marB="9144" anchor="ctr">
                    <a:solidFill>
                      <a:srgbClr val="0B2E4A"/>
                    </a:solidFill>
                  </a:tcPr>
                </a:tc>
                <a:tc>
                  <a:txBody>
                    <a:bodyPr wrap="square"/>
                    <a:lstStyle/>
                    <a:p>
                      <a:pPr algn="ctr"/>
                      <a:r>
                        <a:rPr sz="850" b="1">
                          <a:solidFill>
                            <a:srgbClr val="FFFFFF"/>
                          </a:solidFill>
                          <a:latin typeface="Calibri"/>
                        </a:rPr>
                        <a:t>Index</a:t>
                      </a:r>
                    </a:p>
                  </a:txBody>
                  <a:tcPr marL="36576" marR="36576" marT="9144" marB="9144" anchor="ctr">
                    <a:solidFill>
                      <a:srgbClr val="0B2E4A"/>
                    </a:solidFill>
                  </a:tcPr>
                </a:tc>
              </a:tr>
              <a:tr h="230886">
                <a:tc>
                  <a:txBody>
                    <a:bodyPr wrap="square"/>
                    <a:lstStyle/>
                    <a:p>
                      <a:pPr algn="l"/>
                      <a:r>
                        <a:rPr sz="850" b="1">
                          <a:solidFill>
                            <a:srgbClr val="1F1F1F"/>
                          </a:solidFill>
                          <a:latin typeface="Calibri"/>
                        </a:rPr>
                        <a:t>Capsules and Softgels</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4B183"/>
                    </a:solidFill>
                  </a:tcPr>
                </a:tc>
              </a:tr>
              <a:tr h="230886">
                <a:tc>
                  <a:txBody>
                    <a:bodyPr wrap="square"/>
                    <a:lstStyle/>
                    <a:p>
                      <a:pPr algn="l"/>
                      <a:r>
                        <a:rPr sz="850" b="1">
                          <a:solidFill>
                            <a:srgbClr val="1F1F1F"/>
                          </a:solidFill>
                          <a:latin typeface="Calibri"/>
                        </a:rPr>
                        <a:t>Powders and Granules</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4B183"/>
                    </a:solidFill>
                  </a:tcPr>
                </a:tc>
              </a:tr>
              <a:tr h="230886">
                <a:tc>
                  <a:txBody>
                    <a:bodyPr wrap="square"/>
                    <a:lstStyle/>
                    <a:p>
                      <a:pPr algn="l"/>
                      <a:r>
                        <a:rPr sz="850" b="1">
                          <a:solidFill>
                            <a:srgbClr val="1F1F1F"/>
                          </a:solidFill>
                          <a:latin typeface="Calibri"/>
                        </a:rPr>
                        <a:t>Liquids</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4B183"/>
                    </a:solidFill>
                  </a:tcPr>
                </a:tc>
              </a:tr>
              <a:tr h="230886">
                <a:tc>
                  <a:txBody>
                    <a:bodyPr wrap="square"/>
                    <a:lstStyle/>
                    <a:p>
                      <a:pPr algn="l"/>
                      <a:r>
                        <a:rPr sz="850" b="1">
                          <a:solidFill>
                            <a:srgbClr val="1F1F1F"/>
                          </a:solidFill>
                          <a:latin typeface="Calibri"/>
                        </a:rPr>
                        <a:t>Gels and Pastes</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9DC0E0"/>
                    </a:solidFill>
                  </a:tcPr>
                </a:tc>
              </a:tr>
              <a:tr h="230886">
                <a:tc>
                  <a:txBody>
                    <a:bodyPr wrap="square"/>
                    <a:lstStyle/>
                    <a:p>
                      <a:pPr algn="l"/>
                      <a:r>
                        <a:rPr sz="850" b="1">
                          <a:solidFill>
                            <a:srgbClr val="1F1F1F"/>
                          </a:solidFill>
                          <a:latin typeface="Calibri"/>
                        </a:rPr>
                        <a:t>Chewables</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9DC0E0"/>
                    </a:solidFill>
                  </a:tcPr>
                </a:tc>
              </a:tr>
              <a:tr h="230886">
                <a:tc>
                  <a:txBody>
                    <a:bodyPr wrap="square"/>
                    <a:lstStyle/>
                    <a:p>
                      <a:pPr algn="l"/>
                      <a:r>
                        <a:rPr sz="850" b="1">
                          <a:solidFill>
                            <a:srgbClr val="1F1F1F"/>
                          </a:solidFill>
                          <a:latin typeface="Calibri"/>
                        </a:rPr>
                        <a:t>Tablets</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9DC0E0"/>
                    </a:solidFill>
                  </a:tcPr>
                </a:tc>
              </a:tr>
              <a:tr h="230886">
                <a:tc>
                  <a:txBody>
                    <a:bodyPr wrap="square"/>
                    <a:lstStyle/>
                    <a:p>
                      <a:pPr algn="l"/>
                      <a:r>
                        <a:rPr sz="850" b="1">
                          <a:solidFill>
                            <a:srgbClr val="1F1F1F"/>
                          </a:solidFill>
                          <a:latin typeface="Calibri"/>
                        </a:rPr>
                        <a:t>Global Average</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r>
            </a:tbl>
          </a:graphicData>
        </a:graphic>
      </p:graphicFrame>
      <p:sp>
        <p:nvSpPr>
          <p:cNvPr id="19" name="Rectangle 18"/>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20" name="Oval 19"/>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21" name="TextBox 20"/>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Hierarchy</a:t>
            </a:r>
          </a:p>
        </p:txBody>
      </p:sp>
      <p:sp>
        <p:nvSpPr>
          <p:cNvPr id="22" name="TextBox 21"/>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3" name="Rectangle 22"/>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4" name="Oval 23"/>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5" name="TextBox 24"/>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Momentum</a:t>
            </a:r>
          </a:p>
        </p:txBody>
      </p:sp>
      <p:sp>
        <p:nvSpPr>
          <p:cNvPr id="26" name="TextBox 25"/>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7" name="Rectangle 26"/>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8" name="Oval 27"/>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9" name="TextBox 28"/>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Outlook</a:t>
            </a:r>
          </a:p>
        </p:txBody>
      </p:sp>
      <p:sp>
        <p:nvSpPr>
          <p:cNvPr id="30" name="TextBox 29"/>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1" name="TextBox 30"/>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Average price = market value (US$) / market volume (MT). 2021 to 2025 historical, 2026 to 2036 forecast.</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6"/>
          <a:stretch>
            <a:fillRect/>
          </a:stretch>
        </p:blipFill>
        <p:spPr>
          <a:xfrm>
            <a:off x="10283571" y="4002023"/>
            <a:ext cx="330041" cy="480060"/>
          </a:xfrm>
          <a:prstGeom prst="rect">
            <a:avLst/>
          </a:prstGeom>
        </p:spPr>
      </p:pic>
      <p:sp>
        <p:nvSpPr>
          <p:cNvPr id="34" name="TextBox 33"/>
          <p:cNvSpPr txBox="1"/>
          <p:nvPr/>
        </p:nvSpPr>
        <p:spPr>
          <a:xfrm>
            <a:off x="411480" y="1110615"/>
            <a:ext cx="4720927" cy="217169"/>
          </a:xfrm>
          <a:prstGeom prst="rect">
            <a:avLst/>
          </a:prstGeom>
          <a:noFill/>
        </p:spPr>
        <p:txBody>
          <a:bodyPr wrap="none" lIns="0" rIns="0" tIns="0" bIns="0">
            <a:spAutoFit/>
          </a:bodyPr>
          <a:lstStyle/>
          <a:p>
            <a:r>
              <a:rPr sz="1300" b="1">
                <a:solidFill>
                  <a:srgbClr val="FFFFFF"/>
                </a:solidFill>
                <a:latin typeface="Calibri"/>
              </a:rPr>
              <a:t>Capsules and Softgels command the highest 2026 price point at US$</a:t>
            </a:r>
          </a:p>
        </p:txBody>
      </p:sp>
      <p:pic>
        <p:nvPicPr>
          <p:cNvPr id="35" name="Picture 34" descr="lock.png"/>
          <p:cNvPicPr>
            <a:picLocks noChangeAspect="1"/>
          </p:cNvPicPr>
          <p:nvPr/>
        </p:nvPicPr>
        <p:blipFill>
          <a:blip r:embed="rId6"/>
          <a:stretch>
            <a:fillRect/>
          </a:stretch>
        </p:blipFill>
        <p:spPr>
          <a:xfrm>
            <a:off x="5084868" y="1099058"/>
            <a:ext cx="152098" cy="221234"/>
          </a:xfrm>
          <a:prstGeom prst="rect">
            <a:avLst/>
          </a:prstGeom>
        </p:spPr>
      </p:pic>
      <p:sp>
        <p:nvSpPr>
          <p:cNvPr id="36" name="TextBox 35"/>
          <p:cNvSpPr txBox="1"/>
          <p:nvPr/>
        </p:nvSpPr>
        <p:spPr>
          <a:xfrm>
            <a:off x="5282817" y="1110615"/>
            <a:ext cx="535061" cy="217169"/>
          </a:xfrm>
          <a:prstGeom prst="rect">
            <a:avLst/>
          </a:prstGeom>
          <a:noFill/>
        </p:spPr>
        <p:txBody>
          <a:bodyPr wrap="none" lIns="0" rIns="0" tIns="0" bIns="0">
            <a:spAutoFit/>
          </a:bodyPr>
          <a:lstStyle/>
          <a:p>
            <a:r>
              <a:rPr sz="1300" b="1">
                <a:solidFill>
                  <a:srgbClr val="FFFFFF"/>
                </a:solidFill>
                <a:latin typeface="Calibri"/>
              </a:rPr>
              <a:t>/MT, a</a:t>
            </a:r>
          </a:p>
        </p:txBody>
      </p:sp>
      <p:pic>
        <p:nvPicPr>
          <p:cNvPr id="37" name="Picture 36" descr="lock.png"/>
          <p:cNvPicPr>
            <a:picLocks noChangeAspect="1"/>
          </p:cNvPicPr>
          <p:nvPr/>
        </p:nvPicPr>
        <p:blipFill>
          <a:blip r:embed="rId6"/>
          <a:stretch>
            <a:fillRect/>
          </a:stretch>
        </p:blipFill>
        <p:spPr>
          <a:xfrm>
            <a:off x="5770340" y="1099058"/>
            <a:ext cx="152098" cy="221234"/>
          </a:xfrm>
          <a:prstGeom prst="rect">
            <a:avLst/>
          </a:prstGeom>
        </p:spPr>
      </p:pic>
      <p:sp>
        <p:nvSpPr>
          <p:cNvPr id="38" name="TextBox 37"/>
          <p:cNvSpPr txBox="1"/>
          <p:nvPr/>
        </p:nvSpPr>
        <p:spPr>
          <a:xfrm>
            <a:off x="5968290" y="1110615"/>
            <a:ext cx="1631751" cy="217169"/>
          </a:xfrm>
          <a:prstGeom prst="rect">
            <a:avLst/>
          </a:prstGeom>
          <a:noFill/>
        </p:spPr>
        <p:txBody>
          <a:bodyPr wrap="none" lIns="0" rIns="0" tIns="0" bIns="0">
            <a:spAutoFit/>
          </a:bodyPr>
          <a:lstStyle/>
          <a:p>
            <a:r>
              <a:rPr sz="1300" b="1">
                <a:solidFill>
                  <a:srgbClr val="FFFFFF"/>
                </a:solidFill>
                <a:latin typeface="Calibri"/>
              </a:rPr>
              <a:t>premium over Tablets.</a:t>
            </a:r>
          </a:p>
        </p:txBody>
      </p:sp>
      <p:sp>
        <p:nvSpPr>
          <p:cNvPr id="39" name="TextBox 38"/>
          <p:cNvSpPr txBox="1"/>
          <p:nvPr/>
        </p:nvSpPr>
        <p:spPr>
          <a:xfrm>
            <a:off x="6995160" y="1602867"/>
            <a:ext cx="2164334" cy="180289"/>
          </a:xfrm>
          <a:prstGeom prst="rect">
            <a:avLst/>
          </a:prstGeom>
          <a:noFill/>
        </p:spPr>
        <p:txBody>
          <a:bodyPr wrap="none" lIns="0" rIns="0" tIns="0" bIns="0">
            <a:spAutoFit/>
          </a:bodyPr>
          <a:lstStyle/>
          <a:p>
            <a:r>
              <a:rPr sz="1057" b="1">
                <a:solidFill>
                  <a:srgbClr val="0B2E4A"/>
                </a:solidFill>
                <a:latin typeface="Calibri"/>
              </a:rPr>
              <a:t>2026 Price Index vs Global Average (=</a:t>
            </a:r>
          </a:p>
        </p:txBody>
      </p:sp>
      <p:pic>
        <p:nvPicPr>
          <p:cNvPr id="40" name="Picture 39" descr="lock.png"/>
          <p:cNvPicPr>
            <a:picLocks noChangeAspect="1"/>
          </p:cNvPicPr>
          <p:nvPr/>
        </p:nvPicPr>
        <p:blipFill>
          <a:blip r:embed="rId6"/>
          <a:stretch>
            <a:fillRect/>
          </a:stretch>
        </p:blipFill>
        <p:spPr>
          <a:xfrm>
            <a:off x="9106620" y="1593461"/>
            <a:ext cx="123784" cy="180050"/>
          </a:xfrm>
          <a:prstGeom prst="rect">
            <a:avLst/>
          </a:prstGeom>
        </p:spPr>
      </p:pic>
      <p:sp>
        <p:nvSpPr>
          <p:cNvPr id="41" name="TextBox 40"/>
          <p:cNvSpPr txBox="1"/>
          <p:nvPr/>
        </p:nvSpPr>
        <p:spPr>
          <a:xfrm>
            <a:off x="9267721" y="1602867"/>
            <a:ext cx="118189" cy="180289"/>
          </a:xfrm>
          <a:prstGeom prst="rect">
            <a:avLst/>
          </a:prstGeom>
          <a:noFill/>
        </p:spPr>
        <p:txBody>
          <a:bodyPr wrap="none" lIns="0" rIns="0" tIns="0" bIns="0">
            <a:spAutoFit/>
          </a:bodyPr>
          <a:lstStyle/>
          <a:p>
            <a:r>
              <a:rPr sz="1057" b="1">
                <a:solidFill>
                  <a:srgbClr val="0B2E4A"/>
                </a:solidFill>
                <a:latin typeface="Calibri"/>
              </a:rPr>
              <a:t>)</a:t>
            </a:r>
          </a:p>
        </p:txBody>
      </p:sp>
      <p:sp>
        <p:nvSpPr>
          <p:cNvPr id="42" name="TextBox 41"/>
          <p:cNvSpPr txBox="1"/>
          <p:nvPr/>
        </p:nvSpPr>
        <p:spPr>
          <a:xfrm>
            <a:off x="806576" y="5530976"/>
            <a:ext cx="2923691" cy="179069"/>
          </a:xfrm>
          <a:prstGeom prst="rect">
            <a:avLst/>
          </a:prstGeom>
          <a:noFill/>
        </p:spPr>
        <p:txBody>
          <a:bodyPr wrap="none" lIns="0" rIns="0" tIns="0" bIns="0">
            <a:spAutoFit/>
          </a:bodyPr>
          <a:lstStyle/>
          <a:p>
            <a:r>
              <a:rPr sz="1050" b="0">
                <a:solidFill>
                  <a:srgbClr val="1F1F1F"/>
                </a:solidFill>
                <a:latin typeface="Calibri"/>
              </a:rPr>
              <a:t>Capsules and Softgels sit at the top of the 2026 price</a:t>
            </a:r>
          </a:p>
        </p:txBody>
      </p:sp>
      <p:sp>
        <p:nvSpPr>
          <p:cNvPr id="43" name="TextBox 42"/>
          <p:cNvSpPr txBox="1"/>
          <p:nvPr/>
        </p:nvSpPr>
        <p:spPr>
          <a:xfrm>
            <a:off x="806576" y="5690996"/>
            <a:ext cx="1193266" cy="179069"/>
          </a:xfrm>
          <a:prstGeom prst="rect">
            <a:avLst/>
          </a:prstGeom>
          <a:noFill/>
        </p:spPr>
        <p:txBody>
          <a:bodyPr wrap="none" lIns="0" rIns="0" tIns="0" bIns="0">
            <a:spAutoFit/>
          </a:bodyPr>
          <a:lstStyle/>
          <a:p>
            <a:r>
              <a:rPr sz="1050" b="0">
                <a:solidFill>
                  <a:srgbClr val="1F1F1F"/>
                </a:solidFill>
                <a:latin typeface="Calibri"/>
              </a:rPr>
              <a:t>ladder at an index of</a:t>
            </a:r>
          </a:p>
        </p:txBody>
      </p:sp>
      <p:pic>
        <p:nvPicPr>
          <p:cNvPr id="44" name="Picture 43" descr="lock.png"/>
          <p:cNvPicPr>
            <a:picLocks noChangeAspect="1"/>
          </p:cNvPicPr>
          <p:nvPr/>
        </p:nvPicPr>
        <p:blipFill>
          <a:blip r:embed="rId6"/>
          <a:stretch>
            <a:fillRect/>
          </a:stretch>
        </p:blipFill>
        <p:spPr>
          <a:xfrm>
            <a:off x="1946792" y="5681662"/>
            <a:ext cx="122849" cy="178689"/>
          </a:xfrm>
          <a:prstGeom prst="rect">
            <a:avLst/>
          </a:prstGeom>
        </p:spPr>
      </p:pic>
      <p:sp>
        <p:nvSpPr>
          <p:cNvPr id="45" name="TextBox 44"/>
          <p:cNvSpPr txBox="1"/>
          <p:nvPr/>
        </p:nvSpPr>
        <p:spPr>
          <a:xfrm>
            <a:off x="2106675" y="5690996"/>
            <a:ext cx="1316980" cy="179069"/>
          </a:xfrm>
          <a:prstGeom prst="rect">
            <a:avLst/>
          </a:prstGeom>
          <a:noFill/>
        </p:spPr>
        <p:txBody>
          <a:bodyPr wrap="none" lIns="0" rIns="0" tIns="0" bIns="0">
            <a:spAutoFit/>
          </a:bodyPr>
          <a:lstStyle/>
          <a:p>
            <a:r>
              <a:rPr sz="1050" b="0">
                <a:solidFill>
                  <a:srgbClr val="1F1F1F"/>
                </a:solidFill>
                <a:latin typeface="Calibri"/>
              </a:rPr>
              <a:t>, while Tablets trade at</a:t>
            </a:r>
          </a:p>
        </p:txBody>
      </p:sp>
      <p:pic>
        <p:nvPicPr>
          <p:cNvPr id="46" name="Picture 45" descr="lock.png"/>
          <p:cNvPicPr>
            <a:picLocks noChangeAspect="1"/>
          </p:cNvPicPr>
          <p:nvPr/>
        </p:nvPicPr>
        <p:blipFill>
          <a:blip r:embed="rId6"/>
          <a:stretch>
            <a:fillRect/>
          </a:stretch>
        </p:blipFill>
        <p:spPr>
          <a:xfrm>
            <a:off x="3370604" y="5681662"/>
            <a:ext cx="122849" cy="178689"/>
          </a:xfrm>
          <a:prstGeom prst="rect">
            <a:avLst/>
          </a:prstGeom>
        </p:spPr>
      </p:pic>
      <p:sp>
        <p:nvSpPr>
          <p:cNvPr id="47" name="TextBox 46"/>
          <p:cNvSpPr txBox="1"/>
          <p:nvPr/>
        </p:nvSpPr>
        <p:spPr>
          <a:xfrm>
            <a:off x="3530487" y="5690996"/>
            <a:ext cx="109537" cy="179069"/>
          </a:xfrm>
          <a:prstGeom prst="rect">
            <a:avLst/>
          </a:prstGeom>
          <a:noFill/>
        </p:spPr>
        <p:txBody>
          <a:bodyPr wrap="none" lIns="0" rIns="0" tIns="0" bIns="0">
            <a:spAutoFit/>
          </a:bodyPr>
          <a:lstStyle/>
          <a:p>
            <a:r>
              <a:rPr sz="1050" b="0">
                <a:solidFill>
                  <a:srgbClr val="1F1F1F"/>
                </a:solidFill>
                <a:latin typeface="Calibri"/>
              </a:rPr>
              <a:t>,</a:t>
            </a:r>
          </a:p>
        </p:txBody>
      </p:sp>
      <p:sp>
        <p:nvSpPr>
          <p:cNvPr id="48" name="TextBox 47"/>
          <p:cNvSpPr txBox="1"/>
          <p:nvPr/>
        </p:nvSpPr>
        <p:spPr>
          <a:xfrm>
            <a:off x="806576" y="5851016"/>
            <a:ext cx="2496033" cy="179069"/>
          </a:xfrm>
          <a:prstGeom prst="rect">
            <a:avLst/>
          </a:prstGeom>
          <a:noFill/>
        </p:spPr>
        <p:txBody>
          <a:bodyPr wrap="none" lIns="0" rIns="0" tIns="0" bIns="0">
            <a:spAutoFit/>
          </a:bodyPr>
          <a:lstStyle/>
          <a:p>
            <a:r>
              <a:rPr sz="1050" b="0">
                <a:solidFill>
                  <a:srgbClr val="1F1F1F"/>
                </a:solidFill>
                <a:latin typeface="Calibri"/>
              </a:rPr>
              <a:t>which keeps the full form type spread within</a:t>
            </a:r>
          </a:p>
        </p:txBody>
      </p:sp>
      <p:pic>
        <p:nvPicPr>
          <p:cNvPr id="49" name="Picture 48" descr="lock.png"/>
          <p:cNvPicPr>
            <a:picLocks noChangeAspect="1"/>
          </p:cNvPicPr>
          <p:nvPr/>
        </p:nvPicPr>
        <p:blipFill>
          <a:blip r:embed="rId6"/>
          <a:stretch>
            <a:fillRect/>
          </a:stretch>
        </p:blipFill>
        <p:spPr>
          <a:xfrm>
            <a:off x="3249559" y="5841682"/>
            <a:ext cx="122849" cy="178689"/>
          </a:xfrm>
          <a:prstGeom prst="rect">
            <a:avLst/>
          </a:prstGeom>
        </p:spPr>
      </p:pic>
      <p:sp>
        <p:nvSpPr>
          <p:cNvPr id="50" name="TextBox 49"/>
          <p:cNvSpPr txBox="1"/>
          <p:nvPr/>
        </p:nvSpPr>
        <p:spPr>
          <a:xfrm>
            <a:off x="3409442" y="5851016"/>
            <a:ext cx="109797" cy="179069"/>
          </a:xfrm>
          <a:prstGeom prst="rect">
            <a:avLst/>
          </a:prstGeom>
          <a:noFill/>
        </p:spPr>
        <p:txBody>
          <a:bodyPr wrap="none" lIns="0" rIns="0" tIns="0" bIns="0">
            <a:spAutoFit/>
          </a:bodyPr>
          <a:lstStyle/>
          <a:p>
            <a:r>
              <a:rPr sz="1050" b="0">
                <a:solidFill>
                  <a:srgbClr val="1F1F1F"/>
                </a:solidFill>
                <a:latin typeface="Calibri"/>
              </a:rPr>
              <a:t>.</a:t>
            </a:r>
          </a:p>
        </p:txBody>
      </p:sp>
      <p:sp>
        <p:nvSpPr>
          <p:cNvPr id="51" name="TextBox 50"/>
          <p:cNvSpPr txBox="1"/>
          <p:nvPr/>
        </p:nvSpPr>
        <p:spPr>
          <a:xfrm>
            <a:off x="4732401" y="5530976"/>
            <a:ext cx="3073189" cy="179069"/>
          </a:xfrm>
          <a:prstGeom prst="rect">
            <a:avLst/>
          </a:prstGeom>
          <a:noFill/>
        </p:spPr>
        <p:txBody>
          <a:bodyPr wrap="none" lIns="0" rIns="0" tIns="0" bIns="0">
            <a:spAutoFit/>
          </a:bodyPr>
          <a:lstStyle/>
          <a:p>
            <a:r>
              <a:rPr sz="1050" b="0">
                <a:solidFill>
                  <a:srgbClr val="1F1F1F"/>
                </a:solidFill>
                <a:latin typeface="Calibri"/>
              </a:rPr>
              <a:t>Capsules and Softgels post the fastest price growth at a</a:t>
            </a:r>
          </a:p>
        </p:txBody>
      </p:sp>
      <p:pic>
        <p:nvPicPr>
          <p:cNvPr id="52" name="Picture 51" descr="lock.png"/>
          <p:cNvPicPr>
            <a:picLocks noChangeAspect="1"/>
          </p:cNvPicPr>
          <p:nvPr/>
        </p:nvPicPr>
        <p:blipFill>
          <a:blip r:embed="rId6"/>
          <a:stretch>
            <a:fillRect/>
          </a:stretch>
        </p:blipFill>
        <p:spPr>
          <a:xfrm>
            <a:off x="4719545" y="5681662"/>
            <a:ext cx="122849" cy="178689"/>
          </a:xfrm>
          <a:prstGeom prst="rect">
            <a:avLst/>
          </a:prstGeom>
        </p:spPr>
      </p:pic>
      <p:sp>
        <p:nvSpPr>
          <p:cNvPr id="53" name="TextBox 52"/>
          <p:cNvSpPr txBox="1"/>
          <p:nvPr/>
        </p:nvSpPr>
        <p:spPr>
          <a:xfrm>
            <a:off x="4879428" y="5690996"/>
            <a:ext cx="2611917" cy="179069"/>
          </a:xfrm>
          <a:prstGeom prst="rect">
            <a:avLst/>
          </a:prstGeom>
          <a:noFill/>
        </p:spPr>
        <p:txBody>
          <a:bodyPr wrap="none" lIns="0" rIns="0" tIns="0" bIns="0">
            <a:spAutoFit/>
          </a:bodyPr>
          <a:lstStyle/>
          <a:p>
            <a:r>
              <a:rPr sz="1050" b="0">
                <a:solidFill>
                  <a:srgbClr val="1F1F1F"/>
                </a:solidFill>
                <a:latin typeface="Calibri"/>
              </a:rPr>
              <a:t>CAGR between 2026 and 2036, compared with</a:t>
            </a:r>
          </a:p>
        </p:txBody>
      </p:sp>
      <p:pic>
        <p:nvPicPr>
          <p:cNvPr id="54" name="Picture 53" descr="lock.png"/>
          <p:cNvPicPr>
            <a:picLocks noChangeAspect="1"/>
          </p:cNvPicPr>
          <p:nvPr/>
        </p:nvPicPr>
        <p:blipFill>
          <a:blip r:embed="rId6"/>
          <a:stretch>
            <a:fillRect/>
          </a:stretch>
        </p:blipFill>
        <p:spPr>
          <a:xfrm>
            <a:off x="7438294" y="5681662"/>
            <a:ext cx="122849" cy="178689"/>
          </a:xfrm>
          <a:prstGeom prst="rect">
            <a:avLst/>
          </a:prstGeom>
        </p:spPr>
      </p:pic>
      <p:sp>
        <p:nvSpPr>
          <p:cNvPr id="55" name="TextBox 54"/>
          <p:cNvSpPr txBox="1"/>
          <p:nvPr/>
        </p:nvSpPr>
        <p:spPr>
          <a:xfrm>
            <a:off x="4732401" y="5851016"/>
            <a:ext cx="1515702" cy="179069"/>
          </a:xfrm>
          <a:prstGeom prst="rect">
            <a:avLst/>
          </a:prstGeom>
          <a:noFill/>
        </p:spPr>
        <p:txBody>
          <a:bodyPr wrap="none" lIns="0" rIns="0" tIns="0" bIns="0">
            <a:spAutoFit/>
          </a:bodyPr>
          <a:lstStyle/>
          <a:p>
            <a:r>
              <a:rPr sz="1050" b="0">
                <a:solidFill>
                  <a:srgbClr val="1F1F1F"/>
                </a:solidFill>
                <a:latin typeface="Calibri"/>
              </a:rPr>
              <a:t>for Powders and Granules.</a:t>
            </a:r>
          </a:p>
        </p:txBody>
      </p:sp>
      <p:sp>
        <p:nvSpPr>
          <p:cNvPr id="56" name="TextBox 55"/>
          <p:cNvSpPr txBox="1"/>
          <p:nvPr/>
        </p:nvSpPr>
        <p:spPr>
          <a:xfrm>
            <a:off x="8658225" y="5530976"/>
            <a:ext cx="2235844" cy="179069"/>
          </a:xfrm>
          <a:prstGeom prst="rect">
            <a:avLst/>
          </a:prstGeom>
          <a:noFill/>
        </p:spPr>
        <p:txBody>
          <a:bodyPr wrap="none" lIns="0" rIns="0" tIns="0" bIns="0">
            <a:spAutoFit/>
          </a:bodyPr>
          <a:lstStyle/>
          <a:p>
            <a:r>
              <a:rPr sz="1050" b="0">
                <a:solidFill>
                  <a:srgbClr val="1F1F1F"/>
                </a:solidFill>
                <a:latin typeface="Calibri"/>
              </a:rPr>
              <a:t>The Global average price rises from US$</a:t>
            </a:r>
          </a:p>
        </p:txBody>
      </p:sp>
      <p:pic>
        <p:nvPicPr>
          <p:cNvPr id="57" name="Picture 56" descr="lock.png"/>
          <p:cNvPicPr>
            <a:picLocks noChangeAspect="1"/>
          </p:cNvPicPr>
          <p:nvPr/>
        </p:nvPicPr>
        <p:blipFill>
          <a:blip r:embed="rId6"/>
          <a:stretch>
            <a:fillRect/>
          </a:stretch>
        </p:blipFill>
        <p:spPr>
          <a:xfrm>
            <a:off x="10841019" y="5521642"/>
            <a:ext cx="122849" cy="178689"/>
          </a:xfrm>
          <a:prstGeom prst="rect">
            <a:avLst/>
          </a:prstGeom>
        </p:spPr>
      </p:pic>
      <p:sp>
        <p:nvSpPr>
          <p:cNvPr id="58" name="TextBox 57"/>
          <p:cNvSpPr txBox="1"/>
          <p:nvPr/>
        </p:nvSpPr>
        <p:spPr>
          <a:xfrm>
            <a:off x="11000901" y="5530976"/>
            <a:ext cx="739043" cy="179069"/>
          </a:xfrm>
          <a:prstGeom prst="rect">
            <a:avLst/>
          </a:prstGeom>
          <a:noFill/>
        </p:spPr>
        <p:txBody>
          <a:bodyPr wrap="none" lIns="0" rIns="0" tIns="0" bIns="0">
            <a:spAutoFit/>
          </a:bodyPr>
          <a:lstStyle/>
          <a:p>
            <a:r>
              <a:rPr sz="1050" b="0">
                <a:solidFill>
                  <a:srgbClr val="1F1F1F"/>
                </a:solidFill>
                <a:latin typeface="Calibri"/>
              </a:rPr>
              <a:t>/MT in 2026</a:t>
            </a:r>
          </a:p>
        </p:txBody>
      </p:sp>
      <p:sp>
        <p:nvSpPr>
          <p:cNvPr id="59" name="TextBox 58"/>
          <p:cNvSpPr txBox="1"/>
          <p:nvPr/>
        </p:nvSpPr>
        <p:spPr>
          <a:xfrm>
            <a:off x="8658225" y="5690996"/>
            <a:ext cx="436140" cy="179069"/>
          </a:xfrm>
          <a:prstGeom prst="rect">
            <a:avLst/>
          </a:prstGeom>
          <a:noFill/>
        </p:spPr>
        <p:txBody>
          <a:bodyPr wrap="none" lIns="0" rIns="0" tIns="0" bIns="0">
            <a:spAutoFit/>
          </a:bodyPr>
          <a:lstStyle/>
          <a:p>
            <a:r>
              <a:rPr sz="1050" b="0">
                <a:solidFill>
                  <a:srgbClr val="1F1F1F"/>
                </a:solidFill>
                <a:latin typeface="Calibri"/>
              </a:rPr>
              <a:t>to US$</a:t>
            </a:r>
          </a:p>
        </p:txBody>
      </p:sp>
      <p:pic>
        <p:nvPicPr>
          <p:cNvPr id="60" name="Picture 59" descr="lock.png"/>
          <p:cNvPicPr>
            <a:picLocks noChangeAspect="1"/>
          </p:cNvPicPr>
          <p:nvPr/>
        </p:nvPicPr>
        <p:blipFill>
          <a:blip r:embed="rId6"/>
          <a:stretch>
            <a:fillRect/>
          </a:stretch>
        </p:blipFill>
        <p:spPr>
          <a:xfrm>
            <a:off x="9041315" y="5681662"/>
            <a:ext cx="122849" cy="178689"/>
          </a:xfrm>
          <a:prstGeom prst="rect">
            <a:avLst/>
          </a:prstGeom>
        </p:spPr>
      </p:pic>
      <p:sp>
        <p:nvSpPr>
          <p:cNvPr id="61" name="TextBox 60"/>
          <p:cNvSpPr txBox="1"/>
          <p:nvPr/>
        </p:nvSpPr>
        <p:spPr>
          <a:xfrm>
            <a:off x="9201197" y="5690996"/>
            <a:ext cx="2593181" cy="179069"/>
          </a:xfrm>
          <a:prstGeom prst="rect">
            <a:avLst/>
          </a:prstGeom>
          <a:noFill/>
        </p:spPr>
        <p:txBody>
          <a:bodyPr wrap="none" lIns="0" rIns="0" tIns="0" bIns="0">
            <a:spAutoFit/>
          </a:bodyPr>
          <a:lstStyle/>
          <a:p>
            <a:r>
              <a:rPr sz="1050" b="0">
                <a:solidFill>
                  <a:srgbClr val="1F1F1F"/>
                </a:solidFill>
                <a:latin typeface="Calibri"/>
              </a:rPr>
              <a:t>/MT in 2036, and the gap between the highest</a:t>
            </a:r>
          </a:p>
        </p:txBody>
      </p:sp>
      <p:sp>
        <p:nvSpPr>
          <p:cNvPr id="62" name="TextBox 61"/>
          <p:cNvSpPr txBox="1"/>
          <p:nvPr/>
        </p:nvSpPr>
        <p:spPr>
          <a:xfrm>
            <a:off x="8658225" y="5851016"/>
            <a:ext cx="2286892" cy="179069"/>
          </a:xfrm>
          <a:prstGeom prst="rect">
            <a:avLst/>
          </a:prstGeom>
          <a:noFill/>
        </p:spPr>
        <p:txBody>
          <a:bodyPr wrap="none" lIns="0" rIns="0" tIns="0" bIns="0">
            <a:spAutoFit/>
          </a:bodyPr>
          <a:lstStyle/>
          <a:p>
            <a:r>
              <a:rPr sz="1050" b="0">
                <a:solidFill>
                  <a:srgbClr val="1F1F1F"/>
                </a:solidFill>
                <a:latin typeface="Calibri"/>
              </a:rPr>
              <a:t>and lowest priced form type moves from</a:t>
            </a:r>
          </a:p>
        </p:txBody>
      </p:sp>
      <p:pic>
        <p:nvPicPr>
          <p:cNvPr id="63" name="Picture 62" descr="lock.png"/>
          <p:cNvPicPr>
            <a:picLocks noChangeAspect="1"/>
          </p:cNvPicPr>
          <p:nvPr/>
        </p:nvPicPr>
        <p:blipFill>
          <a:blip r:embed="rId6"/>
          <a:stretch>
            <a:fillRect/>
          </a:stretch>
        </p:blipFill>
        <p:spPr>
          <a:xfrm>
            <a:off x="10892067" y="5841682"/>
            <a:ext cx="122849" cy="178689"/>
          </a:xfrm>
          <a:prstGeom prst="rect">
            <a:avLst/>
          </a:prstGeom>
        </p:spPr>
      </p:pic>
      <p:sp>
        <p:nvSpPr>
          <p:cNvPr id="64" name="TextBox 63"/>
          <p:cNvSpPr txBox="1"/>
          <p:nvPr/>
        </p:nvSpPr>
        <p:spPr>
          <a:xfrm>
            <a:off x="11051949" y="5851016"/>
            <a:ext cx="623403" cy="179069"/>
          </a:xfrm>
          <a:prstGeom prst="rect">
            <a:avLst/>
          </a:prstGeom>
          <a:noFill/>
        </p:spPr>
        <p:txBody>
          <a:bodyPr wrap="none" lIns="0" rIns="0" tIns="0" bIns="0">
            <a:spAutoFit/>
          </a:bodyPr>
          <a:lstStyle/>
          <a:p>
            <a:r>
              <a:rPr sz="1050" b="0">
                <a:solidFill>
                  <a:srgbClr val="1F1F1F"/>
                </a:solidFill>
                <a:latin typeface="Calibri"/>
              </a:rPr>
              <a:t>in 2021 to</a:t>
            </a:r>
          </a:p>
        </p:txBody>
      </p:sp>
      <p:pic>
        <p:nvPicPr>
          <p:cNvPr id="65" name="Picture 64" descr="lock.png"/>
          <p:cNvPicPr>
            <a:picLocks noChangeAspect="1"/>
          </p:cNvPicPr>
          <p:nvPr/>
        </p:nvPicPr>
        <p:blipFill>
          <a:blip r:embed="rId6"/>
          <a:stretch>
            <a:fillRect/>
          </a:stretch>
        </p:blipFill>
        <p:spPr>
          <a:xfrm>
            <a:off x="8645369" y="6001702"/>
            <a:ext cx="122849" cy="178689"/>
          </a:xfrm>
          <a:prstGeom prst="rect">
            <a:avLst/>
          </a:prstGeom>
        </p:spPr>
      </p:pic>
      <p:sp>
        <p:nvSpPr>
          <p:cNvPr id="66" name="TextBox 65"/>
          <p:cNvSpPr txBox="1"/>
          <p:nvPr/>
        </p:nvSpPr>
        <p:spPr>
          <a:xfrm>
            <a:off x="8805252" y="6011036"/>
            <a:ext cx="511671" cy="179069"/>
          </a:xfrm>
          <a:prstGeom prst="rect">
            <a:avLst/>
          </a:prstGeom>
          <a:noFill/>
        </p:spPr>
        <p:txBody>
          <a:bodyPr wrap="none" lIns="0" rIns="0" tIns="0" bIns="0">
            <a:spAutoFit/>
          </a:bodyPr>
          <a:lstStyle/>
          <a:p>
            <a:r>
              <a:rPr sz="1050" b="0">
                <a:solidFill>
                  <a:srgbClr val="1F1F1F"/>
                </a:solidFill>
                <a:latin typeface="Calibri"/>
              </a:rPr>
              <a:t>in 2036.</a:t>
            </a:r>
          </a:p>
        </p:txBody>
      </p:sp>
      <p:pic>
        <p:nvPicPr>
          <p:cNvPr id="67" name="Picture 66" descr="lock.png"/>
          <p:cNvPicPr>
            <a:picLocks noChangeAspect="1"/>
          </p:cNvPicPr>
          <p:nvPr/>
        </p:nvPicPr>
        <p:blipFill>
          <a:blip r:embed="rId6"/>
          <a:stretch>
            <a:fillRect/>
          </a:stretch>
        </p:blipFill>
        <p:spPr>
          <a:xfrm>
            <a:off x="3418190" y="3048804"/>
            <a:ext cx="454926" cy="661711"/>
          </a:xfrm>
          <a:prstGeom prst="rect">
            <a:avLst/>
          </a:prstGeom>
        </p:spPr>
      </p:pic>
      <p:pic>
        <p:nvPicPr>
          <p:cNvPr id="68" name="Picture 67" descr="lock.png"/>
          <p:cNvPicPr>
            <a:picLocks noChangeAspect="1"/>
          </p:cNvPicPr>
          <p:nvPr/>
        </p:nvPicPr>
        <p:blipFill>
          <a:blip r:embed="rId6"/>
          <a:stretch>
            <a:fillRect/>
          </a:stretch>
        </p:blipFill>
        <p:spPr>
          <a:xfrm>
            <a:off x="9403270" y="2219134"/>
            <a:ext cx="256698" cy="373379"/>
          </a:xfrm>
          <a:prstGeom prst="rect">
            <a:avLst/>
          </a:prstGeom>
        </p:spPr>
      </p:pic>
      <p:sp>
        <p:nvSpPr>
          <p:cNvPr id="69" name="lockshield_13"/>
          <p:cNvSpPr/>
          <p:nvPr/>
        </p:nvSpPr>
        <p:spPr>
          <a:xfrm>
            <a:off x="347472" y="1831467"/>
            <a:ext cx="6309360" cy="3182112"/>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lockshield_17"/>
          <p:cNvSpPr/>
          <p:nvPr/>
        </p:nvSpPr>
        <p:spPr>
          <a:xfrm>
            <a:off x="6903720" y="1785747"/>
            <a:ext cx="4965192" cy="132588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Senior Dog Cognitive Supplement Market Price Matrix: Form Type × Active Ingredient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Average price (US$/MT) for every form type and active ingredient combination, 2026</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11" name="Rectangle 10"/>
          <p:cNvSpPr/>
          <p:nvPr/>
        </p:nvSpPr>
        <p:spPr>
          <a:xfrm>
            <a:off x="274320" y="1529715"/>
            <a:ext cx="754380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7315200" cy="257175"/>
          </a:xfrm>
          <a:prstGeom prst="rect">
            <a:avLst/>
          </a:prstGeom>
          <a:noFill/>
        </p:spPr>
        <p:txBody>
          <a:bodyPr wrap="square" anchor="t" lIns="27432" rIns="27432" tIns="27432" bIns="27432">
            <a:spAutoFit/>
          </a:bodyPr>
          <a:lstStyle/>
          <a:p>
            <a:pPr algn="l"/>
            <a:r>
              <a:rPr sz="1150" b="1" i="0">
                <a:solidFill>
                  <a:srgbClr val="0B2E4A"/>
                </a:solidFill>
                <a:latin typeface="Calibri"/>
              </a:rPr>
              <a:t>2026 Price Matrix (US$/MT), Shaded by Index vs Global Average</a:t>
            </a:r>
          </a:p>
        </p:txBody>
      </p:sp>
      <p:graphicFrame>
        <p:nvGraphicFramePr>
          <p:cNvPr id="13" name="Table 12"/>
          <p:cNvGraphicFramePr>
            <a:graphicFrameLocks noGrp="1"/>
          </p:cNvGraphicFramePr>
          <p:nvPr/>
        </p:nvGraphicFramePr>
        <p:xfrm>
          <a:off x="365760" y="1868043"/>
          <a:ext cx="7360920" cy="2834640"/>
        </p:xfrm>
        <a:graphic>
          <a:graphicData uri="http://schemas.openxmlformats.org/drawingml/2006/table">
            <a:tbl>
              <a:tblPr firstRow="1" bandRow="1">
                <a:tableStyleId>{5C22544A-7EE6-4342-B048-85BDC9FD1C3A}</a:tableStyleId>
              </a:tblPr>
              <a:tblGrid>
                <a:gridCol w="1554480"/>
                <a:gridCol w="867156"/>
                <a:gridCol w="867156"/>
                <a:gridCol w="867156"/>
                <a:gridCol w="867156"/>
                <a:gridCol w="867156"/>
                <a:gridCol w="867156"/>
                <a:gridCol w="603504"/>
              </a:tblGrid>
              <a:tr h="354330">
                <a:tc>
                  <a:txBody>
                    <a:bodyPr wrap="square"/>
                    <a:lstStyle/>
                    <a:p>
                      <a:pPr algn="l"/>
                      <a:r>
                        <a:rPr sz="800" b="1">
                          <a:solidFill>
                            <a:srgbClr val="FFFFFF"/>
                          </a:solidFill>
                          <a:latin typeface="Calibri"/>
                        </a:rPr>
                        <a:t>Form Type</a:t>
                      </a:r>
                    </a:p>
                  </a:txBody>
                  <a:tcPr marL="36576" marR="36576" marT="9144" marB="9144" anchor="ctr">
                    <a:solidFill>
                      <a:srgbClr val="0B2E4A"/>
                    </a:solidFill>
                  </a:tcPr>
                </a:tc>
                <a:tc>
                  <a:txBody>
                    <a:bodyPr wrap="square"/>
                    <a:lstStyle/>
                    <a:p>
                      <a:pPr algn="ctr"/>
                      <a:r>
                        <a:rPr sz="800" b="1">
                          <a:solidFill>
                            <a:srgbClr val="FFFFFF"/>
                          </a:solidFill>
                          <a:latin typeface="Calibri"/>
                        </a:rPr>
                        <a:t>Omega-3 Fatty Acids</a:t>
                      </a:r>
                    </a:p>
                  </a:txBody>
                  <a:tcPr marL="36576" marR="36576" marT="9144" marB="9144" anchor="ctr">
                    <a:solidFill>
                      <a:srgbClr val="0B2E4A"/>
                    </a:solidFill>
                  </a:tcPr>
                </a:tc>
                <a:tc>
                  <a:txBody>
                    <a:bodyPr wrap="square"/>
                    <a:lstStyle/>
                    <a:p>
                      <a:pPr algn="ctr"/>
                      <a:r>
                        <a:rPr sz="800" b="1">
                          <a:solidFill>
                            <a:srgbClr val="FFFFFF"/>
                          </a:solidFill>
                          <a:latin typeface="Calibri"/>
                        </a:rPr>
                        <a:t>Antioxidant Ingredients</a:t>
                      </a:r>
                    </a:p>
                  </a:txBody>
                  <a:tcPr marL="36576" marR="36576" marT="9144" marB="9144" anchor="ctr">
                    <a:solidFill>
                      <a:srgbClr val="0B2E4A"/>
                    </a:solidFill>
                  </a:tcPr>
                </a:tc>
                <a:tc>
                  <a:txBody>
                    <a:bodyPr wrap="square"/>
                    <a:lstStyle/>
                    <a:p>
                      <a:pPr algn="ctr"/>
                      <a:r>
                        <a:rPr sz="800" b="1">
                          <a:solidFill>
                            <a:srgbClr val="FFFFFF"/>
                          </a:solidFill>
                          <a:latin typeface="Calibri"/>
                        </a:rPr>
                        <a:t>Neurofunctional Nutrients</a:t>
                      </a:r>
                    </a:p>
                  </a:txBody>
                  <a:tcPr marL="36576" marR="36576" marT="9144" marB="9144" anchor="ctr">
                    <a:solidFill>
                      <a:srgbClr val="0B2E4A"/>
                    </a:solidFill>
                  </a:tcPr>
                </a:tc>
                <a:tc>
                  <a:txBody>
                    <a:bodyPr wrap="square"/>
                    <a:lstStyle/>
                    <a:p>
                      <a:pPr algn="ctr"/>
                      <a:r>
                        <a:rPr sz="800" b="1">
                          <a:solidFill>
                            <a:srgbClr val="FFFFFF"/>
                          </a:solidFill>
                          <a:latin typeface="Calibri"/>
                        </a:rPr>
                        <a:t>Cellular Energy Support Ingredients</a:t>
                      </a:r>
                    </a:p>
                  </a:txBody>
                  <a:tcPr marL="36576" marR="36576" marT="9144" marB="9144" anchor="ctr">
                    <a:solidFill>
                      <a:srgbClr val="0B2E4A"/>
                    </a:solidFill>
                  </a:tcPr>
                </a:tc>
                <a:tc>
                  <a:txBody>
                    <a:bodyPr wrap="square"/>
                    <a:lstStyle/>
                    <a:p>
                      <a:pPr algn="ctr"/>
                      <a:r>
                        <a:rPr sz="800" b="1">
                          <a:solidFill>
                            <a:srgbClr val="FFFFFF"/>
                          </a:solidFill>
                          <a:latin typeface="Calibri"/>
                        </a:rPr>
                        <a:t>Botanical Ingredients</a:t>
                      </a:r>
                    </a:p>
                  </a:txBody>
                  <a:tcPr marL="36576" marR="36576" marT="9144" marB="9144" anchor="ctr">
                    <a:solidFill>
                      <a:srgbClr val="0B2E4A"/>
                    </a:solidFill>
                  </a:tcPr>
                </a:tc>
                <a:tc>
                  <a:txBody>
                    <a:bodyPr wrap="square"/>
                    <a:lstStyle/>
                    <a:p>
                      <a:pPr algn="ctr"/>
                      <a:r>
                        <a:rPr sz="800" b="1">
                          <a:solidFill>
                            <a:srgbClr val="FFFFFF"/>
                          </a:solidFill>
                          <a:latin typeface="Calibri"/>
                        </a:rPr>
                        <a:t>Microbiome-Targeted Ingredients</a:t>
                      </a:r>
                    </a:p>
                  </a:txBody>
                  <a:tcPr marL="36576" marR="36576" marT="9144" marB="9144" anchor="ctr">
                    <a:solidFill>
                      <a:srgbClr val="0B2E4A"/>
                    </a:solidFill>
                  </a:tcPr>
                </a:tc>
                <a:tc>
                  <a:txBody>
                    <a:bodyPr wrap="square"/>
                    <a:lstStyle/>
                    <a:p>
                      <a:pPr algn="ctr"/>
                      <a:r>
                        <a:rPr sz="800" b="1">
                          <a:solidFill>
                            <a:srgbClr val="FFFFFF"/>
                          </a:solidFill>
                          <a:latin typeface="Calibri"/>
                        </a:rPr>
                        <a:t>Row Avg.</a:t>
                      </a:r>
                    </a:p>
                  </a:txBody>
                  <a:tcPr marL="36576" marR="36576" marT="9144" marB="9144" anchor="ctr">
                    <a:solidFill>
                      <a:srgbClr val="0B2E4A"/>
                    </a:solidFill>
                  </a:tcPr>
                </a:tc>
              </a:tr>
              <a:tr h="354330">
                <a:tc>
                  <a:txBody>
                    <a:bodyPr wrap="square"/>
                    <a:lstStyle/>
                    <a:p>
                      <a:pPr algn="l"/>
                      <a:r>
                        <a:rPr sz="900" b="1">
                          <a:solidFill>
                            <a:srgbClr val="1F1F1F"/>
                          </a:solidFill>
                          <a:latin typeface="Calibri"/>
                        </a:rPr>
                        <a:t>Capsules and Softgels</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354330">
                <a:tc>
                  <a:txBody>
                    <a:bodyPr wrap="square"/>
                    <a:lstStyle/>
                    <a:p>
                      <a:pPr algn="l"/>
                      <a:r>
                        <a:rPr sz="900" b="1">
                          <a:solidFill>
                            <a:srgbClr val="1F1F1F"/>
                          </a:solidFill>
                          <a:latin typeface="Calibri"/>
                        </a:rPr>
                        <a:t>Powders and Granules</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354330">
                <a:tc>
                  <a:txBody>
                    <a:bodyPr wrap="square"/>
                    <a:lstStyle/>
                    <a:p>
                      <a:pPr algn="l"/>
                      <a:r>
                        <a:rPr sz="900" b="1">
                          <a:solidFill>
                            <a:srgbClr val="1F1F1F"/>
                          </a:solidFill>
                          <a:latin typeface="Calibri"/>
                        </a:rPr>
                        <a:t>Liquids</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354330">
                <a:tc>
                  <a:txBody>
                    <a:bodyPr wrap="square"/>
                    <a:lstStyle/>
                    <a:p>
                      <a:pPr algn="l"/>
                      <a:r>
                        <a:rPr sz="900" b="1">
                          <a:solidFill>
                            <a:srgbClr val="1F1F1F"/>
                          </a:solidFill>
                          <a:latin typeface="Calibri"/>
                        </a:rPr>
                        <a:t>Gels and Pastes</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D9E6F2"/>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354330">
                <a:tc>
                  <a:txBody>
                    <a:bodyPr wrap="square"/>
                    <a:lstStyle/>
                    <a:p>
                      <a:pPr algn="l"/>
                      <a:r>
                        <a:rPr sz="900" b="1">
                          <a:solidFill>
                            <a:srgbClr val="1F1F1F"/>
                          </a:solidFill>
                          <a:latin typeface="Calibri"/>
                        </a:rPr>
                        <a:t>Chewables</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BE3D3"/>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354330">
                <a:tc>
                  <a:txBody>
                    <a:bodyPr wrap="square"/>
                    <a:lstStyle/>
                    <a:p>
                      <a:pPr algn="l"/>
                      <a:r>
                        <a:rPr sz="900" b="1">
                          <a:solidFill>
                            <a:srgbClr val="1F1F1F"/>
                          </a:solidFill>
                          <a:latin typeface="Calibri"/>
                        </a:rPr>
                        <a:t>Tablets</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354330">
                <a:tc>
                  <a:txBody>
                    <a:bodyPr wrap="square"/>
                    <a:lstStyle/>
                    <a:p>
                      <a:pPr algn="l"/>
                      <a:r>
                        <a:rPr sz="900" b="1">
                          <a:solidFill>
                            <a:srgbClr val="1F1F1F"/>
                          </a:solidFill>
                          <a:latin typeface="Calibri"/>
                        </a:rPr>
                        <a:t>Column Avg.</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r>
            </a:tbl>
          </a:graphicData>
        </a:graphic>
      </p:graphicFrame>
      <p:sp>
        <p:nvSpPr>
          <p:cNvPr id="14" name="Rectangle 13"/>
          <p:cNvSpPr/>
          <p:nvPr/>
        </p:nvSpPr>
        <p:spPr>
          <a:xfrm>
            <a:off x="384048" y="4794123"/>
            <a:ext cx="180975" cy="142875"/>
          </a:xfrm>
          <a:prstGeom prst="rect">
            <a:avLst/>
          </a:prstGeom>
          <a:solidFill>
            <a:srgbClr val="9DC0E0"/>
          </a:solidFill>
          <a:ln w="9525">
            <a:solidFill>
              <a:srgbClr val="D9DEE4"/>
            </a:solidFill>
          </a:ln>
          <a:effectLst/>
        </p:spPr>
        <p:txBody>
          <a:bodyPr rtlCol="0" anchor="ctr"/>
          <a:lstStyle/>
          <a:p>
            <a:pPr algn="ctr"/>
          </a:p>
        </p:txBody>
      </p:sp>
      <p:sp>
        <p:nvSpPr>
          <p:cNvPr id="15" name="FMI Scale legend"/>
          <p:cNvSpPr txBox="1"/>
          <p:nvPr/>
        </p:nvSpPr>
        <p:spPr>
          <a:xfrm>
            <a:off x="59359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Index below 97.5</a:t>
            </a:r>
          </a:p>
        </p:txBody>
      </p:sp>
      <p:sp>
        <p:nvSpPr>
          <p:cNvPr id="16" name="Rectangle 15"/>
          <p:cNvSpPr/>
          <p:nvPr/>
        </p:nvSpPr>
        <p:spPr>
          <a:xfrm>
            <a:off x="1850898" y="4794123"/>
            <a:ext cx="180975" cy="142875"/>
          </a:xfrm>
          <a:prstGeom prst="rect">
            <a:avLst/>
          </a:prstGeom>
          <a:solidFill>
            <a:srgbClr val="D9E6F2"/>
          </a:solidFill>
          <a:ln w="9525">
            <a:solidFill>
              <a:srgbClr val="D9DEE4"/>
            </a:solidFill>
          </a:ln>
          <a:effectLst/>
        </p:spPr>
        <p:txBody>
          <a:bodyPr rtlCol="0" anchor="ctr"/>
          <a:lstStyle/>
          <a:p>
            <a:pPr algn="ctr"/>
          </a:p>
        </p:txBody>
      </p:sp>
      <p:sp>
        <p:nvSpPr>
          <p:cNvPr id="17" name="FMI Scale legend"/>
          <p:cNvSpPr txBox="1"/>
          <p:nvPr/>
        </p:nvSpPr>
        <p:spPr>
          <a:xfrm>
            <a:off x="206044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97.5 to 99</a:t>
            </a:r>
          </a:p>
        </p:txBody>
      </p:sp>
      <p:sp>
        <p:nvSpPr>
          <p:cNvPr id="18" name="Rectangle 17"/>
          <p:cNvSpPr/>
          <p:nvPr/>
        </p:nvSpPr>
        <p:spPr>
          <a:xfrm>
            <a:off x="3317748" y="4794123"/>
            <a:ext cx="180975" cy="142875"/>
          </a:xfrm>
          <a:prstGeom prst="rect">
            <a:avLst/>
          </a:prstGeom>
          <a:solidFill>
            <a:srgbClr val="F7F7F7"/>
          </a:solidFill>
          <a:ln w="9525">
            <a:solidFill>
              <a:srgbClr val="D9DEE4"/>
            </a:solidFill>
          </a:ln>
          <a:effectLst/>
        </p:spPr>
        <p:txBody>
          <a:bodyPr rtlCol="0" anchor="ctr"/>
          <a:lstStyle/>
          <a:p>
            <a:pPr algn="ctr"/>
          </a:p>
        </p:txBody>
      </p:sp>
      <p:sp>
        <p:nvSpPr>
          <p:cNvPr id="19" name="FMI Scale legend"/>
          <p:cNvSpPr txBox="1"/>
          <p:nvPr/>
        </p:nvSpPr>
        <p:spPr>
          <a:xfrm>
            <a:off x="352729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Parity: 99 to 101</a:t>
            </a:r>
          </a:p>
        </p:txBody>
      </p:sp>
      <p:sp>
        <p:nvSpPr>
          <p:cNvPr id="20" name="Rectangle 19"/>
          <p:cNvSpPr/>
          <p:nvPr/>
        </p:nvSpPr>
        <p:spPr>
          <a:xfrm>
            <a:off x="4784598" y="4794123"/>
            <a:ext cx="180975" cy="142875"/>
          </a:xfrm>
          <a:prstGeom prst="rect">
            <a:avLst/>
          </a:prstGeom>
          <a:solidFill>
            <a:srgbClr val="FBE3D3"/>
          </a:solidFill>
          <a:ln w="9525">
            <a:solidFill>
              <a:srgbClr val="D9DEE4"/>
            </a:solidFill>
          </a:ln>
          <a:effectLst/>
        </p:spPr>
        <p:txBody>
          <a:bodyPr rtlCol="0" anchor="ctr"/>
          <a:lstStyle/>
          <a:p>
            <a:pPr algn="ctr"/>
          </a:p>
        </p:txBody>
      </p:sp>
      <p:sp>
        <p:nvSpPr>
          <p:cNvPr id="21" name="FMI Scale legend"/>
          <p:cNvSpPr txBox="1"/>
          <p:nvPr/>
        </p:nvSpPr>
        <p:spPr>
          <a:xfrm>
            <a:off x="499414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101 to 102.5</a:t>
            </a:r>
          </a:p>
        </p:txBody>
      </p:sp>
      <p:sp>
        <p:nvSpPr>
          <p:cNvPr id="22" name="Rectangle 21"/>
          <p:cNvSpPr/>
          <p:nvPr/>
        </p:nvSpPr>
        <p:spPr>
          <a:xfrm>
            <a:off x="6251448" y="4794123"/>
            <a:ext cx="180975" cy="142875"/>
          </a:xfrm>
          <a:prstGeom prst="rect">
            <a:avLst/>
          </a:prstGeom>
          <a:solidFill>
            <a:srgbClr val="F4B183"/>
          </a:solidFill>
          <a:ln w="9525">
            <a:solidFill>
              <a:srgbClr val="D9DEE4"/>
            </a:solidFill>
          </a:ln>
          <a:effectLst/>
        </p:spPr>
        <p:txBody>
          <a:bodyPr rtlCol="0" anchor="ctr"/>
          <a:lstStyle/>
          <a:p>
            <a:pPr algn="ctr"/>
          </a:p>
        </p:txBody>
      </p:sp>
      <p:sp>
        <p:nvSpPr>
          <p:cNvPr id="23" name="FMI Scale legend"/>
          <p:cNvSpPr txBox="1"/>
          <p:nvPr/>
        </p:nvSpPr>
        <p:spPr>
          <a:xfrm>
            <a:off x="646099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Index above 102.5</a:t>
            </a:r>
          </a:p>
        </p:txBody>
      </p:sp>
      <p:sp>
        <p:nvSpPr>
          <p:cNvPr id="24" name="Rectangle 23"/>
          <p:cNvSpPr/>
          <p:nvPr/>
        </p:nvSpPr>
        <p:spPr>
          <a:xfrm>
            <a:off x="7955280" y="1529715"/>
            <a:ext cx="3959352" cy="3520440"/>
          </a:xfrm>
          <a:prstGeom prst="rect">
            <a:avLst/>
          </a:prstGeom>
          <a:solidFill>
            <a:srgbClr val="F3F6F9"/>
          </a:solidFill>
          <a:ln>
            <a:noFill/>
          </a:ln>
          <a:effectLst/>
        </p:spPr>
        <p:txBody>
          <a:bodyPr rtlCol="0" anchor="ctr"/>
          <a:lstStyle/>
          <a:p>
            <a:pPr algn="ctr"/>
          </a:p>
        </p:txBody>
      </p:sp>
      <p:sp>
        <p:nvSpPr>
          <p:cNvPr id="25" name="TextBox 24"/>
          <p:cNvSpPr txBox="1"/>
          <p:nvPr/>
        </p:nvSpPr>
        <p:spPr>
          <a:xfrm>
            <a:off x="8065008" y="1575435"/>
            <a:ext cx="3749040" cy="257175"/>
          </a:xfrm>
          <a:prstGeom prst="rect">
            <a:avLst/>
          </a:prstGeom>
          <a:noFill/>
        </p:spPr>
        <p:txBody>
          <a:bodyPr wrap="square" anchor="t" lIns="27432" rIns="27432" tIns="27432" bIns="27432">
            <a:spAutoFit/>
          </a:bodyPr>
          <a:lstStyle/>
          <a:p>
            <a:pPr algn="l"/>
            <a:r>
              <a:rPr sz="1150" b="1" i="0">
                <a:solidFill>
                  <a:srgbClr val="0B2E4A"/>
                </a:solidFill>
                <a:latin typeface="Calibri"/>
              </a:rPr>
              <a:t>Price Range Across All Active Ingredient Sub-Types, 2026</a:t>
            </a:r>
          </a:p>
        </p:txBody>
      </p:sp>
      <p:sp>
        <p:nvSpPr>
          <p:cNvPr id="26" name="TextBox 25"/>
          <p:cNvSpPr txBox="1"/>
          <p:nvPr/>
        </p:nvSpPr>
        <p:spPr>
          <a:xfrm>
            <a:off x="8065008" y="1965579"/>
            <a:ext cx="3749040" cy="219075"/>
          </a:xfrm>
          <a:prstGeom prst="rect">
            <a:avLst/>
          </a:prstGeom>
          <a:noFill/>
        </p:spPr>
        <p:txBody>
          <a:bodyPr wrap="square" anchor="t" lIns="27432" rIns="27432" tIns="27432" bIns="27432">
            <a:spAutoFit/>
          </a:bodyPr>
          <a:lstStyle/>
          <a:p>
            <a:pPr algn="l"/>
            <a:r>
              <a:rPr sz="850" b="0" i="1">
                <a:solidFill>
                  <a:srgbClr val="59636E"/>
                </a:solidFill>
                <a:latin typeface="Calibri"/>
              </a:rPr>
              <a:t>Bar spans lowest to highest price (US$/MT) at the finest data level.</a:t>
            </a:r>
          </a:p>
        </p:txBody>
      </p:sp>
      <p:graphicFrame>
        <p:nvGraphicFramePr>
          <p:cNvPr id="27" name="FMI Price Chart"/>
          <p:cNvGraphicFramePr>
            <a:graphicFrameLocks noGrp="1"/>
          </p:cNvGraphicFramePr>
          <p:nvPr/>
        </p:nvGraphicFramePr>
        <p:xfrm>
          <a:off x="8001000" y="2032635"/>
          <a:ext cx="3867912" cy="2971800"/>
        </p:xfrm>
        <a:graphic>
          <a:graphicData uri="http://schemas.openxmlformats.org/drawingml/2006/chart">
            <c:chart xmlns:c="http://schemas.openxmlformats.org/drawingml/2006/chart" r:id="rId3"/>
          </a:graphicData>
        </a:graphic>
      </p:graphicFrame>
      <p:sp>
        <p:nvSpPr>
          <p:cNvPr id="28" name="Rectangle 27"/>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29" name="Oval 28"/>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30" name="TextBox 29"/>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Premium Pockets</a:t>
            </a:r>
          </a:p>
        </p:txBody>
      </p:sp>
      <p:sp>
        <p:nvSpPr>
          <p:cNvPr id="31" name="TextBox 30"/>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2" name="Rectangle 31"/>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33" name="Oval 32"/>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34" name="TextBox 33"/>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Value Pockets</a:t>
            </a:r>
          </a:p>
        </p:txBody>
      </p:sp>
      <p:sp>
        <p:nvSpPr>
          <p:cNvPr id="35" name="TextBox 34"/>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6" name="Rectangle 35"/>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37" name="Oval 36"/>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38" name="TextBox 37"/>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Within-Type Spread</a:t>
            </a:r>
          </a:p>
        </p:txBody>
      </p:sp>
      <p:sp>
        <p:nvSpPr>
          <p:cNvPr id="39" name="TextBox 38"/>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40" name="TextBox 39"/>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4636770" y="3195828"/>
            <a:ext cx="366712" cy="533400"/>
          </a:xfrm>
          <a:prstGeom prst="rect">
            <a:avLst/>
          </a:prstGeom>
        </p:spPr>
      </p:pic>
      <p:sp>
        <p:nvSpPr>
          <p:cNvPr id="43" name="TextBox 42"/>
          <p:cNvSpPr txBox="1"/>
          <p:nvPr/>
        </p:nvSpPr>
        <p:spPr>
          <a:xfrm>
            <a:off x="411480" y="1110615"/>
            <a:ext cx="7602438" cy="217169"/>
          </a:xfrm>
          <a:prstGeom prst="rect">
            <a:avLst/>
          </a:prstGeom>
          <a:noFill/>
        </p:spPr>
        <p:txBody>
          <a:bodyPr wrap="none" lIns="0" rIns="0" tIns="0" bIns="0">
            <a:spAutoFit/>
          </a:bodyPr>
          <a:lstStyle/>
          <a:p>
            <a:r>
              <a:rPr sz="1300" b="1">
                <a:solidFill>
                  <a:srgbClr val="FFFFFF"/>
                </a:solidFill>
                <a:latin typeface="Calibri"/>
              </a:rPr>
              <a:t>Capsules and Softgels for Cellular Energy Support Ingredients is the highest priced combination in 2026 at US$</a:t>
            </a:r>
          </a:p>
        </p:txBody>
      </p:sp>
      <p:pic>
        <p:nvPicPr>
          <p:cNvPr id="44" name="Picture 43" descr="lock.png"/>
          <p:cNvPicPr>
            <a:picLocks noChangeAspect="1"/>
          </p:cNvPicPr>
          <p:nvPr/>
        </p:nvPicPr>
        <p:blipFill>
          <a:blip r:embed="rId5"/>
          <a:stretch>
            <a:fillRect/>
          </a:stretch>
        </p:blipFill>
        <p:spPr>
          <a:xfrm>
            <a:off x="7966379" y="1099058"/>
            <a:ext cx="152098" cy="221234"/>
          </a:xfrm>
          <a:prstGeom prst="rect">
            <a:avLst/>
          </a:prstGeom>
        </p:spPr>
      </p:pic>
      <p:sp>
        <p:nvSpPr>
          <p:cNvPr id="45" name="TextBox 44"/>
          <p:cNvSpPr txBox="1"/>
          <p:nvPr/>
        </p:nvSpPr>
        <p:spPr>
          <a:xfrm>
            <a:off x="8164328" y="1110615"/>
            <a:ext cx="535706" cy="217169"/>
          </a:xfrm>
          <a:prstGeom prst="rect">
            <a:avLst/>
          </a:prstGeom>
          <a:noFill/>
        </p:spPr>
        <p:txBody>
          <a:bodyPr wrap="none" lIns="0" rIns="0" tIns="0" bIns="0">
            <a:spAutoFit/>
          </a:bodyPr>
          <a:lstStyle/>
          <a:p>
            <a:r>
              <a:rPr sz="1300" b="1">
                <a:solidFill>
                  <a:srgbClr val="FFFFFF"/>
                </a:solidFill>
                <a:latin typeface="Calibri"/>
              </a:rPr>
              <a:t>/MT, +</a:t>
            </a:r>
          </a:p>
        </p:txBody>
      </p:sp>
      <p:pic>
        <p:nvPicPr>
          <p:cNvPr id="46" name="Picture 45" descr="lock.png"/>
          <p:cNvPicPr>
            <a:picLocks noChangeAspect="1"/>
          </p:cNvPicPr>
          <p:nvPr/>
        </p:nvPicPr>
        <p:blipFill>
          <a:blip r:embed="rId5"/>
          <a:stretch>
            <a:fillRect/>
          </a:stretch>
        </p:blipFill>
        <p:spPr>
          <a:xfrm>
            <a:off x="8652496" y="1099058"/>
            <a:ext cx="152098" cy="221234"/>
          </a:xfrm>
          <a:prstGeom prst="rect">
            <a:avLst/>
          </a:prstGeom>
        </p:spPr>
      </p:pic>
      <p:sp>
        <p:nvSpPr>
          <p:cNvPr id="47" name="TextBox 46"/>
          <p:cNvSpPr txBox="1"/>
          <p:nvPr/>
        </p:nvSpPr>
        <p:spPr>
          <a:xfrm>
            <a:off x="8850446" y="1110615"/>
            <a:ext cx="1871984" cy="217169"/>
          </a:xfrm>
          <a:prstGeom prst="rect">
            <a:avLst/>
          </a:prstGeom>
          <a:noFill/>
        </p:spPr>
        <p:txBody>
          <a:bodyPr wrap="none" lIns="0" rIns="0" tIns="0" bIns="0">
            <a:spAutoFit/>
          </a:bodyPr>
          <a:lstStyle/>
          <a:p>
            <a:r>
              <a:rPr sz="1300" b="1">
                <a:solidFill>
                  <a:srgbClr val="FFFFFF"/>
                </a:solidFill>
                <a:latin typeface="Calibri"/>
              </a:rPr>
              <a:t>above the Global average.</a:t>
            </a:r>
          </a:p>
        </p:txBody>
      </p:sp>
      <p:sp>
        <p:nvSpPr>
          <p:cNvPr id="48" name="TextBox 47"/>
          <p:cNvSpPr txBox="1"/>
          <p:nvPr/>
        </p:nvSpPr>
        <p:spPr>
          <a:xfrm>
            <a:off x="806576" y="5530976"/>
            <a:ext cx="2864308" cy="179069"/>
          </a:xfrm>
          <a:prstGeom prst="rect">
            <a:avLst/>
          </a:prstGeom>
          <a:noFill/>
        </p:spPr>
        <p:txBody>
          <a:bodyPr wrap="none" lIns="0" rIns="0" tIns="0" bIns="0">
            <a:spAutoFit/>
          </a:bodyPr>
          <a:lstStyle/>
          <a:p>
            <a:r>
              <a:rPr sz="1050" b="0">
                <a:solidFill>
                  <a:srgbClr val="1F1F1F"/>
                </a:solidFill>
                <a:latin typeface="Calibri"/>
              </a:rPr>
              <a:t>Capsules and Softgels positioned on Cellular Energy</a:t>
            </a:r>
          </a:p>
        </p:txBody>
      </p:sp>
      <p:sp>
        <p:nvSpPr>
          <p:cNvPr id="49" name="TextBox 48"/>
          <p:cNvSpPr txBox="1"/>
          <p:nvPr/>
        </p:nvSpPr>
        <p:spPr>
          <a:xfrm>
            <a:off x="806576" y="5690996"/>
            <a:ext cx="3039070" cy="179069"/>
          </a:xfrm>
          <a:prstGeom prst="rect">
            <a:avLst/>
          </a:prstGeom>
          <a:noFill/>
        </p:spPr>
        <p:txBody>
          <a:bodyPr wrap="none" lIns="0" rIns="0" tIns="0" bIns="0">
            <a:spAutoFit/>
          </a:bodyPr>
          <a:lstStyle/>
          <a:p>
            <a:r>
              <a:rPr sz="1050" b="0">
                <a:solidFill>
                  <a:srgbClr val="1F1F1F"/>
                </a:solidFill>
                <a:latin typeface="Calibri"/>
              </a:rPr>
              <a:t>Support Ingredients carry the strongest premium at an</a:t>
            </a:r>
          </a:p>
        </p:txBody>
      </p:sp>
      <p:sp>
        <p:nvSpPr>
          <p:cNvPr id="50" name="TextBox 49"/>
          <p:cNvSpPr txBox="1"/>
          <p:nvPr/>
        </p:nvSpPr>
        <p:spPr>
          <a:xfrm>
            <a:off x="806576" y="5851016"/>
            <a:ext cx="512452" cy="179069"/>
          </a:xfrm>
          <a:prstGeom prst="rect">
            <a:avLst/>
          </a:prstGeom>
          <a:noFill/>
        </p:spPr>
        <p:txBody>
          <a:bodyPr wrap="none" lIns="0" rIns="0" tIns="0" bIns="0">
            <a:spAutoFit/>
          </a:bodyPr>
          <a:lstStyle/>
          <a:p>
            <a:r>
              <a:rPr sz="1050" b="0">
                <a:solidFill>
                  <a:srgbClr val="1F1F1F"/>
                </a:solidFill>
                <a:latin typeface="Calibri"/>
              </a:rPr>
              <a:t>index of</a:t>
            </a:r>
          </a:p>
        </p:txBody>
      </p:sp>
      <p:pic>
        <p:nvPicPr>
          <p:cNvPr id="51" name="Picture 50" descr="lock.png"/>
          <p:cNvPicPr>
            <a:picLocks noChangeAspect="1"/>
          </p:cNvPicPr>
          <p:nvPr/>
        </p:nvPicPr>
        <p:blipFill>
          <a:blip r:embed="rId5"/>
          <a:stretch>
            <a:fillRect/>
          </a:stretch>
        </p:blipFill>
        <p:spPr>
          <a:xfrm>
            <a:off x="1265978" y="5841682"/>
            <a:ext cx="122849" cy="178689"/>
          </a:xfrm>
          <a:prstGeom prst="rect">
            <a:avLst/>
          </a:prstGeom>
        </p:spPr>
      </p:pic>
      <p:sp>
        <p:nvSpPr>
          <p:cNvPr id="52" name="TextBox 51"/>
          <p:cNvSpPr txBox="1"/>
          <p:nvPr/>
        </p:nvSpPr>
        <p:spPr>
          <a:xfrm>
            <a:off x="1425861" y="5851016"/>
            <a:ext cx="2440037" cy="179069"/>
          </a:xfrm>
          <a:prstGeom prst="rect">
            <a:avLst/>
          </a:prstGeom>
          <a:noFill/>
        </p:spPr>
        <p:txBody>
          <a:bodyPr wrap="none" lIns="0" rIns="0" tIns="0" bIns="0">
            <a:spAutoFit/>
          </a:bodyPr>
          <a:lstStyle/>
          <a:p>
            <a:r>
              <a:rPr sz="1050" b="0">
                <a:solidFill>
                  <a:srgbClr val="1F1F1F"/>
                </a:solidFill>
                <a:latin typeface="Calibri"/>
              </a:rPr>
              <a:t>, which signals room for value-added claims</a:t>
            </a:r>
          </a:p>
        </p:txBody>
      </p:sp>
      <p:sp>
        <p:nvSpPr>
          <p:cNvPr id="53" name="TextBox 52"/>
          <p:cNvSpPr txBox="1"/>
          <p:nvPr/>
        </p:nvSpPr>
        <p:spPr>
          <a:xfrm>
            <a:off x="806576" y="6011036"/>
            <a:ext cx="1152636" cy="179069"/>
          </a:xfrm>
          <a:prstGeom prst="rect">
            <a:avLst/>
          </a:prstGeom>
          <a:noFill/>
        </p:spPr>
        <p:txBody>
          <a:bodyPr wrap="none" lIns="0" rIns="0" tIns="0" bIns="0">
            <a:spAutoFit/>
          </a:bodyPr>
          <a:lstStyle/>
          <a:p>
            <a:r>
              <a:rPr sz="1050" b="0">
                <a:solidFill>
                  <a:srgbClr val="1F1F1F"/>
                </a:solidFill>
                <a:latin typeface="Calibri"/>
              </a:rPr>
              <a:t>in this combination.</a:t>
            </a:r>
          </a:p>
        </p:txBody>
      </p:sp>
      <p:sp>
        <p:nvSpPr>
          <p:cNvPr id="54" name="TextBox 53"/>
          <p:cNvSpPr txBox="1"/>
          <p:nvPr/>
        </p:nvSpPr>
        <p:spPr>
          <a:xfrm>
            <a:off x="4732401" y="5530976"/>
            <a:ext cx="2919524" cy="179069"/>
          </a:xfrm>
          <a:prstGeom prst="rect">
            <a:avLst/>
          </a:prstGeom>
          <a:noFill/>
        </p:spPr>
        <p:txBody>
          <a:bodyPr wrap="none" lIns="0" rIns="0" tIns="0" bIns="0">
            <a:spAutoFit/>
          </a:bodyPr>
          <a:lstStyle/>
          <a:p>
            <a:r>
              <a:rPr sz="1050" b="0">
                <a:solidFill>
                  <a:srgbClr val="1F1F1F"/>
                </a:solidFill>
                <a:latin typeface="Calibri"/>
              </a:rPr>
              <a:t>Tablets for Botanical Ingredients is the lowest priced</a:t>
            </a:r>
          </a:p>
        </p:txBody>
      </p:sp>
      <p:sp>
        <p:nvSpPr>
          <p:cNvPr id="55" name="TextBox 54"/>
          <p:cNvSpPr txBox="1"/>
          <p:nvPr/>
        </p:nvSpPr>
        <p:spPr>
          <a:xfrm>
            <a:off x="4732401" y="5690996"/>
            <a:ext cx="1529506" cy="179069"/>
          </a:xfrm>
          <a:prstGeom prst="rect">
            <a:avLst/>
          </a:prstGeom>
          <a:noFill/>
        </p:spPr>
        <p:txBody>
          <a:bodyPr wrap="none" lIns="0" rIns="0" tIns="0" bIns="0">
            <a:spAutoFit/>
          </a:bodyPr>
          <a:lstStyle/>
          <a:p>
            <a:r>
              <a:rPr sz="1050" b="0">
                <a:solidFill>
                  <a:srgbClr val="1F1F1F"/>
                </a:solidFill>
                <a:latin typeface="Calibri"/>
              </a:rPr>
              <a:t>combination at an index of</a:t>
            </a:r>
          </a:p>
        </p:txBody>
      </p:sp>
      <p:pic>
        <p:nvPicPr>
          <p:cNvPr id="56" name="Picture 55" descr="lock.png"/>
          <p:cNvPicPr>
            <a:picLocks noChangeAspect="1"/>
          </p:cNvPicPr>
          <p:nvPr/>
        </p:nvPicPr>
        <p:blipFill>
          <a:blip r:embed="rId5"/>
          <a:stretch>
            <a:fillRect/>
          </a:stretch>
        </p:blipFill>
        <p:spPr>
          <a:xfrm>
            <a:off x="6208856" y="5681662"/>
            <a:ext cx="122849" cy="178689"/>
          </a:xfrm>
          <a:prstGeom prst="rect">
            <a:avLst/>
          </a:prstGeom>
        </p:spPr>
      </p:pic>
      <p:sp>
        <p:nvSpPr>
          <p:cNvPr id="57" name="TextBox 56"/>
          <p:cNvSpPr txBox="1"/>
          <p:nvPr/>
        </p:nvSpPr>
        <p:spPr>
          <a:xfrm>
            <a:off x="6368739" y="5690996"/>
            <a:ext cx="475729" cy="179069"/>
          </a:xfrm>
          <a:prstGeom prst="rect">
            <a:avLst/>
          </a:prstGeom>
          <a:noFill/>
        </p:spPr>
        <p:txBody>
          <a:bodyPr wrap="none" lIns="0" rIns="0" tIns="0" bIns="0">
            <a:spAutoFit/>
          </a:bodyPr>
          <a:lstStyle/>
          <a:p>
            <a:r>
              <a:rPr sz="1050" b="0">
                <a:solidFill>
                  <a:srgbClr val="1F1F1F"/>
                </a:solidFill>
                <a:latin typeface="Calibri"/>
              </a:rPr>
              <a:t>, sitting</a:t>
            </a:r>
          </a:p>
        </p:txBody>
      </p:sp>
      <p:pic>
        <p:nvPicPr>
          <p:cNvPr id="58" name="Picture 57" descr="lock.png"/>
          <p:cNvPicPr>
            <a:picLocks noChangeAspect="1"/>
          </p:cNvPicPr>
          <p:nvPr/>
        </p:nvPicPr>
        <p:blipFill>
          <a:blip r:embed="rId5"/>
          <a:stretch>
            <a:fillRect/>
          </a:stretch>
        </p:blipFill>
        <p:spPr>
          <a:xfrm>
            <a:off x="6791417" y="5681662"/>
            <a:ext cx="122849" cy="178689"/>
          </a:xfrm>
          <a:prstGeom prst="rect">
            <a:avLst/>
          </a:prstGeom>
        </p:spPr>
      </p:pic>
      <p:sp>
        <p:nvSpPr>
          <p:cNvPr id="59" name="TextBox 58"/>
          <p:cNvSpPr txBox="1"/>
          <p:nvPr/>
        </p:nvSpPr>
        <p:spPr>
          <a:xfrm>
            <a:off x="6951299" y="5690996"/>
            <a:ext cx="620538" cy="179069"/>
          </a:xfrm>
          <a:prstGeom prst="rect">
            <a:avLst/>
          </a:prstGeom>
          <a:noFill/>
        </p:spPr>
        <p:txBody>
          <a:bodyPr wrap="none" lIns="0" rIns="0" tIns="0" bIns="0">
            <a:spAutoFit/>
          </a:bodyPr>
          <a:lstStyle/>
          <a:p>
            <a:r>
              <a:rPr sz="1050" b="0">
                <a:solidFill>
                  <a:srgbClr val="1F1F1F"/>
                </a:solidFill>
                <a:latin typeface="Calibri"/>
              </a:rPr>
              <a:t>below the</a:t>
            </a:r>
          </a:p>
        </p:txBody>
      </p:sp>
      <p:sp>
        <p:nvSpPr>
          <p:cNvPr id="60" name="TextBox 59"/>
          <p:cNvSpPr txBox="1"/>
          <p:nvPr/>
        </p:nvSpPr>
        <p:spPr>
          <a:xfrm>
            <a:off x="4732401" y="5851016"/>
            <a:ext cx="1272182" cy="179069"/>
          </a:xfrm>
          <a:prstGeom prst="rect">
            <a:avLst/>
          </a:prstGeom>
          <a:noFill/>
        </p:spPr>
        <p:txBody>
          <a:bodyPr wrap="none" lIns="0" rIns="0" tIns="0" bIns="0">
            <a:spAutoFit/>
          </a:bodyPr>
          <a:lstStyle/>
          <a:p>
            <a:r>
              <a:rPr sz="1050" b="0">
                <a:solidFill>
                  <a:srgbClr val="1F1F1F"/>
                </a:solidFill>
                <a:latin typeface="Calibri"/>
              </a:rPr>
              <a:t>Global average of US$</a:t>
            </a:r>
          </a:p>
        </p:txBody>
      </p:sp>
      <p:pic>
        <p:nvPicPr>
          <p:cNvPr id="61" name="Picture 60" descr="lock.png"/>
          <p:cNvPicPr>
            <a:picLocks noChangeAspect="1"/>
          </p:cNvPicPr>
          <p:nvPr/>
        </p:nvPicPr>
        <p:blipFill>
          <a:blip r:embed="rId5"/>
          <a:stretch>
            <a:fillRect/>
          </a:stretch>
        </p:blipFill>
        <p:spPr>
          <a:xfrm>
            <a:off x="5951533" y="5841682"/>
            <a:ext cx="122849" cy="178689"/>
          </a:xfrm>
          <a:prstGeom prst="rect">
            <a:avLst/>
          </a:prstGeom>
        </p:spPr>
      </p:pic>
      <p:sp>
        <p:nvSpPr>
          <p:cNvPr id="62" name="TextBox 61"/>
          <p:cNvSpPr txBox="1"/>
          <p:nvPr/>
        </p:nvSpPr>
        <p:spPr>
          <a:xfrm>
            <a:off x="6111415" y="5851016"/>
            <a:ext cx="340555" cy="179069"/>
          </a:xfrm>
          <a:prstGeom prst="rect">
            <a:avLst/>
          </a:prstGeom>
          <a:noFill/>
        </p:spPr>
        <p:txBody>
          <a:bodyPr wrap="none" lIns="0" rIns="0" tIns="0" bIns="0">
            <a:spAutoFit/>
          </a:bodyPr>
          <a:lstStyle/>
          <a:p>
            <a:r>
              <a:rPr sz="1050" b="0">
                <a:solidFill>
                  <a:srgbClr val="1F1F1F"/>
                </a:solidFill>
                <a:latin typeface="Calibri"/>
              </a:rPr>
              <a:t>/MT.</a:t>
            </a:r>
          </a:p>
        </p:txBody>
      </p:sp>
      <p:sp>
        <p:nvSpPr>
          <p:cNvPr id="63" name="TextBox 62"/>
          <p:cNvSpPr txBox="1"/>
          <p:nvPr/>
        </p:nvSpPr>
        <p:spPr>
          <a:xfrm>
            <a:off x="8658225" y="5530976"/>
            <a:ext cx="2873424" cy="179069"/>
          </a:xfrm>
          <a:prstGeom prst="rect">
            <a:avLst/>
          </a:prstGeom>
          <a:noFill/>
        </p:spPr>
        <p:txBody>
          <a:bodyPr wrap="none" lIns="0" rIns="0" tIns="0" bIns="0">
            <a:spAutoFit/>
          </a:bodyPr>
          <a:lstStyle/>
          <a:p>
            <a:r>
              <a:rPr sz="1050" b="0">
                <a:solidFill>
                  <a:srgbClr val="1F1F1F"/>
                </a:solidFill>
                <a:latin typeface="Calibri"/>
              </a:rPr>
              <a:t>Chewables show the widest internal price spread at</a:t>
            </a:r>
          </a:p>
        </p:txBody>
      </p:sp>
      <p:pic>
        <p:nvPicPr>
          <p:cNvPr id="64" name="Picture 63" descr="lock.png"/>
          <p:cNvPicPr>
            <a:picLocks noChangeAspect="1"/>
          </p:cNvPicPr>
          <p:nvPr/>
        </p:nvPicPr>
        <p:blipFill>
          <a:blip r:embed="rId5"/>
          <a:stretch>
            <a:fillRect/>
          </a:stretch>
        </p:blipFill>
        <p:spPr>
          <a:xfrm>
            <a:off x="11478598" y="5521642"/>
            <a:ext cx="122849" cy="178689"/>
          </a:xfrm>
          <a:prstGeom prst="rect">
            <a:avLst/>
          </a:prstGeom>
        </p:spPr>
      </p:pic>
      <p:sp>
        <p:nvSpPr>
          <p:cNvPr id="65" name="TextBox 64"/>
          <p:cNvSpPr txBox="1"/>
          <p:nvPr/>
        </p:nvSpPr>
        <p:spPr>
          <a:xfrm>
            <a:off x="11638481" y="5530976"/>
            <a:ext cx="109537" cy="179069"/>
          </a:xfrm>
          <a:prstGeom prst="rect">
            <a:avLst/>
          </a:prstGeom>
          <a:noFill/>
        </p:spPr>
        <p:txBody>
          <a:bodyPr wrap="none" lIns="0" rIns="0" tIns="0" bIns="0">
            <a:spAutoFit/>
          </a:bodyPr>
          <a:lstStyle/>
          <a:p>
            <a:r>
              <a:rPr sz="1050" b="0">
                <a:solidFill>
                  <a:srgbClr val="1F1F1F"/>
                </a:solidFill>
                <a:latin typeface="Calibri"/>
              </a:rPr>
              <a:t>,</a:t>
            </a:r>
          </a:p>
        </p:txBody>
      </p:sp>
      <p:sp>
        <p:nvSpPr>
          <p:cNvPr id="66" name="TextBox 65"/>
          <p:cNvSpPr txBox="1"/>
          <p:nvPr/>
        </p:nvSpPr>
        <p:spPr>
          <a:xfrm>
            <a:off x="8658225" y="5690996"/>
            <a:ext cx="1022151" cy="179069"/>
          </a:xfrm>
          <a:prstGeom prst="rect">
            <a:avLst/>
          </a:prstGeom>
          <a:noFill/>
        </p:spPr>
        <p:txBody>
          <a:bodyPr wrap="none" lIns="0" rIns="0" tIns="0" bIns="0">
            <a:spAutoFit/>
          </a:bodyPr>
          <a:lstStyle/>
          <a:p>
            <a:r>
              <a:rPr sz="1050" b="0">
                <a:solidFill>
                  <a:srgbClr val="1F1F1F"/>
                </a:solidFill>
                <a:latin typeface="Calibri"/>
              </a:rPr>
              <a:t>ranging from US$</a:t>
            </a:r>
          </a:p>
        </p:txBody>
      </p:sp>
      <p:pic>
        <p:nvPicPr>
          <p:cNvPr id="67" name="Picture 66" descr="lock.png"/>
          <p:cNvPicPr>
            <a:picLocks noChangeAspect="1"/>
          </p:cNvPicPr>
          <p:nvPr/>
        </p:nvPicPr>
        <p:blipFill>
          <a:blip r:embed="rId5"/>
          <a:stretch>
            <a:fillRect/>
          </a:stretch>
        </p:blipFill>
        <p:spPr>
          <a:xfrm>
            <a:off x="9627325" y="5681662"/>
            <a:ext cx="122849" cy="178689"/>
          </a:xfrm>
          <a:prstGeom prst="rect">
            <a:avLst/>
          </a:prstGeom>
        </p:spPr>
      </p:pic>
      <p:sp>
        <p:nvSpPr>
          <p:cNvPr id="68" name="TextBox 67"/>
          <p:cNvSpPr txBox="1"/>
          <p:nvPr/>
        </p:nvSpPr>
        <p:spPr>
          <a:xfrm>
            <a:off x="9787208" y="5690996"/>
            <a:ext cx="697110" cy="179069"/>
          </a:xfrm>
          <a:prstGeom prst="rect">
            <a:avLst/>
          </a:prstGeom>
          <a:noFill/>
        </p:spPr>
        <p:txBody>
          <a:bodyPr wrap="none" lIns="0" rIns="0" tIns="0" bIns="0">
            <a:spAutoFit/>
          </a:bodyPr>
          <a:lstStyle/>
          <a:p>
            <a:r>
              <a:rPr sz="1050" b="0">
                <a:solidFill>
                  <a:srgbClr val="1F1F1F"/>
                </a:solidFill>
                <a:latin typeface="Calibri"/>
              </a:rPr>
              <a:t>/MT to US$</a:t>
            </a:r>
          </a:p>
        </p:txBody>
      </p:sp>
      <p:pic>
        <p:nvPicPr>
          <p:cNvPr id="69" name="Picture 68" descr="lock.png"/>
          <p:cNvPicPr>
            <a:picLocks noChangeAspect="1"/>
          </p:cNvPicPr>
          <p:nvPr/>
        </p:nvPicPr>
        <p:blipFill>
          <a:blip r:embed="rId5"/>
          <a:stretch>
            <a:fillRect/>
          </a:stretch>
        </p:blipFill>
        <p:spPr>
          <a:xfrm>
            <a:off x="10431268" y="5681662"/>
            <a:ext cx="122849" cy="178689"/>
          </a:xfrm>
          <a:prstGeom prst="rect">
            <a:avLst/>
          </a:prstGeom>
        </p:spPr>
      </p:pic>
      <p:sp>
        <p:nvSpPr>
          <p:cNvPr id="70" name="TextBox 69"/>
          <p:cNvSpPr txBox="1"/>
          <p:nvPr/>
        </p:nvSpPr>
        <p:spPr>
          <a:xfrm>
            <a:off x="10591150" y="5690996"/>
            <a:ext cx="678619" cy="179069"/>
          </a:xfrm>
          <a:prstGeom prst="rect">
            <a:avLst/>
          </a:prstGeom>
          <a:noFill/>
        </p:spPr>
        <p:txBody>
          <a:bodyPr wrap="none" lIns="0" rIns="0" tIns="0" bIns="0">
            <a:spAutoFit/>
          </a:bodyPr>
          <a:lstStyle/>
          <a:p>
            <a:r>
              <a:rPr sz="1050" b="0">
                <a:solidFill>
                  <a:srgbClr val="1F1F1F"/>
                </a:solidFill>
                <a:latin typeface="Calibri"/>
              </a:rPr>
              <a:t>/MT across</a:t>
            </a:r>
          </a:p>
        </p:txBody>
      </p:sp>
      <p:sp>
        <p:nvSpPr>
          <p:cNvPr id="71" name="TextBox 70"/>
          <p:cNvSpPr txBox="1"/>
          <p:nvPr/>
        </p:nvSpPr>
        <p:spPr>
          <a:xfrm>
            <a:off x="8658225" y="5851016"/>
            <a:ext cx="636686" cy="179069"/>
          </a:xfrm>
          <a:prstGeom prst="rect">
            <a:avLst/>
          </a:prstGeom>
          <a:noFill/>
        </p:spPr>
        <p:txBody>
          <a:bodyPr wrap="none" lIns="0" rIns="0" tIns="0" bIns="0">
            <a:spAutoFit/>
          </a:bodyPr>
          <a:lstStyle/>
          <a:p>
            <a:r>
              <a:rPr sz="1050" b="0">
                <a:solidFill>
                  <a:srgbClr val="1F1F1F"/>
                </a:solidFill>
                <a:latin typeface="Calibri"/>
              </a:rPr>
              <a:t>sub-types.</a:t>
            </a:r>
          </a:p>
        </p:txBody>
      </p:sp>
      <p:sp>
        <p:nvSpPr>
          <p:cNvPr id="72" name="TextBox 71"/>
          <p:cNvSpPr txBox="1"/>
          <p:nvPr/>
        </p:nvSpPr>
        <p:spPr>
          <a:xfrm>
            <a:off x="301752" y="6391275"/>
            <a:ext cx="5770697" cy="143408"/>
          </a:xfrm>
          <a:prstGeom prst="rect">
            <a:avLst/>
          </a:prstGeom>
          <a:noFill/>
        </p:spPr>
        <p:txBody>
          <a:bodyPr wrap="none" lIns="0" rIns="0" tIns="0" bIns="0">
            <a:spAutoFit/>
          </a:bodyPr>
          <a:lstStyle/>
          <a:p>
            <a:r>
              <a:rPr sz="816" b="0">
                <a:solidFill>
                  <a:srgbClr val="59636E"/>
                </a:solidFill>
                <a:latin typeface="Calibri"/>
              </a:rPr>
              <a:t>Source: FMI analysis. Cell price = combined value (US$) / combined volume (MT); shading shows the index vs the Global average of US$</a:t>
            </a:r>
          </a:p>
        </p:txBody>
      </p:sp>
      <p:pic>
        <p:nvPicPr>
          <p:cNvPr id="73" name="Picture 72" descr="lock.png"/>
          <p:cNvPicPr>
            <a:picLocks noChangeAspect="1"/>
          </p:cNvPicPr>
          <p:nvPr/>
        </p:nvPicPr>
        <p:blipFill>
          <a:blip r:embed="rId5"/>
          <a:stretch>
            <a:fillRect/>
          </a:stretch>
        </p:blipFill>
        <p:spPr>
          <a:xfrm>
            <a:off x="6014239" y="6384020"/>
            <a:ext cx="95470" cy="138866"/>
          </a:xfrm>
          <a:prstGeom prst="rect">
            <a:avLst/>
          </a:prstGeom>
        </p:spPr>
      </p:pic>
      <p:sp>
        <p:nvSpPr>
          <p:cNvPr id="74" name="TextBox 73"/>
          <p:cNvSpPr txBox="1"/>
          <p:nvPr/>
        </p:nvSpPr>
        <p:spPr>
          <a:xfrm>
            <a:off x="6138491" y="6391275"/>
            <a:ext cx="281642" cy="143408"/>
          </a:xfrm>
          <a:prstGeom prst="rect">
            <a:avLst/>
          </a:prstGeom>
          <a:noFill/>
        </p:spPr>
        <p:txBody>
          <a:bodyPr wrap="none" lIns="0" rIns="0" tIns="0" bIns="0">
            <a:spAutoFit/>
          </a:bodyPr>
          <a:lstStyle/>
          <a:p>
            <a:r>
              <a:rPr sz="816" b="0">
                <a:solidFill>
                  <a:srgbClr val="59636E"/>
                </a:solidFill>
                <a:latin typeface="Calibri"/>
              </a:rPr>
              <a:t>/MT.</a:t>
            </a:r>
          </a:p>
        </p:txBody>
      </p:sp>
      <p:pic>
        <p:nvPicPr>
          <p:cNvPr id="75" name="Picture 74" descr="lock.png"/>
          <p:cNvPicPr>
            <a:picLocks noChangeAspect="1"/>
          </p:cNvPicPr>
          <p:nvPr/>
        </p:nvPicPr>
        <p:blipFill>
          <a:blip r:embed="rId5"/>
          <a:stretch>
            <a:fillRect/>
          </a:stretch>
        </p:blipFill>
        <p:spPr>
          <a:xfrm>
            <a:off x="9913437" y="3234020"/>
            <a:ext cx="332271" cy="483303"/>
          </a:xfrm>
          <a:prstGeom prst="rect">
            <a:avLst/>
          </a:prstGeom>
        </p:spPr>
      </p:pic>
      <p:sp>
        <p:nvSpPr>
          <p:cNvPr id="76" name="lockshield_27"/>
          <p:cNvSpPr/>
          <p:nvPr/>
        </p:nvSpPr>
        <p:spPr>
          <a:xfrm>
            <a:off x="8001000" y="2032635"/>
            <a:ext cx="3867912" cy="29718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Senior Dog Cognitive Supplement Market Pricing Assessment: Region Benchmarking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 average price and price range across form types, 2026 (US$/MT)</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11" name="Rectangle 10"/>
          <p:cNvSpPr/>
          <p:nvPr/>
        </p:nvSpPr>
        <p:spPr>
          <a:xfrm>
            <a:off x="274320" y="1529715"/>
            <a:ext cx="754380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7315200" cy="257175"/>
          </a:xfrm>
          <a:prstGeom prst="rect">
            <a:avLst/>
          </a:prstGeom>
          <a:noFill/>
        </p:spPr>
        <p:txBody>
          <a:bodyPr wrap="square" anchor="t" lIns="27432" rIns="27432" tIns="27432" bIns="27432">
            <a:spAutoFit/>
          </a:bodyPr>
          <a:lstStyle/>
          <a:p>
            <a:pPr algn="l"/>
            <a:r>
              <a:rPr sz="1150" b="1" i="0">
                <a:solidFill>
                  <a:srgbClr val="0B2E4A"/>
                </a:solidFill>
                <a:latin typeface="Calibri"/>
              </a:rPr>
              <a:t>2026 Price Range Across Form Types by Region (US$/MT), Ranked by Average</a:t>
            </a:r>
          </a:p>
        </p:txBody>
      </p:sp>
      <p:graphicFrame>
        <p:nvGraphicFramePr>
          <p:cNvPr id="13" name="FMI Open Chart"/>
          <p:cNvGraphicFramePr>
            <a:graphicFrameLocks noGrp="1"/>
          </p:cNvGraphicFramePr>
          <p:nvPr/>
        </p:nvGraphicFramePr>
        <p:xfrm>
          <a:off x="347472" y="2014347"/>
          <a:ext cx="7406640" cy="3017520"/>
        </p:xfrm>
        <a:graphic>
          <a:graphicData uri="http://schemas.openxmlformats.org/drawingml/2006/chart">
            <c:chart xmlns:c="http://schemas.openxmlformats.org/drawingml/2006/chart" r:id="rId3"/>
          </a:graphicData>
        </a:graphic>
      </p:graphicFrame>
      <p:sp>
        <p:nvSpPr>
          <p:cNvPr id="14" name="TextBox 13"/>
          <p:cNvSpPr txBox="1"/>
          <p:nvPr/>
        </p:nvSpPr>
        <p:spPr>
          <a:xfrm>
            <a:off x="384048" y="1804035"/>
            <a:ext cx="7223760" cy="219075"/>
          </a:xfrm>
          <a:prstGeom prst="rect">
            <a:avLst/>
          </a:prstGeom>
          <a:noFill/>
        </p:spPr>
        <p:txBody>
          <a:bodyPr wrap="square" anchor="t" lIns="27432" rIns="27432" tIns="27432" bIns="27432">
            <a:spAutoFit/>
          </a:bodyPr>
          <a:lstStyle/>
          <a:p>
            <a:pPr algn="l"/>
            <a:r>
              <a:rPr sz="850" b="0" i="1">
                <a:solidFill>
                  <a:srgbClr val="59636E"/>
                </a:solidFill>
                <a:latin typeface="Calibri"/>
              </a:rPr>
              <a:t/>
            </a:r>
          </a:p>
        </p:txBody>
      </p:sp>
      <p:sp>
        <p:nvSpPr>
          <p:cNvPr id="15" name="Rectangle 14"/>
          <p:cNvSpPr/>
          <p:nvPr/>
        </p:nvSpPr>
        <p:spPr>
          <a:xfrm>
            <a:off x="7955280" y="1529715"/>
            <a:ext cx="3959352" cy="3520440"/>
          </a:xfrm>
          <a:prstGeom prst="rect">
            <a:avLst/>
          </a:prstGeom>
          <a:solidFill>
            <a:srgbClr val="F3F6F9"/>
          </a:solidFill>
          <a:ln>
            <a:noFill/>
          </a:ln>
          <a:effectLst/>
        </p:spPr>
        <p:txBody>
          <a:bodyPr rtlCol="0" anchor="ctr"/>
          <a:lstStyle/>
          <a:p>
            <a:pPr algn="ctr"/>
          </a:p>
        </p:txBody>
      </p:sp>
      <p:sp>
        <p:nvSpPr>
          <p:cNvPr id="16" name="TextBox 15"/>
          <p:cNvSpPr txBox="1"/>
          <p:nvPr/>
        </p:nvSpPr>
        <p:spPr>
          <a:xfrm>
            <a:off x="8065008" y="1575435"/>
            <a:ext cx="3749040" cy="257175"/>
          </a:xfrm>
          <a:prstGeom prst="rect">
            <a:avLst/>
          </a:prstGeom>
          <a:noFill/>
        </p:spPr>
        <p:txBody>
          <a:bodyPr wrap="square" anchor="t" lIns="27432" rIns="27432" tIns="27432" bIns="27432">
            <a:spAutoFit/>
          </a:bodyPr>
          <a:lstStyle/>
          <a:p>
            <a:pPr algn="l"/>
            <a:r>
              <a:rPr sz="1150" b="1" i="0">
                <a:solidFill>
                  <a:srgbClr val="0B2E4A"/>
                </a:solidFill>
                <a:latin typeface="Calibri"/>
              </a:rPr>
              <a:t>Premium and Discount Markets</a:t>
            </a:r>
          </a:p>
        </p:txBody>
      </p:sp>
      <p:graphicFrame>
        <p:nvGraphicFramePr>
          <p:cNvPr id="17" name="Table 16"/>
          <p:cNvGraphicFramePr>
            <a:graphicFrameLocks noGrp="1"/>
          </p:cNvGraphicFramePr>
          <p:nvPr/>
        </p:nvGraphicFramePr>
        <p:xfrm>
          <a:off x="8046720" y="1868043"/>
          <a:ext cx="3776472" cy="3090675"/>
        </p:xfrm>
        <a:graphic>
          <a:graphicData uri="http://schemas.openxmlformats.org/drawingml/2006/table">
            <a:tbl>
              <a:tblPr firstRow="1" bandRow="1">
                <a:tableStyleId>{5C22544A-7EE6-4342-B048-85BDC9FD1C3A}</a:tableStyleId>
              </a:tblPr>
              <a:tblGrid>
                <a:gridCol w="1417320"/>
                <a:gridCol w="786384"/>
                <a:gridCol w="658368"/>
                <a:gridCol w="914400"/>
              </a:tblGrid>
              <a:tr h="441525">
                <a:tc>
                  <a:txBody>
                    <a:bodyPr wrap="square"/>
                    <a:lstStyle/>
                    <a:p>
                      <a:pPr algn="l"/>
                      <a:r>
                        <a:rPr sz="900" b="1">
                          <a:solidFill>
                            <a:srgbClr val="FFFFFF"/>
                          </a:solidFill>
                          <a:latin typeface="Calibri"/>
                        </a:rPr>
                        <a:t>Region</a:t>
                      </a:r>
                    </a:p>
                  </a:txBody>
                  <a:tcPr marL="36576" marR="36576" marT="9144" marB="9144" anchor="ctr">
                    <a:solidFill>
                      <a:srgbClr val="0B2E4A"/>
                    </a:solidFill>
                  </a:tcPr>
                </a:tc>
                <a:tc>
                  <a:txBody>
                    <a:bodyPr wrap="square"/>
                    <a:lstStyle/>
                    <a:p>
                      <a:pPr algn="ctr"/>
                      <a:r>
                        <a:rPr sz="900" b="1">
                          <a:solidFill>
                            <a:srgbClr val="FFFFFF"/>
                          </a:solidFill>
                          <a:latin typeface="Calibri"/>
                        </a:rPr>
                        <a:t>Avg. 2026</a:t>
                      </a:r>
                    </a:p>
                  </a:txBody>
                  <a:tcPr marL="36576" marR="36576" marT="9144" marB="9144" anchor="ctr">
                    <a:solidFill>
                      <a:srgbClr val="0B2E4A"/>
                    </a:solidFill>
                  </a:tcPr>
                </a:tc>
                <a:tc>
                  <a:txBody>
                    <a:bodyPr wrap="square"/>
                    <a:lstStyle/>
                    <a:p>
                      <a:pPr algn="ctr"/>
                      <a:r>
                        <a:rPr sz="900" b="1">
                          <a:solidFill>
                            <a:srgbClr val="FFFFFF"/>
                          </a:solidFill>
                          <a:latin typeface="Calibri"/>
                        </a:rPr>
                        <a:t>Index</a:t>
                      </a:r>
                    </a:p>
                  </a:txBody>
                  <a:tcPr marL="36576" marR="36576" marT="9144" marB="9144" anchor="ctr">
                    <a:solidFill>
                      <a:srgbClr val="0B2E4A"/>
                    </a:solidFill>
                  </a:tcPr>
                </a:tc>
                <a:tc>
                  <a:txBody>
                    <a:bodyPr wrap="square"/>
                    <a:lstStyle/>
                    <a:p>
                      <a:pPr algn="ctr"/>
                      <a:r>
                        <a:rPr sz="900" b="1">
                          <a:solidFill>
                            <a:srgbClr val="FFFFFF"/>
                          </a:solidFill>
                          <a:latin typeface="Calibri"/>
                        </a:rPr>
                        <a:t>CAGR 2026 to 2036</a:t>
                      </a:r>
                    </a:p>
                  </a:txBody>
                  <a:tcPr marL="36576" marR="36576" marT="9144" marB="9144" anchor="ctr">
                    <a:solidFill>
                      <a:srgbClr val="0B2E4A"/>
                    </a:solidFill>
                  </a:tcPr>
                </a:tc>
              </a:tr>
              <a:tr h="441525">
                <a:tc>
                  <a:txBody>
                    <a:bodyPr wrap="square"/>
                    <a:lstStyle/>
                    <a:p>
                      <a:pPr algn="l"/>
                      <a:r>
                        <a:rPr sz="900" b="1">
                          <a:solidFill>
                            <a:srgbClr val="1F1F1F"/>
                          </a:solidFill>
                          <a:latin typeface="Calibri"/>
                        </a:rPr>
                        <a:t>North America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Europe</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Latin America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Middle East &amp; Africa</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East Asia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South Asia &amp; Pacific</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bl>
          </a:graphicData>
        </a:graphic>
      </p:graphicFrame>
      <p:sp>
        <p:nvSpPr>
          <p:cNvPr id="18" name="Rectangle 17"/>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19" name="Oval 18"/>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20" name="TextBox 19"/>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Region Spread</a:t>
            </a:r>
          </a:p>
        </p:txBody>
      </p:sp>
      <p:sp>
        <p:nvSpPr>
          <p:cNvPr id="21" name="TextBox 20"/>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2" name="Rectangle 21"/>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3" name="Oval 22"/>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4" name="TextBox 23"/>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Growth Leader</a:t>
            </a:r>
          </a:p>
        </p:txBody>
      </p:sp>
      <p:sp>
        <p:nvSpPr>
          <p:cNvPr id="25" name="TextBox 24"/>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6" name="Rectangle 25"/>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7" name="Oval 26"/>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8" name="TextBox 27"/>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Mix Exposure</a:t>
            </a:r>
          </a:p>
        </p:txBody>
      </p:sp>
      <p:sp>
        <p:nvSpPr>
          <p:cNvPr id="29" name="TextBox 28"/>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0" name="TextBox 29"/>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Range = lowest to highest form type price in each region; ranked by average price. Other geographies grouped as 'Other' are excluded from the ranking.</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10462494" y="3375398"/>
            <a:ext cx="355774" cy="517489"/>
          </a:xfrm>
          <a:prstGeom prst="rect">
            <a:avLst/>
          </a:prstGeom>
        </p:spPr>
      </p:pic>
      <p:sp>
        <p:nvSpPr>
          <p:cNvPr id="33" name="TextBox 32"/>
          <p:cNvSpPr txBox="1"/>
          <p:nvPr/>
        </p:nvSpPr>
        <p:spPr>
          <a:xfrm>
            <a:off x="411480" y="1110615"/>
            <a:ext cx="3985393" cy="217169"/>
          </a:xfrm>
          <a:prstGeom prst="rect">
            <a:avLst/>
          </a:prstGeom>
          <a:noFill/>
        </p:spPr>
        <p:txBody>
          <a:bodyPr wrap="none" lIns="0" rIns="0" tIns="0" bIns="0">
            <a:spAutoFit/>
          </a:bodyPr>
          <a:lstStyle/>
          <a:p>
            <a:r>
              <a:rPr sz="1300" b="1">
                <a:solidFill>
                  <a:srgbClr val="FFFFFF"/>
                </a:solidFill>
                <a:latin typeface="Calibri"/>
              </a:rPr>
              <a:t>North America is the most premium Global region at US$</a:t>
            </a:r>
          </a:p>
        </p:txBody>
      </p:sp>
      <p:pic>
        <p:nvPicPr>
          <p:cNvPr id="34" name="Picture 33" descr="lock.png"/>
          <p:cNvPicPr>
            <a:picLocks noChangeAspect="1"/>
          </p:cNvPicPr>
          <p:nvPr/>
        </p:nvPicPr>
        <p:blipFill>
          <a:blip r:embed="rId5"/>
          <a:stretch>
            <a:fillRect/>
          </a:stretch>
        </p:blipFill>
        <p:spPr>
          <a:xfrm>
            <a:off x="4349334" y="1099058"/>
            <a:ext cx="152098" cy="221234"/>
          </a:xfrm>
          <a:prstGeom prst="rect">
            <a:avLst/>
          </a:prstGeom>
        </p:spPr>
      </p:pic>
      <p:sp>
        <p:nvSpPr>
          <p:cNvPr id="35" name="TextBox 34"/>
          <p:cNvSpPr txBox="1"/>
          <p:nvPr/>
        </p:nvSpPr>
        <p:spPr>
          <a:xfrm>
            <a:off x="4547284" y="1110615"/>
            <a:ext cx="1075183" cy="217169"/>
          </a:xfrm>
          <a:prstGeom prst="rect">
            <a:avLst/>
          </a:prstGeom>
          <a:noFill/>
        </p:spPr>
        <p:txBody>
          <a:bodyPr wrap="none" lIns="0" rIns="0" tIns="0" bIns="0">
            <a:spAutoFit/>
          </a:bodyPr>
          <a:lstStyle/>
          <a:p>
            <a:r>
              <a:rPr sz="1300" b="1">
                <a:solidFill>
                  <a:srgbClr val="FFFFFF"/>
                </a:solidFill>
                <a:latin typeface="Calibri"/>
              </a:rPr>
              <a:t>/MT in 2026, +</a:t>
            </a:r>
          </a:p>
        </p:txBody>
      </p:sp>
      <p:pic>
        <p:nvPicPr>
          <p:cNvPr id="36" name="Picture 35" descr="lock.png"/>
          <p:cNvPicPr>
            <a:picLocks noChangeAspect="1"/>
          </p:cNvPicPr>
          <p:nvPr/>
        </p:nvPicPr>
        <p:blipFill>
          <a:blip r:embed="rId5"/>
          <a:stretch>
            <a:fillRect/>
          </a:stretch>
        </p:blipFill>
        <p:spPr>
          <a:xfrm>
            <a:off x="5574929" y="1099058"/>
            <a:ext cx="152098" cy="221234"/>
          </a:xfrm>
          <a:prstGeom prst="rect">
            <a:avLst/>
          </a:prstGeom>
        </p:spPr>
      </p:pic>
      <p:sp>
        <p:nvSpPr>
          <p:cNvPr id="37" name="TextBox 36"/>
          <p:cNvSpPr txBox="1"/>
          <p:nvPr/>
        </p:nvSpPr>
        <p:spPr>
          <a:xfrm>
            <a:off x="5772879" y="1110615"/>
            <a:ext cx="5071119" cy="217169"/>
          </a:xfrm>
          <a:prstGeom prst="rect">
            <a:avLst/>
          </a:prstGeom>
          <a:noFill/>
        </p:spPr>
        <p:txBody>
          <a:bodyPr wrap="none" lIns="0" rIns="0" tIns="0" bIns="0">
            <a:spAutoFit/>
          </a:bodyPr>
          <a:lstStyle/>
          <a:p>
            <a:r>
              <a:rPr sz="1300" b="1">
                <a:solidFill>
                  <a:srgbClr val="FFFFFF"/>
                </a:solidFill>
                <a:latin typeface="Calibri"/>
              </a:rPr>
              <a:t>above the global average, while South Asia &amp; Pacific is the lowest priced.</a:t>
            </a:r>
          </a:p>
        </p:txBody>
      </p:sp>
      <p:sp>
        <p:nvSpPr>
          <p:cNvPr id="38" name="TextBox 37"/>
          <p:cNvSpPr txBox="1"/>
          <p:nvPr/>
        </p:nvSpPr>
        <p:spPr>
          <a:xfrm>
            <a:off x="411480" y="1831467"/>
            <a:ext cx="4842234" cy="148589"/>
          </a:xfrm>
          <a:prstGeom prst="rect">
            <a:avLst/>
          </a:prstGeom>
          <a:noFill/>
        </p:spPr>
        <p:txBody>
          <a:bodyPr wrap="none" lIns="0" rIns="0" tIns="0" bIns="0">
            <a:spAutoFit/>
          </a:bodyPr>
          <a:lstStyle/>
          <a:p>
            <a:r>
              <a:rPr sz="850" b="0">
                <a:solidFill>
                  <a:srgbClr val="59636E"/>
                </a:solidFill>
                <a:latin typeface="Calibri"/>
              </a:rPr>
              <a:t>Bar spans the lowest to highest form type price in each region, read on the price index axis (Global average =</a:t>
            </a:r>
          </a:p>
        </p:txBody>
      </p:sp>
      <p:pic>
        <p:nvPicPr>
          <p:cNvPr id="39" name="Picture 38" descr="lock.png"/>
          <p:cNvPicPr>
            <a:picLocks noChangeAspect="1"/>
          </p:cNvPicPr>
          <p:nvPr/>
        </p:nvPicPr>
        <p:blipFill>
          <a:blip r:embed="rId5"/>
          <a:stretch>
            <a:fillRect/>
          </a:stretch>
        </p:blipFill>
        <p:spPr>
          <a:xfrm>
            <a:off x="5196254" y="1823910"/>
            <a:ext cx="99449" cy="144653"/>
          </a:xfrm>
          <a:prstGeom prst="rect">
            <a:avLst/>
          </a:prstGeom>
        </p:spPr>
      </p:pic>
      <p:sp>
        <p:nvSpPr>
          <p:cNvPr id="40" name="TextBox 39"/>
          <p:cNvSpPr txBox="1"/>
          <p:nvPr/>
        </p:nvSpPr>
        <p:spPr>
          <a:xfrm>
            <a:off x="5325683" y="1831467"/>
            <a:ext cx="2037010" cy="148589"/>
          </a:xfrm>
          <a:prstGeom prst="rect">
            <a:avLst/>
          </a:prstGeom>
          <a:noFill/>
        </p:spPr>
        <p:txBody>
          <a:bodyPr wrap="none" lIns="0" rIns="0" tIns="0" bIns="0">
            <a:spAutoFit/>
          </a:bodyPr>
          <a:lstStyle/>
          <a:p>
            <a:r>
              <a:rPr sz="850" b="0">
                <a:solidFill>
                  <a:srgbClr val="59636E"/>
                </a:solidFill>
                <a:latin typeface="Calibri"/>
              </a:rPr>
              <a:t>). Teal = above Global average, blue = below.</a:t>
            </a:r>
          </a:p>
        </p:txBody>
      </p:sp>
      <p:sp>
        <p:nvSpPr>
          <p:cNvPr id="41" name="TextBox 40"/>
          <p:cNvSpPr txBox="1"/>
          <p:nvPr/>
        </p:nvSpPr>
        <p:spPr>
          <a:xfrm>
            <a:off x="806576" y="5530976"/>
            <a:ext cx="2778324" cy="179069"/>
          </a:xfrm>
          <a:prstGeom prst="rect">
            <a:avLst/>
          </a:prstGeom>
          <a:noFill/>
        </p:spPr>
        <p:txBody>
          <a:bodyPr wrap="none" lIns="0" rIns="0" tIns="0" bIns="0">
            <a:spAutoFit/>
          </a:bodyPr>
          <a:lstStyle/>
          <a:p>
            <a:r>
              <a:rPr sz="1050" b="0">
                <a:solidFill>
                  <a:srgbClr val="1F1F1F"/>
                </a:solidFill>
                <a:latin typeface="Calibri"/>
              </a:rPr>
              <a:t>Average prices across the ranked regions differ by</a:t>
            </a:r>
          </a:p>
        </p:txBody>
      </p:sp>
      <p:pic>
        <p:nvPicPr>
          <p:cNvPr id="42" name="Picture 41" descr="lock.png"/>
          <p:cNvPicPr>
            <a:picLocks noChangeAspect="1"/>
          </p:cNvPicPr>
          <p:nvPr/>
        </p:nvPicPr>
        <p:blipFill>
          <a:blip r:embed="rId5"/>
          <a:stretch>
            <a:fillRect/>
          </a:stretch>
        </p:blipFill>
        <p:spPr>
          <a:xfrm>
            <a:off x="3531850" y="5521642"/>
            <a:ext cx="122849" cy="178689"/>
          </a:xfrm>
          <a:prstGeom prst="rect">
            <a:avLst/>
          </a:prstGeom>
        </p:spPr>
      </p:pic>
      <p:sp>
        <p:nvSpPr>
          <p:cNvPr id="43" name="TextBox 42"/>
          <p:cNvSpPr txBox="1"/>
          <p:nvPr/>
        </p:nvSpPr>
        <p:spPr>
          <a:xfrm>
            <a:off x="3691732" y="5530976"/>
            <a:ext cx="176993" cy="179069"/>
          </a:xfrm>
          <a:prstGeom prst="rect">
            <a:avLst/>
          </a:prstGeom>
          <a:noFill/>
        </p:spPr>
        <p:txBody>
          <a:bodyPr wrap="none" lIns="0" rIns="0" tIns="0" bIns="0">
            <a:spAutoFit/>
          </a:bodyPr>
          <a:lstStyle/>
          <a:p>
            <a:r>
              <a:rPr sz="1050" b="0">
                <a:solidFill>
                  <a:srgbClr val="1F1F1F"/>
                </a:solidFill>
                <a:latin typeface="Calibri"/>
              </a:rPr>
              <a:t>in</a:t>
            </a:r>
          </a:p>
        </p:txBody>
      </p:sp>
      <p:sp>
        <p:nvSpPr>
          <p:cNvPr id="44" name="TextBox 43"/>
          <p:cNvSpPr txBox="1"/>
          <p:nvPr/>
        </p:nvSpPr>
        <p:spPr>
          <a:xfrm>
            <a:off x="806576" y="5690996"/>
            <a:ext cx="919534" cy="179069"/>
          </a:xfrm>
          <a:prstGeom prst="rect">
            <a:avLst/>
          </a:prstGeom>
          <a:noFill/>
        </p:spPr>
        <p:txBody>
          <a:bodyPr wrap="none" lIns="0" rIns="0" tIns="0" bIns="0">
            <a:spAutoFit/>
          </a:bodyPr>
          <a:lstStyle/>
          <a:p>
            <a:r>
              <a:rPr sz="1050" b="0">
                <a:solidFill>
                  <a:srgbClr val="1F1F1F"/>
                </a:solidFill>
                <a:latin typeface="Calibri"/>
              </a:rPr>
              <a:t>2026, from US$</a:t>
            </a:r>
          </a:p>
        </p:txBody>
      </p:sp>
      <p:pic>
        <p:nvPicPr>
          <p:cNvPr id="45" name="Picture 44" descr="lock.png"/>
          <p:cNvPicPr>
            <a:picLocks noChangeAspect="1"/>
          </p:cNvPicPr>
          <p:nvPr/>
        </p:nvPicPr>
        <p:blipFill>
          <a:blip r:embed="rId5"/>
          <a:stretch>
            <a:fillRect/>
          </a:stretch>
        </p:blipFill>
        <p:spPr>
          <a:xfrm>
            <a:off x="1673060" y="5681662"/>
            <a:ext cx="122849" cy="178689"/>
          </a:xfrm>
          <a:prstGeom prst="rect">
            <a:avLst/>
          </a:prstGeom>
        </p:spPr>
      </p:pic>
      <p:sp>
        <p:nvSpPr>
          <p:cNvPr id="46" name="TextBox 45"/>
          <p:cNvSpPr txBox="1"/>
          <p:nvPr/>
        </p:nvSpPr>
        <p:spPr>
          <a:xfrm>
            <a:off x="1832943" y="5690996"/>
            <a:ext cx="1927993" cy="179069"/>
          </a:xfrm>
          <a:prstGeom prst="rect">
            <a:avLst/>
          </a:prstGeom>
          <a:noFill/>
        </p:spPr>
        <p:txBody>
          <a:bodyPr wrap="none" lIns="0" rIns="0" tIns="0" bIns="0">
            <a:spAutoFit/>
          </a:bodyPr>
          <a:lstStyle/>
          <a:p>
            <a:r>
              <a:rPr sz="1050" b="0">
                <a:solidFill>
                  <a:srgbClr val="1F1F1F"/>
                </a:solidFill>
                <a:latin typeface="Calibri"/>
              </a:rPr>
              <a:t>/MT in South Asia &amp; Pacific to US$</a:t>
            </a:r>
          </a:p>
        </p:txBody>
      </p:sp>
      <p:pic>
        <p:nvPicPr>
          <p:cNvPr id="47" name="Picture 46" descr="lock.png"/>
          <p:cNvPicPr>
            <a:picLocks noChangeAspect="1"/>
          </p:cNvPicPr>
          <p:nvPr/>
        </p:nvPicPr>
        <p:blipFill>
          <a:blip r:embed="rId5"/>
          <a:stretch>
            <a:fillRect/>
          </a:stretch>
        </p:blipFill>
        <p:spPr>
          <a:xfrm>
            <a:off x="793721" y="5841682"/>
            <a:ext cx="122849" cy="178689"/>
          </a:xfrm>
          <a:prstGeom prst="rect">
            <a:avLst/>
          </a:prstGeom>
        </p:spPr>
      </p:pic>
      <p:sp>
        <p:nvSpPr>
          <p:cNvPr id="48" name="TextBox 47"/>
          <p:cNvSpPr txBox="1"/>
          <p:nvPr/>
        </p:nvSpPr>
        <p:spPr>
          <a:xfrm>
            <a:off x="953604" y="5851016"/>
            <a:ext cx="1297706" cy="179069"/>
          </a:xfrm>
          <a:prstGeom prst="rect">
            <a:avLst/>
          </a:prstGeom>
          <a:noFill/>
        </p:spPr>
        <p:txBody>
          <a:bodyPr wrap="none" lIns="0" rIns="0" tIns="0" bIns="0">
            <a:spAutoFit/>
          </a:bodyPr>
          <a:lstStyle/>
          <a:p>
            <a:r>
              <a:rPr sz="1050" b="0">
                <a:solidFill>
                  <a:srgbClr val="1F1F1F"/>
                </a:solidFill>
                <a:latin typeface="Calibri"/>
              </a:rPr>
              <a:t>/MT in North America.</a:t>
            </a:r>
          </a:p>
        </p:txBody>
      </p:sp>
      <p:sp>
        <p:nvSpPr>
          <p:cNvPr id="49" name="TextBox 48"/>
          <p:cNvSpPr txBox="1"/>
          <p:nvPr/>
        </p:nvSpPr>
        <p:spPr>
          <a:xfrm>
            <a:off x="4732401" y="5530976"/>
            <a:ext cx="3098192" cy="179069"/>
          </a:xfrm>
          <a:prstGeom prst="rect">
            <a:avLst/>
          </a:prstGeom>
          <a:noFill/>
        </p:spPr>
        <p:txBody>
          <a:bodyPr wrap="none" lIns="0" rIns="0" tIns="0" bIns="0">
            <a:spAutoFit/>
          </a:bodyPr>
          <a:lstStyle/>
          <a:p>
            <a:r>
              <a:rPr sz="1050" b="0">
                <a:solidFill>
                  <a:srgbClr val="1F1F1F"/>
                </a:solidFill>
                <a:latin typeface="Calibri"/>
              </a:rPr>
              <a:t>North America records the fastest average price growth</a:t>
            </a:r>
          </a:p>
        </p:txBody>
      </p:sp>
      <p:sp>
        <p:nvSpPr>
          <p:cNvPr id="50" name="TextBox 49"/>
          <p:cNvSpPr txBox="1"/>
          <p:nvPr/>
        </p:nvSpPr>
        <p:spPr>
          <a:xfrm>
            <a:off x="4732401" y="5690996"/>
            <a:ext cx="278829" cy="179069"/>
          </a:xfrm>
          <a:prstGeom prst="rect">
            <a:avLst/>
          </a:prstGeom>
          <a:noFill/>
        </p:spPr>
        <p:txBody>
          <a:bodyPr wrap="none" lIns="0" rIns="0" tIns="0" bIns="0">
            <a:spAutoFit/>
          </a:bodyPr>
          <a:lstStyle/>
          <a:p>
            <a:r>
              <a:rPr sz="1050" b="0">
                <a:solidFill>
                  <a:srgbClr val="1F1F1F"/>
                </a:solidFill>
                <a:latin typeface="Calibri"/>
              </a:rPr>
              <a:t>at a</a:t>
            </a:r>
          </a:p>
        </p:txBody>
      </p:sp>
      <p:pic>
        <p:nvPicPr>
          <p:cNvPr id="51" name="Picture 50" descr="lock.png"/>
          <p:cNvPicPr>
            <a:picLocks noChangeAspect="1"/>
          </p:cNvPicPr>
          <p:nvPr/>
        </p:nvPicPr>
        <p:blipFill>
          <a:blip r:embed="rId5"/>
          <a:stretch>
            <a:fillRect/>
          </a:stretch>
        </p:blipFill>
        <p:spPr>
          <a:xfrm>
            <a:off x="4958179" y="5681662"/>
            <a:ext cx="122849" cy="178689"/>
          </a:xfrm>
          <a:prstGeom prst="rect">
            <a:avLst/>
          </a:prstGeom>
        </p:spPr>
      </p:pic>
      <p:sp>
        <p:nvSpPr>
          <p:cNvPr id="52" name="TextBox 51"/>
          <p:cNvSpPr txBox="1"/>
          <p:nvPr/>
        </p:nvSpPr>
        <p:spPr>
          <a:xfrm>
            <a:off x="5118062" y="5690996"/>
            <a:ext cx="2178529" cy="179069"/>
          </a:xfrm>
          <a:prstGeom prst="rect">
            <a:avLst/>
          </a:prstGeom>
          <a:noFill/>
        </p:spPr>
        <p:txBody>
          <a:bodyPr wrap="none" lIns="0" rIns="0" tIns="0" bIns="0">
            <a:spAutoFit/>
          </a:bodyPr>
          <a:lstStyle/>
          <a:p>
            <a:r>
              <a:rPr sz="1050" b="0">
                <a:solidFill>
                  <a:srgbClr val="1F1F1F"/>
                </a:solidFill>
                <a:latin typeface="Calibri"/>
              </a:rPr>
              <a:t>CAGR between 2026 and 2036, against</a:t>
            </a:r>
          </a:p>
        </p:txBody>
      </p:sp>
      <p:pic>
        <p:nvPicPr>
          <p:cNvPr id="53" name="Picture 52" descr="lock.png"/>
          <p:cNvPicPr>
            <a:picLocks noChangeAspect="1"/>
          </p:cNvPicPr>
          <p:nvPr/>
        </p:nvPicPr>
        <p:blipFill>
          <a:blip r:embed="rId5"/>
          <a:stretch>
            <a:fillRect/>
          </a:stretch>
        </p:blipFill>
        <p:spPr>
          <a:xfrm>
            <a:off x="7243541" y="5681662"/>
            <a:ext cx="122849" cy="178689"/>
          </a:xfrm>
          <a:prstGeom prst="rect">
            <a:avLst/>
          </a:prstGeom>
        </p:spPr>
      </p:pic>
      <p:sp>
        <p:nvSpPr>
          <p:cNvPr id="54" name="TextBox 53"/>
          <p:cNvSpPr txBox="1"/>
          <p:nvPr/>
        </p:nvSpPr>
        <p:spPr>
          <a:xfrm>
            <a:off x="7403423" y="5690996"/>
            <a:ext cx="233771" cy="179069"/>
          </a:xfrm>
          <a:prstGeom prst="rect">
            <a:avLst/>
          </a:prstGeom>
          <a:noFill/>
        </p:spPr>
        <p:txBody>
          <a:bodyPr wrap="none" lIns="0" rIns="0" tIns="0" bIns="0">
            <a:spAutoFit/>
          </a:bodyPr>
          <a:lstStyle/>
          <a:p>
            <a:r>
              <a:rPr sz="1050" b="0">
                <a:solidFill>
                  <a:srgbClr val="1F1F1F"/>
                </a:solidFill>
                <a:latin typeface="Calibri"/>
              </a:rPr>
              <a:t>for</a:t>
            </a:r>
          </a:p>
        </p:txBody>
      </p:sp>
      <p:sp>
        <p:nvSpPr>
          <p:cNvPr id="55" name="TextBox 54"/>
          <p:cNvSpPr txBox="1"/>
          <p:nvPr/>
        </p:nvSpPr>
        <p:spPr>
          <a:xfrm>
            <a:off x="4732401" y="5851016"/>
            <a:ext cx="1062781" cy="179069"/>
          </a:xfrm>
          <a:prstGeom prst="rect">
            <a:avLst/>
          </a:prstGeom>
          <a:noFill/>
        </p:spPr>
        <p:txBody>
          <a:bodyPr wrap="none" lIns="0" rIns="0" tIns="0" bIns="0">
            <a:spAutoFit/>
          </a:bodyPr>
          <a:lstStyle/>
          <a:p>
            <a:r>
              <a:rPr sz="1050" b="0">
                <a:solidFill>
                  <a:srgbClr val="1F1F1F"/>
                </a:solidFill>
                <a:latin typeface="Calibri"/>
              </a:rPr>
              <a:t>Global as a whole.</a:t>
            </a:r>
          </a:p>
        </p:txBody>
      </p:sp>
      <p:sp>
        <p:nvSpPr>
          <p:cNvPr id="56" name="TextBox 55"/>
          <p:cNvSpPr txBox="1"/>
          <p:nvPr/>
        </p:nvSpPr>
        <p:spPr>
          <a:xfrm>
            <a:off x="8658225" y="5530976"/>
            <a:ext cx="2737730" cy="179069"/>
          </a:xfrm>
          <a:prstGeom prst="rect">
            <a:avLst/>
          </a:prstGeom>
          <a:noFill/>
        </p:spPr>
        <p:txBody>
          <a:bodyPr wrap="none" lIns="0" rIns="0" tIns="0" bIns="0">
            <a:spAutoFit/>
          </a:bodyPr>
          <a:lstStyle/>
          <a:p>
            <a:r>
              <a:rPr sz="1050" b="0">
                <a:solidFill>
                  <a:srgbClr val="1F1F1F"/>
                </a:solidFill>
                <a:latin typeface="Calibri"/>
              </a:rPr>
              <a:t>North America shows the widest gap between its</a:t>
            </a:r>
          </a:p>
        </p:txBody>
      </p:sp>
      <p:sp>
        <p:nvSpPr>
          <p:cNvPr id="57" name="TextBox 56"/>
          <p:cNvSpPr txBox="1"/>
          <p:nvPr/>
        </p:nvSpPr>
        <p:spPr>
          <a:xfrm>
            <a:off x="8658225" y="5690996"/>
            <a:ext cx="2379873" cy="179069"/>
          </a:xfrm>
          <a:prstGeom prst="rect">
            <a:avLst/>
          </a:prstGeom>
          <a:noFill/>
        </p:spPr>
        <p:txBody>
          <a:bodyPr wrap="none" lIns="0" rIns="0" tIns="0" bIns="0">
            <a:spAutoFit/>
          </a:bodyPr>
          <a:lstStyle/>
          <a:p>
            <a:r>
              <a:rPr sz="1050" b="0">
                <a:solidFill>
                  <a:srgbClr val="1F1F1F"/>
                </a:solidFill>
                <a:latin typeface="Calibri"/>
              </a:rPr>
              <a:t>cheapest and most expensive form type at</a:t>
            </a:r>
          </a:p>
        </p:txBody>
      </p:sp>
      <p:pic>
        <p:nvPicPr>
          <p:cNvPr id="58" name="Picture 57" descr="lock.png"/>
          <p:cNvPicPr>
            <a:picLocks noChangeAspect="1"/>
          </p:cNvPicPr>
          <p:nvPr/>
        </p:nvPicPr>
        <p:blipFill>
          <a:blip r:embed="rId5"/>
          <a:stretch>
            <a:fillRect/>
          </a:stretch>
        </p:blipFill>
        <p:spPr>
          <a:xfrm>
            <a:off x="10985047" y="5681662"/>
            <a:ext cx="122849" cy="178689"/>
          </a:xfrm>
          <a:prstGeom prst="rect">
            <a:avLst/>
          </a:prstGeom>
        </p:spPr>
      </p:pic>
      <p:sp>
        <p:nvSpPr>
          <p:cNvPr id="59" name="TextBox 58"/>
          <p:cNvSpPr txBox="1"/>
          <p:nvPr/>
        </p:nvSpPr>
        <p:spPr>
          <a:xfrm>
            <a:off x="11144929" y="5690996"/>
            <a:ext cx="262160" cy="179069"/>
          </a:xfrm>
          <a:prstGeom prst="rect">
            <a:avLst/>
          </a:prstGeom>
          <a:noFill/>
        </p:spPr>
        <p:txBody>
          <a:bodyPr wrap="none" lIns="0" rIns="0" tIns="0" bIns="0">
            <a:spAutoFit/>
          </a:bodyPr>
          <a:lstStyle/>
          <a:p>
            <a:r>
              <a:rPr sz="1050" b="0">
                <a:solidFill>
                  <a:srgbClr val="1F1F1F"/>
                </a:solidFill>
                <a:latin typeface="Calibri"/>
              </a:rPr>
              <a:t>, so</a:t>
            </a:r>
          </a:p>
        </p:txBody>
      </p:sp>
      <p:sp>
        <p:nvSpPr>
          <p:cNvPr id="60" name="TextBox 59"/>
          <p:cNvSpPr txBox="1"/>
          <p:nvPr/>
        </p:nvSpPr>
        <p:spPr>
          <a:xfrm>
            <a:off x="8658225" y="5851016"/>
            <a:ext cx="2851807" cy="179069"/>
          </a:xfrm>
          <a:prstGeom prst="rect">
            <a:avLst/>
          </a:prstGeom>
          <a:noFill/>
        </p:spPr>
        <p:txBody>
          <a:bodyPr wrap="none" lIns="0" rIns="0" tIns="0" bIns="0">
            <a:spAutoFit/>
          </a:bodyPr>
          <a:lstStyle/>
          <a:p>
            <a:r>
              <a:rPr sz="1050" b="0">
                <a:solidFill>
                  <a:srgbClr val="1F1F1F"/>
                </a:solidFill>
                <a:latin typeface="Calibri"/>
              </a:rPr>
              <a:t>product mix shifts move its average price the most.</a:t>
            </a:r>
          </a:p>
        </p:txBody>
      </p:sp>
      <p:pic>
        <p:nvPicPr>
          <p:cNvPr id="61" name="Picture 60" descr="lock.png"/>
          <p:cNvPicPr>
            <a:picLocks noChangeAspect="1"/>
          </p:cNvPicPr>
          <p:nvPr/>
        </p:nvPicPr>
        <p:blipFill>
          <a:blip r:embed="rId5"/>
          <a:stretch>
            <a:fillRect/>
          </a:stretch>
        </p:blipFill>
        <p:spPr>
          <a:xfrm>
            <a:off x="3952821" y="3129375"/>
            <a:ext cx="482444" cy="701737"/>
          </a:xfrm>
          <a:prstGeom prst="rect">
            <a:avLst/>
          </a:prstGeom>
        </p:spPr>
      </p:pic>
      <p:sp>
        <p:nvSpPr>
          <p:cNvPr id="62" name="lockshield_13"/>
          <p:cNvSpPr/>
          <p:nvPr/>
        </p:nvSpPr>
        <p:spPr>
          <a:xfrm>
            <a:off x="347472" y="2014347"/>
            <a:ext cx="7406640" cy="301752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Price Positioning &amp; Key Findings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positioning of each region on a common axis with FMI's key findings on where premiums and discounts sit</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Average selling price and price range by region on a shared price scale (US$/MT).</a:t>
            </a:r>
          </a:p>
        </p:txBody>
      </p:sp>
      <p:sp>
        <p:nvSpPr>
          <p:cNvPr id="11" name="Rounded Rectangle 10"/>
          <p:cNvSpPr/>
          <p:nvPr/>
        </p:nvSpPr>
        <p:spPr>
          <a:xfrm>
            <a:off x="142875" y="1317574"/>
            <a:ext cx="7696200" cy="5238811"/>
          </a:xfrm>
          <a:prstGeom prst="roundRect">
            <a:avLst>
              <a:gd name="adj" fmla="val 14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&amp; Range by Region</a:t>
            </a:r>
          </a:p>
        </p:txBody>
      </p:sp>
      <p:cxnSp>
        <p:nvCxnSpPr>
          <p:cNvPr id="13" name="Connector 12"/>
          <p:cNvCxnSpPr/>
          <p:nvPr/>
        </p:nvCxnSpPr>
        <p:spPr>
          <a:xfrm>
            <a:off x="13620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11442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1,091</a:t>
            </a:r>
          </a:p>
        </p:txBody>
      </p:sp>
      <p:cxnSp>
        <p:nvCxnSpPr>
          <p:cNvPr id="15" name="Connector 14"/>
          <p:cNvCxnSpPr/>
          <p:nvPr/>
        </p:nvCxnSpPr>
        <p:spPr>
          <a:xfrm>
            <a:off x="261175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36410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2,593</a:t>
            </a:r>
          </a:p>
        </p:txBody>
      </p:sp>
      <p:cxnSp>
        <p:nvCxnSpPr>
          <p:cNvPr id="17" name="Connector 16"/>
          <p:cNvCxnSpPr/>
          <p:nvPr/>
        </p:nvCxnSpPr>
        <p:spPr>
          <a:xfrm>
            <a:off x="386143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61378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4,094</a:t>
            </a:r>
          </a:p>
        </p:txBody>
      </p:sp>
      <p:cxnSp>
        <p:nvCxnSpPr>
          <p:cNvPr id="19" name="Connector 18"/>
          <p:cNvCxnSpPr/>
          <p:nvPr/>
        </p:nvCxnSpPr>
        <p:spPr>
          <a:xfrm>
            <a:off x="511111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86346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5,596</a:t>
            </a:r>
          </a:p>
        </p:txBody>
      </p:sp>
      <p:cxnSp>
        <p:nvCxnSpPr>
          <p:cNvPr id="21" name="Connector 20"/>
          <p:cNvCxnSpPr/>
          <p:nvPr/>
        </p:nvCxnSpPr>
        <p:spPr>
          <a:xfrm>
            <a:off x="636079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11314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7,097</a:t>
            </a:r>
          </a:p>
        </p:txBody>
      </p:sp>
      <p:cxnSp>
        <p:nvCxnSpPr>
          <p:cNvPr id="23" name="Connector 22"/>
          <p:cNvCxnSpPr/>
          <p:nvPr/>
        </p:nvCxnSpPr>
        <p:spPr>
          <a:xfrm>
            <a:off x="76104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36282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8,598</a:t>
            </a:r>
          </a:p>
        </p:txBody>
      </p:sp>
      <p:sp>
        <p:nvSpPr>
          <p:cNvPr id="25" name="TextBox 24"/>
          <p:cNvSpPr txBox="1"/>
          <p:nvPr/>
        </p:nvSpPr>
        <p:spPr>
          <a:xfrm>
            <a:off x="238125" y="220340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North America</a:t>
            </a:r>
          </a:p>
        </p:txBody>
      </p:sp>
      <p:sp>
        <p:nvSpPr>
          <p:cNvPr id="26" name="Rectangle 25"/>
          <p:cNvSpPr/>
          <p:nvPr/>
        </p:nvSpPr>
        <p:spPr>
          <a:xfrm>
            <a:off x="3884123" y="2100912"/>
            <a:ext cx="3042933"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457640" y="222721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 y="292731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Latin America</a:t>
            </a:r>
          </a:p>
        </p:txBody>
      </p:sp>
      <p:sp>
        <p:nvSpPr>
          <p:cNvPr id="29" name="Rectangle 28"/>
          <p:cNvSpPr/>
          <p:nvPr/>
        </p:nvSpPr>
        <p:spPr>
          <a:xfrm>
            <a:off x="2897259" y="2824823"/>
            <a:ext cx="2163293"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999700" y="295112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365122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Europe</a:t>
            </a:r>
          </a:p>
        </p:txBody>
      </p:sp>
      <p:sp>
        <p:nvSpPr>
          <p:cNvPr id="32" name="Rectangle 31"/>
          <p:cNvSpPr/>
          <p:nvPr/>
        </p:nvSpPr>
        <p:spPr>
          <a:xfrm>
            <a:off x="3545404" y="3548733"/>
            <a:ext cx="2731023"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951109" y="367503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8125" y="437513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East Asia</a:t>
            </a:r>
          </a:p>
        </p:txBody>
      </p:sp>
      <p:sp>
        <p:nvSpPr>
          <p:cNvPr id="35" name="Rectangle 34"/>
          <p:cNvSpPr/>
          <p:nvPr/>
        </p:nvSpPr>
        <p:spPr>
          <a:xfrm>
            <a:off x="2248022" y="4272643"/>
            <a:ext cx="1553380"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028632" y="439894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38125" y="509904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South Asia &amp; Pacific</a:t>
            </a:r>
          </a:p>
        </p:txBody>
      </p:sp>
      <p:sp>
        <p:nvSpPr>
          <p:cNvPr id="38" name="Rectangle 37"/>
          <p:cNvSpPr/>
          <p:nvPr/>
        </p:nvSpPr>
        <p:spPr>
          <a:xfrm>
            <a:off x="2045494" y="4996553"/>
            <a:ext cx="1405323"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736928" y="512285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8125" y="582295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Middle East &amp; Africa</a:t>
            </a:r>
          </a:p>
        </p:txBody>
      </p:sp>
      <p:sp>
        <p:nvSpPr>
          <p:cNvPr id="41" name="Rectangle 40"/>
          <p:cNvSpPr/>
          <p:nvPr/>
        </p:nvSpPr>
        <p:spPr>
          <a:xfrm>
            <a:off x="2771165" y="5720463"/>
            <a:ext cx="2027888"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795440" y="5846768"/>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362075" y="1727149"/>
            <a:ext cx="114300" cy="114300"/>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495425" y="1717624"/>
            <a:ext cx="838200" cy="133350"/>
          </a:xfrm>
          <a:prstGeom prst="rect">
            <a:avLst/>
          </a:prstGeom>
          <a:noFill/>
        </p:spPr>
        <p:txBody>
          <a:bodyPr wrap="square" lIns="28575" rIns="28575" tIns="9525" bIns="9525">
            <a:spAutoFit/>
          </a:bodyPr>
          <a:lstStyle/>
          <a:p>
            <a:pPr algn="l"/>
            <a:r>
              <a:rPr sz="1100" b="0">
                <a:solidFill>
                  <a:srgbClr val="2E2E2E"/>
                </a:solidFill>
                <a:latin typeface="Calibri"/>
              </a:rPr>
              <a:t>Average Price</a:t>
            </a:r>
          </a:p>
        </p:txBody>
      </p:sp>
      <p:sp>
        <p:nvSpPr>
          <p:cNvPr id="45" name="Rectangle 44"/>
          <p:cNvSpPr/>
          <p:nvPr/>
        </p:nvSpPr>
        <p:spPr>
          <a:xfrm>
            <a:off x="2390775" y="1736674"/>
            <a:ext cx="190500" cy="11430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19375" y="1717624"/>
            <a:ext cx="800100" cy="133350"/>
          </a:xfrm>
          <a:prstGeom prst="rect">
            <a:avLst/>
          </a:prstGeom>
          <a:noFill/>
        </p:spPr>
        <p:txBody>
          <a:bodyPr wrap="square" lIns="28575" rIns="28575" tIns="9525" bIns="9525">
            <a:spAutoFit/>
          </a:bodyPr>
          <a:lstStyle/>
          <a:p>
            <a:pPr algn="l"/>
            <a:r>
              <a:rPr sz="1100" b="0">
                <a:solidFill>
                  <a:srgbClr val="2E2E2E"/>
                </a:solidFill>
                <a:latin typeface="Calibri"/>
              </a:rPr>
              <a:t>Price Range</a:t>
            </a:r>
          </a:p>
        </p:txBody>
      </p:sp>
      <p:sp>
        <p:nvSpPr>
          <p:cNvPr id="47" name="Rounded Rectangle 46"/>
          <p:cNvSpPr/>
          <p:nvPr/>
        </p:nvSpPr>
        <p:spPr>
          <a:xfrm>
            <a:off x="7915275" y="1317574"/>
            <a:ext cx="4133850" cy="3924545"/>
          </a:xfrm>
          <a:prstGeom prst="roundRect">
            <a:avLst>
              <a:gd name="adj" fmla="val 194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49" name="Rectangle 48"/>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48625" y="1727149"/>
            <a:ext cx="3867150" cy="343877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1" name="Rounded Rectangle 50"/>
          <p:cNvSpPr/>
          <p:nvPr/>
        </p:nvSpPr>
        <p:spPr>
          <a:xfrm>
            <a:off x="7915275" y="5351641"/>
            <a:ext cx="4133850" cy="1204744"/>
          </a:xfrm>
          <a:prstGeom prst="roundRect">
            <a:avLst>
              <a:gd name="adj" fmla="val 63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the above information is indicative in nature and does not constitute any form of analysis.</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53" name="TextBox 52"/>
          <p:cNvSpPr txBox="1"/>
          <p:nvPr/>
        </p:nvSpPr>
        <p:spPr>
          <a:xfrm>
            <a:off x="8048625" y="1736673"/>
            <a:ext cx="3616486" cy="194310"/>
          </a:xfrm>
          <a:prstGeom prst="rect">
            <a:avLst/>
          </a:prstGeom>
          <a:noFill/>
        </p:spPr>
        <p:txBody>
          <a:bodyPr wrap="none" lIns="0" rIns="0" tIns="0" bIns="0">
            <a:spAutoFit/>
          </a:bodyPr>
          <a:lstStyle/>
          <a:p>
            <a:r>
              <a:rPr sz="1150" b="0">
                <a:solidFill>
                  <a:srgbClr val="2E2E2E"/>
                </a:solidFill>
                <a:latin typeface="Calibri"/>
              </a:rPr>
              <a:t>Capsules and softgels segment is expected to command the</a:t>
            </a:r>
          </a:p>
        </p:txBody>
      </p:sp>
      <p:sp>
        <p:nvSpPr>
          <p:cNvPr id="54" name="TextBox 53"/>
          <p:cNvSpPr txBox="1"/>
          <p:nvPr/>
        </p:nvSpPr>
        <p:spPr>
          <a:xfrm>
            <a:off x="8048625" y="1911934"/>
            <a:ext cx="1766899" cy="194310"/>
          </a:xfrm>
          <a:prstGeom prst="rect">
            <a:avLst/>
          </a:prstGeom>
          <a:noFill/>
        </p:spPr>
        <p:txBody>
          <a:bodyPr wrap="none" lIns="0" rIns="0" tIns="0" bIns="0">
            <a:spAutoFit/>
          </a:bodyPr>
          <a:lstStyle/>
          <a:p>
            <a:r>
              <a:rPr sz="1150" b="0">
                <a:solidFill>
                  <a:srgbClr val="2E2E2E"/>
                </a:solidFill>
                <a:latin typeface="Calibri"/>
              </a:rPr>
              <a:t>highest average price of US$</a:t>
            </a:r>
          </a:p>
        </p:txBody>
      </p:sp>
      <p:pic>
        <p:nvPicPr>
          <p:cNvPr id="55" name="Picture 54" descr="lock.png"/>
          <p:cNvPicPr>
            <a:picLocks noChangeAspect="1"/>
          </p:cNvPicPr>
          <p:nvPr/>
        </p:nvPicPr>
        <p:blipFill>
          <a:blip r:embed="rId4"/>
          <a:stretch>
            <a:fillRect/>
          </a:stretch>
        </p:blipFill>
        <p:spPr>
          <a:xfrm>
            <a:off x="9764678" y="1901710"/>
            <a:ext cx="134549" cy="195707"/>
          </a:xfrm>
          <a:prstGeom prst="rect">
            <a:avLst/>
          </a:prstGeom>
        </p:spPr>
      </p:pic>
      <p:sp>
        <p:nvSpPr>
          <p:cNvPr id="56" name="TextBox 55"/>
          <p:cNvSpPr txBox="1"/>
          <p:nvPr/>
        </p:nvSpPr>
        <p:spPr>
          <a:xfrm>
            <a:off x="9939788" y="1911934"/>
            <a:ext cx="1534663" cy="194310"/>
          </a:xfrm>
          <a:prstGeom prst="rect">
            <a:avLst/>
          </a:prstGeom>
          <a:noFill/>
        </p:spPr>
        <p:txBody>
          <a:bodyPr wrap="none" lIns="0" rIns="0" tIns="0" bIns="0">
            <a:spAutoFit/>
          </a:bodyPr>
          <a:lstStyle/>
          <a:p>
            <a:r>
              <a:rPr sz="1150" b="0">
                <a:solidFill>
                  <a:srgbClr val="2E2E2E"/>
                </a:solidFill>
                <a:latin typeface="Calibri"/>
              </a:rPr>
              <a:t>per MT in 2036. Average</a:t>
            </a:r>
          </a:p>
        </p:txBody>
      </p:sp>
      <p:sp>
        <p:nvSpPr>
          <p:cNvPr id="57" name="TextBox 56"/>
          <p:cNvSpPr txBox="1"/>
          <p:nvPr/>
        </p:nvSpPr>
        <p:spPr>
          <a:xfrm>
            <a:off x="8048625" y="2087194"/>
            <a:ext cx="3814167" cy="194310"/>
          </a:xfrm>
          <a:prstGeom prst="rect">
            <a:avLst/>
          </a:prstGeom>
          <a:noFill/>
        </p:spPr>
        <p:txBody>
          <a:bodyPr wrap="none" lIns="0" rIns="0" tIns="0" bIns="0">
            <a:spAutoFit/>
          </a:bodyPr>
          <a:lstStyle/>
          <a:p>
            <a:r>
              <a:rPr sz="1150" b="0">
                <a:solidFill>
                  <a:srgbClr val="2E2E2E"/>
                </a:solidFill>
                <a:latin typeface="Calibri"/>
              </a:rPr>
              <a:t>selling price of senior dog cognitive supplement is estimated at</a:t>
            </a:r>
          </a:p>
        </p:txBody>
      </p:sp>
      <p:sp>
        <p:nvSpPr>
          <p:cNvPr id="58" name="TextBox 57"/>
          <p:cNvSpPr txBox="1"/>
          <p:nvPr/>
        </p:nvSpPr>
        <p:spPr>
          <a:xfrm>
            <a:off x="8048625" y="2262454"/>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59" name="Picture 58" descr="lock.png"/>
          <p:cNvPicPr>
            <a:picLocks noChangeAspect="1"/>
          </p:cNvPicPr>
          <p:nvPr/>
        </p:nvPicPr>
        <p:blipFill>
          <a:blip r:embed="rId4"/>
          <a:stretch>
            <a:fillRect/>
          </a:stretch>
        </p:blipFill>
        <p:spPr>
          <a:xfrm>
            <a:off x="8309028" y="2252230"/>
            <a:ext cx="134549" cy="195707"/>
          </a:xfrm>
          <a:prstGeom prst="rect">
            <a:avLst/>
          </a:prstGeom>
        </p:spPr>
      </p:pic>
      <p:sp>
        <p:nvSpPr>
          <p:cNvPr id="60" name="TextBox 59"/>
          <p:cNvSpPr txBox="1"/>
          <p:nvPr/>
        </p:nvSpPr>
        <p:spPr>
          <a:xfrm>
            <a:off x="8484137" y="2262454"/>
            <a:ext cx="3081064" cy="194310"/>
          </a:xfrm>
          <a:prstGeom prst="rect">
            <a:avLst/>
          </a:prstGeom>
          <a:noFill/>
        </p:spPr>
        <p:txBody>
          <a:bodyPr wrap="none" lIns="0" rIns="0" tIns="0" bIns="0">
            <a:spAutoFit/>
          </a:bodyPr>
          <a:lstStyle/>
          <a:p>
            <a:r>
              <a:rPr sz="1150" b="0">
                <a:solidFill>
                  <a:srgbClr val="2E2E2E"/>
                </a:solidFill>
                <a:latin typeface="Calibri"/>
              </a:rPr>
              <a:t>per MT in 2025 and is projected to increase to US$</a:t>
            </a:r>
          </a:p>
        </p:txBody>
      </p:sp>
      <p:pic>
        <p:nvPicPr>
          <p:cNvPr id="61" name="Picture 60" descr="lock.png"/>
          <p:cNvPicPr>
            <a:picLocks noChangeAspect="1"/>
          </p:cNvPicPr>
          <p:nvPr/>
        </p:nvPicPr>
        <p:blipFill>
          <a:blip r:embed="rId4"/>
          <a:stretch>
            <a:fillRect/>
          </a:stretch>
        </p:blipFill>
        <p:spPr>
          <a:xfrm>
            <a:off x="11514356" y="2252230"/>
            <a:ext cx="134549" cy="195707"/>
          </a:xfrm>
          <a:prstGeom prst="rect">
            <a:avLst/>
          </a:prstGeom>
        </p:spPr>
      </p:pic>
      <p:sp>
        <p:nvSpPr>
          <p:cNvPr id="62" name="TextBox 61"/>
          <p:cNvSpPr txBox="1"/>
          <p:nvPr/>
        </p:nvSpPr>
        <p:spPr>
          <a:xfrm>
            <a:off x="8048625" y="2437714"/>
            <a:ext cx="1048630" cy="194310"/>
          </a:xfrm>
          <a:prstGeom prst="rect">
            <a:avLst/>
          </a:prstGeom>
          <a:noFill/>
        </p:spPr>
        <p:txBody>
          <a:bodyPr wrap="none" lIns="0" rIns="0" tIns="0" bIns="0">
            <a:spAutoFit/>
          </a:bodyPr>
          <a:lstStyle/>
          <a:p>
            <a:r>
              <a:rPr sz="1150" b="0">
                <a:solidFill>
                  <a:srgbClr val="2E2E2E"/>
                </a:solidFill>
                <a:latin typeface="Calibri"/>
              </a:rPr>
              <a:t>per MT by 2036.</a:t>
            </a:r>
          </a:p>
        </p:txBody>
      </p:sp>
      <p:sp>
        <p:nvSpPr>
          <p:cNvPr id="63" name="TextBox 62"/>
          <p:cNvSpPr txBox="1"/>
          <p:nvPr/>
        </p:nvSpPr>
        <p:spPr>
          <a:xfrm>
            <a:off x="8048625" y="2665551"/>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64" name="TextBox 63"/>
          <p:cNvSpPr txBox="1"/>
          <p:nvPr/>
        </p:nvSpPr>
        <p:spPr>
          <a:xfrm>
            <a:off x="8048625" y="2840811"/>
            <a:ext cx="378735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The orange dot is</a:t>
            </a:r>
          </a:p>
        </p:txBody>
      </p:sp>
      <p:sp>
        <p:nvSpPr>
          <p:cNvPr id="65" name="TextBox 64"/>
          <p:cNvSpPr txBox="1"/>
          <p:nvPr/>
        </p:nvSpPr>
        <p:spPr>
          <a:xfrm>
            <a:off x="8048625" y="3016071"/>
            <a:ext cx="3517503" cy="194310"/>
          </a:xfrm>
          <a:prstGeom prst="rect">
            <a:avLst/>
          </a:prstGeom>
          <a:noFill/>
        </p:spPr>
        <p:txBody>
          <a:bodyPr wrap="none" lIns="0" rIns="0" tIns="0" bIns="0">
            <a:spAutoFit/>
          </a:bodyPr>
          <a:lstStyle/>
          <a:p>
            <a:r>
              <a:rPr sz="1150" b="0">
                <a:solidFill>
                  <a:srgbClr val="2E2E2E"/>
                </a:solidFill>
                <a:latin typeface="Calibri"/>
              </a:rPr>
              <a:t>each region's average selling price; the blue band is its full</a:t>
            </a:r>
          </a:p>
        </p:txBody>
      </p:sp>
      <p:sp>
        <p:nvSpPr>
          <p:cNvPr id="66" name="TextBox 65"/>
          <p:cNvSpPr txBox="1"/>
          <p:nvPr/>
        </p:nvSpPr>
        <p:spPr>
          <a:xfrm>
            <a:off x="8048625" y="3191331"/>
            <a:ext cx="3318395" cy="194310"/>
          </a:xfrm>
          <a:prstGeom prst="rect">
            <a:avLst/>
          </a:prstGeom>
          <a:noFill/>
        </p:spPr>
        <p:txBody>
          <a:bodyPr wrap="none" lIns="0" rIns="0" tIns="0" bIns="0">
            <a:spAutoFit/>
          </a:bodyPr>
          <a:lstStyle/>
          <a:p>
            <a:r>
              <a:rPr sz="1150" b="0">
                <a:solidFill>
                  <a:srgbClr val="2E2E2E"/>
                </a:solidFill>
                <a:latin typeface="Calibri"/>
              </a:rPr>
              <a:t>low-to-high price range, all derived as Value ÷ Volume.</a:t>
            </a:r>
          </a:p>
        </p:txBody>
      </p:sp>
      <p:sp>
        <p:nvSpPr>
          <p:cNvPr id="67" name="TextBox 66"/>
          <p:cNvSpPr txBox="1"/>
          <p:nvPr/>
        </p:nvSpPr>
        <p:spPr>
          <a:xfrm>
            <a:off x="8048625" y="3419169"/>
            <a:ext cx="3691793" cy="194310"/>
          </a:xfrm>
          <a:prstGeom prst="rect">
            <a:avLst/>
          </a:prstGeom>
          <a:noFill/>
        </p:spPr>
        <p:txBody>
          <a:bodyPr wrap="none" lIns="0" rIns="0" tIns="0" bIns="0">
            <a:spAutoFit/>
          </a:bodyPr>
          <a:lstStyle/>
          <a:p>
            <a:r>
              <a:rPr sz="1150" b="0">
                <a:solidFill>
                  <a:srgbClr val="2E2E2E"/>
                </a:solidFill>
                <a:latin typeface="Calibri"/>
              </a:rPr>
              <a:t>Narrow bands point to commoditised, price-led competition;</a:t>
            </a:r>
          </a:p>
        </p:txBody>
      </p:sp>
      <p:sp>
        <p:nvSpPr>
          <p:cNvPr id="68" name="TextBox 67"/>
          <p:cNvSpPr txBox="1"/>
          <p:nvPr/>
        </p:nvSpPr>
        <p:spPr>
          <a:xfrm>
            <a:off x="8048625" y="3594429"/>
            <a:ext cx="3812170" cy="194310"/>
          </a:xfrm>
          <a:prstGeom prst="rect">
            <a:avLst/>
          </a:prstGeom>
          <a:noFill/>
        </p:spPr>
        <p:txBody>
          <a:bodyPr wrap="none" lIns="0" rIns="0" tIns="0" bIns="0">
            <a:spAutoFit/>
          </a:bodyPr>
          <a:lstStyle/>
          <a:p>
            <a:r>
              <a:rPr sz="1150" b="0">
                <a:solidFill>
                  <a:srgbClr val="2E2E2E"/>
                </a:solidFill>
                <a:latin typeface="Calibri"/>
              </a:rPr>
              <a:t>wider bands flag premiumisation headroom to trade buyers up</a:t>
            </a:r>
          </a:p>
        </p:txBody>
      </p:sp>
      <p:sp>
        <p:nvSpPr>
          <p:cNvPr id="69" name="TextBox 68"/>
          <p:cNvSpPr txBox="1"/>
          <p:nvPr/>
        </p:nvSpPr>
        <p:spPr>
          <a:xfrm>
            <a:off x="8048625" y="3769689"/>
            <a:ext cx="558279" cy="194310"/>
          </a:xfrm>
          <a:prstGeom prst="rect">
            <a:avLst/>
          </a:prstGeom>
          <a:noFill/>
        </p:spPr>
        <p:txBody>
          <a:bodyPr wrap="none" lIns="0" rIns="0" tIns="0" bIns="0">
            <a:spAutoFit/>
          </a:bodyPr>
          <a:lstStyle/>
          <a:p>
            <a:r>
              <a:rPr sz="1150" b="0">
                <a:solidFill>
                  <a:srgbClr val="2E2E2E"/>
                </a:solidFill>
                <a:latin typeface="Calibri"/>
              </a:rPr>
              <a:t>the mix.</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Key Pricing Drivers Influencing Senior Dog Cognitive Supplement Market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input costs, market conditions and competitive forces shaping pricing strategies and profitability</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input costs, market conditions, and competitive forces shaping pricing strategies and profitability across the value chain</a:t>
            </a:r>
          </a:p>
        </p:txBody>
      </p:sp>
      <p:sp>
        <p:nvSpPr>
          <p:cNvPr id="11" name="Rounded Rectangle 10"/>
          <p:cNvSpPr/>
          <p:nvPr/>
        </p:nvSpPr>
        <p:spPr>
          <a:xfrm>
            <a:off x="142875" y="1354081"/>
            <a:ext cx="6934200" cy="5220558"/>
          </a:xfrm>
          <a:prstGeom prst="roundRect">
            <a:avLst>
              <a:gd name="adj" fmla="val 14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411231"/>
            <a:ext cx="6743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Impacting Factors</a:t>
            </a:r>
          </a:p>
        </p:txBody>
      </p:sp>
      <p:sp>
        <p:nvSpPr>
          <p:cNvPr id="13" name="Freeform 12"/>
          <p:cNvSpPr/>
          <p:nvPr/>
        </p:nvSpPr>
        <p:spPr>
          <a:xfrm>
            <a:off x="3248025" y="3705225"/>
            <a:ext cx="723900" cy="752475"/>
          </a:xfrm>
          <a:custGeom>
            <a:avLst/>
            <a:gdLst/>
            <a:ahLst/>
            <a:cxnLst/>
            <a:rect l="l" t="t" r="r" b="b"/>
            <a:pathLst>
              <a:path w="76" h="79">
                <a:moveTo>
                  <a:pt x="38" y="0"/>
                </a:moveTo>
                <a:lnTo>
                  <a:pt x="61" y="7"/>
                </a:lnTo>
                <a:lnTo>
                  <a:pt x="76" y="27"/>
                </a:lnTo>
                <a:lnTo>
                  <a:pt x="76" y="51"/>
                </a:lnTo>
                <a:lnTo>
                  <a:pt x="61" y="71"/>
                </a:lnTo>
                <a:lnTo>
                  <a:pt x="38" y="79"/>
                </a:lnTo>
                <a:lnTo>
                  <a:pt x="15" y="71"/>
                </a:lnTo>
                <a:lnTo>
                  <a:pt x="0" y="51"/>
                </a:lnTo>
                <a:lnTo>
                  <a:pt x="0" y="27"/>
                </a:lnTo>
                <a:lnTo>
                  <a:pt x="15" y="7"/>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895600" y="3324225"/>
            <a:ext cx="1428750" cy="1504950"/>
          </a:xfrm>
          <a:custGeom>
            <a:avLst/>
            <a:gdLst/>
            <a:ahLst/>
            <a:cxnLst/>
            <a:rect l="l" t="t" r="r" b="b"/>
            <a:pathLst>
              <a:path w="150" h="158">
                <a:moveTo>
                  <a:pt x="75" y="0"/>
                </a:moveTo>
                <a:lnTo>
                  <a:pt x="122" y="15"/>
                </a:lnTo>
                <a:lnTo>
                  <a:pt x="150" y="55"/>
                </a:lnTo>
                <a:lnTo>
                  <a:pt x="150" y="104"/>
                </a:lnTo>
                <a:lnTo>
                  <a:pt x="122" y="143"/>
                </a:lnTo>
                <a:lnTo>
                  <a:pt x="75" y="158"/>
                </a:lnTo>
                <a:lnTo>
                  <a:pt x="28" y="143"/>
                </a:lnTo>
                <a:lnTo>
                  <a:pt x="0" y="104"/>
                </a:lnTo>
                <a:lnTo>
                  <a:pt x="0" y="55"/>
                </a:lnTo>
                <a:lnTo>
                  <a:pt x="28" y="15"/>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533650" y="2943225"/>
            <a:ext cx="2152650" cy="2266950"/>
          </a:xfrm>
          <a:custGeom>
            <a:avLst/>
            <a:gdLst/>
            <a:ahLst/>
            <a:cxnLst/>
            <a:rect l="l" t="t" r="r" b="b"/>
            <a:pathLst>
              <a:path w="226" h="238">
                <a:moveTo>
                  <a:pt x="113" y="0"/>
                </a:moveTo>
                <a:lnTo>
                  <a:pt x="183" y="23"/>
                </a:lnTo>
                <a:lnTo>
                  <a:pt x="226" y="82"/>
                </a:lnTo>
                <a:lnTo>
                  <a:pt x="226" y="156"/>
                </a:lnTo>
                <a:lnTo>
                  <a:pt x="183" y="215"/>
                </a:lnTo>
                <a:lnTo>
                  <a:pt x="113" y="238"/>
                </a:lnTo>
                <a:lnTo>
                  <a:pt x="43" y="215"/>
                </a:lnTo>
                <a:lnTo>
                  <a:pt x="0" y="156"/>
                </a:lnTo>
                <a:lnTo>
                  <a:pt x="0" y="82"/>
                </a:lnTo>
                <a:lnTo>
                  <a:pt x="43" y="23"/>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171700" y="2571750"/>
            <a:ext cx="2876550" cy="3019425"/>
          </a:xfrm>
          <a:custGeom>
            <a:avLst/>
            <a:gdLst/>
            <a:ahLst/>
            <a:cxnLst/>
            <a:rect l="l" t="t" r="r" b="b"/>
            <a:pathLst>
              <a:path w="302" h="317">
                <a:moveTo>
                  <a:pt x="151" y="0"/>
                </a:moveTo>
                <a:lnTo>
                  <a:pt x="244" y="30"/>
                </a:lnTo>
                <a:lnTo>
                  <a:pt x="302" y="109"/>
                </a:lnTo>
                <a:lnTo>
                  <a:pt x="302" y="207"/>
                </a:lnTo>
                <a:lnTo>
                  <a:pt x="244" y="286"/>
                </a:lnTo>
                <a:lnTo>
                  <a:pt x="151" y="317"/>
                </a:lnTo>
                <a:lnTo>
                  <a:pt x="58" y="286"/>
                </a:lnTo>
                <a:lnTo>
                  <a:pt x="0" y="207"/>
                </a:lnTo>
                <a:lnTo>
                  <a:pt x="0" y="109"/>
                </a:lnTo>
                <a:lnTo>
                  <a:pt x="58" y="30"/>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819275" y="2190750"/>
            <a:ext cx="3581400" cy="3771900"/>
          </a:xfrm>
          <a:custGeom>
            <a:avLst/>
            <a:gdLst/>
            <a:ahLst/>
            <a:cxnLst/>
            <a:rect l="l" t="t" r="r" b="b"/>
            <a:pathLst>
              <a:path w="376" h="396">
                <a:moveTo>
                  <a:pt x="188" y="0"/>
                </a:moveTo>
                <a:lnTo>
                  <a:pt x="304" y="38"/>
                </a:lnTo>
                <a:lnTo>
                  <a:pt x="376" y="137"/>
                </a:lnTo>
                <a:lnTo>
                  <a:pt x="376" y="259"/>
                </a:lnTo>
                <a:lnTo>
                  <a:pt x="304" y="358"/>
                </a:lnTo>
                <a:lnTo>
                  <a:pt x="188" y="396"/>
                </a:lnTo>
                <a:lnTo>
                  <a:pt x="72" y="358"/>
                </a:lnTo>
                <a:lnTo>
                  <a:pt x="0" y="259"/>
                </a:lnTo>
                <a:lnTo>
                  <a:pt x="0" y="137"/>
                </a:lnTo>
                <a:lnTo>
                  <a:pt x="72" y="38"/>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3609975" y="2192281"/>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609975"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609975"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609975"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609975"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609975" y="4078660"/>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501189"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815922"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1815922"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501189"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2447925" y="2381250"/>
            <a:ext cx="2505075" cy="3209925"/>
          </a:xfrm>
          <a:custGeom>
            <a:avLst/>
            <a:gdLst/>
            <a:ahLst/>
            <a:cxnLst/>
            <a:rect l="l" t="t" r="r" b="b"/>
            <a:pathLst>
              <a:path w="263" h="337">
                <a:moveTo>
                  <a:pt x="122" y="0"/>
                </a:moveTo>
                <a:lnTo>
                  <a:pt x="203" y="66"/>
                </a:lnTo>
                <a:lnTo>
                  <a:pt x="244" y="138"/>
                </a:lnTo>
                <a:lnTo>
                  <a:pt x="263" y="224"/>
                </a:lnTo>
                <a:lnTo>
                  <a:pt x="221" y="314"/>
                </a:lnTo>
                <a:lnTo>
                  <a:pt x="122" y="337"/>
                </a:lnTo>
                <a:lnTo>
                  <a:pt x="52" y="274"/>
                </a:lnTo>
                <a:lnTo>
                  <a:pt x="18" y="212"/>
                </a:lnTo>
                <a:lnTo>
                  <a:pt x="0" y="138"/>
                </a:lnTo>
                <a:lnTo>
                  <a:pt x="70" y="106"/>
                </a:lnTo>
                <a:close/>
              </a:path>
            </a:pathLst>
          </a:custGeom>
          <a:solidFill>
            <a:srgbClr val="2B5F8E">
              <a:alpha val="62000"/>
            </a:srgbClr>
          </a:solidFill>
          <a:ln w="27940">
            <a:solidFill>
              <a:srgbClr val="2B5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576638" y="234758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352787" y="2977044"/>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742772"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922177" y="4482515"/>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519105" y="534251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576638" y="5554426"/>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911366" y="496099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589908" y="436593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410503"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077684" y="335857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38550" y="3634709"/>
            <a:ext cx="285750" cy="123825"/>
          </a:xfrm>
          <a:prstGeom prst="rect">
            <a:avLst/>
          </a:prstGeom>
          <a:noFill/>
        </p:spPr>
        <p:txBody>
          <a:bodyPr wrap="none" lIns="0" rIns="0" tIns="0" bIns="0" anchor="ctr">
            <a:spAutoFit/>
          </a:bodyPr>
          <a:lstStyle/>
          <a:p>
            <a:pPr algn="l"/>
            <a:r>
              <a:rPr sz="1100" b="0">
                <a:solidFill>
                  <a:srgbClr val="6C7A89"/>
                </a:solidFill>
                <a:latin typeface="Calibri"/>
              </a:rPr>
              <a:t>2</a:t>
            </a:r>
          </a:p>
        </p:txBody>
      </p:sp>
      <p:sp>
        <p:nvSpPr>
          <p:cNvPr id="40" name="TextBox 39"/>
          <p:cNvSpPr txBox="1"/>
          <p:nvPr/>
        </p:nvSpPr>
        <p:spPr>
          <a:xfrm>
            <a:off x="3638550" y="3257434"/>
            <a:ext cx="285750" cy="123825"/>
          </a:xfrm>
          <a:prstGeom prst="rect">
            <a:avLst/>
          </a:prstGeom>
          <a:noFill/>
        </p:spPr>
        <p:txBody>
          <a:bodyPr wrap="none" lIns="0" rIns="0" tIns="0" bIns="0" anchor="ctr">
            <a:spAutoFit/>
          </a:bodyPr>
          <a:lstStyle/>
          <a:p>
            <a:pPr algn="l"/>
            <a:r>
              <a:rPr sz="1100" b="0">
                <a:solidFill>
                  <a:srgbClr val="6C7A89"/>
                </a:solidFill>
                <a:latin typeface="Calibri"/>
              </a:rPr>
              <a:t>4</a:t>
            </a:r>
          </a:p>
        </p:txBody>
      </p:sp>
      <p:sp>
        <p:nvSpPr>
          <p:cNvPr id="41" name="TextBox 40"/>
          <p:cNvSpPr txBox="1"/>
          <p:nvPr/>
        </p:nvSpPr>
        <p:spPr>
          <a:xfrm>
            <a:off x="3638550" y="2880158"/>
            <a:ext cx="285750" cy="123825"/>
          </a:xfrm>
          <a:prstGeom prst="rect">
            <a:avLst/>
          </a:prstGeom>
          <a:noFill/>
        </p:spPr>
        <p:txBody>
          <a:bodyPr wrap="none" lIns="0" rIns="0" tIns="0" bIns="0" anchor="ctr">
            <a:spAutoFit/>
          </a:bodyPr>
          <a:lstStyle/>
          <a:p>
            <a:pPr algn="l"/>
            <a:r>
              <a:rPr sz="1100" b="0">
                <a:solidFill>
                  <a:srgbClr val="6C7A89"/>
                </a:solidFill>
                <a:latin typeface="Calibri"/>
              </a:rPr>
              <a:t>6</a:t>
            </a:r>
          </a:p>
        </p:txBody>
      </p:sp>
      <p:sp>
        <p:nvSpPr>
          <p:cNvPr id="42" name="TextBox 41"/>
          <p:cNvSpPr txBox="1"/>
          <p:nvPr/>
        </p:nvSpPr>
        <p:spPr>
          <a:xfrm>
            <a:off x="3638550" y="2502882"/>
            <a:ext cx="285750" cy="123825"/>
          </a:xfrm>
          <a:prstGeom prst="rect">
            <a:avLst/>
          </a:prstGeom>
          <a:noFill/>
        </p:spPr>
        <p:txBody>
          <a:bodyPr wrap="none" lIns="0" rIns="0" tIns="0" bIns="0" anchor="ctr">
            <a:spAutoFit/>
          </a:bodyPr>
          <a:lstStyle/>
          <a:p>
            <a:pPr algn="l"/>
            <a:r>
              <a:rPr sz="1100" b="0">
                <a:solidFill>
                  <a:srgbClr val="6C7A89"/>
                </a:solidFill>
                <a:latin typeface="Calibri"/>
              </a:rPr>
              <a:t>8</a:t>
            </a:r>
          </a:p>
        </p:txBody>
      </p:sp>
      <p:sp>
        <p:nvSpPr>
          <p:cNvPr id="43" name="TextBox 42"/>
          <p:cNvSpPr txBox="1"/>
          <p:nvPr/>
        </p:nvSpPr>
        <p:spPr>
          <a:xfrm>
            <a:off x="3638550" y="2125606"/>
            <a:ext cx="285750" cy="123825"/>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4" name="TextBox 43"/>
          <p:cNvSpPr txBox="1"/>
          <p:nvPr/>
        </p:nvSpPr>
        <p:spPr>
          <a:xfrm>
            <a:off x="2952750" y="1839856"/>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5" name="TextBox 44"/>
          <p:cNvSpPr txBox="1"/>
          <p:nvPr/>
        </p:nvSpPr>
        <p:spPr>
          <a:xfrm>
            <a:off x="4184706"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6" name="TextBox 45"/>
          <p:cNvSpPr txBox="1"/>
          <p:nvPr/>
        </p:nvSpPr>
        <p:spPr>
          <a:xfrm>
            <a:off x="4946097"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7" name="TextBox 46"/>
          <p:cNvSpPr txBox="1"/>
          <p:nvPr/>
        </p:nvSpPr>
        <p:spPr>
          <a:xfrm>
            <a:off x="4946097"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8" name="TextBox 47"/>
          <p:cNvSpPr txBox="1"/>
          <p:nvPr/>
        </p:nvSpPr>
        <p:spPr>
          <a:xfrm>
            <a:off x="4184706"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9" name="TextBox 48"/>
          <p:cNvSpPr txBox="1"/>
          <p:nvPr/>
        </p:nvSpPr>
        <p:spPr>
          <a:xfrm>
            <a:off x="2952750" y="6031714"/>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0" name="TextBox 49"/>
          <p:cNvSpPr txBox="1"/>
          <p:nvPr/>
        </p:nvSpPr>
        <p:spPr>
          <a:xfrm>
            <a:off x="1720794"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1" name="TextBox 50"/>
          <p:cNvSpPr txBox="1"/>
          <p:nvPr/>
        </p:nvSpPr>
        <p:spPr>
          <a:xfrm>
            <a:off x="959403"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2" name="TextBox 51"/>
          <p:cNvSpPr txBox="1"/>
          <p:nvPr/>
        </p:nvSpPr>
        <p:spPr>
          <a:xfrm>
            <a:off x="959403"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3" name="TextBox 52"/>
          <p:cNvSpPr txBox="1"/>
          <p:nvPr/>
        </p:nvSpPr>
        <p:spPr>
          <a:xfrm>
            <a:off x="1720794"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4" name="Rounded Rectangle 53"/>
          <p:cNvSpPr/>
          <p:nvPr/>
        </p:nvSpPr>
        <p:spPr>
          <a:xfrm>
            <a:off x="7153275" y="1354081"/>
            <a:ext cx="4895850" cy="3479443"/>
          </a:xfrm>
          <a:prstGeom prst="roundRect">
            <a:avLst>
              <a:gd name="adj" fmla="val 219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286625" y="1439806"/>
            <a:ext cx="4629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6" name="Rectangle 55"/>
          <p:cNvSpPr/>
          <p:nvPr/>
        </p:nvSpPr>
        <p:spPr>
          <a:xfrm>
            <a:off x="7286625" y="1677931"/>
            <a:ext cx="4629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286625" y="1763656"/>
            <a:ext cx="4629150" cy="2993668"/>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Pricing across the Senior Dog Cognitive Supplement Market is shaped by a mix of input costs, operational efficiency and market dynamics with raw-material and input costs carrying the single heaviest weight on selling prices today.</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Raw-material and input costs and demand and broader market conditions are the dominant cost pressures; as they fluctuate they feed directly into prices and squeeze margins along the value chain.</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Competitive intensity and supply-chain and logistics conditions are the next most influential forces helping offset cost inflation and setting how aggressively players can price without ceding share.</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Demand strength, competitive intensity and supply-chain reliability together define the ceiling on pricing power across the Senior Dog Cognitive Supplement Market.</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Regulatory, currency and brand factors add second-order effects while aftermarket and service costs exert the least pressure collectively creating a pricing balance that must be monitored to stay competitive and profitable.</a:t>
            </a:r>
          </a:p>
        </p:txBody>
      </p:sp>
      <p:sp>
        <p:nvSpPr>
          <p:cNvPr id="58" name="Rounded Rectangle 57"/>
          <p:cNvSpPr/>
          <p:nvPr/>
        </p:nvSpPr>
        <p:spPr>
          <a:xfrm>
            <a:off x="7153275" y="4943046"/>
            <a:ext cx="4895850" cy="1686354"/>
          </a:xfrm>
          <a:prstGeom prst="roundRect">
            <a:avLst>
              <a:gd name="adj" fmla="val 45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86625" y="5028771"/>
            <a:ext cx="4629150" cy="209550"/>
          </a:xfrm>
          <a:prstGeom prst="rect">
            <a:avLst/>
          </a:prstGeom>
          <a:noFill/>
        </p:spPr>
        <p:txBody>
          <a:bodyPr wrap="square" lIns="0" rIns="19050" tIns="9525" bIns="9525">
            <a:spAutoFit/>
          </a:bodyPr>
          <a:lstStyle/>
          <a:p>
            <a:pPr algn="l"/>
            <a:r>
              <a:rPr sz="1300" b="1">
                <a:solidFill>
                  <a:srgbClr val="0B2E4A"/>
                </a:solidFill>
                <a:latin typeface="Calibri"/>
              </a:rPr>
              <a:t>Highest-Impact Drivers</a:t>
            </a:r>
          </a:p>
        </p:txBody>
      </p:sp>
      <p:sp>
        <p:nvSpPr>
          <p:cNvPr id="60" name="Rectangle 59"/>
          <p:cNvSpPr/>
          <p:nvPr/>
        </p:nvSpPr>
        <p:spPr>
          <a:xfrm>
            <a:off x="7286625" y="5266896"/>
            <a:ext cx="4629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286625" y="5352621"/>
            <a:ext cx="4629150" cy="1200579"/>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3241146" y="1898910"/>
            <a:ext cx="659829" cy="186689"/>
          </a:xfrm>
          <a:prstGeom prst="rect">
            <a:avLst/>
          </a:prstGeom>
          <a:noFill/>
        </p:spPr>
        <p:txBody>
          <a:bodyPr wrap="none" lIns="0" rIns="0" tIns="0" bIns="0">
            <a:spAutoFit/>
          </a:bodyPr>
          <a:lstStyle/>
          <a:p>
            <a:r>
              <a:rPr sz="1100" b="0">
                <a:solidFill>
                  <a:srgbClr val="2E2E2E"/>
                </a:solidFill>
                <a:latin typeface="Calibri"/>
              </a:rPr>
              <a:t>Input Cost</a:t>
            </a:r>
          </a:p>
        </p:txBody>
      </p:sp>
      <p:pic>
        <p:nvPicPr>
          <p:cNvPr id="64" name="Picture 63" descr="lock.png"/>
          <p:cNvPicPr>
            <a:picLocks noChangeAspect="1"/>
          </p:cNvPicPr>
          <p:nvPr/>
        </p:nvPicPr>
        <p:blipFill>
          <a:blip r:embed="rId4"/>
          <a:stretch>
            <a:fillRect/>
          </a:stretch>
        </p:blipFill>
        <p:spPr>
          <a:xfrm>
            <a:off x="3849027" y="1889132"/>
            <a:ext cx="128699" cy="187198"/>
          </a:xfrm>
          <a:prstGeom prst="rect">
            <a:avLst/>
          </a:prstGeom>
        </p:spPr>
      </p:pic>
      <p:sp>
        <p:nvSpPr>
          <p:cNvPr id="65" name="TextBox 64"/>
          <p:cNvSpPr txBox="1"/>
          <p:nvPr/>
        </p:nvSpPr>
        <p:spPr>
          <a:xfrm>
            <a:off x="4267058" y="2322667"/>
            <a:ext cx="1115044" cy="139750"/>
          </a:xfrm>
          <a:prstGeom prst="rect">
            <a:avLst/>
          </a:prstGeom>
          <a:noFill/>
        </p:spPr>
        <p:txBody>
          <a:bodyPr wrap="none" lIns="0" rIns="0" tIns="0" bIns="0">
            <a:spAutoFit/>
          </a:bodyPr>
          <a:lstStyle/>
          <a:p>
            <a:r>
              <a:rPr sz="791" b="0">
                <a:solidFill>
                  <a:srgbClr val="2E2E2E"/>
                </a:solidFill>
                <a:latin typeface="Calibri"/>
              </a:rPr>
              <a:t>Labor &amp; Production Costs</a:t>
            </a:r>
          </a:p>
        </p:txBody>
      </p:sp>
      <p:pic>
        <p:nvPicPr>
          <p:cNvPr id="66" name="Picture 65" descr="lock.png"/>
          <p:cNvPicPr>
            <a:picLocks noChangeAspect="1"/>
          </p:cNvPicPr>
          <p:nvPr/>
        </p:nvPicPr>
        <p:blipFill>
          <a:blip r:embed="rId4"/>
          <a:stretch>
            <a:fillRect/>
          </a:stretch>
        </p:blipFill>
        <p:spPr>
          <a:xfrm>
            <a:off x="5323363" y="2315626"/>
            <a:ext cx="92663" cy="134782"/>
          </a:xfrm>
          <a:prstGeom prst="rect">
            <a:avLst/>
          </a:prstGeom>
        </p:spPr>
      </p:pic>
      <p:sp>
        <p:nvSpPr>
          <p:cNvPr id="67" name="TextBox 66"/>
          <p:cNvSpPr txBox="1"/>
          <p:nvPr/>
        </p:nvSpPr>
        <p:spPr>
          <a:xfrm>
            <a:off x="5035718" y="3370632"/>
            <a:ext cx="1100506" cy="139750"/>
          </a:xfrm>
          <a:prstGeom prst="rect">
            <a:avLst/>
          </a:prstGeom>
          <a:noFill/>
        </p:spPr>
        <p:txBody>
          <a:bodyPr wrap="none" lIns="0" rIns="0" tIns="0" bIns="0">
            <a:spAutoFit/>
          </a:bodyPr>
          <a:lstStyle/>
          <a:p>
            <a:r>
              <a:rPr sz="791" b="0">
                <a:solidFill>
                  <a:srgbClr val="2E2E2E"/>
                </a:solidFill>
                <a:latin typeface="Calibri"/>
              </a:rPr>
              <a:t>Technology &amp; Innovation</a:t>
            </a:r>
          </a:p>
        </p:txBody>
      </p:sp>
      <p:pic>
        <p:nvPicPr>
          <p:cNvPr id="68" name="Picture 67" descr="lock.png"/>
          <p:cNvPicPr>
            <a:picLocks noChangeAspect="1"/>
          </p:cNvPicPr>
          <p:nvPr/>
        </p:nvPicPr>
        <p:blipFill>
          <a:blip r:embed="rId4"/>
          <a:stretch>
            <a:fillRect/>
          </a:stretch>
        </p:blipFill>
        <p:spPr>
          <a:xfrm>
            <a:off x="6077486" y="3363591"/>
            <a:ext cx="92663" cy="134782"/>
          </a:xfrm>
          <a:prstGeom prst="rect">
            <a:avLst/>
          </a:prstGeom>
        </p:spPr>
      </p:pic>
      <p:sp>
        <p:nvSpPr>
          <p:cNvPr id="69" name="TextBox 68"/>
          <p:cNvSpPr txBox="1"/>
          <p:nvPr/>
        </p:nvSpPr>
        <p:spPr>
          <a:xfrm>
            <a:off x="5024921" y="4662634"/>
            <a:ext cx="1115939" cy="146456"/>
          </a:xfrm>
          <a:prstGeom prst="rect">
            <a:avLst/>
          </a:prstGeom>
          <a:noFill/>
        </p:spPr>
        <p:txBody>
          <a:bodyPr wrap="none" lIns="0" rIns="0" tIns="0" bIns="0">
            <a:spAutoFit/>
          </a:bodyPr>
          <a:lstStyle/>
          <a:p>
            <a:r>
              <a:rPr sz="835" b="0">
                <a:solidFill>
                  <a:srgbClr val="2E2E2E"/>
                </a:solidFill>
                <a:latin typeface="Calibri"/>
              </a:rPr>
              <a:t>Supply Chain &amp; Logistics</a:t>
            </a:r>
          </a:p>
        </p:txBody>
      </p:sp>
      <p:pic>
        <p:nvPicPr>
          <p:cNvPr id="70" name="Picture 69" descr="lock.png"/>
          <p:cNvPicPr>
            <a:picLocks noChangeAspect="1"/>
          </p:cNvPicPr>
          <p:nvPr/>
        </p:nvPicPr>
        <p:blipFill>
          <a:blip r:embed="rId4"/>
          <a:stretch>
            <a:fillRect/>
          </a:stretch>
        </p:blipFill>
        <p:spPr>
          <a:xfrm>
            <a:off x="6083091" y="4655202"/>
            <a:ext cx="97811" cy="142270"/>
          </a:xfrm>
          <a:prstGeom prst="rect">
            <a:avLst/>
          </a:prstGeom>
        </p:spPr>
      </p:pic>
      <p:sp>
        <p:nvSpPr>
          <p:cNvPr id="71" name="TextBox 70"/>
          <p:cNvSpPr txBox="1"/>
          <p:nvPr/>
        </p:nvSpPr>
        <p:spPr>
          <a:xfrm>
            <a:off x="4232042" y="5653601"/>
            <a:ext cx="1238538" cy="139750"/>
          </a:xfrm>
          <a:prstGeom prst="rect">
            <a:avLst/>
          </a:prstGeom>
          <a:noFill/>
        </p:spPr>
        <p:txBody>
          <a:bodyPr wrap="none" lIns="0" rIns="0" tIns="0" bIns="0">
            <a:spAutoFit/>
          </a:bodyPr>
          <a:lstStyle/>
          <a:p>
            <a:r>
              <a:rPr sz="791" b="0">
                <a:solidFill>
                  <a:srgbClr val="2E2E2E"/>
                </a:solidFill>
                <a:latin typeface="Calibri"/>
              </a:rPr>
              <a:t>Demand &amp; Market Conditions</a:t>
            </a:r>
          </a:p>
        </p:txBody>
      </p:sp>
      <p:pic>
        <p:nvPicPr>
          <p:cNvPr id="72" name="Picture 71" descr="lock.png"/>
          <p:cNvPicPr>
            <a:picLocks noChangeAspect="1"/>
          </p:cNvPicPr>
          <p:nvPr/>
        </p:nvPicPr>
        <p:blipFill>
          <a:blip r:embed="rId4"/>
          <a:stretch>
            <a:fillRect/>
          </a:stretch>
        </p:blipFill>
        <p:spPr>
          <a:xfrm>
            <a:off x="4790363" y="5767261"/>
            <a:ext cx="92663" cy="134782"/>
          </a:xfrm>
          <a:prstGeom prst="rect">
            <a:avLst/>
          </a:prstGeom>
        </p:spPr>
      </p:pic>
      <p:sp>
        <p:nvSpPr>
          <p:cNvPr id="73" name="TextBox 72"/>
          <p:cNvSpPr txBox="1"/>
          <p:nvPr/>
        </p:nvSpPr>
        <p:spPr>
          <a:xfrm>
            <a:off x="3049408" y="6110885"/>
            <a:ext cx="1080271" cy="146456"/>
          </a:xfrm>
          <a:prstGeom prst="rect">
            <a:avLst/>
          </a:prstGeom>
          <a:noFill/>
        </p:spPr>
        <p:txBody>
          <a:bodyPr wrap="none" lIns="0" rIns="0" tIns="0" bIns="0">
            <a:spAutoFit/>
          </a:bodyPr>
          <a:lstStyle/>
          <a:p>
            <a:r>
              <a:rPr sz="835" b="0">
                <a:solidFill>
                  <a:srgbClr val="2E2E2E"/>
                </a:solidFill>
                <a:latin typeface="Calibri"/>
              </a:rPr>
              <a:t>Competitive Landscape</a:t>
            </a:r>
          </a:p>
        </p:txBody>
      </p:sp>
      <p:pic>
        <p:nvPicPr>
          <p:cNvPr id="74" name="Picture 73" descr="lock.png"/>
          <p:cNvPicPr>
            <a:picLocks noChangeAspect="1"/>
          </p:cNvPicPr>
          <p:nvPr/>
        </p:nvPicPr>
        <p:blipFill>
          <a:blip r:embed="rId4"/>
          <a:stretch>
            <a:fillRect/>
          </a:stretch>
        </p:blipFill>
        <p:spPr>
          <a:xfrm>
            <a:off x="4071911" y="6103453"/>
            <a:ext cx="97811" cy="142270"/>
          </a:xfrm>
          <a:prstGeom prst="rect">
            <a:avLst/>
          </a:prstGeom>
        </p:spPr>
      </p:pic>
      <p:sp>
        <p:nvSpPr>
          <p:cNvPr id="75" name="TextBox 74"/>
          <p:cNvSpPr txBox="1"/>
          <p:nvPr/>
        </p:nvSpPr>
        <p:spPr>
          <a:xfrm>
            <a:off x="1859088" y="5653601"/>
            <a:ext cx="1114061" cy="139750"/>
          </a:xfrm>
          <a:prstGeom prst="rect">
            <a:avLst/>
          </a:prstGeom>
          <a:noFill/>
        </p:spPr>
        <p:txBody>
          <a:bodyPr wrap="none" lIns="0" rIns="0" tIns="0" bIns="0">
            <a:spAutoFit/>
          </a:bodyPr>
          <a:lstStyle/>
          <a:p>
            <a:r>
              <a:rPr sz="791" b="0">
                <a:solidFill>
                  <a:srgbClr val="2E2E2E"/>
                </a:solidFill>
                <a:latin typeface="Calibri"/>
              </a:rPr>
              <a:t>Regulatory &amp; Compliance</a:t>
            </a:r>
          </a:p>
        </p:txBody>
      </p:sp>
      <p:sp>
        <p:nvSpPr>
          <p:cNvPr id="76" name="TextBox 75"/>
          <p:cNvSpPr txBox="1"/>
          <p:nvPr/>
        </p:nvSpPr>
        <p:spPr>
          <a:xfrm>
            <a:off x="2213046" y="5774302"/>
            <a:ext cx="295245" cy="139750"/>
          </a:xfrm>
          <a:prstGeom prst="rect">
            <a:avLst/>
          </a:prstGeom>
          <a:noFill/>
        </p:spPr>
        <p:txBody>
          <a:bodyPr wrap="none" lIns="0" rIns="0" tIns="0" bIns="0">
            <a:spAutoFit/>
          </a:bodyPr>
          <a:lstStyle/>
          <a:p>
            <a:r>
              <a:rPr sz="791" b="0">
                <a:solidFill>
                  <a:srgbClr val="2E2E2E"/>
                </a:solidFill>
                <a:latin typeface="Calibri"/>
              </a:rPr>
              <a:t>Costs</a:t>
            </a:r>
          </a:p>
        </p:txBody>
      </p:sp>
      <p:pic>
        <p:nvPicPr>
          <p:cNvPr id="77" name="Picture 76" descr="lock.png"/>
          <p:cNvPicPr>
            <a:picLocks noChangeAspect="1"/>
          </p:cNvPicPr>
          <p:nvPr/>
        </p:nvPicPr>
        <p:blipFill>
          <a:blip r:embed="rId4"/>
          <a:stretch>
            <a:fillRect/>
          </a:stretch>
        </p:blipFill>
        <p:spPr>
          <a:xfrm>
            <a:off x="2449552" y="5767261"/>
            <a:ext cx="92663" cy="134782"/>
          </a:xfrm>
          <a:prstGeom prst="rect">
            <a:avLst/>
          </a:prstGeom>
        </p:spPr>
      </p:pic>
      <p:sp>
        <p:nvSpPr>
          <p:cNvPr id="78" name="TextBox 77"/>
          <p:cNvSpPr txBox="1"/>
          <p:nvPr/>
        </p:nvSpPr>
        <p:spPr>
          <a:xfrm>
            <a:off x="1049566" y="4605637"/>
            <a:ext cx="1195711" cy="139750"/>
          </a:xfrm>
          <a:prstGeom prst="rect">
            <a:avLst/>
          </a:prstGeom>
          <a:noFill/>
        </p:spPr>
        <p:txBody>
          <a:bodyPr wrap="none" lIns="0" rIns="0" tIns="0" bIns="0">
            <a:spAutoFit/>
          </a:bodyPr>
          <a:lstStyle/>
          <a:p>
            <a:r>
              <a:rPr sz="791" b="0">
                <a:solidFill>
                  <a:srgbClr val="2E2E2E"/>
                </a:solidFill>
                <a:latin typeface="Calibri"/>
              </a:rPr>
              <a:t>Currency &amp; Trade Dynamics</a:t>
            </a:r>
          </a:p>
        </p:txBody>
      </p:sp>
      <p:pic>
        <p:nvPicPr>
          <p:cNvPr id="79" name="Picture 78" descr="lock.png"/>
          <p:cNvPicPr>
            <a:picLocks noChangeAspect="1"/>
          </p:cNvPicPr>
          <p:nvPr/>
        </p:nvPicPr>
        <p:blipFill>
          <a:blip r:embed="rId4"/>
          <a:stretch>
            <a:fillRect/>
          </a:stretch>
        </p:blipFill>
        <p:spPr>
          <a:xfrm>
            <a:off x="1565060" y="4719297"/>
            <a:ext cx="92663" cy="134782"/>
          </a:xfrm>
          <a:prstGeom prst="rect">
            <a:avLst/>
          </a:prstGeom>
        </p:spPr>
      </p:pic>
      <p:sp>
        <p:nvSpPr>
          <p:cNvPr id="80" name="TextBox 79"/>
          <p:cNvSpPr txBox="1"/>
          <p:nvPr/>
        </p:nvSpPr>
        <p:spPr>
          <a:xfrm>
            <a:off x="1032227" y="3370632"/>
            <a:ext cx="1134100" cy="139750"/>
          </a:xfrm>
          <a:prstGeom prst="rect">
            <a:avLst/>
          </a:prstGeom>
          <a:noFill/>
        </p:spPr>
        <p:txBody>
          <a:bodyPr wrap="none" lIns="0" rIns="0" tIns="0" bIns="0">
            <a:spAutoFit/>
          </a:bodyPr>
          <a:lstStyle/>
          <a:p>
            <a:r>
              <a:rPr sz="791" b="0">
                <a:solidFill>
                  <a:srgbClr val="2E2E2E"/>
                </a:solidFill>
                <a:latin typeface="Calibri"/>
              </a:rPr>
              <a:t>Brand &amp; Value Perception</a:t>
            </a:r>
          </a:p>
        </p:txBody>
      </p:sp>
      <p:pic>
        <p:nvPicPr>
          <p:cNvPr id="81" name="Picture 80" descr="lock.png"/>
          <p:cNvPicPr>
            <a:picLocks noChangeAspect="1"/>
          </p:cNvPicPr>
          <p:nvPr/>
        </p:nvPicPr>
        <p:blipFill>
          <a:blip r:embed="rId4"/>
          <a:stretch>
            <a:fillRect/>
          </a:stretch>
        </p:blipFill>
        <p:spPr>
          <a:xfrm>
            <a:off x="2107588" y="3363591"/>
            <a:ext cx="92663" cy="134782"/>
          </a:xfrm>
          <a:prstGeom prst="rect">
            <a:avLst/>
          </a:prstGeom>
        </p:spPr>
      </p:pic>
      <p:sp>
        <p:nvSpPr>
          <p:cNvPr id="82" name="TextBox 81"/>
          <p:cNvSpPr txBox="1"/>
          <p:nvPr/>
        </p:nvSpPr>
        <p:spPr>
          <a:xfrm>
            <a:off x="1803098" y="2262317"/>
            <a:ext cx="1203570" cy="139750"/>
          </a:xfrm>
          <a:prstGeom prst="rect">
            <a:avLst/>
          </a:prstGeom>
          <a:noFill/>
        </p:spPr>
        <p:txBody>
          <a:bodyPr wrap="none" lIns="0" rIns="0" tIns="0" bIns="0">
            <a:spAutoFit/>
          </a:bodyPr>
          <a:lstStyle/>
          <a:p>
            <a:r>
              <a:rPr sz="791" b="0">
                <a:solidFill>
                  <a:srgbClr val="2E2E2E"/>
                </a:solidFill>
                <a:latin typeface="Calibri"/>
              </a:rPr>
              <a:t>Aftermarket &amp; Service Costs</a:t>
            </a:r>
          </a:p>
        </p:txBody>
      </p:sp>
      <p:pic>
        <p:nvPicPr>
          <p:cNvPr id="83" name="Picture 82" descr="lock.png"/>
          <p:cNvPicPr>
            <a:picLocks noChangeAspect="1"/>
          </p:cNvPicPr>
          <p:nvPr/>
        </p:nvPicPr>
        <p:blipFill>
          <a:blip r:embed="rId4"/>
          <a:stretch>
            <a:fillRect/>
          </a:stretch>
        </p:blipFill>
        <p:spPr>
          <a:xfrm>
            <a:off x="2326451" y="2375977"/>
            <a:ext cx="92663" cy="134782"/>
          </a:xfrm>
          <a:prstGeom prst="rect">
            <a:avLst/>
          </a:prstGeom>
        </p:spPr>
      </p:pic>
      <p:sp>
        <p:nvSpPr>
          <p:cNvPr id="84" name="TextBox 83"/>
          <p:cNvSpPr txBox="1"/>
          <p:nvPr/>
        </p:nvSpPr>
        <p:spPr>
          <a:xfrm>
            <a:off x="7286625" y="5362146"/>
            <a:ext cx="740866" cy="186689"/>
          </a:xfrm>
          <a:prstGeom prst="rect">
            <a:avLst/>
          </a:prstGeom>
          <a:noFill/>
        </p:spPr>
        <p:txBody>
          <a:bodyPr wrap="none" lIns="0" rIns="0" tIns="0" bIns="0">
            <a:spAutoFit/>
          </a:bodyPr>
          <a:lstStyle/>
          <a:p>
            <a:r>
              <a:rPr sz="1100" b="0">
                <a:solidFill>
                  <a:srgbClr val="2E2E2E"/>
                </a:solidFill>
                <a:latin typeface="Calibri"/>
              </a:rPr>
              <a:t>▪ Input Cost</a:t>
            </a:r>
          </a:p>
        </p:txBody>
      </p:sp>
      <p:pic>
        <p:nvPicPr>
          <p:cNvPr id="85" name="Picture 84" descr="lock.png"/>
          <p:cNvPicPr>
            <a:picLocks noChangeAspect="1"/>
          </p:cNvPicPr>
          <p:nvPr/>
        </p:nvPicPr>
        <p:blipFill>
          <a:blip r:embed="rId4"/>
          <a:stretch>
            <a:fillRect/>
          </a:stretch>
        </p:blipFill>
        <p:spPr>
          <a:xfrm>
            <a:off x="7975543" y="5352366"/>
            <a:ext cx="128699" cy="187198"/>
          </a:xfrm>
          <a:prstGeom prst="rect">
            <a:avLst/>
          </a:prstGeom>
        </p:spPr>
      </p:pic>
      <p:sp>
        <p:nvSpPr>
          <p:cNvPr id="86" name="TextBox 85"/>
          <p:cNvSpPr txBox="1"/>
          <p:nvPr/>
        </p:nvSpPr>
        <p:spPr>
          <a:xfrm>
            <a:off x="8143038" y="5362146"/>
            <a:ext cx="1744141" cy="186689"/>
          </a:xfrm>
          <a:prstGeom prst="rect">
            <a:avLst/>
          </a:prstGeom>
          <a:noFill/>
        </p:spPr>
        <p:txBody>
          <a:bodyPr wrap="none" lIns="0" rIns="0" tIns="0" bIns="0">
            <a:spAutoFit/>
          </a:bodyPr>
          <a:lstStyle/>
          <a:p>
            <a:r>
              <a:rPr sz="1100" b="0">
                <a:solidFill>
                  <a:srgbClr val="2E2E2E"/>
                </a:solidFill>
                <a:latin typeface="Calibri"/>
              </a:rPr>
              <a:t>/ 10 · dominant cost pressure</a:t>
            </a:r>
          </a:p>
        </p:txBody>
      </p:sp>
      <p:sp>
        <p:nvSpPr>
          <p:cNvPr id="87" name="TextBox 86"/>
          <p:cNvSpPr txBox="1"/>
          <p:nvPr/>
        </p:nvSpPr>
        <p:spPr>
          <a:xfrm>
            <a:off x="7286625" y="5580078"/>
            <a:ext cx="1851372" cy="186689"/>
          </a:xfrm>
          <a:prstGeom prst="rect">
            <a:avLst/>
          </a:prstGeom>
          <a:noFill/>
        </p:spPr>
        <p:txBody>
          <a:bodyPr wrap="none" lIns="0" rIns="0" tIns="0" bIns="0">
            <a:spAutoFit/>
          </a:bodyPr>
          <a:lstStyle/>
          <a:p>
            <a:r>
              <a:rPr sz="1100" b="0">
                <a:solidFill>
                  <a:srgbClr val="2E2E2E"/>
                </a:solidFill>
                <a:latin typeface="Calibri"/>
              </a:rPr>
              <a:t>▪ Demand &amp; Market Conditions</a:t>
            </a:r>
          </a:p>
        </p:txBody>
      </p:sp>
      <p:pic>
        <p:nvPicPr>
          <p:cNvPr id="88" name="Picture 87" descr="lock.png"/>
          <p:cNvPicPr>
            <a:picLocks noChangeAspect="1"/>
          </p:cNvPicPr>
          <p:nvPr/>
        </p:nvPicPr>
        <p:blipFill>
          <a:blip r:embed="rId4"/>
          <a:stretch>
            <a:fillRect/>
          </a:stretch>
        </p:blipFill>
        <p:spPr>
          <a:xfrm>
            <a:off x="9086048" y="5570298"/>
            <a:ext cx="128699" cy="187198"/>
          </a:xfrm>
          <a:prstGeom prst="rect">
            <a:avLst/>
          </a:prstGeom>
        </p:spPr>
      </p:pic>
      <p:sp>
        <p:nvSpPr>
          <p:cNvPr id="89" name="TextBox 88"/>
          <p:cNvSpPr txBox="1"/>
          <p:nvPr/>
        </p:nvSpPr>
        <p:spPr>
          <a:xfrm>
            <a:off x="9253544" y="5580078"/>
            <a:ext cx="1527224" cy="186689"/>
          </a:xfrm>
          <a:prstGeom prst="rect">
            <a:avLst/>
          </a:prstGeom>
          <a:noFill/>
        </p:spPr>
        <p:txBody>
          <a:bodyPr wrap="none" lIns="0" rIns="0" tIns="0" bIns="0">
            <a:spAutoFit/>
          </a:bodyPr>
          <a:lstStyle/>
          <a:p>
            <a:r>
              <a:rPr sz="1100" b="0">
                <a:solidFill>
                  <a:srgbClr val="2E2E2E"/>
                </a:solidFill>
                <a:latin typeface="Calibri"/>
              </a:rPr>
              <a:t>/ 10 · major cost pressure</a:t>
            </a:r>
          </a:p>
        </p:txBody>
      </p:sp>
      <p:sp>
        <p:nvSpPr>
          <p:cNvPr id="90" name="TextBox 89"/>
          <p:cNvSpPr txBox="1"/>
          <p:nvPr/>
        </p:nvSpPr>
        <p:spPr>
          <a:xfrm>
            <a:off x="7286625" y="5798010"/>
            <a:ext cx="1478384" cy="186689"/>
          </a:xfrm>
          <a:prstGeom prst="rect">
            <a:avLst/>
          </a:prstGeom>
          <a:noFill/>
        </p:spPr>
        <p:txBody>
          <a:bodyPr wrap="none" lIns="0" rIns="0" tIns="0" bIns="0">
            <a:spAutoFit/>
          </a:bodyPr>
          <a:lstStyle/>
          <a:p>
            <a:r>
              <a:rPr sz="1100" b="0">
                <a:solidFill>
                  <a:srgbClr val="2E2E2E"/>
                </a:solidFill>
                <a:latin typeface="Calibri"/>
              </a:rPr>
              <a:t>▪ Competitive Landscape</a:t>
            </a:r>
          </a:p>
        </p:txBody>
      </p:sp>
      <p:pic>
        <p:nvPicPr>
          <p:cNvPr id="91" name="Picture 90" descr="lock.png"/>
          <p:cNvPicPr>
            <a:picLocks noChangeAspect="1"/>
          </p:cNvPicPr>
          <p:nvPr/>
        </p:nvPicPr>
        <p:blipFill>
          <a:blip r:embed="rId4"/>
          <a:stretch>
            <a:fillRect/>
          </a:stretch>
        </p:blipFill>
        <p:spPr>
          <a:xfrm>
            <a:off x="8713060" y="5788230"/>
            <a:ext cx="128699" cy="187198"/>
          </a:xfrm>
          <a:prstGeom prst="rect">
            <a:avLst/>
          </a:prstGeom>
        </p:spPr>
      </p:pic>
      <p:sp>
        <p:nvSpPr>
          <p:cNvPr id="92" name="TextBox 91"/>
          <p:cNvSpPr txBox="1"/>
          <p:nvPr/>
        </p:nvSpPr>
        <p:spPr>
          <a:xfrm>
            <a:off x="8880556" y="5798010"/>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3" name="TextBox 92"/>
          <p:cNvSpPr txBox="1"/>
          <p:nvPr/>
        </p:nvSpPr>
        <p:spPr>
          <a:xfrm>
            <a:off x="7286625" y="6015942"/>
            <a:ext cx="1525314" cy="186689"/>
          </a:xfrm>
          <a:prstGeom prst="rect">
            <a:avLst/>
          </a:prstGeom>
          <a:noFill/>
        </p:spPr>
        <p:txBody>
          <a:bodyPr wrap="none" lIns="0" rIns="0" tIns="0" bIns="0">
            <a:spAutoFit/>
          </a:bodyPr>
          <a:lstStyle/>
          <a:p>
            <a:r>
              <a:rPr sz="1100" b="0">
                <a:solidFill>
                  <a:srgbClr val="2E2E2E"/>
                </a:solidFill>
                <a:latin typeface="Calibri"/>
              </a:rPr>
              <a:t>▪ Supply Chain &amp; Logistics</a:t>
            </a:r>
          </a:p>
        </p:txBody>
      </p:sp>
      <p:pic>
        <p:nvPicPr>
          <p:cNvPr id="94" name="Picture 93" descr="lock.png"/>
          <p:cNvPicPr>
            <a:picLocks noChangeAspect="1"/>
          </p:cNvPicPr>
          <p:nvPr/>
        </p:nvPicPr>
        <p:blipFill>
          <a:blip r:embed="rId4"/>
          <a:stretch>
            <a:fillRect/>
          </a:stretch>
        </p:blipFill>
        <p:spPr>
          <a:xfrm>
            <a:off x="8759991" y="6006162"/>
            <a:ext cx="128699" cy="187198"/>
          </a:xfrm>
          <a:prstGeom prst="rect">
            <a:avLst/>
          </a:prstGeom>
        </p:spPr>
      </p:pic>
      <p:sp>
        <p:nvSpPr>
          <p:cNvPr id="95" name="TextBox 94"/>
          <p:cNvSpPr txBox="1"/>
          <p:nvPr/>
        </p:nvSpPr>
        <p:spPr>
          <a:xfrm>
            <a:off x="8927487" y="6015942"/>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6" name="TextBox 95"/>
          <p:cNvSpPr txBox="1"/>
          <p:nvPr/>
        </p:nvSpPr>
        <p:spPr>
          <a:xfrm>
            <a:off x="7286625" y="6233874"/>
            <a:ext cx="1600075" cy="186689"/>
          </a:xfrm>
          <a:prstGeom prst="rect">
            <a:avLst/>
          </a:prstGeom>
          <a:noFill/>
        </p:spPr>
        <p:txBody>
          <a:bodyPr wrap="none" lIns="0" rIns="0" tIns="0" bIns="0">
            <a:spAutoFit/>
          </a:bodyPr>
          <a:lstStyle/>
          <a:p>
            <a:r>
              <a:rPr sz="1100" b="0">
                <a:solidFill>
                  <a:srgbClr val="2E2E2E"/>
                </a:solidFill>
                <a:latin typeface="Calibri"/>
              </a:rPr>
              <a:t>▪ Labor &amp; Production Costs</a:t>
            </a:r>
          </a:p>
        </p:txBody>
      </p:sp>
      <p:pic>
        <p:nvPicPr>
          <p:cNvPr id="97" name="Picture 96" descr="lock.png"/>
          <p:cNvPicPr>
            <a:picLocks noChangeAspect="1"/>
          </p:cNvPicPr>
          <p:nvPr/>
        </p:nvPicPr>
        <p:blipFill>
          <a:blip r:embed="rId4"/>
          <a:stretch>
            <a:fillRect/>
          </a:stretch>
        </p:blipFill>
        <p:spPr>
          <a:xfrm>
            <a:off x="8834752" y="6224094"/>
            <a:ext cx="128699" cy="187198"/>
          </a:xfrm>
          <a:prstGeom prst="rect">
            <a:avLst/>
          </a:prstGeom>
        </p:spPr>
      </p:pic>
      <p:sp>
        <p:nvSpPr>
          <p:cNvPr id="98" name="TextBox 97"/>
          <p:cNvSpPr txBox="1"/>
          <p:nvPr/>
        </p:nvSpPr>
        <p:spPr>
          <a:xfrm>
            <a:off x="9002248" y="6233874"/>
            <a:ext cx="1387524" cy="186689"/>
          </a:xfrm>
          <a:prstGeom prst="rect">
            <a:avLst/>
          </a:prstGeom>
          <a:noFill/>
        </p:spPr>
        <p:txBody>
          <a:bodyPr wrap="none" lIns="0" rIns="0" tIns="0" bIns="0">
            <a:spAutoFit/>
          </a:bodyPr>
          <a:lstStyle/>
          <a:p>
            <a:r>
              <a:rPr sz="1100" b="0">
                <a:solidFill>
                  <a:srgbClr val="2E2E2E"/>
                </a:solidFill>
                <a:latin typeface="Calibri"/>
              </a:rPr>
              <a:t>/ 10 · supporting factor</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Factors Impacting Pricing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Factors affecting the pricing decision of the product: category, price impact, direction of pressure and rationale</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The cost, demand, efficiency and regulatory forces shaping and impacting achievable selling prices grouped by category, with each factor's direction, impact and score.</a:t>
            </a:r>
          </a:p>
        </p:txBody>
      </p:sp>
      <p:sp>
        <p:nvSpPr>
          <p:cNvPr id="11" name="Rounded Rectangle 10"/>
          <p:cNvSpPr/>
          <p:nvPr/>
        </p:nvSpPr>
        <p:spPr>
          <a:xfrm>
            <a:off x="142875" y="1314450"/>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1390650"/>
          <a:ext cx="11887199" cy="2981326"/>
        </p:xfrm>
        <a:graphic>
          <a:graphicData uri="http://schemas.openxmlformats.org/drawingml/2006/table">
            <a:tbl>
              <a:tblPr>
                <a:tableStyleId>{5C22544A-7EE6-4342-B048-85BDC9FD1C3A}</a:tableStyleId>
              </a:tblPr>
              <a:tblGrid>
                <a:gridCol w="2561515"/>
                <a:gridCol w="2697613"/>
                <a:gridCol w="1098187"/>
                <a:gridCol w="1211368"/>
                <a:gridCol w="1098187"/>
                <a:gridCol w="3220329"/>
              </a:tblGrid>
              <a:tr h="246126">
                <a:tc>
                  <a:txBody>
                    <a:bodyPr wrap="none"/>
                    <a:lstStyle/>
                    <a:p>
                      <a:pPr algn="l"/>
                      <a:r>
                        <a:rPr sz="1100" b="1">
                          <a:solidFill>
                            <a:srgbClr val="0B2E4A"/>
                          </a:solidFill>
                          <a:latin typeface="Calibri"/>
                        </a:rPr>
                        <a:t>Factor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Category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Price Impact</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Direction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Score (0–10)</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How It Shapes Price</a:t>
                      </a:r>
                      <a:endParaRPr sz="1100"/>
                    </a:p>
                  </a:txBody>
                  <a:tcPr marL="47625" marR="38100" marT="19050" marB="19050" anchor="ctr">
                    <a:solidFill>
                      <a:srgbClr val="E0E8EF"/>
                    </a:solidFill>
                  </a:tcPr>
                </a:tc>
              </a:tr>
              <a:tr h="27352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Raw-material and input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Labour and production expenses.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Supply-chain and logistics conditions.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and broader market conditions.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Competitive intensity.</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Brand strength and value perception.</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Technology and process innovation.</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Aftermarket and service costs.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and compliance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Currency and trade dynamics.</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3815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75297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838700"/>
            <a:ext cx="11639550" cy="209550"/>
          </a:xfrm>
          <a:prstGeom prst="rect">
            <a:avLst/>
          </a:prstGeom>
          <a:noFill/>
        </p:spPr>
        <p:txBody>
          <a:bodyPr wrap="square" lIns="0" rIns="19050" tIns="9525" bIns="9525">
            <a:spAutoFit/>
          </a:bodyPr>
          <a:lstStyle/>
          <a:p>
            <a:pPr algn="l"/>
            <a:r>
              <a:rPr sz="1300" b="1">
                <a:solidFill>
                  <a:srgbClr val="0B2E4A"/>
                </a:solidFill>
                <a:latin typeface="Calibri"/>
              </a:rPr>
              <a:t>What the Factors Imply</a:t>
            </a:r>
          </a:p>
        </p:txBody>
      </p:sp>
      <p:sp>
        <p:nvSpPr>
          <p:cNvPr id="16" name="Rectangle 15"/>
          <p:cNvSpPr/>
          <p:nvPr/>
        </p:nvSpPr>
        <p:spPr>
          <a:xfrm>
            <a:off x="276225" y="50768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162550"/>
            <a:ext cx="11639550" cy="1304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8102155" y="2764346"/>
            <a:ext cx="330041" cy="480060"/>
          </a:xfrm>
          <a:prstGeom prst="rect">
            <a:avLst/>
          </a:prstGeom>
        </p:spPr>
      </p:pic>
      <p:sp>
        <p:nvSpPr>
          <p:cNvPr id="20" name="TextBox 19"/>
          <p:cNvSpPr txBox="1"/>
          <p:nvPr/>
        </p:nvSpPr>
        <p:spPr>
          <a:xfrm>
            <a:off x="276225" y="5172075"/>
            <a:ext cx="5425566" cy="194310"/>
          </a:xfrm>
          <a:prstGeom prst="rect">
            <a:avLst/>
          </a:prstGeom>
          <a:noFill/>
        </p:spPr>
        <p:txBody>
          <a:bodyPr wrap="none" lIns="0" rIns="0" tIns="0" bIns="0">
            <a:spAutoFit/>
          </a:bodyPr>
          <a:lstStyle/>
          <a:p>
            <a:r>
              <a:rPr sz="1150" b="0">
                <a:solidFill>
                  <a:srgbClr val="2E2E2E"/>
                </a:solidFill>
                <a:latin typeface="Calibri"/>
              </a:rPr>
              <a:t>▪ Input Cost and Demand &amp; Market Conditions carry the heaviest weight on selling prices (</a:t>
            </a:r>
          </a:p>
        </p:txBody>
      </p:sp>
      <p:pic>
        <p:nvPicPr>
          <p:cNvPr id="21" name="Picture 20" descr="lock.png"/>
          <p:cNvPicPr>
            <a:picLocks noChangeAspect="1"/>
          </p:cNvPicPr>
          <p:nvPr/>
        </p:nvPicPr>
        <p:blipFill>
          <a:blip r:embed="rId4"/>
          <a:stretch>
            <a:fillRect/>
          </a:stretch>
        </p:blipFill>
        <p:spPr>
          <a:xfrm>
            <a:off x="5650945" y="5161851"/>
            <a:ext cx="134549" cy="195707"/>
          </a:xfrm>
          <a:prstGeom prst="rect">
            <a:avLst/>
          </a:prstGeom>
        </p:spPr>
      </p:pic>
      <p:sp>
        <p:nvSpPr>
          <p:cNvPr id="22" name="TextBox 21"/>
          <p:cNvSpPr txBox="1"/>
          <p:nvPr/>
        </p:nvSpPr>
        <p:spPr>
          <a:xfrm>
            <a:off x="5826054" y="5172075"/>
            <a:ext cx="299553" cy="194310"/>
          </a:xfrm>
          <a:prstGeom prst="rect">
            <a:avLst/>
          </a:prstGeom>
          <a:noFill/>
        </p:spPr>
        <p:txBody>
          <a:bodyPr wrap="none" lIns="0" rIns="0" tIns="0" bIns="0">
            <a:spAutoFit/>
          </a:bodyPr>
          <a:lstStyle/>
          <a:p>
            <a:r>
              <a:rPr sz="1150" b="0">
                <a:solidFill>
                  <a:srgbClr val="2E2E2E"/>
                </a:solidFill>
                <a:latin typeface="Calibri"/>
              </a:rPr>
              <a:t>and</a:t>
            </a:r>
          </a:p>
        </p:txBody>
      </p:sp>
      <p:pic>
        <p:nvPicPr>
          <p:cNvPr id="23" name="Picture 22" descr="lock.png"/>
          <p:cNvPicPr>
            <a:picLocks noChangeAspect="1"/>
          </p:cNvPicPr>
          <p:nvPr/>
        </p:nvPicPr>
        <p:blipFill>
          <a:blip r:embed="rId4"/>
          <a:stretch>
            <a:fillRect/>
          </a:stretch>
        </p:blipFill>
        <p:spPr>
          <a:xfrm>
            <a:off x="6074762" y="5161851"/>
            <a:ext cx="134549" cy="195707"/>
          </a:xfrm>
          <a:prstGeom prst="rect">
            <a:avLst/>
          </a:prstGeom>
        </p:spPr>
      </p:pic>
      <p:sp>
        <p:nvSpPr>
          <p:cNvPr id="24" name="TextBox 23"/>
          <p:cNvSpPr txBox="1"/>
          <p:nvPr/>
        </p:nvSpPr>
        <p:spPr>
          <a:xfrm>
            <a:off x="6249871" y="5172075"/>
            <a:ext cx="395113" cy="194310"/>
          </a:xfrm>
          <a:prstGeom prst="rect">
            <a:avLst/>
          </a:prstGeom>
          <a:noFill/>
        </p:spPr>
        <p:txBody>
          <a:bodyPr wrap="none" lIns="0" rIns="0" tIns="0" bIns="0">
            <a:spAutoFit/>
          </a:bodyPr>
          <a:lstStyle/>
          <a:p>
            <a:r>
              <a:rPr sz="1150" b="0">
                <a:solidFill>
                  <a:srgbClr val="2E2E2E"/>
                </a:solidFill>
                <a:latin typeface="Calibri"/>
              </a:rPr>
              <a:t>/ 10).</a:t>
            </a:r>
          </a:p>
        </p:txBody>
      </p:sp>
      <p:sp>
        <p:nvSpPr>
          <p:cNvPr id="25" name="TextBox 24"/>
          <p:cNvSpPr txBox="1"/>
          <p:nvPr/>
        </p:nvSpPr>
        <p:spPr>
          <a:xfrm>
            <a:off x="276225" y="5399913"/>
            <a:ext cx="8333444" cy="194310"/>
          </a:xfrm>
          <a:prstGeom prst="rect">
            <a:avLst/>
          </a:prstGeom>
          <a:noFill/>
        </p:spPr>
        <p:txBody>
          <a:bodyPr wrap="none" lIns="0" rIns="0" tIns="0" bIns="0">
            <a:spAutoFit/>
          </a:bodyPr>
          <a:lstStyle/>
          <a:p>
            <a:r>
              <a:rPr sz="1150" b="0">
                <a:solidFill>
                  <a:srgbClr val="2E2E2E"/>
                </a:solidFill>
                <a:latin typeface="Calibri"/>
              </a:rPr>
              <a:t>▪ 8 of 10 factors exert upward pressure on price; the rest pull prices down chiefly Technology &amp; Innovation and the Competitive Landscape.</a:t>
            </a:r>
          </a:p>
        </p:txBody>
      </p:sp>
      <p:sp>
        <p:nvSpPr>
          <p:cNvPr id="26" name="TextBox 25"/>
          <p:cNvSpPr txBox="1"/>
          <p:nvPr/>
        </p:nvSpPr>
        <p:spPr>
          <a:xfrm>
            <a:off x="276225" y="5627750"/>
            <a:ext cx="8053610" cy="194310"/>
          </a:xfrm>
          <a:prstGeom prst="rect">
            <a:avLst/>
          </a:prstGeom>
          <a:noFill/>
        </p:spPr>
        <p:txBody>
          <a:bodyPr wrap="none" lIns="0" rIns="0" tIns="0" bIns="0">
            <a:spAutoFit/>
          </a:bodyPr>
          <a:lstStyle/>
          <a:p>
            <a:r>
              <a:rPr sz="1150" b="0">
                <a:solidFill>
                  <a:srgbClr val="2E2E2E"/>
                </a:solidFill>
                <a:latin typeface="Calibri"/>
              </a:rPr>
              <a:t>▪ Cost-side factors set the price floor; demand, brand and competitive forces determine how much of that cost can be passed through.</a:t>
            </a:r>
          </a:p>
        </p:txBody>
      </p:sp>
      <p:sp>
        <p:nvSpPr>
          <p:cNvPr id="27" name="TextBox 26"/>
          <p:cNvSpPr txBox="1"/>
          <p:nvPr/>
        </p:nvSpPr>
        <p:spPr>
          <a:xfrm>
            <a:off x="276225" y="5855588"/>
            <a:ext cx="7048375" cy="194310"/>
          </a:xfrm>
          <a:prstGeom prst="rect">
            <a:avLst/>
          </a:prstGeom>
          <a:noFill/>
        </p:spPr>
        <p:txBody>
          <a:bodyPr wrap="none" lIns="0" rIns="0" tIns="0" bIns="0">
            <a:spAutoFit/>
          </a:bodyPr>
          <a:lstStyle/>
          <a:p>
            <a:r>
              <a:rPr sz="1150" b="0">
                <a:solidFill>
                  <a:srgbClr val="2E2E2E"/>
                </a:solidFill>
                <a:latin typeface="Calibri"/>
              </a:rPr>
              <a:t>▪ Aftermarket &amp; Service Costs exerts the least pressure a second-order effect to monitor rather than actively manage.</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Regional Price Assessment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price assessment across the value chain, from manufacturer to retail, and average price by geography, 2026–2036</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price assessment across the value chain (US$/MT) and price trajectory to 2036.</a:t>
            </a:r>
          </a:p>
        </p:txBody>
      </p:sp>
      <p:sp>
        <p:nvSpPr>
          <p:cNvPr id="11" name="Rounded Rectangle 10"/>
          <p:cNvSpPr/>
          <p:nvPr/>
        </p:nvSpPr>
        <p:spPr>
          <a:xfrm>
            <a:off x="142875" y="1317574"/>
            <a:ext cx="5905500" cy="2738055"/>
          </a:xfrm>
          <a:prstGeom prst="roundRect">
            <a:avLst>
              <a:gd name="adj" fmla="val 27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Regional Price by Value-Chain Level (US$/MT)</a:t>
            </a:r>
          </a:p>
        </p:txBody>
      </p:sp>
      <p:graphicFrame>
        <p:nvGraphicFramePr>
          <p:cNvPr id="13" name="Table 12"/>
          <p:cNvGraphicFramePr>
            <a:graphicFrameLocks noGrp="1"/>
          </p:cNvGraphicFramePr>
          <p:nvPr/>
        </p:nvGraphicFramePr>
        <p:xfrm>
          <a:off x="152400" y="1574749"/>
          <a:ext cx="5886452" cy="2271330"/>
        </p:xfrm>
        <a:graphic>
          <a:graphicData uri="http://schemas.openxmlformats.org/drawingml/2006/table">
            <a:tbl>
              <a:tblPr>
                <a:tableStyleId>{5C22544A-7EE6-4342-B048-85BDC9FD1C3A}</a:tableStyleId>
              </a:tblPr>
              <a:tblGrid>
                <a:gridCol w="1370904"/>
                <a:gridCol w="1128887"/>
                <a:gridCol w="1128887"/>
                <a:gridCol w="1128887"/>
                <a:gridCol w="1128887"/>
              </a:tblGrid>
              <a:tr h="246126">
                <a:tc>
                  <a:txBody>
                    <a:bodyPr wrap="none"/>
                    <a:lstStyle/>
                    <a:p>
                      <a:pPr algn="l"/>
                      <a:r>
                        <a:rPr sz="1100" b="1">
                          <a:solidFill>
                            <a:srgbClr val="0B2E4A"/>
                          </a:solidFill>
                          <a:latin typeface="Calibri"/>
                        </a:rPr>
                        <a:t>Geography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Manufacturer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Distribution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Retail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 Margin (%)</a:t>
                      </a:r>
                      <a:endParaRPr sz="1100"/>
                    </a:p>
                  </a:txBody>
                  <a:tcPr marL="47625" marR="38100" marT="19050" marB="19050" anchor="ctr">
                    <a:solidFill>
                      <a:srgbClr val="E0E8EF"/>
                    </a:solidFill>
                  </a:tcPr>
                </a:tc>
              </a:tr>
              <a:tr h="337534">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855604"/>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6200775" y="1317574"/>
            <a:ext cx="5848350" cy="2738055"/>
          </a:xfrm>
          <a:prstGeom prst="roundRect">
            <a:avLst>
              <a:gd name="adj" fmla="val 27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6025" y="1374724"/>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by Geography (US$/MT)</a:t>
            </a:r>
          </a:p>
        </p:txBody>
      </p:sp>
      <p:graphicFrame>
        <p:nvGraphicFramePr>
          <p:cNvPr id="17" name="Table 16"/>
          <p:cNvGraphicFramePr>
            <a:graphicFrameLocks noGrp="1"/>
          </p:cNvGraphicFramePr>
          <p:nvPr/>
        </p:nvGraphicFramePr>
        <p:xfrm>
          <a:off x="6210300" y="1574749"/>
          <a:ext cx="5829299" cy="2271330"/>
        </p:xfrm>
        <a:graphic>
          <a:graphicData uri="http://schemas.openxmlformats.org/drawingml/2006/table">
            <a:tbl>
              <a:tblPr>
                <a:tableStyleId>{5C22544A-7EE6-4342-B048-85BDC9FD1C3A}</a:tableStyleId>
              </a:tblPr>
              <a:tblGrid>
                <a:gridCol w="2038759"/>
                <a:gridCol w="947635"/>
                <a:gridCol w="947635"/>
                <a:gridCol w="947635"/>
                <a:gridCol w="947635"/>
              </a:tblGrid>
              <a:tr h="246126">
                <a:tc>
                  <a:txBody>
                    <a:bodyPr wrap="none"/>
                    <a:lstStyle/>
                    <a:p>
                      <a:pPr algn="l"/>
                      <a:r>
                        <a:rPr sz="1100" b="1">
                          <a:solidFill>
                            <a:srgbClr val="0B2E4A"/>
                          </a:solidFill>
                          <a:latin typeface="Calibri"/>
                        </a:rPr>
                        <a:t>Geography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337534">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8" name="TextBox 17"/>
          <p:cNvSpPr txBox="1"/>
          <p:nvPr/>
        </p:nvSpPr>
        <p:spPr>
          <a:xfrm>
            <a:off x="6276975" y="3855604"/>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142875" y="4201658"/>
            <a:ext cx="119062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287383"/>
            <a:ext cx="11639550" cy="209550"/>
          </a:xfrm>
          <a:prstGeom prst="rect">
            <a:avLst/>
          </a:prstGeom>
          <a:noFill/>
        </p:spPr>
        <p:txBody>
          <a:bodyPr wrap="square" lIns="0" rIns="19050" tIns="9525" bIns="9525">
            <a:spAutoFit/>
          </a:bodyPr>
          <a:lstStyle/>
          <a:p>
            <a:pPr algn="l"/>
            <a:r>
              <a:rPr sz="1300" b="1">
                <a:solidFill>
                  <a:srgbClr val="0B2E4A"/>
                </a:solidFill>
                <a:latin typeface="Calibri"/>
              </a:rPr>
              <a:t>What This Section Covers</a:t>
            </a:r>
          </a:p>
        </p:txBody>
      </p:sp>
      <p:sp>
        <p:nvSpPr>
          <p:cNvPr id="21" name="Rectangle 20"/>
          <p:cNvSpPr/>
          <p:nvPr/>
        </p:nvSpPr>
        <p:spPr>
          <a:xfrm>
            <a:off x="276225" y="4525508"/>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611233"/>
            <a:ext cx="116395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Manufacturer-level pricing ex-works / producer price benchmarked for each geography.</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Distribution &amp; channel pricing logistics and channel margin layered onto the producer price.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Retail / end-market pricing the average price paid by the end customer across geographies.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Value-chain margin build-up cumulative margin from manufacturer to retail, by geography (prices derived as Value ÷ Volume).</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3594387" y="2566777"/>
            <a:ext cx="366712" cy="533399"/>
          </a:xfrm>
          <a:prstGeom prst="rect">
            <a:avLst/>
          </a:prstGeom>
        </p:spPr>
      </p:pic>
      <p:pic>
        <p:nvPicPr>
          <p:cNvPr id="25" name="Picture 24" descr="lock.png"/>
          <p:cNvPicPr>
            <a:picLocks noChangeAspect="1"/>
          </p:cNvPicPr>
          <p:nvPr/>
        </p:nvPicPr>
        <p:blipFill>
          <a:blip r:embed="rId4"/>
          <a:stretch>
            <a:fillRect/>
          </a:stretch>
        </p:blipFill>
        <p:spPr>
          <a:xfrm>
            <a:off x="9957639" y="2566777"/>
            <a:ext cx="366712" cy="533400"/>
          </a:xfrm>
          <a:prstGeom prst="rect">
            <a:avLst/>
          </a:prstGeom>
        </p:spPr>
      </p:pic>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Global Pricing Benchmarking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price range by region and sub-segment against the weighted average price of each region</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Development-stage price assumptions and manufacturer benchmarking price range by form type type and region (US$/MT).</a:t>
            </a:r>
          </a:p>
        </p:txBody>
      </p:sp>
      <p:sp>
        <p:nvSpPr>
          <p:cNvPr id="11" name="Rounded Rectangle 10"/>
          <p:cNvSpPr/>
          <p:nvPr/>
        </p:nvSpPr>
        <p:spPr>
          <a:xfrm>
            <a:off x="142875" y="1314450"/>
            <a:ext cx="11906250" cy="2876550"/>
          </a:xfrm>
          <a:prstGeom prst="roundRect">
            <a:avLst>
              <a:gd name="adj" fmla="val 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16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Benchmarking by Region &amp; Form Type (US$/MT)</a:t>
            </a:r>
          </a:p>
        </p:txBody>
      </p:sp>
      <p:graphicFrame>
        <p:nvGraphicFramePr>
          <p:cNvPr id="13" name="Table 12"/>
          <p:cNvGraphicFramePr>
            <a:graphicFrameLocks noGrp="1"/>
          </p:cNvGraphicFramePr>
          <p:nvPr/>
        </p:nvGraphicFramePr>
        <p:xfrm>
          <a:off x="152400" y="1571625"/>
          <a:ext cx="11887202" cy="2409822"/>
        </p:xfrm>
        <a:graphic>
          <a:graphicData uri="http://schemas.openxmlformats.org/drawingml/2006/table">
            <a:tbl>
              <a:tblPr>
                <a:tableStyleId>{5C22544A-7EE6-4342-B048-85BDC9FD1C3A}</a:tableStyleId>
              </a:tblPr>
              <a:tblGrid>
                <a:gridCol w="1371123"/>
                <a:gridCol w="1502297"/>
                <a:gridCol w="1502297"/>
                <a:gridCol w="1502297"/>
                <a:gridCol w="1502297"/>
                <a:gridCol w="1502297"/>
                <a:gridCol w="1502297"/>
                <a:gridCol w="1502297"/>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Chewables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Tablets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Capsules and Softgels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Powders and Granules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Liquids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Gels and Pastes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Weighted Avg</a:t>
                      </a:r>
                      <a:endParaRPr sz="1100"/>
                    </a:p>
                  </a:txBody>
                  <a:tcPr marL="47625" marR="38100" marT="19050" marB="19050" anchor="ctr">
                    <a:solidFill>
                      <a:srgbClr val="E0E8EF"/>
                    </a:solidFill>
                  </a:tcPr>
                </a:tc>
              </a:tr>
              <a:tr h="360616">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60616">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60616">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60616">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60616">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60616">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9909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333875"/>
            <a:ext cx="11906250" cy="2209800"/>
          </a:xfrm>
          <a:prstGeom prst="roundRect">
            <a:avLst>
              <a:gd name="adj" fmla="val 344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419600"/>
            <a:ext cx="11639550" cy="209550"/>
          </a:xfrm>
          <a:prstGeom prst="rect">
            <a:avLst/>
          </a:prstGeom>
          <a:noFill/>
        </p:spPr>
        <p:txBody>
          <a:bodyPr wrap="square" lIns="0" rIns="19050" tIns="9525" bIns="9525">
            <a:spAutoFit/>
          </a:bodyPr>
          <a:lstStyle/>
          <a:p>
            <a:pPr algn="l"/>
            <a:r>
              <a:rPr sz="1300" b="1">
                <a:solidFill>
                  <a:srgbClr val="0B2E4A"/>
                </a:solidFill>
                <a:latin typeface="Calibri"/>
              </a:rPr>
              <a:t>Benchmarking Insights</a:t>
            </a:r>
          </a:p>
        </p:txBody>
      </p:sp>
      <p:sp>
        <p:nvSpPr>
          <p:cNvPr id="17" name="Rectangle 16"/>
          <p:cNvSpPr/>
          <p:nvPr/>
        </p:nvSpPr>
        <p:spPr>
          <a:xfrm>
            <a:off x="276225" y="46577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743450"/>
            <a:ext cx="11639550" cy="17240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594872" y="2632899"/>
            <a:ext cx="366712" cy="533400"/>
          </a:xfrm>
          <a:prstGeom prst="rect">
            <a:avLst/>
          </a:prstGeom>
        </p:spPr>
      </p:pic>
      <p:sp>
        <p:nvSpPr>
          <p:cNvPr id="21" name="TextBox 20"/>
          <p:cNvSpPr txBox="1"/>
          <p:nvPr/>
        </p:nvSpPr>
        <p:spPr>
          <a:xfrm>
            <a:off x="276225" y="4752975"/>
            <a:ext cx="4641688" cy="194310"/>
          </a:xfrm>
          <a:prstGeom prst="rect">
            <a:avLst/>
          </a:prstGeom>
          <a:noFill/>
        </p:spPr>
        <p:txBody>
          <a:bodyPr wrap="none" lIns="0" rIns="0" tIns="0" bIns="0">
            <a:spAutoFit/>
          </a:bodyPr>
          <a:lstStyle/>
          <a:p>
            <a:r>
              <a:rPr sz="1150" b="0">
                <a:solidFill>
                  <a:srgbClr val="2E2E2E"/>
                </a:solidFill>
                <a:latin typeface="Calibri"/>
              </a:rPr>
              <a:t>▪ On a weighted-average basis 'North America' is the highest-priced region (~</a:t>
            </a:r>
          </a:p>
        </p:txBody>
      </p:sp>
      <p:pic>
        <p:nvPicPr>
          <p:cNvPr id="22" name="Picture 21" descr="lock.png"/>
          <p:cNvPicPr>
            <a:picLocks noChangeAspect="1"/>
          </p:cNvPicPr>
          <p:nvPr/>
        </p:nvPicPr>
        <p:blipFill>
          <a:blip r:embed="rId4"/>
          <a:stretch>
            <a:fillRect/>
          </a:stretch>
        </p:blipFill>
        <p:spPr>
          <a:xfrm>
            <a:off x="4867067" y="4742751"/>
            <a:ext cx="134549" cy="195707"/>
          </a:xfrm>
          <a:prstGeom prst="rect">
            <a:avLst/>
          </a:prstGeom>
        </p:spPr>
      </p:pic>
      <p:sp>
        <p:nvSpPr>
          <p:cNvPr id="23" name="TextBox 22"/>
          <p:cNvSpPr txBox="1"/>
          <p:nvPr/>
        </p:nvSpPr>
        <p:spPr>
          <a:xfrm>
            <a:off x="5042176" y="4752975"/>
            <a:ext cx="3590528" cy="194310"/>
          </a:xfrm>
          <a:prstGeom prst="rect">
            <a:avLst/>
          </a:prstGeom>
          <a:noFill/>
        </p:spPr>
        <p:txBody>
          <a:bodyPr wrap="none" lIns="0" rIns="0" tIns="0" bIns="0">
            <a:spAutoFit/>
          </a:bodyPr>
          <a:lstStyle/>
          <a:p>
            <a:r>
              <a:rPr sz="1150" b="0">
                <a:solidFill>
                  <a:srgbClr val="2E2E2E"/>
                </a:solidFill>
                <a:latin typeface="Calibri"/>
              </a:rPr>
              <a:t>US$/MT) and 'South Asia &amp; Pacific' the most competitive (~</a:t>
            </a:r>
          </a:p>
        </p:txBody>
      </p:sp>
      <p:pic>
        <p:nvPicPr>
          <p:cNvPr id="24" name="Picture 23" descr="lock.png"/>
          <p:cNvPicPr>
            <a:picLocks noChangeAspect="1"/>
          </p:cNvPicPr>
          <p:nvPr/>
        </p:nvPicPr>
        <p:blipFill>
          <a:blip r:embed="rId4"/>
          <a:stretch>
            <a:fillRect/>
          </a:stretch>
        </p:blipFill>
        <p:spPr>
          <a:xfrm>
            <a:off x="8581859" y="4742751"/>
            <a:ext cx="134549" cy="195707"/>
          </a:xfrm>
          <a:prstGeom prst="rect">
            <a:avLst/>
          </a:prstGeom>
        </p:spPr>
      </p:pic>
      <p:sp>
        <p:nvSpPr>
          <p:cNvPr id="25" name="TextBox 24"/>
          <p:cNvSpPr txBox="1"/>
          <p:nvPr/>
        </p:nvSpPr>
        <p:spPr>
          <a:xfrm>
            <a:off x="8756968" y="4752975"/>
            <a:ext cx="644996" cy="194310"/>
          </a:xfrm>
          <a:prstGeom prst="rect">
            <a:avLst/>
          </a:prstGeom>
          <a:noFill/>
        </p:spPr>
        <p:txBody>
          <a:bodyPr wrap="none" lIns="0" rIns="0" tIns="0" bIns="0">
            <a:spAutoFit/>
          </a:bodyPr>
          <a:lstStyle/>
          <a:p>
            <a:r>
              <a:rPr sz="1150" b="0">
                <a:solidFill>
                  <a:srgbClr val="2E2E2E"/>
                </a:solidFill>
                <a:latin typeface="Calibri"/>
              </a:rPr>
              <a:t>US$/MT).</a:t>
            </a:r>
          </a:p>
        </p:txBody>
      </p:sp>
      <p:sp>
        <p:nvSpPr>
          <p:cNvPr id="26" name="TextBox 25"/>
          <p:cNvSpPr txBox="1"/>
          <p:nvPr/>
        </p:nvSpPr>
        <p:spPr>
          <a:xfrm>
            <a:off x="276225" y="4980813"/>
            <a:ext cx="5749614" cy="194310"/>
          </a:xfrm>
          <a:prstGeom prst="rect">
            <a:avLst/>
          </a:prstGeom>
          <a:noFill/>
        </p:spPr>
        <p:txBody>
          <a:bodyPr wrap="none" lIns="0" rIns="0" tIns="0" bIns="0">
            <a:spAutoFit/>
          </a:bodyPr>
          <a:lstStyle/>
          <a:p>
            <a:r>
              <a:rPr sz="1150" b="0">
                <a:solidFill>
                  <a:srgbClr val="2E2E2E"/>
                </a:solidFill>
                <a:latin typeface="Calibri"/>
              </a:rPr>
              <a:t>▪ Price ranges are benchmarked per form type type at 2026, derived as Value ÷ Volume with a ±</a:t>
            </a:r>
          </a:p>
        </p:txBody>
      </p:sp>
      <p:pic>
        <p:nvPicPr>
          <p:cNvPr id="27" name="Picture 26" descr="lock.png"/>
          <p:cNvPicPr>
            <a:picLocks noChangeAspect="1"/>
          </p:cNvPicPr>
          <p:nvPr/>
        </p:nvPicPr>
        <p:blipFill>
          <a:blip r:embed="rId4"/>
          <a:stretch>
            <a:fillRect/>
          </a:stretch>
        </p:blipFill>
        <p:spPr>
          <a:xfrm>
            <a:off x="5974993" y="4970589"/>
            <a:ext cx="134549" cy="195707"/>
          </a:xfrm>
          <a:prstGeom prst="rect">
            <a:avLst/>
          </a:prstGeom>
        </p:spPr>
      </p:pic>
      <p:sp>
        <p:nvSpPr>
          <p:cNvPr id="28" name="TextBox 27"/>
          <p:cNvSpPr txBox="1"/>
          <p:nvPr/>
        </p:nvSpPr>
        <p:spPr>
          <a:xfrm>
            <a:off x="6150103" y="4980813"/>
            <a:ext cx="1455117" cy="194310"/>
          </a:xfrm>
          <a:prstGeom prst="rect">
            <a:avLst/>
          </a:prstGeom>
          <a:noFill/>
        </p:spPr>
        <p:txBody>
          <a:bodyPr wrap="none" lIns="0" rIns="0" tIns="0" bIns="0">
            <a:spAutoFit/>
          </a:bodyPr>
          <a:lstStyle/>
          <a:p>
            <a:r>
              <a:rPr sz="1150" b="0">
                <a:solidFill>
                  <a:srgbClr val="2E2E2E"/>
                </a:solidFill>
                <a:latin typeface="Calibri"/>
              </a:rPr>
              <a:t>observed trading band.</a:t>
            </a:r>
          </a:p>
        </p:txBody>
      </p:sp>
      <p:sp>
        <p:nvSpPr>
          <p:cNvPr id="29" name="TextBox 28"/>
          <p:cNvSpPr txBox="1"/>
          <p:nvPr/>
        </p:nvSpPr>
        <p:spPr>
          <a:xfrm>
            <a:off x="276225" y="5208650"/>
            <a:ext cx="2140867" cy="194310"/>
          </a:xfrm>
          <a:prstGeom prst="rect">
            <a:avLst/>
          </a:prstGeom>
          <a:noFill/>
        </p:spPr>
        <p:txBody>
          <a:bodyPr wrap="none" lIns="0" rIns="0" tIns="0" bIns="0">
            <a:spAutoFit/>
          </a:bodyPr>
          <a:lstStyle/>
          <a:p>
            <a:r>
              <a:rPr sz="1150" b="0">
                <a:solidFill>
                  <a:srgbClr val="2E2E2E"/>
                </a:solidFill>
                <a:latin typeface="Calibri"/>
              </a:rPr>
              <a:t>▪ Cross-region price dispersion of ~</a:t>
            </a:r>
          </a:p>
        </p:txBody>
      </p:sp>
      <p:pic>
        <p:nvPicPr>
          <p:cNvPr id="30" name="Picture 29" descr="lock.png"/>
          <p:cNvPicPr>
            <a:picLocks noChangeAspect="1"/>
          </p:cNvPicPr>
          <p:nvPr/>
        </p:nvPicPr>
        <p:blipFill>
          <a:blip r:embed="rId4"/>
          <a:stretch>
            <a:fillRect/>
          </a:stretch>
        </p:blipFill>
        <p:spPr>
          <a:xfrm>
            <a:off x="2366246" y="5198427"/>
            <a:ext cx="134549" cy="195707"/>
          </a:xfrm>
          <a:prstGeom prst="rect">
            <a:avLst/>
          </a:prstGeom>
        </p:spPr>
      </p:pic>
      <p:sp>
        <p:nvSpPr>
          <p:cNvPr id="31" name="TextBox 30"/>
          <p:cNvSpPr txBox="1"/>
          <p:nvPr/>
        </p:nvSpPr>
        <p:spPr>
          <a:xfrm>
            <a:off x="2541355" y="5208650"/>
            <a:ext cx="3627040" cy="194310"/>
          </a:xfrm>
          <a:prstGeom prst="rect">
            <a:avLst/>
          </a:prstGeom>
          <a:noFill/>
        </p:spPr>
        <p:txBody>
          <a:bodyPr wrap="none" lIns="0" rIns="0" tIns="0" bIns="0">
            <a:spAutoFit/>
          </a:bodyPr>
          <a:lstStyle/>
          <a:p>
            <a:r>
              <a:rPr sz="1150" b="0">
                <a:solidFill>
                  <a:srgbClr val="2E2E2E"/>
                </a:solidFill>
                <a:latin typeface="Calibri"/>
              </a:rPr>
              <a:t>× reflects differences in mix, logistics and channel structure.</a:t>
            </a:r>
          </a:p>
        </p:txBody>
      </p:sp>
      <p:sp>
        <p:nvSpPr>
          <p:cNvPr id="32" name="TextBox 31"/>
          <p:cNvSpPr txBox="1"/>
          <p:nvPr/>
        </p:nvSpPr>
        <p:spPr>
          <a:xfrm>
            <a:off x="276225" y="5436488"/>
            <a:ext cx="5691708" cy="194310"/>
          </a:xfrm>
          <a:prstGeom prst="rect">
            <a:avLst/>
          </a:prstGeom>
          <a:noFill/>
        </p:spPr>
        <p:txBody>
          <a:bodyPr wrap="none" lIns="0" rIns="0" tIns="0" bIns="0">
            <a:spAutoFit/>
          </a:bodyPr>
          <a:lstStyle/>
          <a:p>
            <a:r>
              <a:rPr sz="1150" b="0">
                <a:solidFill>
                  <a:srgbClr val="2E2E2E"/>
                </a:solidFill>
                <a:latin typeface="Calibri"/>
              </a:rPr>
              <a:t>▪ Benchmarks support price-corridor setting and margin-defence decisions across geographies.</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Price Forecast &amp; Dynamics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forecast by sub-segment, 2026–2036, with the factors and dynamics shaping the trajectory</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Forward price trajectory to 2036 by form type type and the structural factors shaping it (US$/MT).</a:t>
            </a:r>
          </a:p>
        </p:txBody>
      </p:sp>
      <p:sp>
        <p:nvSpPr>
          <p:cNvPr id="11" name="Rounded Rectangle 10"/>
          <p:cNvSpPr/>
          <p:nvPr/>
        </p:nvSpPr>
        <p:spPr>
          <a:xfrm>
            <a:off x="142875" y="1317574"/>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Forecast to 2036 by Form Type (US$/MT)</a:t>
            </a:r>
          </a:p>
        </p:txBody>
      </p:sp>
      <p:graphicFrame>
        <p:nvGraphicFramePr>
          <p:cNvPr id="13" name="Table 12"/>
          <p:cNvGraphicFramePr>
            <a:graphicFrameLocks noGrp="1"/>
          </p:cNvGraphicFramePr>
          <p:nvPr/>
        </p:nvGraphicFramePr>
        <p:xfrm>
          <a:off x="152400" y="1574749"/>
          <a:ext cx="11887200" cy="1504674"/>
        </p:xfrm>
        <a:graphic>
          <a:graphicData uri="http://schemas.openxmlformats.org/drawingml/2006/table">
            <a:tbl>
              <a:tblPr>
                <a:tableStyleId>{5C22544A-7EE6-4342-B048-85BDC9FD1C3A}</a:tableStyleId>
              </a:tblPr>
              <a:tblGrid>
                <a:gridCol w="2010816"/>
                <a:gridCol w="1646064"/>
                <a:gridCol w="1646064"/>
                <a:gridCol w="1646064"/>
                <a:gridCol w="1646064"/>
                <a:gridCol w="1646064"/>
                <a:gridCol w="1646064"/>
              </a:tblGrid>
              <a:tr h="246126">
                <a:tc>
                  <a:txBody>
                    <a:bodyPr wrap="none"/>
                    <a:lstStyle/>
                    <a:p>
                      <a:pPr algn="l"/>
                      <a:r>
                        <a:rPr sz="1100" b="1">
                          <a:solidFill>
                            <a:srgbClr val="0B2E4A"/>
                          </a:solidFill>
                          <a:latin typeface="Calibri"/>
                        </a:rPr>
                        <a:t>Form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1258548">
                <a:tc>
                  <a:txBody>
                    <a:bodyPr wrap="none"/>
                    <a:lstStyle/>
                    <a:p>
                      <a:pPr algn="l"/>
                      <a:r>
                        <a:rPr sz="1100" b="1">
                          <a:solidFill>
                            <a:srgbClr val="2E2E2E"/>
                          </a:solidFill>
                          <a:latin typeface="Calibri"/>
                        </a:rPr>
                        <a:t>Chewables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4" name="TextBox 13"/>
          <p:cNvSpPr txBox="1"/>
          <p:nvPr/>
        </p:nvSpPr>
        <p:spPr>
          <a:xfrm>
            <a:off x="219075" y="3088948"/>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98495"/>
            <a:ext cx="590550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Factors Impacting Pricing</a:t>
            </a:r>
          </a:p>
        </p:txBody>
      </p:sp>
      <p:graphicFrame>
        <p:nvGraphicFramePr>
          <p:cNvPr id="17" name="Table 16"/>
          <p:cNvGraphicFramePr>
            <a:graphicFrameLocks noGrp="1"/>
          </p:cNvGraphicFramePr>
          <p:nvPr/>
        </p:nvGraphicFramePr>
        <p:xfrm>
          <a:off x="152400" y="3655670"/>
          <a:ext cx="5886449" cy="2714626"/>
        </p:xfrm>
        <a:graphic>
          <a:graphicData uri="http://schemas.openxmlformats.org/drawingml/2006/table">
            <a:tbl>
              <a:tblPr>
                <a:tableStyleId>{5C22544A-7EE6-4342-B048-85BDC9FD1C3A}</a:tableStyleId>
              </a:tblPr>
              <a:tblGrid>
                <a:gridCol w="2867491"/>
                <a:gridCol w="1509479"/>
                <a:gridCol w="1509479"/>
              </a:tblGrid>
              <a:tr h="246126">
                <a:tc>
                  <a:txBody>
                    <a:bodyPr wrap="none"/>
                    <a:lstStyle/>
                    <a:p>
                      <a:pPr algn="l"/>
                      <a:r>
                        <a:rPr sz="1100" b="1">
                          <a:solidFill>
                            <a:srgbClr val="0B2E4A"/>
                          </a:solidFill>
                          <a:latin typeface="Calibri"/>
                        </a:rPr>
                        <a:t>Pricing Factor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Direction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Impact (H/M/L)</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5F8FA"/>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r>
            </a:tbl>
          </a:graphicData>
        </a:graphic>
      </p:graphicFrame>
      <p:sp>
        <p:nvSpPr>
          <p:cNvPr id="18" name="TextBox 17"/>
          <p:cNvSpPr txBox="1"/>
          <p:nvPr/>
        </p:nvSpPr>
        <p:spPr>
          <a:xfrm>
            <a:off x="219075" y="6379820"/>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6200775" y="3398495"/>
            <a:ext cx="5848350" cy="3157890"/>
          </a:xfrm>
          <a:prstGeom prst="roundRect">
            <a:avLst>
              <a:gd name="adj" fmla="val 241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4125" y="3484220"/>
            <a:ext cx="5581650" cy="209550"/>
          </a:xfrm>
          <a:prstGeom prst="rect">
            <a:avLst/>
          </a:prstGeom>
          <a:noFill/>
        </p:spPr>
        <p:txBody>
          <a:bodyPr wrap="square" lIns="0" rIns="19050" tIns="9525" bIns="9525">
            <a:spAutoFit/>
          </a:bodyPr>
          <a:lstStyle/>
          <a:p>
            <a:pPr algn="l"/>
            <a:r>
              <a:rPr sz="1300" b="1">
                <a:solidFill>
                  <a:srgbClr val="0B2E4A"/>
                </a:solidFill>
                <a:latin typeface="Calibri"/>
              </a:rPr>
              <a:t>Pricing Dynamics &amp; Outlook</a:t>
            </a:r>
          </a:p>
        </p:txBody>
      </p:sp>
      <p:sp>
        <p:nvSpPr>
          <p:cNvPr id="21" name="Rectangle 20"/>
          <p:cNvSpPr/>
          <p:nvPr/>
        </p:nvSpPr>
        <p:spPr>
          <a:xfrm>
            <a:off x="6334125" y="3722345"/>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4125" y="3808070"/>
            <a:ext cx="5581650" cy="267211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6914717" y="2183449"/>
            <a:ext cx="366712" cy="533400"/>
          </a:xfrm>
          <a:prstGeom prst="rect">
            <a:avLst/>
          </a:prstGeom>
        </p:spPr>
      </p:pic>
      <p:sp>
        <p:nvSpPr>
          <p:cNvPr id="25" name="TextBox 24"/>
          <p:cNvSpPr txBox="1"/>
          <p:nvPr/>
        </p:nvSpPr>
        <p:spPr>
          <a:xfrm>
            <a:off x="6334125" y="3817595"/>
            <a:ext cx="3160610" cy="194310"/>
          </a:xfrm>
          <a:prstGeom prst="rect">
            <a:avLst/>
          </a:prstGeom>
          <a:noFill/>
        </p:spPr>
        <p:txBody>
          <a:bodyPr wrap="none" lIns="0" rIns="0" tIns="0" bIns="0">
            <a:spAutoFit/>
          </a:bodyPr>
          <a:lstStyle/>
          <a:p>
            <a:r>
              <a:rPr sz="1150" b="0">
                <a:solidFill>
                  <a:srgbClr val="2E2E2E"/>
                </a:solidFill>
                <a:latin typeface="Calibri"/>
              </a:rPr>
              <a:t>▪ Average form type price is projected to rise from ~</a:t>
            </a:r>
          </a:p>
        </p:txBody>
      </p:sp>
      <p:pic>
        <p:nvPicPr>
          <p:cNvPr id="26" name="Picture 25" descr="lock.png"/>
          <p:cNvPicPr>
            <a:picLocks noChangeAspect="1"/>
          </p:cNvPicPr>
          <p:nvPr/>
        </p:nvPicPr>
        <p:blipFill>
          <a:blip r:embed="rId4"/>
          <a:stretch>
            <a:fillRect/>
          </a:stretch>
        </p:blipFill>
        <p:spPr>
          <a:xfrm>
            <a:off x="9443889" y="3807371"/>
            <a:ext cx="134549" cy="195707"/>
          </a:xfrm>
          <a:prstGeom prst="rect">
            <a:avLst/>
          </a:prstGeom>
        </p:spPr>
      </p:pic>
      <p:sp>
        <p:nvSpPr>
          <p:cNvPr id="27" name="TextBox 26"/>
          <p:cNvSpPr txBox="1"/>
          <p:nvPr/>
        </p:nvSpPr>
        <p:spPr>
          <a:xfrm>
            <a:off x="9618998" y="3817595"/>
            <a:ext cx="308111" cy="194310"/>
          </a:xfrm>
          <a:prstGeom prst="rect">
            <a:avLst/>
          </a:prstGeom>
          <a:noFill/>
        </p:spPr>
        <p:txBody>
          <a:bodyPr wrap="none" lIns="0" rIns="0" tIns="0" bIns="0">
            <a:spAutoFit/>
          </a:bodyPr>
          <a:lstStyle/>
          <a:p>
            <a:r>
              <a:rPr sz="1150" b="0">
                <a:solidFill>
                  <a:srgbClr val="2E2E2E"/>
                </a:solidFill>
                <a:latin typeface="Calibri"/>
              </a:rPr>
              <a:t>to ~</a:t>
            </a:r>
          </a:p>
        </p:txBody>
      </p:sp>
      <p:pic>
        <p:nvPicPr>
          <p:cNvPr id="28" name="Picture 27" descr="lock.png"/>
          <p:cNvPicPr>
            <a:picLocks noChangeAspect="1"/>
          </p:cNvPicPr>
          <p:nvPr/>
        </p:nvPicPr>
        <p:blipFill>
          <a:blip r:embed="rId4"/>
          <a:stretch>
            <a:fillRect/>
          </a:stretch>
        </p:blipFill>
        <p:spPr>
          <a:xfrm>
            <a:off x="9876263" y="3807371"/>
            <a:ext cx="134549" cy="195707"/>
          </a:xfrm>
          <a:prstGeom prst="rect">
            <a:avLst/>
          </a:prstGeom>
        </p:spPr>
      </p:pic>
      <p:sp>
        <p:nvSpPr>
          <p:cNvPr id="29" name="TextBox 28"/>
          <p:cNvSpPr txBox="1"/>
          <p:nvPr/>
        </p:nvSpPr>
        <p:spPr>
          <a:xfrm>
            <a:off x="10051373" y="3817595"/>
            <a:ext cx="1278545" cy="194310"/>
          </a:xfrm>
          <a:prstGeom prst="rect">
            <a:avLst/>
          </a:prstGeom>
          <a:noFill/>
        </p:spPr>
        <p:txBody>
          <a:bodyPr wrap="none" lIns="0" rIns="0" tIns="0" bIns="0">
            <a:spAutoFit/>
          </a:bodyPr>
          <a:lstStyle/>
          <a:p>
            <a:r>
              <a:rPr sz="1150" b="0">
                <a:solidFill>
                  <a:srgbClr val="2E2E2E"/>
                </a:solidFill>
                <a:latin typeface="Calibri"/>
              </a:rPr>
              <a:t>US$/MT by 2036 a +</a:t>
            </a:r>
          </a:p>
        </p:txBody>
      </p:sp>
      <p:pic>
        <p:nvPicPr>
          <p:cNvPr id="30" name="Picture 29" descr="lock.png"/>
          <p:cNvPicPr>
            <a:picLocks noChangeAspect="1"/>
          </p:cNvPicPr>
          <p:nvPr/>
        </p:nvPicPr>
        <p:blipFill>
          <a:blip r:embed="rId4"/>
          <a:stretch>
            <a:fillRect/>
          </a:stretch>
        </p:blipFill>
        <p:spPr>
          <a:xfrm>
            <a:off x="11279072" y="3807371"/>
            <a:ext cx="134549" cy="195707"/>
          </a:xfrm>
          <a:prstGeom prst="rect">
            <a:avLst/>
          </a:prstGeom>
        </p:spPr>
      </p:pic>
      <p:sp>
        <p:nvSpPr>
          <p:cNvPr id="31" name="TextBox 30"/>
          <p:cNvSpPr txBox="1"/>
          <p:nvPr/>
        </p:nvSpPr>
        <p:spPr>
          <a:xfrm>
            <a:off x="6334125" y="399285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32" name="TextBox 31"/>
          <p:cNvSpPr txBox="1"/>
          <p:nvPr/>
        </p:nvSpPr>
        <p:spPr>
          <a:xfrm>
            <a:off x="6334125" y="4220692"/>
            <a:ext cx="4512754" cy="194310"/>
          </a:xfrm>
          <a:prstGeom prst="rect">
            <a:avLst/>
          </a:prstGeom>
          <a:noFill/>
        </p:spPr>
        <p:txBody>
          <a:bodyPr wrap="none" lIns="0" rIns="0" tIns="0" bIns="0">
            <a:spAutoFit/>
          </a:bodyPr>
          <a:lstStyle/>
          <a:p>
            <a:r>
              <a:rPr sz="1150" b="0">
                <a:solidFill>
                  <a:srgbClr val="2E2E2E"/>
                </a:solidFill>
                <a:latin typeface="Calibri"/>
              </a:rPr>
              <a:t>▪ 'Capsules and Softgels' shows the strongest forecast price appreciation (+</a:t>
            </a:r>
          </a:p>
        </p:txBody>
      </p:sp>
      <p:pic>
        <p:nvPicPr>
          <p:cNvPr id="33" name="Picture 32" descr="lock.png"/>
          <p:cNvPicPr>
            <a:picLocks noChangeAspect="1"/>
          </p:cNvPicPr>
          <p:nvPr/>
        </p:nvPicPr>
        <p:blipFill>
          <a:blip r:embed="rId4"/>
          <a:stretch>
            <a:fillRect/>
          </a:stretch>
        </p:blipFill>
        <p:spPr>
          <a:xfrm>
            <a:off x="10796032" y="4210469"/>
            <a:ext cx="134549" cy="195707"/>
          </a:xfrm>
          <a:prstGeom prst="rect">
            <a:avLst/>
          </a:prstGeom>
        </p:spPr>
      </p:pic>
      <p:sp>
        <p:nvSpPr>
          <p:cNvPr id="34" name="TextBox 33"/>
          <p:cNvSpPr txBox="1"/>
          <p:nvPr/>
        </p:nvSpPr>
        <p:spPr>
          <a:xfrm>
            <a:off x="10971142" y="4220692"/>
            <a:ext cx="651842" cy="194310"/>
          </a:xfrm>
          <a:prstGeom prst="rect">
            <a:avLst/>
          </a:prstGeom>
          <a:noFill/>
        </p:spPr>
        <p:txBody>
          <a:bodyPr wrap="none" lIns="0" rIns="0" tIns="0" bIns="0">
            <a:spAutoFit/>
          </a:bodyPr>
          <a:lstStyle/>
          <a:p>
            <a:r>
              <a:rPr sz="1150" b="0">
                <a:solidFill>
                  <a:srgbClr val="2E2E2E"/>
                </a:solidFill>
                <a:latin typeface="Calibri"/>
              </a:rPr>
              <a:t>) over the</a:t>
            </a:r>
          </a:p>
        </p:txBody>
      </p:sp>
      <p:sp>
        <p:nvSpPr>
          <p:cNvPr id="35" name="TextBox 34"/>
          <p:cNvSpPr txBox="1"/>
          <p:nvPr/>
        </p:nvSpPr>
        <p:spPr>
          <a:xfrm>
            <a:off x="6334125" y="4395952"/>
            <a:ext cx="562843" cy="194310"/>
          </a:xfrm>
          <a:prstGeom prst="rect">
            <a:avLst/>
          </a:prstGeom>
          <a:noFill/>
        </p:spPr>
        <p:txBody>
          <a:bodyPr wrap="none" lIns="0" rIns="0" tIns="0" bIns="0">
            <a:spAutoFit/>
          </a:bodyPr>
          <a:lstStyle/>
          <a:p>
            <a:r>
              <a:rPr sz="1150" b="0">
                <a:solidFill>
                  <a:srgbClr val="2E2E2E"/>
                </a:solidFill>
                <a:latin typeface="Calibri"/>
              </a:rPr>
              <a:t>horizon.</a:t>
            </a:r>
          </a:p>
        </p:txBody>
      </p:sp>
      <p:sp>
        <p:nvSpPr>
          <p:cNvPr id="36" name="TextBox 35"/>
          <p:cNvSpPr txBox="1"/>
          <p:nvPr/>
        </p:nvSpPr>
        <p:spPr>
          <a:xfrm>
            <a:off x="6334125" y="4623790"/>
            <a:ext cx="5242433" cy="194310"/>
          </a:xfrm>
          <a:prstGeom prst="rect">
            <a:avLst/>
          </a:prstGeom>
          <a:noFill/>
        </p:spPr>
        <p:txBody>
          <a:bodyPr wrap="none" lIns="0" rIns="0" tIns="0" bIns="0">
            <a:spAutoFit/>
          </a:bodyPr>
          <a:lstStyle/>
          <a:p>
            <a:r>
              <a:rPr sz="1150" b="0">
                <a:solidFill>
                  <a:srgbClr val="2E2E2E"/>
                </a:solidFill>
                <a:latin typeface="Calibri"/>
              </a:rPr>
              <a:t>▪ Upward pressure is led by input cost and demand &amp; market conditions; efficiency and</a:t>
            </a:r>
          </a:p>
        </p:txBody>
      </p:sp>
      <p:sp>
        <p:nvSpPr>
          <p:cNvPr id="37" name="TextBox 36"/>
          <p:cNvSpPr txBox="1"/>
          <p:nvPr/>
        </p:nvSpPr>
        <p:spPr>
          <a:xfrm>
            <a:off x="6334125" y="4799050"/>
            <a:ext cx="2567037" cy="194310"/>
          </a:xfrm>
          <a:prstGeom prst="rect">
            <a:avLst/>
          </a:prstGeom>
          <a:noFill/>
        </p:spPr>
        <p:txBody>
          <a:bodyPr wrap="none" lIns="0" rIns="0" tIns="0" bIns="0">
            <a:spAutoFit/>
          </a:bodyPr>
          <a:lstStyle/>
          <a:p>
            <a:r>
              <a:rPr sz="1150" b="0">
                <a:solidFill>
                  <a:srgbClr val="2E2E2E"/>
                </a:solidFill>
                <a:latin typeface="Calibri"/>
              </a:rPr>
              <a:t>competitive intensity work the other way.</a:t>
            </a:r>
          </a:p>
        </p:txBody>
      </p:sp>
      <p:sp>
        <p:nvSpPr>
          <p:cNvPr id="38" name="TextBox 37"/>
          <p:cNvSpPr txBox="1"/>
          <p:nvPr/>
        </p:nvSpPr>
        <p:spPr>
          <a:xfrm>
            <a:off x="6334125" y="5026888"/>
            <a:ext cx="5203638" cy="194310"/>
          </a:xfrm>
          <a:prstGeom prst="rect">
            <a:avLst/>
          </a:prstGeom>
          <a:noFill/>
        </p:spPr>
        <p:txBody>
          <a:bodyPr wrap="none" lIns="0" rIns="0" tIns="0" bIns="0">
            <a:spAutoFit/>
          </a:bodyPr>
          <a:lstStyle/>
          <a:p>
            <a:r>
              <a:rPr sz="1150" b="0">
                <a:solidFill>
                  <a:srgbClr val="2E2E2E"/>
                </a:solidFill>
                <a:latin typeface="Calibri"/>
              </a:rPr>
              <a:t>▪ Net outlook: modest, structural price appreciation mix and geography will determine</a:t>
            </a:r>
          </a:p>
        </p:txBody>
      </p:sp>
      <p:sp>
        <p:nvSpPr>
          <p:cNvPr id="39" name="TextBox 38"/>
          <p:cNvSpPr txBox="1"/>
          <p:nvPr/>
        </p:nvSpPr>
        <p:spPr>
          <a:xfrm>
            <a:off x="6334125" y="5202148"/>
            <a:ext cx="1016111" cy="194310"/>
          </a:xfrm>
          <a:prstGeom prst="rect">
            <a:avLst/>
          </a:prstGeom>
          <a:noFill/>
        </p:spPr>
        <p:txBody>
          <a:bodyPr wrap="none" lIns="0" rIns="0" tIns="0" bIns="0">
            <a:spAutoFit/>
          </a:bodyPr>
          <a:lstStyle/>
          <a:p>
            <a:r>
              <a:rPr sz="1150" b="0">
                <a:solidFill>
                  <a:srgbClr val="2E2E2E"/>
                </a:solidFill>
                <a:latin typeface="Calibri"/>
              </a:rPr>
              <a:t>realised pricing.</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Price Forecast &amp; Dynamics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forecast by sub-segment, 2026–2036, with the factors and dynamics shaping the trajectory</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Forecast to 2036 by Form Type (US$/MT)</a:t>
            </a:r>
          </a:p>
        </p:txBody>
      </p:sp>
      <p:graphicFrame>
        <p:nvGraphicFramePr>
          <p:cNvPr id="12" name="Table 11"/>
          <p:cNvGraphicFramePr>
            <a:graphicFrameLocks noGrp="1"/>
          </p:cNvGraphicFramePr>
          <p:nvPr/>
        </p:nvGraphicFramePr>
        <p:xfrm>
          <a:off x="152400" y="1238250"/>
          <a:ext cx="11887199" cy="1485896"/>
        </p:xfrm>
        <a:graphic>
          <a:graphicData uri="http://schemas.openxmlformats.org/drawingml/2006/table">
            <a:tbl>
              <a:tblPr>
                <a:tableStyleId>{5C22544A-7EE6-4342-B048-85BDC9FD1C3A}</a:tableStyleId>
              </a:tblPr>
              <a:tblGrid>
                <a:gridCol w="3352901"/>
                <a:gridCol w="1422383"/>
                <a:gridCol w="1422383"/>
                <a:gridCol w="1422383"/>
                <a:gridCol w="1422383"/>
                <a:gridCol w="1422383"/>
                <a:gridCol w="1422383"/>
              </a:tblGrid>
              <a:tr h="246126">
                <a:tc>
                  <a:txBody>
                    <a:bodyPr wrap="none"/>
                    <a:lstStyle/>
                    <a:p>
                      <a:pPr algn="l"/>
                      <a:r>
                        <a:rPr sz="1100" b="1">
                          <a:solidFill>
                            <a:srgbClr val="0B2E4A"/>
                          </a:solidFill>
                          <a:latin typeface="Calibri"/>
                        </a:rPr>
                        <a:t>Form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Tablets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Capsules and Softgels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Powders and Granules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Liquids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Gels and Pastes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585760" y="1837563"/>
            <a:ext cx="366712" cy="533400"/>
          </a:xfrm>
          <a:prstGeom prst="rect">
            <a:avLst/>
          </a:prstGeom>
        </p:spPr>
      </p:pic>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Competitor Pricing Strategies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leading players position price: tier, price position versus peers and strategy focus</a:t>
            </a:r>
          </a:p>
        </p:txBody>
      </p:sp>
      <p:sp>
        <p:nvSpPr>
          <p:cNvPr id="10" name="Rounded Rectangle 9"/>
          <p:cNvSpPr/>
          <p:nvPr/>
        </p:nvSpPr>
        <p:spPr>
          <a:xfrm>
            <a:off x="142875" y="1007261"/>
            <a:ext cx="769620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Competitor pricing strategies how leading players position price and the levers they use to sustain it.</a:t>
            </a:r>
          </a:p>
        </p:txBody>
      </p:sp>
      <p:sp>
        <p:nvSpPr>
          <p:cNvPr id="11" name="Rounded Rectangle 10"/>
          <p:cNvSpPr/>
          <p:nvPr/>
        </p:nvSpPr>
        <p:spPr>
          <a:xfrm>
            <a:off x="142875" y="1317574"/>
            <a:ext cx="7696200" cy="3924545"/>
          </a:xfrm>
          <a:prstGeom prst="roundRect">
            <a:avLst>
              <a:gd name="adj" fmla="val 194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1393774"/>
          <a:ext cx="7677151" cy="3619746"/>
        </p:xfrm>
        <a:graphic>
          <a:graphicData uri="http://schemas.openxmlformats.org/drawingml/2006/table">
            <a:tbl>
              <a:tblPr>
                <a:tableStyleId>{5C22544A-7EE6-4342-B048-85BDC9FD1C3A}</a:tableStyleId>
              </a:tblPr>
              <a:tblGrid>
                <a:gridCol w="1890023"/>
                <a:gridCol w="585697"/>
                <a:gridCol w="1231306"/>
                <a:gridCol w="1152653"/>
                <a:gridCol w="2817472"/>
              </a:tblGrid>
              <a:tr h="246126">
                <a:tc>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Tier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Price Position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ASP vs Peers</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Strategy Focus</a:t>
                      </a:r>
                      <a:endParaRPr sz="1100"/>
                    </a:p>
                  </a:txBody>
                  <a:tcPr marL="47625" marR="38100" marT="19050" marB="19050" anchor="ctr">
                    <a:solidFill>
                      <a:srgbClr val="E0E8EF"/>
                    </a:solidFill>
                  </a:tcPr>
                </a:tc>
              </a:tr>
              <a:tr h="562270">
                <a:tc>
                  <a:txBody>
                    <a:bodyPr wrap="none"/>
                    <a:lstStyle/>
                    <a:p>
                      <a:pPr algn="l"/>
                      <a:r>
                        <a:rPr sz="1100" b="1">
                          <a:solidFill>
                            <a:srgbClr val="2E2E2E"/>
                          </a:solidFill>
                          <a:latin typeface="Calibri"/>
                        </a:rPr>
                        <a:t>Standard Process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 brand-led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VetriScience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Value-based premium pricing</a:t>
                      </a:r>
                      <a:endParaRPr sz="1100"/>
                    </a:p>
                  </a:txBody>
                  <a:tcPr marL="47625" marR="38100" marT="19050" marB="19050" anchor="ctr">
                    <a:solidFill>
                      <a:srgbClr val="F5F8FA"/>
                    </a:solidFill>
                  </a:tcPr>
                </a:tc>
              </a:tr>
              <a:tr h="562270">
                <a:tc>
                  <a:txBody>
                    <a:bodyPr wrap="none"/>
                    <a:lstStyle/>
                    <a:p>
                      <a:pPr algn="l"/>
                      <a:r>
                        <a:rPr sz="1100" b="1">
                          <a:solidFill>
                            <a:srgbClr val="2E2E2E"/>
                          </a:solidFill>
                          <a:latin typeface="Calibri"/>
                        </a:rPr>
                        <a:t>Dr. Fossum's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Innovation-led price leadership</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Nestlé Purina PetCare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 pricing with mix upsell</a:t>
                      </a:r>
                      <a:endParaRPr sz="1100"/>
                    </a:p>
                  </a:txBody>
                  <a:tcPr marL="47625" marR="38100" marT="19050" marB="19050" anchor="ctr">
                    <a:solidFill>
                      <a:srgbClr val="F5F8FA"/>
                    </a:solidFill>
                  </a:tcPr>
                </a:tc>
              </a:tr>
              <a:tr h="562270">
                <a:tc>
                  <a:txBody>
                    <a:bodyPr wrap="none"/>
                    <a:lstStyle/>
                    <a:p>
                      <a:pPr algn="l"/>
                      <a:r>
                        <a:rPr sz="1100" b="1">
                          <a:solidFill>
                            <a:srgbClr val="2E2E2E"/>
                          </a:solidFill>
                          <a:latin typeface="Calibri"/>
                        </a:rPr>
                        <a:t>PetHeal</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Penetration &amp; share-led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Senior Dogs Club</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Competitive / discount-led pricing</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5023044"/>
            <a:ext cx="75438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5351641"/>
            <a:ext cx="7696200" cy="365074"/>
          </a:xfrm>
          <a:prstGeom prst="roundRect">
            <a:avLst>
              <a:gd name="adj" fmla="val 2087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competitor figures are indicative derived from market modelling and expert validation, not company disclosures.</a:t>
            </a:r>
          </a:p>
        </p:txBody>
      </p:sp>
      <p:sp>
        <p:nvSpPr>
          <p:cNvPr id="15" name="Rounded Rectangle 14"/>
          <p:cNvSpPr/>
          <p:nvPr/>
        </p:nvSpPr>
        <p:spPr>
          <a:xfrm>
            <a:off x="7915275" y="1317574"/>
            <a:ext cx="4133850" cy="5238811"/>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Competitive Pricing Themes</a:t>
            </a:r>
          </a:p>
        </p:txBody>
      </p:sp>
      <p:sp>
        <p:nvSpPr>
          <p:cNvPr id="17" name="Rectangle 16"/>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Tier 1 players anchor premium pricing, defending ASP through brand, product development and certification rather than discounting.</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Mid-tier players price at or just below parity, using launches and expansion to win share in fast-growing segments.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Emerging players compete on value pricing, trading margin for access and volume in price-sensitive regions.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Across tiers, R&amp;D investment and selective M&amp;A are the primary levers to move up the price ladder over time.</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4267731" y="3086680"/>
            <a:ext cx="330041" cy="480060"/>
          </a:xfrm>
          <a:prstGeom prst="rect">
            <a:avLst/>
          </a:prstGeom>
        </p:spPr>
      </p:pic>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Senior Dog Cognitive Supplement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Supply Chain Analysis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Supply Chain Analysis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Supply Chain Analysis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Chain &amp; Stakeholder Mapping</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Operating Margin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Buyers Assessment</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Value Chain &amp; Stakeholder Mapping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Mapping of the value chain stages, the stakeholders at each stage and the value added along the chain</a:t>
            </a:r>
          </a:p>
        </p:txBody>
      </p:sp>
      <p:sp>
        <p:nvSpPr>
          <p:cNvPr id="10" name="TextBox 9"/>
          <p:cNvSpPr txBox="1"/>
          <p:nvPr/>
        </p:nvSpPr>
        <p:spPr>
          <a:xfrm>
            <a:off x="285750" y="970754"/>
            <a:ext cx="10668000" cy="164283"/>
          </a:xfrm>
          <a:prstGeom prst="rect">
            <a:avLst/>
          </a:prstGeom>
          <a:noFill/>
        </p:spPr>
        <p:txBody>
          <a:bodyPr wrap="square" lIns="0" rIns="19050" tIns="0" bIns="0">
            <a:spAutoFit/>
          </a:bodyPr>
          <a:lstStyle/>
          <a:p>
            <a:pPr algn="l"/>
            <a:r>
              <a:rPr sz="1100" b="0">
                <a:solidFill>
                  <a:srgbClr val="6C7A89"/>
                </a:solidFill>
                <a:latin typeface="Calibri"/>
              </a:rPr>
              <a:t>End-to-end value chain with the key stakeholders at each stage and their indicative contribution to value addition.</a:t>
            </a:r>
          </a:p>
        </p:txBody>
      </p:sp>
      <p:sp>
        <p:nvSpPr>
          <p:cNvPr id="11" name="Right Arrow 10"/>
          <p:cNvSpPr/>
          <p:nvPr/>
        </p:nvSpPr>
        <p:spPr>
          <a:xfrm>
            <a:off x="1885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4171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6457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8743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9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Raw Material</a:t>
            </a:r>
          </a:p>
          <a:p>
            <a:pPr algn="ctr">
              <a:lnSpc>
                <a:spcPct val="100000"/>
              </a:lnSpc>
            </a:pPr>
            <a:r>
              <a:rPr sz="1100" b="1">
                <a:solidFill>
                  <a:srgbClr val="0B2E4A"/>
                </a:solidFill>
                <a:latin typeface="Calibri"/>
              </a:rPr>
              <a:t>Suppliers</a:t>
            </a:r>
          </a:p>
        </p:txBody>
      </p:sp>
      <p:sp>
        <p:nvSpPr>
          <p:cNvPr id="16" name="Oval 15"/>
          <p:cNvSpPr/>
          <p:nvPr/>
        </p:nvSpPr>
        <p:spPr>
          <a:xfrm>
            <a:off x="1076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23950" y="1719155"/>
            <a:ext cx="800100" cy="766655"/>
          </a:xfrm>
          <a:prstGeom prst="ellipse">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509712" y="2084229"/>
            <a:ext cx="28575" cy="1551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rot="19500000">
            <a:off x="1381125"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rot="2100000">
            <a:off x="1524000"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00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22" name="Rounded Rectangle 21"/>
          <p:cNvSpPr/>
          <p:nvPr/>
        </p:nvSpPr>
        <p:spPr>
          <a:xfrm>
            <a:off x="457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2905646"/>
            <a:ext cx="2133600" cy="4563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2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Raw Material Suppliers</a:t>
            </a:r>
          </a:p>
        </p:txBody>
      </p:sp>
      <p:sp>
        <p:nvSpPr>
          <p:cNvPr id="25" name="TextBox 24"/>
          <p:cNvSpPr txBox="1"/>
          <p:nvPr/>
        </p:nvSpPr>
        <p:spPr>
          <a:xfrm>
            <a:off x="542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26" name="TextBox 25"/>
          <p:cNvSpPr txBox="1"/>
          <p:nvPr/>
        </p:nvSpPr>
        <p:spPr>
          <a:xfrm>
            <a:off x="542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Growers and primary producers supply core inputs; some forward-integrate into small-scale processing.</a:t>
            </a:r>
          </a:p>
        </p:txBody>
      </p:sp>
      <p:sp>
        <p:nvSpPr>
          <p:cNvPr id="27" name="TextBox 26"/>
          <p:cNvSpPr txBox="1"/>
          <p:nvPr/>
        </p:nvSpPr>
        <p:spPr>
          <a:xfrm>
            <a:off x="2705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Manufacturers</a:t>
            </a:r>
          </a:p>
        </p:txBody>
      </p:sp>
      <p:sp>
        <p:nvSpPr>
          <p:cNvPr id="28" name="Oval 27"/>
          <p:cNvSpPr/>
          <p:nvPr/>
        </p:nvSpPr>
        <p:spPr>
          <a:xfrm>
            <a:off x="3362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409950" y="1719155"/>
            <a:ext cx="800100" cy="766655"/>
          </a:xfrm>
          <a:prstGeom prst="ellipse">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38550" y="2084229"/>
            <a:ext cx="34290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67125" y="1983834"/>
            <a:ext cx="66675" cy="10952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2020341"/>
            <a:ext cx="66675" cy="73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876675" y="1992961"/>
            <a:ext cx="66675" cy="1003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86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35" name="Rounded Rectangle 34"/>
          <p:cNvSpPr/>
          <p:nvPr/>
        </p:nvSpPr>
        <p:spPr>
          <a:xfrm>
            <a:off x="2743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743200" y="2905646"/>
            <a:ext cx="2133600" cy="4563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28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Manufacturers / Processors</a:t>
            </a:r>
          </a:p>
        </p:txBody>
      </p:sp>
      <p:sp>
        <p:nvSpPr>
          <p:cNvPr id="38" name="TextBox 37"/>
          <p:cNvSpPr txBox="1"/>
          <p:nvPr/>
        </p:nvSpPr>
        <p:spPr>
          <a:xfrm>
            <a:off x="2828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39" name="TextBox 38"/>
          <p:cNvSpPr txBox="1"/>
          <p:nvPr/>
        </p:nvSpPr>
        <p:spPr>
          <a:xfrm>
            <a:off x="2828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Convert inputs into finished and semi-finished product the single largest value-addition stage.</a:t>
            </a:r>
          </a:p>
        </p:txBody>
      </p:sp>
      <p:sp>
        <p:nvSpPr>
          <p:cNvPr id="40" name="TextBox 39"/>
          <p:cNvSpPr txBox="1"/>
          <p:nvPr/>
        </p:nvSpPr>
        <p:spPr>
          <a:xfrm>
            <a:off x="4991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Distributors</a:t>
            </a:r>
          </a:p>
        </p:txBody>
      </p:sp>
      <p:sp>
        <p:nvSpPr>
          <p:cNvPr id="41" name="Oval 40"/>
          <p:cNvSpPr/>
          <p:nvPr/>
        </p:nvSpPr>
        <p:spPr>
          <a:xfrm>
            <a:off x="5648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695950" y="1719155"/>
            <a:ext cx="800100" cy="766655"/>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915025" y="2002088"/>
            <a:ext cx="20955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34100" y="2075102"/>
            <a:ext cx="123825" cy="912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5972175"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153150"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5572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48" name="Rounded Rectangle 47"/>
          <p:cNvSpPr/>
          <p:nvPr/>
        </p:nvSpPr>
        <p:spPr>
          <a:xfrm>
            <a:off x="5029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29200" y="2905646"/>
            <a:ext cx="2133600" cy="4563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114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Distributors &amp; Wholesalers</a:t>
            </a:r>
          </a:p>
        </p:txBody>
      </p:sp>
      <p:sp>
        <p:nvSpPr>
          <p:cNvPr id="51" name="TextBox 50"/>
          <p:cNvSpPr txBox="1"/>
          <p:nvPr/>
        </p:nvSpPr>
        <p:spPr>
          <a:xfrm>
            <a:off x="5114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52" name="TextBox 51"/>
          <p:cNvSpPr txBox="1"/>
          <p:nvPr/>
        </p:nvSpPr>
        <p:spPr>
          <a:xfrm>
            <a:off x="5114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Move product to market, hold inventory and provide logistics, reach and credit to downstream channels.</a:t>
            </a:r>
          </a:p>
        </p:txBody>
      </p:sp>
      <p:sp>
        <p:nvSpPr>
          <p:cNvPr id="53" name="TextBox 52"/>
          <p:cNvSpPr txBox="1"/>
          <p:nvPr/>
        </p:nvSpPr>
        <p:spPr>
          <a:xfrm>
            <a:off x="7277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Retailers</a:t>
            </a:r>
          </a:p>
        </p:txBody>
      </p:sp>
      <p:sp>
        <p:nvSpPr>
          <p:cNvPr id="54" name="Oval 53"/>
          <p:cNvSpPr/>
          <p:nvPr/>
        </p:nvSpPr>
        <p:spPr>
          <a:xfrm>
            <a:off x="7934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7981950" y="1719155"/>
            <a:ext cx="800100" cy="766655"/>
          </a:xfrm>
          <a:prstGeom prst="ellipse">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Isosceles Triangle 55"/>
          <p:cNvSpPr/>
          <p:nvPr/>
        </p:nvSpPr>
        <p:spPr>
          <a:xfrm>
            <a:off x="8201025" y="1965580"/>
            <a:ext cx="361950" cy="10952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239125" y="2065976"/>
            <a:ext cx="285750" cy="1825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343900" y="2138990"/>
            <a:ext cx="76200" cy="109522"/>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7858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60" name="Rounded Rectangle 59"/>
          <p:cNvSpPr/>
          <p:nvPr/>
        </p:nvSpPr>
        <p:spPr>
          <a:xfrm>
            <a:off x="7315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315200" y="2905646"/>
            <a:ext cx="2133600" cy="4563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400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Retailers &amp; Channels</a:t>
            </a:r>
          </a:p>
        </p:txBody>
      </p:sp>
      <p:sp>
        <p:nvSpPr>
          <p:cNvPr id="63" name="TextBox 62"/>
          <p:cNvSpPr txBox="1"/>
          <p:nvPr/>
        </p:nvSpPr>
        <p:spPr>
          <a:xfrm>
            <a:off x="7400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64" name="TextBox 63"/>
          <p:cNvSpPr txBox="1"/>
          <p:nvPr/>
        </p:nvSpPr>
        <p:spPr>
          <a:xfrm>
            <a:off x="7400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Sell to end customers across offline and online channels, capturing point-of-sale margin and brand visibility.</a:t>
            </a:r>
          </a:p>
        </p:txBody>
      </p:sp>
      <p:sp>
        <p:nvSpPr>
          <p:cNvPr id="65" name="TextBox 64"/>
          <p:cNvSpPr txBox="1"/>
          <p:nvPr/>
        </p:nvSpPr>
        <p:spPr>
          <a:xfrm>
            <a:off x="9563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End Users</a:t>
            </a:r>
          </a:p>
        </p:txBody>
      </p:sp>
      <p:sp>
        <p:nvSpPr>
          <p:cNvPr id="66" name="Oval 65"/>
          <p:cNvSpPr/>
          <p:nvPr/>
        </p:nvSpPr>
        <p:spPr>
          <a:xfrm>
            <a:off x="10220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0267950" y="1719155"/>
            <a:ext cx="800100" cy="766655"/>
          </a:xfrm>
          <a:prstGeom prst="ellipse">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0601325" y="1956453"/>
            <a:ext cx="133350" cy="1277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10544175" y="2111610"/>
            <a:ext cx="247650" cy="127776"/>
          </a:xfrm>
          <a:custGeom>
            <a:avLst/>
            <a:gdLst/>
            <a:ahLst/>
            <a:cxnLst/>
            <a:rect l="l" t="t" r="r" b="b"/>
            <a:pathLst>
              <a:path w="26" h="14">
                <a:moveTo>
                  <a:pt x="0" y="14"/>
                </a:moveTo>
                <a:lnTo>
                  <a:pt x="4" y="0"/>
                </a:lnTo>
                <a:lnTo>
                  <a:pt x="22" y="0"/>
                </a:lnTo>
                <a:lnTo>
                  <a:pt x="26" y="14"/>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10144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71" name="Rounded Rectangle 70"/>
          <p:cNvSpPr/>
          <p:nvPr/>
        </p:nvSpPr>
        <p:spPr>
          <a:xfrm>
            <a:off x="9601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601200" y="2905646"/>
            <a:ext cx="2133600" cy="4563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686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End Users</a:t>
            </a:r>
          </a:p>
        </p:txBody>
      </p:sp>
      <p:sp>
        <p:nvSpPr>
          <p:cNvPr id="74" name="TextBox 73"/>
          <p:cNvSpPr txBox="1"/>
          <p:nvPr/>
        </p:nvSpPr>
        <p:spPr>
          <a:xfrm>
            <a:off x="9686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75" name="TextBox 74"/>
          <p:cNvSpPr txBox="1"/>
          <p:nvPr/>
        </p:nvSpPr>
        <p:spPr>
          <a:xfrm>
            <a:off x="9686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Consumers and downstream industries; large end users sometimes backward-integrate to secure supply and cost.</a:t>
            </a:r>
          </a:p>
        </p:txBody>
      </p:sp>
      <p:sp>
        <p:nvSpPr>
          <p:cNvPr id="76" name="Rounded Rectangle 75"/>
          <p:cNvSpPr/>
          <p:nvPr/>
        </p:nvSpPr>
        <p:spPr>
          <a:xfrm>
            <a:off x="381000" y="5315134"/>
            <a:ext cx="11430000" cy="1204744"/>
          </a:xfrm>
          <a:prstGeom prst="roundRect">
            <a:avLst>
              <a:gd name="adj" fmla="val 60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14350" y="5397275"/>
            <a:ext cx="11163300" cy="200791"/>
          </a:xfrm>
          <a:prstGeom prst="rect">
            <a:avLst/>
          </a:prstGeom>
          <a:noFill/>
        </p:spPr>
        <p:txBody>
          <a:bodyPr wrap="square" lIns="0" rIns="19050" tIns="9525" bIns="9525">
            <a:spAutoFit/>
          </a:bodyPr>
          <a:lstStyle/>
          <a:p>
            <a:pPr algn="l"/>
            <a:r>
              <a:rPr sz="1300" b="1">
                <a:solidFill>
                  <a:srgbClr val="0B2E4A"/>
                </a:solidFill>
                <a:latin typeface="Calibri"/>
              </a:rPr>
              <a:t>Value-Added Read-out</a:t>
            </a:r>
          </a:p>
        </p:txBody>
      </p:sp>
      <p:sp>
        <p:nvSpPr>
          <p:cNvPr id="78" name="Rectangle 77"/>
          <p:cNvSpPr/>
          <p:nvPr/>
        </p:nvSpPr>
        <p:spPr>
          <a:xfrm>
            <a:off x="514350" y="5625447"/>
            <a:ext cx="111633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14350" y="5707588"/>
            <a:ext cx="11163300" cy="7392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80" name="TextBox 7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1" name="Picture 80" descr="lock.png"/>
          <p:cNvPicPr>
            <a:picLocks noChangeAspect="1"/>
          </p:cNvPicPr>
          <p:nvPr/>
        </p:nvPicPr>
        <p:blipFill>
          <a:blip r:embed="rId4"/>
          <a:stretch>
            <a:fillRect/>
          </a:stretch>
        </p:blipFill>
        <p:spPr>
          <a:xfrm>
            <a:off x="1459650" y="2611256"/>
            <a:ext cx="128699" cy="187198"/>
          </a:xfrm>
          <a:prstGeom prst="rect">
            <a:avLst/>
          </a:prstGeom>
        </p:spPr>
      </p:pic>
      <p:pic>
        <p:nvPicPr>
          <p:cNvPr id="82" name="Picture 81" descr="lock.png"/>
          <p:cNvPicPr>
            <a:picLocks noChangeAspect="1"/>
          </p:cNvPicPr>
          <p:nvPr/>
        </p:nvPicPr>
        <p:blipFill>
          <a:blip r:embed="rId4"/>
          <a:stretch>
            <a:fillRect/>
          </a:stretch>
        </p:blipFill>
        <p:spPr>
          <a:xfrm>
            <a:off x="3745650" y="2611256"/>
            <a:ext cx="128699" cy="187198"/>
          </a:xfrm>
          <a:prstGeom prst="rect">
            <a:avLst/>
          </a:prstGeom>
        </p:spPr>
      </p:pic>
      <p:pic>
        <p:nvPicPr>
          <p:cNvPr id="83" name="Picture 82" descr="lock.png"/>
          <p:cNvPicPr>
            <a:picLocks noChangeAspect="1"/>
          </p:cNvPicPr>
          <p:nvPr/>
        </p:nvPicPr>
        <p:blipFill>
          <a:blip r:embed="rId4"/>
          <a:stretch>
            <a:fillRect/>
          </a:stretch>
        </p:blipFill>
        <p:spPr>
          <a:xfrm>
            <a:off x="6031650" y="2611256"/>
            <a:ext cx="128699" cy="187198"/>
          </a:xfrm>
          <a:prstGeom prst="rect">
            <a:avLst/>
          </a:prstGeom>
        </p:spPr>
      </p:pic>
      <p:pic>
        <p:nvPicPr>
          <p:cNvPr id="84" name="Picture 83" descr="lock.png"/>
          <p:cNvPicPr>
            <a:picLocks noChangeAspect="1"/>
          </p:cNvPicPr>
          <p:nvPr/>
        </p:nvPicPr>
        <p:blipFill>
          <a:blip r:embed="rId4"/>
          <a:stretch>
            <a:fillRect/>
          </a:stretch>
        </p:blipFill>
        <p:spPr>
          <a:xfrm>
            <a:off x="8317650" y="2611256"/>
            <a:ext cx="128699" cy="187198"/>
          </a:xfrm>
          <a:prstGeom prst="rect">
            <a:avLst/>
          </a:prstGeom>
        </p:spPr>
      </p:pic>
      <p:pic>
        <p:nvPicPr>
          <p:cNvPr id="85" name="Picture 84" descr="lock.png"/>
          <p:cNvPicPr>
            <a:picLocks noChangeAspect="1"/>
          </p:cNvPicPr>
          <p:nvPr/>
        </p:nvPicPr>
        <p:blipFill>
          <a:blip r:embed="rId4"/>
          <a:stretch>
            <a:fillRect/>
          </a:stretch>
        </p:blipFill>
        <p:spPr>
          <a:xfrm>
            <a:off x="10603650" y="2611256"/>
            <a:ext cx="128699" cy="187198"/>
          </a:xfrm>
          <a:prstGeom prst="rect">
            <a:avLst/>
          </a:prstGeom>
        </p:spPr>
      </p:pic>
      <p:sp>
        <p:nvSpPr>
          <p:cNvPr id="86" name="TextBox 85"/>
          <p:cNvSpPr txBox="1"/>
          <p:nvPr/>
        </p:nvSpPr>
        <p:spPr>
          <a:xfrm>
            <a:off x="514350" y="5717113"/>
            <a:ext cx="7147421" cy="153161"/>
          </a:xfrm>
          <a:prstGeom prst="rect">
            <a:avLst/>
          </a:prstGeom>
          <a:noFill/>
        </p:spPr>
        <p:txBody>
          <a:bodyPr wrap="none" lIns="0" rIns="0" tIns="0" bIns="0">
            <a:spAutoFit/>
          </a:bodyPr>
          <a:lstStyle/>
          <a:p>
            <a:r>
              <a:rPr sz="879" b="0">
                <a:solidFill>
                  <a:srgbClr val="2E2E2E"/>
                </a:solidFill>
                <a:latin typeface="Calibri"/>
              </a:rPr>
              <a:t>▪ The Senior Dog Cognitive Supplement Market value chain runs from raw-material suppliers through manufacturers, distributors and retailers to end users.</a:t>
            </a:r>
          </a:p>
        </p:txBody>
      </p:sp>
      <p:sp>
        <p:nvSpPr>
          <p:cNvPr id="87" name="TextBox 86"/>
          <p:cNvSpPr txBox="1"/>
          <p:nvPr/>
        </p:nvSpPr>
        <p:spPr>
          <a:xfrm>
            <a:off x="514350" y="5891458"/>
            <a:ext cx="3108563" cy="153161"/>
          </a:xfrm>
          <a:prstGeom prst="rect">
            <a:avLst/>
          </a:prstGeom>
          <a:noFill/>
        </p:spPr>
        <p:txBody>
          <a:bodyPr wrap="none" lIns="0" rIns="0" tIns="0" bIns="0">
            <a:spAutoFit/>
          </a:bodyPr>
          <a:lstStyle/>
          <a:p>
            <a:r>
              <a:rPr sz="879" b="0">
                <a:solidFill>
                  <a:srgbClr val="2E2E2E"/>
                </a:solidFill>
                <a:latin typeface="Calibri"/>
              </a:rPr>
              <a:t>▪ 'Manufacturers / Processors' captures the largest value addition (</a:t>
            </a:r>
          </a:p>
        </p:txBody>
      </p:sp>
      <p:pic>
        <p:nvPicPr>
          <p:cNvPr id="88" name="Picture 87" descr="lock.png"/>
          <p:cNvPicPr>
            <a:picLocks noChangeAspect="1"/>
          </p:cNvPicPr>
          <p:nvPr/>
        </p:nvPicPr>
        <p:blipFill>
          <a:blip r:embed="rId4"/>
          <a:stretch>
            <a:fillRect/>
          </a:stretch>
        </p:blipFill>
        <p:spPr>
          <a:xfrm>
            <a:off x="3566114" y="5883635"/>
            <a:ext cx="102959" cy="149758"/>
          </a:xfrm>
          <a:prstGeom prst="rect">
            <a:avLst/>
          </a:prstGeom>
        </p:spPr>
      </p:pic>
      <p:sp>
        <p:nvSpPr>
          <p:cNvPr id="89" name="TextBox 88"/>
          <p:cNvSpPr txBox="1"/>
          <p:nvPr/>
        </p:nvSpPr>
        <p:spPr>
          <a:xfrm>
            <a:off x="3700111" y="5891458"/>
            <a:ext cx="2123678" cy="153161"/>
          </a:xfrm>
          <a:prstGeom prst="rect">
            <a:avLst/>
          </a:prstGeom>
          <a:noFill/>
        </p:spPr>
        <p:txBody>
          <a:bodyPr wrap="none" lIns="0" rIns="0" tIns="0" bIns="0">
            <a:spAutoFit/>
          </a:bodyPr>
          <a:lstStyle/>
          <a:p>
            <a:r>
              <a:rPr sz="879" b="0">
                <a:solidFill>
                  <a:srgbClr val="2E2E2E"/>
                </a:solidFill>
                <a:latin typeface="Calibri"/>
              </a:rPr>
              <a:t>), reflecting processing and scale advantages.</a:t>
            </a:r>
          </a:p>
        </p:txBody>
      </p:sp>
      <p:sp>
        <p:nvSpPr>
          <p:cNvPr id="90" name="TextBox 89"/>
          <p:cNvSpPr txBox="1"/>
          <p:nvPr/>
        </p:nvSpPr>
        <p:spPr>
          <a:xfrm>
            <a:off x="514350" y="6065804"/>
            <a:ext cx="5690369" cy="153161"/>
          </a:xfrm>
          <a:prstGeom prst="rect">
            <a:avLst/>
          </a:prstGeom>
          <a:noFill/>
        </p:spPr>
        <p:txBody>
          <a:bodyPr wrap="none" lIns="0" rIns="0" tIns="0" bIns="0">
            <a:spAutoFit/>
          </a:bodyPr>
          <a:lstStyle/>
          <a:p>
            <a:r>
              <a:rPr sz="879" b="0">
                <a:solidFill>
                  <a:srgbClr val="2E2E2E"/>
                </a:solidFill>
                <a:latin typeface="Calibri"/>
              </a:rPr>
              <a:t>▪ Forward and backward integration is common some suppliers process, and some large end users produce their own input.</a:t>
            </a:r>
          </a:p>
        </p:txBody>
      </p:sp>
      <p:sp>
        <p:nvSpPr>
          <p:cNvPr id="91" name="TextBox 90"/>
          <p:cNvSpPr txBox="1"/>
          <p:nvPr/>
        </p:nvSpPr>
        <p:spPr>
          <a:xfrm>
            <a:off x="514350" y="6240149"/>
            <a:ext cx="3730228" cy="153161"/>
          </a:xfrm>
          <a:prstGeom prst="rect">
            <a:avLst/>
          </a:prstGeom>
          <a:noFill/>
        </p:spPr>
        <p:txBody>
          <a:bodyPr wrap="none" lIns="0" rIns="0" tIns="0" bIns="0">
            <a:spAutoFit/>
          </a:bodyPr>
          <a:lstStyle/>
          <a:p>
            <a:r>
              <a:rPr sz="879" b="0">
                <a:solidFill>
                  <a:srgbClr val="2E2E2E"/>
                </a:solidFill>
                <a:latin typeface="Calibri"/>
              </a:rPr>
              <a:t>▪ Percentages show each stage's indicative share of value added along the chain.</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Industry-Wide Operating Margin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Operating margin by region and value chain node, highlighting where value concentrates along the chain</a:t>
            </a:r>
          </a:p>
        </p:txBody>
      </p:sp>
      <p:sp>
        <p:nvSpPr>
          <p:cNvPr id="10" name="Rounded Rectangle 9"/>
          <p:cNvSpPr/>
          <p:nvPr/>
        </p:nvSpPr>
        <p:spPr>
          <a:xfrm>
            <a:off x="142875" y="981075"/>
            <a:ext cx="11906250" cy="3667125"/>
          </a:xfrm>
          <a:prstGeom prst="roundRect">
            <a:avLst>
              <a:gd name="adj" fmla="val 20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Senior Dog Cognitive Supplement Market Operating Margin by Region &amp; Node</a:t>
            </a:r>
          </a:p>
        </p:txBody>
      </p:sp>
      <p:graphicFrame>
        <p:nvGraphicFramePr>
          <p:cNvPr id="12" name="Table 11"/>
          <p:cNvGraphicFramePr>
            <a:graphicFrameLocks noGrp="1"/>
          </p:cNvGraphicFramePr>
          <p:nvPr/>
        </p:nvGraphicFramePr>
        <p:xfrm>
          <a:off x="152400" y="1238250"/>
          <a:ext cx="11887202" cy="3200406"/>
        </p:xfrm>
        <a:graphic>
          <a:graphicData uri="http://schemas.openxmlformats.org/drawingml/2006/table">
            <a:tbl>
              <a:tblPr>
                <a:tableStyleId>{5C22544A-7EE6-4342-B048-85BDC9FD1C3A}</a:tableStyleId>
              </a:tblPr>
              <a:tblGrid>
                <a:gridCol w="1208402"/>
                <a:gridCol w="2669700"/>
                <a:gridCol w="2669700"/>
                <a:gridCol w="2669700"/>
                <a:gridCol w="2669700"/>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Node of Supply Chain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Operating Margin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Comparison to Parent Market</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Notes</a:t>
                      </a:r>
                      <a:endParaRPr sz="1100"/>
                    </a:p>
                  </a:txBody>
                  <a:tcPr marL="47625" marR="38100" marT="19050" marB="19050" anchor="ctr">
                    <a:solidFill>
                      <a:srgbClr val="E0E8EF"/>
                    </a:solidFill>
                  </a:tcPr>
                </a:tc>
              </a:tr>
              <a:tr h="246190">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781550"/>
            <a:ext cx="11906250"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867275"/>
            <a:ext cx="11639550" cy="209550"/>
          </a:xfrm>
          <a:prstGeom prst="rect">
            <a:avLst/>
          </a:prstGeom>
          <a:noFill/>
        </p:spPr>
        <p:txBody>
          <a:bodyPr wrap="square" lIns="0" rIns="19050" tIns="9525" bIns="9525">
            <a:spAutoFit/>
          </a:bodyPr>
          <a:lstStyle/>
          <a:p>
            <a:pPr algn="l"/>
            <a:r>
              <a:rPr sz="1300" b="1">
                <a:solidFill>
                  <a:srgbClr val="0B2E4A"/>
                </a:solidFill>
                <a:latin typeface="Calibri"/>
              </a:rPr>
              <a:t>How to Read This</a:t>
            </a:r>
          </a:p>
        </p:txBody>
      </p:sp>
      <p:sp>
        <p:nvSpPr>
          <p:cNvPr id="16" name="Rectangle 15"/>
          <p:cNvSpPr/>
          <p:nvPr/>
        </p:nvSpPr>
        <p:spPr>
          <a:xfrm>
            <a:off x="276225" y="51054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191125"/>
            <a:ext cx="1163955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Node of Supply Chain: each major stage, from raw-material suppliers through to retailers.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Operating Margin: the indicative margin earned at each node, by region.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Comparison to Parent Market: margin versus the parent / associated market (e.g. the broader food or pharmaceutical value chain).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Margins are broken down by both region and node to surface where value concentrates along the chain.</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13512" y="2694815"/>
            <a:ext cx="366712" cy="533400"/>
          </a:xfrm>
          <a:prstGeom prst="rect">
            <a:avLst/>
          </a:prstGeom>
        </p:spPr>
      </p:pic>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Buyers Assessment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Assessment of buyers and end users by volume, average price and revenue, highlighting purchasing power</a:t>
            </a:r>
          </a:p>
        </p:txBody>
      </p:sp>
      <p:sp>
        <p:nvSpPr>
          <p:cNvPr id="10" name="Rounded Rectangle 9"/>
          <p:cNvSpPr/>
          <p:nvPr/>
        </p:nvSpPr>
        <p:spPr>
          <a:xfrm>
            <a:off x="142875" y="981075"/>
            <a:ext cx="1190625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Senior Dog Cognitive Supplement Market Buyers / End-User Assessment</a:t>
            </a:r>
          </a:p>
        </p:txBody>
      </p:sp>
      <p:graphicFrame>
        <p:nvGraphicFramePr>
          <p:cNvPr id="12" name="Table 11"/>
          <p:cNvGraphicFramePr>
            <a:graphicFrameLocks noGrp="1"/>
          </p:cNvGraphicFramePr>
          <p:nvPr/>
        </p:nvGraphicFramePr>
        <p:xfrm>
          <a:off x="152400" y="1238250"/>
          <a:ext cx="11887200" cy="2714626"/>
        </p:xfrm>
        <a:graphic>
          <a:graphicData uri="http://schemas.openxmlformats.org/drawingml/2006/table">
            <a:tbl>
              <a:tblPr>
                <a:tableStyleId>{5C22544A-7EE6-4342-B048-85BDC9FD1C3A}</a:tableStyleId>
              </a:tblPr>
              <a:tblGrid>
                <a:gridCol w="1546704"/>
                <a:gridCol w="1055706"/>
                <a:gridCol w="1058597"/>
                <a:gridCol w="1122963"/>
                <a:gridCol w="1594978"/>
                <a:gridCol w="1273150"/>
                <a:gridCol w="1396475"/>
                <a:gridCol w="1342879"/>
                <a:gridCol w="1495748"/>
              </a:tblGrid>
              <a:tr h="246126">
                <a:tc>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Buyer Category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Buyer / End-User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Procurement Vol.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Avg Price (US$/MT)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Revenue (US$ Mn)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Key Selection Factor</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Standard Process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U.S.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VetriScience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Canada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Dr. Fossum's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Brazil</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Nestlé Purina PetCare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Mexico</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PetHeal</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Rest of LATAM</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Senior Dogs Club</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Germany</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VISYO Corporation</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U.K.</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NaturVet</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France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Zesty Paws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Italy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Ark Naturals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Spain</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3962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295775"/>
            <a:ext cx="11906250" cy="2333625"/>
          </a:xfrm>
          <a:prstGeom prst="roundRect">
            <a:avLst>
              <a:gd name="adj" fmla="val 32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381500"/>
            <a:ext cx="11639550" cy="209550"/>
          </a:xfrm>
          <a:prstGeom prst="rect">
            <a:avLst/>
          </a:prstGeom>
          <a:noFill/>
        </p:spPr>
        <p:txBody>
          <a:bodyPr wrap="square" lIns="0" rIns="19050" tIns="9525" bIns="9525">
            <a:spAutoFit/>
          </a:bodyPr>
          <a:lstStyle/>
          <a:p>
            <a:pPr algn="l"/>
            <a:r>
              <a:rPr sz="1300" b="1">
                <a:solidFill>
                  <a:srgbClr val="0B2E4A"/>
                </a:solidFill>
                <a:latin typeface="Calibri"/>
              </a:rPr>
              <a:t>Notes</a:t>
            </a:r>
          </a:p>
        </p:txBody>
      </p:sp>
      <p:sp>
        <p:nvSpPr>
          <p:cNvPr id="16" name="Rectangle 15"/>
          <p:cNvSpPr/>
          <p:nvPr/>
        </p:nvSpPr>
        <p:spPr>
          <a:xfrm>
            <a:off x="276225" y="46196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705350"/>
            <a:ext cx="11639550" cy="18478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This is a representative subset the full assessment lists 20–30 active participants (with brands, specifications, procurement strategies and SWOT). Note: value-chain economics are indicative derived from market modelling and expert validation, not company disclosures.</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8350909" y="2451926"/>
            <a:ext cx="366712" cy="533400"/>
          </a:xfrm>
          <a:prstGeom prst="rect">
            <a:avLst/>
          </a:prstGeom>
        </p:spPr>
      </p:pic>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Senior Dog Cognitive Supplement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Market Dynamics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Dynamics &amp; Forces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Market Dynamics &amp; Forces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Restraints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Opportunities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Recent Developments &amp; Milestones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Five Forces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Senior Dog Cognitive Supplement Market Dynamics by Region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growth driver, restraint and opportunity shaping each region of the global market</a:t>
            </a:r>
          </a:p>
        </p:txBody>
      </p:sp>
      <p:sp>
        <p:nvSpPr>
          <p:cNvPr id="10" name="TextBox 9"/>
          <p:cNvSpPr txBox="1"/>
          <p:nvPr/>
        </p:nvSpPr>
        <p:spPr>
          <a:xfrm>
            <a:off x="180975" y="1025515"/>
            <a:ext cx="8572500" cy="219044"/>
          </a:xfrm>
          <a:prstGeom prst="rect">
            <a:avLst/>
          </a:prstGeom>
          <a:noFill/>
        </p:spPr>
        <p:txBody>
          <a:bodyPr wrap="square" lIns="28575" rIns="28575" tIns="9525" bIns="9525" anchor="ctr">
            <a:spAutoFit/>
          </a:bodyPr>
          <a:lstStyle/>
          <a:p>
            <a:pPr algn="l"/>
            <a:r>
              <a:rPr sz="1150" b="1">
                <a:solidFill>
                  <a:srgbClr val="2E2E2E"/>
                </a:solidFill>
                <a:latin typeface="Calibri"/>
              </a:rPr>
              <a:t>Demand Dynamics by Region  ·  ranked by 2036 value</a:t>
            </a:r>
          </a:p>
        </p:txBody>
      </p:sp>
      <p:sp>
        <p:nvSpPr>
          <p:cNvPr id="11" name="Rectangle 10"/>
          <p:cNvSpPr/>
          <p:nvPr/>
        </p:nvSpPr>
        <p:spPr>
          <a:xfrm>
            <a:off x="142875" y="1262813"/>
            <a:ext cx="11906250" cy="255552"/>
          </a:xfrm>
          <a:prstGeom prst="rect">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0025" y="1262813"/>
            <a:ext cx="1428750" cy="255552"/>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3" name="TextBox 12"/>
          <p:cNvSpPr txBox="1"/>
          <p:nvPr/>
        </p:nvSpPr>
        <p:spPr>
          <a:xfrm>
            <a:off x="1724025" y="1262813"/>
            <a:ext cx="3714750" cy="255552"/>
          </a:xfrm>
          <a:prstGeom prst="rect">
            <a:avLst/>
          </a:prstGeom>
          <a:noFill/>
        </p:spPr>
        <p:txBody>
          <a:bodyPr wrap="square" lIns="28575" rIns="28575" tIns="9525" bIns="9525" anchor="ctr">
            <a:spAutoFit/>
          </a:bodyPr>
          <a:lstStyle/>
          <a:p>
            <a:pPr algn="l"/>
            <a:r>
              <a:rPr sz="1100" b="1">
                <a:solidFill>
                  <a:srgbClr val="0B2E4A"/>
                </a:solidFill>
                <a:latin typeface="Calibri"/>
              </a:rPr>
              <a:t>Growth Drivers</a:t>
            </a:r>
          </a:p>
        </p:txBody>
      </p:sp>
      <p:sp>
        <p:nvSpPr>
          <p:cNvPr id="14" name="TextBox 13"/>
          <p:cNvSpPr txBox="1"/>
          <p:nvPr/>
        </p:nvSpPr>
        <p:spPr>
          <a:xfrm>
            <a:off x="5534025" y="1262813"/>
            <a:ext cx="2762250" cy="255552"/>
          </a:xfrm>
          <a:prstGeom prst="rect">
            <a:avLst/>
          </a:prstGeom>
          <a:noFill/>
        </p:spPr>
        <p:txBody>
          <a:bodyPr wrap="square" lIns="28575" rIns="28575" tIns="9525" bIns="9525" anchor="ctr">
            <a:spAutoFit/>
          </a:bodyPr>
          <a:lstStyle/>
          <a:p>
            <a:pPr algn="l"/>
            <a:r>
              <a:rPr sz="1100" b="1">
                <a:solidFill>
                  <a:srgbClr val="0B2E4A"/>
                </a:solidFill>
                <a:latin typeface="Calibri"/>
              </a:rPr>
              <a:t>Restraints</a:t>
            </a:r>
          </a:p>
        </p:txBody>
      </p:sp>
      <p:sp>
        <p:nvSpPr>
          <p:cNvPr id="15" name="TextBox 14"/>
          <p:cNvSpPr txBox="1"/>
          <p:nvPr/>
        </p:nvSpPr>
        <p:spPr>
          <a:xfrm>
            <a:off x="8391525" y="1262813"/>
            <a:ext cx="3619500" cy="255552"/>
          </a:xfrm>
          <a:prstGeom prst="rect">
            <a:avLst/>
          </a:prstGeom>
          <a:noFill/>
        </p:spPr>
        <p:txBody>
          <a:bodyPr wrap="square" lIns="28575" rIns="28575" tIns="9525" bIns="9525" anchor="ctr">
            <a:spAutoFit/>
          </a:bodyPr>
          <a:lstStyle/>
          <a:p>
            <a:pPr algn="l"/>
            <a:r>
              <a:rPr sz="1100" b="1">
                <a:solidFill>
                  <a:srgbClr val="0B2E4A"/>
                </a:solidFill>
                <a:latin typeface="Calibri"/>
              </a:rPr>
              <a:t>Priority Opportunities</a:t>
            </a:r>
          </a:p>
        </p:txBody>
      </p:sp>
      <p:sp>
        <p:nvSpPr>
          <p:cNvPr id="16" name="Rectangle 15"/>
          <p:cNvSpPr/>
          <p:nvPr/>
        </p:nvSpPr>
        <p:spPr>
          <a:xfrm>
            <a:off x="142875" y="1518365"/>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0025" y="1518365"/>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North America</a:t>
            </a:r>
          </a:p>
        </p:txBody>
      </p:sp>
      <p:sp>
        <p:nvSpPr>
          <p:cNvPr id="18" name="TextBox 17"/>
          <p:cNvSpPr txBox="1"/>
          <p:nvPr/>
        </p:nvSpPr>
        <p:spPr>
          <a:xfrm>
            <a:off x="1724025" y="1545745"/>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9" name="TextBox 18"/>
          <p:cNvSpPr txBox="1"/>
          <p:nvPr/>
        </p:nvSpPr>
        <p:spPr>
          <a:xfrm>
            <a:off x="5534025" y="1545745"/>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0" name="TextBox 19"/>
          <p:cNvSpPr txBox="1"/>
          <p:nvPr/>
        </p:nvSpPr>
        <p:spPr>
          <a:xfrm>
            <a:off x="8391525" y="1545745"/>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1" name="Rectangle 20"/>
          <p:cNvSpPr/>
          <p:nvPr/>
        </p:nvSpPr>
        <p:spPr>
          <a:xfrm>
            <a:off x="142875" y="2029468"/>
            <a:ext cx="11906250" cy="51110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0025" y="2029468"/>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Europe</a:t>
            </a:r>
          </a:p>
        </p:txBody>
      </p:sp>
      <p:sp>
        <p:nvSpPr>
          <p:cNvPr id="23" name="TextBox 22"/>
          <p:cNvSpPr txBox="1"/>
          <p:nvPr/>
        </p:nvSpPr>
        <p:spPr>
          <a:xfrm>
            <a:off x="1724025" y="2056849"/>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4" name="TextBox 23"/>
          <p:cNvSpPr txBox="1"/>
          <p:nvPr/>
        </p:nvSpPr>
        <p:spPr>
          <a:xfrm>
            <a:off x="5534025" y="2056849"/>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5" name="TextBox 24"/>
          <p:cNvSpPr txBox="1"/>
          <p:nvPr/>
        </p:nvSpPr>
        <p:spPr>
          <a:xfrm>
            <a:off x="8391525" y="2056849"/>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6" name="Rectangle 25"/>
          <p:cNvSpPr/>
          <p:nvPr/>
        </p:nvSpPr>
        <p:spPr>
          <a:xfrm>
            <a:off x="142875" y="2540572"/>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0025" y="2540572"/>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South Asia &amp; Pacific</a:t>
            </a:r>
          </a:p>
        </p:txBody>
      </p:sp>
      <p:sp>
        <p:nvSpPr>
          <p:cNvPr id="28" name="TextBox 27"/>
          <p:cNvSpPr txBox="1"/>
          <p:nvPr/>
        </p:nvSpPr>
        <p:spPr>
          <a:xfrm>
            <a:off x="1724025" y="2567952"/>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9" name="TextBox 28"/>
          <p:cNvSpPr txBox="1"/>
          <p:nvPr/>
        </p:nvSpPr>
        <p:spPr>
          <a:xfrm>
            <a:off x="5534025" y="2567952"/>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Competitive intensity at scale.</a:t>
            </a:r>
          </a:p>
        </p:txBody>
      </p:sp>
      <p:sp>
        <p:nvSpPr>
          <p:cNvPr id="30" name="TextBox 29"/>
          <p:cNvSpPr txBox="1"/>
          <p:nvPr/>
        </p:nvSpPr>
        <p:spPr>
          <a:xfrm>
            <a:off x="8391525" y="2567952"/>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1" name="Rectangle 30"/>
          <p:cNvSpPr/>
          <p:nvPr/>
        </p:nvSpPr>
        <p:spPr>
          <a:xfrm>
            <a:off x="142875" y="3051675"/>
            <a:ext cx="11906250" cy="51110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00025" y="3051675"/>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East Asia</a:t>
            </a:r>
          </a:p>
        </p:txBody>
      </p:sp>
      <p:sp>
        <p:nvSpPr>
          <p:cNvPr id="33" name="TextBox 32"/>
          <p:cNvSpPr txBox="1"/>
          <p:nvPr/>
        </p:nvSpPr>
        <p:spPr>
          <a:xfrm>
            <a:off x="1724025" y="3079056"/>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4" name="TextBox 33"/>
          <p:cNvSpPr txBox="1"/>
          <p:nvPr/>
        </p:nvSpPr>
        <p:spPr>
          <a:xfrm>
            <a:off x="5534025" y="3079056"/>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5" name="TextBox 34"/>
          <p:cNvSpPr txBox="1"/>
          <p:nvPr/>
        </p:nvSpPr>
        <p:spPr>
          <a:xfrm>
            <a:off x="8391525" y="3079056"/>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6" name="Rectangle 35"/>
          <p:cNvSpPr/>
          <p:nvPr/>
        </p:nvSpPr>
        <p:spPr>
          <a:xfrm>
            <a:off x="142875" y="3562779"/>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0025" y="3562779"/>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Latin America</a:t>
            </a:r>
          </a:p>
        </p:txBody>
      </p:sp>
      <p:sp>
        <p:nvSpPr>
          <p:cNvPr id="38" name="TextBox 37"/>
          <p:cNvSpPr txBox="1"/>
          <p:nvPr/>
        </p:nvSpPr>
        <p:spPr>
          <a:xfrm>
            <a:off x="1724025" y="3590159"/>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9" name="TextBox 38"/>
          <p:cNvSpPr txBox="1"/>
          <p:nvPr/>
        </p:nvSpPr>
        <p:spPr>
          <a:xfrm>
            <a:off x="5534025" y="3590159"/>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0" name="TextBox 39"/>
          <p:cNvSpPr txBox="1"/>
          <p:nvPr/>
        </p:nvSpPr>
        <p:spPr>
          <a:xfrm>
            <a:off x="8391525" y="3590159"/>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1" name="Rectangle 40"/>
          <p:cNvSpPr/>
          <p:nvPr/>
        </p:nvSpPr>
        <p:spPr>
          <a:xfrm>
            <a:off x="142875" y="4073882"/>
            <a:ext cx="11906250" cy="51110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00025" y="4073882"/>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Middle East &amp; Africa</a:t>
            </a:r>
          </a:p>
        </p:txBody>
      </p:sp>
      <p:sp>
        <p:nvSpPr>
          <p:cNvPr id="43" name="TextBox 42"/>
          <p:cNvSpPr txBox="1"/>
          <p:nvPr/>
        </p:nvSpPr>
        <p:spPr>
          <a:xfrm>
            <a:off x="1724025" y="4101263"/>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4" name="TextBox 43"/>
          <p:cNvSpPr txBox="1"/>
          <p:nvPr/>
        </p:nvSpPr>
        <p:spPr>
          <a:xfrm>
            <a:off x="5534025" y="4101263"/>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5" name="TextBox 44"/>
          <p:cNvSpPr txBox="1"/>
          <p:nvPr/>
        </p:nvSpPr>
        <p:spPr>
          <a:xfrm>
            <a:off x="8391525" y="4101263"/>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cxnSp>
        <p:nvCxnSpPr>
          <p:cNvPr id="46" name="Connector 45"/>
          <p:cNvCxnSpPr/>
          <p:nvPr/>
        </p:nvCxnSpPr>
        <p:spPr>
          <a:xfrm>
            <a:off x="142875" y="4584986"/>
            <a:ext cx="11906250" cy="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200025" y="4603240"/>
            <a:ext cx="3810000" cy="182537"/>
          </a:xfrm>
          <a:prstGeom prst="rect">
            <a:avLst/>
          </a:prstGeom>
          <a:noFill/>
        </p:spPr>
        <p:txBody>
          <a:bodyPr wrap="square" lIns="28575" rIns="28575" tIns="9525" bIns="9525" anchor="ctr">
            <a:spAutoFit/>
          </a:bodyPr>
          <a:lstStyle/>
          <a:p>
            <a:pPr algn="l"/>
            <a:r>
              <a:rPr sz="1100" b="0">
                <a:solidFill>
                  <a:srgbClr val="6C7A89"/>
                </a:solidFill>
                <a:latin typeface="Calibri"/>
              </a:rPr>
              <a:t>Source: FMI Analysis, 2026</a:t>
            </a:r>
          </a:p>
        </p:txBody>
      </p:sp>
      <p:sp>
        <p:nvSpPr>
          <p:cNvPr id="48" name="Rounded Rectangle 47"/>
          <p:cNvSpPr/>
          <p:nvPr/>
        </p:nvSpPr>
        <p:spPr>
          <a:xfrm>
            <a:off x="142875" y="4858791"/>
            <a:ext cx="11906250" cy="994827"/>
          </a:xfrm>
          <a:prstGeom prst="roundRect">
            <a:avLst>
              <a:gd name="adj" fmla="val 479"/>
            </a:avLst>
          </a:prstGeom>
          <a:solidFill>
            <a:srgbClr val="FFFFFF"/>
          </a:solidFill>
          <a:ln w="1270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76225" y="4895299"/>
            <a:ext cx="3810000" cy="219044"/>
          </a:xfrm>
          <a:prstGeom prst="rect">
            <a:avLst/>
          </a:prstGeom>
          <a:noFill/>
        </p:spPr>
        <p:txBody>
          <a:bodyPr wrap="square" lIns="28575" rIns="28575" tIns="9525" bIns="9525" anchor="ctr">
            <a:spAutoFit/>
          </a:bodyPr>
          <a:lstStyle/>
          <a:p>
            <a:pPr algn="l"/>
            <a:r>
              <a:rPr sz="1200" b="1">
                <a:solidFill>
                  <a:srgbClr val="0B2E4A"/>
                </a:solidFill>
                <a:latin typeface="Calibri"/>
              </a:rPr>
              <a:t>KEY TAKEAWAY</a:t>
            </a:r>
          </a:p>
        </p:txBody>
      </p:sp>
      <p:cxnSp>
        <p:nvCxnSpPr>
          <p:cNvPr id="50" name="Connector 49"/>
          <p:cNvCxnSpPr/>
          <p:nvPr/>
        </p:nvCxnSpPr>
        <p:spPr>
          <a:xfrm>
            <a:off x="276225" y="5132597"/>
            <a:ext cx="11639550" cy="0"/>
          </a:xfrm>
          <a:prstGeom prst="line">
            <a:avLst/>
          </a:prstGeom>
          <a:ln w="15875">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276225" y="5187358"/>
            <a:ext cx="1152525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53" name="TextBox 52"/>
          <p:cNvSpPr txBox="1"/>
          <p:nvPr/>
        </p:nvSpPr>
        <p:spPr>
          <a:xfrm>
            <a:off x="1752600" y="1606276"/>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54" name="Picture 53" descr="lock.png"/>
          <p:cNvPicPr>
            <a:picLocks noChangeAspect="1"/>
          </p:cNvPicPr>
          <p:nvPr/>
        </p:nvPicPr>
        <p:blipFill>
          <a:blip r:embed="rId4"/>
          <a:stretch>
            <a:fillRect/>
          </a:stretch>
        </p:blipFill>
        <p:spPr>
          <a:xfrm>
            <a:off x="2438789" y="1596497"/>
            <a:ext cx="128699" cy="187198"/>
          </a:xfrm>
          <a:prstGeom prst="rect">
            <a:avLst/>
          </a:prstGeom>
        </p:spPr>
      </p:pic>
      <p:sp>
        <p:nvSpPr>
          <p:cNvPr id="55" name="TextBox 54"/>
          <p:cNvSpPr txBox="1"/>
          <p:nvPr/>
        </p:nvSpPr>
        <p:spPr>
          <a:xfrm>
            <a:off x="2606285" y="1606276"/>
            <a:ext cx="1556419" cy="186689"/>
          </a:xfrm>
          <a:prstGeom prst="rect">
            <a:avLst/>
          </a:prstGeom>
          <a:noFill/>
        </p:spPr>
        <p:txBody>
          <a:bodyPr wrap="none" lIns="0" rIns="0" tIns="0" bIns="0">
            <a:spAutoFit/>
          </a:bodyPr>
          <a:lstStyle/>
          <a:p>
            <a:r>
              <a:rPr sz="1100" b="0">
                <a:solidFill>
                  <a:srgbClr val="2E2E2E"/>
                </a:solidFill>
                <a:latin typeface="Calibri"/>
              </a:rPr>
              <a:t>share), Installed demand (</a:t>
            </a:r>
          </a:p>
        </p:txBody>
      </p:sp>
      <p:pic>
        <p:nvPicPr>
          <p:cNvPr id="56" name="Picture 55" descr="lock.png"/>
          <p:cNvPicPr>
            <a:picLocks noChangeAspect="1"/>
          </p:cNvPicPr>
          <p:nvPr/>
        </p:nvPicPr>
        <p:blipFill>
          <a:blip r:embed="rId4"/>
          <a:stretch>
            <a:fillRect/>
          </a:stretch>
        </p:blipFill>
        <p:spPr>
          <a:xfrm>
            <a:off x="4110756" y="1596497"/>
            <a:ext cx="128699" cy="187198"/>
          </a:xfrm>
          <a:prstGeom prst="rect">
            <a:avLst/>
          </a:prstGeom>
        </p:spPr>
      </p:pic>
      <p:sp>
        <p:nvSpPr>
          <p:cNvPr id="57" name="TextBox 56"/>
          <p:cNvSpPr txBox="1"/>
          <p:nvPr/>
        </p:nvSpPr>
        <p:spPr>
          <a:xfrm>
            <a:off x="4278252" y="1606276"/>
            <a:ext cx="1003332" cy="186689"/>
          </a:xfrm>
          <a:prstGeom prst="rect">
            <a:avLst/>
          </a:prstGeom>
          <a:noFill/>
        </p:spPr>
        <p:txBody>
          <a:bodyPr wrap="none" lIns="0" rIns="0" tIns="0" bIns="0">
            <a:spAutoFit/>
          </a:bodyPr>
          <a:lstStyle/>
          <a:p>
            <a:r>
              <a:rPr sz="1100" b="0">
                <a:solidFill>
                  <a:srgbClr val="2E2E2E"/>
                </a:solidFill>
                <a:latin typeface="Calibri"/>
              </a:rPr>
              <a:t>CAGR), Capsules</a:t>
            </a:r>
          </a:p>
        </p:txBody>
      </p:sp>
      <p:sp>
        <p:nvSpPr>
          <p:cNvPr id="58" name="TextBox 57"/>
          <p:cNvSpPr txBox="1"/>
          <p:nvPr/>
        </p:nvSpPr>
        <p:spPr>
          <a:xfrm>
            <a:off x="1752600" y="1773915"/>
            <a:ext cx="2650827" cy="186689"/>
          </a:xfrm>
          <a:prstGeom prst="rect">
            <a:avLst/>
          </a:prstGeom>
          <a:noFill/>
        </p:spPr>
        <p:txBody>
          <a:bodyPr wrap="none" lIns="0" rIns="0" tIns="0" bIns="0">
            <a:spAutoFit/>
          </a:bodyPr>
          <a:lstStyle/>
          <a:p>
            <a:r>
              <a:rPr sz="1100" b="0">
                <a:solidFill>
                  <a:srgbClr val="2E2E2E"/>
                </a:solidFill>
                <a:latin typeface="Calibri"/>
              </a:rPr>
              <a:t>and Softgels demand, Accelerating vs history.</a:t>
            </a:r>
          </a:p>
        </p:txBody>
      </p:sp>
      <p:sp>
        <p:nvSpPr>
          <p:cNvPr id="59" name="TextBox 58"/>
          <p:cNvSpPr txBox="1"/>
          <p:nvPr/>
        </p:nvSpPr>
        <p:spPr>
          <a:xfrm>
            <a:off x="5562600" y="1606276"/>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60" name="Picture 59" descr="lock.png"/>
          <p:cNvPicPr>
            <a:picLocks noChangeAspect="1"/>
          </p:cNvPicPr>
          <p:nvPr/>
        </p:nvPicPr>
        <p:blipFill>
          <a:blip r:embed="rId4"/>
          <a:stretch>
            <a:fillRect/>
          </a:stretch>
        </p:blipFill>
        <p:spPr>
          <a:xfrm>
            <a:off x="6797766" y="1596497"/>
            <a:ext cx="128699" cy="187198"/>
          </a:xfrm>
          <a:prstGeom prst="rect">
            <a:avLst/>
          </a:prstGeom>
        </p:spPr>
      </p:pic>
      <p:sp>
        <p:nvSpPr>
          <p:cNvPr id="61" name="TextBox 60"/>
          <p:cNvSpPr txBox="1"/>
          <p:nvPr/>
        </p:nvSpPr>
        <p:spPr>
          <a:xfrm>
            <a:off x="6965262" y="1606276"/>
            <a:ext cx="689297" cy="186689"/>
          </a:xfrm>
          <a:prstGeom prst="rect">
            <a:avLst/>
          </a:prstGeom>
          <a:noFill/>
        </p:spPr>
        <p:txBody>
          <a:bodyPr wrap="none" lIns="0" rIns="0" tIns="0" bIns="0">
            <a:spAutoFit/>
          </a:bodyPr>
          <a:lstStyle/>
          <a:p>
            <a:r>
              <a:rPr sz="1100" b="0">
                <a:solidFill>
                  <a:srgbClr val="2E2E2E"/>
                </a:solidFill>
                <a:latin typeface="Calibri"/>
              </a:rPr>
              <a:t>BPS, Rising</a:t>
            </a:r>
          </a:p>
        </p:txBody>
      </p:sp>
      <p:sp>
        <p:nvSpPr>
          <p:cNvPr id="62" name="TextBox 61"/>
          <p:cNvSpPr txBox="1"/>
          <p:nvPr/>
        </p:nvSpPr>
        <p:spPr>
          <a:xfrm>
            <a:off x="5562600" y="1773915"/>
            <a:ext cx="747414" cy="186689"/>
          </a:xfrm>
          <a:prstGeom prst="rect">
            <a:avLst/>
          </a:prstGeom>
          <a:noFill/>
        </p:spPr>
        <p:txBody>
          <a:bodyPr wrap="none" lIns="0" rIns="0" tIns="0" bIns="0">
            <a:spAutoFit/>
          </a:bodyPr>
          <a:lstStyle/>
          <a:p>
            <a:r>
              <a:rPr sz="1100" b="0">
                <a:solidFill>
                  <a:srgbClr val="2E2E2E"/>
                </a:solidFill>
                <a:latin typeface="Calibri"/>
              </a:rPr>
              <a:t>realisation (</a:t>
            </a:r>
          </a:p>
        </p:txBody>
      </p:sp>
      <p:pic>
        <p:nvPicPr>
          <p:cNvPr id="63" name="Picture 62" descr="lock.png"/>
          <p:cNvPicPr>
            <a:picLocks noChangeAspect="1"/>
          </p:cNvPicPr>
          <p:nvPr/>
        </p:nvPicPr>
        <p:blipFill>
          <a:blip r:embed="rId4"/>
          <a:stretch>
            <a:fillRect/>
          </a:stretch>
        </p:blipFill>
        <p:spPr>
          <a:xfrm>
            <a:off x="6258066" y="1764137"/>
            <a:ext cx="128699" cy="187198"/>
          </a:xfrm>
          <a:prstGeom prst="rect">
            <a:avLst/>
          </a:prstGeom>
        </p:spPr>
      </p:pic>
      <p:sp>
        <p:nvSpPr>
          <p:cNvPr id="64" name="TextBox 63"/>
          <p:cNvSpPr txBox="1"/>
          <p:nvPr/>
        </p:nvSpPr>
        <p:spPr>
          <a:xfrm>
            <a:off x="6425562" y="1773915"/>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65" name="TextBox 64"/>
          <p:cNvSpPr txBox="1"/>
          <p:nvPr/>
        </p:nvSpPr>
        <p:spPr>
          <a:xfrm>
            <a:off x="8420100" y="1606276"/>
            <a:ext cx="1087660" cy="186689"/>
          </a:xfrm>
          <a:prstGeom prst="rect">
            <a:avLst/>
          </a:prstGeom>
          <a:noFill/>
        </p:spPr>
        <p:txBody>
          <a:bodyPr wrap="none" lIns="0" rIns="0" tIns="0" bIns="0">
            <a:spAutoFit/>
          </a:bodyPr>
          <a:lstStyle/>
          <a:p>
            <a:r>
              <a:rPr sz="1100" b="0">
                <a:solidFill>
                  <a:srgbClr val="2E2E2E"/>
                </a:solidFill>
                <a:latin typeface="Calibri"/>
              </a:rPr>
              <a:t>Scale Chewables (</a:t>
            </a:r>
          </a:p>
        </p:txBody>
      </p:sp>
      <p:pic>
        <p:nvPicPr>
          <p:cNvPr id="66" name="Picture 65" descr="lock.png"/>
          <p:cNvPicPr>
            <a:picLocks noChangeAspect="1"/>
          </p:cNvPicPr>
          <p:nvPr/>
        </p:nvPicPr>
        <p:blipFill>
          <a:blip r:embed="rId4"/>
          <a:stretch>
            <a:fillRect/>
          </a:stretch>
        </p:blipFill>
        <p:spPr>
          <a:xfrm>
            <a:off x="9455812" y="1596497"/>
            <a:ext cx="128699" cy="187198"/>
          </a:xfrm>
          <a:prstGeom prst="rect">
            <a:avLst/>
          </a:prstGeom>
        </p:spPr>
      </p:pic>
      <p:sp>
        <p:nvSpPr>
          <p:cNvPr id="67" name="TextBox 66"/>
          <p:cNvSpPr txBox="1"/>
          <p:nvPr/>
        </p:nvSpPr>
        <p:spPr>
          <a:xfrm>
            <a:off x="9623308" y="1606276"/>
            <a:ext cx="2122859" cy="186689"/>
          </a:xfrm>
          <a:prstGeom prst="rect">
            <a:avLst/>
          </a:prstGeom>
          <a:noFill/>
        </p:spPr>
        <p:txBody>
          <a:bodyPr wrap="none" lIns="0" rIns="0" tIns="0" bIns="0">
            <a:spAutoFit/>
          </a:bodyPr>
          <a:lstStyle/>
          <a:p>
            <a:r>
              <a:rPr sz="1100" b="0">
                <a:solidFill>
                  <a:srgbClr val="2E2E2E"/>
                </a:solidFill>
                <a:latin typeface="Calibri"/>
              </a:rPr>
              <a:t>), Mix shift to Capsules and Softgels,</a:t>
            </a:r>
          </a:p>
        </p:txBody>
      </p:sp>
      <p:pic>
        <p:nvPicPr>
          <p:cNvPr id="68" name="Picture 67" descr="lock.png"/>
          <p:cNvPicPr>
            <a:picLocks noChangeAspect="1"/>
          </p:cNvPicPr>
          <p:nvPr/>
        </p:nvPicPr>
        <p:blipFill>
          <a:blip r:embed="rId4"/>
          <a:stretch>
            <a:fillRect/>
          </a:stretch>
        </p:blipFill>
        <p:spPr>
          <a:xfrm>
            <a:off x="8406632" y="1764137"/>
            <a:ext cx="128699" cy="187198"/>
          </a:xfrm>
          <a:prstGeom prst="rect">
            <a:avLst/>
          </a:prstGeom>
        </p:spPr>
      </p:pic>
      <p:sp>
        <p:nvSpPr>
          <p:cNvPr id="69" name="TextBox 68"/>
          <p:cNvSpPr txBox="1"/>
          <p:nvPr/>
        </p:nvSpPr>
        <p:spPr>
          <a:xfrm>
            <a:off x="8574128" y="1773915"/>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70" name="TextBox 69"/>
          <p:cNvSpPr txBox="1"/>
          <p:nvPr/>
        </p:nvSpPr>
        <p:spPr>
          <a:xfrm>
            <a:off x="1752600" y="2117380"/>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71" name="Picture 70" descr="lock.png"/>
          <p:cNvPicPr>
            <a:picLocks noChangeAspect="1"/>
          </p:cNvPicPr>
          <p:nvPr/>
        </p:nvPicPr>
        <p:blipFill>
          <a:blip r:embed="rId4"/>
          <a:stretch>
            <a:fillRect/>
          </a:stretch>
        </p:blipFill>
        <p:spPr>
          <a:xfrm>
            <a:off x="2438789" y="2107601"/>
            <a:ext cx="128699" cy="187198"/>
          </a:xfrm>
          <a:prstGeom prst="rect">
            <a:avLst/>
          </a:prstGeom>
        </p:spPr>
      </p:pic>
      <p:sp>
        <p:nvSpPr>
          <p:cNvPr id="72" name="TextBox 71"/>
          <p:cNvSpPr txBox="1"/>
          <p:nvPr/>
        </p:nvSpPr>
        <p:spPr>
          <a:xfrm>
            <a:off x="2606285" y="2117380"/>
            <a:ext cx="1683568" cy="186689"/>
          </a:xfrm>
          <a:prstGeom prst="rect">
            <a:avLst/>
          </a:prstGeom>
          <a:noFill/>
        </p:spPr>
        <p:txBody>
          <a:bodyPr wrap="none" lIns="0" rIns="0" tIns="0" bIns="0">
            <a:spAutoFit/>
          </a:bodyPr>
          <a:lstStyle/>
          <a:p>
            <a:r>
              <a:rPr sz="1100" b="0">
                <a:solidFill>
                  <a:srgbClr val="2E2E2E"/>
                </a:solidFill>
                <a:latin typeface="Calibri"/>
              </a:rPr>
              <a:t>share), Above-market pace (</a:t>
            </a:r>
          </a:p>
        </p:txBody>
      </p:sp>
      <p:pic>
        <p:nvPicPr>
          <p:cNvPr id="73" name="Picture 72" descr="lock.png"/>
          <p:cNvPicPr>
            <a:picLocks noChangeAspect="1"/>
          </p:cNvPicPr>
          <p:nvPr/>
        </p:nvPicPr>
        <p:blipFill>
          <a:blip r:embed="rId4"/>
          <a:stretch>
            <a:fillRect/>
          </a:stretch>
        </p:blipFill>
        <p:spPr>
          <a:xfrm>
            <a:off x="4237905" y="2107601"/>
            <a:ext cx="128699" cy="187198"/>
          </a:xfrm>
          <a:prstGeom prst="rect">
            <a:avLst/>
          </a:prstGeom>
        </p:spPr>
      </p:pic>
      <p:sp>
        <p:nvSpPr>
          <p:cNvPr id="74" name="TextBox 73"/>
          <p:cNvSpPr txBox="1"/>
          <p:nvPr/>
        </p:nvSpPr>
        <p:spPr>
          <a:xfrm>
            <a:off x="4405401" y="2117380"/>
            <a:ext cx="684113" cy="186689"/>
          </a:xfrm>
          <a:prstGeom prst="rect">
            <a:avLst/>
          </a:prstGeom>
          <a:noFill/>
        </p:spPr>
        <p:txBody>
          <a:bodyPr wrap="none" lIns="0" rIns="0" tIns="0" bIns="0">
            <a:spAutoFit/>
          </a:bodyPr>
          <a:lstStyle/>
          <a:p>
            <a:r>
              <a:rPr sz="1100" b="0">
                <a:solidFill>
                  <a:srgbClr val="2E2E2E"/>
                </a:solidFill>
                <a:latin typeface="Calibri"/>
              </a:rPr>
              <a:t>), Capsules</a:t>
            </a:r>
          </a:p>
        </p:txBody>
      </p:sp>
      <p:sp>
        <p:nvSpPr>
          <p:cNvPr id="75" name="TextBox 74"/>
          <p:cNvSpPr txBox="1"/>
          <p:nvPr/>
        </p:nvSpPr>
        <p:spPr>
          <a:xfrm>
            <a:off x="1752600" y="2285020"/>
            <a:ext cx="2650827" cy="186689"/>
          </a:xfrm>
          <a:prstGeom prst="rect">
            <a:avLst/>
          </a:prstGeom>
          <a:noFill/>
        </p:spPr>
        <p:txBody>
          <a:bodyPr wrap="none" lIns="0" rIns="0" tIns="0" bIns="0">
            <a:spAutoFit/>
          </a:bodyPr>
          <a:lstStyle/>
          <a:p>
            <a:r>
              <a:rPr sz="1100" b="0">
                <a:solidFill>
                  <a:srgbClr val="2E2E2E"/>
                </a:solidFill>
                <a:latin typeface="Calibri"/>
              </a:rPr>
              <a:t>and Softgels demand, Accelerating vs history.</a:t>
            </a:r>
          </a:p>
        </p:txBody>
      </p:sp>
      <p:sp>
        <p:nvSpPr>
          <p:cNvPr id="76" name="TextBox 75"/>
          <p:cNvSpPr txBox="1"/>
          <p:nvPr/>
        </p:nvSpPr>
        <p:spPr>
          <a:xfrm>
            <a:off x="5562600" y="2201200"/>
            <a:ext cx="1113035" cy="186689"/>
          </a:xfrm>
          <a:prstGeom prst="rect">
            <a:avLst/>
          </a:prstGeom>
          <a:noFill/>
        </p:spPr>
        <p:txBody>
          <a:bodyPr wrap="none" lIns="0" rIns="0" tIns="0" bIns="0">
            <a:spAutoFit/>
          </a:bodyPr>
          <a:lstStyle/>
          <a:p>
            <a:r>
              <a:rPr sz="1100" b="0">
                <a:solidFill>
                  <a:srgbClr val="2E2E2E"/>
                </a:solidFill>
                <a:latin typeface="Calibri"/>
              </a:rPr>
              <a:t>Rising realisation (</a:t>
            </a:r>
          </a:p>
        </p:txBody>
      </p:sp>
      <p:pic>
        <p:nvPicPr>
          <p:cNvPr id="77" name="Picture 76" descr="lock.png"/>
          <p:cNvPicPr>
            <a:picLocks noChangeAspect="1"/>
          </p:cNvPicPr>
          <p:nvPr/>
        </p:nvPicPr>
        <p:blipFill>
          <a:blip r:embed="rId4"/>
          <a:stretch>
            <a:fillRect/>
          </a:stretch>
        </p:blipFill>
        <p:spPr>
          <a:xfrm>
            <a:off x="6623687" y="2191421"/>
            <a:ext cx="128699" cy="187198"/>
          </a:xfrm>
          <a:prstGeom prst="rect">
            <a:avLst/>
          </a:prstGeom>
        </p:spPr>
      </p:pic>
      <p:sp>
        <p:nvSpPr>
          <p:cNvPr id="78" name="TextBox 77"/>
          <p:cNvSpPr txBox="1"/>
          <p:nvPr/>
        </p:nvSpPr>
        <p:spPr>
          <a:xfrm>
            <a:off x="6791183" y="2201200"/>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79" name="TextBox 78"/>
          <p:cNvSpPr txBox="1"/>
          <p:nvPr/>
        </p:nvSpPr>
        <p:spPr>
          <a:xfrm>
            <a:off x="8420100" y="2117380"/>
            <a:ext cx="1087660" cy="186689"/>
          </a:xfrm>
          <a:prstGeom prst="rect">
            <a:avLst/>
          </a:prstGeom>
          <a:noFill/>
        </p:spPr>
        <p:txBody>
          <a:bodyPr wrap="none" lIns="0" rIns="0" tIns="0" bIns="0">
            <a:spAutoFit/>
          </a:bodyPr>
          <a:lstStyle/>
          <a:p>
            <a:r>
              <a:rPr sz="1100" b="0">
                <a:solidFill>
                  <a:srgbClr val="2E2E2E"/>
                </a:solidFill>
                <a:latin typeface="Calibri"/>
              </a:rPr>
              <a:t>Scale Chewables (</a:t>
            </a:r>
          </a:p>
        </p:txBody>
      </p:sp>
      <p:pic>
        <p:nvPicPr>
          <p:cNvPr id="80" name="Picture 79" descr="lock.png"/>
          <p:cNvPicPr>
            <a:picLocks noChangeAspect="1"/>
          </p:cNvPicPr>
          <p:nvPr/>
        </p:nvPicPr>
        <p:blipFill>
          <a:blip r:embed="rId4"/>
          <a:stretch>
            <a:fillRect/>
          </a:stretch>
        </p:blipFill>
        <p:spPr>
          <a:xfrm>
            <a:off x="9455812" y="2107601"/>
            <a:ext cx="128699" cy="187198"/>
          </a:xfrm>
          <a:prstGeom prst="rect">
            <a:avLst/>
          </a:prstGeom>
        </p:spPr>
      </p:pic>
      <p:sp>
        <p:nvSpPr>
          <p:cNvPr id="81" name="TextBox 80"/>
          <p:cNvSpPr txBox="1"/>
          <p:nvPr/>
        </p:nvSpPr>
        <p:spPr>
          <a:xfrm>
            <a:off x="9623308" y="2117380"/>
            <a:ext cx="2122859" cy="186689"/>
          </a:xfrm>
          <a:prstGeom prst="rect">
            <a:avLst/>
          </a:prstGeom>
          <a:noFill/>
        </p:spPr>
        <p:txBody>
          <a:bodyPr wrap="none" lIns="0" rIns="0" tIns="0" bIns="0">
            <a:spAutoFit/>
          </a:bodyPr>
          <a:lstStyle/>
          <a:p>
            <a:r>
              <a:rPr sz="1100" b="0">
                <a:solidFill>
                  <a:srgbClr val="2E2E2E"/>
                </a:solidFill>
                <a:latin typeface="Calibri"/>
              </a:rPr>
              <a:t>), Mix shift to Capsules and Softgels,</a:t>
            </a:r>
          </a:p>
        </p:txBody>
      </p:sp>
      <p:pic>
        <p:nvPicPr>
          <p:cNvPr id="82" name="Picture 81" descr="lock.png"/>
          <p:cNvPicPr>
            <a:picLocks noChangeAspect="1"/>
          </p:cNvPicPr>
          <p:nvPr/>
        </p:nvPicPr>
        <p:blipFill>
          <a:blip r:embed="rId4"/>
          <a:stretch>
            <a:fillRect/>
          </a:stretch>
        </p:blipFill>
        <p:spPr>
          <a:xfrm>
            <a:off x="8406632" y="2275241"/>
            <a:ext cx="128699" cy="187198"/>
          </a:xfrm>
          <a:prstGeom prst="rect">
            <a:avLst/>
          </a:prstGeom>
        </p:spPr>
      </p:pic>
      <p:sp>
        <p:nvSpPr>
          <p:cNvPr id="83" name="TextBox 82"/>
          <p:cNvSpPr txBox="1"/>
          <p:nvPr/>
        </p:nvSpPr>
        <p:spPr>
          <a:xfrm>
            <a:off x="8574128" y="2285020"/>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84" name="TextBox 83"/>
          <p:cNvSpPr txBox="1"/>
          <p:nvPr/>
        </p:nvSpPr>
        <p:spPr>
          <a:xfrm>
            <a:off x="1752600" y="2628483"/>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85" name="Picture 84" descr="lock.png"/>
          <p:cNvPicPr>
            <a:picLocks noChangeAspect="1"/>
          </p:cNvPicPr>
          <p:nvPr/>
        </p:nvPicPr>
        <p:blipFill>
          <a:blip r:embed="rId4"/>
          <a:stretch>
            <a:fillRect/>
          </a:stretch>
        </p:blipFill>
        <p:spPr>
          <a:xfrm>
            <a:off x="2438789" y="2618704"/>
            <a:ext cx="128699" cy="187198"/>
          </a:xfrm>
          <a:prstGeom prst="rect">
            <a:avLst/>
          </a:prstGeom>
        </p:spPr>
      </p:pic>
      <p:sp>
        <p:nvSpPr>
          <p:cNvPr id="86" name="TextBox 85"/>
          <p:cNvSpPr txBox="1"/>
          <p:nvPr/>
        </p:nvSpPr>
        <p:spPr>
          <a:xfrm>
            <a:off x="2606285" y="2628483"/>
            <a:ext cx="1683568" cy="186689"/>
          </a:xfrm>
          <a:prstGeom prst="rect">
            <a:avLst/>
          </a:prstGeom>
          <a:noFill/>
        </p:spPr>
        <p:txBody>
          <a:bodyPr wrap="none" lIns="0" rIns="0" tIns="0" bIns="0">
            <a:spAutoFit/>
          </a:bodyPr>
          <a:lstStyle/>
          <a:p>
            <a:r>
              <a:rPr sz="1100" b="0">
                <a:solidFill>
                  <a:srgbClr val="2E2E2E"/>
                </a:solidFill>
                <a:latin typeface="Calibri"/>
              </a:rPr>
              <a:t>share), Above-market pace (</a:t>
            </a:r>
          </a:p>
        </p:txBody>
      </p:sp>
      <p:pic>
        <p:nvPicPr>
          <p:cNvPr id="87" name="Picture 86" descr="lock.png"/>
          <p:cNvPicPr>
            <a:picLocks noChangeAspect="1"/>
          </p:cNvPicPr>
          <p:nvPr/>
        </p:nvPicPr>
        <p:blipFill>
          <a:blip r:embed="rId4"/>
          <a:stretch>
            <a:fillRect/>
          </a:stretch>
        </p:blipFill>
        <p:spPr>
          <a:xfrm>
            <a:off x="4237905" y="2618704"/>
            <a:ext cx="128699" cy="187198"/>
          </a:xfrm>
          <a:prstGeom prst="rect">
            <a:avLst/>
          </a:prstGeom>
        </p:spPr>
      </p:pic>
      <p:sp>
        <p:nvSpPr>
          <p:cNvPr id="88" name="TextBox 87"/>
          <p:cNvSpPr txBox="1"/>
          <p:nvPr/>
        </p:nvSpPr>
        <p:spPr>
          <a:xfrm>
            <a:off x="4405401" y="2628483"/>
            <a:ext cx="684113" cy="186689"/>
          </a:xfrm>
          <a:prstGeom prst="rect">
            <a:avLst/>
          </a:prstGeom>
          <a:noFill/>
        </p:spPr>
        <p:txBody>
          <a:bodyPr wrap="none" lIns="0" rIns="0" tIns="0" bIns="0">
            <a:spAutoFit/>
          </a:bodyPr>
          <a:lstStyle/>
          <a:p>
            <a:r>
              <a:rPr sz="1100" b="0">
                <a:solidFill>
                  <a:srgbClr val="2E2E2E"/>
                </a:solidFill>
                <a:latin typeface="Calibri"/>
              </a:rPr>
              <a:t>), Capsules</a:t>
            </a:r>
          </a:p>
        </p:txBody>
      </p:sp>
      <p:sp>
        <p:nvSpPr>
          <p:cNvPr id="89" name="TextBox 88"/>
          <p:cNvSpPr txBox="1"/>
          <p:nvPr/>
        </p:nvSpPr>
        <p:spPr>
          <a:xfrm>
            <a:off x="1752600" y="2796123"/>
            <a:ext cx="2650827" cy="186689"/>
          </a:xfrm>
          <a:prstGeom prst="rect">
            <a:avLst/>
          </a:prstGeom>
          <a:noFill/>
        </p:spPr>
        <p:txBody>
          <a:bodyPr wrap="none" lIns="0" rIns="0" tIns="0" bIns="0">
            <a:spAutoFit/>
          </a:bodyPr>
          <a:lstStyle/>
          <a:p>
            <a:r>
              <a:rPr sz="1100" b="0">
                <a:solidFill>
                  <a:srgbClr val="2E2E2E"/>
                </a:solidFill>
                <a:latin typeface="Calibri"/>
              </a:rPr>
              <a:t>and Softgels demand, Accelerating vs history.</a:t>
            </a:r>
          </a:p>
        </p:txBody>
      </p:sp>
      <p:sp>
        <p:nvSpPr>
          <p:cNvPr id="90" name="TextBox 89"/>
          <p:cNvSpPr txBox="1"/>
          <p:nvPr/>
        </p:nvSpPr>
        <p:spPr>
          <a:xfrm>
            <a:off x="8420100" y="2712303"/>
            <a:ext cx="1087660" cy="186689"/>
          </a:xfrm>
          <a:prstGeom prst="rect">
            <a:avLst/>
          </a:prstGeom>
          <a:noFill/>
        </p:spPr>
        <p:txBody>
          <a:bodyPr wrap="none" lIns="0" rIns="0" tIns="0" bIns="0">
            <a:spAutoFit/>
          </a:bodyPr>
          <a:lstStyle/>
          <a:p>
            <a:r>
              <a:rPr sz="1100" b="0">
                <a:solidFill>
                  <a:srgbClr val="2E2E2E"/>
                </a:solidFill>
                <a:latin typeface="Calibri"/>
              </a:rPr>
              <a:t>Scale Chewables (</a:t>
            </a:r>
          </a:p>
        </p:txBody>
      </p:sp>
      <p:pic>
        <p:nvPicPr>
          <p:cNvPr id="91" name="Picture 90" descr="lock.png"/>
          <p:cNvPicPr>
            <a:picLocks noChangeAspect="1"/>
          </p:cNvPicPr>
          <p:nvPr/>
        </p:nvPicPr>
        <p:blipFill>
          <a:blip r:embed="rId4"/>
          <a:stretch>
            <a:fillRect/>
          </a:stretch>
        </p:blipFill>
        <p:spPr>
          <a:xfrm>
            <a:off x="9455812" y="2702524"/>
            <a:ext cx="128699" cy="187198"/>
          </a:xfrm>
          <a:prstGeom prst="rect">
            <a:avLst/>
          </a:prstGeom>
        </p:spPr>
      </p:pic>
      <p:sp>
        <p:nvSpPr>
          <p:cNvPr id="92" name="TextBox 91"/>
          <p:cNvSpPr txBox="1"/>
          <p:nvPr/>
        </p:nvSpPr>
        <p:spPr>
          <a:xfrm>
            <a:off x="9623308" y="2712303"/>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93" name="Picture 92" descr="lock.png"/>
          <p:cNvPicPr>
            <a:picLocks noChangeAspect="1"/>
          </p:cNvPicPr>
          <p:nvPr/>
        </p:nvPicPr>
        <p:blipFill>
          <a:blip r:embed="rId4"/>
          <a:stretch>
            <a:fillRect/>
          </a:stretch>
        </p:blipFill>
        <p:spPr>
          <a:xfrm>
            <a:off x="9724776" y="2702524"/>
            <a:ext cx="128699" cy="187198"/>
          </a:xfrm>
          <a:prstGeom prst="rect">
            <a:avLst/>
          </a:prstGeom>
        </p:spPr>
      </p:pic>
      <p:sp>
        <p:nvSpPr>
          <p:cNvPr id="94" name="TextBox 93"/>
          <p:cNvSpPr txBox="1"/>
          <p:nvPr/>
        </p:nvSpPr>
        <p:spPr>
          <a:xfrm>
            <a:off x="9892272" y="2712303"/>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95" name="TextBox 94"/>
          <p:cNvSpPr txBox="1"/>
          <p:nvPr/>
        </p:nvSpPr>
        <p:spPr>
          <a:xfrm>
            <a:off x="1752600" y="3139587"/>
            <a:ext cx="1134318" cy="186689"/>
          </a:xfrm>
          <a:prstGeom prst="rect">
            <a:avLst/>
          </a:prstGeom>
          <a:noFill/>
        </p:spPr>
        <p:txBody>
          <a:bodyPr wrap="none" lIns="0" rIns="0" tIns="0" bIns="0">
            <a:spAutoFit/>
          </a:bodyPr>
          <a:lstStyle/>
          <a:p>
            <a:r>
              <a:rPr sz="1100" b="0">
                <a:solidFill>
                  <a:srgbClr val="2E2E2E"/>
                </a:solidFill>
                <a:latin typeface="Calibri"/>
              </a:rPr>
              <a:t>Installed demand (</a:t>
            </a:r>
          </a:p>
        </p:txBody>
      </p:sp>
      <p:pic>
        <p:nvPicPr>
          <p:cNvPr id="96" name="Picture 95" descr="lock.png"/>
          <p:cNvPicPr>
            <a:picLocks noChangeAspect="1"/>
          </p:cNvPicPr>
          <p:nvPr/>
        </p:nvPicPr>
        <p:blipFill>
          <a:blip r:embed="rId4"/>
          <a:stretch>
            <a:fillRect/>
          </a:stretch>
        </p:blipFill>
        <p:spPr>
          <a:xfrm>
            <a:off x="2834969" y="3129808"/>
            <a:ext cx="128699" cy="187198"/>
          </a:xfrm>
          <a:prstGeom prst="rect">
            <a:avLst/>
          </a:prstGeom>
        </p:spPr>
      </p:pic>
      <p:sp>
        <p:nvSpPr>
          <p:cNvPr id="97" name="TextBox 96"/>
          <p:cNvSpPr txBox="1"/>
          <p:nvPr/>
        </p:nvSpPr>
        <p:spPr>
          <a:xfrm>
            <a:off x="3002465" y="3139587"/>
            <a:ext cx="2264452" cy="186689"/>
          </a:xfrm>
          <a:prstGeom prst="rect">
            <a:avLst/>
          </a:prstGeom>
          <a:noFill/>
        </p:spPr>
        <p:txBody>
          <a:bodyPr wrap="none" lIns="0" rIns="0" tIns="0" bIns="0">
            <a:spAutoFit/>
          </a:bodyPr>
          <a:lstStyle/>
          <a:p>
            <a:r>
              <a:rPr sz="1100" b="0">
                <a:solidFill>
                  <a:srgbClr val="2E2E2E"/>
                </a:solidFill>
                <a:latin typeface="Calibri"/>
              </a:rPr>
              <a:t>CAGR), Capsules and Softgels demand,</a:t>
            </a:r>
          </a:p>
        </p:txBody>
      </p:sp>
      <p:sp>
        <p:nvSpPr>
          <p:cNvPr id="98" name="TextBox 97"/>
          <p:cNvSpPr txBox="1"/>
          <p:nvPr/>
        </p:nvSpPr>
        <p:spPr>
          <a:xfrm>
            <a:off x="1752600" y="3307227"/>
            <a:ext cx="1389707" cy="186689"/>
          </a:xfrm>
          <a:prstGeom prst="rect">
            <a:avLst/>
          </a:prstGeom>
          <a:noFill/>
        </p:spPr>
        <p:txBody>
          <a:bodyPr wrap="none" lIns="0" rIns="0" tIns="0" bIns="0">
            <a:spAutoFit/>
          </a:bodyPr>
          <a:lstStyle/>
          <a:p>
            <a:r>
              <a:rPr sz="1100" b="0">
                <a:solidFill>
                  <a:srgbClr val="2E2E2E"/>
                </a:solidFill>
                <a:latin typeface="Calibri"/>
              </a:rPr>
              <a:t>Accelerating vs history.</a:t>
            </a:r>
          </a:p>
        </p:txBody>
      </p:sp>
      <p:sp>
        <p:nvSpPr>
          <p:cNvPr id="99" name="TextBox 98"/>
          <p:cNvSpPr txBox="1"/>
          <p:nvPr/>
        </p:nvSpPr>
        <p:spPr>
          <a:xfrm>
            <a:off x="5562600" y="3223407"/>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100" name="Picture 99" descr="lock.png"/>
          <p:cNvPicPr>
            <a:picLocks noChangeAspect="1"/>
          </p:cNvPicPr>
          <p:nvPr/>
        </p:nvPicPr>
        <p:blipFill>
          <a:blip r:embed="rId4"/>
          <a:stretch>
            <a:fillRect/>
          </a:stretch>
        </p:blipFill>
        <p:spPr>
          <a:xfrm>
            <a:off x="6797766" y="3213628"/>
            <a:ext cx="128699" cy="187198"/>
          </a:xfrm>
          <a:prstGeom prst="rect">
            <a:avLst/>
          </a:prstGeom>
        </p:spPr>
      </p:pic>
      <p:sp>
        <p:nvSpPr>
          <p:cNvPr id="101" name="TextBox 100"/>
          <p:cNvSpPr txBox="1"/>
          <p:nvPr/>
        </p:nvSpPr>
        <p:spPr>
          <a:xfrm>
            <a:off x="6965262" y="3223407"/>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02" name="TextBox 101"/>
          <p:cNvSpPr txBox="1"/>
          <p:nvPr/>
        </p:nvSpPr>
        <p:spPr>
          <a:xfrm>
            <a:off x="8420100" y="3139587"/>
            <a:ext cx="1087660" cy="186689"/>
          </a:xfrm>
          <a:prstGeom prst="rect">
            <a:avLst/>
          </a:prstGeom>
          <a:noFill/>
        </p:spPr>
        <p:txBody>
          <a:bodyPr wrap="none" lIns="0" rIns="0" tIns="0" bIns="0">
            <a:spAutoFit/>
          </a:bodyPr>
          <a:lstStyle/>
          <a:p>
            <a:r>
              <a:rPr sz="1100" b="0">
                <a:solidFill>
                  <a:srgbClr val="2E2E2E"/>
                </a:solidFill>
                <a:latin typeface="Calibri"/>
              </a:rPr>
              <a:t>Scale Chewables (</a:t>
            </a:r>
          </a:p>
        </p:txBody>
      </p:sp>
      <p:pic>
        <p:nvPicPr>
          <p:cNvPr id="103" name="Picture 102" descr="lock.png"/>
          <p:cNvPicPr>
            <a:picLocks noChangeAspect="1"/>
          </p:cNvPicPr>
          <p:nvPr/>
        </p:nvPicPr>
        <p:blipFill>
          <a:blip r:embed="rId4"/>
          <a:stretch>
            <a:fillRect/>
          </a:stretch>
        </p:blipFill>
        <p:spPr>
          <a:xfrm>
            <a:off x="9455812" y="3129808"/>
            <a:ext cx="128699" cy="187198"/>
          </a:xfrm>
          <a:prstGeom prst="rect">
            <a:avLst/>
          </a:prstGeom>
        </p:spPr>
      </p:pic>
      <p:sp>
        <p:nvSpPr>
          <p:cNvPr id="104" name="TextBox 103"/>
          <p:cNvSpPr txBox="1"/>
          <p:nvPr/>
        </p:nvSpPr>
        <p:spPr>
          <a:xfrm>
            <a:off x="9623308" y="3139587"/>
            <a:ext cx="2122859" cy="186689"/>
          </a:xfrm>
          <a:prstGeom prst="rect">
            <a:avLst/>
          </a:prstGeom>
          <a:noFill/>
        </p:spPr>
        <p:txBody>
          <a:bodyPr wrap="none" lIns="0" rIns="0" tIns="0" bIns="0">
            <a:spAutoFit/>
          </a:bodyPr>
          <a:lstStyle/>
          <a:p>
            <a:r>
              <a:rPr sz="1100" b="0">
                <a:solidFill>
                  <a:srgbClr val="2E2E2E"/>
                </a:solidFill>
                <a:latin typeface="Calibri"/>
              </a:rPr>
              <a:t>), Mix shift to Capsules and Softgels,</a:t>
            </a:r>
          </a:p>
        </p:txBody>
      </p:sp>
      <p:pic>
        <p:nvPicPr>
          <p:cNvPr id="105" name="Picture 104" descr="lock.png"/>
          <p:cNvPicPr>
            <a:picLocks noChangeAspect="1"/>
          </p:cNvPicPr>
          <p:nvPr/>
        </p:nvPicPr>
        <p:blipFill>
          <a:blip r:embed="rId4"/>
          <a:stretch>
            <a:fillRect/>
          </a:stretch>
        </p:blipFill>
        <p:spPr>
          <a:xfrm>
            <a:off x="8406632" y="3297448"/>
            <a:ext cx="128699" cy="187198"/>
          </a:xfrm>
          <a:prstGeom prst="rect">
            <a:avLst/>
          </a:prstGeom>
        </p:spPr>
      </p:pic>
      <p:sp>
        <p:nvSpPr>
          <p:cNvPr id="106" name="TextBox 105"/>
          <p:cNvSpPr txBox="1"/>
          <p:nvPr/>
        </p:nvSpPr>
        <p:spPr>
          <a:xfrm>
            <a:off x="8574128" y="3307227"/>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107" name="TextBox 106"/>
          <p:cNvSpPr txBox="1"/>
          <p:nvPr/>
        </p:nvSpPr>
        <p:spPr>
          <a:xfrm>
            <a:off x="1752600" y="3650690"/>
            <a:ext cx="1261467" cy="186689"/>
          </a:xfrm>
          <a:prstGeom prst="rect">
            <a:avLst/>
          </a:prstGeom>
          <a:noFill/>
        </p:spPr>
        <p:txBody>
          <a:bodyPr wrap="none" lIns="0" rIns="0" tIns="0" bIns="0">
            <a:spAutoFit/>
          </a:bodyPr>
          <a:lstStyle/>
          <a:p>
            <a:r>
              <a:rPr sz="1100" b="0">
                <a:solidFill>
                  <a:srgbClr val="2E2E2E"/>
                </a:solidFill>
                <a:latin typeface="Calibri"/>
              </a:rPr>
              <a:t>Above-market pace (</a:t>
            </a:r>
          </a:p>
        </p:txBody>
      </p:sp>
      <p:pic>
        <p:nvPicPr>
          <p:cNvPr id="108" name="Picture 107" descr="lock.png"/>
          <p:cNvPicPr>
            <a:picLocks noChangeAspect="1"/>
          </p:cNvPicPr>
          <p:nvPr/>
        </p:nvPicPr>
        <p:blipFill>
          <a:blip r:embed="rId4"/>
          <a:stretch>
            <a:fillRect/>
          </a:stretch>
        </p:blipFill>
        <p:spPr>
          <a:xfrm>
            <a:off x="2962118" y="3640911"/>
            <a:ext cx="128699" cy="187198"/>
          </a:xfrm>
          <a:prstGeom prst="rect">
            <a:avLst/>
          </a:prstGeom>
        </p:spPr>
      </p:pic>
      <p:sp>
        <p:nvSpPr>
          <p:cNvPr id="109" name="TextBox 108"/>
          <p:cNvSpPr txBox="1"/>
          <p:nvPr/>
        </p:nvSpPr>
        <p:spPr>
          <a:xfrm>
            <a:off x="3129614" y="3650690"/>
            <a:ext cx="1945233" cy="186689"/>
          </a:xfrm>
          <a:prstGeom prst="rect">
            <a:avLst/>
          </a:prstGeom>
          <a:noFill/>
        </p:spPr>
        <p:txBody>
          <a:bodyPr wrap="none" lIns="0" rIns="0" tIns="0" bIns="0">
            <a:spAutoFit/>
          </a:bodyPr>
          <a:lstStyle/>
          <a:p>
            <a:r>
              <a:rPr sz="1100" b="0">
                <a:solidFill>
                  <a:srgbClr val="2E2E2E"/>
                </a:solidFill>
                <a:latin typeface="Calibri"/>
              </a:rPr>
              <a:t>), Capsules and Softgels demand,</a:t>
            </a:r>
          </a:p>
        </p:txBody>
      </p:sp>
      <p:sp>
        <p:nvSpPr>
          <p:cNvPr id="110" name="TextBox 109"/>
          <p:cNvSpPr txBox="1"/>
          <p:nvPr/>
        </p:nvSpPr>
        <p:spPr>
          <a:xfrm>
            <a:off x="1752600" y="3818330"/>
            <a:ext cx="1389707" cy="186689"/>
          </a:xfrm>
          <a:prstGeom prst="rect">
            <a:avLst/>
          </a:prstGeom>
          <a:noFill/>
        </p:spPr>
        <p:txBody>
          <a:bodyPr wrap="none" lIns="0" rIns="0" tIns="0" bIns="0">
            <a:spAutoFit/>
          </a:bodyPr>
          <a:lstStyle/>
          <a:p>
            <a:r>
              <a:rPr sz="1100" b="0">
                <a:solidFill>
                  <a:srgbClr val="2E2E2E"/>
                </a:solidFill>
                <a:latin typeface="Calibri"/>
              </a:rPr>
              <a:t>Accelerating vs history.</a:t>
            </a:r>
          </a:p>
        </p:txBody>
      </p:sp>
      <p:sp>
        <p:nvSpPr>
          <p:cNvPr id="111" name="TextBox 110"/>
          <p:cNvSpPr txBox="1"/>
          <p:nvPr/>
        </p:nvSpPr>
        <p:spPr>
          <a:xfrm>
            <a:off x="5562600" y="3734510"/>
            <a:ext cx="1113035" cy="186689"/>
          </a:xfrm>
          <a:prstGeom prst="rect">
            <a:avLst/>
          </a:prstGeom>
          <a:noFill/>
        </p:spPr>
        <p:txBody>
          <a:bodyPr wrap="none" lIns="0" rIns="0" tIns="0" bIns="0">
            <a:spAutoFit/>
          </a:bodyPr>
          <a:lstStyle/>
          <a:p>
            <a:r>
              <a:rPr sz="1100" b="0">
                <a:solidFill>
                  <a:srgbClr val="2E2E2E"/>
                </a:solidFill>
                <a:latin typeface="Calibri"/>
              </a:rPr>
              <a:t>Rising realisation (</a:t>
            </a:r>
          </a:p>
        </p:txBody>
      </p:sp>
      <p:pic>
        <p:nvPicPr>
          <p:cNvPr id="112" name="Picture 111" descr="lock.png"/>
          <p:cNvPicPr>
            <a:picLocks noChangeAspect="1"/>
          </p:cNvPicPr>
          <p:nvPr/>
        </p:nvPicPr>
        <p:blipFill>
          <a:blip r:embed="rId4"/>
          <a:stretch>
            <a:fillRect/>
          </a:stretch>
        </p:blipFill>
        <p:spPr>
          <a:xfrm>
            <a:off x="6623687" y="3724731"/>
            <a:ext cx="128699" cy="187198"/>
          </a:xfrm>
          <a:prstGeom prst="rect">
            <a:avLst/>
          </a:prstGeom>
        </p:spPr>
      </p:pic>
      <p:sp>
        <p:nvSpPr>
          <p:cNvPr id="113" name="TextBox 112"/>
          <p:cNvSpPr txBox="1"/>
          <p:nvPr/>
        </p:nvSpPr>
        <p:spPr>
          <a:xfrm>
            <a:off x="6791183" y="3734510"/>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114" name="TextBox 113"/>
          <p:cNvSpPr txBox="1"/>
          <p:nvPr/>
        </p:nvSpPr>
        <p:spPr>
          <a:xfrm>
            <a:off x="8420100" y="3650690"/>
            <a:ext cx="1087660" cy="186689"/>
          </a:xfrm>
          <a:prstGeom prst="rect">
            <a:avLst/>
          </a:prstGeom>
          <a:noFill/>
        </p:spPr>
        <p:txBody>
          <a:bodyPr wrap="none" lIns="0" rIns="0" tIns="0" bIns="0">
            <a:spAutoFit/>
          </a:bodyPr>
          <a:lstStyle/>
          <a:p>
            <a:r>
              <a:rPr sz="1100" b="0">
                <a:solidFill>
                  <a:srgbClr val="2E2E2E"/>
                </a:solidFill>
                <a:latin typeface="Calibri"/>
              </a:rPr>
              <a:t>Scale Chewables (</a:t>
            </a:r>
          </a:p>
        </p:txBody>
      </p:sp>
      <p:pic>
        <p:nvPicPr>
          <p:cNvPr id="115" name="Picture 114" descr="lock.png"/>
          <p:cNvPicPr>
            <a:picLocks noChangeAspect="1"/>
          </p:cNvPicPr>
          <p:nvPr/>
        </p:nvPicPr>
        <p:blipFill>
          <a:blip r:embed="rId4"/>
          <a:stretch>
            <a:fillRect/>
          </a:stretch>
        </p:blipFill>
        <p:spPr>
          <a:xfrm>
            <a:off x="9455812" y="3640911"/>
            <a:ext cx="128699" cy="187198"/>
          </a:xfrm>
          <a:prstGeom prst="rect">
            <a:avLst/>
          </a:prstGeom>
        </p:spPr>
      </p:pic>
      <p:sp>
        <p:nvSpPr>
          <p:cNvPr id="116" name="TextBox 115"/>
          <p:cNvSpPr txBox="1"/>
          <p:nvPr/>
        </p:nvSpPr>
        <p:spPr>
          <a:xfrm>
            <a:off x="9623308" y="3650690"/>
            <a:ext cx="2122859" cy="186689"/>
          </a:xfrm>
          <a:prstGeom prst="rect">
            <a:avLst/>
          </a:prstGeom>
          <a:noFill/>
        </p:spPr>
        <p:txBody>
          <a:bodyPr wrap="none" lIns="0" rIns="0" tIns="0" bIns="0">
            <a:spAutoFit/>
          </a:bodyPr>
          <a:lstStyle/>
          <a:p>
            <a:r>
              <a:rPr sz="1100" b="0">
                <a:solidFill>
                  <a:srgbClr val="2E2E2E"/>
                </a:solidFill>
                <a:latin typeface="Calibri"/>
              </a:rPr>
              <a:t>), Mix shift to Capsules and Softgels,</a:t>
            </a:r>
          </a:p>
        </p:txBody>
      </p:sp>
      <p:pic>
        <p:nvPicPr>
          <p:cNvPr id="117" name="Picture 116" descr="lock.png"/>
          <p:cNvPicPr>
            <a:picLocks noChangeAspect="1"/>
          </p:cNvPicPr>
          <p:nvPr/>
        </p:nvPicPr>
        <p:blipFill>
          <a:blip r:embed="rId4"/>
          <a:stretch>
            <a:fillRect/>
          </a:stretch>
        </p:blipFill>
        <p:spPr>
          <a:xfrm>
            <a:off x="8406632" y="3808551"/>
            <a:ext cx="128699" cy="187198"/>
          </a:xfrm>
          <a:prstGeom prst="rect">
            <a:avLst/>
          </a:prstGeom>
        </p:spPr>
      </p:pic>
      <p:sp>
        <p:nvSpPr>
          <p:cNvPr id="118" name="TextBox 117"/>
          <p:cNvSpPr txBox="1"/>
          <p:nvPr/>
        </p:nvSpPr>
        <p:spPr>
          <a:xfrm>
            <a:off x="8574128" y="3818330"/>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119" name="TextBox 118"/>
          <p:cNvSpPr txBox="1"/>
          <p:nvPr/>
        </p:nvSpPr>
        <p:spPr>
          <a:xfrm>
            <a:off x="1752600" y="4161794"/>
            <a:ext cx="1134318" cy="186689"/>
          </a:xfrm>
          <a:prstGeom prst="rect">
            <a:avLst/>
          </a:prstGeom>
          <a:noFill/>
        </p:spPr>
        <p:txBody>
          <a:bodyPr wrap="none" lIns="0" rIns="0" tIns="0" bIns="0">
            <a:spAutoFit/>
          </a:bodyPr>
          <a:lstStyle/>
          <a:p>
            <a:r>
              <a:rPr sz="1100" b="0">
                <a:solidFill>
                  <a:srgbClr val="2E2E2E"/>
                </a:solidFill>
                <a:latin typeface="Calibri"/>
              </a:rPr>
              <a:t>Installed demand (</a:t>
            </a:r>
          </a:p>
        </p:txBody>
      </p:sp>
      <p:pic>
        <p:nvPicPr>
          <p:cNvPr id="120" name="Picture 119" descr="lock.png"/>
          <p:cNvPicPr>
            <a:picLocks noChangeAspect="1"/>
          </p:cNvPicPr>
          <p:nvPr/>
        </p:nvPicPr>
        <p:blipFill>
          <a:blip r:embed="rId4"/>
          <a:stretch>
            <a:fillRect/>
          </a:stretch>
        </p:blipFill>
        <p:spPr>
          <a:xfrm>
            <a:off x="2834969" y="4152015"/>
            <a:ext cx="128699" cy="187198"/>
          </a:xfrm>
          <a:prstGeom prst="rect">
            <a:avLst/>
          </a:prstGeom>
        </p:spPr>
      </p:pic>
      <p:sp>
        <p:nvSpPr>
          <p:cNvPr id="121" name="TextBox 120"/>
          <p:cNvSpPr txBox="1"/>
          <p:nvPr/>
        </p:nvSpPr>
        <p:spPr>
          <a:xfrm>
            <a:off x="3002465" y="4161794"/>
            <a:ext cx="2264452" cy="186689"/>
          </a:xfrm>
          <a:prstGeom prst="rect">
            <a:avLst/>
          </a:prstGeom>
          <a:noFill/>
        </p:spPr>
        <p:txBody>
          <a:bodyPr wrap="none" lIns="0" rIns="0" tIns="0" bIns="0">
            <a:spAutoFit/>
          </a:bodyPr>
          <a:lstStyle/>
          <a:p>
            <a:r>
              <a:rPr sz="1100" b="0">
                <a:solidFill>
                  <a:srgbClr val="2E2E2E"/>
                </a:solidFill>
                <a:latin typeface="Calibri"/>
              </a:rPr>
              <a:t>CAGR), Capsules and Softgels demand,</a:t>
            </a:r>
          </a:p>
        </p:txBody>
      </p:sp>
      <p:sp>
        <p:nvSpPr>
          <p:cNvPr id="122" name="TextBox 121"/>
          <p:cNvSpPr txBox="1"/>
          <p:nvPr/>
        </p:nvSpPr>
        <p:spPr>
          <a:xfrm>
            <a:off x="1752600" y="4329434"/>
            <a:ext cx="1389707" cy="186689"/>
          </a:xfrm>
          <a:prstGeom prst="rect">
            <a:avLst/>
          </a:prstGeom>
          <a:noFill/>
        </p:spPr>
        <p:txBody>
          <a:bodyPr wrap="none" lIns="0" rIns="0" tIns="0" bIns="0">
            <a:spAutoFit/>
          </a:bodyPr>
          <a:lstStyle/>
          <a:p>
            <a:r>
              <a:rPr sz="1100" b="0">
                <a:solidFill>
                  <a:srgbClr val="2E2E2E"/>
                </a:solidFill>
                <a:latin typeface="Calibri"/>
              </a:rPr>
              <a:t>Accelerating vs history.</a:t>
            </a:r>
          </a:p>
        </p:txBody>
      </p:sp>
      <p:sp>
        <p:nvSpPr>
          <p:cNvPr id="123" name="TextBox 122"/>
          <p:cNvSpPr txBox="1"/>
          <p:nvPr/>
        </p:nvSpPr>
        <p:spPr>
          <a:xfrm>
            <a:off x="5562600" y="4245614"/>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124" name="Picture 123" descr="lock.png"/>
          <p:cNvPicPr>
            <a:picLocks noChangeAspect="1"/>
          </p:cNvPicPr>
          <p:nvPr/>
        </p:nvPicPr>
        <p:blipFill>
          <a:blip r:embed="rId4"/>
          <a:stretch>
            <a:fillRect/>
          </a:stretch>
        </p:blipFill>
        <p:spPr>
          <a:xfrm>
            <a:off x="6797766" y="4235835"/>
            <a:ext cx="128699" cy="187198"/>
          </a:xfrm>
          <a:prstGeom prst="rect">
            <a:avLst/>
          </a:prstGeom>
        </p:spPr>
      </p:pic>
      <p:sp>
        <p:nvSpPr>
          <p:cNvPr id="125" name="TextBox 124"/>
          <p:cNvSpPr txBox="1"/>
          <p:nvPr/>
        </p:nvSpPr>
        <p:spPr>
          <a:xfrm>
            <a:off x="6965262" y="4245614"/>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26" name="TextBox 125"/>
          <p:cNvSpPr txBox="1"/>
          <p:nvPr/>
        </p:nvSpPr>
        <p:spPr>
          <a:xfrm>
            <a:off x="8420100" y="4161794"/>
            <a:ext cx="1087660" cy="186689"/>
          </a:xfrm>
          <a:prstGeom prst="rect">
            <a:avLst/>
          </a:prstGeom>
          <a:noFill/>
        </p:spPr>
        <p:txBody>
          <a:bodyPr wrap="none" lIns="0" rIns="0" tIns="0" bIns="0">
            <a:spAutoFit/>
          </a:bodyPr>
          <a:lstStyle/>
          <a:p>
            <a:r>
              <a:rPr sz="1100" b="0">
                <a:solidFill>
                  <a:srgbClr val="2E2E2E"/>
                </a:solidFill>
                <a:latin typeface="Calibri"/>
              </a:rPr>
              <a:t>Scale Chewables (</a:t>
            </a:r>
          </a:p>
        </p:txBody>
      </p:sp>
      <p:pic>
        <p:nvPicPr>
          <p:cNvPr id="127" name="Picture 126" descr="lock.png"/>
          <p:cNvPicPr>
            <a:picLocks noChangeAspect="1"/>
          </p:cNvPicPr>
          <p:nvPr/>
        </p:nvPicPr>
        <p:blipFill>
          <a:blip r:embed="rId4"/>
          <a:stretch>
            <a:fillRect/>
          </a:stretch>
        </p:blipFill>
        <p:spPr>
          <a:xfrm>
            <a:off x="9455812" y="4152015"/>
            <a:ext cx="128699" cy="187198"/>
          </a:xfrm>
          <a:prstGeom prst="rect">
            <a:avLst/>
          </a:prstGeom>
        </p:spPr>
      </p:pic>
      <p:sp>
        <p:nvSpPr>
          <p:cNvPr id="128" name="TextBox 127"/>
          <p:cNvSpPr txBox="1"/>
          <p:nvPr/>
        </p:nvSpPr>
        <p:spPr>
          <a:xfrm>
            <a:off x="9623308" y="4161794"/>
            <a:ext cx="2122859" cy="186689"/>
          </a:xfrm>
          <a:prstGeom prst="rect">
            <a:avLst/>
          </a:prstGeom>
          <a:noFill/>
        </p:spPr>
        <p:txBody>
          <a:bodyPr wrap="none" lIns="0" rIns="0" tIns="0" bIns="0">
            <a:spAutoFit/>
          </a:bodyPr>
          <a:lstStyle/>
          <a:p>
            <a:r>
              <a:rPr sz="1100" b="0">
                <a:solidFill>
                  <a:srgbClr val="2E2E2E"/>
                </a:solidFill>
                <a:latin typeface="Calibri"/>
              </a:rPr>
              <a:t>), Mix shift to Capsules and Softgels,</a:t>
            </a:r>
          </a:p>
        </p:txBody>
      </p:sp>
      <p:pic>
        <p:nvPicPr>
          <p:cNvPr id="129" name="Picture 128" descr="lock.png"/>
          <p:cNvPicPr>
            <a:picLocks noChangeAspect="1"/>
          </p:cNvPicPr>
          <p:nvPr/>
        </p:nvPicPr>
        <p:blipFill>
          <a:blip r:embed="rId4"/>
          <a:stretch>
            <a:fillRect/>
          </a:stretch>
        </p:blipFill>
        <p:spPr>
          <a:xfrm>
            <a:off x="8406632" y="4319655"/>
            <a:ext cx="128699" cy="187198"/>
          </a:xfrm>
          <a:prstGeom prst="rect">
            <a:avLst/>
          </a:prstGeom>
        </p:spPr>
      </p:pic>
      <p:sp>
        <p:nvSpPr>
          <p:cNvPr id="130" name="TextBox 129"/>
          <p:cNvSpPr txBox="1"/>
          <p:nvPr/>
        </p:nvSpPr>
        <p:spPr>
          <a:xfrm>
            <a:off x="8574128" y="4329434"/>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131" name="TextBox 130"/>
          <p:cNvSpPr txBox="1"/>
          <p:nvPr/>
        </p:nvSpPr>
        <p:spPr>
          <a:xfrm>
            <a:off x="304800" y="5232520"/>
            <a:ext cx="4373612" cy="186689"/>
          </a:xfrm>
          <a:prstGeom prst="rect">
            <a:avLst/>
          </a:prstGeom>
          <a:noFill/>
        </p:spPr>
        <p:txBody>
          <a:bodyPr wrap="none" lIns="0" rIns="0" tIns="0" bIns="0">
            <a:spAutoFit/>
          </a:bodyPr>
          <a:lstStyle/>
          <a:p>
            <a:r>
              <a:rPr sz="1100" b="0">
                <a:solidFill>
                  <a:srgbClr val="2E2E2E"/>
                </a:solidFill>
                <a:latin typeface="Calibri"/>
              </a:rPr>
              <a:t>▪ North America, Europe, South Asia &amp; Pacific anchor scale with a combined</a:t>
            </a:r>
          </a:p>
        </p:txBody>
      </p:sp>
      <p:pic>
        <p:nvPicPr>
          <p:cNvPr id="132" name="Picture 131" descr="lock.png"/>
          <p:cNvPicPr>
            <a:picLocks noChangeAspect="1"/>
          </p:cNvPicPr>
          <p:nvPr/>
        </p:nvPicPr>
        <p:blipFill>
          <a:blip r:embed="rId4"/>
          <a:stretch>
            <a:fillRect/>
          </a:stretch>
        </p:blipFill>
        <p:spPr>
          <a:xfrm>
            <a:off x="4626463" y="5222741"/>
            <a:ext cx="128699" cy="187198"/>
          </a:xfrm>
          <a:prstGeom prst="rect">
            <a:avLst/>
          </a:prstGeom>
        </p:spPr>
      </p:pic>
      <p:sp>
        <p:nvSpPr>
          <p:cNvPr id="133" name="TextBox 132"/>
          <p:cNvSpPr txBox="1"/>
          <p:nvPr/>
        </p:nvSpPr>
        <p:spPr>
          <a:xfrm>
            <a:off x="4793959" y="5232520"/>
            <a:ext cx="4622998" cy="186689"/>
          </a:xfrm>
          <a:prstGeom prst="rect">
            <a:avLst/>
          </a:prstGeom>
          <a:noFill/>
        </p:spPr>
        <p:txBody>
          <a:bodyPr wrap="none" lIns="0" rIns="0" tIns="0" bIns="0">
            <a:spAutoFit/>
          </a:bodyPr>
          <a:lstStyle/>
          <a:p>
            <a:r>
              <a:rPr sz="1100" b="0">
                <a:solidFill>
                  <a:srgbClr val="2E2E2E"/>
                </a:solidFill>
                <a:latin typeface="Calibri"/>
              </a:rPr>
              <a:t>of Global value in 2036, while 'South Asia &amp; Pacific' offers the steepest upside at</a:t>
            </a:r>
          </a:p>
        </p:txBody>
      </p:sp>
      <p:pic>
        <p:nvPicPr>
          <p:cNvPr id="134" name="Picture 133" descr="lock.png"/>
          <p:cNvPicPr>
            <a:picLocks noChangeAspect="1"/>
          </p:cNvPicPr>
          <p:nvPr/>
        </p:nvPicPr>
        <p:blipFill>
          <a:blip r:embed="rId4"/>
          <a:stretch>
            <a:fillRect/>
          </a:stretch>
        </p:blipFill>
        <p:spPr>
          <a:xfrm>
            <a:off x="9365009" y="5222741"/>
            <a:ext cx="128699" cy="187198"/>
          </a:xfrm>
          <a:prstGeom prst="rect">
            <a:avLst/>
          </a:prstGeom>
        </p:spPr>
      </p:pic>
      <p:sp>
        <p:nvSpPr>
          <p:cNvPr id="135" name="TextBox 134"/>
          <p:cNvSpPr txBox="1"/>
          <p:nvPr/>
        </p:nvSpPr>
        <p:spPr>
          <a:xfrm>
            <a:off x="9532505" y="5232520"/>
            <a:ext cx="1819704" cy="186689"/>
          </a:xfrm>
          <a:prstGeom prst="rect">
            <a:avLst/>
          </a:prstGeom>
          <a:noFill/>
        </p:spPr>
        <p:txBody>
          <a:bodyPr wrap="none" lIns="0" rIns="0" tIns="0" bIns="0">
            <a:spAutoFit/>
          </a:bodyPr>
          <a:lstStyle/>
          <a:p>
            <a:r>
              <a:rPr sz="1100" b="0">
                <a:solidFill>
                  <a:srgbClr val="2E2E2E"/>
                </a:solidFill>
                <a:latin typeface="Calibri"/>
              </a:rPr>
              <a:t>CAGR against a market pace of</a:t>
            </a:r>
          </a:p>
        </p:txBody>
      </p:sp>
      <p:pic>
        <p:nvPicPr>
          <p:cNvPr id="136" name="Picture 135" descr="lock.png"/>
          <p:cNvPicPr>
            <a:picLocks noChangeAspect="1"/>
          </p:cNvPicPr>
          <p:nvPr/>
        </p:nvPicPr>
        <p:blipFill>
          <a:blip r:embed="rId4"/>
          <a:stretch>
            <a:fillRect/>
          </a:stretch>
        </p:blipFill>
        <p:spPr>
          <a:xfrm>
            <a:off x="291332" y="5390381"/>
            <a:ext cx="128699" cy="187198"/>
          </a:xfrm>
          <a:prstGeom prst="rect">
            <a:avLst/>
          </a:prstGeom>
        </p:spPr>
      </p:pic>
      <p:sp>
        <p:nvSpPr>
          <p:cNvPr id="137" name="TextBox 136"/>
          <p:cNvSpPr txBox="1"/>
          <p:nvPr/>
        </p:nvSpPr>
        <p:spPr>
          <a:xfrm>
            <a:off x="458828" y="5400160"/>
            <a:ext cx="11008816" cy="186689"/>
          </a:xfrm>
          <a:prstGeom prst="rect">
            <a:avLst/>
          </a:prstGeom>
          <a:noFill/>
        </p:spPr>
        <p:txBody>
          <a:bodyPr wrap="none" lIns="0" rIns="0" tIns="0" bIns="0">
            <a:spAutoFit/>
          </a:bodyPr>
          <a:lstStyle/>
          <a:p>
            <a:r>
              <a:rPr sz="1100" b="0">
                <a:solidFill>
                  <a:srgbClr val="2E2E2E"/>
                </a:solidFill>
                <a:latin typeface="Calibri"/>
              </a:rPr>
              <a:t>. 3 of 6 regions grow at or above that pace, so entry logic has to differ by region scale defence in the leaders, mix and premiumisation in the mid-tier, and availability-led expansion in the fastest</a:t>
            </a:r>
          </a:p>
        </p:txBody>
      </p:sp>
      <p:sp>
        <p:nvSpPr>
          <p:cNvPr id="138" name="TextBox 137"/>
          <p:cNvSpPr txBox="1"/>
          <p:nvPr/>
        </p:nvSpPr>
        <p:spPr>
          <a:xfrm>
            <a:off x="304800" y="5567800"/>
            <a:ext cx="532680" cy="186689"/>
          </a:xfrm>
          <a:prstGeom prst="rect">
            <a:avLst/>
          </a:prstGeom>
          <a:noFill/>
        </p:spPr>
        <p:txBody>
          <a:bodyPr wrap="none" lIns="0" rIns="0" tIns="0" bIns="0">
            <a:spAutoFit/>
          </a:bodyPr>
          <a:lstStyle/>
          <a:p>
            <a:r>
              <a:rPr sz="1100" b="0">
                <a:solidFill>
                  <a:srgbClr val="2E2E2E"/>
                </a:solidFill>
                <a:latin typeface="Calibri"/>
              </a:rPr>
              <a:t>movers.</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Senior Dog Cognitive Supplement Market Global Driving Factors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economic and supply-side factors scored by their impact on the global market</a:t>
            </a:r>
          </a:p>
        </p:txBody>
      </p:sp>
      <p:sp>
        <p:nvSpPr>
          <p:cNvPr id="10" name="Oval 9"/>
          <p:cNvSpPr/>
          <p:nvPr/>
        </p:nvSpPr>
        <p:spPr>
          <a:xfrm>
            <a:off x="2381250" y="1609633"/>
            <a:ext cx="4762500" cy="4563424"/>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19375" y="1837804"/>
            <a:ext cx="4286250" cy="410708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857500" y="2065976"/>
            <a:ext cx="3810000" cy="365074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095625" y="2294147"/>
            <a:ext cx="3333750" cy="319439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333750" y="2522318"/>
            <a:ext cx="2857500" cy="273805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71875" y="2750489"/>
            <a:ext cx="2381250" cy="228171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810000" y="2978660"/>
            <a:ext cx="1905000" cy="182537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048125" y="3206832"/>
            <a:ext cx="1428750" cy="136902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286250" y="3435003"/>
            <a:ext cx="952500" cy="91268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524375" y="3663174"/>
            <a:ext cx="476250" cy="45634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4762500" y="1609633"/>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3729314" y="1835594"/>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2900764" y="2468721"/>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2440953" y="3383617"/>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440953" y="3891345"/>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2900764" y="3891345"/>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3729314" y="3891345"/>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762500" y="3891345"/>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2438400" y="2631840"/>
            <a:ext cx="2324100" cy="2436869"/>
          </a:xfrm>
          <a:custGeom>
            <a:avLst/>
            <a:gdLst/>
            <a:ahLst/>
            <a:cxnLst/>
            <a:rect l="l" t="t" r="r" b="b"/>
            <a:pathLst>
              <a:path w="244" h="267">
                <a:moveTo>
                  <a:pt x="244" y="0"/>
                </a:moveTo>
                <a:lnTo>
                  <a:pt x="180" y="4"/>
                </a:lnTo>
                <a:lnTo>
                  <a:pt x="112" y="33"/>
                </a:lnTo>
                <a:lnTo>
                  <a:pt x="97" y="104"/>
                </a:lnTo>
                <a:lnTo>
                  <a:pt x="0" y="194"/>
                </a:lnTo>
                <a:lnTo>
                  <a:pt x="83" y="267"/>
                </a:lnTo>
                <a:lnTo>
                  <a:pt x="203" y="222"/>
                </a:lnTo>
                <a:lnTo>
                  <a:pt x="244" y="237"/>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714875" y="1563999"/>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400300" y="128106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1" name="Oval 30"/>
          <p:cNvSpPr/>
          <p:nvPr/>
        </p:nvSpPr>
        <p:spPr>
          <a:xfrm>
            <a:off x="3681689" y="178996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85456" y="151968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3" name="Oval 32"/>
          <p:cNvSpPr/>
          <p:nvPr/>
        </p:nvSpPr>
        <p:spPr>
          <a:xfrm>
            <a:off x="2853139" y="2423087"/>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0507" y="2270405"/>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5" name="Oval 34"/>
          <p:cNvSpPr/>
          <p:nvPr/>
        </p:nvSpPr>
        <p:spPr>
          <a:xfrm>
            <a:off x="2393328" y="3337982"/>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4946" y="3236535"/>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7" name="Oval 36"/>
          <p:cNvSpPr/>
          <p:nvPr/>
        </p:nvSpPr>
        <p:spPr>
          <a:xfrm>
            <a:off x="2393328" y="435344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4946" y="4308858"/>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9" name="Oval 38"/>
          <p:cNvSpPr/>
          <p:nvPr/>
        </p:nvSpPr>
        <p:spPr>
          <a:xfrm>
            <a:off x="2853139" y="5268335"/>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0507" y="527498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1" name="Oval 40"/>
          <p:cNvSpPr/>
          <p:nvPr/>
        </p:nvSpPr>
        <p:spPr>
          <a:xfrm>
            <a:off x="3681689" y="590146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85456" y="602571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3" name="Oval 42"/>
          <p:cNvSpPr/>
          <p:nvPr/>
        </p:nvSpPr>
        <p:spPr>
          <a:xfrm>
            <a:off x="4714875" y="612742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400300" y="6264326"/>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5" name="Rectangle 44"/>
          <p:cNvSpPr/>
          <p:nvPr/>
        </p:nvSpPr>
        <p:spPr>
          <a:xfrm>
            <a:off x="476250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MI Scale 0"/>
          <p:cNvSpPr txBox="1"/>
          <p:nvPr/>
        </p:nvSpPr>
        <p:spPr>
          <a:xfrm>
            <a:off x="4286250" y="3818331"/>
            <a:ext cx="419100" cy="14603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47" name="FMI Scale 1"/>
          <p:cNvSpPr txBox="1"/>
          <p:nvPr/>
        </p:nvSpPr>
        <p:spPr>
          <a:xfrm>
            <a:off x="4286250" y="3590159"/>
            <a:ext cx="419100" cy="146030"/>
          </a:xfrm>
          <a:prstGeom prst="rect">
            <a:avLst/>
          </a:prstGeom>
          <a:noFill/>
        </p:spPr>
        <p:txBody>
          <a:bodyPr wrap="none" lIns="0" rIns="0" tIns="0" bIns="0" anchor="ctr">
            <a:spAutoFit/>
          </a:bodyPr>
          <a:lstStyle/>
          <a:p>
            <a:pPr algn="r"/>
            <a:r>
              <a:rPr sz="1100" b="0">
                <a:solidFill>
                  <a:srgbClr val="6C7A89"/>
                </a:solidFill>
                <a:latin typeface="Calibri"/>
              </a:rPr>
              <a:t>10%</a:t>
            </a:r>
          </a:p>
        </p:txBody>
      </p:sp>
      <p:sp>
        <p:nvSpPr>
          <p:cNvPr id="48" name="FMI Scale 2"/>
          <p:cNvSpPr txBox="1"/>
          <p:nvPr/>
        </p:nvSpPr>
        <p:spPr>
          <a:xfrm>
            <a:off x="4286250" y="3361988"/>
            <a:ext cx="419100" cy="146030"/>
          </a:xfrm>
          <a:prstGeom prst="rect">
            <a:avLst/>
          </a:prstGeom>
          <a:noFill/>
        </p:spPr>
        <p:txBody>
          <a:bodyPr wrap="none" lIns="0" rIns="0" tIns="0" bIns="0" anchor="ctr">
            <a:spAutoFit/>
          </a:bodyPr>
          <a:lstStyle/>
          <a:p>
            <a:pPr algn="r"/>
            <a:r>
              <a:rPr sz="1100" b="0">
                <a:solidFill>
                  <a:srgbClr val="6C7A89"/>
                </a:solidFill>
                <a:latin typeface="Calibri"/>
              </a:rPr>
              <a:t>20%</a:t>
            </a:r>
          </a:p>
        </p:txBody>
      </p:sp>
      <p:sp>
        <p:nvSpPr>
          <p:cNvPr id="49" name="FMI Scale 3"/>
          <p:cNvSpPr txBox="1"/>
          <p:nvPr/>
        </p:nvSpPr>
        <p:spPr>
          <a:xfrm>
            <a:off x="4286250" y="3133817"/>
            <a:ext cx="419100" cy="146030"/>
          </a:xfrm>
          <a:prstGeom prst="rect">
            <a:avLst/>
          </a:prstGeom>
          <a:noFill/>
        </p:spPr>
        <p:txBody>
          <a:bodyPr wrap="none" lIns="0" rIns="0" tIns="0" bIns="0" anchor="ctr">
            <a:spAutoFit/>
          </a:bodyPr>
          <a:lstStyle/>
          <a:p>
            <a:pPr algn="r"/>
            <a:r>
              <a:rPr sz="1100" b="0">
                <a:solidFill>
                  <a:srgbClr val="6C7A89"/>
                </a:solidFill>
                <a:latin typeface="Calibri"/>
              </a:rPr>
              <a:t>30%</a:t>
            </a:r>
          </a:p>
        </p:txBody>
      </p:sp>
      <p:sp>
        <p:nvSpPr>
          <p:cNvPr id="50" name="FMI Scale 4"/>
          <p:cNvSpPr txBox="1"/>
          <p:nvPr/>
        </p:nvSpPr>
        <p:spPr>
          <a:xfrm>
            <a:off x="4286250" y="2905646"/>
            <a:ext cx="419100" cy="146030"/>
          </a:xfrm>
          <a:prstGeom prst="rect">
            <a:avLst/>
          </a:prstGeom>
          <a:noFill/>
        </p:spPr>
        <p:txBody>
          <a:bodyPr wrap="none" lIns="0" rIns="0" tIns="0" bIns="0" anchor="ctr">
            <a:spAutoFit/>
          </a:bodyPr>
          <a:lstStyle/>
          <a:p>
            <a:pPr algn="r"/>
            <a:r>
              <a:rPr sz="1100" b="0">
                <a:solidFill>
                  <a:srgbClr val="6C7A89"/>
                </a:solidFill>
                <a:latin typeface="Calibri"/>
              </a:rPr>
              <a:t>40%</a:t>
            </a:r>
          </a:p>
        </p:txBody>
      </p:sp>
      <p:sp>
        <p:nvSpPr>
          <p:cNvPr id="51" name="FMI Scale 5"/>
          <p:cNvSpPr txBox="1"/>
          <p:nvPr/>
        </p:nvSpPr>
        <p:spPr>
          <a:xfrm>
            <a:off x="4286250" y="2677474"/>
            <a:ext cx="419100" cy="146030"/>
          </a:xfrm>
          <a:prstGeom prst="rect">
            <a:avLst/>
          </a:prstGeom>
          <a:noFill/>
        </p:spPr>
        <p:txBody>
          <a:bodyPr wrap="none" lIns="0" rIns="0" tIns="0" bIns="0" anchor="ctr">
            <a:spAutoFit/>
          </a:bodyPr>
          <a:lstStyle/>
          <a:p>
            <a:pPr algn="r"/>
            <a:r>
              <a:rPr sz="1100" b="0">
                <a:solidFill>
                  <a:srgbClr val="6C7A89"/>
                </a:solidFill>
                <a:latin typeface="Calibri"/>
              </a:rPr>
              <a:t>50%</a:t>
            </a:r>
          </a:p>
        </p:txBody>
      </p:sp>
      <p:sp>
        <p:nvSpPr>
          <p:cNvPr id="52" name="FMI Scale 6"/>
          <p:cNvSpPr txBox="1"/>
          <p:nvPr/>
        </p:nvSpPr>
        <p:spPr>
          <a:xfrm>
            <a:off x="4286250" y="2449303"/>
            <a:ext cx="419100" cy="146030"/>
          </a:xfrm>
          <a:prstGeom prst="rect">
            <a:avLst/>
          </a:prstGeom>
          <a:noFill/>
        </p:spPr>
        <p:txBody>
          <a:bodyPr wrap="none" lIns="0" rIns="0" tIns="0" bIns="0" anchor="ctr">
            <a:spAutoFit/>
          </a:bodyPr>
          <a:lstStyle/>
          <a:p>
            <a:pPr algn="r"/>
            <a:r>
              <a:rPr sz="1100" b="0">
                <a:solidFill>
                  <a:srgbClr val="6C7A89"/>
                </a:solidFill>
                <a:latin typeface="Calibri"/>
              </a:rPr>
              <a:t>60%</a:t>
            </a:r>
          </a:p>
        </p:txBody>
      </p:sp>
      <p:sp>
        <p:nvSpPr>
          <p:cNvPr id="53" name="FMI Scale 7"/>
          <p:cNvSpPr txBox="1"/>
          <p:nvPr/>
        </p:nvSpPr>
        <p:spPr>
          <a:xfrm>
            <a:off x="4286250" y="2221132"/>
            <a:ext cx="419100" cy="146030"/>
          </a:xfrm>
          <a:prstGeom prst="rect">
            <a:avLst/>
          </a:prstGeom>
          <a:noFill/>
        </p:spPr>
        <p:txBody>
          <a:bodyPr wrap="none" lIns="0" rIns="0" tIns="0" bIns="0" anchor="ctr">
            <a:spAutoFit/>
          </a:bodyPr>
          <a:lstStyle/>
          <a:p>
            <a:pPr algn="r"/>
            <a:r>
              <a:rPr sz="1100" b="0">
                <a:solidFill>
                  <a:srgbClr val="6C7A89"/>
                </a:solidFill>
                <a:latin typeface="Calibri"/>
              </a:rPr>
              <a:t>70%</a:t>
            </a:r>
          </a:p>
        </p:txBody>
      </p:sp>
      <p:sp>
        <p:nvSpPr>
          <p:cNvPr id="54" name="FMI Scale 8"/>
          <p:cNvSpPr txBox="1"/>
          <p:nvPr/>
        </p:nvSpPr>
        <p:spPr>
          <a:xfrm>
            <a:off x="4286250" y="1992961"/>
            <a:ext cx="419100" cy="146030"/>
          </a:xfrm>
          <a:prstGeom prst="rect">
            <a:avLst/>
          </a:prstGeom>
          <a:noFill/>
        </p:spPr>
        <p:txBody>
          <a:bodyPr wrap="none" lIns="0" rIns="0" tIns="0" bIns="0" anchor="ctr">
            <a:spAutoFit/>
          </a:bodyPr>
          <a:lstStyle/>
          <a:p>
            <a:pPr algn="r"/>
            <a:r>
              <a:rPr sz="1100" b="0">
                <a:solidFill>
                  <a:srgbClr val="6C7A89"/>
                </a:solidFill>
                <a:latin typeface="Calibri"/>
              </a:rPr>
              <a:t>80%</a:t>
            </a:r>
          </a:p>
        </p:txBody>
      </p:sp>
      <p:sp>
        <p:nvSpPr>
          <p:cNvPr id="55" name="FMI Scale 9"/>
          <p:cNvSpPr txBox="1"/>
          <p:nvPr/>
        </p:nvSpPr>
        <p:spPr>
          <a:xfrm>
            <a:off x="4286250" y="1764790"/>
            <a:ext cx="419100" cy="146030"/>
          </a:xfrm>
          <a:prstGeom prst="rect">
            <a:avLst/>
          </a:prstGeom>
          <a:noFill/>
        </p:spPr>
        <p:txBody>
          <a:bodyPr wrap="none" lIns="0" rIns="0" tIns="0" bIns="0" anchor="ctr">
            <a:spAutoFit/>
          </a:bodyPr>
          <a:lstStyle/>
          <a:p>
            <a:pPr algn="r"/>
            <a:r>
              <a:rPr sz="1100" b="0">
                <a:solidFill>
                  <a:srgbClr val="6C7A89"/>
                </a:solidFill>
                <a:latin typeface="Calibri"/>
              </a:rPr>
              <a:t>90%</a:t>
            </a:r>
          </a:p>
        </p:txBody>
      </p:sp>
      <p:sp>
        <p:nvSpPr>
          <p:cNvPr id="56" name="FMI Scale 10"/>
          <p:cNvSpPr txBox="1"/>
          <p:nvPr/>
        </p:nvSpPr>
        <p:spPr>
          <a:xfrm>
            <a:off x="4286250" y="1536618"/>
            <a:ext cx="419100" cy="146030"/>
          </a:xfrm>
          <a:prstGeom prst="rect">
            <a:avLst/>
          </a:prstGeom>
          <a:noFill/>
        </p:spPr>
        <p:txBody>
          <a:bodyPr wrap="none" lIns="0" rIns="0" tIns="0" bIns="0" anchor="ctr">
            <a:spAutoFit/>
          </a:bodyPr>
          <a:lstStyle/>
          <a:p>
            <a:pPr algn="r"/>
            <a:r>
              <a:rPr sz="1100" b="0">
                <a:solidFill>
                  <a:srgbClr val="6C7A89"/>
                </a:solidFill>
                <a:latin typeface="Calibri"/>
              </a:rPr>
              <a:t>100%</a:t>
            </a:r>
          </a:p>
        </p:txBody>
      </p:sp>
      <p:cxnSp>
        <p:nvCxnSpPr>
          <p:cNvPr id="57" name="Connector 56"/>
          <p:cNvCxnSpPr/>
          <p:nvPr/>
        </p:nvCxnSpPr>
        <p:spPr>
          <a:xfrm>
            <a:off x="4762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972050" y="1080276"/>
            <a:ext cx="7077075" cy="219044"/>
          </a:xfrm>
          <a:prstGeom prst="rect">
            <a:avLst/>
          </a:prstGeom>
          <a:noFill/>
        </p:spPr>
        <p:txBody>
          <a:bodyPr wrap="square" lIns="28575" rIns="28575" tIns="9525" bIns="9525" anchor="ctr">
            <a:spAutoFit/>
          </a:bodyPr>
          <a:lstStyle/>
          <a:p>
            <a:pPr algn="l"/>
            <a:r>
              <a:rPr sz="1200" b="1">
                <a:solidFill>
                  <a:srgbClr val="0B2E4A"/>
                </a:solidFill>
                <a:latin typeface="Calibri"/>
              </a:rPr>
              <a:t>Economic and Supply-side Factors</a:t>
            </a:r>
          </a:p>
        </p:txBody>
      </p:sp>
      <p:cxnSp>
        <p:nvCxnSpPr>
          <p:cNvPr id="59" name="Connector 58"/>
          <p:cNvCxnSpPr/>
          <p:nvPr/>
        </p:nvCxnSpPr>
        <p:spPr>
          <a:xfrm>
            <a:off x="4972050" y="1335828"/>
            <a:ext cx="70770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4972050" y="142709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1" name="TextBox 60"/>
          <p:cNvSpPr txBox="1"/>
          <p:nvPr/>
        </p:nvSpPr>
        <p:spPr>
          <a:xfrm>
            <a:off x="4972050" y="1883439"/>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2" name="TextBox 61"/>
          <p:cNvSpPr txBox="1"/>
          <p:nvPr/>
        </p:nvSpPr>
        <p:spPr>
          <a:xfrm>
            <a:off x="4972050" y="2339781"/>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3" name="TextBox 62"/>
          <p:cNvSpPr txBox="1"/>
          <p:nvPr/>
        </p:nvSpPr>
        <p:spPr>
          <a:xfrm>
            <a:off x="4972050" y="261358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Portfolio breadth spans 6 form type lines and 4 end-use application routes, giving producers wide reformulation and channel latitude.</a:t>
            </a:r>
          </a:p>
        </p:txBody>
      </p:sp>
      <p:sp>
        <p:nvSpPr>
          <p:cNvPr id="64" name="TextBox 63"/>
          <p:cNvSpPr txBox="1"/>
          <p:nvPr/>
        </p:nvSpPr>
        <p:spPr>
          <a:xfrm>
            <a:off x="4972050" y="3069929"/>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5" name="TextBox 64"/>
          <p:cNvSpPr txBox="1"/>
          <p:nvPr/>
        </p:nvSpPr>
        <p:spPr>
          <a:xfrm>
            <a:off x="4972050" y="3343734"/>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6" name="TextBox 6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7" name="TextBox 66"/>
          <p:cNvSpPr txBox="1"/>
          <p:nvPr/>
        </p:nvSpPr>
        <p:spPr>
          <a:xfrm>
            <a:off x="3466991" y="1322601"/>
            <a:ext cx="1125226" cy="173278"/>
          </a:xfrm>
          <a:prstGeom prst="rect">
            <a:avLst/>
          </a:prstGeom>
          <a:noFill/>
        </p:spPr>
        <p:txBody>
          <a:bodyPr wrap="none" lIns="0" rIns="0" tIns="0" bIns="0">
            <a:spAutoFit/>
          </a:bodyPr>
          <a:lstStyle/>
          <a:p>
            <a:r>
              <a:rPr sz="1011" b="0">
                <a:solidFill>
                  <a:srgbClr val="2E2E2E"/>
                </a:solidFill>
                <a:latin typeface="Calibri"/>
              </a:rPr>
              <a:t>Production Scale-up</a:t>
            </a:r>
          </a:p>
        </p:txBody>
      </p:sp>
      <p:pic>
        <p:nvPicPr>
          <p:cNvPr id="68" name="Picture 67" descr="lock.png"/>
          <p:cNvPicPr>
            <a:picLocks noChangeAspect="1"/>
          </p:cNvPicPr>
          <p:nvPr/>
        </p:nvPicPr>
        <p:blipFill>
          <a:blip r:embed="rId4"/>
          <a:stretch>
            <a:fillRect/>
          </a:stretch>
        </p:blipFill>
        <p:spPr>
          <a:xfrm>
            <a:off x="4538330" y="1313604"/>
            <a:ext cx="118403" cy="172222"/>
          </a:xfrm>
          <a:prstGeom prst="rect">
            <a:avLst/>
          </a:prstGeom>
        </p:spPr>
      </p:pic>
      <p:sp>
        <p:nvSpPr>
          <p:cNvPr id="69" name="TextBox 68"/>
          <p:cNvSpPr txBox="1"/>
          <p:nvPr/>
        </p:nvSpPr>
        <p:spPr>
          <a:xfrm>
            <a:off x="2482772" y="1561215"/>
            <a:ext cx="1094602" cy="173278"/>
          </a:xfrm>
          <a:prstGeom prst="rect">
            <a:avLst/>
          </a:prstGeom>
          <a:noFill/>
        </p:spPr>
        <p:txBody>
          <a:bodyPr wrap="none" lIns="0" rIns="0" tIns="0" bIns="0">
            <a:spAutoFit/>
          </a:bodyPr>
          <a:lstStyle/>
          <a:p>
            <a:r>
              <a:rPr sz="1011" b="0">
                <a:solidFill>
                  <a:srgbClr val="2E2E2E"/>
                </a:solidFill>
                <a:latin typeface="Calibri"/>
              </a:rPr>
              <a:t>Input Cost Pressure</a:t>
            </a:r>
          </a:p>
        </p:txBody>
      </p:sp>
      <p:pic>
        <p:nvPicPr>
          <p:cNvPr id="70" name="Picture 69" descr="lock.png"/>
          <p:cNvPicPr>
            <a:picLocks noChangeAspect="1"/>
          </p:cNvPicPr>
          <p:nvPr/>
        </p:nvPicPr>
        <p:blipFill>
          <a:blip r:embed="rId4"/>
          <a:stretch>
            <a:fillRect/>
          </a:stretch>
        </p:blipFill>
        <p:spPr>
          <a:xfrm>
            <a:off x="3523486" y="1552218"/>
            <a:ext cx="118403" cy="172222"/>
          </a:xfrm>
          <a:prstGeom prst="rect">
            <a:avLst/>
          </a:prstGeom>
        </p:spPr>
      </p:pic>
      <p:sp>
        <p:nvSpPr>
          <p:cNvPr id="71" name="TextBox 70"/>
          <p:cNvSpPr txBox="1"/>
          <p:nvPr/>
        </p:nvSpPr>
        <p:spPr>
          <a:xfrm>
            <a:off x="1943191" y="2311939"/>
            <a:ext cx="759234" cy="173278"/>
          </a:xfrm>
          <a:prstGeom prst="rect">
            <a:avLst/>
          </a:prstGeom>
          <a:noFill/>
        </p:spPr>
        <p:txBody>
          <a:bodyPr wrap="none" lIns="0" rIns="0" tIns="0" bIns="0">
            <a:spAutoFit/>
          </a:bodyPr>
          <a:lstStyle/>
          <a:p>
            <a:r>
              <a:rPr sz="1011" b="0">
                <a:solidFill>
                  <a:srgbClr val="2E2E2E"/>
                </a:solidFill>
                <a:latin typeface="Calibri"/>
              </a:rPr>
              <a:t>Capacity Add</a:t>
            </a:r>
          </a:p>
        </p:txBody>
      </p:sp>
      <p:pic>
        <p:nvPicPr>
          <p:cNvPr id="72" name="Picture 71" descr="lock.png"/>
          <p:cNvPicPr>
            <a:picLocks noChangeAspect="1"/>
          </p:cNvPicPr>
          <p:nvPr/>
        </p:nvPicPr>
        <p:blipFill>
          <a:blip r:embed="rId4"/>
          <a:stretch>
            <a:fillRect/>
          </a:stretch>
        </p:blipFill>
        <p:spPr>
          <a:xfrm>
            <a:off x="2648537" y="2302942"/>
            <a:ext cx="118403" cy="172222"/>
          </a:xfrm>
          <a:prstGeom prst="rect">
            <a:avLst/>
          </a:prstGeom>
        </p:spPr>
      </p:pic>
      <p:sp>
        <p:nvSpPr>
          <p:cNvPr id="73" name="TextBox 72"/>
          <p:cNvSpPr txBox="1"/>
          <p:nvPr/>
        </p:nvSpPr>
        <p:spPr>
          <a:xfrm>
            <a:off x="1014573" y="3278069"/>
            <a:ext cx="1202291" cy="173278"/>
          </a:xfrm>
          <a:prstGeom prst="rect">
            <a:avLst/>
          </a:prstGeom>
          <a:noFill/>
        </p:spPr>
        <p:txBody>
          <a:bodyPr wrap="none" lIns="0" rIns="0" tIns="0" bIns="0">
            <a:spAutoFit/>
          </a:bodyPr>
          <a:lstStyle/>
          <a:p>
            <a:r>
              <a:rPr sz="1011" b="0">
                <a:solidFill>
                  <a:srgbClr val="2E2E2E"/>
                </a:solidFill>
                <a:latin typeface="Calibri"/>
              </a:rPr>
              <a:t>Supply Concentration</a:t>
            </a:r>
          </a:p>
        </p:txBody>
      </p:sp>
      <p:pic>
        <p:nvPicPr>
          <p:cNvPr id="74" name="Picture 73" descr="lock.png"/>
          <p:cNvPicPr>
            <a:picLocks noChangeAspect="1"/>
          </p:cNvPicPr>
          <p:nvPr/>
        </p:nvPicPr>
        <p:blipFill>
          <a:blip r:embed="rId4"/>
          <a:stretch>
            <a:fillRect/>
          </a:stretch>
        </p:blipFill>
        <p:spPr>
          <a:xfrm>
            <a:off x="2162976" y="3269072"/>
            <a:ext cx="118403" cy="172222"/>
          </a:xfrm>
          <a:prstGeom prst="rect">
            <a:avLst/>
          </a:prstGeom>
        </p:spPr>
      </p:pic>
      <p:sp>
        <p:nvSpPr>
          <p:cNvPr id="75" name="TextBox 74"/>
          <p:cNvSpPr txBox="1"/>
          <p:nvPr/>
        </p:nvSpPr>
        <p:spPr>
          <a:xfrm>
            <a:off x="1148118" y="4350392"/>
            <a:ext cx="1068746" cy="173278"/>
          </a:xfrm>
          <a:prstGeom prst="rect">
            <a:avLst/>
          </a:prstGeom>
          <a:noFill/>
        </p:spPr>
        <p:txBody>
          <a:bodyPr wrap="none" lIns="0" rIns="0" tIns="0" bIns="0">
            <a:spAutoFit/>
          </a:bodyPr>
          <a:lstStyle/>
          <a:p>
            <a:r>
              <a:rPr sz="1011" b="0">
                <a:solidFill>
                  <a:srgbClr val="2E2E2E"/>
                </a:solidFill>
                <a:latin typeface="Calibri"/>
              </a:rPr>
              <a:t>Geographic Spread</a:t>
            </a:r>
          </a:p>
        </p:txBody>
      </p:sp>
      <p:pic>
        <p:nvPicPr>
          <p:cNvPr id="76" name="Picture 75" descr="lock.png"/>
          <p:cNvPicPr>
            <a:picLocks noChangeAspect="1"/>
          </p:cNvPicPr>
          <p:nvPr/>
        </p:nvPicPr>
        <p:blipFill>
          <a:blip r:embed="rId4"/>
          <a:stretch>
            <a:fillRect/>
          </a:stretch>
        </p:blipFill>
        <p:spPr>
          <a:xfrm>
            <a:off x="2162976" y="4341395"/>
            <a:ext cx="118403" cy="172222"/>
          </a:xfrm>
          <a:prstGeom prst="rect">
            <a:avLst/>
          </a:prstGeom>
        </p:spPr>
      </p:pic>
      <p:sp>
        <p:nvSpPr>
          <p:cNvPr id="77" name="TextBox 76"/>
          <p:cNvSpPr txBox="1"/>
          <p:nvPr/>
        </p:nvSpPr>
        <p:spPr>
          <a:xfrm>
            <a:off x="1722039" y="5316521"/>
            <a:ext cx="980386" cy="173278"/>
          </a:xfrm>
          <a:prstGeom prst="rect">
            <a:avLst/>
          </a:prstGeom>
          <a:noFill/>
        </p:spPr>
        <p:txBody>
          <a:bodyPr wrap="none" lIns="0" rIns="0" tIns="0" bIns="0">
            <a:spAutoFit/>
          </a:bodyPr>
          <a:lstStyle/>
          <a:p>
            <a:r>
              <a:rPr sz="1011" b="0">
                <a:solidFill>
                  <a:srgbClr val="2E2E2E"/>
                </a:solidFill>
                <a:latin typeface="Calibri"/>
              </a:rPr>
              <a:t>Portfolio Breadth</a:t>
            </a:r>
          </a:p>
        </p:txBody>
      </p:sp>
      <p:pic>
        <p:nvPicPr>
          <p:cNvPr id="78" name="Picture 77" descr="lock.png"/>
          <p:cNvPicPr>
            <a:picLocks noChangeAspect="1"/>
          </p:cNvPicPr>
          <p:nvPr/>
        </p:nvPicPr>
        <p:blipFill>
          <a:blip r:embed="rId4"/>
          <a:stretch>
            <a:fillRect/>
          </a:stretch>
        </p:blipFill>
        <p:spPr>
          <a:xfrm>
            <a:off x="2648537" y="5307524"/>
            <a:ext cx="118403" cy="172222"/>
          </a:xfrm>
          <a:prstGeom prst="rect">
            <a:avLst/>
          </a:prstGeom>
        </p:spPr>
      </p:pic>
      <p:sp>
        <p:nvSpPr>
          <p:cNvPr id="79" name="TextBox 78"/>
          <p:cNvSpPr txBox="1"/>
          <p:nvPr/>
        </p:nvSpPr>
        <p:spPr>
          <a:xfrm>
            <a:off x="2838472" y="6067245"/>
            <a:ext cx="738901" cy="173278"/>
          </a:xfrm>
          <a:prstGeom prst="rect">
            <a:avLst/>
          </a:prstGeom>
          <a:noFill/>
        </p:spPr>
        <p:txBody>
          <a:bodyPr wrap="none" lIns="0" rIns="0" tIns="0" bIns="0">
            <a:spAutoFit/>
          </a:bodyPr>
          <a:lstStyle/>
          <a:p>
            <a:r>
              <a:rPr sz="1011" b="0">
                <a:solidFill>
                  <a:srgbClr val="2E2E2E"/>
                </a:solidFill>
                <a:latin typeface="Calibri"/>
              </a:rPr>
              <a:t>Route Depth</a:t>
            </a:r>
          </a:p>
        </p:txBody>
      </p:sp>
      <p:pic>
        <p:nvPicPr>
          <p:cNvPr id="80" name="Picture 79" descr="lock.png"/>
          <p:cNvPicPr>
            <a:picLocks noChangeAspect="1"/>
          </p:cNvPicPr>
          <p:nvPr/>
        </p:nvPicPr>
        <p:blipFill>
          <a:blip r:embed="rId4"/>
          <a:stretch>
            <a:fillRect/>
          </a:stretch>
        </p:blipFill>
        <p:spPr>
          <a:xfrm>
            <a:off x="3523486" y="6058248"/>
            <a:ext cx="118403" cy="172222"/>
          </a:xfrm>
          <a:prstGeom prst="rect">
            <a:avLst/>
          </a:prstGeom>
        </p:spPr>
      </p:pic>
      <p:sp>
        <p:nvSpPr>
          <p:cNvPr id="81" name="TextBox 80"/>
          <p:cNvSpPr txBox="1"/>
          <p:nvPr/>
        </p:nvSpPr>
        <p:spPr>
          <a:xfrm>
            <a:off x="3616852" y="6305860"/>
            <a:ext cx="975365" cy="173278"/>
          </a:xfrm>
          <a:prstGeom prst="rect">
            <a:avLst/>
          </a:prstGeom>
          <a:noFill/>
        </p:spPr>
        <p:txBody>
          <a:bodyPr wrap="none" lIns="0" rIns="0" tIns="0" bIns="0">
            <a:spAutoFit/>
          </a:bodyPr>
          <a:lstStyle/>
          <a:p>
            <a:r>
              <a:rPr sz="1011" b="0">
                <a:solidFill>
                  <a:srgbClr val="2E2E2E"/>
                </a:solidFill>
                <a:latin typeface="Calibri"/>
              </a:rPr>
              <a:t>Value Realisation</a:t>
            </a:r>
          </a:p>
        </p:txBody>
      </p:sp>
      <p:pic>
        <p:nvPicPr>
          <p:cNvPr id="82" name="Picture 81" descr="lock.png"/>
          <p:cNvPicPr>
            <a:picLocks noChangeAspect="1"/>
          </p:cNvPicPr>
          <p:nvPr/>
        </p:nvPicPr>
        <p:blipFill>
          <a:blip r:embed="rId4"/>
          <a:stretch>
            <a:fillRect/>
          </a:stretch>
        </p:blipFill>
        <p:spPr>
          <a:xfrm>
            <a:off x="4538330" y="6296863"/>
            <a:ext cx="118403" cy="172222"/>
          </a:xfrm>
          <a:prstGeom prst="rect">
            <a:avLst/>
          </a:prstGeom>
        </p:spPr>
      </p:pic>
      <p:sp>
        <p:nvSpPr>
          <p:cNvPr id="83" name="TextBox 82"/>
          <p:cNvSpPr txBox="1"/>
          <p:nvPr/>
        </p:nvSpPr>
        <p:spPr>
          <a:xfrm>
            <a:off x="5000625" y="1496754"/>
            <a:ext cx="3210445" cy="186689"/>
          </a:xfrm>
          <a:prstGeom prst="rect">
            <a:avLst/>
          </a:prstGeom>
          <a:noFill/>
        </p:spPr>
        <p:txBody>
          <a:bodyPr wrap="none" lIns="0" rIns="0" tIns="0" bIns="0">
            <a:spAutoFit/>
          </a:bodyPr>
          <a:lstStyle/>
          <a:p>
            <a:r>
              <a:rPr sz="1100" b="0">
                <a:solidFill>
                  <a:srgbClr val="2E2E2E"/>
                </a:solidFill>
                <a:latin typeface="Calibri"/>
              </a:rPr>
              <a:t>▪ Supply-side conditions are led by Geographic Spread (</a:t>
            </a:r>
          </a:p>
        </p:txBody>
      </p:sp>
      <p:pic>
        <p:nvPicPr>
          <p:cNvPr id="84" name="Picture 83" descr="lock.png"/>
          <p:cNvPicPr>
            <a:picLocks noChangeAspect="1"/>
          </p:cNvPicPr>
          <p:nvPr/>
        </p:nvPicPr>
        <p:blipFill>
          <a:blip r:embed="rId4"/>
          <a:stretch>
            <a:fillRect/>
          </a:stretch>
        </p:blipFill>
        <p:spPr>
          <a:xfrm>
            <a:off x="8159122" y="1486975"/>
            <a:ext cx="128699" cy="187198"/>
          </a:xfrm>
          <a:prstGeom prst="rect">
            <a:avLst/>
          </a:prstGeom>
        </p:spPr>
      </p:pic>
      <p:sp>
        <p:nvSpPr>
          <p:cNvPr id="85" name="TextBox 84"/>
          <p:cNvSpPr txBox="1"/>
          <p:nvPr/>
        </p:nvSpPr>
        <p:spPr>
          <a:xfrm>
            <a:off x="8326618" y="1496754"/>
            <a:ext cx="1437729" cy="186689"/>
          </a:xfrm>
          <a:prstGeom prst="rect">
            <a:avLst/>
          </a:prstGeom>
          <a:noFill/>
        </p:spPr>
        <p:txBody>
          <a:bodyPr wrap="none" lIns="0" rIns="0" tIns="0" bIns="0">
            <a:spAutoFit/>
          </a:bodyPr>
          <a:lstStyle/>
          <a:p>
            <a:r>
              <a:rPr sz="1100" b="0">
                <a:solidFill>
                  <a:srgbClr val="2E2E2E"/>
                </a:solidFill>
                <a:latin typeface="Calibri"/>
              </a:rPr>
              <a:t>/10), Portfolio Breadth (</a:t>
            </a:r>
          </a:p>
        </p:txBody>
      </p:sp>
      <p:pic>
        <p:nvPicPr>
          <p:cNvPr id="86" name="Picture 85" descr="lock.png"/>
          <p:cNvPicPr>
            <a:picLocks noChangeAspect="1"/>
          </p:cNvPicPr>
          <p:nvPr/>
        </p:nvPicPr>
        <p:blipFill>
          <a:blip r:embed="rId4"/>
          <a:stretch>
            <a:fillRect/>
          </a:stretch>
        </p:blipFill>
        <p:spPr>
          <a:xfrm>
            <a:off x="9712399" y="1486975"/>
            <a:ext cx="128699" cy="187198"/>
          </a:xfrm>
          <a:prstGeom prst="rect">
            <a:avLst/>
          </a:prstGeom>
        </p:spPr>
      </p:pic>
      <p:sp>
        <p:nvSpPr>
          <p:cNvPr id="87" name="TextBox 86"/>
          <p:cNvSpPr txBox="1"/>
          <p:nvPr/>
        </p:nvSpPr>
        <p:spPr>
          <a:xfrm>
            <a:off x="9879895" y="1496754"/>
            <a:ext cx="1197347" cy="186689"/>
          </a:xfrm>
          <a:prstGeom prst="rect">
            <a:avLst/>
          </a:prstGeom>
          <a:noFill/>
        </p:spPr>
        <p:txBody>
          <a:bodyPr wrap="none" lIns="0" rIns="0" tIns="0" bIns="0">
            <a:spAutoFit/>
          </a:bodyPr>
          <a:lstStyle/>
          <a:p>
            <a:r>
              <a:rPr sz="1100" b="0">
                <a:solidFill>
                  <a:srgbClr val="2E2E2E"/>
                </a:solidFill>
                <a:latin typeface="Calibri"/>
              </a:rPr>
              <a:t>/10), Capacity Add (</a:t>
            </a:r>
          </a:p>
        </p:txBody>
      </p:sp>
      <p:pic>
        <p:nvPicPr>
          <p:cNvPr id="88" name="Picture 87" descr="lock.png"/>
          <p:cNvPicPr>
            <a:picLocks noChangeAspect="1"/>
          </p:cNvPicPr>
          <p:nvPr/>
        </p:nvPicPr>
        <p:blipFill>
          <a:blip r:embed="rId4"/>
          <a:stretch>
            <a:fillRect/>
          </a:stretch>
        </p:blipFill>
        <p:spPr>
          <a:xfrm>
            <a:off x="11025293" y="1486975"/>
            <a:ext cx="128699" cy="187198"/>
          </a:xfrm>
          <a:prstGeom prst="rect">
            <a:avLst/>
          </a:prstGeom>
        </p:spPr>
      </p:pic>
      <p:sp>
        <p:nvSpPr>
          <p:cNvPr id="89" name="TextBox 88"/>
          <p:cNvSpPr txBox="1"/>
          <p:nvPr/>
        </p:nvSpPr>
        <p:spPr>
          <a:xfrm>
            <a:off x="11192789" y="1496754"/>
            <a:ext cx="591616" cy="186689"/>
          </a:xfrm>
          <a:prstGeom prst="rect">
            <a:avLst/>
          </a:prstGeom>
          <a:noFill/>
        </p:spPr>
        <p:txBody>
          <a:bodyPr wrap="none" lIns="0" rIns="0" tIns="0" bIns="0">
            <a:spAutoFit/>
          </a:bodyPr>
          <a:lstStyle/>
          <a:p>
            <a:r>
              <a:rPr sz="1100" b="0">
                <a:solidFill>
                  <a:srgbClr val="2E2E2E"/>
                </a:solidFill>
                <a:latin typeface="Calibri"/>
              </a:rPr>
              <a:t>/10) on a</a:t>
            </a:r>
          </a:p>
        </p:txBody>
      </p:sp>
      <p:sp>
        <p:nvSpPr>
          <p:cNvPr id="90" name="TextBox 89"/>
          <p:cNvSpPr txBox="1"/>
          <p:nvPr/>
        </p:nvSpPr>
        <p:spPr>
          <a:xfrm>
            <a:off x="5000625" y="1664394"/>
            <a:ext cx="2764060" cy="186689"/>
          </a:xfrm>
          <a:prstGeom prst="rect">
            <a:avLst/>
          </a:prstGeom>
          <a:noFill/>
        </p:spPr>
        <p:txBody>
          <a:bodyPr wrap="none" lIns="0" rIns="0" tIns="0" bIns="0">
            <a:spAutoFit/>
          </a:bodyPr>
          <a:lstStyle/>
          <a:p>
            <a:r>
              <a:rPr sz="1100" b="0">
                <a:solidFill>
                  <a:srgbClr val="2E2E2E"/>
                </a:solidFill>
                <a:latin typeface="Calibri"/>
              </a:rPr>
              <a:t>0-10 scale scored from the global dataset itself.</a:t>
            </a:r>
          </a:p>
        </p:txBody>
      </p:sp>
      <p:sp>
        <p:nvSpPr>
          <p:cNvPr id="91" name="TextBox 90"/>
          <p:cNvSpPr txBox="1"/>
          <p:nvPr/>
        </p:nvSpPr>
        <p:spPr>
          <a:xfrm>
            <a:off x="5000625" y="1953097"/>
            <a:ext cx="1245914" cy="186689"/>
          </a:xfrm>
          <a:prstGeom prst="rect">
            <a:avLst/>
          </a:prstGeom>
          <a:noFill/>
        </p:spPr>
        <p:txBody>
          <a:bodyPr wrap="none" lIns="0" rIns="0" tIns="0" bIns="0">
            <a:spAutoFit/>
          </a:bodyPr>
          <a:lstStyle/>
          <a:p>
            <a:r>
              <a:rPr sz="1100" b="0">
                <a:solidFill>
                  <a:srgbClr val="2E2E2E"/>
                </a:solidFill>
                <a:latin typeface="Calibri"/>
              </a:rPr>
              <a:t>▪ Volume expands at</a:t>
            </a:r>
          </a:p>
        </p:txBody>
      </p:sp>
      <p:pic>
        <p:nvPicPr>
          <p:cNvPr id="92" name="Picture 91" descr="lock.png"/>
          <p:cNvPicPr>
            <a:picLocks noChangeAspect="1"/>
          </p:cNvPicPr>
          <p:nvPr/>
        </p:nvPicPr>
        <p:blipFill>
          <a:blip r:embed="rId4"/>
          <a:stretch>
            <a:fillRect/>
          </a:stretch>
        </p:blipFill>
        <p:spPr>
          <a:xfrm>
            <a:off x="6194591" y="1943318"/>
            <a:ext cx="128699" cy="187198"/>
          </a:xfrm>
          <a:prstGeom prst="rect">
            <a:avLst/>
          </a:prstGeom>
        </p:spPr>
      </p:pic>
      <p:sp>
        <p:nvSpPr>
          <p:cNvPr id="93" name="TextBox 92"/>
          <p:cNvSpPr txBox="1"/>
          <p:nvPr/>
        </p:nvSpPr>
        <p:spPr>
          <a:xfrm>
            <a:off x="6362087" y="1953097"/>
            <a:ext cx="3002788" cy="186689"/>
          </a:xfrm>
          <a:prstGeom prst="rect">
            <a:avLst/>
          </a:prstGeom>
          <a:noFill/>
        </p:spPr>
        <p:txBody>
          <a:bodyPr wrap="none" lIns="0" rIns="0" tIns="0" bIns="0">
            <a:spAutoFit/>
          </a:bodyPr>
          <a:lstStyle/>
          <a:p>
            <a:r>
              <a:rPr sz="1100" b="0">
                <a:solidFill>
                  <a:srgbClr val="2E2E2E"/>
                </a:solidFill>
                <a:latin typeface="Calibri"/>
              </a:rPr>
              <a:t>CAGR (2026–2036) while average realisation moves</a:t>
            </a:r>
          </a:p>
        </p:txBody>
      </p:sp>
      <p:pic>
        <p:nvPicPr>
          <p:cNvPr id="94" name="Picture 93" descr="lock.png"/>
          <p:cNvPicPr>
            <a:picLocks noChangeAspect="1"/>
          </p:cNvPicPr>
          <p:nvPr/>
        </p:nvPicPr>
        <p:blipFill>
          <a:blip r:embed="rId4"/>
          <a:stretch>
            <a:fillRect/>
          </a:stretch>
        </p:blipFill>
        <p:spPr>
          <a:xfrm>
            <a:off x="9312927" y="1943318"/>
            <a:ext cx="128699" cy="187198"/>
          </a:xfrm>
          <a:prstGeom prst="rect">
            <a:avLst/>
          </a:prstGeom>
        </p:spPr>
      </p:pic>
      <p:sp>
        <p:nvSpPr>
          <p:cNvPr id="95" name="TextBox 94"/>
          <p:cNvSpPr txBox="1"/>
          <p:nvPr/>
        </p:nvSpPr>
        <p:spPr>
          <a:xfrm>
            <a:off x="9480423" y="1953097"/>
            <a:ext cx="2346597" cy="186689"/>
          </a:xfrm>
          <a:prstGeom prst="rect">
            <a:avLst/>
          </a:prstGeom>
          <a:noFill/>
        </p:spPr>
        <p:txBody>
          <a:bodyPr wrap="none" lIns="0" rIns="0" tIns="0" bIns="0">
            <a:spAutoFit/>
          </a:bodyPr>
          <a:lstStyle/>
          <a:p>
            <a:r>
              <a:rPr sz="1100" b="0">
                <a:solidFill>
                  <a:srgbClr val="2E2E2E"/>
                </a:solidFill>
                <a:latin typeface="Calibri"/>
              </a:rPr>
              <a:t>a year the balance of those two sets the</a:t>
            </a:r>
          </a:p>
        </p:txBody>
      </p:sp>
      <p:sp>
        <p:nvSpPr>
          <p:cNvPr id="96" name="TextBox 95"/>
          <p:cNvSpPr txBox="1"/>
          <p:nvPr/>
        </p:nvSpPr>
        <p:spPr>
          <a:xfrm>
            <a:off x="5000625" y="2120737"/>
            <a:ext cx="1571426" cy="186689"/>
          </a:xfrm>
          <a:prstGeom prst="rect">
            <a:avLst/>
          </a:prstGeom>
          <a:noFill/>
        </p:spPr>
        <p:txBody>
          <a:bodyPr wrap="none" lIns="0" rIns="0" tIns="0" bIns="0">
            <a:spAutoFit/>
          </a:bodyPr>
          <a:lstStyle/>
          <a:p>
            <a:r>
              <a:rPr sz="1100" b="0">
                <a:solidFill>
                  <a:srgbClr val="2E2E2E"/>
                </a:solidFill>
                <a:latin typeface="Calibri"/>
              </a:rPr>
              <a:t>cost-pass-through picture.</a:t>
            </a:r>
          </a:p>
        </p:txBody>
      </p:sp>
      <p:sp>
        <p:nvSpPr>
          <p:cNvPr id="97" name="TextBox 96"/>
          <p:cNvSpPr txBox="1"/>
          <p:nvPr/>
        </p:nvSpPr>
        <p:spPr>
          <a:xfrm>
            <a:off x="5000625" y="2401990"/>
            <a:ext cx="2540049" cy="186689"/>
          </a:xfrm>
          <a:prstGeom prst="rect">
            <a:avLst/>
          </a:prstGeom>
          <a:noFill/>
        </p:spPr>
        <p:txBody>
          <a:bodyPr wrap="none" lIns="0" rIns="0" tIns="0" bIns="0">
            <a:spAutoFit/>
          </a:bodyPr>
          <a:lstStyle/>
          <a:p>
            <a:r>
              <a:rPr sz="1100" b="0">
                <a:solidFill>
                  <a:srgbClr val="2E2E2E"/>
                </a:solidFill>
                <a:latin typeface="Calibri"/>
              </a:rPr>
              <a:t>▪ Supply is dispersed: 'North America' holds</a:t>
            </a:r>
          </a:p>
        </p:txBody>
      </p:sp>
      <p:pic>
        <p:nvPicPr>
          <p:cNvPr id="98" name="Picture 97" descr="lock.png"/>
          <p:cNvPicPr>
            <a:picLocks noChangeAspect="1"/>
          </p:cNvPicPr>
          <p:nvPr/>
        </p:nvPicPr>
        <p:blipFill>
          <a:blip r:embed="rId4"/>
          <a:stretch>
            <a:fillRect/>
          </a:stretch>
        </p:blipFill>
        <p:spPr>
          <a:xfrm>
            <a:off x="7488726" y="2392211"/>
            <a:ext cx="128699" cy="187198"/>
          </a:xfrm>
          <a:prstGeom prst="rect">
            <a:avLst/>
          </a:prstGeom>
        </p:spPr>
      </p:pic>
      <p:sp>
        <p:nvSpPr>
          <p:cNvPr id="99" name="TextBox 98"/>
          <p:cNvSpPr txBox="1"/>
          <p:nvPr/>
        </p:nvSpPr>
        <p:spPr>
          <a:xfrm>
            <a:off x="7656222" y="2401990"/>
            <a:ext cx="1821358" cy="186689"/>
          </a:xfrm>
          <a:prstGeom prst="rect">
            <a:avLst/>
          </a:prstGeom>
          <a:noFill/>
        </p:spPr>
        <p:txBody>
          <a:bodyPr wrap="none" lIns="0" rIns="0" tIns="0" bIns="0">
            <a:spAutoFit/>
          </a:bodyPr>
          <a:lstStyle/>
          <a:p>
            <a:r>
              <a:rPr sz="1100" b="0">
                <a:solidFill>
                  <a:srgbClr val="2E2E2E"/>
                </a:solidFill>
                <a:latin typeface="Calibri"/>
              </a:rPr>
              <a:t>of 2036 value across 6 regions.</a:t>
            </a:r>
          </a:p>
        </p:txBody>
      </p:sp>
      <p:sp>
        <p:nvSpPr>
          <p:cNvPr id="100" name="TextBox 99"/>
          <p:cNvSpPr txBox="1"/>
          <p:nvPr/>
        </p:nvSpPr>
        <p:spPr>
          <a:xfrm>
            <a:off x="5000625" y="3132138"/>
            <a:ext cx="2931591" cy="186689"/>
          </a:xfrm>
          <a:prstGeom prst="rect">
            <a:avLst/>
          </a:prstGeom>
          <a:noFill/>
        </p:spPr>
        <p:txBody>
          <a:bodyPr wrap="none" lIns="0" rIns="0" tIns="0" bIns="0">
            <a:spAutoFit/>
          </a:bodyPr>
          <a:lstStyle/>
          <a:p>
            <a:r>
              <a:rPr sz="1100" b="0">
                <a:solidFill>
                  <a:srgbClr val="2E2E2E"/>
                </a:solidFill>
                <a:latin typeface="Calibri"/>
              </a:rPr>
              <a:t>▪ Capacity added between 2026 and 2036 is worth</a:t>
            </a:r>
          </a:p>
        </p:txBody>
      </p:sp>
      <p:pic>
        <p:nvPicPr>
          <p:cNvPr id="101" name="Picture 100" descr="lock.png"/>
          <p:cNvPicPr>
            <a:picLocks noChangeAspect="1"/>
          </p:cNvPicPr>
          <p:nvPr/>
        </p:nvPicPr>
        <p:blipFill>
          <a:blip r:embed="rId4"/>
          <a:stretch>
            <a:fillRect/>
          </a:stretch>
        </p:blipFill>
        <p:spPr>
          <a:xfrm>
            <a:off x="7880268" y="3122359"/>
            <a:ext cx="128699" cy="187198"/>
          </a:xfrm>
          <a:prstGeom prst="rect">
            <a:avLst/>
          </a:prstGeom>
        </p:spPr>
      </p:pic>
      <p:sp>
        <p:nvSpPr>
          <p:cNvPr id="102" name="TextBox 101"/>
          <p:cNvSpPr txBox="1"/>
          <p:nvPr/>
        </p:nvSpPr>
        <p:spPr>
          <a:xfrm>
            <a:off x="8047764" y="3132138"/>
            <a:ext cx="659010" cy="186689"/>
          </a:xfrm>
          <a:prstGeom prst="rect">
            <a:avLst/>
          </a:prstGeom>
          <a:noFill/>
        </p:spPr>
        <p:txBody>
          <a:bodyPr wrap="none" lIns="0" rIns="0" tIns="0" bIns="0">
            <a:spAutoFit/>
          </a:bodyPr>
          <a:lstStyle/>
          <a:p>
            <a:r>
              <a:rPr sz="1100" b="0">
                <a:solidFill>
                  <a:srgbClr val="2E2E2E"/>
                </a:solidFill>
                <a:latin typeface="Calibri"/>
              </a:rPr>
              <a:t>US$ Mn, a</a:t>
            </a:r>
          </a:p>
        </p:txBody>
      </p:sp>
      <p:pic>
        <p:nvPicPr>
          <p:cNvPr id="103" name="Picture 102" descr="lock.png"/>
          <p:cNvPicPr>
            <a:picLocks noChangeAspect="1"/>
          </p:cNvPicPr>
          <p:nvPr/>
        </p:nvPicPr>
        <p:blipFill>
          <a:blip r:embed="rId4"/>
          <a:stretch>
            <a:fillRect/>
          </a:stretch>
        </p:blipFill>
        <p:spPr>
          <a:xfrm>
            <a:off x="8654826" y="3122359"/>
            <a:ext cx="128699" cy="187198"/>
          </a:xfrm>
          <a:prstGeom prst="rect">
            <a:avLst/>
          </a:prstGeom>
        </p:spPr>
      </p:pic>
      <p:sp>
        <p:nvSpPr>
          <p:cNvPr id="104" name="TextBox 103"/>
          <p:cNvSpPr txBox="1"/>
          <p:nvPr/>
        </p:nvSpPr>
        <p:spPr>
          <a:xfrm>
            <a:off x="8822322" y="3132138"/>
            <a:ext cx="1801986" cy="186689"/>
          </a:xfrm>
          <a:prstGeom prst="rect">
            <a:avLst/>
          </a:prstGeom>
          <a:noFill/>
        </p:spPr>
        <p:txBody>
          <a:bodyPr wrap="none" lIns="0" rIns="0" tIns="0" bIns="0">
            <a:spAutoFit/>
          </a:bodyPr>
          <a:lstStyle/>
          <a:p>
            <a:r>
              <a:rPr sz="1100" b="0">
                <a:solidFill>
                  <a:srgbClr val="2E2E2E"/>
                </a:solidFill>
                <a:latin typeface="Calibri"/>
              </a:rPr>
              <a:t>× expansion on the 2026 base.</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Senior Dog Cognitive Supplement Market Global Driving Factors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demand-side factors scored by their impact on the global market</a:t>
            </a:r>
          </a:p>
        </p:txBody>
      </p:sp>
      <p:sp>
        <p:nvSpPr>
          <p:cNvPr id="10" name="Oval 9"/>
          <p:cNvSpPr/>
          <p:nvPr/>
        </p:nvSpPr>
        <p:spPr>
          <a:xfrm>
            <a:off x="5048250" y="1609633"/>
            <a:ext cx="4762500" cy="4563424"/>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286375" y="1837804"/>
            <a:ext cx="4286250" cy="410708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524500" y="2065976"/>
            <a:ext cx="3810000" cy="365074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762625" y="2294147"/>
            <a:ext cx="3333750" cy="319439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000750" y="2522318"/>
            <a:ext cx="2857500" cy="273805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238875" y="2750489"/>
            <a:ext cx="2381250" cy="228171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77000" y="2978660"/>
            <a:ext cx="1905000" cy="182537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715125" y="3206832"/>
            <a:ext cx="1428750" cy="136902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953250" y="3435003"/>
            <a:ext cx="952500" cy="91268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91375" y="3663174"/>
            <a:ext cx="476250" cy="45634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7429500" y="1609633"/>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429500" y="1835594"/>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429500" y="2468721"/>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7429500" y="3383617"/>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429500" y="3891345"/>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29500" y="3891345"/>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429500" y="3891345"/>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429500" y="3891345"/>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7429500" y="2659221"/>
            <a:ext cx="1524000" cy="2683294"/>
          </a:xfrm>
          <a:custGeom>
            <a:avLst/>
            <a:gdLst/>
            <a:ahLst/>
            <a:cxnLst/>
            <a:rect l="l" t="t" r="r" b="b"/>
            <a:pathLst>
              <a:path w="160" h="294">
                <a:moveTo>
                  <a:pt x="0" y="10"/>
                </a:moveTo>
                <a:lnTo>
                  <a:pt x="65" y="0"/>
                </a:lnTo>
                <a:lnTo>
                  <a:pt x="73" y="77"/>
                </a:lnTo>
                <a:lnTo>
                  <a:pt x="97" y="113"/>
                </a:lnTo>
                <a:lnTo>
                  <a:pt x="160" y="172"/>
                </a:lnTo>
                <a:lnTo>
                  <a:pt x="100" y="215"/>
                </a:lnTo>
                <a:lnTo>
                  <a:pt x="59" y="258"/>
                </a:lnTo>
                <a:lnTo>
                  <a:pt x="0" y="294"/>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81875" y="1563999"/>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05700" y="128106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1" name="Oval 30"/>
          <p:cNvSpPr/>
          <p:nvPr/>
        </p:nvSpPr>
        <p:spPr>
          <a:xfrm>
            <a:off x="8415061" y="178996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20544" y="151968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3" name="Oval 32"/>
          <p:cNvSpPr/>
          <p:nvPr/>
        </p:nvSpPr>
        <p:spPr>
          <a:xfrm>
            <a:off x="9243611" y="2423087"/>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95493" y="2270405"/>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5" name="Oval 34"/>
          <p:cNvSpPr/>
          <p:nvPr/>
        </p:nvSpPr>
        <p:spPr>
          <a:xfrm>
            <a:off x="9703422" y="3337982"/>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81054" y="3236535"/>
            <a:ext cx="2168071"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7" name="Oval 36"/>
          <p:cNvSpPr/>
          <p:nvPr/>
        </p:nvSpPr>
        <p:spPr>
          <a:xfrm>
            <a:off x="9703422" y="435344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81054" y="4308858"/>
            <a:ext cx="2168071"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9" name="Oval 38"/>
          <p:cNvSpPr/>
          <p:nvPr/>
        </p:nvSpPr>
        <p:spPr>
          <a:xfrm>
            <a:off x="9243611" y="5268335"/>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95493" y="527498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1" name="Oval 40"/>
          <p:cNvSpPr/>
          <p:nvPr/>
        </p:nvSpPr>
        <p:spPr>
          <a:xfrm>
            <a:off x="8415061" y="590146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20544" y="602571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3" name="Oval 42"/>
          <p:cNvSpPr/>
          <p:nvPr/>
        </p:nvSpPr>
        <p:spPr>
          <a:xfrm>
            <a:off x="7381875" y="612742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05700" y="6264326"/>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5" name="Rectangle 44"/>
          <p:cNvSpPr/>
          <p:nvPr/>
        </p:nvSpPr>
        <p:spPr>
          <a:xfrm>
            <a:off x="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MI Scale 0"/>
          <p:cNvSpPr txBox="1"/>
          <p:nvPr/>
        </p:nvSpPr>
        <p:spPr>
          <a:xfrm>
            <a:off x="7486650" y="3818331"/>
            <a:ext cx="419100" cy="146030"/>
          </a:xfrm>
          <a:prstGeom prst="rect">
            <a:avLst/>
          </a:prstGeom>
          <a:noFill/>
        </p:spPr>
        <p:txBody>
          <a:bodyPr wrap="none" lIns="0" rIns="0" tIns="0" bIns="0" anchor="ctr">
            <a:spAutoFit/>
          </a:bodyPr>
          <a:lstStyle/>
          <a:p>
            <a:pPr algn="l"/>
            <a:r>
              <a:rPr sz="1100" b="0">
                <a:solidFill>
                  <a:srgbClr val="6C7A89"/>
                </a:solidFill>
                <a:latin typeface="Calibri"/>
              </a:rPr>
              <a:t>0%</a:t>
            </a:r>
          </a:p>
        </p:txBody>
      </p:sp>
      <p:sp>
        <p:nvSpPr>
          <p:cNvPr id="47" name="FMI Scale 1"/>
          <p:cNvSpPr txBox="1"/>
          <p:nvPr/>
        </p:nvSpPr>
        <p:spPr>
          <a:xfrm>
            <a:off x="7486650" y="3590159"/>
            <a:ext cx="419100" cy="146030"/>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8" name="FMI Scale 2"/>
          <p:cNvSpPr txBox="1"/>
          <p:nvPr/>
        </p:nvSpPr>
        <p:spPr>
          <a:xfrm>
            <a:off x="7486650" y="3361988"/>
            <a:ext cx="419100" cy="146030"/>
          </a:xfrm>
          <a:prstGeom prst="rect">
            <a:avLst/>
          </a:prstGeom>
          <a:noFill/>
        </p:spPr>
        <p:txBody>
          <a:bodyPr wrap="none" lIns="0" rIns="0" tIns="0" bIns="0" anchor="ctr">
            <a:spAutoFit/>
          </a:bodyPr>
          <a:lstStyle/>
          <a:p>
            <a:pPr algn="l"/>
            <a:r>
              <a:rPr sz="1100" b="0">
                <a:solidFill>
                  <a:srgbClr val="6C7A89"/>
                </a:solidFill>
                <a:latin typeface="Calibri"/>
              </a:rPr>
              <a:t>20%</a:t>
            </a:r>
          </a:p>
        </p:txBody>
      </p:sp>
      <p:sp>
        <p:nvSpPr>
          <p:cNvPr id="49" name="FMI Scale 3"/>
          <p:cNvSpPr txBox="1"/>
          <p:nvPr/>
        </p:nvSpPr>
        <p:spPr>
          <a:xfrm>
            <a:off x="7486650" y="3133817"/>
            <a:ext cx="419100" cy="146030"/>
          </a:xfrm>
          <a:prstGeom prst="rect">
            <a:avLst/>
          </a:prstGeom>
          <a:noFill/>
        </p:spPr>
        <p:txBody>
          <a:bodyPr wrap="none" lIns="0" rIns="0" tIns="0" bIns="0" anchor="ctr">
            <a:spAutoFit/>
          </a:bodyPr>
          <a:lstStyle/>
          <a:p>
            <a:pPr algn="l"/>
            <a:r>
              <a:rPr sz="1100" b="0">
                <a:solidFill>
                  <a:srgbClr val="6C7A89"/>
                </a:solidFill>
                <a:latin typeface="Calibri"/>
              </a:rPr>
              <a:t>30%</a:t>
            </a:r>
          </a:p>
        </p:txBody>
      </p:sp>
      <p:sp>
        <p:nvSpPr>
          <p:cNvPr id="50" name="FMI Scale 4"/>
          <p:cNvSpPr txBox="1"/>
          <p:nvPr/>
        </p:nvSpPr>
        <p:spPr>
          <a:xfrm>
            <a:off x="7486650" y="2905646"/>
            <a:ext cx="419100" cy="146030"/>
          </a:xfrm>
          <a:prstGeom prst="rect">
            <a:avLst/>
          </a:prstGeom>
          <a:noFill/>
        </p:spPr>
        <p:txBody>
          <a:bodyPr wrap="none" lIns="0" rIns="0" tIns="0" bIns="0" anchor="ctr">
            <a:spAutoFit/>
          </a:bodyPr>
          <a:lstStyle/>
          <a:p>
            <a:pPr algn="l"/>
            <a:r>
              <a:rPr sz="1100" b="0">
                <a:solidFill>
                  <a:srgbClr val="6C7A89"/>
                </a:solidFill>
                <a:latin typeface="Calibri"/>
              </a:rPr>
              <a:t>40%</a:t>
            </a:r>
          </a:p>
        </p:txBody>
      </p:sp>
      <p:sp>
        <p:nvSpPr>
          <p:cNvPr id="51" name="FMI Scale 5"/>
          <p:cNvSpPr txBox="1"/>
          <p:nvPr/>
        </p:nvSpPr>
        <p:spPr>
          <a:xfrm>
            <a:off x="7486650" y="2677474"/>
            <a:ext cx="419100" cy="146030"/>
          </a:xfrm>
          <a:prstGeom prst="rect">
            <a:avLst/>
          </a:prstGeom>
          <a:noFill/>
        </p:spPr>
        <p:txBody>
          <a:bodyPr wrap="none" lIns="0" rIns="0" tIns="0" bIns="0" anchor="ctr">
            <a:spAutoFit/>
          </a:bodyPr>
          <a:lstStyle/>
          <a:p>
            <a:pPr algn="l"/>
            <a:r>
              <a:rPr sz="1100" b="0">
                <a:solidFill>
                  <a:srgbClr val="6C7A89"/>
                </a:solidFill>
                <a:latin typeface="Calibri"/>
              </a:rPr>
              <a:t>50%</a:t>
            </a:r>
          </a:p>
        </p:txBody>
      </p:sp>
      <p:sp>
        <p:nvSpPr>
          <p:cNvPr id="52" name="FMI Scale 6"/>
          <p:cNvSpPr txBox="1"/>
          <p:nvPr/>
        </p:nvSpPr>
        <p:spPr>
          <a:xfrm>
            <a:off x="7486650" y="2449303"/>
            <a:ext cx="419100" cy="146030"/>
          </a:xfrm>
          <a:prstGeom prst="rect">
            <a:avLst/>
          </a:prstGeom>
          <a:noFill/>
        </p:spPr>
        <p:txBody>
          <a:bodyPr wrap="none" lIns="0" rIns="0" tIns="0" bIns="0" anchor="ctr">
            <a:spAutoFit/>
          </a:bodyPr>
          <a:lstStyle/>
          <a:p>
            <a:pPr algn="l"/>
            <a:r>
              <a:rPr sz="1100" b="0">
                <a:solidFill>
                  <a:srgbClr val="6C7A89"/>
                </a:solidFill>
                <a:latin typeface="Calibri"/>
              </a:rPr>
              <a:t>60%</a:t>
            </a:r>
          </a:p>
        </p:txBody>
      </p:sp>
      <p:sp>
        <p:nvSpPr>
          <p:cNvPr id="53" name="FMI Scale 7"/>
          <p:cNvSpPr txBox="1"/>
          <p:nvPr/>
        </p:nvSpPr>
        <p:spPr>
          <a:xfrm>
            <a:off x="7486650" y="2221132"/>
            <a:ext cx="419100" cy="146030"/>
          </a:xfrm>
          <a:prstGeom prst="rect">
            <a:avLst/>
          </a:prstGeom>
          <a:noFill/>
        </p:spPr>
        <p:txBody>
          <a:bodyPr wrap="none" lIns="0" rIns="0" tIns="0" bIns="0" anchor="ctr">
            <a:spAutoFit/>
          </a:bodyPr>
          <a:lstStyle/>
          <a:p>
            <a:pPr algn="l"/>
            <a:r>
              <a:rPr sz="1100" b="0">
                <a:solidFill>
                  <a:srgbClr val="6C7A89"/>
                </a:solidFill>
                <a:latin typeface="Calibri"/>
              </a:rPr>
              <a:t>70%</a:t>
            </a:r>
          </a:p>
        </p:txBody>
      </p:sp>
      <p:sp>
        <p:nvSpPr>
          <p:cNvPr id="54" name="FMI Scale 8"/>
          <p:cNvSpPr txBox="1"/>
          <p:nvPr/>
        </p:nvSpPr>
        <p:spPr>
          <a:xfrm>
            <a:off x="7486650" y="1992961"/>
            <a:ext cx="419100" cy="146030"/>
          </a:xfrm>
          <a:prstGeom prst="rect">
            <a:avLst/>
          </a:prstGeom>
          <a:noFill/>
        </p:spPr>
        <p:txBody>
          <a:bodyPr wrap="none" lIns="0" rIns="0" tIns="0" bIns="0" anchor="ctr">
            <a:spAutoFit/>
          </a:bodyPr>
          <a:lstStyle/>
          <a:p>
            <a:pPr algn="l"/>
            <a:r>
              <a:rPr sz="1100" b="0">
                <a:solidFill>
                  <a:srgbClr val="6C7A89"/>
                </a:solidFill>
                <a:latin typeface="Calibri"/>
              </a:rPr>
              <a:t>80%</a:t>
            </a:r>
          </a:p>
        </p:txBody>
      </p:sp>
      <p:sp>
        <p:nvSpPr>
          <p:cNvPr id="55" name="FMI Scale 9"/>
          <p:cNvSpPr txBox="1"/>
          <p:nvPr/>
        </p:nvSpPr>
        <p:spPr>
          <a:xfrm>
            <a:off x="7486650" y="1764790"/>
            <a:ext cx="419100" cy="146030"/>
          </a:xfrm>
          <a:prstGeom prst="rect">
            <a:avLst/>
          </a:prstGeom>
          <a:noFill/>
        </p:spPr>
        <p:txBody>
          <a:bodyPr wrap="none" lIns="0" rIns="0" tIns="0" bIns="0" anchor="ctr">
            <a:spAutoFit/>
          </a:bodyPr>
          <a:lstStyle/>
          <a:p>
            <a:pPr algn="l"/>
            <a:r>
              <a:rPr sz="1100" b="0">
                <a:solidFill>
                  <a:srgbClr val="6C7A89"/>
                </a:solidFill>
                <a:latin typeface="Calibri"/>
              </a:rPr>
              <a:t>90%</a:t>
            </a:r>
          </a:p>
        </p:txBody>
      </p:sp>
      <p:sp>
        <p:nvSpPr>
          <p:cNvPr id="56" name="FMI Scale 10"/>
          <p:cNvSpPr txBox="1"/>
          <p:nvPr/>
        </p:nvSpPr>
        <p:spPr>
          <a:xfrm>
            <a:off x="7486650" y="1536618"/>
            <a:ext cx="419100" cy="146030"/>
          </a:xfrm>
          <a:prstGeom prst="rect">
            <a:avLst/>
          </a:prstGeom>
          <a:noFill/>
        </p:spPr>
        <p:txBody>
          <a:bodyPr wrap="none" lIns="0" rIns="0" tIns="0" bIns="0" anchor="ctr">
            <a:spAutoFit/>
          </a:bodyPr>
          <a:lstStyle/>
          <a:p>
            <a:pPr algn="l"/>
            <a:r>
              <a:rPr sz="1100" b="0">
                <a:solidFill>
                  <a:srgbClr val="6C7A89"/>
                </a:solidFill>
                <a:latin typeface="Calibri"/>
              </a:rPr>
              <a:t>100%</a:t>
            </a:r>
          </a:p>
        </p:txBody>
      </p:sp>
      <p:cxnSp>
        <p:nvCxnSpPr>
          <p:cNvPr id="57" name="Connector 56"/>
          <p:cNvCxnSpPr/>
          <p:nvPr/>
        </p:nvCxnSpPr>
        <p:spPr>
          <a:xfrm>
            <a:off x="7429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180975" y="1080276"/>
            <a:ext cx="7038975" cy="219044"/>
          </a:xfrm>
          <a:prstGeom prst="rect">
            <a:avLst/>
          </a:prstGeom>
          <a:noFill/>
        </p:spPr>
        <p:txBody>
          <a:bodyPr wrap="square" lIns="28575" rIns="28575" tIns="9525" bIns="9525" anchor="ctr">
            <a:spAutoFit/>
          </a:bodyPr>
          <a:lstStyle/>
          <a:p>
            <a:pPr algn="l"/>
            <a:r>
              <a:rPr sz="1200" b="1">
                <a:solidFill>
                  <a:srgbClr val="0B2E4A"/>
                </a:solidFill>
                <a:latin typeface="Calibri"/>
              </a:rPr>
              <a:t>Demand-side Factors</a:t>
            </a:r>
          </a:p>
        </p:txBody>
      </p:sp>
      <p:cxnSp>
        <p:nvCxnSpPr>
          <p:cNvPr id="59" name="Connector 58"/>
          <p:cNvCxnSpPr/>
          <p:nvPr/>
        </p:nvCxnSpPr>
        <p:spPr>
          <a:xfrm>
            <a:off x="180975" y="1335828"/>
            <a:ext cx="70389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180975" y="1427096"/>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1" name="TextBox 60"/>
          <p:cNvSpPr txBox="1"/>
          <p:nvPr/>
        </p:nvSpPr>
        <p:spPr>
          <a:xfrm>
            <a:off x="180975" y="1883439"/>
            <a:ext cx="70389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2" name="TextBox 61"/>
          <p:cNvSpPr txBox="1"/>
          <p:nvPr/>
        </p:nvSpPr>
        <p:spPr>
          <a:xfrm>
            <a:off x="180975" y="2157244"/>
            <a:ext cx="70389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3" name="TextBox 62"/>
          <p:cNvSpPr txBox="1"/>
          <p:nvPr/>
        </p:nvSpPr>
        <p:spPr>
          <a:xfrm>
            <a:off x="180975" y="2431050"/>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4" name="TextBox 63"/>
          <p:cNvSpPr txBox="1"/>
          <p:nvPr/>
        </p:nvSpPr>
        <p:spPr>
          <a:xfrm>
            <a:off x="180975" y="2887392"/>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5" name="TextBox 64"/>
          <p:cNvSpPr txBox="1"/>
          <p:nvPr/>
        </p:nvSpPr>
        <p:spPr>
          <a:xfrm>
            <a:off x="180975" y="3343734"/>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6" name="TextBox 6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7" name="TextBox 66"/>
          <p:cNvSpPr txBox="1"/>
          <p:nvPr/>
        </p:nvSpPr>
        <p:spPr>
          <a:xfrm>
            <a:off x="7534275" y="1322601"/>
            <a:ext cx="943988" cy="173278"/>
          </a:xfrm>
          <a:prstGeom prst="rect">
            <a:avLst/>
          </a:prstGeom>
          <a:noFill/>
        </p:spPr>
        <p:txBody>
          <a:bodyPr wrap="none" lIns="0" rIns="0" tIns="0" bIns="0">
            <a:spAutoFit/>
          </a:bodyPr>
          <a:lstStyle/>
          <a:p>
            <a:r>
              <a:rPr sz="1011" b="0">
                <a:solidFill>
                  <a:srgbClr val="2E2E2E"/>
                </a:solidFill>
                <a:latin typeface="Calibri"/>
              </a:rPr>
              <a:t>Demand Growth</a:t>
            </a:r>
          </a:p>
        </p:txBody>
      </p:sp>
      <p:pic>
        <p:nvPicPr>
          <p:cNvPr id="68" name="Picture 67" descr="lock.png"/>
          <p:cNvPicPr>
            <a:picLocks noChangeAspect="1"/>
          </p:cNvPicPr>
          <p:nvPr/>
        </p:nvPicPr>
        <p:blipFill>
          <a:blip r:embed="rId4"/>
          <a:stretch>
            <a:fillRect/>
          </a:stretch>
        </p:blipFill>
        <p:spPr>
          <a:xfrm>
            <a:off x="8424374" y="1313604"/>
            <a:ext cx="118403" cy="172222"/>
          </a:xfrm>
          <a:prstGeom prst="rect">
            <a:avLst/>
          </a:prstGeom>
        </p:spPr>
      </p:pic>
      <p:sp>
        <p:nvSpPr>
          <p:cNvPr id="69" name="TextBox 68"/>
          <p:cNvSpPr txBox="1"/>
          <p:nvPr/>
        </p:nvSpPr>
        <p:spPr>
          <a:xfrm>
            <a:off x="8549119" y="1561215"/>
            <a:ext cx="903573" cy="173278"/>
          </a:xfrm>
          <a:prstGeom prst="rect">
            <a:avLst/>
          </a:prstGeom>
          <a:noFill/>
        </p:spPr>
        <p:txBody>
          <a:bodyPr wrap="none" lIns="0" rIns="0" tIns="0" bIns="0">
            <a:spAutoFit/>
          </a:bodyPr>
          <a:lstStyle/>
          <a:p>
            <a:r>
              <a:rPr sz="1011" b="0">
                <a:solidFill>
                  <a:srgbClr val="2E2E2E"/>
                </a:solidFill>
                <a:latin typeface="Calibri"/>
              </a:rPr>
              <a:t>Premiumisation</a:t>
            </a:r>
          </a:p>
        </p:txBody>
      </p:sp>
      <p:pic>
        <p:nvPicPr>
          <p:cNvPr id="70" name="Picture 69" descr="lock.png"/>
          <p:cNvPicPr>
            <a:picLocks noChangeAspect="1"/>
          </p:cNvPicPr>
          <p:nvPr/>
        </p:nvPicPr>
        <p:blipFill>
          <a:blip r:embed="rId4"/>
          <a:stretch>
            <a:fillRect/>
          </a:stretch>
        </p:blipFill>
        <p:spPr>
          <a:xfrm>
            <a:off x="9398803" y="1552218"/>
            <a:ext cx="118403" cy="172222"/>
          </a:xfrm>
          <a:prstGeom prst="rect">
            <a:avLst/>
          </a:prstGeom>
        </p:spPr>
      </p:pic>
      <p:sp>
        <p:nvSpPr>
          <p:cNvPr id="71" name="TextBox 70"/>
          <p:cNvSpPr txBox="1"/>
          <p:nvPr/>
        </p:nvSpPr>
        <p:spPr>
          <a:xfrm>
            <a:off x="9424068" y="2311939"/>
            <a:ext cx="765761" cy="173278"/>
          </a:xfrm>
          <a:prstGeom prst="rect">
            <a:avLst/>
          </a:prstGeom>
          <a:noFill/>
        </p:spPr>
        <p:txBody>
          <a:bodyPr wrap="none" lIns="0" rIns="0" tIns="0" bIns="0">
            <a:spAutoFit/>
          </a:bodyPr>
          <a:lstStyle/>
          <a:p>
            <a:r>
              <a:rPr sz="1011" b="0">
                <a:solidFill>
                  <a:srgbClr val="2E2E2E"/>
                </a:solidFill>
                <a:latin typeface="Calibri"/>
              </a:rPr>
              <a:t>App. Breadth</a:t>
            </a:r>
          </a:p>
        </p:txBody>
      </p:sp>
      <p:pic>
        <p:nvPicPr>
          <p:cNvPr id="72" name="Picture 71" descr="lock.png"/>
          <p:cNvPicPr>
            <a:picLocks noChangeAspect="1"/>
          </p:cNvPicPr>
          <p:nvPr/>
        </p:nvPicPr>
        <p:blipFill>
          <a:blip r:embed="rId4"/>
          <a:stretch>
            <a:fillRect/>
          </a:stretch>
        </p:blipFill>
        <p:spPr>
          <a:xfrm>
            <a:off x="10135940" y="2302942"/>
            <a:ext cx="118403" cy="172222"/>
          </a:xfrm>
          <a:prstGeom prst="rect">
            <a:avLst/>
          </a:prstGeom>
        </p:spPr>
      </p:pic>
      <p:sp>
        <p:nvSpPr>
          <p:cNvPr id="73" name="TextBox 72"/>
          <p:cNvSpPr txBox="1"/>
          <p:nvPr/>
        </p:nvSpPr>
        <p:spPr>
          <a:xfrm>
            <a:off x="9909628" y="3278069"/>
            <a:ext cx="791114" cy="173278"/>
          </a:xfrm>
          <a:prstGeom prst="rect">
            <a:avLst/>
          </a:prstGeom>
          <a:noFill/>
        </p:spPr>
        <p:txBody>
          <a:bodyPr wrap="none" lIns="0" rIns="0" tIns="0" bIns="0">
            <a:spAutoFit/>
          </a:bodyPr>
          <a:lstStyle/>
          <a:p>
            <a:r>
              <a:rPr sz="1011" b="0">
                <a:solidFill>
                  <a:srgbClr val="2E2E2E"/>
                </a:solidFill>
                <a:latin typeface="Calibri"/>
              </a:rPr>
              <a:t>Emerging Pull</a:t>
            </a:r>
          </a:p>
        </p:txBody>
      </p:sp>
      <p:pic>
        <p:nvPicPr>
          <p:cNvPr id="74" name="Picture 73" descr="lock.png"/>
          <p:cNvPicPr>
            <a:picLocks noChangeAspect="1"/>
          </p:cNvPicPr>
          <p:nvPr/>
        </p:nvPicPr>
        <p:blipFill>
          <a:blip r:embed="rId4"/>
          <a:stretch>
            <a:fillRect/>
          </a:stretch>
        </p:blipFill>
        <p:spPr>
          <a:xfrm>
            <a:off x="10646855" y="3269072"/>
            <a:ext cx="118403" cy="172222"/>
          </a:xfrm>
          <a:prstGeom prst="rect">
            <a:avLst/>
          </a:prstGeom>
        </p:spPr>
      </p:pic>
      <p:sp>
        <p:nvSpPr>
          <p:cNvPr id="75" name="TextBox 74"/>
          <p:cNvSpPr txBox="1"/>
          <p:nvPr/>
        </p:nvSpPr>
        <p:spPr>
          <a:xfrm>
            <a:off x="9909628" y="4350392"/>
            <a:ext cx="1135267" cy="173278"/>
          </a:xfrm>
          <a:prstGeom prst="rect">
            <a:avLst/>
          </a:prstGeom>
          <a:noFill/>
        </p:spPr>
        <p:txBody>
          <a:bodyPr wrap="none" lIns="0" rIns="0" tIns="0" bIns="0">
            <a:spAutoFit/>
          </a:bodyPr>
          <a:lstStyle/>
          <a:p>
            <a:r>
              <a:rPr sz="1011" b="0">
                <a:solidFill>
                  <a:srgbClr val="2E2E2E"/>
                </a:solidFill>
                <a:latin typeface="Calibri"/>
              </a:rPr>
              <a:t>Volume Momentum</a:t>
            </a:r>
          </a:p>
        </p:txBody>
      </p:sp>
      <p:pic>
        <p:nvPicPr>
          <p:cNvPr id="76" name="Picture 75" descr="lock.png"/>
          <p:cNvPicPr>
            <a:picLocks noChangeAspect="1"/>
          </p:cNvPicPr>
          <p:nvPr/>
        </p:nvPicPr>
        <p:blipFill>
          <a:blip r:embed="rId4"/>
          <a:stretch>
            <a:fillRect/>
          </a:stretch>
        </p:blipFill>
        <p:spPr>
          <a:xfrm>
            <a:off x="10991008" y="4341395"/>
            <a:ext cx="118403" cy="172222"/>
          </a:xfrm>
          <a:prstGeom prst="rect">
            <a:avLst/>
          </a:prstGeom>
        </p:spPr>
      </p:pic>
      <p:sp>
        <p:nvSpPr>
          <p:cNvPr id="77" name="TextBox 76"/>
          <p:cNvSpPr txBox="1"/>
          <p:nvPr/>
        </p:nvSpPr>
        <p:spPr>
          <a:xfrm>
            <a:off x="9424068" y="5316521"/>
            <a:ext cx="1032097" cy="173278"/>
          </a:xfrm>
          <a:prstGeom prst="rect">
            <a:avLst/>
          </a:prstGeom>
          <a:noFill/>
        </p:spPr>
        <p:txBody>
          <a:bodyPr wrap="none" lIns="0" rIns="0" tIns="0" bIns="0">
            <a:spAutoFit/>
          </a:bodyPr>
          <a:lstStyle/>
          <a:p>
            <a:r>
              <a:rPr sz="1011" b="0">
                <a:solidFill>
                  <a:srgbClr val="2E2E2E"/>
                </a:solidFill>
                <a:latin typeface="Calibri"/>
              </a:rPr>
              <a:t>Category Maturity</a:t>
            </a:r>
          </a:p>
        </p:txBody>
      </p:sp>
      <p:pic>
        <p:nvPicPr>
          <p:cNvPr id="78" name="Picture 77" descr="lock.png"/>
          <p:cNvPicPr>
            <a:picLocks noChangeAspect="1"/>
          </p:cNvPicPr>
          <p:nvPr/>
        </p:nvPicPr>
        <p:blipFill>
          <a:blip r:embed="rId4"/>
          <a:stretch>
            <a:fillRect/>
          </a:stretch>
        </p:blipFill>
        <p:spPr>
          <a:xfrm>
            <a:off x="10402276" y="5307524"/>
            <a:ext cx="118403" cy="172222"/>
          </a:xfrm>
          <a:prstGeom prst="rect">
            <a:avLst/>
          </a:prstGeom>
        </p:spPr>
      </p:pic>
      <p:sp>
        <p:nvSpPr>
          <p:cNvPr id="79" name="TextBox 78"/>
          <p:cNvSpPr txBox="1"/>
          <p:nvPr/>
        </p:nvSpPr>
        <p:spPr>
          <a:xfrm>
            <a:off x="8549119" y="6067245"/>
            <a:ext cx="911857" cy="173278"/>
          </a:xfrm>
          <a:prstGeom prst="rect">
            <a:avLst/>
          </a:prstGeom>
          <a:noFill/>
        </p:spPr>
        <p:txBody>
          <a:bodyPr wrap="none" lIns="0" rIns="0" tIns="0" bIns="0">
            <a:spAutoFit/>
          </a:bodyPr>
          <a:lstStyle/>
          <a:p>
            <a:r>
              <a:rPr sz="1011" b="0">
                <a:solidFill>
                  <a:srgbClr val="2E2E2E"/>
                </a:solidFill>
                <a:latin typeface="Calibri"/>
              </a:rPr>
              <a:t>Adoption Depth</a:t>
            </a:r>
          </a:p>
        </p:txBody>
      </p:sp>
      <p:pic>
        <p:nvPicPr>
          <p:cNvPr id="80" name="Picture 79" descr="lock.png"/>
          <p:cNvPicPr>
            <a:picLocks noChangeAspect="1"/>
          </p:cNvPicPr>
          <p:nvPr/>
        </p:nvPicPr>
        <p:blipFill>
          <a:blip r:embed="rId4"/>
          <a:stretch>
            <a:fillRect/>
          </a:stretch>
        </p:blipFill>
        <p:spPr>
          <a:xfrm>
            <a:off x="9407087" y="6058248"/>
            <a:ext cx="118403" cy="172222"/>
          </a:xfrm>
          <a:prstGeom prst="rect">
            <a:avLst/>
          </a:prstGeom>
        </p:spPr>
      </p:pic>
      <p:sp>
        <p:nvSpPr>
          <p:cNvPr id="81" name="TextBox 80"/>
          <p:cNvSpPr txBox="1"/>
          <p:nvPr/>
        </p:nvSpPr>
        <p:spPr>
          <a:xfrm>
            <a:off x="7534275" y="6305860"/>
            <a:ext cx="955786" cy="173278"/>
          </a:xfrm>
          <a:prstGeom prst="rect">
            <a:avLst/>
          </a:prstGeom>
          <a:noFill/>
        </p:spPr>
        <p:txBody>
          <a:bodyPr wrap="none" lIns="0" rIns="0" tIns="0" bIns="0">
            <a:spAutoFit/>
          </a:bodyPr>
          <a:lstStyle/>
          <a:p>
            <a:r>
              <a:rPr sz="1011" b="0">
                <a:solidFill>
                  <a:srgbClr val="2E2E2E"/>
                </a:solidFill>
                <a:latin typeface="Calibri"/>
              </a:rPr>
              <a:t>Consumer Reach</a:t>
            </a:r>
          </a:p>
        </p:txBody>
      </p:sp>
      <p:pic>
        <p:nvPicPr>
          <p:cNvPr id="82" name="Picture 81" descr="lock.png"/>
          <p:cNvPicPr>
            <a:picLocks noChangeAspect="1"/>
          </p:cNvPicPr>
          <p:nvPr/>
        </p:nvPicPr>
        <p:blipFill>
          <a:blip r:embed="rId4"/>
          <a:stretch>
            <a:fillRect/>
          </a:stretch>
        </p:blipFill>
        <p:spPr>
          <a:xfrm>
            <a:off x="8436172" y="6296863"/>
            <a:ext cx="118403" cy="172222"/>
          </a:xfrm>
          <a:prstGeom prst="rect">
            <a:avLst/>
          </a:prstGeom>
        </p:spPr>
      </p:pic>
      <p:sp>
        <p:nvSpPr>
          <p:cNvPr id="83" name="TextBox 82"/>
          <p:cNvSpPr txBox="1"/>
          <p:nvPr/>
        </p:nvSpPr>
        <p:spPr>
          <a:xfrm>
            <a:off x="209550" y="1496754"/>
            <a:ext cx="3383706" cy="186689"/>
          </a:xfrm>
          <a:prstGeom prst="rect">
            <a:avLst/>
          </a:prstGeom>
          <a:noFill/>
        </p:spPr>
        <p:txBody>
          <a:bodyPr wrap="none" lIns="0" rIns="0" tIns="0" bIns="0">
            <a:spAutoFit/>
          </a:bodyPr>
          <a:lstStyle/>
          <a:p>
            <a:r>
              <a:rPr sz="1100" b="0">
                <a:solidFill>
                  <a:srgbClr val="2E2E2E"/>
                </a:solidFill>
                <a:latin typeface="Calibri"/>
              </a:rPr>
              <a:t>▪ Demand-side conditions are led by Volume Momentum (</a:t>
            </a:r>
          </a:p>
        </p:txBody>
      </p:sp>
      <p:pic>
        <p:nvPicPr>
          <p:cNvPr id="84" name="Picture 83" descr="lock.png"/>
          <p:cNvPicPr>
            <a:picLocks noChangeAspect="1"/>
          </p:cNvPicPr>
          <p:nvPr/>
        </p:nvPicPr>
        <p:blipFill>
          <a:blip r:embed="rId4"/>
          <a:stretch>
            <a:fillRect/>
          </a:stretch>
        </p:blipFill>
        <p:spPr>
          <a:xfrm>
            <a:off x="3541308" y="1486975"/>
            <a:ext cx="128699" cy="187198"/>
          </a:xfrm>
          <a:prstGeom prst="rect">
            <a:avLst/>
          </a:prstGeom>
        </p:spPr>
      </p:pic>
      <p:sp>
        <p:nvSpPr>
          <p:cNvPr id="85" name="TextBox 84"/>
          <p:cNvSpPr txBox="1"/>
          <p:nvPr/>
        </p:nvSpPr>
        <p:spPr>
          <a:xfrm>
            <a:off x="3708804" y="1496754"/>
            <a:ext cx="1410989" cy="186689"/>
          </a:xfrm>
          <a:prstGeom prst="rect">
            <a:avLst/>
          </a:prstGeom>
          <a:noFill/>
        </p:spPr>
        <p:txBody>
          <a:bodyPr wrap="none" lIns="0" rIns="0" tIns="0" bIns="0">
            <a:spAutoFit/>
          </a:bodyPr>
          <a:lstStyle/>
          <a:p>
            <a:r>
              <a:rPr sz="1100" b="0">
                <a:solidFill>
                  <a:srgbClr val="2E2E2E"/>
                </a:solidFill>
                <a:latin typeface="Calibri"/>
              </a:rPr>
              <a:t>/10), Consumer Reach (</a:t>
            </a:r>
          </a:p>
        </p:txBody>
      </p:sp>
      <p:pic>
        <p:nvPicPr>
          <p:cNvPr id="86" name="Picture 85" descr="lock.png"/>
          <p:cNvPicPr>
            <a:picLocks noChangeAspect="1"/>
          </p:cNvPicPr>
          <p:nvPr/>
        </p:nvPicPr>
        <p:blipFill>
          <a:blip r:embed="rId4"/>
          <a:stretch>
            <a:fillRect/>
          </a:stretch>
        </p:blipFill>
        <p:spPr>
          <a:xfrm>
            <a:off x="5067845" y="1486975"/>
            <a:ext cx="128699" cy="187198"/>
          </a:xfrm>
          <a:prstGeom prst="rect">
            <a:avLst/>
          </a:prstGeom>
        </p:spPr>
      </p:pic>
      <p:sp>
        <p:nvSpPr>
          <p:cNvPr id="87" name="TextBox 86"/>
          <p:cNvSpPr txBox="1"/>
          <p:nvPr/>
        </p:nvSpPr>
        <p:spPr>
          <a:xfrm>
            <a:off x="5235341" y="1496754"/>
            <a:ext cx="1354236" cy="186689"/>
          </a:xfrm>
          <a:prstGeom prst="rect">
            <a:avLst/>
          </a:prstGeom>
          <a:noFill/>
        </p:spPr>
        <p:txBody>
          <a:bodyPr wrap="none" lIns="0" rIns="0" tIns="0" bIns="0">
            <a:spAutoFit/>
          </a:bodyPr>
          <a:lstStyle/>
          <a:p>
            <a:r>
              <a:rPr sz="1100" b="0">
                <a:solidFill>
                  <a:srgbClr val="2E2E2E"/>
                </a:solidFill>
                <a:latin typeface="Calibri"/>
              </a:rPr>
              <a:t>/10), Premiumisation (</a:t>
            </a:r>
          </a:p>
        </p:txBody>
      </p:sp>
      <p:pic>
        <p:nvPicPr>
          <p:cNvPr id="88" name="Picture 87" descr="lock.png"/>
          <p:cNvPicPr>
            <a:picLocks noChangeAspect="1"/>
          </p:cNvPicPr>
          <p:nvPr/>
        </p:nvPicPr>
        <p:blipFill>
          <a:blip r:embed="rId4"/>
          <a:stretch>
            <a:fillRect/>
          </a:stretch>
        </p:blipFill>
        <p:spPr>
          <a:xfrm>
            <a:off x="6537629" y="1486975"/>
            <a:ext cx="128699" cy="187198"/>
          </a:xfrm>
          <a:prstGeom prst="rect">
            <a:avLst/>
          </a:prstGeom>
        </p:spPr>
      </p:pic>
      <p:sp>
        <p:nvSpPr>
          <p:cNvPr id="89" name="TextBox 88"/>
          <p:cNvSpPr txBox="1"/>
          <p:nvPr/>
        </p:nvSpPr>
        <p:spPr>
          <a:xfrm>
            <a:off x="6705125" y="1496754"/>
            <a:ext cx="314399" cy="186689"/>
          </a:xfrm>
          <a:prstGeom prst="rect">
            <a:avLst/>
          </a:prstGeom>
          <a:noFill/>
        </p:spPr>
        <p:txBody>
          <a:bodyPr wrap="none" lIns="0" rIns="0" tIns="0" bIns="0">
            <a:spAutoFit/>
          </a:bodyPr>
          <a:lstStyle/>
          <a:p>
            <a:r>
              <a:rPr sz="1100" b="0">
                <a:solidFill>
                  <a:srgbClr val="2E2E2E"/>
                </a:solidFill>
                <a:latin typeface="Calibri"/>
              </a:rPr>
              <a:t>/10)</a:t>
            </a:r>
          </a:p>
        </p:txBody>
      </p:sp>
      <p:sp>
        <p:nvSpPr>
          <p:cNvPr id="90" name="TextBox 89"/>
          <p:cNvSpPr txBox="1"/>
          <p:nvPr/>
        </p:nvSpPr>
        <p:spPr>
          <a:xfrm>
            <a:off x="209550" y="1664394"/>
            <a:ext cx="3041277" cy="186689"/>
          </a:xfrm>
          <a:prstGeom prst="rect">
            <a:avLst/>
          </a:prstGeom>
          <a:noFill/>
        </p:spPr>
        <p:txBody>
          <a:bodyPr wrap="none" lIns="0" rIns="0" tIns="0" bIns="0">
            <a:spAutoFit/>
          </a:bodyPr>
          <a:lstStyle/>
          <a:p>
            <a:r>
              <a:rPr sz="1100" b="0">
                <a:solidFill>
                  <a:srgbClr val="2E2E2E"/>
                </a:solidFill>
                <a:latin typeface="Calibri"/>
              </a:rPr>
              <a:t>on a 0-10 scale scored from the global dataset itself.</a:t>
            </a:r>
          </a:p>
        </p:txBody>
      </p:sp>
      <p:sp>
        <p:nvSpPr>
          <p:cNvPr id="91" name="TextBox 90"/>
          <p:cNvSpPr txBox="1"/>
          <p:nvPr/>
        </p:nvSpPr>
        <p:spPr>
          <a:xfrm>
            <a:off x="209550" y="1945648"/>
            <a:ext cx="998438" cy="186689"/>
          </a:xfrm>
          <a:prstGeom prst="rect">
            <a:avLst/>
          </a:prstGeom>
          <a:noFill/>
        </p:spPr>
        <p:txBody>
          <a:bodyPr wrap="none" lIns="0" rIns="0" tIns="0" bIns="0">
            <a:spAutoFit/>
          </a:bodyPr>
          <a:lstStyle/>
          <a:p>
            <a:r>
              <a:rPr sz="1100" b="0">
                <a:solidFill>
                  <a:srgbClr val="2E2E2E"/>
                </a:solidFill>
                <a:latin typeface="Calibri"/>
              </a:rPr>
              <a:t>▪ Value grows at</a:t>
            </a:r>
          </a:p>
        </p:txBody>
      </p:sp>
      <p:pic>
        <p:nvPicPr>
          <p:cNvPr id="92" name="Picture 91" descr="lock.png"/>
          <p:cNvPicPr>
            <a:picLocks noChangeAspect="1"/>
          </p:cNvPicPr>
          <p:nvPr/>
        </p:nvPicPr>
        <p:blipFill>
          <a:blip r:embed="rId4"/>
          <a:stretch>
            <a:fillRect/>
          </a:stretch>
        </p:blipFill>
        <p:spPr>
          <a:xfrm>
            <a:off x="1156039" y="1935869"/>
            <a:ext cx="128699" cy="187198"/>
          </a:xfrm>
          <a:prstGeom prst="rect">
            <a:avLst/>
          </a:prstGeom>
        </p:spPr>
      </p:pic>
      <p:sp>
        <p:nvSpPr>
          <p:cNvPr id="93" name="TextBox 92"/>
          <p:cNvSpPr txBox="1"/>
          <p:nvPr/>
        </p:nvSpPr>
        <p:spPr>
          <a:xfrm>
            <a:off x="1323535" y="1945648"/>
            <a:ext cx="1083295" cy="186689"/>
          </a:xfrm>
          <a:prstGeom prst="rect">
            <a:avLst/>
          </a:prstGeom>
          <a:noFill/>
        </p:spPr>
        <p:txBody>
          <a:bodyPr wrap="none" lIns="0" rIns="0" tIns="0" bIns="0">
            <a:spAutoFit/>
          </a:bodyPr>
          <a:lstStyle/>
          <a:p>
            <a:r>
              <a:rPr sz="1100" b="0">
                <a:solidFill>
                  <a:srgbClr val="2E2E2E"/>
                </a:solidFill>
                <a:latin typeface="Calibri"/>
              </a:rPr>
              <a:t>against volume at</a:t>
            </a:r>
          </a:p>
        </p:txBody>
      </p:sp>
      <p:pic>
        <p:nvPicPr>
          <p:cNvPr id="94" name="Picture 93" descr="lock.png"/>
          <p:cNvPicPr>
            <a:picLocks noChangeAspect="1"/>
          </p:cNvPicPr>
          <p:nvPr/>
        </p:nvPicPr>
        <p:blipFill>
          <a:blip r:embed="rId4"/>
          <a:stretch>
            <a:fillRect/>
          </a:stretch>
        </p:blipFill>
        <p:spPr>
          <a:xfrm>
            <a:off x="2354882" y="1935869"/>
            <a:ext cx="128699" cy="187198"/>
          </a:xfrm>
          <a:prstGeom prst="rect">
            <a:avLst/>
          </a:prstGeom>
        </p:spPr>
      </p:pic>
      <p:sp>
        <p:nvSpPr>
          <p:cNvPr id="95" name="TextBox 94"/>
          <p:cNvSpPr txBox="1"/>
          <p:nvPr/>
        </p:nvSpPr>
        <p:spPr>
          <a:xfrm>
            <a:off x="2522378" y="1945648"/>
            <a:ext cx="2230090" cy="186689"/>
          </a:xfrm>
          <a:prstGeom prst="rect">
            <a:avLst/>
          </a:prstGeom>
          <a:noFill/>
        </p:spPr>
        <p:txBody>
          <a:bodyPr wrap="none" lIns="0" rIns="0" tIns="0" bIns="0">
            <a:spAutoFit/>
          </a:bodyPr>
          <a:lstStyle/>
          <a:p>
            <a:r>
              <a:rPr sz="1100" b="0">
                <a:solidFill>
                  <a:srgbClr val="2E2E2E"/>
                </a:solidFill>
                <a:latin typeface="Calibri"/>
              </a:rPr>
              <a:t>a premiumising market through 2036.</a:t>
            </a:r>
          </a:p>
        </p:txBody>
      </p:sp>
      <p:sp>
        <p:nvSpPr>
          <p:cNvPr id="96" name="TextBox 95"/>
          <p:cNvSpPr txBox="1"/>
          <p:nvPr/>
        </p:nvSpPr>
        <p:spPr>
          <a:xfrm>
            <a:off x="209550" y="2219453"/>
            <a:ext cx="1856010" cy="186689"/>
          </a:xfrm>
          <a:prstGeom prst="rect">
            <a:avLst/>
          </a:prstGeom>
          <a:noFill/>
        </p:spPr>
        <p:txBody>
          <a:bodyPr wrap="none" lIns="0" rIns="0" tIns="0" bIns="0">
            <a:spAutoFit/>
          </a:bodyPr>
          <a:lstStyle/>
          <a:p>
            <a:r>
              <a:rPr sz="1100" b="0">
                <a:solidFill>
                  <a:srgbClr val="2E2E2E"/>
                </a:solidFill>
                <a:latin typeface="Calibri"/>
              </a:rPr>
              <a:t>▪ 'Capsules and Softgels' carries</a:t>
            </a:r>
          </a:p>
        </p:txBody>
      </p:sp>
      <p:pic>
        <p:nvPicPr>
          <p:cNvPr id="97" name="Picture 96" descr="lock.png"/>
          <p:cNvPicPr>
            <a:picLocks noChangeAspect="1"/>
          </p:cNvPicPr>
          <p:nvPr/>
        </p:nvPicPr>
        <p:blipFill>
          <a:blip r:embed="rId4"/>
          <a:stretch>
            <a:fillRect/>
          </a:stretch>
        </p:blipFill>
        <p:spPr>
          <a:xfrm>
            <a:off x="2013612" y="2209674"/>
            <a:ext cx="128699" cy="187198"/>
          </a:xfrm>
          <a:prstGeom prst="rect">
            <a:avLst/>
          </a:prstGeom>
        </p:spPr>
      </p:pic>
      <p:sp>
        <p:nvSpPr>
          <p:cNvPr id="98" name="TextBox 97"/>
          <p:cNvSpPr txBox="1"/>
          <p:nvPr/>
        </p:nvSpPr>
        <p:spPr>
          <a:xfrm>
            <a:off x="2181108" y="2219453"/>
            <a:ext cx="3588618" cy="186689"/>
          </a:xfrm>
          <a:prstGeom prst="rect">
            <a:avLst/>
          </a:prstGeom>
          <a:noFill/>
        </p:spPr>
        <p:txBody>
          <a:bodyPr wrap="none" lIns="0" rIns="0" tIns="0" bIns="0">
            <a:spAutoFit/>
          </a:bodyPr>
          <a:lstStyle/>
          <a:p>
            <a:r>
              <a:rPr sz="1100" b="0">
                <a:solidFill>
                  <a:srgbClr val="2E2E2E"/>
                </a:solidFill>
                <a:latin typeface="Calibri"/>
              </a:rPr>
              <a:t>of form type demand while 'Chewables' compounds fastest at</a:t>
            </a:r>
          </a:p>
        </p:txBody>
      </p:sp>
      <p:pic>
        <p:nvPicPr>
          <p:cNvPr id="99" name="Picture 98" descr="lock.png"/>
          <p:cNvPicPr>
            <a:picLocks noChangeAspect="1"/>
          </p:cNvPicPr>
          <p:nvPr/>
        </p:nvPicPr>
        <p:blipFill>
          <a:blip r:embed="rId4"/>
          <a:stretch>
            <a:fillRect/>
          </a:stretch>
        </p:blipFill>
        <p:spPr>
          <a:xfrm>
            <a:off x="5717777" y="2209674"/>
            <a:ext cx="128699" cy="187198"/>
          </a:xfrm>
          <a:prstGeom prst="rect">
            <a:avLst/>
          </a:prstGeom>
        </p:spPr>
      </p:pic>
      <p:sp>
        <p:nvSpPr>
          <p:cNvPr id="100" name="TextBox 99"/>
          <p:cNvSpPr txBox="1"/>
          <p:nvPr/>
        </p:nvSpPr>
        <p:spPr>
          <a:xfrm>
            <a:off x="5885273" y="2219453"/>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101" name="TextBox 100"/>
          <p:cNvSpPr txBox="1"/>
          <p:nvPr/>
        </p:nvSpPr>
        <p:spPr>
          <a:xfrm>
            <a:off x="209550" y="2584528"/>
            <a:ext cx="2476748" cy="186689"/>
          </a:xfrm>
          <a:prstGeom prst="rect">
            <a:avLst/>
          </a:prstGeom>
          <a:noFill/>
        </p:spPr>
        <p:txBody>
          <a:bodyPr wrap="none" lIns="0" rIns="0" tIns="0" bIns="0">
            <a:spAutoFit/>
          </a:bodyPr>
          <a:lstStyle/>
          <a:p>
            <a:r>
              <a:rPr sz="1100" b="0">
                <a:solidFill>
                  <a:srgbClr val="2E2E2E"/>
                </a:solidFill>
                <a:latin typeface="Calibri"/>
              </a:rPr>
              <a:t>▪ Pull is strongest in 'South Asia &amp; Pacific' (</a:t>
            </a:r>
          </a:p>
        </p:txBody>
      </p:sp>
      <p:pic>
        <p:nvPicPr>
          <p:cNvPr id="102" name="Picture 101" descr="lock.png"/>
          <p:cNvPicPr>
            <a:picLocks noChangeAspect="1"/>
          </p:cNvPicPr>
          <p:nvPr/>
        </p:nvPicPr>
        <p:blipFill>
          <a:blip r:embed="rId4"/>
          <a:stretch>
            <a:fillRect/>
          </a:stretch>
        </p:blipFill>
        <p:spPr>
          <a:xfrm>
            <a:off x="2634349" y="2574749"/>
            <a:ext cx="128699" cy="187198"/>
          </a:xfrm>
          <a:prstGeom prst="rect">
            <a:avLst/>
          </a:prstGeom>
        </p:spPr>
      </p:pic>
      <p:sp>
        <p:nvSpPr>
          <p:cNvPr id="103" name="TextBox 102"/>
          <p:cNvSpPr txBox="1"/>
          <p:nvPr/>
        </p:nvSpPr>
        <p:spPr>
          <a:xfrm>
            <a:off x="2801845" y="2584528"/>
            <a:ext cx="531572" cy="186689"/>
          </a:xfrm>
          <a:prstGeom prst="rect">
            <a:avLst/>
          </a:prstGeom>
          <a:noFill/>
        </p:spPr>
        <p:txBody>
          <a:bodyPr wrap="none" lIns="0" rIns="0" tIns="0" bIns="0">
            <a:spAutoFit/>
          </a:bodyPr>
          <a:lstStyle/>
          <a:p>
            <a:r>
              <a:rPr sz="1100" b="0">
                <a:solidFill>
                  <a:srgbClr val="2E2E2E"/>
                </a:solidFill>
                <a:latin typeface="Calibri"/>
              </a:rPr>
              <a:t>CAGR, +</a:t>
            </a:r>
          </a:p>
        </p:txBody>
      </p:sp>
      <p:pic>
        <p:nvPicPr>
          <p:cNvPr id="104" name="Picture 103" descr="lock.png"/>
          <p:cNvPicPr>
            <a:picLocks noChangeAspect="1"/>
          </p:cNvPicPr>
          <p:nvPr/>
        </p:nvPicPr>
        <p:blipFill>
          <a:blip r:embed="rId4"/>
          <a:stretch>
            <a:fillRect/>
          </a:stretch>
        </p:blipFill>
        <p:spPr>
          <a:xfrm>
            <a:off x="3281469" y="2574749"/>
            <a:ext cx="128699" cy="187198"/>
          </a:xfrm>
          <a:prstGeom prst="rect">
            <a:avLst/>
          </a:prstGeom>
        </p:spPr>
      </p:pic>
      <p:sp>
        <p:nvSpPr>
          <p:cNvPr id="105" name="TextBox 104"/>
          <p:cNvSpPr txBox="1"/>
          <p:nvPr/>
        </p:nvSpPr>
        <p:spPr>
          <a:xfrm>
            <a:off x="3448965" y="2584528"/>
            <a:ext cx="3522588" cy="186689"/>
          </a:xfrm>
          <a:prstGeom prst="rect">
            <a:avLst/>
          </a:prstGeom>
          <a:noFill/>
        </p:spPr>
        <p:txBody>
          <a:bodyPr wrap="none" lIns="0" rIns="0" tIns="0" bIns="0">
            <a:spAutoFit/>
          </a:bodyPr>
          <a:lstStyle/>
          <a:p>
            <a:r>
              <a:rPr sz="1100" b="0">
                <a:solidFill>
                  <a:srgbClr val="2E2E2E"/>
                </a:solidFill>
                <a:latin typeface="Calibri"/>
              </a:rPr>
              <a:t>BPS versus the market), with 3 of 6 regions at or above pace.</a:t>
            </a:r>
          </a:p>
        </p:txBody>
      </p:sp>
      <p:sp>
        <p:nvSpPr>
          <p:cNvPr id="106" name="TextBox 105"/>
          <p:cNvSpPr txBox="1"/>
          <p:nvPr/>
        </p:nvSpPr>
        <p:spPr>
          <a:xfrm>
            <a:off x="209550" y="2957050"/>
            <a:ext cx="6695033" cy="186689"/>
          </a:xfrm>
          <a:prstGeom prst="rect">
            <a:avLst/>
          </a:prstGeom>
          <a:noFill/>
        </p:spPr>
        <p:txBody>
          <a:bodyPr wrap="none" lIns="0" rIns="0" tIns="0" bIns="0">
            <a:spAutoFit/>
          </a:bodyPr>
          <a:lstStyle/>
          <a:p>
            <a:r>
              <a:rPr sz="1100" b="0">
                <a:solidFill>
                  <a:srgbClr val="2E2E2E"/>
                </a:solidFill>
                <a:latin typeface="Calibri"/>
              </a:rPr>
              <a:t>▪ Reach runs through 4 end-use application routes, led by 'Support for Observable Age-Related Cognitive Changes' at</a:t>
            </a:r>
          </a:p>
        </p:txBody>
      </p:sp>
      <p:pic>
        <p:nvPicPr>
          <p:cNvPr id="107" name="Picture 106" descr="lock.png"/>
          <p:cNvPicPr>
            <a:picLocks noChangeAspect="1"/>
          </p:cNvPicPr>
          <p:nvPr/>
        </p:nvPicPr>
        <p:blipFill>
          <a:blip r:embed="rId4"/>
          <a:stretch>
            <a:fillRect/>
          </a:stretch>
        </p:blipFill>
        <p:spPr>
          <a:xfrm>
            <a:off x="6852634" y="2947271"/>
            <a:ext cx="128699" cy="187198"/>
          </a:xfrm>
          <a:prstGeom prst="rect">
            <a:avLst/>
          </a:prstGeom>
        </p:spPr>
      </p:pic>
      <p:sp>
        <p:nvSpPr>
          <p:cNvPr id="108" name="TextBox 107"/>
          <p:cNvSpPr txBox="1"/>
          <p:nvPr/>
        </p:nvSpPr>
        <p:spPr>
          <a:xfrm>
            <a:off x="209550" y="3124690"/>
            <a:ext cx="4527773" cy="186689"/>
          </a:xfrm>
          <a:prstGeom prst="rect">
            <a:avLst/>
          </a:prstGeom>
          <a:noFill/>
        </p:spPr>
        <p:txBody>
          <a:bodyPr wrap="none" lIns="0" rIns="0" tIns="0" bIns="0">
            <a:spAutoFit/>
          </a:bodyPr>
          <a:lstStyle/>
          <a:p>
            <a:r>
              <a:rPr sz="1100" b="0">
                <a:solidFill>
                  <a:srgbClr val="2E2E2E"/>
                </a:solidFill>
                <a:latin typeface="Calibri"/>
              </a:rPr>
              <a:t>and with 'Veterinary-Guided Cognitive Dysfunction Support' growing fastest at</a:t>
            </a:r>
          </a:p>
        </p:txBody>
      </p:sp>
      <p:pic>
        <p:nvPicPr>
          <p:cNvPr id="109" name="Picture 108" descr="lock.png"/>
          <p:cNvPicPr>
            <a:picLocks noChangeAspect="1"/>
          </p:cNvPicPr>
          <p:nvPr/>
        </p:nvPicPr>
        <p:blipFill>
          <a:blip r:embed="rId4"/>
          <a:stretch>
            <a:fillRect/>
          </a:stretch>
        </p:blipFill>
        <p:spPr>
          <a:xfrm>
            <a:off x="4685374" y="3114911"/>
            <a:ext cx="128699" cy="187198"/>
          </a:xfrm>
          <a:prstGeom prst="rect">
            <a:avLst/>
          </a:prstGeom>
        </p:spPr>
      </p:pic>
      <p:sp>
        <p:nvSpPr>
          <p:cNvPr id="110" name="TextBox 109"/>
          <p:cNvSpPr txBox="1"/>
          <p:nvPr/>
        </p:nvSpPr>
        <p:spPr>
          <a:xfrm>
            <a:off x="4852870" y="3124690"/>
            <a:ext cx="111397" cy="186689"/>
          </a:xfrm>
          <a:prstGeom prst="rect">
            <a:avLst/>
          </a:prstGeom>
          <a:noFill/>
        </p:spPr>
        <p:txBody>
          <a:bodyPr wrap="none" lIns="0" rIns="0" tIns="0" bIns="0">
            <a:spAutoFit/>
          </a:bodyPr>
          <a:lstStyle/>
          <a:p>
            <a:r>
              <a:rPr sz="1100" b="0">
                <a:solidFill>
                  <a:srgbClr val="2E2E2E"/>
                </a:solidFill>
                <a:latin typeface="Calibri"/>
              </a:rPr>
              <a:t>.</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Senior Dog Cognitive Supplement Market Restraints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restraints on the global market and the likelihood of their impact across 2021–2036</a:t>
            </a:r>
          </a:p>
        </p:txBody>
      </p:sp>
      <p:sp>
        <p:nvSpPr>
          <p:cNvPr id="10" name="Rounded Rectangle 9"/>
          <p:cNvSpPr/>
          <p:nvPr/>
        </p:nvSpPr>
        <p:spPr>
          <a:xfrm>
            <a:off x="142875" y="1025515"/>
            <a:ext cx="2038350" cy="255552"/>
          </a:xfrm>
          <a:prstGeom prst="roundRect">
            <a:avLst>
              <a:gd name="adj" fmla="val 1869"/>
            </a:avLst>
          </a:prstGeom>
          <a:solidFill>
            <a:srgbClr val="C0603A"/>
          </a:solidFill>
          <a:ln w="12700">
            <a:solidFill>
              <a:srgbClr val="C06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Restraints</a:t>
            </a:r>
          </a:p>
        </p:txBody>
      </p:sp>
      <p:sp>
        <p:nvSpPr>
          <p:cNvPr id="12" name="Rectangle 11"/>
          <p:cNvSpPr/>
          <p:nvPr/>
        </p:nvSpPr>
        <p:spPr>
          <a:xfrm>
            <a:off x="142875" y="139058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Liquids Lags the Category and Dilutes Blended Growth</a:t>
            </a:r>
          </a:p>
        </p:txBody>
      </p:sp>
      <p:sp>
        <p:nvSpPr>
          <p:cNvPr id="14" name="TextBox 13"/>
          <p:cNvSpPr txBox="1"/>
          <p:nvPr/>
        </p:nvSpPr>
        <p:spPr>
          <a:xfrm>
            <a:off x="161925" y="1700902"/>
            <a:ext cx="9439275"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5" name="TextBox 14"/>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6" name="TextBox 15"/>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7" name="Rectangle 16"/>
          <p:cNvSpPr/>
          <p:nvPr/>
        </p:nvSpPr>
        <p:spPr>
          <a:xfrm>
            <a:off x="981075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19" name="TextBox 18"/>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20" name="Rectangle 19"/>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22" name="TextBox 21"/>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3" name="Rectangle 22"/>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25" name="TextBox 24"/>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6" name="Rectangle 25"/>
          <p:cNvSpPr/>
          <p:nvPr/>
        </p:nvSpPr>
        <p:spPr>
          <a:xfrm>
            <a:off x="10896600" y="2458430"/>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cxnSp>
        <p:nvCxnSpPr>
          <p:cNvPr id="28" name="Connector 27"/>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42875" y="3142944"/>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Uneven Region Performance Caps the Blended Rate</a:t>
            </a:r>
          </a:p>
        </p:txBody>
      </p:sp>
      <p:sp>
        <p:nvSpPr>
          <p:cNvPr id="31" name="TextBox 30"/>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2" name="TextBox 31"/>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3" name="TextBox 32"/>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4" name="Rectangle 33"/>
          <p:cNvSpPr/>
          <p:nvPr/>
        </p:nvSpPr>
        <p:spPr>
          <a:xfrm>
            <a:off x="981075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36" name="TextBox 35"/>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7" name="Rectangle 36"/>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39" name="TextBox 38"/>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40" name="Rectangle 39"/>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42" name="TextBox 41"/>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3" name="Rectangle 42"/>
          <p:cNvSpPr/>
          <p:nvPr/>
        </p:nvSpPr>
        <p:spPr>
          <a:xfrm>
            <a:off x="10896600" y="4210785"/>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cxnSp>
        <p:nvCxnSpPr>
          <p:cNvPr id="45" name="Connector 44"/>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142875" y="489529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Concentration Risk Limits Pricing and Sourcing Flexibility</a:t>
            </a:r>
          </a:p>
        </p:txBody>
      </p:sp>
      <p:sp>
        <p:nvSpPr>
          <p:cNvPr id="48" name="TextBox 47"/>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TextBox 48"/>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50" name="TextBox 49"/>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51" name="Rectangle 50"/>
          <p:cNvSpPr/>
          <p:nvPr/>
        </p:nvSpPr>
        <p:spPr>
          <a:xfrm>
            <a:off x="981075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3" name="TextBox 52"/>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4" name="Rectangle 53"/>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6" name="TextBox 55"/>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7" name="Rectangle 56"/>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9" name="TextBox 58"/>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60" name="Rectangle 59"/>
          <p:cNvSpPr/>
          <p:nvPr/>
        </p:nvSpPr>
        <p:spPr>
          <a:xfrm>
            <a:off x="10896600" y="596314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190500" y="1837332"/>
            <a:ext cx="1329680" cy="186689"/>
          </a:xfrm>
          <a:prstGeom prst="rect">
            <a:avLst/>
          </a:prstGeom>
          <a:noFill/>
        </p:spPr>
        <p:txBody>
          <a:bodyPr wrap="none" lIns="0" rIns="0" tIns="0" bIns="0">
            <a:spAutoFit/>
          </a:bodyPr>
          <a:lstStyle/>
          <a:p>
            <a:r>
              <a:rPr sz="1100" b="0">
                <a:solidFill>
                  <a:srgbClr val="2E2E2E"/>
                </a:solidFill>
                <a:latin typeface="Calibri"/>
              </a:rPr>
              <a:t>'Liquids' grows at only</a:t>
            </a:r>
          </a:p>
        </p:txBody>
      </p:sp>
      <p:pic>
        <p:nvPicPr>
          <p:cNvPr id="64" name="Picture 63" descr="lock.png"/>
          <p:cNvPicPr>
            <a:picLocks noChangeAspect="1"/>
          </p:cNvPicPr>
          <p:nvPr/>
        </p:nvPicPr>
        <p:blipFill>
          <a:blip r:embed="rId4"/>
          <a:stretch>
            <a:fillRect/>
          </a:stretch>
        </p:blipFill>
        <p:spPr>
          <a:xfrm>
            <a:off x="1468231" y="1827554"/>
            <a:ext cx="128699" cy="187198"/>
          </a:xfrm>
          <a:prstGeom prst="rect">
            <a:avLst/>
          </a:prstGeom>
        </p:spPr>
      </p:pic>
      <p:sp>
        <p:nvSpPr>
          <p:cNvPr id="65" name="TextBox 64"/>
          <p:cNvSpPr txBox="1"/>
          <p:nvPr/>
        </p:nvSpPr>
        <p:spPr>
          <a:xfrm>
            <a:off x="1635727" y="1837332"/>
            <a:ext cx="1579595" cy="186689"/>
          </a:xfrm>
          <a:prstGeom prst="rect">
            <a:avLst/>
          </a:prstGeom>
          <a:noFill/>
        </p:spPr>
        <p:txBody>
          <a:bodyPr wrap="none" lIns="0" rIns="0" tIns="0" bIns="0">
            <a:spAutoFit/>
          </a:bodyPr>
          <a:lstStyle/>
          <a:p>
            <a:r>
              <a:rPr sz="1100" b="0">
                <a:solidFill>
                  <a:srgbClr val="2E2E2E"/>
                </a:solidFill>
                <a:latin typeface="Calibri"/>
              </a:rPr>
              <a:t>CAGR against the market's</a:t>
            </a:r>
          </a:p>
        </p:txBody>
      </p:sp>
      <p:pic>
        <p:nvPicPr>
          <p:cNvPr id="66" name="Picture 65" descr="lock.png"/>
          <p:cNvPicPr>
            <a:picLocks noChangeAspect="1"/>
          </p:cNvPicPr>
          <p:nvPr/>
        </p:nvPicPr>
        <p:blipFill>
          <a:blip r:embed="rId4"/>
          <a:stretch>
            <a:fillRect/>
          </a:stretch>
        </p:blipFill>
        <p:spPr>
          <a:xfrm>
            <a:off x="3163374" y="1827554"/>
            <a:ext cx="128699" cy="187198"/>
          </a:xfrm>
          <a:prstGeom prst="rect">
            <a:avLst/>
          </a:prstGeom>
        </p:spPr>
      </p:pic>
      <p:sp>
        <p:nvSpPr>
          <p:cNvPr id="67" name="TextBox 66"/>
          <p:cNvSpPr txBox="1"/>
          <p:nvPr/>
        </p:nvSpPr>
        <p:spPr>
          <a:xfrm>
            <a:off x="3330869" y="1837332"/>
            <a:ext cx="284112" cy="186689"/>
          </a:xfrm>
          <a:prstGeom prst="rect">
            <a:avLst/>
          </a:prstGeom>
          <a:noFill/>
        </p:spPr>
        <p:txBody>
          <a:bodyPr wrap="none" lIns="0" rIns="0" tIns="0" bIns="0">
            <a:spAutoFit/>
          </a:bodyPr>
          <a:lstStyle/>
          <a:p>
            <a:r>
              <a:rPr sz="1100" b="0">
                <a:solidFill>
                  <a:srgbClr val="2E2E2E"/>
                </a:solidFill>
                <a:latin typeface="Calibri"/>
              </a:rPr>
              <a:t>, a -</a:t>
            </a:r>
          </a:p>
        </p:txBody>
      </p:sp>
      <p:pic>
        <p:nvPicPr>
          <p:cNvPr id="68" name="Picture 67" descr="lock.png"/>
          <p:cNvPicPr>
            <a:picLocks noChangeAspect="1"/>
          </p:cNvPicPr>
          <p:nvPr/>
        </p:nvPicPr>
        <p:blipFill>
          <a:blip r:embed="rId4"/>
          <a:stretch>
            <a:fillRect/>
          </a:stretch>
        </p:blipFill>
        <p:spPr>
          <a:xfrm>
            <a:off x="3563034" y="1827554"/>
            <a:ext cx="128699" cy="187198"/>
          </a:xfrm>
          <a:prstGeom prst="rect">
            <a:avLst/>
          </a:prstGeom>
        </p:spPr>
      </p:pic>
      <p:sp>
        <p:nvSpPr>
          <p:cNvPr id="69" name="TextBox 68"/>
          <p:cNvSpPr txBox="1"/>
          <p:nvPr/>
        </p:nvSpPr>
        <p:spPr>
          <a:xfrm>
            <a:off x="3730530" y="1837332"/>
            <a:ext cx="2432818" cy="186689"/>
          </a:xfrm>
          <a:prstGeom prst="rect">
            <a:avLst/>
          </a:prstGeom>
          <a:noFill/>
        </p:spPr>
        <p:txBody>
          <a:bodyPr wrap="none" lIns="0" rIns="0" tIns="0" bIns="0">
            <a:spAutoFit/>
          </a:bodyPr>
          <a:lstStyle/>
          <a:p>
            <a:r>
              <a:rPr sz="1100" b="0">
                <a:solidFill>
                  <a:srgbClr val="2E2E2E"/>
                </a:solidFill>
                <a:latin typeface="Calibri"/>
              </a:rPr>
              <a:t>BPS gap, and 'Gels and Pastes' surrenders</a:t>
            </a:r>
          </a:p>
        </p:txBody>
      </p:sp>
      <p:pic>
        <p:nvPicPr>
          <p:cNvPr id="70" name="Picture 69" descr="lock.png"/>
          <p:cNvPicPr>
            <a:picLocks noChangeAspect="1"/>
          </p:cNvPicPr>
          <p:nvPr/>
        </p:nvPicPr>
        <p:blipFill>
          <a:blip r:embed="rId4"/>
          <a:stretch>
            <a:fillRect/>
          </a:stretch>
        </p:blipFill>
        <p:spPr>
          <a:xfrm>
            <a:off x="6111400" y="1827554"/>
            <a:ext cx="128699" cy="187198"/>
          </a:xfrm>
          <a:prstGeom prst="rect">
            <a:avLst/>
          </a:prstGeom>
        </p:spPr>
      </p:pic>
      <p:sp>
        <p:nvSpPr>
          <p:cNvPr id="71" name="TextBox 70"/>
          <p:cNvSpPr txBox="1"/>
          <p:nvPr/>
        </p:nvSpPr>
        <p:spPr>
          <a:xfrm>
            <a:off x="6278896" y="1837332"/>
            <a:ext cx="2819995" cy="186689"/>
          </a:xfrm>
          <a:prstGeom prst="rect">
            <a:avLst/>
          </a:prstGeom>
          <a:noFill/>
        </p:spPr>
        <p:txBody>
          <a:bodyPr wrap="none" lIns="0" rIns="0" tIns="0" bIns="0">
            <a:spAutoFit/>
          </a:bodyPr>
          <a:lstStyle/>
          <a:p>
            <a:r>
              <a:rPr sz="1100" b="0">
                <a:solidFill>
                  <a:srgbClr val="2E2E2E"/>
                </a:solidFill>
                <a:latin typeface="Calibri"/>
              </a:rPr>
              <a:t>BPS of form type share between 2026 and 2036.</a:t>
            </a:r>
          </a:p>
        </p:txBody>
      </p:sp>
      <p:sp>
        <p:nvSpPr>
          <p:cNvPr id="72" name="TextBox 71"/>
          <p:cNvSpPr txBox="1"/>
          <p:nvPr/>
        </p:nvSpPr>
        <p:spPr>
          <a:xfrm>
            <a:off x="190500" y="2004972"/>
            <a:ext cx="9183712" cy="186689"/>
          </a:xfrm>
          <a:prstGeom prst="rect">
            <a:avLst/>
          </a:prstGeom>
          <a:noFill/>
        </p:spPr>
        <p:txBody>
          <a:bodyPr wrap="none" lIns="0" rIns="0" tIns="0" bIns="0">
            <a:spAutoFit/>
          </a:bodyPr>
          <a:lstStyle/>
          <a:p>
            <a:r>
              <a:rPr sz="1100" b="0">
                <a:solidFill>
                  <a:srgbClr val="2E2E2E"/>
                </a:solidFill>
                <a:latin typeface="Calibri"/>
              </a:rPr>
              <a:t>Because these lines still carry meaningful volume, the drag is absorbed by the whole category: blended growth sits below what the leading lines achieve on their</a:t>
            </a:r>
          </a:p>
        </p:txBody>
      </p:sp>
      <p:sp>
        <p:nvSpPr>
          <p:cNvPr id="73" name="TextBox 72"/>
          <p:cNvSpPr txBox="1"/>
          <p:nvPr/>
        </p:nvSpPr>
        <p:spPr>
          <a:xfrm>
            <a:off x="190500" y="2172613"/>
            <a:ext cx="7612633" cy="186689"/>
          </a:xfrm>
          <a:prstGeom prst="rect">
            <a:avLst/>
          </a:prstGeom>
          <a:noFill/>
        </p:spPr>
        <p:txBody>
          <a:bodyPr wrap="none" lIns="0" rIns="0" tIns="0" bIns="0">
            <a:spAutoFit/>
          </a:bodyPr>
          <a:lstStyle/>
          <a:p>
            <a:r>
              <a:rPr sz="1100" b="0">
                <a:solidFill>
                  <a:srgbClr val="2E2E2E"/>
                </a:solidFill>
                <a:latin typeface="Calibri"/>
              </a:rPr>
              <a:t>own. Rationalising or repositioning the lagging end of a 6-line portfolio is therefore a precondition for realising the headline forecast.</a:t>
            </a:r>
          </a:p>
        </p:txBody>
      </p:sp>
      <p:sp>
        <p:nvSpPr>
          <p:cNvPr id="74" name="TextBox 73"/>
          <p:cNvSpPr txBox="1"/>
          <p:nvPr/>
        </p:nvSpPr>
        <p:spPr>
          <a:xfrm>
            <a:off x="190500" y="3498419"/>
            <a:ext cx="1731590" cy="186689"/>
          </a:xfrm>
          <a:prstGeom prst="rect">
            <a:avLst/>
          </a:prstGeom>
          <a:noFill/>
        </p:spPr>
        <p:txBody>
          <a:bodyPr wrap="none" lIns="0" rIns="0" tIns="0" bIns="0">
            <a:spAutoFit/>
          </a:bodyPr>
          <a:lstStyle/>
          <a:p>
            <a:r>
              <a:rPr sz="1100" b="0">
                <a:solidFill>
                  <a:srgbClr val="2E2E2E"/>
                </a:solidFill>
                <a:latin typeface="Calibri"/>
              </a:rPr>
              <a:t>'North America' grows at just</a:t>
            </a:r>
          </a:p>
        </p:txBody>
      </p:sp>
      <p:pic>
        <p:nvPicPr>
          <p:cNvPr id="75" name="Picture 74" descr="lock.png"/>
          <p:cNvPicPr>
            <a:picLocks noChangeAspect="1"/>
          </p:cNvPicPr>
          <p:nvPr/>
        </p:nvPicPr>
        <p:blipFill>
          <a:blip r:embed="rId4"/>
          <a:stretch>
            <a:fillRect/>
          </a:stretch>
        </p:blipFill>
        <p:spPr>
          <a:xfrm>
            <a:off x="1870142" y="3488640"/>
            <a:ext cx="128699" cy="187198"/>
          </a:xfrm>
          <a:prstGeom prst="rect">
            <a:avLst/>
          </a:prstGeom>
        </p:spPr>
      </p:pic>
      <p:sp>
        <p:nvSpPr>
          <p:cNvPr id="76" name="TextBox 75"/>
          <p:cNvSpPr txBox="1"/>
          <p:nvPr/>
        </p:nvSpPr>
        <p:spPr>
          <a:xfrm>
            <a:off x="2037637" y="3498419"/>
            <a:ext cx="469907" cy="186689"/>
          </a:xfrm>
          <a:prstGeom prst="rect">
            <a:avLst/>
          </a:prstGeom>
          <a:noFill/>
        </p:spPr>
        <p:txBody>
          <a:bodyPr wrap="none" lIns="0" rIns="0" tIns="0" bIns="0">
            <a:spAutoFit/>
          </a:bodyPr>
          <a:lstStyle/>
          <a:p>
            <a:r>
              <a:rPr sz="1100" b="0">
                <a:solidFill>
                  <a:srgbClr val="2E2E2E"/>
                </a:solidFill>
                <a:latin typeface="Calibri"/>
              </a:rPr>
              <a:t>CAGR -</a:t>
            </a:r>
          </a:p>
        </p:txBody>
      </p:sp>
      <p:pic>
        <p:nvPicPr>
          <p:cNvPr id="77" name="Picture 76" descr="lock.png"/>
          <p:cNvPicPr>
            <a:picLocks noChangeAspect="1"/>
          </p:cNvPicPr>
          <p:nvPr/>
        </p:nvPicPr>
        <p:blipFill>
          <a:blip r:embed="rId4"/>
          <a:stretch>
            <a:fillRect/>
          </a:stretch>
        </p:blipFill>
        <p:spPr>
          <a:xfrm>
            <a:off x="2455597" y="3488640"/>
            <a:ext cx="128699" cy="187198"/>
          </a:xfrm>
          <a:prstGeom prst="rect">
            <a:avLst/>
          </a:prstGeom>
        </p:spPr>
      </p:pic>
      <p:sp>
        <p:nvSpPr>
          <p:cNvPr id="78" name="TextBox 77"/>
          <p:cNvSpPr txBox="1"/>
          <p:nvPr/>
        </p:nvSpPr>
        <p:spPr>
          <a:xfrm>
            <a:off x="2623093" y="3498419"/>
            <a:ext cx="6616997" cy="186689"/>
          </a:xfrm>
          <a:prstGeom prst="rect">
            <a:avLst/>
          </a:prstGeom>
          <a:noFill/>
        </p:spPr>
        <p:txBody>
          <a:bodyPr wrap="none" lIns="0" rIns="0" tIns="0" bIns="0">
            <a:spAutoFit/>
          </a:bodyPr>
          <a:lstStyle/>
          <a:p>
            <a:r>
              <a:rPr sz="1100" b="0">
                <a:solidFill>
                  <a:srgbClr val="2E2E2E"/>
                </a:solidFill>
                <a:latin typeface="Calibri"/>
              </a:rPr>
              <a:t>BPS against the market and 3 of 6 regions sit below the market pace altogether. Demand is therefore not uniformly</a:t>
            </a:r>
          </a:p>
        </p:txBody>
      </p:sp>
      <p:sp>
        <p:nvSpPr>
          <p:cNvPr id="79" name="TextBox 78"/>
          <p:cNvSpPr txBox="1"/>
          <p:nvPr/>
        </p:nvSpPr>
        <p:spPr>
          <a:xfrm>
            <a:off x="190500" y="3666059"/>
            <a:ext cx="8618091" cy="186689"/>
          </a:xfrm>
          <a:prstGeom prst="rect">
            <a:avLst/>
          </a:prstGeom>
          <a:noFill/>
        </p:spPr>
        <p:txBody>
          <a:bodyPr wrap="none" lIns="0" rIns="0" tIns="0" bIns="0">
            <a:spAutoFit/>
          </a:bodyPr>
          <a:lstStyle/>
          <a:p>
            <a:r>
              <a:rPr sz="1100" b="0">
                <a:solidFill>
                  <a:srgbClr val="2E2E2E"/>
                </a:solidFill>
                <a:latin typeface="Calibri"/>
              </a:rPr>
              <a:t>available: suppliers carrying a broad geographic footprint fund presence in slow regions out of returns earned in the fast ones. With 'North America' at</a:t>
            </a:r>
          </a:p>
        </p:txBody>
      </p:sp>
      <p:pic>
        <p:nvPicPr>
          <p:cNvPr id="80" name="Picture 79" descr="lock.png"/>
          <p:cNvPicPr>
            <a:picLocks noChangeAspect="1"/>
          </p:cNvPicPr>
          <p:nvPr/>
        </p:nvPicPr>
        <p:blipFill>
          <a:blip r:embed="rId4"/>
          <a:stretch>
            <a:fillRect/>
          </a:stretch>
        </p:blipFill>
        <p:spPr>
          <a:xfrm>
            <a:off x="8756642" y="3656280"/>
            <a:ext cx="128699" cy="187198"/>
          </a:xfrm>
          <a:prstGeom prst="rect">
            <a:avLst/>
          </a:prstGeom>
        </p:spPr>
      </p:pic>
      <p:sp>
        <p:nvSpPr>
          <p:cNvPr id="81" name="TextBox 80"/>
          <p:cNvSpPr txBox="1"/>
          <p:nvPr/>
        </p:nvSpPr>
        <p:spPr>
          <a:xfrm>
            <a:off x="8924138" y="3666059"/>
            <a:ext cx="564058" cy="186689"/>
          </a:xfrm>
          <a:prstGeom prst="rect">
            <a:avLst/>
          </a:prstGeom>
          <a:noFill/>
        </p:spPr>
        <p:txBody>
          <a:bodyPr wrap="none" lIns="0" rIns="0" tIns="0" bIns="0">
            <a:spAutoFit/>
          </a:bodyPr>
          <a:lstStyle/>
          <a:p>
            <a:r>
              <a:rPr sz="1100" b="0">
                <a:solidFill>
                  <a:srgbClr val="2E2E2E"/>
                </a:solidFill>
                <a:latin typeface="Calibri"/>
              </a:rPr>
              <a:t>of value,</a:t>
            </a:r>
          </a:p>
        </p:txBody>
      </p:sp>
      <p:sp>
        <p:nvSpPr>
          <p:cNvPr id="82" name="TextBox 81"/>
          <p:cNvSpPr txBox="1"/>
          <p:nvPr/>
        </p:nvSpPr>
        <p:spPr>
          <a:xfrm>
            <a:off x="190500" y="3833699"/>
            <a:ext cx="5170338" cy="186689"/>
          </a:xfrm>
          <a:prstGeom prst="rect">
            <a:avLst/>
          </a:prstGeom>
          <a:noFill/>
        </p:spPr>
        <p:txBody>
          <a:bodyPr wrap="none" lIns="0" rIns="0" tIns="0" bIns="0">
            <a:spAutoFit/>
          </a:bodyPr>
          <a:lstStyle/>
          <a:p>
            <a:r>
              <a:rPr sz="1100" b="0">
                <a:solidFill>
                  <a:srgbClr val="2E2E2E"/>
                </a:solidFill>
                <a:latin typeface="Calibri"/>
              </a:rPr>
              <a:t>a shortfall in a single leading region is difficult to offset elsewhere in the forecast window.</a:t>
            </a:r>
          </a:p>
        </p:txBody>
      </p:sp>
      <p:sp>
        <p:nvSpPr>
          <p:cNvPr id="83" name="TextBox 82"/>
          <p:cNvSpPr txBox="1"/>
          <p:nvPr/>
        </p:nvSpPr>
        <p:spPr>
          <a:xfrm>
            <a:off x="190500" y="5250774"/>
            <a:ext cx="3337594" cy="186689"/>
          </a:xfrm>
          <a:prstGeom prst="rect">
            <a:avLst/>
          </a:prstGeom>
          <a:noFill/>
        </p:spPr>
        <p:txBody>
          <a:bodyPr wrap="none" lIns="0" rIns="0" tIns="0" bIns="0">
            <a:spAutoFit/>
          </a:bodyPr>
          <a:lstStyle/>
          <a:p>
            <a:r>
              <a:rPr sz="1100" b="0">
                <a:solidFill>
                  <a:srgbClr val="2E2E2E"/>
                </a:solidFill>
                <a:latin typeface="Calibri"/>
              </a:rPr>
              <a:t>The market is concentrated: 'North America' accounts for</a:t>
            </a:r>
          </a:p>
        </p:txBody>
      </p:sp>
      <p:pic>
        <p:nvPicPr>
          <p:cNvPr id="84" name="Picture 83" descr="lock.png"/>
          <p:cNvPicPr>
            <a:picLocks noChangeAspect="1"/>
          </p:cNvPicPr>
          <p:nvPr/>
        </p:nvPicPr>
        <p:blipFill>
          <a:blip r:embed="rId4"/>
          <a:stretch>
            <a:fillRect/>
          </a:stretch>
        </p:blipFill>
        <p:spPr>
          <a:xfrm>
            <a:off x="3476146" y="5240995"/>
            <a:ext cx="128699" cy="187198"/>
          </a:xfrm>
          <a:prstGeom prst="rect">
            <a:avLst/>
          </a:prstGeom>
        </p:spPr>
      </p:pic>
      <p:sp>
        <p:nvSpPr>
          <p:cNvPr id="85" name="TextBox 84"/>
          <p:cNvSpPr txBox="1"/>
          <p:nvPr/>
        </p:nvSpPr>
        <p:spPr>
          <a:xfrm>
            <a:off x="3643642" y="5250774"/>
            <a:ext cx="2785343" cy="186689"/>
          </a:xfrm>
          <a:prstGeom prst="rect">
            <a:avLst/>
          </a:prstGeom>
          <a:noFill/>
        </p:spPr>
        <p:txBody>
          <a:bodyPr wrap="none" lIns="0" rIns="0" tIns="0" bIns="0">
            <a:spAutoFit/>
          </a:bodyPr>
          <a:lstStyle/>
          <a:p>
            <a:r>
              <a:rPr sz="1100" b="0">
                <a:solidFill>
                  <a:srgbClr val="2E2E2E"/>
                </a:solidFill>
                <a:latin typeface="Calibri"/>
              </a:rPr>
              <a:t>of 2036 value and the leading form type line for</a:t>
            </a:r>
          </a:p>
        </p:txBody>
      </p:sp>
      <p:pic>
        <p:nvPicPr>
          <p:cNvPr id="86" name="Picture 85" descr="lock.png"/>
          <p:cNvPicPr>
            <a:picLocks noChangeAspect="1"/>
          </p:cNvPicPr>
          <p:nvPr/>
        </p:nvPicPr>
        <p:blipFill>
          <a:blip r:embed="rId4"/>
          <a:stretch>
            <a:fillRect/>
          </a:stretch>
        </p:blipFill>
        <p:spPr>
          <a:xfrm>
            <a:off x="6377036" y="5240995"/>
            <a:ext cx="128699" cy="187198"/>
          </a:xfrm>
          <a:prstGeom prst="rect">
            <a:avLst/>
          </a:prstGeom>
        </p:spPr>
      </p:pic>
      <p:sp>
        <p:nvSpPr>
          <p:cNvPr id="87" name="TextBox 86"/>
          <p:cNvSpPr txBox="1"/>
          <p:nvPr/>
        </p:nvSpPr>
        <p:spPr>
          <a:xfrm>
            <a:off x="6544532" y="5250774"/>
            <a:ext cx="2445058" cy="186689"/>
          </a:xfrm>
          <a:prstGeom prst="rect">
            <a:avLst/>
          </a:prstGeom>
          <a:noFill/>
        </p:spPr>
        <p:txBody>
          <a:bodyPr wrap="none" lIns="0" rIns="0" tIns="0" bIns="0">
            <a:spAutoFit/>
          </a:bodyPr>
          <a:lstStyle/>
          <a:p>
            <a:r>
              <a:rPr sz="1100" b="0">
                <a:solidFill>
                  <a:srgbClr val="2E2E2E"/>
                </a:solidFill>
                <a:latin typeface="Calibri"/>
              </a:rPr>
              <a:t>of its segment. Average realisation moves</a:t>
            </a:r>
          </a:p>
        </p:txBody>
      </p:sp>
      <p:pic>
        <p:nvPicPr>
          <p:cNvPr id="88" name="Picture 87" descr="lock.png"/>
          <p:cNvPicPr>
            <a:picLocks noChangeAspect="1"/>
          </p:cNvPicPr>
          <p:nvPr/>
        </p:nvPicPr>
        <p:blipFill>
          <a:blip r:embed="rId4"/>
          <a:stretch>
            <a:fillRect/>
          </a:stretch>
        </p:blipFill>
        <p:spPr>
          <a:xfrm>
            <a:off x="8937643" y="5240995"/>
            <a:ext cx="128699" cy="187198"/>
          </a:xfrm>
          <a:prstGeom prst="rect">
            <a:avLst/>
          </a:prstGeom>
        </p:spPr>
      </p:pic>
      <p:sp>
        <p:nvSpPr>
          <p:cNvPr id="89" name="TextBox 88"/>
          <p:cNvSpPr txBox="1"/>
          <p:nvPr/>
        </p:nvSpPr>
        <p:spPr>
          <a:xfrm>
            <a:off x="9105139" y="5250774"/>
            <a:ext cx="143048" cy="186689"/>
          </a:xfrm>
          <a:prstGeom prst="rect">
            <a:avLst/>
          </a:prstGeom>
          <a:noFill/>
        </p:spPr>
        <p:txBody>
          <a:bodyPr wrap="none" lIns="0" rIns="0" tIns="0" bIns="0">
            <a:spAutoFit/>
          </a:bodyPr>
          <a:lstStyle/>
          <a:p>
            <a:r>
              <a:rPr sz="1100" b="0">
                <a:solidFill>
                  <a:srgbClr val="2E2E2E"/>
                </a:solidFill>
                <a:latin typeface="Calibri"/>
              </a:rPr>
              <a:t>a</a:t>
            </a:r>
          </a:p>
        </p:txBody>
      </p:sp>
      <p:sp>
        <p:nvSpPr>
          <p:cNvPr id="90" name="TextBox 89"/>
          <p:cNvSpPr txBox="1"/>
          <p:nvPr/>
        </p:nvSpPr>
        <p:spPr>
          <a:xfrm>
            <a:off x="190500" y="5418414"/>
            <a:ext cx="9277846" cy="186689"/>
          </a:xfrm>
          <a:prstGeom prst="rect">
            <a:avLst/>
          </a:prstGeom>
          <a:noFill/>
        </p:spPr>
        <p:txBody>
          <a:bodyPr wrap="none" lIns="0" rIns="0" tIns="0" bIns="0">
            <a:spAutoFit/>
          </a:bodyPr>
          <a:lstStyle/>
          <a:p>
            <a:r>
              <a:rPr sz="1100" b="0">
                <a:solidFill>
                  <a:srgbClr val="2E2E2E"/>
                </a:solidFill>
                <a:latin typeface="Calibri"/>
              </a:rPr>
              <a:t>year, so cost movements cannot be passed on evenly across 6 regions. The practical constraint is the same in either case commercial terms set for the market as a</a:t>
            </a:r>
          </a:p>
        </p:txBody>
      </p:sp>
      <p:sp>
        <p:nvSpPr>
          <p:cNvPr id="91" name="TextBox 90"/>
          <p:cNvSpPr txBox="1"/>
          <p:nvPr/>
        </p:nvSpPr>
        <p:spPr>
          <a:xfrm>
            <a:off x="190500" y="5586054"/>
            <a:ext cx="5940325" cy="186689"/>
          </a:xfrm>
          <a:prstGeom prst="rect">
            <a:avLst/>
          </a:prstGeom>
          <a:noFill/>
        </p:spPr>
        <p:txBody>
          <a:bodyPr wrap="none" lIns="0" rIns="0" tIns="0" bIns="0">
            <a:spAutoFit/>
          </a:bodyPr>
          <a:lstStyle/>
          <a:p>
            <a:r>
              <a:rPr sz="1100" b="0">
                <a:solidFill>
                  <a:srgbClr val="2E2E2E"/>
                </a:solidFill>
                <a:latin typeface="Calibri"/>
              </a:rPr>
              <a:t>whole underserve part of it, and margin is lost in the mismatch rather than in the headline growth rate.</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Senior Dog Cognitive Supplement Market Opportunities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opportunities in the global market and the likelihood of their impact across 2021–2036</a:t>
            </a:r>
          </a:p>
        </p:txBody>
      </p:sp>
      <p:sp>
        <p:nvSpPr>
          <p:cNvPr id="10" name="Rounded Rectangle 9"/>
          <p:cNvSpPr/>
          <p:nvPr/>
        </p:nvSpPr>
        <p:spPr>
          <a:xfrm>
            <a:off x="142875" y="1025515"/>
            <a:ext cx="2038350" cy="255552"/>
          </a:xfrm>
          <a:prstGeom prst="roundRect">
            <a:avLst>
              <a:gd name="adj" fmla="val 1869"/>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Opportunities</a:t>
            </a:r>
          </a:p>
        </p:txBody>
      </p:sp>
      <p:sp>
        <p:nvSpPr>
          <p:cNvPr id="12" name="Rectangle 11"/>
          <p:cNvSpPr/>
          <p:nvPr/>
        </p:nvSpPr>
        <p:spPr>
          <a:xfrm>
            <a:off x="142875" y="139058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U.S. Carries the Largest Absolute Opportunity</a:t>
            </a:r>
          </a:p>
        </p:txBody>
      </p:sp>
      <p:sp>
        <p:nvSpPr>
          <p:cNvPr id="14" name="TextBox 13"/>
          <p:cNvSpPr txBox="1"/>
          <p:nvPr/>
        </p:nvSpPr>
        <p:spPr>
          <a:xfrm>
            <a:off x="161925" y="170090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5" name="TextBox 14"/>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6" name="TextBox 15"/>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7" name="Rectangle 16"/>
          <p:cNvSpPr/>
          <p:nvPr/>
        </p:nvSpPr>
        <p:spPr>
          <a:xfrm>
            <a:off x="9810750" y="1938200"/>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19" name="TextBox 18"/>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20" name="Rectangle 19"/>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2" name="TextBox 21"/>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3" name="Rectangle 22"/>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5" name="TextBox 24"/>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6" name="Rectangle 25"/>
          <p:cNvSpPr/>
          <p:nvPr/>
        </p:nvSpPr>
        <p:spPr>
          <a:xfrm>
            <a:off x="1089660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cxnSp>
        <p:nvCxnSpPr>
          <p:cNvPr id="28" name="Connector 27"/>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42875" y="3142944"/>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Netherlands Offers Under-penetrated, Above-pace Headroom</a:t>
            </a:r>
          </a:p>
        </p:txBody>
      </p:sp>
      <p:sp>
        <p:nvSpPr>
          <p:cNvPr id="31" name="TextBox 30"/>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2" name="TextBox 31"/>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3" name="TextBox 32"/>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4" name="Rectangle 33"/>
          <p:cNvSpPr/>
          <p:nvPr/>
        </p:nvSpPr>
        <p:spPr>
          <a:xfrm>
            <a:off x="9810750" y="3690555"/>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6" name="TextBox 35"/>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7" name="Rectangle 36"/>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9" name="TextBox 38"/>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40" name="Rectangle 39"/>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42" name="TextBox 41"/>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3" name="Rectangle 42"/>
          <p:cNvSpPr/>
          <p:nvPr/>
        </p:nvSpPr>
        <p:spPr>
          <a:xfrm>
            <a:off x="1089660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cxnSp>
        <p:nvCxnSpPr>
          <p:cNvPr id="45" name="Connector 44"/>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142875" y="489529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Veterinary-Guided Cognitive Dysfunction Support Opens the Fastest Route to Market</a:t>
            </a:r>
          </a:p>
        </p:txBody>
      </p:sp>
      <p:sp>
        <p:nvSpPr>
          <p:cNvPr id="48" name="TextBox 47"/>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TextBox 48"/>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50" name="TextBox 49"/>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51" name="Rectangle 50"/>
          <p:cNvSpPr/>
          <p:nvPr/>
        </p:nvSpPr>
        <p:spPr>
          <a:xfrm>
            <a:off x="9810750" y="544291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3" name="TextBox 52"/>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4" name="Rectangle 53"/>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6" name="TextBox 55"/>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7" name="Rectangle 56"/>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9" name="TextBox 58"/>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60" name="Rectangle 59"/>
          <p:cNvSpPr/>
          <p:nvPr/>
        </p:nvSpPr>
        <p:spPr>
          <a:xfrm>
            <a:off x="1089660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190500" y="1746064"/>
            <a:ext cx="662012" cy="186689"/>
          </a:xfrm>
          <a:prstGeom prst="rect">
            <a:avLst/>
          </a:prstGeom>
          <a:noFill/>
        </p:spPr>
        <p:txBody>
          <a:bodyPr wrap="none" lIns="0" rIns="0" tIns="0" bIns="0">
            <a:spAutoFit/>
          </a:bodyPr>
          <a:lstStyle/>
          <a:p>
            <a:r>
              <a:rPr sz="1100" b="0">
                <a:solidFill>
                  <a:srgbClr val="2E2E2E"/>
                </a:solidFill>
                <a:latin typeface="Calibri"/>
              </a:rPr>
              <a:t>'U.S.' adds</a:t>
            </a:r>
          </a:p>
        </p:txBody>
      </p:sp>
      <p:pic>
        <p:nvPicPr>
          <p:cNvPr id="64" name="Picture 63" descr="lock.png"/>
          <p:cNvPicPr>
            <a:picLocks noChangeAspect="1"/>
          </p:cNvPicPr>
          <p:nvPr/>
        </p:nvPicPr>
        <p:blipFill>
          <a:blip r:embed="rId4"/>
          <a:stretch>
            <a:fillRect/>
          </a:stretch>
        </p:blipFill>
        <p:spPr>
          <a:xfrm>
            <a:off x="800563" y="1736285"/>
            <a:ext cx="128699" cy="187198"/>
          </a:xfrm>
          <a:prstGeom prst="rect">
            <a:avLst/>
          </a:prstGeom>
        </p:spPr>
      </p:pic>
      <p:sp>
        <p:nvSpPr>
          <p:cNvPr id="65" name="TextBox 64"/>
          <p:cNvSpPr txBox="1"/>
          <p:nvPr/>
        </p:nvSpPr>
        <p:spPr>
          <a:xfrm>
            <a:off x="968059" y="1746064"/>
            <a:ext cx="8433097" cy="186689"/>
          </a:xfrm>
          <a:prstGeom prst="rect">
            <a:avLst/>
          </a:prstGeom>
          <a:noFill/>
        </p:spPr>
        <p:txBody>
          <a:bodyPr wrap="none" lIns="0" rIns="0" tIns="0" bIns="0">
            <a:spAutoFit/>
          </a:bodyPr>
          <a:lstStyle/>
          <a:p>
            <a:r>
              <a:rPr sz="1100" b="0">
                <a:solidFill>
                  <a:srgbClr val="2E2E2E"/>
                </a:solidFill>
                <a:latin typeface="Calibri"/>
              </a:rPr>
              <a:t>US$ Mn between 2026 and 2036 the single largest absolute increment of any geography in the dataset. Capturing it is a question of scale execution</a:t>
            </a:r>
          </a:p>
        </p:txBody>
      </p:sp>
      <p:sp>
        <p:nvSpPr>
          <p:cNvPr id="66" name="TextBox 65"/>
          <p:cNvSpPr txBox="1"/>
          <p:nvPr/>
        </p:nvSpPr>
        <p:spPr>
          <a:xfrm>
            <a:off x="190500" y="1913704"/>
            <a:ext cx="3769245" cy="186689"/>
          </a:xfrm>
          <a:prstGeom prst="rect">
            <a:avLst/>
          </a:prstGeom>
          <a:noFill/>
        </p:spPr>
        <p:txBody>
          <a:bodyPr wrap="none" lIns="0" rIns="0" tIns="0" bIns="0">
            <a:spAutoFit/>
          </a:bodyPr>
          <a:lstStyle/>
          <a:p>
            <a:r>
              <a:rPr sz="1100" b="0">
                <a:solidFill>
                  <a:srgbClr val="2E2E2E"/>
                </a:solidFill>
                <a:latin typeface="Calibri"/>
              </a:rPr>
              <a:t>rather than market creation: demand already exists and grows at</a:t>
            </a:r>
          </a:p>
        </p:txBody>
      </p:sp>
      <p:pic>
        <p:nvPicPr>
          <p:cNvPr id="67" name="Picture 66" descr="lock.png"/>
          <p:cNvPicPr>
            <a:picLocks noChangeAspect="1"/>
          </p:cNvPicPr>
          <p:nvPr/>
        </p:nvPicPr>
        <p:blipFill>
          <a:blip r:embed="rId4"/>
          <a:stretch>
            <a:fillRect/>
          </a:stretch>
        </p:blipFill>
        <p:spPr>
          <a:xfrm>
            <a:off x="3907797" y="1903925"/>
            <a:ext cx="128699" cy="187198"/>
          </a:xfrm>
          <a:prstGeom prst="rect">
            <a:avLst/>
          </a:prstGeom>
        </p:spPr>
      </p:pic>
      <p:sp>
        <p:nvSpPr>
          <p:cNvPr id="68" name="TextBox 67"/>
          <p:cNvSpPr txBox="1"/>
          <p:nvPr/>
        </p:nvSpPr>
        <p:spPr>
          <a:xfrm>
            <a:off x="4075293" y="1913704"/>
            <a:ext cx="5402535" cy="186689"/>
          </a:xfrm>
          <a:prstGeom prst="rect">
            <a:avLst/>
          </a:prstGeom>
          <a:noFill/>
        </p:spPr>
        <p:txBody>
          <a:bodyPr wrap="none" lIns="0" rIns="0" tIns="0" bIns="0">
            <a:spAutoFit/>
          </a:bodyPr>
          <a:lstStyle/>
          <a:p>
            <a:r>
              <a:rPr sz="1100" b="0">
                <a:solidFill>
                  <a:srgbClr val="2E2E2E"/>
                </a:solidFill>
                <a:latin typeface="Calibri"/>
              </a:rPr>
              <a:t>at the market level. Prioritising supply, channel coverage and service levels there converts the</a:t>
            </a:r>
          </a:p>
        </p:txBody>
      </p:sp>
      <p:sp>
        <p:nvSpPr>
          <p:cNvPr id="69" name="TextBox 68"/>
          <p:cNvSpPr txBox="1"/>
          <p:nvPr/>
        </p:nvSpPr>
        <p:spPr>
          <a:xfrm>
            <a:off x="190500" y="2081344"/>
            <a:ext cx="1175246" cy="186689"/>
          </a:xfrm>
          <a:prstGeom prst="rect">
            <a:avLst/>
          </a:prstGeom>
          <a:noFill/>
        </p:spPr>
        <p:txBody>
          <a:bodyPr wrap="none" lIns="0" rIns="0" tIns="0" bIns="0">
            <a:spAutoFit/>
          </a:bodyPr>
          <a:lstStyle/>
          <a:p>
            <a:r>
              <a:rPr sz="1100" b="0">
                <a:solidFill>
                  <a:srgbClr val="2E2E2E"/>
                </a:solidFill>
                <a:latin typeface="Calibri"/>
              </a:rPr>
              <a:t>largest share of the</a:t>
            </a:r>
          </a:p>
        </p:txBody>
      </p:sp>
      <p:pic>
        <p:nvPicPr>
          <p:cNvPr id="70" name="Picture 69" descr="lock.png"/>
          <p:cNvPicPr>
            <a:picLocks noChangeAspect="1"/>
          </p:cNvPicPr>
          <p:nvPr/>
        </p:nvPicPr>
        <p:blipFill>
          <a:blip r:embed="rId4"/>
          <a:stretch>
            <a:fillRect/>
          </a:stretch>
        </p:blipFill>
        <p:spPr>
          <a:xfrm>
            <a:off x="1313797" y="2071565"/>
            <a:ext cx="128699" cy="187198"/>
          </a:xfrm>
          <a:prstGeom prst="rect">
            <a:avLst/>
          </a:prstGeom>
        </p:spPr>
      </p:pic>
      <p:sp>
        <p:nvSpPr>
          <p:cNvPr id="71" name="TextBox 70"/>
          <p:cNvSpPr txBox="1"/>
          <p:nvPr/>
        </p:nvSpPr>
        <p:spPr>
          <a:xfrm>
            <a:off x="1481293" y="2081344"/>
            <a:ext cx="3306489" cy="186689"/>
          </a:xfrm>
          <a:prstGeom prst="rect">
            <a:avLst/>
          </a:prstGeom>
          <a:noFill/>
        </p:spPr>
        <p:txBody>
          <a:bodyPr wrap="none" lIns="0" rIns="0" tIns="0" bIns="0">
            <a:spAutoFit/>
          </a:bodyPr>
          <a:lstStyle/>
          <a:p>
            <a:r>
              <a:rPr sz="1100" b="0">
                <a:solidFill>
                  <a:srgbClr val="2E2E2E"/>
                </a:solidFill>
                <a:latin typeface="Calibri"/>
              </a:rPr>
              <a:t>US$ Mn the whole market adds over the forecast period.</a:t>
            </a:r>
          </a:p>
        </p:txBody>
      </p:sp>
      <p:sp>
        <p:nvSpPr>
          <p:cNvPr id="72" name="TextBox 71"/>
          <p:cNvSpPr txBox="1"/>
          <p:nvPr/>
        </p:nvSpPr>
        <p:spPr>
          <a:xfrm>
            <a:off x="190500" y="3498419"/>
            <a:ext cx="1680294" cy="186689"/>
          </a:xfrm>
          <a:prstGeom prst="rect">
            <a:avLst/>
          </a:prstGeom>
          <a:noFill/>
        </p:spPr>
        <p:txBody>
          <a:bodyPr wrap="none" lIns="0" rIns="0" tIns="0" bIns="0">
            <a:spAutoFit/>
          </a:bodyPr>
          <a:lstStyle/>
          <a:p>
            <a:r>
              <a:rPr sz="1100" b="0">
                <a:solidFill>
                  <a:srgbClr val="2E2E2E"/>
                </a:solidFill>
                <a:latin typeface="Calibri"/>
              </a:rPr>
              <a:t>'Netherlands' compounds at</a:t>
            </a:r>
          </a:p>
        </p:txBody>
      </p:sp>
      <p:pic>
        <p:nvPicPr>
          <p:cNvPr id="73" name="Picture 72" descr="lock.png"/>
          <p:cNvPicPr>
            <a:picLocks noChangeAspect="1"/>
          </p:cNvPicPr>
          <p:nvPr/>
        </p:nvPicPr>
        <p:blipFill>
          <a:blip r:embed="rId4"/>
          <a:stretch>
            <a:fillRect/>
          </a:stretch>
        </p:blipFill>
        <p:spPr>
          <a:xfrm>
            <a:off x="1818845" y="3488640"/>
            <a:ext cx="128699" cy="187198"/>
          </a:xfrm>
          <a:prstGeom prst="rect">
            <a:avLst/>
          </a:prstGeom>
        </p:spPr>
      </p:pic>
      <p:sp>
        <p:nvSpPr>
          <p:cNvPr id="74" name="TextBox 73"/>
          <p:cNvSpPr txBox="1"/>
          <p:nvPr/>
        </p:nvSpPr>
        <p:spPr>
          <a:xfrm>
            <a:off x="1986341" y="3498419"/>
            <a:ext cx="7315207" cy="186689"/>
          </a:xfrm>
          <a:prstGeom prst="rect">
            <a:avLst/>
          </a:prstGeom>
          <a:noFill/>
        </p:spPr>
        <p:txBody>
          <a:bodyPr wrap="none" lIns="0" rIns="0" tIns="0" bIns="0">
            <a:spAutoFit/>
          </a:bodyPr>
          <a:lstStyle/>
          <a:p>
            <a:r>
              <a:rPr sz="1100" b="0">
                <a:solidFill>
                  <a:srgbClr val="2E2E2E"/>
                </a:solidFill>
                <a:latin typeface="Calibri"/>
              </a:rPr>
              <a:t>CAGR from a below-median base one of 7 geographies in the dataset combining above-median growth with below-median size.</a:t>
            </a:r>
          </a:p>
        </p:txBody>
      </p:sp>
      <p:sp>
        <p:nvSpPr>
          <p:cNvPr id="75" name="TextBox 74"/>
          <p:cNvSpPr txBox="1"/>
          <p:nvPr/>
        </p:nvSpPr>
        <p:spPr>
          <a:xfrm>
            <a:off x="190500" y="3666059"/>
            <a:ext cx="5046191" cy="186689"/>
          </a:xfrm>
          <a:prstGeom prst="rect">
            <a:avLst/>
          </a:prstGeom>
          <a:noFill/>
        </p:spPr>
        <p:txBody>
          <a:bodyPr wrap="none" lIns="0" rIns="0" tIns="0" bIns="0">
            <a:spAutoFit/>
          </a:bodyPr>
          <a:lstStyle/>
          <a:p>
            <a:r>
              <a:rPr sz="1100" b="0">
                <a:solidFill>
                  <a:srgbClr val="2E2E2E"/>
                </a:solidFill>
                <a:latin typeface="Calibri"/>
              </a:rPr>
              <a:t>That profile is where share is cheapest to buy: competitive intensity is lower than in the</a:t>
            </a:r>
          </a:p>
        </p:txBody>
      </p:sp>
      <p:pic>
        <p:nvPicPr>
          <p:cNvPr id="76" name="Picture 75" descr="lock.png"/>
          <p:cNvPicPr>
            <a:picLocks noChangeAspect="1"/>
          </p:cNvPicPr>
          <p:nvPr/>
        </p:nvPicPr>
        <p:blipFill>
          <a:blip r:embed="rId4"/>
          <a:stretch>
            <a:fillRect/>
          </a:stretch>
        </p:blipFill>
        <p:spPr>
          <a:xfrm>
            <a:off x="5184742" y="3656280"/>
            <a:ext cx="128699" cy="187198"/>
          </a:xfrm>
          <a:prstGeom prst="rect">
            <a:avLst/>
          </a:prstGeom>
        </p:spPr>
      </p:pic>
      <p:sp>
        <p:nvSpPr>
          <p:cNvPr id="77" name="TextBox 76"/>
          <p:cNvSpPr txBox="1"/>
          <p:nvPr/>
        </p:nvSpPr>
        <p:spPr>
          <a:xfrm>
            <a:off x="5352238" y="3666059"/>
            <a:ext cx="2075929" cy="186689"/>
          </a:xfrm>
          <a:prstGeom prst="rect">
            <a:avLst/>
          </a:prstGeom>
          <a:noFill/>
        </p:spPr>
        <p:txBody>
          <a:bodyPr wrap="none" lIns="0" rIns="0" tIns="0" bIns="0">
            <a:spAutoFit/>
          </a:bodyPr>
          <a:lstStyle/>
          <a:p>
            <a:r>
              <a:rPr sz="1100" b="0">
                <a:solidFill>
                  <a:srgbClr val="2E2E2E"/>
                </a:solidFill>
                <a:latin typeface="Calibri"/>
              </a:rPr>
              <a:t>-share leaders, while growth runs +</a:t>
            </a:r>
          </a:p>
        </p:txBody>
      </p:sp>
      <p:pic>
        <p:nvPicPr>
          <p:cNvPr id="78" name="Picture 77" descr="lock.png"/>
          <p:cNvPicPr>
            <a:picLocks noChangeAspect="1"/>
          </p:cNvPicPr>
          <p:nvPr/>
        </p:nvPicPr>
        <p:blipFill>
          <a:blip r:embed="rId4"/>
          <a:stretch>
            <a:fillRect/>
          </a:stretch>
        </p:blipFill>
        <p:spPr>
          <a:xfrm>
            <a:off x="7376219" y="3656280"/>
            <a:ext cx="128699" cy="187198"/>
          </a:xfrm>
          <a:prstGeom prst="rect">
            <a:avLst/>
          </a:prstGeom>
        </p:spPr>
      </p:pic>
      <p:sp>
        <p:nvSpPr>
          <p:cNvPr id="79" name="TextBox 78"/>
          <p:cNvSpPr txBox="1"/>
          <p:nvPr/>
        </p:nvSpPr>
        <p:spPr>
          <a:xfrm>
            <a:off x="7543715" y="3666059"/>
            <a:ext cx="1825144" cy="186689"/>
          </a:xfrm>
          <a:prstGeom prst="rect">
            <a:avLst/>
          </a:prstGeom>
          <a:noFill/>
        </p:spPr>
        <p:txBody>
          <a:bodyPr wrap="none" lIns="0" rIns="0" tIns="0" bIns="0">
            <a:spAutoFit/>
          </a:bodyPr>
          <a:lstStyle/>
          <a:p>
            <a:r>
              <a:rPr sz="1100" b="0">
                <a:solidFill>
                  <a:srgbClr val="2E2E2E"/>
                </a:solidFill>
                <a:latin typeface="Calibri"/>
              </a:rPr>
              <a:t>BPS ahead of the market. Early</a:t>
            </a:r>
          </a:p>
        </p:txBody>
      </p:sp>
      <p:sp>
        <p:nvSpPr>
          <p:cNvPr id="80" name="TextBox 79"/>
          <p:cNvSpPr txBox="1"/>
          <p:nvPr/>
        </p:nvSpPr>
        <p:spPr>
          <a:xfrm>
            <a:off x="190500" y="3833699"/>
            <a:ext cx="4556695" cy="186689"/>
          </a:xfrm>
          <a:prstGeom prst="rect">
            <a:avLst/>
          </a:prstGeom>
          <a:noFill/>
        </p:spPr>
        <p:txBody>
          <a:bodyPr wrap="none" lIns="0" rIns="0" tIns="0" bIns="0">
            <a:spAutoFit/>
          </a:bodyPr>
          <a:lstStyle/>
          <a:p>
            <a:r>
              <a:rPr sz="1100" b="0">
                <a:solidFill>
                  <a:srgbClr val="2E2E2E"/>
                </a:solidFill>
                <a:latin typeface="Calibri"/>
              </a:rPr>
              <a:t>distribution and reference accounts established here compound through 2036.</a:t>
            </a:r>
          </a:p>
        </p:txBody>
      </p:sp>
      <p:sp>
        <p:nvSpPr>
          <p:cNvPr id="81" name="TextBox 80"/>
          <p:cNvSpPr txBox="1"/>
          <p:nvPr/>
        </p:nvSpPr>
        <p:spPr>
          <a:xfrm>
            <a:off x="190500" y="5250774"/>
            <a:ext cx="3468017" cy="186689"/>
          </a:xfrm>
          <a:prstGeom prst="rect">
            <a:avLst/>
          </a:prstGeom>
          <a:noFill/>
        </p:spPr>
        <p:txBody>
          <a:bodyPr wrap="none" lIns="0" rIns="0" tIns="0" bIns="0">
            <a:spAutoFit/>
          </a:bodyPr>
          <a:lstStyle/>
          <a:p>
            <a:r>
              <a:rPr sz="1100" b="0">
                <a:solidFill>
                  <a:srgbClr val="2E2E2E"/>
                </a:solidFill>
                <a:latin typeface="Calibri"/>
              </a:rPr>
              <a:t>'Veterinary-Guided Cognitive Dysfunction Support' grows at</a:t>
            </a:r>
          </a:p>
        </p:txBody>
      </p:sp>
      <p:pic>
        <p:nvPicPr>
          <p:cNvPr id="82" name="Picture 81" descr="lock.png"/>
          <p:cNvPicPr>
            <a:picLocks noChangeAspect="1"/>
          </p:cNvPicPr>
          <p:nvPr/>
        </p:nvPicPr>
        <p:blipFill>
          <a:blip r:embed="rId4"/>
          <a:stretch>
            <a:fillRect/>
          </a:stretch>
        </p:blipFill>
        <p:spPr>
          <a:xfrm>
            <a:off x="3606569" y="5240995"/>
            <a:ext cx="128699" cy="187198"/>
          </a:xfrm>
          <a:prstGeom prst="rect">
            <a:avLst/>
          </a:prstGeom>
        </p:spPr>
      </p:pic>
      <p:sp>
        <p:nvSpPr>
          <p:cNvPr id="83" name="TextBox 82"/>
          <p:cNvSpPr txBox="1"/>
          <p:nvPr/>
        </p:nvSpPr>
        <p:spPr>
          <a:xfrm>
            <a:off x="3774065" y="5250774"/>
            <a:ext cx="3445081" cy="186689"/>
          </a:xfrm>
          <a:prstGeom prst="rect">
            <a:avLst/>
          </a:prstGeom>
          <a:noFill/>
        </p:spPr>
        <p:txBody>
          <a:bodyPr wrap="none" lIns="0" rIns="0" tIns="0" bIns="0">
            <a:spAutoFit/>
          </a:bodyPr>
          <a:lstStyle/>
          <a:p>
            <a:r>
              <a:rPr sz="1100" b="0">
                <a:solidFill>
                  <a:srgbClr val="2E2E2E"/>
                </a:solidFill>
                <a:latin typeface="Calibri"/>
              </a:rPr>
              <a:t>CAGR, the fastest of 4 end-use application routes, and adds</a:t>
            </a:r>
          </a:p>
        </p:txBody>
      </p:sp>
      <p:pic>
        <p:nvPicPr>
          <p:cNvPr id="84" name="Picture 83" descr="lock.png"/>
          <p:cNvPicPr>
            <a:picLocks noChangeAspect="1"/>
          </p:cNvPicPr>
          <p:nvPr/>
        </p:nvPicPr>
        <p:blipFill>
          <a:blip r:embed="rId4"/>
          <a:stretch>
            <a:fillRect/>
          </a:stretch>
        </p:blipFill>
        <p:spPr>
          <a:xfrm>
            <a:off x="7167197" y="5240995"/>
            <a:ext cx="128699" cy="187198"/>
          </a:xfrm>
          <a:prstGeom prst="rect">
            <a:avLst/>
          </a:prstGeom>
        </p:spPr>
      </p:pic>
      <p:sp>
        <p:nvSpPr>
          <p:cNvPr id="85" name="TextBox 84"/>
          <p:cNvSpPr txBox="1"/>
          <p:nvPr/>
        </p:nvSpPr>
        <p:spPr>
          <a:xfrm>
            <a:off x="7334693" y="5250774"/>
            <a:ext cx="1930499" cy="186689"/>
          </a:xfrm>
          <a:prstGeom prst="rect">
            <a:avLst/>
          </a:prstGeom>
          <a:noFill/>
        </p:spPr>
        <p:txBody>
          <a:bodyPr wrap="none" lIns="0" rIns="0" tIns="0" bIns="0">
            <a:spAutoFit/>
          </a:bodyPr>
          <a:lstStyle/>
          <a:p>
            <a:r>
              <a:rPr sz="1100" b="0">
                <a:solidFill>
                  <a:srgbClr val="2E2E2E"/>
                </a:solidFill>
                <a:latin typeface="Calibri"/>
              </a:rPr>
              <a:t>US$ Mn over the forecast period</a:t>
            </a:r>
          </a:p>
        </p:txBody>
      </p:sp>
      <p:sp>
        <p:nvSpPr>
          <p:cNvPr id="86" name="TextBox 85"/>
          <p:cNvSpPr txBox="1"/>
          <p:nvPr/>
        </p:nvSpPr>
        <p:spPr>
          <a:xfrm>
            <a:off x="190500" y="5418414"/>
            <a:ext cx="4241824" cy="186689"/>
          </a:xfrm>
          <a:prstGeom prst="rect">
            <a:avLst/>
          </a:prstGeom>
          <a:noFill/>
        </p:spPr>
        <p:txBody>
          <a:bodyPr wrap="none" lIns="0" rIns="0" tIns="0" bIns="0">
            <a:spAutoFit/>
          </a:bodyPr>
          <a:lstStyle/>
          <a:p>
            <a:r>
              <a:rPr sz="1100" b="0">
                <a:solidFill>
                  <a:srgbClr val="2E2E2E"/>
                </a:solidFill>
                <a:latin typeface="Calibri"/>
              </a:rPr>
              <a:t>while 'Support for Observable Age-Related Cognitive Changes' still carries</a:t>
            </a:r>
          </a:p>
        </p:txBody>
      </p:sp>
      <p:pic>
        <p:nvPicPr>
          <p:cNvPr id="87" name="Picture 86" descr="lock.png"/>
          <p:cNvPicPr>
            <a:picLocks noChangeAspect="1"/>
          </p:cNvPicPr>
          <p:nvPr/>
        </p:nvPicPr>
        <p:blipFill>
          <a:blip r:embed="rId4"/>
          <a:stretch>
            <a:fillRect/>
          </a:stretch>
        </p:blipFill>
        <p:spPr>
          <a:xfrm>
            <a:off x="4380376" y="5408635"/>
            <a:ext cx="128699" cy="187198"/>
          </a:xfrm>
          <a:prstGeom prst="rect">
            <a:avLst/>
          </a:prstGeom>
        </p:spPr>
      </p:pic>
      <p:sp>
        <p:nvSpPr>
          <p:cNvPr id="88" name="TextBox 87"/>
          <p:cNvSpPr txBox="1"/>
          <p:nvPr/>
        </p:nvSpPr>
        <p:spPr>
          <a:xfrm>
            <a:off x="4547872" y="5418414"/>
            <a:ext cx="4828728" cy="186689"/>
          </a:xfrm>
          <a:prstGeom prst="rect">
            <a:avLst/>
          </a:prstGeom>
          <a:noFill/>
        </p:spPr>
        <p:txBody>
          <a:bodyPr wrap="none" lIns="0" rIns="0" tIns="0" bIns="0">
            <a:spAutoFit/>
          </a:bodyPr>
          <a:lstStyle/>
          <a:p>
            <a:r>
              <a:rPr sz="1100" b="0">
                <a:solidFill>
                  <a:srgbClr val="2E2E2E"/>
                </a:solidFill>
                <a:latin typeface="Calibri"/>
              </a:rPr>
              <a:t>of demand today. Pairing the incumbent route for volume with the fastest route for</a:t>
            </a:r>
          </a:p>
        </p:txBody>
      </p:sp>
      <p:sp>
        <p:nvSpPr>
          <p:cNvPr id="89" name="TextBox 88"/>
          <p:cNvSpPr txBox="1"/>
          <p:nvPr/>
        </p:nvSpPr>
        <p:spPr>
          <a:xfrm>
            <a:off x="190500" y="5586054"/>
            <a:ext cx="2311672" cy="186689"/>
          </a:xfrm>
          <a:prstGeom prst="rect">
            <a:avLst/>
          </a:prstGeom>
          <a:noFill/>
        </p:spPr>
        <p:txBody>
          <a:bodyPr wrap="none" lIns="0" rIns="0" tIns="0" bIns="0">
            <a:spAutoFit/>
          </a:bodyPr>
          <a:lstStyle/>
          <a:p>
            <a:r>
              <a:rPr sz="1100" b="0">
                <a:solidFill>
                  <a:srgbClr val="2E2E2E"/>
                </a:solidFill>
                <a:latin typeface="Calibri"/>
              </a:rPr>
              <a:t>growth and leading with 'Chewables' at</a:t>
            </a:r>
          </a:p>
        </p:txBody>
      </p:sp>
      <p:pic>
        <p:nvPicPr>
          <p:cNvPr id="90" name="Picture 89" descr="lock.png"/>
          <p:cNvPicPr>
            <a:picLocks noChangeAspect="1"/>
          </p:cNvPicPr>
          <p:nvPr/>
        </p:nvPicPr>
        <p:blipFill>
          <a:blip r:embed="rId4"/>
          <a:stretch>
            <a:fillRect/>
          </a:stretch>
        </p:blipFill>
        <p:spPr>
          <a:xfrm>
            <a:off x="2450224" y="5576275"/>
            <a:ext cx="128699" cy="187198"/>
          </a:xfrm>
          <a:prstGeom prst="rect">
            <a:avLst/>
          </a:prstGeom>
        </p:spPr>
      </p:pic>
      <p:sp>
        <p:nvSpPr>
          <p:cNvPr id="91" name="TextBox 90"/>
          <p:cNvSpPr txBox="1"/>
          <p:nvPr/>
        </p:nvSpPr>
        <p:spPr>
          <a:xfrm>
            <a:off x="2617720" y="5586054"/>
            <a:ext cx="3137594" cy="186689"/>
          </a:xfrm>
          <a:prstGeom prst="rect">
            <a:avLst/>
          </a:prstGeom>
          <a:noFill/>
        </p:spPr>
        <p:txBody>
          <a:bodyPr wrap="none" lIns="0" rIns="0" tIns="0" bIns="0">
            <a:spAutoFit/>
          </a:bodyPr>
          <a:lstStyle/>
          <a:p>
            <a:r>
              <a:rPr sz="1100" b="0">
                <a:solidFill>
                  <a:srgbClr val="2E2E2E"/>
                </a:solidFill>
                <a:latin typeface="Calibri"/>
              </a:rPr>
              <a:t>is the highest-yield combination the dataset supports.</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Senior Dog Cognitive Supplement Market Recent Developments &amp; Milestones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Recent developments and milestones shaping the global market, by year</a:t>
            </a:r>
          </a:p>
        </p:txBody>
      </p:sp>
      <p:sp>
        <p:nvSpPr>
          <p:cNvPr id="10" name="Rectangle 9"/>
          <p:cNvSpPr/>
          <p:nvPr/>
        </p:nvSpPr>
        <p:spPr>
          <a:xfrm>
            <a:off x="142875" y="1025515"/>
            <a:ext cx="11906250" cy="292059"/>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025515"/>
            <a:ext cx="1428750" cy="292059"/>
          </a:xfrm>
          <a:prstGeom prst="rect">
            <a:avLst/>
          </a:prstGeom>
          <a:noFill/>
        </p:spPr>
        <p:txBody>
          <a:bodyPr wrap="square" lIns="28575" rIns="28575" tIns="9525" bIns="9525" anchor="ctr">
            <a:spAutoFit/>
          </a:bodyPr>
          <a:lstStyle/>
          <a:p>
            <a:pPr algn="ctr"/>
            <a:r>
              <a:rPr sz="1150" b="1">
                <a:solidFill>
                  <a:srgbClr val="FFFFFF"/>
                </a:solidFill>
                <a:latin typeface="Calibri"/>
              </a:rPr>
              <a:t>Year</a:t>
            </a:r>
          </a:p>
        </p:txBody>
      </p:sp>
      <p:sp>
        <p:nvSpPr>
          <p:cNvPr id="12" name="TextBox 11"/>
          <p:cNvSpPr txBox="1"/>
          <p:nvPr/>
        </p:nvSpPr>
        <p:spPr>
          <a:xfrm>
            <a:off x="1714500" y="1025515"/>
            <a:ext cx="10239375" cy="292059"/>
          </a:xfrm>
          <a:prstGeom prst="rect">
            <a:avLst/>
          </a:prstGeom>
          <a:noFill/>
        </p:spPr>
        <p:txBody>
          <a:bodyPr wrap="square" lIns="28575" rIns="28575" tIns="9525" bIns="9525" anchor="ctr">
            <a:spAutoFit/>
          </a:bodyPr>
          <a:lstStyle/>
          <a:p>
            <a:pPr algn="ctr"/>
            <a:r>
              <a:rPr sz="1150" b="1">
                <a:solidFill>
                  <a:srgbClr val="FFFFFF"/>
                </a:solidFill>
                <a:latin typeface="Calibri"/>
              </a:rPr>
              <a:t>Recent Development</a:t>
            </a:r>
          </a:p>
        </p:txBody>
      </p:sp>
      <p:sp>
        <p:nvSpPr>
          <p:cNvPr id="13" name="Rectangle 12"/>
          <p:cNvSpPr/>
          <p:nvPr/>
        </p:nvSpPr>
        <p:spPr>
          <a:xfrm>
            <a:off x="142875" y="1317574"/>
            <a:ext cx="11906250" cy="1296013"/>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2875" y="1317574"/>
            <a:ext cx="1428750" cy="1296013"/>
          </a:xfrm>
          <a:prstGeom prst="rect">
            <a:avLst/>
          </a:prstGeom>
          <a:noFill/>
        </p:spPr>
        <p:txBody>
          <a:bodyPr wrap="square" lIns="28575" rIns="28575" tIns="9525" bIns="9525" anchor="ctr">
            <a:spAutoFit/>
          </a:bodyPr>
          <a:lstStyle/>
          <a:p>
            <a:pPr algn="ctr"/>
            <a:r>
              <a:rPr sz="1250" b="1">
                <a:solidFill>
                  <a:srgbClr val="0B2E4A"/>
                </a:solidFill>
                <a:latin typeface="Calibri"/>
              </a:rPr>
              <a:t>2025</a:t>
            </a:r>
          </a:p>
        </p:txBody>
      </p:sp>
      <p:cxnSp>
        <p:nvCxnSpPr>
          <p:cNvPr id="15" name="Connector 14"/>
          <p:cNvCxnSpPr/>
          <p:nvPr/>
        </p:nvCxnSpPr>
        <p:spPr>
          <a:xfrm>
            <a:off x="1571625" y="1317574"/>
            <a:ext cx="0" cy="1296013"/>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714500" y="1668957"/>
            <a:ext cx="102108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7" name="Rectangle 16"/>
          <p:cNvSpPr/>
          <p:nvPr/>
        </p:nvSpPr>
        <p:spPr>
          <a:xfrm>
            <a:off x="142875" y="2613586"/>
            <a:ext cx="11906250" cy="985700"/>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2875" y="26135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2026</a:t>
            </a:r>
          </a:p>
        </p:txBody>
      </p:sp>
      <p:cxnSp>
        <p:nvCxnSpPr>
          <p:cNvPr id="19" name="Connector 18"/>
          <p:cNvCxnSpPr/>
          <p:nvPr/>
        </p:nvCxnSpPr>
        <p:spPr>
          <a:xfrm>
            <a:off x="1571625" y="26135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714500" y="2905646"/>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1" name="Rectangle 20"/>
          <p:cNvSpPr/>
          <p:nvPr/>
        </p:nvSpPr>
        <p:spPr>
          <a:xfrm>
            <a:off x="142875" y="3599286"/>
            <a:ext cx="11906250" cy="985700"/>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2875" y="35992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2035</a:t>
            </a:r>
          </a:p>
        </p:txBody>
      </p:sp>
      <p:cxnSp>
        <p:nvCxnSpPr>
          <p:cNvPr id="23" name="Connector 22"/>
          <p:cNvCxnSpPr/>
          <p:nvPr/>
        </p:nvCxnSpPr>
        <p:spPr>
          <a:xfrm>
            <a:off x="1571625" y="35992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714500" y="38913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5" name="Rectangle 24"/>
          <p:cNvSpPr/>
          <p:nvPr/>
        </p:nvSpPr>
        <p:spPr>
          <a:xfrm>
            <a:off x="142875" y="4584986"/>
            <a:ext cx="11906250" cy="985700"/>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2875" y="45849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2031</a:t>
            </a:r>
          </a:p>
        </p:txBody>
      </p:sp>
      <p:cxnSp>
        <p:nvCxnSpPr>
          <p:cNvPr id="27" name="Connector 26"/>
          <p:cNvCxnSpPr/>
          <p:nvPr/>
        </p:nvCxnSpPr>
        <p:spPr>
          <a:xfrm>
            <a:off x="1571625" y="45849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714500" y="48770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9" name="Rectangle 28"/>
          <p:cNvSpPr/>
          <p:nvPr/>
        </p:nvSpPr>
        <p:spPr>
          <a:xfrm>
            <a:off x="142875" y="5570686"/>
            <a:ext cx="11906250" cy="985700"/>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42875" y="55706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2036</a:t>
            </a:r>
          </a:p>
        </p:txBody>
      </p:sp>
      <p:cxnSp>
        <p:nvCxnSpPr>
          <p:cNvPr id="31" name="Connector 30"/>
          <p:cNvCxnSpPr/>
          <p:nvPr/>
        </p:nvCxnSpPr>
        <p:spPr>
          <a:xfrm>
            <a:off x="1571625" y="55706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714500" y="58627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3" name="TextBox 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4" name="TextBox 33"/>
          <p:cNvSpPr txBox="1"/>
          <p:nvPr/>
        </p:nvSpPr>
        <p:spPr>
          <a:xfrm>
            <a:off x="1743075" y="1797939"/>
            <a:ext cx="3516585" cy="186689"/>
          </a:xfrm>
          <a:prstGeom prst="rect">
            <a:avLst/>
          </a:prstGeom>
          <a:noFill/>
        </p:spPr>
        <p:txBody>
          <a:bodyPr wrap="none" lIns="0" rIns="0" tIns="0" bIns="0">
            <a:spAutoFit/>
          </a:bodyPr>
          <a:lstStyle/>
          <a:p>
            <a:r>
              <a:rPr sz="1100" b="0">
                <a:solidFill>
                  <a:srgbClr val="2E2E2E"/>
                </a:solidFill>
                <a:latin typeface="Calibri"/>
              </a:rPr>
              <a:t>Strongest historical expansion on record: Global value rose +</a:t>
            </a:r>
          </a:p>
        </p:txBody>
      </p:sp>
      <p:pic>
        <p:nvPicPr>
          <p:cNvPr id="35" name="Picture 34" descr="lock.png"/>
          <p:cNvPicPr>
            <a:picLocks noChangeAspect="1"/>
          </p:cNvPicPr>
          <p:nvPr/>
        </p:nvPicPr>
        <p:blipFill>
          <a:blip r:embed="rId4"/>
          <a:stretch>
            <a:fillRect/>
          </a:stretch>
        </p:blipFill>
        <p:spPr>
          <a:xfrm>
            <a:off x="5207711" y="1788160"/>
            <a:ext cx="128699" cy="187198"/>
          </a:xfrm>
          <a:prstGeom prst="rect">
            <a:avLst/>
          </a:prstGeom>
        </p:spPr>
      </p:pic>
      <p:sp>
        <p:nvSpPr>
          <p:cNvPr id="36" name="TextBox 35"/>
          <p:cNvSpPr txBox="1"/>
          <p:nvPr/>
        </p:nvSpPr>
        <p:spPr>
          <a:xfrm>
            <a:off x="5375207" y="1797939"/>
            <a:ext cx="935955" cy="186689"/>
          </a:xfrm>
          <a:prstGeom prst="rect">
            <a:avLst/>
          </a:prstGeom>
          <a:noFill/>
        </p:spPr>
        <p:txBody>
          <a:bodyPr wrap="none" lIns="0" rIns="0" tIns="0" bIns="0">
            <a:spAutoFit/>
          </a:bodyPr>
          <a:lstStyle/>
          <a:p>
            <a:r>
              <a:rPr sz="1100" b="0">
                <a:solidFill>
                  <a:srgbClr val="2E2E2E"/>
                </a:solidFill>
                <a:latin typeface="Calibri"/>
              </a:rPr>
              <a:t>year on year to</a:t>
            </a:r>
          </a:p>
        </p:txBody>
      </p:sp>
      <p:pic>
        <p:nvPicPr>
          <p:cNvPr id="37" name="Picture 36" descr="lock.png"/>
          <p:cNvPicPr>
            <a:picLocks noChangeAspect="1"/>
          </p:cNvPicPr>
          <p:nvPr/>
        </p:nvPicPr>
        <p:blipFill>
          <a:blip r:embed="rId4"/>
          <a:stretch>
            <a:fillRect/>
          </a:stretch>
        </p:blipFill>
        <p:spPr>
          <a:xfrm>
            <a:off x="6259214" y="1788160"/>
            <a:ext cx="128699" cy="187198"/>
          </a:xfrm>
          <a:prstGeom prst="rect">
            <a:avLst/>
          </a:prstGeom>
        </p:spPr>
      </p:pic>
      <p:sp>
        <p:nvSpPr>
          <p:cNvPr id="38" name="TextBox 37"/>
          <p:cNvSpPr txBox="1"/>
          <p:nvPr/>
        </p:nvSpPr>
        <p:spPr>
          <a:xfrm>
            <a:off x="6426710" y="1797939"/>
            <a:ext cx="5291211" cy="186689"/>
          </a:xfrm>
          <a:prstGeom prst="rect">
            <a:avLst/>
          </a:prstGeom>
          <a:noFill/>
        </p:spPr>
        <p:txBody>
          <a:bodyPr wrap="none" lIns="0" rIns="0" tIns="0" bIns="0">
            <a:spAutoFit/>
          </a:bodyPr>
          <a:lstStyle/>
          <a:p>
            <a:r>
              <a:rPr sz="1100" b="0">
                <a:solidFill>
                  <a:srgbClr val="2E2E2E"/>
                </a:solidFill>
                <a:latin typeface="Calibri"/>
              </a:rPr>
              <a:t>US$ Mn, the steepest single-year move of the 2021–2025 period. Demand for 'Capsules and</a:t>
            </a:r>
          </a:p>
        </p:txBody>
      </p:sp>
      <p:sp>
        <p:nvSpPr>
          <p:cNvPr id="39" name="TextBox 38"/>
          <p:cNvSpPr txBox="1"/>
          <p:nvPr/>
        </p:nvSpPr>
        <p:spPr>
          <a:xfrm>
            <a:off x="1743075" y="1965579"/>
            <a:ext cx="556418" cy="186689"/>
          </a:xfrm>
          <a:prstGeom prst="rect">
            <a:avLst/>
          </a:prstGeom>
          <a:noFill/>
        </p:spPr>
        <p:txBody>
          <a:bodyPr wrap="none" lIns="0" rIns="0" tIns="0" bIns="0">
            <a:spAutoFit/>
          </a:bodyPr>
          <a:lstStyle/>
          <a:p>
            <a:r>
              <a:rPr sz="1100" b="0">
                <a:solidFill>
                  <a:srgbClr val="2E2E2E"/>
                </a:solidFill>
                <a:latin typeface="Calibri"/>
              </a:rPr>
              <a:t>Softgels'</a:t>
            </a:r>
          </a:p>
        </p:txBody>
      </p:sp>
      <p:pic>
        <p:nvPicPr>
          <p:cNvPr id="40" name="Picture 39" descr="lock.png"/>
          <p:cNvPicPr>
            <a:picLocks noChangeAspect="1"/>
          </p:cNvPicPr>
          <p:nvPr/>
        </p:nvPicPr>
        <p:blipFill>
          <a:blip r:embed="rId4"/>
          <a:stretch>
            <a:fillRect/>
          </a:stretch>
        </p:blipFill>
        <p:spPr>
          <a:xfrm>
            <a:off x="2247545" y="1955800"/>
            <a:ext cx="128699" cy="187198"/>
          </a:xfrm>
          <a:prstGeom prst="rect">
            <a:avLst/>
          </a:prstGeom>
        </p:spPr>
      </p:pic>
      <p:sp>
        <p:nvSpPr>
          <p:cNvPr id="41" name="TextBox 40"/>
          <p:cNvSpPr txBox="1"/>
          <p:nvPr/>
        </p:nvSpPr>
        <p:spPr>
          <a:xfrm>
            <a:off x="2415041" y="1965579"/>
            <a:ext cx="7310040" cy="186689"/>
          </a:xfrm>
          <a:prstGeom prst="rect">
            <a:avLst/>
          </a:prstGeom>
          <a:noFill/>
        </p:spPr>
        <p:txBody>
          <a:bodyPr wrap="none" lIns="0" rIns="0" tIns="0" bIns="0">
            <a:spAutoFit/>
          </a:bodyPr>
          <a:lstStyle/>
          <a:p>
            <a:r>
              <a:rPr sz="1100" b="0">
                <a:solidFill>
                  <a:srgbClr val="2E2E2E"/>
                </a:solidFill>
                <a:latin typeface="Calibri"/>
              </a:rPr>
              <a:t>of form type value by 2036 set the pace, and the 4 end-use application routes tracked here all carried volume through the year.</a:t>
            </a:r>
          </a:p>
        </p:txBody>
      </p:sp>
      <p:sp>
        <p:nvSpPr>
          <p:cNvPr id="42" name="TextBox 41"/>
          <p:cNvSpPr txBox="1"/>
          <p:nvPr/>
        </p:nvSpPr>
        <p:spPr>
          <a:xfrm>
            <a:off x="1743075" y="2945502"/>
            <a:ext cx="3340465" cy="179984"/>
          </a:xfrm>
          <a:prstGeom prst="rect">
            <a:avLst/>
          </a:prstGeom>
          <a:noFill/>
        </p:spPr>
        <p:txBody>
          <a:bodyPr wrap="none" lIns="0" rIns="0" tIns="0" bIns="0">
            <a:spAutoFit/>
          </a:bodyPr>
          <a:lstStyle/>
          <a:p>
            <a:r>
              <a:rPr sz="1055" b="0">
                <a:solidFill>
                  <a:srgbClr val="2E2E2E"/>
                </a:solidFill>
                <a:latin typeface="Calibri"/>
              </a:rPr>
              <a:t>Base year for the forecast: the global market is estimated at</a:t>
            </a:r>
          </a:p>
        </p:txBody>
      </p:sp>
      <p:pic>
        <p:nvPicPr>
          <p:cNvPr id="43" name="Picture 42" descr="lock.png"/>
          <p:cNvPicPr>
            <a:picLocks noChangeAspect="1"/>
          </p:cNvPicPr>
          <p:nvPr/>
        </p:nvPicPr>
        <p:blipFill>
          <a:blip r:embed="rId4"/>
          <a:stretch>
            <a:fillRect/>
          </a:stretch>
        </p:blipFill>
        <p:spPr>
          <a:xfrm>
            <a:off x="5030621" y="2936114"/>
            <a:ext cx="123551" cy="179710"/>
          </a:xfrm>
          <a:prstGeom prst="rect">
            <a:avLst/>
          </a:prstGeom>
        </p:spPr>
      </p:pic>
      <p:sp>
        <p:nvSpPr>
          <p:cNvPr id="44" name="TextBox 43"/>
          <p:cNvSpPr txBox="1"/>
          <p:nvPr/>
        </p:nvSpPr>
        <p:spPr>
          <a:xfrm>
            <a:off x="5191417" y="2945502"/>
            <a:ext cx="1825680" cy="179984"/>
          </a:xfrm>
          <a:prstGeom prst="rect">
            <a:avLst/>
          </a:prstGeom>
          <a:noFill/>
        </p:spPr>
        <p:txBody>
          <a:bodyPr wrap="none" lIns="0" rIns="0" tIns="0" bIns="0">
            <a:spAutoFit/>
          </a:bodyPr>
          <a:lstStyle/>
          <a:p>
            <a:r>
              <a:rPr sz="1055" b="0">
                <a:solidFill>
                  <a:srgbClr val="2E2E2E"/>
                </a:solidFill>
                <a:latin typeface="Calibri"/>
              </a:rPr>
              <a:t>US$ Mn, having compounded at</a:t>
            </a:r>
          </a:p>
        </p:txBody>
      </p:sp>
      <p:pic>
        <p:nvPicPr>
          <p:cNvPr id="45" name="Picture 44" descr="lock.png"/>
          <p:cNvPicPr>
            <a:picLocks noChangeAspect="1"/>
          </p:cNvPicPr>
          <p:nvPr/>
        </p:nvPicPr>
        <p:blipFill>
          <a:blip r:embed="rId4"/>
          <a:stretch>
            <a:fillRect/>
          </a:stretch>
        </p:blipFill>
        <p:spPr>
          <a:xfrm>
            <a:off x="6964179" y="2936114"/>
            <a:ext cx="123551" cy="179710"/>
          </a:xfrm>
          <a:prstGeom prst="rect">
            <a:avLst/>
          </a:prstGeom>
        </p:spPr>
      </p:pic>
      <p:sp>
        <p:nvSpPr>
          <p:cNvPr id="46" name="TextBox 45"/>
          <p:cNvSpPr txBox="1"/>
          <p:nvPr/>
        </p:nvSpPr>
        <p:spPr>
          <a:xfrm>
            <a:off x="7124975" y="2945502"/>
            <a:ext cx="2310788" cy="179984"/>
          </a:xfrm>
          <a:prstGeom prst="rect">
            <a:avLst/>
          </a:prstGeom>
          <a:noFill/>
        </p:spPr>
        <p:txBody>
          <a:bodyPr wrap="none" lIns="0" rIns="0" tIns="0" bIns="0">
            <a:spAutoFit/>
          </a:bodyPr>
          <a:lstStyle/>
          <a:p>
            <a:r>
              <a:rPr sz="1055" b="0">
                <a:solidFill>
                  <a:srgbClr val="2E2E2E"/>
                </a:solidFill>
                <a:latin typeface="Calibri"/>
              </a:rPr>
              <a:t>across 2021–2025. 'North America' holds</a:t>
            </a:r>
          </a:p>
        </p:txBody>
      </p:sp>
      <p:pic>
        <p:nvPicPr>
          <p:cNvPr id="47" name="Picture 46" descr="lock.png"/>
          <p:cNvPicPr>
            <a:picLocks noChangeAspect="1"/>
          </p:cNvPicPr>
          <p:nvPr/>
        </p:nvPicPr>
        <p:blipFill>
          <a:blip r:embed="rId4"/>
          <a:stretch>
            <a:fillRect/>
          </a:stretch>
        </p:blipFill>
        <p:spPr>
          <a:xfrm>
            <a:off x="9382846" y="2936114"/>
            <a:ext cx="123551" cy="179710"/>
          </a:xfrm>
          <a:prstGeom prst="rect">
            <a:avLst/>
          </a:prstGeom>
        </p:spPr>
      </p:pic>
      <p:sp>
        <p:nvSpPr>
          <p:cNvPr id="48" name="TextBox 47"/>
          <p:cNvSpPr txBox="1"/>
          <p:nvPr/>
        </p:nvSpPr>
        <p:spPr>
          <a:xfrm>
            <a:off x="9543642" y="2945502"/>
            <a:ext cx="1896665" cy="179984"/>
          </a:xfrm>
          <a:prstGeom prst="rect">
            <a:avLst/>
          </a:prstGeom>
          <a:noFill/>
        </p:spPr>
        <p:txBody>
          <a:bodyPr wrap="none" lIns="0" rIns="0" tIns="0" bIns="0">
            <a:spAutoFit/>
          </a:bodyPr>
          <a:lstStyle/>
          <a:p>
            <a:r>
              <a:rPr sz="1055" b="0">
                <a:solidFill>
                  <a:srgbClr val="2E2E2E"/>
                </a:solidFill>
                <a:latin typeface="Calibri"/>
              </a:rPr>
              <a:t>of value across 6 regions, and the</a:t>
            </a:r>
          </a:p>
        </p:txBody>
      </p:sp>
      <p:sp>
        <p:nvSpPr>
          <p:cNvPr id="49" name="TextBox 48"/>
          <p:cNvSpPr txBox="1"/>
          <p:nvPr/>
        </p:nvSpPr>
        <p:spPr>
          <a:xfrm>
            <a:off x="1743075" y="3106436"/>
            <a:ext cx="3988236" cy="179984"/>
          </a:xfrm>
          <a:prstGeom prst="rect">
            <a:avLst/>
          </a:prstGeom>
          <a:noFill/>
        </p:spPr>
        <p:txBody>
          <a:bodyPr wrap="none" lIns="0" rIns="0" tIns="0" bIns="0">
            <a:spAutoFit/>
          </a:bodyPr>
          <a:lstStyle/>
          <a:p>
            <a:r>
              <a:rPr sz="1055" b="0">
                <a:solidFill>
                  <a:srgbClr val="2E2E2E"/>
                </a:solidFill>
                <a:latin typeface="Calibri"/>
              </a:rPr>
              <a:t>forecast is built from 8 segment breakdowns covering 6 form type lines.</a:t>
            </a:r>
          </a:p>
        </p:txBody>
      </p:sp>
      <p:sp>
        <p:nvSpPr>
          <p:cNvPr id="50" name="TextBox 49"/>
          <p:cNvSpPr txBox="1"/>
          <p:nvPr/>
        </p:nvSpPr>
        <p:spPr>
          <a:xfrm>
            <a:off x="1743075" y="3931201"/>
            <a:ext cx="1089374" cy="179984"/>
          </a:xfrm>
          <a:prstGeom prst="rect">
            <a:avLst/>
          </a:prstGeom>
          <a:noFill/>
        </p:spPr>
        <p:txBody>
          <a:bodyPr wrap="none" lIns="0" rIns="0" tIns="0" bIns="0">
            <a:spAutoFit/>
          </a:bodyPr>
          <a:lstStyle/>
          <a:p>
            <a:r>
              <a:rPr sz="1055" b="0">
                <a:solidFill>
                  <a:srgbClr val="2E2E2E"/>
                </a:solidFill>
                <a:latin typeface="Calibri"/>
              </a:rPr>
              <a:t>The market passes</a:t>
            </a:r>
          </a:p>
        </p:txBody>
      </p:sp>
      <p:pic>
        <p:nvPicPr>
          <p:cNvPr id="51" name="Picture 50" descr="lock.png"/>
          <p:cNvPicPr>
            <a:picLocks noChangeAspect="1"/>
          </p:cNvPicPr>
          <p:nvPr/>
        </p:nvPicPr>
        <p:blipFill>
          <a:blip r:embed="rId4"/>
          <a:stretch>
            <a:fillRect/>
          </a:stretch>
        </p:blipFill>
        <p:spPr>
          <a:xfrm>
            <a:off x="2779530" y="3921813"/>
            <a:ext cx="123551" cy="179710"/>
          </a:xfrm>
          <a:prstGeom prst="rect">
            <a:avLst/>
          </a:prstGeom>
        </p:spPr>
      </p:pic>
      <p:sp>
        <p:nvSpPr>
          <p:cNvPr id="52" name="TextBox 51"/>
          <p:cNvSpPr txBox="1"/>
          <p:nvPr/>
        </p:nvSpPr>
        <p:spPr>
          <a:xfrm>
            <a:off x="2940326" y="3931201"/>
            <a:ext cx="2945201" cy="179984"/>
          </a:xfrm>
          <a:prstGeom prst="rect">
            <a:avLst/>
          </a:prstGeom>
          <a:noFill/>
        </p:spPr>
        <p:txBody>
          <a:bodyPr wrap="none" lIns="0" rIns="0" tIns="0" bIns="0">
            <a:spAutoFit/>
          </a:bodyPr>
          <a:lstStyle/>
          <a:p>
            <a:r>
              <a:rPr sz="1055" b="0">
                <a:solidFill>
                  <a:srgbClr val="2E2E2E"/>
                </a:solidFill>
                <a:latin typeface="Calibri"/>
              </a:rPr>
              <a:t>US$ Mn one and a half times the 2026 base reaching</a:t>
            </a:r>
          </a:p>
        </p:txBody>
      </p:sp>
      <p:pic>
        <p:nvPicPr>
          <p:cNvPr id="53" name="Picture 52" descr="lock.png"/>
          <p:cNvPicPr>
            <a:picLocks noChangeAspect="1"/>
          </p:cNvPicPr>
          <p:nvPr/>
        </p:nvPicPr>
        <p:blipFill>
          <a:blip r:embed="rId4"/>
          <a:stretch>
            <a:fillRect/>
          </a:stretch>
        </p:blipFill>
        <p:spPr>
          <a:xfrm>
            <a:off x="5832609" y="3921813"/>
            <a:ext cx="123551" cy="179710"/>
          </a:xfrm>
          <a:prstGeom prst="rect">
            <a:avLst/>
          </a:prstGeom>
        </p:spPr>
      </p:pic>
      <p:sp>
        <p:nvSpPr>
          <p:cNvPr id="54" name="TextBox 53"/>
          <p:cNvSpPr txBox="1"/>
          <p:nvPr/>
        </p:nvSpPr>
        <p:spPr>
          <a:xfrm>
            <a:off x="5993405" y="3931201"/>
            <a:ext cx="2986587" cy="179984"/>
          </a:xfrm>
          <a:prstGeom prst="rect">
            <a:avLst/>
          </a:prstGeom>
          <a:noFill/>
        </p:spPr>
        <p:txBody>
          <a:bodyPr wrap="none" lIns="0" rIns="0" tIns="0" bIns="0">
            <a:spAutoFit/>
          </a:bodyPr>
          <a:lstStyle/>
          <a:p>
            <a:r>
              <a:rPr sz="1055" b="0">
                <a:solidFill>
                  <a:srgbClr val="2E2E2E"/>
                </a:solidFill>
                <a:latin typeface="Calibri"/>
              </a:rPr>
              <a:t>US$ Mn. Growth by this point is led by 'Chewables' at</a:t>
            </a:r>
          </a:p>
        </p:txBody>
      </p:sp>
      <p:pic>
        <p:nvPicPr>
          <p:cNvPr id="55" name="Picture 54" descr="lock.png"/>
          <p:cNvPicPr>
            <a:picLocks noChangeAspect="1"/>
          </p:cNvPicPr>
          <p:nvPr/>
        </p:nvPicPr>
        <p:blipFill>
          <a:blip r:embed="rId4"/>
          <a:stretch>
            <a:fillRect/>
          </a:stretch>
        </p:blipFill>
        <p:spPr>
          <a:xfrm>
            <a:off x="8927074" y="3921813"/>
            <a:ext cx="123551" cy="179710"/>
          </a:xfrm>
          <a:prstGeom prst="rect">
            <a:avLst/>
          </a:prstGeom>
        </p:spPr>
      </p:pic>
      <p:sp>
        <p:nvSpPr>
          <p:cNvPr id="56" name="TextBox 55"/>
          <p:cNvSpPr txBox="1"/>
          <p:nvPr/>
        </p:nvSpPr>
        <p:spPr>
          <a:xfrm>
            <a:off x="9087870" y="3931201"/>
            <a:ext cx="2351110" cy="179984"/>
          </a:xfrm>
          <a:prstGeom prst="rect">
            <a:avLst/>
          </a:prstGeom>
          <a:noFill/>
        </p:spPr>
        <p:txBody>
          <a:bodyPr wrap="none" lIns="0" rIns="0" tIns="0" bIns="0">
            <a:spAutoFit/>
          </a:bodyPr>
          <a:lstStyle/>
          <a:p>
            <a:r>
              <a:rPr sz="1055" b="0">
                <a:solidFill>
                  <a:srgbClr val="2E2E2E"/>
                </a:solidFill>
                <a:latin typeface="Calibri"/>
              </a:rPr>
              <a:t>CAGR and by 'South Asia &amp; Pacific' among</a:t>
            </a:r>
          </a:p>
        </p:txBody>
      </p:sp>
      <p:sp>
        <p:nvSpPr>
          <p:cNvPr id="57" name="TextBox 56"/>
          <p:cNvSpPr txBox="1"/>
          <p:nvPr/>
        </p:nvSpPr>
        <p:spPr>
          <a:xfrm>
            <a:off x="1743075" y="4092135"/>
            <a:ext cx="617100" cy="179984"/>
          </a:xfrm>
          <a:prstGeom prst="rect">
            <a:avLst/>
          </a:prstGeom>
          <a:noFill/>
        </p:spPr>
        <p:txBody>
          <a:bodyPr wrap="none" lIns="0" rIns="0" tIns="0" bIns="0">
            <a:spAutoFit/>
          </a:bodyPr>
          <a:lstStyle/>
          <a:p>
            <a:r>
              <a:rPr sz="1055" b="0">
                <a:solidFill>
                  <a:srgbClr val="2E2E2E"/>
                </a:solidFill>
                <a:latin typeface="Calibri"/>
              </a:rPr>
              <a:t>regions at</a:t>
            </a:r>
          </a:p>
        </p:txBody>
      </p:sp>
      <p:pic>
        <p:nvPicPr>
          <p:cNvPr id="58" name="Picture 57" descr="lock.png"/>
          <p:cNvPicPr>
            <a:picLocks noChangeAspect="1"/>
          </p:cNvPicPr>
          <p:nvPr/>
        </p:nvPicPr>
        <p:blipFill>
          <a:blip r:embed="rId4"/>
          <a:stretch>
            <a:fillRect/>
          </a:stretch>
        </p:blipFill>
        <p:spPr>
          <a:xfrm>
            <a:off x="2307257" y="4082747"/>
            <a:ext cx="123551" cy="179710"/>
          </a:xfrm>
          <a:prstGeom prst="rect">
            <a:avLst/>
          </a:prstGeom>
        </p:spPr>
      </p:pic>
      <p:sp>
        <p:nvSpPr>
          <p:cNvPr id="59" name="TextBox 58"/>
          <p:cNvSpPr txBox="1"/>
          <p:nvPr/>
        </p:nvSpPr>
        <p:spPr>
          <a:xfrm>
            <a:off x="2468053" y="4092135"/>
            <a:ext cx="3178063" cy="179984"/>
          </a:xfrm>
          <a:prstGeom prst="rect">
            <a:avLst/>
          </a:prstGeom>
          <a:noFill/>
        </p:spPr>
        <p:txBody>
          <a:bodyPr wrap="none" lIns="0" rIns="0" tIns="0" bIns="0">
            <a:spAutoFit/>
          </a:bodyPr>
          <a:lstStyle/>
          <a:p>
            <a:r>
              <a:rPr sz="1055" b="0">
                <a:solidFill>
                  <a:srgbClr val="2E2E2E"/>
                </a:solidFill>
                <a:latin typeface="Calibri"/>
              </a:rPr>
              <a:t>, with 3 of 6 regions running at or above the market rate.</a:t>
            </a:r>
          </a:p>
        </p:txBody>
      </p:sp>
      <p:sp>
        <p:nvSpPr>
          <p:cNvPr id="60" name="TextBox 59"/>
          <p:cNvSpPr txBox="1"/>
          <p:nvPr/>
        </p:nvSpPr>
        <p:spPr>
          <a:xfrm>
            <a:off x="1743075" y="4916901"/>
            <a:ext cx="2190297" cy="179984"/>
          </a:xfrm>
          <a:prstGeom prst="rect">
            <a:avLst/>
          </a:prstGeom>
          <a:noFill/>
        </p:spPr>
        <p:txBody>
          <a:bodyPr wrap="none" lIns="0" rIns="0" tIns="0" bIns="0">
            <a:spAutoFit/>
          </a:bodyPr>
          <a:lstStyle/>
          <a:p>
            <a:r>
              <a:rPr sz="1055" b="0">
                <a:solidFill>
                  <a:srgbClr val="2E2E2E"/>
                </a:solidFill>
                <a:latin typeface="Calibri"/>
              </a:rPr>
              <a:t>Mid-horizon checkpoint: value reaches</a:t>
            </a:r>
          </a:p>
        </p:txBody>
      </p:sp>
      <p:pic>
        <p:nvPicPr>
          <p:cNvPr id="61" name="Picture 60" descr="lock.png"/>
          <p:cNvPicPr>
            <a:picLocks noChangeAspect="1"/>
          </p:cNvPicPr>
          <p:nvPr/>
        </p:nvPicPr>
        <p:blipFill>
          <a:blip r:embed="rId4"/>
          <a:stretch>
            <a:fillRect/>
          </a:stretch>
        </p:blipFill>
        <p:spPr>
          <a:xfrm>
            <a:off x="3880454" y="4907513"/>
            <a:ext cx="123551" cy="179710"/>
          </a:xfrm>
          <a:prstGeom prst="rect">
            <a:avLst/>
          </a:prstGeom>
        </p:spPr>
      </p:pic>
      <p:sp>
        <p:nvSpPr>
          <p:cNvPr id="62" name="TextBox 61"/>
          <p:cNvSpPr txBox="1"/>
          <p:nvPr/>
        </p:nvSpPr>
        <p:spPr>
          <a:xfrm>
            <a:off x="4041250" y="4916901"/>
            <a:ext cx="541139" cy="179984"/>
          </a:xfrm>
          <a:prstGeom prst="rect">
            <a:avLst/>
          </a:prstGeom>
          <a:noFill/>
        </p:spPr>
        <p:txBody>
          <a:bodyPr wrap="none" lIns="0" rIns="0" tIns="0" bIns="0">
            <a:spAutoFit/>
          </a:bodyPr>
          <a:lstStyle/>
          <a:p>
            <a:r>
              <a:rPr sz="1055" b="0">
                <a:solidFill>
                  <a:srgbClr val="2E2E2E"/>
                </a:solidFill>
                <a:latin typeface="Calibri"/>
              </a:rPr>
              <a:t>US$ Mn,</a:t>
            </a:r>
          </a:p>
        </p:txBody>
      </p:sp>
      <p:pic>
        <p:nvPicPr>
          <p:cNvPr id="63" name="Picture 62" descr="lock.png"/>
          <p:cNvPicPr>
            <a:picLocks noChangeAspect="1"/>
          </p:cNvPicPr>
          <p:nvPr/>
        </p:nvPicPr>
        <p:blipFill>
          <a:blip r:embed="rId4"/>
          <a:stretch>
            <a:fillRect/>
          </a:stretch>
        </p:blipFill>
        <p:spPr>
          <a:xfrm>
            <a:off x="4529470" y="4907513"/>
            <a:ext cx="123551" cy="179710"/>
          </a:xfrm>
          <a:prstGeom prst="rect">
            <a:avLst/>
          </a:prstGeom>
        </p:spPr>
      </p:pic>
      <p:sp>
        <p:nvSpPr>
          <p:cNvPr id="64" name="TextBox 63"/>
          <p:cNvSpPr txBox="1"/>
          <p:nvPr/>
        </p:nvSpPr>
        <p:spPr>
          <a:xfrm>
            <a:off x="4690266" y="4916901"/>
            <a:ext cx="2581333" cy="179984"/>
          </a:xfrm>
          <a:prstGeom prst="rect">
            <a:avLst/>
          </a:prstGeom>
          <a:noFill/>
        </p:spPr>
        <p:txBody>
          <a:bodyPr wrap="none" lIns="0" rIns="0" tIns="0" bIns="0">
            <a:spAutoFit/>
          </a:bodyPr>
          <a:lstStyle/>
          <a:p>
            <a:r>
              <a:rPr sz="1055" b="0">
                <a:solidFill>
                  <a:srgbClr val="2E2E2E"/>
                </a:solidFill>
                <a:latin typeface="Calibri"/>
              </a:rPr>
              <a:t>× the 2026 base. Average realisation stands at</a:t>
            </a:r>
          </a:p>
        </p:txBody>
      </p:sp>
      <p:pic>
        <p:nvPicPr>
          <p:cNvPr id="65" name="Picture 64" descr="lock.png"/>
          <p:cNvPicPr>
            <a:picLocks noChangeAspect="1"/>
          </p:cNvPicPr>
          <p:nvPr/>
        </p:nvPicPr>
        <p:blipFill>
          <a:blip r:embed="rId4"/>
          <a:stretch>
            <a:fillRect/>
          </a:stretch>
        </p:blipFill>
        <p:spPr>
          <a:xfrm>
            <a:off x="7218681" y="4907513"/>
            <a:ext cx="123551" cy="179710"/>
          </a:xfrm>
          <a:prstGeom prst="rect">
            <a:avLst/>
          </a:prstGeom>
        </p:spPr>
      </p:pic>
      <p:sp>
        <p:nvSpPr>
          <p:cNvPr id="66" name="TextBox 65"/>
          <p:cNvSpPr txBox="1"/>
          <p:nvPr/>
        </p:nvSpPr>
        <p:spPr>
          <a:xfrm>
            <a:off x="7379477" y="4916901"/>
            <a:ext cx="1740288" cy="179984"/>
          </a:xfrm>
          <a:prstGeom prst="rect">
            <a:avLst/>
          </a:prstGeom>
          <a:noFill/>
        </p:spPr>
        <p:txBody>
          <a:bodyPr wrap="none" lIns="0" rIns="0" tIns="0" bIns="0">
            <a:spAutoFit/>
          </a:bodyPr>
          <a:lstStyle/>
          <a:p>
            <a:r>
              <a:rPr sz="1055" b="0">
                <a:solidFill>
                  <a:srgbClr val="2E2E2E"/>
                </a:solidFill>
                <a:latin typeface="Calibri"/>
              </a:rPr>
              <a:t>US$/MT, and mix has moved +</a:t>
            </a:r>
          </a:p>
        </p:txBody>
      </p:sp>
      <p:pic>
        <p:nvPicPr>
          <p:cNvPr id="67" name="Picture 66" descr="lock.png"/>
          <p:cNvPicPr>
            <a:picLocks noChangeAspect="1"/>
          </p:cNvPicPr>
          <p:nvPr/>
        </p:nvPicPr>
        <p:blipFill>
          <a:blip r:embed="rId4"/>
          <a:stretch>
            <a:fillRect/>
          </a:stretch>
        </p:blipFill>
        <p:spPr>
          <a:xfrm>
            <a:off x="9066848" y="4907513"/>
            <a:ext cx="123551" cy="179710"/>
          </a:xfrm>
          <a:prstGeom prst="rect">
            <a:avLst/>
          </a:prstGeom>
        </p:spPr>
      </p:pic>
      <p:sp>
        <p:nvSpPr>
          <p:cNvPr id="68" name="TextBox 67"/>
          <p:cNvSpPr txBox="1"/>
          <p:nvPr/>
        </p:nvSpPr>
        <p:spPr>
          <a:xfrm>
            <a:off x="9227644" y="4916901"/>
            <a:ext cx="2295072" cy="179984"/>
          </a:xfrm>
          <a:prstGeom prst="rect">
            <a:avLst/>
          </a:prstGeom>
          <a:noFill/>
        </p:spPr>
        <p:txBody>
          <a:bodyPr wrap="none" lIns="0" rIns="0" tIns="0" bIns="0">
            <a:spAutoFit/>
          </a:bodyPr>
          <a:lstStyle/>
          <a:p>
            <a:r>
              <a:rPr sz="1055" b="0">
                <a:solidFill>
                  <a:srgbClr val="2E2E2E"/>
                </a:solidFill>
                <a:latin typeface="Calibri"/>
              </a:rPr>
              <a:t>BPS toward 'Capsules and Softgels' while</a:t>
            </a:r>
          </a:p>
        </p:txBody>
      </p:sp>
      <p:sp>
        <p:nvSpPr>
          <p:cNvPr id="69" name="TextBox 68"/>
          <p:cNvSpPr txBox="1"/>
          <p:nvPr/>
        </p:nvSpPr>
        <p:spPr>
          <a:xfrm>
            <a:off x="1743075" y="5077835"/>
            <a:ext cx="1461587" cy="179984"/>
          </a:xfrm>
          <a:prstGeom prst="rect">
            <a:avLst/>
          </a:prstGeom>
          <a:noFill/>
        </p:spPr>
        <p:txBody>
          <a:bodyPr wrap="none" lIns="0" rIns="0" tIns="0" bIns="0">
            <a:spAutoFit/>
          </a:bodyPr>
          <a:lstStyle/>
          <a:p>
            <a:r>
              <a:rPr sz="1055" b="0">
                <a:solidFill>
                  <a:srgbClr val="2E2E2E"/>
                </a:solidFill>
                <a:latin typeface="Calibri"/>
              </a:rPr>
              <a:t>'Gels and Pastes' gives up</a:t>
            </a:r>
          </a:p>
        </p:txBody>
      </p:sp>
      <p:pic>
        <p:nvPicPr>
          <p:cNvPr id="70" name="Picture 69" descr="lock.png"/>
          <p:cNvPicPr>
            <a:picLocks noChangeAspect="1"/>
          </p:cNvPicPr>
          <p:nvPr/>
        </p:nvPicPr>
        <p:blipFill>
          <a:blip r:embed="rId4"/>
          <a:stretch>
            <a:fillRect/>
          </a:stretch>
        </p:blipFill>
        <p:spPr>
          <a:xfrm>
            <a:off x="3151743" y="5068447"/>
            <a:ext cx="123551" cy="179710"/>
          </a:xfrm>
          <a:prstGeom prst="rect">
            <a:avLst/>
          </a:prstGeom>
        </p:spPr>
      </p:pic>
      <p:sp>
        <p:nvSpPr>
          <p:cNvPr id="71" name="TextBox 70"/>
          <p:cNvSpPr txBox="1"/>
          <p:nvPr/>
        </p:nvSpPr>
        <p:spPr>
          <a:xfrm>
            <a:off x="3312539" y="5077835"/>
            <a:ext cx="314039" cy="179984"/>
          </a:xfrm>
          <a:prstGeom prst="rect">
            <a:avLst/>
          </a:prstGeom>
          <a:noFill/>
        </p:spPr>
        <p:txBody>
          <a:bodyPr wrap="none" lIns="0" rIns="0" tIns="0" bIns="0">
            <a:spAutoFit/>
          </a:bodyPr>
          <a:lstStyle/>
          <a:p>
            <a:r>
              <a:rPr sz="1055" b="0">
                <a:solidFill>
                  <a:srgbClr val="2E2E2E"/>
                </a:solidFill>
                <a:latin typeface="Calibri"/>
              </a:rPr>
              <a:t>BPS.</a:t>
            </a:r>
          </a:p>
        </p:txBody>
      </p:sp>
      <p:sp>
        <p:nvSpPr>
          <p:cNvPr id="72" name="TextBox 71"/>
          <p:cNvSpPr txBox="1"/>
          <p:nvPr/>
        </p:nvSpPr>
        <p:spPr>
          <a:xfrm>
            <a:off x="1743075" y="5902601"/>
            <a:ext cx="2544146" cy="179984"/>
          </a:xfrm>
          <a:prstGeom prst="rect">
            <a:avLst/>
          </a:prstGeom>
          <a:noFill/>
        </p:spPr>
        <p:txBody>
          <a:bodyPr wrap="none" lIns="0" rIns="0" tIns="0" bIns="0">
            <a:spAutoFit/>
          </a:bodyPr>
          <a:lstStyle/>
          <a:p>
            <a:r>
              <a:rPr sz="1055" b="0">
                <a:solidFill>
                  <a:srgbClr val="2E2E2E"/>
                </a:solidFill>
                <a:latin typeface="Calibri"/>
              </a:rPr>
              <a:t>Forecast outcome: the global market reaches</a:t>
            </a:r>
          </a:p>
        </p:txBody>
      </p:sp>
      <p:pic>
        <p:nvPicPr>
          <p:cNvPr id="73" name="Picture 72" descr="lock.png"/>
          <p:cNvPicPr>
            <a:picLocks noChangeAspect="1"/>
          </p:cNvPicPr>
          <p:nvPr/>
        </p:nvPicPr>
        <p:blipFill>
          <a:blip r:embed="rId4"/>
          <a:stretch>
            <a:fillRect/>
          </a:stretch>
        </p:blipFill>
        <p:spPr>
          <a:xfrm>
            <a:off x="4234303" y="5893213"/>
            <a:ext cx="123551" cy="179710"/>
          </a:xfrm>
          <a:prstGeom prst="rect">
            <a:avLst/>
          </a:prstGeom>
        </p:spPr>
      </p:pic>
      <p:sp>
        <p:nvSpPr>
          <p:cNvPr id="74" name="TextBox 73"/>
          <p:cNvSpPr txBox="1"/>
          <p:nvPr/>
        </p:nvSpPr>
        <p:spPr>
          <a:xfrm>
            <a:off x="4395098" y="5902601"/>
            <a:ext cx="635698" cy="179984"/>
          </a:xfrm>
          <a:prstGeom prst="rect">
            <a:avLst/>
          </a:prstGeom>
          <a:noFill/>
        </p:spPr>
        <p:txBody>
          <a:bodyPr wrap="none" lIns="0" rIns="0" tIns="0" bIns="0">
            <a:spAutoFit/>
          </a:bodyPr>
          <a:lstStyle/>
          <a:p>
            <a:r>
              <a:rPr sz="1055" b="0">
                <a:solidFill>
                  <a:srgbClr val="2E2E2E"/>
                </a:solidFill>
                <a:latin typeface="Calibri"/>
              </a:rPr>
              <a:t>US$ Mn, a</a:t>
            </a:r>
          </a:p>
        </p:txBody>
      </p:sp>
      <p:pic>
        <p:nvPicPr>
          <p:cNvPr id="75" name="Picture 74" descr="lock.png"/>
          <p:cNvPicPr>
            <a:picLocks noChangeAspect="1"/>
          </p:cNvPicPr>
          <p:nvPr/>
        </p:nvPicPr>
        <p:blipFill>
          <a:blip r:embed="rId4"/>
          <a:stretch>
            <a:fillRect/>
          </a:stretch>
        </p:blipFill>
        <p:spPr>
          <a:xfrm>
            <a:off x="4977879" y="5893213"/>
            <a:ext cx="123551" cy="179710"/>
          </a:xfrm>
          <a:prstGeom prst="rect">
            <a:avLst/>
          </a:prstGeom>
        </p:spPr>
      </p:pic>
      <p:sp>
        <p:nvSpPr>
          <p:cNvPr id="76" name="TextBox 75"/>
          <p:cNvSpPr txBox="1"/>
          <p:nvPr/>
        </p:nvSpPr>
        <p:spPr>
          <a:xfrm>
            <a:off x="5138675" y="5902601"/>
            <a:ext cx="1437751" cy="179984"/>
          </a:xfrm>
          <a:prstGeom prst="rect">
            <a:avLst/>
          </a:prstGeom>
          <a:noFill/>
        </p:spPr>
        <p:txBody>
          <a:bodyPr wrap="none" lIns="0" rIns="0" tIns="0" bIns="0">
            <a:spAutoFit/>
          </a:bodyPr>
          <a:lstStyle/>
          <a:p>
            <a:r>
              <a:rPr sz="1055" b="0">
                <a:solidFill>
                  <a:srgbClr val="2E2E2E"/>
                </a:solidFill>
                <a:latin typeface="Calibri"/>
              </a:rPr>
              <a:t>× expansion on 2026 and</a:t>
            </a:r>
          </a:p>
        </p:txBody>
      </p:sp>
      <p:pic>
        <p:nvPicPr>
          <p:cNvPr id="77" name="Picture 76" descr="lock.png"/>
          <p:cNvPicPr>
            <a:picLocks noChangeAspect="1"/>
          </p:cNvPicPr>
          <p:nvPr/>
        </p:nvPicPr>
        <p:blipFill>
          <a:blip r:embed="rId4"/>
          <a:stretch>
            <a:fillRect/>
          </a:stretch>
        </p:blipFill>
        <p:spPr>
          <a:xfrm>
            <a:off x="6523507" y="5893213"/>
            <a:ext cx="123551" cy="179710"/>
          </a:xfrm>
          <a:prstGeom prst="rect">
            <a:avLst/>
          </a:prstGeom>
        </p:spPr>
      </p:pic>
      <p:sp>
        <p:nvSpPr>
          <p:cNvPr id="78" name="TextBox 77"/>
          <p:cNvSpPr txBox="1"/>
          <p:nvPr/>
        </p:nvSpPr>
        <p:spPr>
          <a:xfrm>
            <a:off x="6684303" y="5902601"/>
            <a:ext cx="1799224" cy="179984"/>
          </a:xfrm>
          <a:prstGeom prst="rect">
            <a:avLst/>
          </a:prstGeom>
          <a:noFill/>
        </p:spPr>
        <p:txBody>
          <a:bodyPr wrap="none" lIns="0" rIns="0" tIns="0" bIns="0">
            <a:spAutoFit/>
          </a:bodyPr>
          <a:lstStyle/>
          <a:p>
            <a:r>
              <a:rPr sz="1055" b="0">
                <a:solidFill>
                  <a:srgbClr val="2E2E2E"/>
                </a:solidFill>
                <a:latin typeface="Calibri"/>
              </a:rPr>
              <a:t>US$ Mn of incremental value at</a:t>
            </a:r>
          </a:p>
        </p:txBody>
      </p:sp>
      <p:pic>
        <p:nvPicPr>
          <p:cNvPr id="79" name="Picture 78" descr="lock.png"/>
          <p:cNvPicPr>
            <a:picLocks noChangeAspect="1"/>
          </p:cNvPicPr>
          <p:nvPr/>
        </p:nvPicPr>
        <p:blipFill>
          <a:blip r:embed="rId4"/>
          <a:stretch>
            <a:fillRect/>
          </a:stretch>
        </p:blipFill>
        <p:spPr>
          <a:xfrm>
            <a:off x="8430610" y="5893213"/>
            <a:ext cx="123551" cy="179710"/>
          </a:xfrm>
          <a:prstGeom prst="rect">
            <a:avLst/>
          </a:prstGeom>
        </p:spPr>
      </p:pic>
      <p:sp>
        <p:nvSpPr>
          <p:cNvPr id="80" name="TextBox 79"/>
          <p:cNvSpPr txBox="1"/>
          <p:nvPr/>
        </p:nvSpPr>
        <p:spPr>
          <a:xfrm>
            <a:off x="8591406" y="5902601"/>
            <a:ext cx="1678717" cy="179984"/>
          </a:xfrm>
          <a:prstGeom prst="rect">
            <a:avLst/>
          </a:prstGeom>
          <a:noFill/>
        </p:spPr>
        <p:txBody>
          <a:bodyPr wrap="none" lIns="0" rIns="0" tIns="0" bIns="0">
            <a:spAutoFit/>
          </a:bodyPr>
          <a:lstStyle/>
          <a:p>
            <a:r>
              <a:rPr sz="1055" b="0">
                <a:solidFill>
                  <a:srgbClr val="2E2E2E"/>
                </a:solidFill>
                <a:latin typeface="Calibri"/>
              </a:rPr>
              <a:t>CAGR. Volume compounds at</a:t>
            </a:r>
          </a:p>
        </p:txBody>
      </p:sp>
      <p:pic>
        <p:nvPicPr>
          <p:cNvPr id="81" name="Picture 80" descr="lock.png"/>
          <p:cNvPicPr>
            <a:picLocks noChangeAspect="1"/>
          </p:cNvPicPr>
          <p:nvPr/>
        </p:nvPicPr>
        <p:blipFill>
          <a:blip r:embed="rId4"/>
          <a:stretch>
            <a:fillRect/>
          </a:stretch>
        </p:blipFill>
        <p:spPr>
          <a:xfrm>
            <a:off x="10217204" y="5893213"/>
            <a:ext cx="123551" cy="179710"/>
          </a:xfrm>
          <a:prstGeom prst="rect">
            <a:avLst/>
          </a:prstGeom>
        </p:spPr>
      </p:pic>
      <p:sp>
        <p:nvSpPr>
          <p:cNvPr id="82" name="TextBox 81"/>
          <p:cNvSpPr txBox="1"/>
          <p:nvPr/>
        </p:nvSpPr>
        <p:spPr>
          <a:xfrm>
            <a:off x="10378000" y="5902601"/>
            <a:ext cx="854678" cy="179984"/>
          </a:xfrm>
          <a:prstGeom prst="rect">
            <a:avLst/>
          </a:prstGeom>
          <a:noFill/>
        </p:spPr>
        <p:txBody>
          <a:bodyPr wrap="none" lIns="0" rIns="0" tIns="0" bIns="0">
            <a:spAutoFit/>
          </a:bodyPr>
          <a:lstStyle/>
          <a:p>
            <a:r>
              <a:rPr sz="1055" b="0">
                <a:solidFill>
                  <a:srgbClr val="2E2E2E"/>
                </a:solidFill>
                <a:latin typeface="Calibri"/>
              </a:rPr>
              <a:t>over the same</a:t>
            </a:r>
          </a:p>
        </p:txBody>
      </p:sp>
      <p:sp>
        <p:nvSpPr>
          <p:cNvPr id="83" name="TextBox 82"/>
          <p:cNvSpPr txBox="1"/>
          <p:nvPr/>
        </p:nvSpPr>
        <p:spPr>
          <a:xfrm>
            <a:off x="1743075" y="6063535"/>
            <a:ext cx="1565052" cy="179984"/>
          </a:xfrm>
          <a:prstGeom prst="rect">
            <a:avLst/>
          </a:prstGeom>
          <a:noFill/>
        </p:spPr>
        <p:txBody>
          <a:bodyPr wrap="none" lIns="0" rIns="0" tIns="0" bIns="0">
            <a:spAutoFit/>
          </a:bodyPr>
          <a:lstStyle/>
          <a:p>
            <a:r>
              <a:rPr sz="1055" b="0">
                <a:solidFill>
                  <a:srgbClr val="2E2E2E"/>
                </a:solidFill>
                <a:latin typeface="Calibri"/>
              </a:rPr>
              <a:t>window, leaving realisation</a:t>
            </a:r>
          </a:p>
        </p:txBody>
      </p:sp>
      <p:pic>
        <p:nvPicPr>
          <p:cNvPr id="84" name="Picture 83" descr="lock.png"/>
          <p:cNvPicPr>
            <a:picLocks noChangeAspect="1"/>
          </p:cNvPicPr>
          <p:nvPr/>
        </p:nvPicPr>
        <p:blipFill>
          <a:blip r:embed="rId4"/>
          <a:stretch>
            <a:fillRect/>
          </a:stretch>
        </p:blipFill>
        <p:spPr>
          <a:xfrm>
            <a:off x="3255209" y="6054147"/>
            <a:ext cx="123551" cy="179710"/>
          </a:xfrm>
          <a:prstGeom prst="rect">
            <a:avLst/>
          </a:prstGeom>
        </p:spPr>
      </p:pic>
      <p:sp>
        <p:nvSpPr>
          <p:cNvPr id="85" name="TextBox 84"/>
          <p:cNvSpPr txBox="1"/>
          <p:nvPr/>
        </p:nvSpPr>
        <p:spPr>
          <a:xfrm>
            <a:off x="3416005" y="6063535"/>
            <a:ext cx="4255412" cy="179984"/>
          </a:xfrm>
          <a:prstGeom prst="rect">
            <a:avLst/>
          </a:prstGeom>
          <a:noFill/>
        </p:spPr>
        <p:txBody>
          <a:bodyPr wrap="none" lIns="0" rIns="0" tIns="0" bIns="0">
            <a:spAutoFit/>
          </a:bodyPr>
          <a:lstStyle/>
          <a:p>
            <a:r>
              <a:rPr sz="1055" b="0">
                <a:solidFill>
                  <a:srgbClr val="2E2E2E"/>
                </a:solidFill>
                <a:latin typeface="Calibri"/>
              </a:rPr>
              <a:t>a year the gap between the two is the premiumisation the forecast assumes.</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Porter's Five Forces Analysis Global Senior Dog Cognitive Supplement Market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supplier power, buyer power, competition, substitutes and entry barriers shaping the market's profitability</a:t>
            </a:r>
          </a:p>
        </p:txBody>
      </p:sp>
      <p:sp>
        <p:nvSpPr>
          <p:cNvPr id="10" name="TextBox 9"/>
          <p:cNvSpPr txBox="1"/>
          <p:nvPr/>
        </p:nvSpPr>
        <p:spPr>
          <a:xfrm>
            <a:off x="142875" y="989007"/>
            <a:ext cx="11906250" cy="328567"/>
          </a:xfrm>
          <a:prstGeom prst="rect">
            <a:avLst/>
          </a:prstGeom>
          <a:noFill/>
        </p:spPr>
        <p:txBody>
          <a:bodyPr wrap="square" lIns="28575" rIns="28575" tIns="9525" bIns="9525" anchor="ctr">
            <a:spAutoFit/>
          </a:bodyPr>
          <a:lstStyle/>
          <a:p>
            <a:pPr algn="l">
              <a:lnSpc>
                <a:spcPct val="115000"/>
              </a:lnSpc>
            </a:pPr>
            <a:r>
              <a:rPr sz="1100" b="0">
                <a:solidFill>
                  <a:srgbClr val="6C7A89"/>
                </a:solidFill>
                <a:latin typeface="Calibri"/>
              </a:rPr>
              <a:t/>
            </a:r>
          </a:p>
        </p:txBody>
      </p:sp>
      <p:sp>
        <p:nvSpPr>
          <p:cNvPr id="11" name="Oval 10"/>
          <p:cNvSpPr/>
          <p:nvPr/>
        </p:nvSpPr>
        <p:spPr>
          <a:xfrm>
            <a:off x="876300" y="1427096"/>
            <a:ext cx="914400" cy="876177"/>
          </a:xfrm>
          <a:prstGeom prst="ellipse">
            <a:avLst/>
          </a:prstGeom>
          <a:solidFill>
            <a:srgbClr val="F2D24B"/>
          </a:solidFill>
          <a:ln w="12700">
            <a:solidFill>
              <a:srgbClr val="F2D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7750" y="1664394"/>
            <a:ext cx="571500" cy="401581"/>
          </a:xfrm>
          <a:prstGeom prst="rect">
            <a:avLst/>
          </a:prstGeom>
          <a:noFill/>
        </p:spPr>
        <p:txBody>
          <a:bodyPr wrap="none" lIns="0" rIns="0" tIns="0" bIns="0" anchor="ctr">
            <a:spAutoFit/>
          </a:bodyPr>
          <a:lstStyle/>
          <a:p>
            <a:pPr algn="ctr"/>
            <a:r>
              <a:rPr sz="3400" b="1">
                <a:solidFill>
                  <a:srgbClr val="8A6A00"/>
                </a:solidFill>
                <a:latin typeface="Calibri"/>
              </a:rPr>
              <a:t>$</a:t>
            </a:r>
          </a:p>
        </p:txBody>
      </p:sp>
      <p:sp>
        <p:nvSpPr>
          <p:cNvPr id="13" name="TextBox 12"/>
          <p:cNvSpPr txBox="1"/>
          <p:nvPr/>
        </p:nvSpPr>
        <p:spPr>
          <a:xfrm>
            <a:off x="219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Suppliers</a:t>
            </a:r>
          </a:p>
        </p:txBody>
      </p:sp>
      <p:sp>
        <p:nvSpPr>
          <p:cNvPr id="14" name="TextBox 13"/>
          <p:cNvSpPr txBox="1"/>
          <p:nvPr/>
        </p:nvSpPr>
        <p:spPr>
          <a:xfrm>
            <a:off x="247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5" name="TextBox 14"/>
          <p:cNvSpPr txBox="1"/>
          <p:nvPr/>
        </p:nvSpPr>
        <p:spPr>
          <a:xfrm>
            <a:off x="247650" y="3663174"/>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6" name="TextBox 15"/>
          <p:cNvSpPr txBox="1"/>
          <p:nvPr/>
        </p:nvSpPr>
        <p:spPr>
          <a:xfrm>
            <a:off x="247650" y="4530225"/>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Buyers can rebalance across 6 form type lines, which caps supplier leverage in commodity grades.</a:t>
            </a:r>
          </a:p>
        </p:txBody>
      </p:sp>
      <p:sp>
        <p:nvSpPr>
          <p:cNvPr id="17" name="Oval 16"/>
          <p:cNvSpPr/>
          <p:nvPr/>
        </p:nvSpPr>
        <p:spPr>
          <a:xfrm>
            <a:off x="3257550" y="1427096"/>
            <a:ext cx="914400" cy="876177"/>
          </a:xfrm>
          <a:prstGeom prst="ellipse">
            <a:avLst/>
          </a:prstGeom>
          <a:solidFill>
            <a:srgbClr val="D9D9D9"/>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3476625" y="1710028"/>
            <a:ext cx="152400" cy="209918"/>
          </a:xfrm>
          <a:custGeom>
            <a:avLst/>
            <a:gdLst/>
            <a:ahLst/>
            <a:cxnLst/>
            <a:rect l="l" t="t" r="r" b="b"/>
            <a:pathLst>
              <a:path w="16" h="23">
                <a:moveTo>
                  <a:pt x="0" y="0"/>
                </a:moveTo>
                <a:lnTo>
                  <a:pt x="8" y="0"/>
                </a:lnTo>
                <a:lnTo>
                  <a:pt x="16" y="23"/>
                </a:lnTo>
              </a:path>
            </a:pathLst>
          </a:custGeom>
          <a:noFill/>
          <a:ln w="4318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3609975" y="1783043"/>
            <a:ext cx="342900" cy="155156"/>
          </a:xfrm>
          <a:custGeom>
            <a:avLst/>
            <a:gdLst/>
            <a:ahLst/>
            <a:cxnLst/>
            <a:rect l="l" t="t" r="r" b="b"/>
            <a:pathLst>
              <a:path w="36" h="17">
                <a:moveTo>
                  <a:pt x="0" y="0"/>
                </a:moveTo>
                <a:lnTo>
                  <a:pt x="36" y="0"/>
                </a:lnTo>
                <a:lnTo>
                  <a:pt x="31" y="17"/>
                </a:lnTo>
                <a:lnTo>
                  <a:pt x="5" y="17"/>
                </a:lnTo>
                <a:close/>
              </a:path>
            </a:pathLst>
          </a:cu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48075"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829050"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003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Buyers</a:t>
            </a:r>
          </a:p>
        </p:txBody>
      </p:sp>
      <p:sp>
        <p:nvSpPr>
          <p:cNvPr id="23" name="TextBox 22"/>
          <p:cNvSpPr txBox="1"/>
          <p:nvPr/>
        </p:nvSpPr>
        <p:spPr>
          <a:xfrm>
            <a:off x="2628900" y="2796123"/>
            <a:ext cx="2171700" cy="1341647"/>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4" name="TextBox 23"/>
          <p:cNvSpPr txBox="1"/>
          <p:nvPr/>
        </p:nvSpPr>
        <p:spPr>
          <a:xfrm>
            <a:off x="2628900" y="4229039"/>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5" name="TextBox 24"/>
          <p:cNvSpPr txBox="1"/>
          <p:nvPr/>
        </p:nvSpPr>
        <p:spPr>
          <a:xfrm>
            <a:off x="2628900" y="4913552"/>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Switching is easiest where 6 comparable form type lines compete for the same demand.</a:t>
            </a:r>
          </a:p>
        </p:txBody>
      </p:sp>
      <p:sp>
        <p:nvSpPr>
          <p:cNvPr id="26" name="Oval 25"/>
          <p:cNvSpPr/>
          <p:nvPr/>
        </p:nvSpPr>
        <p:spPr>
          <a:xfrm>
            <a:off x="5638800" y="1427096"/>
            <a:ext cx="914400" cy="876177"/>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876925" y="1655267"/>
            <a:ext cx="438150" cy="419835"/>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943600" y="1719155"/>
            <a:ext cx="304800" cy="292059"/>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010275" y="1783043"/>
            <a:ext cx="171450" cy="164283"/>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062662" y="1833240"/>
            <a:ext cx="66675" cy="63888"/>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6134100" y="1627887"/>
            <a:ext cx="209550" cy="200791"/>
          </a:xfrm>
          <a:custGeom>
            <a:avLst/>
            <a:gdLst/>
            <a:ahLst/>
            <a:cxnLst/>
            <a:rect l="l" t="t" r="r" b="b"/>
            <a:pathLst>
              <a:path w="22" h="22">
                <a:moveTo>
                  <a:pt x="0" y="22"/>
                </a:moveTo>
                <a:lnTo>
                  <a:pt x="22" y="0"/>
                </a:lnTo>
              </a:path>
            </a:pathLst>
          </a:custGeom>
          <a:noFill/>
          <a:ln w="381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6267450" y="1591379"/>
            <a:ext cx="114300" cy="109522"/>
          </a:xfrm>
          <a:custGeom>
            <a:avLst/>
            <a:gdLst/>
            <a:ahLst/>
            <a:cxnLst/>
            <a:rect l="l" t="t" r="r" b="b"/>
            <a:pathLst>
              <a:path w="12" h="12">
                <a:moveTo>
                  <a:pt x="0" y="0"/>
                </a:moveTo>
                <a:lnTo>
                  <a:pt x="12" y="0"/>
                </a:lnTo>
                <a:lnTo>
                  <a:pt x="12" y="12"/>
                </a:lnTo>
                <a:close/>
              </a:path>
            </a:pathLst>
          </a:cu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815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Intensity of Competition</a:t>
            </a:r>
          </a:p>
        </p:txBody>
      </p:sp>
      <p:sp>
        <p:nvSpPr>
          <p:cNvPr id="34" name="TextBox 33"/>
          <p:cNvSpPr txBox="1"/>
          <p:nvPr/>
        </p:nvSpPr>
        <p:spPr>
          <a:xfrm>
            <a:off x="5010150" y="2796123"/>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5" name="TextBox 34"/>
          <p:cNvSpPr txBox="1"/>
          <p:nvPr/>
        </p:nvSpPr>
        <p:spPr>
          <a:xfrm>
            <a:off x="5010150" y="3480637"/>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6" name="TextBox 35"/>
          <p:cNvSpPr txBox="1"/>
          <p:nvPr/>
        </p:nvSpPr>
        <p:spPr>
          <a:xfrm>
            <a:off x="5010150" y="4165151"/>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7" name="Oval 36"/>
          <p:cNvSpPr/>
          <p:nvPr/>
        </p:nvSpPr>
        <p:spPr>
          <a:xfrm>
            <a:off x="8020050" y="1427096"/>
            <a:ext cx="914400" cy="876177"/>
          </a:xfrm>
          <a:prstGeom prst="ellipse">
            <a:avLst/>
          </a:prstGeom>
          <a:solidFill>
            <a:srgbClr val="C9C0E0"/>
          </a:solidFill>
          <a:ln w="12700">
            <a:solidFill>
              <a:srgbClr val="C9C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382000" y="1637014"/>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2486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5153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628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Substitutes</a:t>
            </a:r>
          </a:p>
        </p:txBody>
      </p:sp>
      <p:sp>
        <p:nvSpPr>
          <p:cNvPr id="42" name="TextBox 41"/>
          <p:cNvSpPr txBox="1"/>
          <p:nvPr/>
        </p:nvSpPr>
        <p:spPr>
          <a:xfrm>
            <a:off x="7391400" y="2796123"/>
            <a:ext cx="2171700" cy="96744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3" name="TextBox 42"/>
          <p:cNvSpPr txBox="1"/>
          <p:nvPr/>
        </p:nvSpPr>
        <p:spPr>
          <a:xfrm>
            <a:off x="7391400" y="3854838"/>
            <a:ext cx="21717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4" name="TextBox 43"/>
          <p:cNvSpPr txBox="1"/>
          <p:nvPr/>
        </p:nvSpPr>
        <p:spPr>
          <a:xfrm>
            <a:off x="7391400" y="4347688"/>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5" name="Oval 44"/>
          <p:cNvSpPr/>
          <p:nvPr/>
        </p:nvSpPr>
        <p:spPr>
          <a:xfrm>
            <a:off x="10401300" y="1427096"/>
            <a:ext cx="914400" cy="876177"/>
          </a:xfrm>
          <a:prstGeom prst="ellipse">
            <a:avLst/>
          </a:prstGeom>
          <a:solidFill>
            <a:srgbClr val="BFDCEA"/>
          </a:solidFill>
          <a:ln w="12700">
            <a:solidFill>
              <a:srgbClr val="BFDC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610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10563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991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10944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782300" y="1609633"/>
            <a:ext cx="152400" cy="146030"/>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10715625" y="1783043"/>
            <a:ext cx="285750" cy="255552"/>
          </a:xfrm>
          <a:custGeom>
            <a:avLst/>
            <a:gdLst/>
            <a:ahLst/>
            <a:cxnLst/>
            <a:rect l="l" t="t" r="r" b="b"/>
            <a:pathLst>
              <a:path w="30" h="28">
                <a:moveTo>
                  <a:pt x="0" y="28"/>
                </a:moveTo>
                <a:lnTo>
                  <a:pt x="4" y="0"/>
                </a:lnTo>
                <a:lnTo>
                  <a:pt x="26" y="0"/>
                </a:lnTo>
                <a:lnTo>
                  <a:pt x="30" y="28"/>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44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New Entrants</a:t>
            </a:r>
          </a:p>
        </p:txBody>
      </p:sp>
      <p:sp>
        <p:nvSpPr>
          <p:cNvPr id="53" name="TextBox 52"/>
          <p:cNvSpPr txBox="1"/>
          <p:nvPr/>
        </p:nvSpPr>
        <p:spPr>
          <a:xfrm>
            <a:off x="9772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4" name="TextBox 53"/>
          <p:cNvSpPr txBox="1"/>
          <p:nvPr/>
        </p:nvSpPr>
        <p:spPr>
          <a:xfrm>
            <a:off x="9772650" y="3663174"/>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5" name="TextBox 54"/>
          <p:cNvSpPr txBox="1"/>
          <p:nvPr/>
        </p:nvSpPr>
        <p:spPr>
          <a:xfrm>
            <a:off x="9772650" y="4347688"/>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6" name="TextBox 5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57" name="TextBox 56"/>
          <p:cNvSpPr txBox="1"/>
          <p:nvPr/>
        </p:nvSpPr>
        <p:spPr>
          <a:xfrm>
            <a:off x="171450" y="1069470"/>
            <a:ext cx="10195445" cy="186689"/>
          </a:xfrm>
          <a:prstGeom prst="rect">
            <a:avLst/>
          </a:prstGeom>
          <a:noFill/>
        </p:spPr>
        <p:txBody>
          <a:bodyPr wrap="none" lIns="0" rIns="0" tIns="0" bIns="0">
            <a:spAutoFit/>
          </a:bodyPr>
          <a:lstStyle/>
          <a:p>
            <a:r>
              <a:rPr sz="1100" b="0">
                <a:solidFill>
                  <a:srgbClr val="6C7A89"/>
                </a:solidFill>
                <a:latin typeface="Calibri"/>
              </a:rPr>
              <a:t>Supplier power, buyer power, competitive intensity, substitution and entry barriers scored from the global dataset 6 form type lines, 4 end-use application routes and 6 regions at</a:t>
            </a:r>
          </a:p>
        </p:txBody>
      </p:sp>
      <p:pic>
        <p:nvPicPr>
          <p:cNvPr id="58" name="Picture 57" descr="lock.png"/>
          <p:cNvPicPr>
            <a:picLocks noChangeAspect="1"/>
          </p:cNvPicPr>
          <p:nvPr/>
        </p:nvPicPr>
        <p:blipFill>
          <a:blip r:embed="rId4"/>
          <a:stretch>
            <a:fillRect/>
          </a:stretch>
        </p:blipFill>
        <p:spPr>
          <a:xfrm>
            <a:off x="10314947" y="1059691"/>
            <a:ext cx="128699" cy="187198"/>
          </a:xfrm>
          <a:prstGeom prst="rect">
            <a:avLst/>
          </a:prstGeom>
        </p:spPr>
      </p:pic>
      <p:sp>
        <p:nvSpPr>
          <p:cNvPr id="59" name="TextBox 58"/>
          <p:cNvSpPr txBox="1"/>
          <p:nvPr/>
        </p:nvSpPr>
        <p:spPr>
          <a:xfrm>
            <a:off x="10482443" y="1069470"/>
            <a:ext cx="430617" cy="186689"/>
          </a:xfrm>
          <a:prstGeom prst="rect">
            <a:avLst/>
          </a:prstGeom>
          <a:noFill/>
        </p:spPr>
        <p:txBody>
          <a:bodyPr wrap="none" lIns="0" rIns="0" tIns="0" bIns="0">
            <a:spAutoFit/>
          </a:bodyPr>
          <a:lstStyle/>
          <a:p>
            <a:r>
              <a:rPr sz="1100" b="0">
                <a:solidFill>
                  <a:srgbClr val="6C7A89"/>
                </a:solidFill>
                <a:latin typeface="Calibri"/>
              </a:rPr>
              <a:t>CAGR.</a:t>
            </a:r>
          </a:p>
        </p:txBody>
      </p:sp>
      <p:sp>
        <p:nvSpPr>
          <p:cNvPr id="60" name="TextBox 59"/>
          <p:cNvSpPr txBox="1"/>
          <p:nvPr/>
        </p:nvSpPr>
        <p:spPr>
          <a:xfrm>
            <a:off x="276225" y="2848734"/>
            <a:ext cx="2114550" cy="186689"/>
          </a:xfrm>
          <a:prstGeom prst="rect">
            <a:avLst/>
          </a:prstGeom>
          <a:noFill/>
        </p:spPr>
        <p:txBody>
          <a:bodyPr wrap="none" lIns="0" rIns="0" tIns="0" bIns="0">
            <a:spAutoFit/>
          </a:bodyPr>
          <a:lstStyle/>
          <a:p>
            <a:r>
              <a:rPr sz="1100" b="0">
                <a:solidFill>
                  <a:srgbClr val="2E2E2E"/>
                </a:solidFill>
                <a:latin typeface="Calibri"/>
              </a:rPr>
              <a:t>▸ Assessed moderate to high. 'North</a:t>
            </a:r>
          </a:p>
        </p:txBody>
      </p:sp>
      <p:sp>
        <p:nvSpPr>
          <p:cNvPr id="61" name="TextBox 60"/>
          <p:cNvSpPr txBox="1"/>
          <p:nvPr/>
        </p:nvSpPr>
        <p:spPr>
          <a:xfrm>
            <a:off x="276225" y="3016374"/>
            <a:ext cx="1071016" cy="186689"/>
          </a:xfrm>
          <a:prstGeom prst="rect">
            <a:avLst/>
          </a:prstGeom>
          <a:noFill/>
        </p:spPr>
        <p:txBody>
          <a:bodyPr wrap="none" lIns="0" rIns="0" tIns="0" bIns="0">
            <a:spAutoFit/>
          </a:bodyPr>
          <a:lstStyle/>
          <a:p>
            <a:r>
              <a:rPr sz="1100" b="0">
                <a:solidFill>
                  <a:srgbClr val="2E2E2E"/>
                </a:solidFill>
                <a:latin typeface="Calibri"/>
              </a:rPr>
              <a:t>America' supplies</a:t>
            </a:r>
          </a:p>
        </p:txBody>
      </p:sp>
      <p:pic>
        <p:nvPicPr>
          <p:cNvPr id="62" name="Picture 61" descr="lock.png"/>
          <p:cNvPicPr>
            <a:picLocks noChangeAspect="1"/>
          </p:cNvPicPr>
          <p:nvPr/>
        </p:nvPicPr>
        <p:blipFill>
          <a:blip r:embed="rId4"/>
          <a:stretch>
            <a:fillRect/>
          </a:stretch>
        </p:blipFill>
        <p:spPr>
          <a:xfrm>
            <a:off x="1295293" y="3006595"/>
            <a:ext cx="128699" cy="187198"/>
          </a:xfrm>
          <a:prstGeom prst="rect">
            <a:avLst/>
          </a:prstGeom>
        </p:spPr>
      </p:pic>
      <p:sp>
        <p:nvSpPr>
          <p:cNvPr id="63" name="TextBox 62"/>
          <p:cNvSpPr txBox="1"/>
          <p:nvPr/>
        </p:nvSpPr>
        <p:spPr>
          <a:xfrm>
            <a:off x="1462789" y="3016374"/>
            <a:ext cx="844549" cy="186689"/>
          </a:xfrm>
          <a:prstGeom prst="rect">
            <a:avLst/>
          </a:prstGeom>
          <a:noFill/>
        </p:spPr>
        <p:txBody>
          <a:bodyPr wrap="none" lIns="0" rIns="0" tIns="0" bIns="0">
            <a:spAutoFit/>
          </a:bodyPr>
          <a:lstStyle/>
          <a:p>
            <a:r>
              <a:rPr sz="1100" b="0">
                <a:solidFill>
                  <a:srgbClr val="2E2E2E"/>
                </a:solidFill>
                <a:latin typeface="Calibri"/>
              </a:rPr>
              <a:t>of 2036 value</a:t>
            </a:r>
          </a:p>
        </p:txBody>
      </p:sp>
      <p:sp>
        <p:nvSpPr>
          <p:cNvPr id="64" name="TextBox 63"/>
          <p:cNvSpPr txBox="1"/>
          <p:nvPr/>
        </p:nvSpPr>
        <p:spPr>
          <a:xfrm>
            <a:off x="276225" y="3184014"/>
            <a:ext cx="1842095" cy="186689"/>
          </a:xfrm>
          <a:prstGeom prst="rect">
            <a:avLst/>
          </a:prstGeom>
          <a:noFill/>
        </p:spPr>
        <p:txBody>
          <a:bodyPr wrap="none" lIns="0" rIns="0" tIns="0" bIns="0">
            <a:spAutoFit/>
          </a:bodyPr>
          <a:lstStyle/>
          <a:p>
            <a:r>
              <a:rPr sz="1100" b="0">
                <a:solidFill>
                  <a:srgbClr val="2E2E2E"/>
                </a:solidFill>
                <a:latin typeface="Calibri"/>
              </a:rPr>
              <a:t>across 6 regions, concentrating</a:t>
            </a:r>
          </a:p>
        </p:txBody>
      </p:sp>
      <p:sp>
        <p:nvSpPr>
          <p:cNvPr id="65" name="TextBox 64"/>
          <p:cNvSpPr txBox="1"/>
          <p:nvPr/>
        </p:nvSpPr>
        <p:spPr>
          <a:xfrm>
            <a:off x="276225" y="3351654"/>
            <a:ext cx="1173608" cy="186689"/>
          </a:xfrm>
          <a:prstGeom prst="rect">
            <a:avLst/>
          </a:prstGeom>
          <a:noFill/>
        </p:spPr>
        <p:txBody>
          <a:bodyPr wrap="none" lIns="0" rIns="0" tIns="0" bIns="0">
            <a:spAutoFit/>
          </a:bodyPr>
          <a:lstStyle/>
          <a:p>
            <a:r>
              <a:rPr sz="1100" b="0">
                <a:solidFill>
                  <a:srgbClr val="2E2E2E"/>
                </a:solidFill>
                <a:latin typeface="Calibri"/>
              </a:rPr>
              <a:t>upstream leverage.</a:t>
            </a:r>
          </a:p>
        </p:txBody>
      </p:sp>
      <p:sp>
        <p:nvSpPr>
          <p:cNvPr id="66" name="TextBox 65"/>
          <p:cNvSpPr txBox="1"/>
          <p:nvPr/>
        </p:nvSpPr>
        <p:spPr>
          <a:xfrm>
            <a:off x="276225" y="3799605"/>
            <a:ext cx="1676163" cy="186689"/>
          </a:xfrm>
          <a:prstGeom prst="rect">
            <a:avLst/>
          </a:prstGeom>
          <a:noFill/>
        </p:spPr>
        <p:txBody>
          <a:bodyPr wrap="none" lIns="0" rIns="0" tIns="0" bIns="0">
            <a:spAutoFit/>
          </a:bodyPr>
          <a:lstStyle/>
          <a:p>
            <a:r>
              <a:rPr sz="1100" b="0">
                <a:solidFill>
                  <a:srgbClr val="2E2E2E"/>
                </a:solidFill>
                <a:latin typeface="Calibri"/>
              </a:rPr>
              <a:t>▸ Average realisation moves</a:t>
            </a:r>
          </a:p>
        </p:txBody>
      </p:sp>
      <p:pic>
        <p:nvPicPr>
          <p:cNvPr id="67" name="Picture 66" descr="lock.png"/>
          <p:cNvPicPr>
            <a:picLocks noChangeAspect="1"/>
          </p:cNvPicPr>
          <p:nvPr/>
        </p:nvPicPr>
        <p:blipFill>
          <a:blip r:embed="rId4"/>
          <a:stretch>
            <a:fillRect/>
          </a:stretch>
        </p:blipFill>
        <p:spPr>
          <a:xfrm>
            <a:off x="1900439" y="3789826"/>
            <a:ext cx="128699" cy="187198"/>
          </a:xfrm>
          <a:prstGeom prst="rect">
            <a:avLst/>
          </a:prstGeom>
        </p:spPr>
      </p:pic>
      <p:sp>
        <p:nvSpPr>
          <p:cNvPr id="68" name="TextBox 67"/>
          <p:cNvSpPr txBox="1"/>
          <p:nvPr/>
        </p:nvSpPr>
        <p:spPr>
          <a:xfrm>
            <a:off x="2067935" y="3799605"/>
            <a:ext cx="143048" cy="186689"/>
          </a:xfrm>
          <a:prstGeom prst="rect">
            <a:avLst/>
          </a:prstGeom>
          <a:noFill/>
        </p:spPr>
        <p:txBody>
          <a:bodyPr wrap="none" lIns="0" rIns="0" tIns="0" bIns="0">
            <a:spAutoFit/>
          </a:bodyPr>
          <a:lstStyle/>
          <a:p>
            <a:r>
              <a:rPr sz="1100" b="0">
                <a:solidFill>
                  <a:srgbClr val="2E2E2E"/>
                </a:solidFill>
                <a:latin typeface="Calibri"/>
              </a:rPr>
              <a:t>a</a:t>
            </a:r>
          </a:p>
        </p:txBody>
      </p:sp>
      <p:sp>
        <p:nvSpPr>
          <p:cNvPr id="69" name="TextBox 68"/>
          <p:cNvSpPr txBox="1"/>
          <p:nvPr/>
        </p:nvSpPr>
        <p:spPr>
          <a:xfrm>
            <a:off x="276225" y="3967245"/>
            <a:ext cx="2031181" cy="186689"/>
          </a:xfrm>
          <a:prstGeom prst="rect">
            <a:avLst/>
          </a:prstGeom>
          <a:noFill/>
        </p:spPr>
        <p:txBody>
          <a:bodyPr wrap="none" lIns="0" rIns="0" tIns="0" bIns="0">
            <a:spAutoFit/>
          </a:bodyPr>
          <a:lstStyle/>
          <a:p>
            <a:r>
              <a:rPr sz="1100" b="0">
                <a:solidFill>
                  <a:srgbClr val="2E2E2E"/>
                </a:solidFill>
                <a:latin typeface="Calibri"/>
              </a:rPr>
              <a:t>year (2026–2036), indicating input</a:t>
            </a:r>
          </a:p>
        </p:txBody>
      </p:sp>
      <p:sp>
        <p:nvSpPr>
          <p:cNvPr id="70" name="TextBox 69"/>
          <p:cNvSpPr txBox="1"/>
          <p:nvPr/>
        </p:nvSpPr>
        <p:spPr>
          <a:xfrm>
            <a:off x="276225" y="4134885"/>
            <a:ext cx="1874291" cy="186689"/>
          </a:xfrm>
          <a:prstGeom prst="rect">
            <a:avLst/>
          </a:prstGeom>
          <a:noFill/>
        </p:spPr>
        <p:txBody>
          <a:bodyPr wrap="none" lIns="0" rIns="0" tIns="0" bIns="0">
            <a:spAutoFit/>
          </a:bodyPr>
          <a:lstStyle/>
          <a:p>
            <a:r>
              <a:rPr sz="1100" b="0">
                <a:solidFill>
                  <a:srgbClr val="2E2E2E"/>
                </a:solidFill>
                <a:latin typeface="Calibri"/>
              </a:rPr>
              <a:t>costs are being passed through.</a:t>
            </a:r>
          </a:p>
        </p:txBody>
      </p:sp>
      <p:sp>
        <p:nvSpPr>
          <p:cNvPr id="71" name="TextBox 70"/>
          <p:cNvSpPr txBox="1"/>
          <p:nvPr/>
        </p:nvSpPr>
        <p:spPr>
          <a:xfrm>
            <a:off x="2657475" y="2964026"/>
            <a:ext cx="1830089" cy="186689"/>
          </a:xfrm>
          <a:prstGeom prst="rect">
            <a:avLst/>
          </a:prstGeom>
          <a:noFill/>
        </p:spPr>
        <p:txBody>
          <a:bodyPr wrap="none" lIns="0" rIns="0" tIns="0" bIns="0">
            <a:spAutoFit/>
          </a:bodyPr>
          <a:lstStyle/>
          <a:p>
            <a:r>
              <a:rPr sz="1100" b="0">
                <a:solidFill>
                  <a:srgbClr val="2E2E2E"/>
                </a:solidFill>
                <a:latin typeface="Calibri"/>
              </a:rPr>
              <a:t>▸ Assessed moderate. Demand</a:t>
            </a:r>
          </a:p>
        </p:txBody>
      </p:sp>
      <p:sp>
        <p:nvSpPr>
          <p:cNvPr id="72" name="TextBox 71"/>
          <p:cNvSpPr txBox="1"/>
          <p:nvPr/>
        </p:nvSpPr>
        <p:spPr>
          <a:xfrm>
            <a:off x="2657475" y="3131666"/>
            <a:ext cx="2114550" cy="186689"/>
          </a:xfrm>
          <a:prstGeom prst="rect">
            <a:avLst/>
          </a:prstGeom>
          <a:noFill/>
        </p:spPr>
        <p:txBody>
          <a:bodyPr wrap="none" lIns="0" rIns="0" tIns="0" bIns="0">
            <a:spAutoFit/>
          </a:bodyPr>
          <a:lstStyle/>
          <a:p>
            <a:r>
              <a:rPr sz="1100" b="0">
                <a:solidFill>
                  <a:srgbClr val="2E2E2E"/>
                </a:solidFill>
                <a:latin typeface="Calibri"/>
              </a:rPr>
              <a:t>routes through 4 end-use application</a:t>
            </a:r>
          </a:p>
        </p:txBody>
      </p:sp>
      <p:sp>
        <p:nvSpPr>
          <p:cNvPr id="73" name="TextBox 72"/>
          <p:cNvSpPr txBox="1"/>
          <p:nvPr/>
        </p:nvSpPr>
        <p:spPr>
          <a:xfrm>
            <a:off x="2657475" y="3299306"/>
            <a:ext cx="1666924" cy="186689"/>
          </a:xfrm>
          <a:prstGeom prst="rect">
            <a:avLst/>
          </a:prstGeom>
          <a:noFill/>
        </p:spPr>
        <p:txBody>
          <a:bodyPr wrap="none" lIns="0" rIns="0" tIns="0" bIns="0">
            <a:spAutoFit/>
          </a:bodyPr>
          <a:lstStyle/>
          <a:p>
            <a:r>
              <a:rPr sz="1100" b="0">
                <a:solidFill>
                  <a:srgbClr val="2E2E2E"/>
                </a:solidFill>
                <a:latin typeface="Calibri"/>
              </a:rPr>
              <a:t>channels led by 'Support for</a:t>
            </a:r>
          </a:p>
        </p:txBody>
      </p:sp>
      <p:sp>
        <p:nvSpPr>
          <p:cNvPr id="74" name="TextBox 73"/>
          <p:cNvSpPr txBox="1"/>
          <p:nvPr/>
        </p:nvSpPr>
        <p:spPr>
          <a:xfrm>
            <a:off x="2657475" y="3466946"/>
            <a:ext cx="2007989" cy="186689"/>
          </a:xfrm>
          <a:prstGeom prst="rect">
            <a:avLst/>
          </a:prstGeom>
          <a:noFill/>
        </p:spPr>
        <p:txBody>
          <a:bodyPr wrap="none" lIns="0" rIns="0" tIns="0" bIns="0">
            <a:spAutoFit/>
          </a:bodyPr>
          <a:lstStyle/>
          <a:p>
            <a:r>
              <a:rPr sz="1100" b="0">
                <a:solidFill>
                  <a:srgbClr val="2E2E2E"/>
                </a:solidFill>
                <a:latin typeface="Calibri"/>
              </a:rPr>
              <a:t>Observable Age-Related Cognitive</a:t>
            </a:r>
          </a:p>
        </p:txBody>
      </p:sp>
      <p:sp>
        <p:nvSpPr>
          <p:cNvPr id="75" name="TextBox 74"/>
          <p:cNvSpPr txBox="1"/>
          <p:nvPr/>
        </p:nvSpPr>
        <p:spPr>
          <a:xfrm>
            <a:off x="2657475" y="3634586"/>
            <a:ext cx="730498" cy="186689"/>
          </a:xfrm>
          <a:prstGeom prst="rect">
            <a:avLst/>
          </a:prstGeom>
          <a:noFill/>
        </p:spPr>
        <p:txBody>
          <a:bodyPr wrap="none" lIns="0" rIns="0" tIns="0" bIns="0">
            <a:spAutoFit/>
          </a:bodyPr>
          <a:lstStyle/>
          <a:p>
            <a:r>
              <a:rPr sz="1100" b="0">
                <a:solidFill>
                  <a:srgbClr val="2E2E2E"/>
                </a:solidFill>
                <a:latin typeface="Calibri"/>
              </a:rPr>
              <a:t>Changes' at</a:t>
            </a:r>
          </a:p>
        </p:txBody>
      </p:sp>
      <p:pic>
        <p:nvPicPr>
          <p:cNvPr id="76" name="Picture 75" descr="lock.png"/>
          <p:cNvPicPr>
            <a:picLocks noChangeAspect="1"/>
          </p:cNvPicPr>
          <p:nvPr/>
        </p:nvPicPr>
        <p:blipFill>
          <a:blip r:embed="rId4"/>
          <a:stretch>
            <a:fillRect/>
          </a:stretch>
        </p:blipFill>
        <p:spPr>
          <a:xfrm>
            <a:off x="3336024" y="3624807"/>
            <a:ext cx="128699" cy="187198"/>
          </a:xfrm>
          <a:prstGeom prst="rect">
            <a:avLst/>
          </a:prstGeom>
        </p:spPr>
      </p:pic>
      <p:sp>
        <p:nvSpPr>
          <p:cNvPr id="77" name="TextBox 76"/>
          <p:cNvSpPr txBox="1"/>
          <p:nvPr/>
        </p:nvSpPr>
        <p:spPr>
          <a:xfrm>
            <a:off x="3503520" y="3634586"/>
            <a:ext cx="1204714" cy="186689"/>
          </a:xfrm>
          <a:prstGeom prst="rect">
            <a:avLst/>
          </a:prstGeom>
          <a:noFill/>
        </p:spPr>
        <p:txBody>
          <a:bodyPr wrap="none" lIns="0" rIns="0" tIns="0" bIns="0">
            <a:spAutoFit/>
          </a:bodyPr>
          <a:lstStyle/>
          <a:p>
            <a:r>
              <a:rPr sz="1100" b="0">
                <a:solidFill>
                  <a:srgbClr val="2E2E2E"/>
                </a:solidFill>
                <a:latin typeface="Calibri"/>
              </a:rPr>
              <a:t>, giving large buyers</a:t>
            </a:r>
          </a:p>
        </p:txBody>
      </p:sp>
      <p:sp>
        <p:nvSpPr>
          <p:cNvPr id="78" name="TextBox 77"/>
          <p:cNvSpPr txBox="1"/>
          <p:nvPr/>
        </p:nvSpPr>
        <p:spPr>
          <a:xfrm>
            <a:off x="2657475" y="3802226"/>
            <a:ext cx="393799" cy="186689"/>
          </a:xfrm>
          <a:prstGeom prst="rect">
            <a:avLst/>
          </a:prstGeom>
          <a:noFill/>
        </p:spPr>
        <p:txBody>
          <a:bodyPr wrap="none" lIns="0" rIns="0" tIns="0" bIns="0">
            <a:spAutoFit/>
          </a:bodyPr>
          <a:lstStyle/>
          <a:p>
            <a:r>
              <a:rPr sz="1100" b="0">
                <a:solidFill>
                  <a:srgbClr val="2E2E2E"/>
                </a:solidFill>
                <a:latin typeface="Calibri"/>
              </a:rPr>
              <a:t>scale.</a:t>
            </a:r>
          </a:p>
        </p:txBody>
      </p:sp>
      <p:sp>
        <p:nvSpPr>
          <p:cNvPr id="79" name="TextBox 78"/>
          <p:cNvSpPr txBox="1"/>
          <p:nvPr/>
        </p:nvSpPr>
        <p:spPr>
          <a:xfrm>
            <a:off x="2657475" y="4274201"/>
            <a:ext cx="2062013" cy="186689"/>
          </a:xfrm>
          <a:prstGeom prst="rect">
            <a:avLst/>
          </a:prstGeom>
          <a:noFill/>
        </p:spPr>
        <p:txBody>
          <a:bodyPr wrap="none" lIns="0" rIns="0" tIns="0" bIns="0">
            <a:spAutoFit/>
          </a:bodyPr>
          <a:lstStyle/>
          <a:p>
            <a:r>
              <a:rPr sz="1100" b="0">
                <a:solidFill>
                  <a:srgbClr val="2E2E2E"/>
                </a:solidFill>
                <a:latin typeface="Calibri"/>
              </a:rPr>
              <a:t>▸ Price sensitivity tracks realisation</a:t>
            </a:r>
          </a:p>
        </p:txBody>
      </p:sp>
      <p:sp>
        <p:nvSpPr>
          <p:cNvPr id="80" name="TextBox 79"/>
          <p:cNvSpPr txBox="1"/>
          <p:nvPr/>
        </p:nvSpPr>
        <p:spPr>
          <a:xfrm>
            <a:off x="2657475" y="4441841"/>
            <a:ext cx="495845" cy="186689"/>
          </a:xfrm>
          <a:prstGeom prst="rect">
            <a:avLst/>
          </a:prstGeom>
          <a:noFill/>
        </p:spPr>
        <p:txBody>
          <a:bodyPr wrap="none" lIns="0" rIns="0" tIns="0" bIns="0">
            <a:spAutoFit/>
          </a:bodyPr>
          <a:lstStyle/>
          <a:p>
            <a:r>
              <a:rPr sz="1100" b="0">
                <a:solidFill>
                  <a:srgbClr val="2E2E2E"/>
                </a:solidFill>
                <a:latin typeface="Calibri"/>
              </a:rPr>
              <a:t>moving</a:t>
            </a:r>
          </a:p>
        </p:txBody>
      </p:sp>
      <p:pic>
        <p:nvPicPr>
          <p:cNvPr id="81" name="Picture 80" descr="lock.png"/>
          <p:cNvPicPr>
            <a:picLocks noChangeAspect="1"/>
          </p:cNvPicPr>
          <p:nvPr/>
        </p:nvPicPr>
        <p:blipFill>
          <a:blip r:embed="rId4"/>
          <a:stretch>
            <a:fillRect/>
          </a:stretch>
        </p:blipFill>
        <p:spPr>
          <a:xfrm>
            <a:off x="3101372" y="4432062"/>
            <a:ext cx="128699" cy="187198"/>
          </a:xfrm>
          <a:prstGeom prst="rect">
            <a:avLst/>
          </a:prstGeom>
        </p:spPr>
      </p:pic>
      <p:sp>
        <p:nvSpPr>
          <p:cNvPr id="82" name="TextBox 81"/>
          <p:cNvSpPr txBox="1"/>
          <p:nvPr/>
        </p:nvSpPr>
        <p:spPr>
          <a:xfrm>
            <a:off x="3268868" y="4441841"/>
            <a:ext cx="1316583" cy="186689"/>
          </a:xfrm>
          <a:prstGeom prst="rect">
            <a:avLst/>
          </a:prstGeom>
          <a:noFill/>
        </p:spPr>
        <p:txBody>
          <a:bodyPr wrap="none" lIns="0" rIns="0" tIns="0" bIns="0">
            <a:spAutoFit/>
          </a:bodyPr>
          <a:lstStyle/>
          <a:p>
            <a:r>
              <a:rPr sz="1100" b="0">
                <a:solidFill>
                  <a:srgbClr val="2E2E2E"/>
                </a:solidFill>
                <a:latin typeface="Calibri"/>
              </a:rPr>
              <a:t>a year against volume</a:t>
            </a:r>
          </a:p>
        </p:txBody>
      </p:sp>
      <p:sp>
        <p:nvSpPr>
          <p:cNvPr id="83" name="TextBox 82"/>
          <p:cNvSpPr txBox="1"/>
          <p:nvPr/>
        </p:nvSpPr>
        <p:spPr>
          <a:xfrm>
            <a:off x="2657475" y="4609481"/>
            <a:ext cx="632544" cy="186689"/>
          </a:xfrm>
          <a:prstGeom prst="rect">
            <a:avLst/>
          </a:prstGeom>
          <a:noFill/>
        </p:spPr>
        <p:txBody>
          <a:bodyPr wrap="none" lIns="0" rIns="0" tIns="0" bIns="0">
            <a:spAutoFit/>
          </a:bodyPr>
          <a:lstStyle/>
          <a:p>
            <a:r>
              <a:rPr sz="1100" b="0">
                <a:solidFill>
                  <a:srgbClr val="2E2E2E"/>
                </a:solidFill>
                <a:latin typeface="Calibri"/>
              </a:rPr>
              <a:t>growth of</a:t>
            </a:r>
          </a:p>
        </p:txBody>
      </p:sp>
      <p:pic>
        <p:nvPicPr>
          <p:cNvPr id="84" name="Picture 83" descr="lock.png"/>
          <p:cNvPicPr>
            <a:picLocks noChangeAspect="1"/>
          </p:cNvPicPr>
          <p:nvPr/>
        </p:nvPicPr>
        <p:blipFill>
          <a:blip r:embed="rId4"/>
          <a:stretch>
            <a:fillRect/>
          </a:stretch>
        </p:blipFill>
        <p:spPr>
          <a:xfrm>
            <a:off x="3238070" y="4599702"/>
            <a:ext cx="128699" cy="187198"/>
          </a:xfrm>
          <a:prstGeom prst="rect">
            <a:avLst/>
          </a:prstGeom>
        </p:spPr>
      </p:pic>
      <p:sp>
        <p:nvSpPr>
          <p:cNvPr id="85" name="TextBox 84"/>
          <p:cNvSpPr txBox="1"/>
          <p:nvPr/>
        </p:nvSpPr>
        <p:spPr>
          <a:xfrm>
            <a:off x="3405566" y="4609481"/>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86" name="TextBox 85"/>
          <p:cNvSpPr txBox="1"/>
          <p:nvPr/>
        </p:nvSpPr>
        <p:spPr>
          <a:xfrm>
            <a:off x="5038725" y="2841285"/>
            <a:ext cx="1991345" cy="186689"/>
          </a:xfrm>
          <a:prstGeom prst="rect">
            <a:avLst/>
          </a:prstGeom>
          <a:noFill/>
        </p:spPr>
        <p:txBody>
          <a:bodyPr wrap="none" lIns="0" rIns="0" tIns="0" bIns="0">
            <a:spAutoFit/>
          </a:bodyPr>
          <a:lstStyle/>
          <a:p>
            <a:r>
              <a:rPr sz="1100" b="0">
                <a:solidFill>
                  <a:srgbClr val="2E2E2E"/>
                </a:solidFill>
                <a:latin typeface="Calibri"/>
              </a:rPr>
              <a:t>▸ Assessed high. 6 form type lines</a:t>
            </a:r>
          </a:p>
        </p:txBody>
      </p:sp>
      <p:sp>
        <p:nvSpPr>
          <p:cNvPr id="87" name="TextBox 86"/>
          <p:cNvSpPr txBox="1"/>
          <p:nvPr/>
        </p:nvSpPr>
        <p:spPr>
          <a:xfrm>
            <a:off x="5038725" y="3008925"/>
            <a:ext cx="1950690" cy="186689"/>
          </a:xfrm>
          <a:prstGeom prst="rect">
            <a:avLst/>
          </a:prstGeom>
          <a:noFill/>
        </p:spPr>
        <p:txBody>
          <a:bodyPr wrap="none" lIns="0" rIns="0" tIns="0" bIns="0">
            <a:spAutoFit/>
          </a:bodyPr>
          <a:lstStyle/>
          <a:p>
            <a:r>
              <a:rPr sz="1100" b="0">
                <a:solidFill>
                  <a:srgbClr val="2E2E2E"/>
                </a:solidFill>
                <a:latin typeface="Calibri"/>
              </a:rPr>
              <a:t>compete inside the segment; the</a:t>
            </a:r>
          </a:p>
        </p:txBody>
      </p:sp>
      <p:sp>
        <p:nvSpPr>
          <p:cNvPr id="88" name="TextBox 87"/>
          <p:cNvSpPr txBox="1"/>
          <p:nvPr/>
        </p:nvSpPr>
        <p:spPr>
          <a:xfrm>
            <a:off x="5038725" y="3176565"/>
            <a:ext cx="775518" cy="186689"/>
          </a:xfrm>
          <a:prstGeom prst="rect">
            <a:avLst/>
          </a:prstGeom>
          <a:noFill/>
        </p:spPr>
        <p:txBody>
          <a:bodyPr wrap="none" lIns="0" rIns="0" tIns="0" bIns="0">
            <a:spAutoFit/>
          </a:bodyPr>
          <a:lstStyle/>
          <a:p>
            <a:r>
              <a:rPr sz="1100" b="0">
                <a:solidFill>
                  <a:srgbClr val="2E2E2E"/>
                </a:solidFill>
                <a:latin typeface="Calibri"/>
              </a:rPr>
              <a:t>leader holds</a:t>
            </a:r>
          </a:p>
        </p:txBody>
      </p:sp>
      <p:pic>
        <p:nvPicPr>
          <p:cNvPr id="89" name="Picture 88" descr="lock.png"/>
          <p:cNvPicPr>
            <a:picLocks noChangeAspect="1"/>
          </p:cNvPicPr>
          <p:nvPr/>
        </p:nvPicPr>
        <p:blipFill>
          <a:blip r:embed="rId4"/>
          <a:stretch>
            <a:fillRect/>
          </a:stretch>
        </p:blipFill>
        <p:spPr>
          <a:xfrm>
            <a:off x="5762295" y="3166786"/>
            <a:ext cx="128699" cy="187198"/>
          </a:xfrm>
          <a:prstGeom prst="rect">
            <a:avLst/>
          </a:prstGeom>
        </p:spPr>
      </p:pic>
      <p:sp>
        <p:nvSpPr>
          <p:cNvPr id="90" name="TextBox 89"/>
          <p:cNvSpPr txBox="1"/>
          <p:nvPr/>
        </p:nvSpPr>
        <p:spPr>
          <a:xfrm>
            <a:off x="5929790" y="317656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91" name="TextBox 90"/>
          <p:cNvSpPr txBox="1"/>
          <p:nvPr/>
        </p:nvSpPr>
        <p:spPr>
          <a:xfrm>
            <a:off x="5038725" y="3525799"/>
            <a:ext cx="1934046" cy="186689"/>
          </a:xfrm>
          <a:prstGeom prst="rect">
            <a:avLst/>
          </a:prstGeom>
          <a:noFill/>
        </p:spPr>
        <p:txBody>
          <a:bodyPr wrap="none" lIns="0" rIns="0" tIns="0" bIns="0">
            <a:spAutoFit/>
          </a:bodyPr>
          <a:lstStyle/>
          <a:p>
            <a:r>
              <a:rPr sz="1100" b="0">
                <a:solidFill>
                  <a:srgbClr val="2E2E2E"/>
                </a:solidFill>
                <a:latin typeface="Calibri"/>
              </a:rPr>
              <a:t>▸ Growth is unevenly distributed</a:t>
            </a:r>
          </a:p>
        </p:txBody>
      </p:sp>
      <p:sp>
        <p:nvSpPr>
          <p:cNvPr id="92" name="TextBox 91"/>
          <p:cNvSpPr txBox="1"/>
          <p:nvPr/>
        </p:nvSpPr>
        <p:spPr>
          <a:xfrm>
            <a:off x="5038725" y="3693439"/>
            <a:ext cx="897210" cy="186689"/>
          </a:xfrm>
          <a:prstGeom prst="rect">
            <a:avLst/>
          </a:prstGeom>
          <a:noFill/>
        </p:spPr>
        <p:txBody>
          <a:bodyPr wrap="none" lIns="0" rIns="0" tIns="0" bIns="0">
            <a:spAutoFit/>
          </a:bodyPr>
          <a:lstStyle/>
          <a:p>
            <a:r>
              <a:rPr sz="1100" b="0">
                <a:solidFill>
                  <a:srgbClr val="2E2E2E"/>
                </a:solidFill>
                <a:latin typeface="Calibri"/>
              </a:rPr>
              <a:t>'Chewables' at</a:t>
            </a:r>
          </a:p>
        </p:txBody>
      </p:sp>
      <p:pic>
        <p:nvPicPr>
          <p:cNvPr id="93" name="Picture 92" descr="lock.png"/>
          <p:cNvPicPr>
            <a:picLocks noChangeAspect="1"/>
          </p:cNvPicPr>
          <p:nvPr/>
        </p:nvPicPr>
        <p:blipFill>
          <a:blip r:embed="rId4"/>
          <a:stretch>
            <a:fillRect/>
          </a:stretch>
        </p:blipFill>
        <p:spPr>
          <a:xfrm>
            <a:off x="5883986" y="3683660"/>
            <a:ext cx="128699" cy="187198"/>
          </a:xfrm>
          <a:prstGeom prst="rect">
            <a:avLst/>
          </a:prstGeom>
        </p:spPr>
      </p:pic>
      <p:sp>
        <p:nvSpPr>
          <p:cNvPr id="94" name="TextBox 93"/>
          <p:cNvSpPr txBox="1"/>
          <p:nvPr/>
        </p:nvSpPr>
        <p:spPr>
          <a:xfrm>
            <a:off x="6051482" y="3693439"/>
            <a:ext cx="973881" cy="186689"/>
          </a:xfrm>
          <a:prstGeom prst="rect">
            <a:avLst/>
          </a:prstGeom>
          <a:noFill/>
        </p:spPr>
        <p:txBody>
          <a:bodyPr wrap="none" lIns="0" rIns="0" tIns="0" bIns="0">
            <a:spAutoFit/>
          </a:bodyPr>
          <a:lstStyle/>
          <a:p>
            <a:r>
              <a:rPr sz="1100" b="0">
                <a:solidFill>
                  <a:srgbClr val="2E2E2E"/>
                </a:solidFill>
                <a:latin typeface="Calibri"/>
              </a:rPr>
              <a:t>against 'Liquids'</a:t>
            </a:r>
          </a:p>
        </p:txBody>
      </p:sp>
      <p:sp>
        <p:nvSpPr>
          <p:cNvPr id="95" name="TextBox 94"/>
          <p:cNvSpPr txBox="1"/>
          <p:nvPr/>
        </p:nvSpPr>
        <p:spPr>
          <a:xfrm>
            <a:off x="5038725" y="3861079"/>
            <a:ext cx="189979" cy="186689"/>
          </a:xfrm>
          <a:prstGeom prst="rect">
            <a:avLst/>
          </a:prstGeom>
          <a:noFill/>
        </p:spPr>
        <p:txBody>
          <a:bodyPr wrap="none" lIns="0" rIns="0" tIns="0" bIns="0">
            <a:spAutoFit/>
          </a:bodyPr>
          <a:lstStyle/>
          <a:p>
            <a:r>
              <a:rPr sz="1100" b="0">
                <a:solidFill>
                  <a:srgbClr val="2E2E2E"/>
                </a:solidFill>
                <a:latin typeface="Calibri"/>
              </a:rPr>
              <a:t>at</a:t>
            </a:r>
          </a:p>
        </p:txBody>
      </p:sp>
      <p:pic>
        <p:nvPicPr>
          <p:cNvPr id="96" name="Picture 95" descr="lock.png"/>
          <p:cNvPicPr>
            <a:picLocks noChangeAspect="1"/>
          </p:cNvPicPr>
          <p:nvPr/>
        </p:nvPicPr>
        <p:blipFill>
          <a:blip r:embed="rId4"/>
          <a:stretch>
            <a:fillRect/>
          </a:stretch>
        </p:blipFill>
        <p:spPr>
          <a:xfrm>
            <a:off x="5176755" y="3851300"/>
            <a:ext cx="128699" cy="187198"/>
          </a:xfrm>
          <a:prstGeom prst="rect">
            <a:avLst/>
          </a:prstGeom>
        </p:spPr>
      </p:pic>
      <p:sp>
        <p:nvSpPr>
          <p:cNvPr id="97" name="TextBox 96"/>
          <p:cNvSpPr txBox="1"/>
          <p:nvPr/>
        </p:nvSpPr>
        <p:spPr>
          <a:xfrm>
            <a:off x="5344251" y="3861079"/>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98" name="TextBox 97"/>
          <p:cNvSpPr txBox="1"/>
          <p:nvPr/>
        </p:nvSpPr>
        <p:spPr>
          <a:xfrm>
            <a:off x="5038725" y="4210313"/>
            <a:ext cx="2114550" cy="186689"/>
          </a:xfrm>
          <a:prstGeom prst="rect">
            <a:avLst/>
          </a:prstGeom>
          <a:noFill/>
        </p:spPr>
        <p:txBody>
          <a:bodyPr wrap="none" lIns="0" rIns="0" tIns="0" bIns="0">
            <a:spAutoFit/>
          </a:bodyPr>
          <a:lstStyle/>
          <a:p>
            <a:r>
              <a:rPr sz="1100" b="0">
                <a:solidFill>
                  <a:srgbClr val="2E2E2E"/>
                </a:solidFill>
                <a:latin typeface="Calibri"/>
              </a:rPr>
              <a:t>▸ 3 of 6 regions grow at or above the</a:t>
            </a:r>
          </a:p>
        </p:txBody>
      </p:sp>
      <p:pic>
        <p:nvPicPr>
          <p:cNvPr id="99" name="Picture 98" descr="lock.png"/>
          <p:cNvPicPr>
            <a:picLocks noChangeAspect="1"/>
          </p:cNvPicPr>
          <p:nvPr/>
        </p:nvPicPr>
        <p:blipFill>
          <a:blip r:embed="rId4"/>
          <a:stretch>
            <a:fillRect/>
          </a:stretch>
        </p:blipFill>
        <p:spPr>
          <a:xfrm>
            <a:off x="5025257" y="4368174"/>
            <a:ext cx="128699" cy="187198"/>
          </a:xfrm>
          <a:prstGeom prst="rect">
            <a:avLst/>
          </a:prstGeom>
        </p:spPr>
      </p:pic>
      <p:sp>
        <p:nvSpPr>
          <p:cNvPr id="100" name="TextBox 99"/>
          <p:cNvSpPr txBox="1"/>
          <p:nvPr/>
        </p:nvSpPr>
        <p:spPr>
          <a:xfrm>
            <a:off x="5192753" y="4377953"/>
            <a:ext cx="1643186" cy="186689"/>
          </a:xfrm>
          <a:prstGeom prst="rect">
            <a:avLst/>
          </a:prstGeom>
          <a:noFill/>
        </p:spPr>
        <p:txBody>
          <a:bodyPr wrap="none" lIns="0" rIns="0" tIns="0" bIns="0">
            <a:spAutoFit/>
          </a:bodyPr>
          <a:lstStyle/>
          <a:p>
            <a:r>
              <a:rPr sz="1100" b="0">
                <a:solidFill>
                  <a:srgbClr val="2E2E2E"/>
                </a:solidFill>
                <a:latin typeface="Calibri"/>
              </a:rPr>
              <a:t>market pace, keeping share</a:t>
            </a:r>
          </a:p>
        </p:txBody>
      </p:sp>
      <p:sp>
        <p:nvSpPr>
          <p:cNvPr id="101" name="TextBox 100"/>
          <p:cNvSpPr txBox="1"/>
          <p:nvPr/>
        </p:nvSpPr>
        <p:spPr>
          <a:xfrm>
            <a:off x="5038725" y="4545593"/>
            <a:ext cx="678656" cy="186689"/>
          </a:xfrm>
          <a:prstGeom prst="rect">
            <a:avLst/>
          </a:prstGeom>
          <a:noFill/>
        </p:spPr>
        <p:txBody>
          <a:bodyPr wrap="none" lIns="0" rIns="0" tIns="0" bIns="0">
            <a:spAutoFit/>
          </a:bodyPr>
          <a:lstStyle/>
          <a:p>
            <a:r>
              <a:rPr sz="1100" b="0">
                <a:solidFill>
                  <a:srgbClr val="2E2E2E"/>
                </a:solidFill>
                <a:latin typeface="Calibri"/>
              </a:rPr>
              <a:t>contested.</a:t>
            </a:r>
          </a:p>
        </p:txBody>
      </p:sp>
      <p:sp>
        <p:nvSpPr>
          <p:cNvPr id="102" name="TextBox 101"/>
          <p:cNvSpPr txBox="1"/>
          <p:nvPr/>
        </p:nvSpPr>
        <p:spPr>
          <a:xfrm>
            <a:off x="7419975" y="2860746"/>
            <a:ext cx="1869926" cy="186689"/>
          </a:xfrm>
          <a:prstGeom prst="rect">
            <a:avLst/>
          </a:prstGeom>
          <a:noFill/>
        </p:spPr>
        <p:txBody>
          <a:bodyPr wrap="none" lIns="0" rIns="0" tIns="0" bIns="0">
            <a:spAutoFit/>
          </a:bodyPr>
          <a:lstStyle/>
          <a:p>
            <a:r>
              <a:rPr sz="1100" b="0">
                <a:solidFill>
                  <a:srgbClr val="2E2E2E"/>
                </a:solidFill>
                <a:latin typeface="Calibri"/>
              </a:rPr>
              <a:t>▸ Assessed moderate. 'Gels and</a:t>
            </a:r>
          </a:p>
        </p:txBody>
      </p:sp>
      <p:sp>
        <p:nvSpPr>
          <p:cNvPr id="103" name="TextBox 102"/>
          <p:cNvSpPr txBox="1"/>
          <p:nvPr/>
        </p:nvSpPr>
        <p:spPr>
          <a:xfrm>
            <a:off x="7419975" y="3028386"/>
            <a:ext cx="788069" cy="186689"/>
          </a:xfrm>
          <a:prstGeom prst="rect">
            <a:avLst/>
          </a:prstGeom>
          <a:noFill/>
        </p:spPr>
        <p:txBody>
          <a:bodyPr wrap="none" lIns="0" rIns="0" tIns="0" bIns="0">
            <a:spAutoFit/>
          </a:bodyPr>
          <a:lstStyle/>
          <a:p>
            <a:r>
              <a:rPr sz="1100" b="0">
                <a:solidFill>
                  <a:srgbClr val="2E2E2E"/>
                </a:solidFill>
                <a:latin typeface="Calibri"/>
              </a:rPr>
              <a:t>Pastes' loses</a:t>
            </a:r>
          </a:p>
        </p:txBody>
      </p:sp>
      <p:pic>
        <p:nvPicPr>
          <p:cNvPr id="104" name="Picture 103" descr="lock.png"/>
          <p:cNvPicPr>
            <a:picLocks noChangeAspect="1"/>
          </p:cNvPicPr>
          <p:nvPr/>
        </p:nvPicPr>
        <p:blipFill>
          <a:blip r:embed="rId4"/>
          <a:stretch>
            <a:fillRect/>
          </a:stretch>
        </p:blipFill>
        <p:spPr>
          <a:xfrm>
            <a:off x="8156096" y="3018607"/>
            <a:ext cx="128699" cy="187198"/>
          </a:xfrm>
          <a:prstGeom prst="rect">
            <a:avLst/>
          </a:prstGeom>
        </p:spPr>
      </p:pic>
      <p:sp>
        <p:nvSpPr>
          <p:cNvPr id="105" name="TextBox 104"/>
          <p:cNvSpPr txBox="1"/>
          <p:nvPr/>
        </p:nvSpPr>
        <p:spPr>
          <a:xfrm>
            <a:off x="8323592" y="3028386"/>
            <a:ext cx="933772" cy="186689"/>
          </a:xfrm>
          <a:prstGeom prst="rect">
            <a:avLst/>
          </a:prstGeom>
          <a:noFill/>
        </p:spPr>
        <p:txBody>
          <a:bodyPr wrap="none" lIns="0" rIns="0" tIns="0" bIns="0">
            <a:spAutoFit/>
          </a:bodyPr>
          <a:lstStyle/>
          <a:p>
            <a:r>
              <a:rPr sz="1100" b="0">
                <a:solidFill>
                  <a:srgbClr val="2E2E2E"/>
                </a:solidFill>
                <a:latin typeface="Calibri"/>
              </a:rPr>
              <a:t>BPS of share to</a:t>
            </a:r>
          </a:p>
        </p:txBody>
      </p:sp>
      <p:sp>
        <p:nvSpPr>
          <p:cNvPr id="106" name="TextBox 105"/>
          <p:cNvSpPr txBox="1"/>
          <p:nvPr/>
        </p:nvSpPr>
        <p:spPr>
          <a:xfrm>
            <a:off x="7419975" y="3196026"/>
            <a:ext cx="1506760" cy="186689"/>
          </a:xfrm>
          <a:prstGeom prst="rect">
            <a:avLst/>
          </a:prstGeom>
          <a:noFill/>
        </p:spPr>
        <p:txBody>
          <a:bodyPr wrap="none" lIns="0" rIns="0" tIns="0" bIns="0">
            <a:spAutoFit/>
          </a:bodyPr>
          <a:lstStyle/>
          <a:p>
            <a:r>
              <a:rPr sz="1100" b="0">
                <a:solidFill>
                  <a:srgbClr val="2E2E2E"/>
                </a:solidFill>
                <a:latin typeface="Calibri"/>
              </a:rPr>
              <a:t>'Capsules and Softgels' (+</a:t>
            </a:r>
          </a:p>
        </p:txBody>
      </p:sp>
      <p:pic>
        <p:nvPicPr>
          <p:cNvPr id="107" name="Picture 106" descr="lock.png"/>
          <p:cNvPicPr>
            <a:picLocks noChangeAspect="1"/>
          </p:cNvPicPr>
          <p:nvPr/>
        </p:nvPicPr>
        <p:blipFill>
          <a:blip r:embed="rId4"/>
          <a:stretch>
            <a:fillRect/>
          </a:stretch>
        </p:blipFill>
        <p:spPr>
          <a:xfrm>
            <a:off x="8874787" y="3186247"/>
            <a:ext cx="128699" cy="187198"/>
          </a:xfrm>
          <a:prstGeom prst="rect">
            <a:avLst/>
          </a:prstGeom>
        </p:spPr>
      </p:pic>
      <p:sp>
        <p:nvSpPr>
          <p:cNvPr id="108" name="TextBox 107"/>
          <p:cNvSpPr txBox="1"/>
          <p:nvPr/>
        </p:nvSpPr>
        <p:spPr>
          <a:xfrm>
            <a:off x="9042283" y="3196026"/>
            <a:ext cx="331043"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09" name="TextBox 108"/>
          <p:cNvSpPr txBox="1"/>
          <p:nvPr/>
        </p:nvSpPr>
        <p:spPr>
          <a:xfrm>
            <a:off x="7419975" y="3363666"/>
            <a:ext cx="2114550" cy="186689"/>
          </a:xfrm>
          <a:prstGeom prst="rect">
            <a:avLst/>
          </a:prstGeom>
          <a:noFill/>
        </p:spPr>
        <p:txBody>
          <a:bodyPr wrap="none" lIns="0" rIns="0" tIns="0" bIns="0">
            <a:spAutoFit/>
          </a:bodyPr>
          <a:lstStyle/>
          <a:p>
            <a:r>
              <a:rPr sz="1100" b="0">
                <a:solidFill>
                  <a:srgbClr val="2E2E2E"/>
                </a:solidFill>
                <a:latin typeface="Calibri"/>
              </a:rPr>
              <a:t>by 2036 substitution is visible inside</a:t>
            </a:r>
          </a:p>
        </p:txBody>
      </p:sp>
      <p:sp>
        <p:nvSpPr>
          <p:cNvPr id="110" name="TextBox 109"/>
          <p:cNvSpPr txBox="1"/>
          <p:nvPr/>
        </p:nvSpPr>
        <p:spPr>
          <a:xfrm>
            <a:off x="7419975" y="3531306"/>
            <a:ext cx="537319" cy="186689"/>
          </a:xfrm>
          <a:prstGeom prst="rect">
            <a:avLst/>
          </a:prstGeom>
          <a:noFill/>
        </p:spPr>
        <p:txBody>
          <a:bodyPr wrap="none" lIns="0" rIns="0" tIns="0" bIns="0">
            <a:spAutoFit/>
          </a:bodyPr>
          <a:lstStyle/>
          <a:p>
            <a:r>
              <a:rPr sz="1100" b="0">
                <a:solidFill>
                  <a:srgbClr val="2E2E2E"/>
                </a:solidFill>
                <a:latin typeface="Calibri"/>
              </a:rPr>
              <a:t>the mix.</a:t>
            </a:r>
          </a:p>
        </p:txBody>
      </p:sp>
      <p:sp>
        <p:nvSpPr>
          <p:cNvPr id="111" name="TextBox 110"/>
          <p:cNvSpPr txBox="1"/>
          <p:nvPr/>
        </p:nvSpPr>
        <p:spPr>
          <a:xfrm>
            <a:off x="7419975" y="3894694"/>
            <a:ext cx="1550384" cy="179984"/>
          </a:xfrm>
          <a:prstGeom prst="rect">
            <a:avLst/>
          </a:prstGeom>
          <a:noFill/>
        </p:spPr>
        <p:txBody>
          <a:bodyPr wrap="none" lIns="0" rIns="0" tIns="0" bIns="0">
            <a:spAutoFit/>
          </a:bodyPr>
          <a:lstStyle/>
          <a:p>
            <a:r>
              <a:rPr sz="1055" b="0">
                <a:solidFill>
                  <a:srgbClr val="2E2E2E"/>
                </a:solidFill>
                <a:latin typeface="Calibri"/>
              </a:rPr>
              <a:t>▸ The slowest line grows at</a:t>
            </a:r>
          </a:p>
        </p:txBody>
      </p:sp>
      <p:pic>
        <p:nvPicPr>
          <p:cNvPr id="112" name="Picture 111" descr="lock.png"/>
          <p:cNvPicPr>
            <a:picLocks noChangeAspect="1"/>
          </p:cNvPicPr>
          <p:nvPr/>
        </p:nvPicPr>
        <p:blipFill>
          <a:blip r:embed="rId4"/>
          <a:stretch>
            <a:fillRect/>
          </a:stretch>
        </p:blipFill>
        <p:spPr>
          <a:xfrm>
            <a:off x="8917440" y="3885306"/>
            <a:ext cx="123551" cy="179710"/>
          </a:xfrm>
          <a:prstGeom prst="rect">
            <a:avLst/>
          </a:prstGeom>
        </p:spPr>
      </p:pic>
      <p:sp>
        <p:nvSpPr>
          <p:cNvPr id="113" name="TextBox 112"/>
          <p:cNvSpPr txBox="1"/>
          <p:nvPr/>
        </p:nvSpPr>
        <p:spPr>
          <a:xfrm>
            <a:off x="9078236" y="3894694"/>
            <a:ext cx="181236" cy="179984"/>
          </a:xfrm>
          <a:prstGeom prst="rect">
            <a:avLst/>
          </a:prstGeom>
          <a:noFill/>
        </p:spPr>
        <p:txBody>
          <a:bodyPr wrap="none" lIns="0" rIns="0" tIns="0" bIns="0">
            <a:spAutoFit/>
          </a:bodyPr>
          <a:lstStyle/>
          <a:p>
            <a:r>
              <a:rPr sz="1055" b="0">
                <a:solidFill>
                  <a:srgbClr val="2E2E2E"/>
                </a:solidFill>
                <a:latin typeface="Calibri"/>
              </a:rPr>
              <a:t>, -</a:t>
            </a:r>
          </a:p>
        </p:txBody>
      </p:sp>
      <p:pic>
        <p:nvPicPr>
          <p:cNvPr id="114" name="Picture 113" descr="lock.png"/>
          <p:cNvPicPr>
            <a:picLocks noChangeAspect="1"/>
          </p:cNvPicPr>
          <p:nvPr/>
        </p:nvPicPr>
        <p:blipFill>
          <a:blip r:embed="rId4"/>
          <a:stretch>
            <a:fillRect/>
          </a:stretch>
        </p:blipFill>
        <p:spPr>
          <a:xfrm>
            <a:off x="9206555" y="3885306"/>
            <a:ext cx="123551" cy="179710"/>
          </a:xfrm>
          <a:prstGeom prst="rect">
            <a:avLst/>
          </a:prstGeom>
        </p:spPr>
      </p:pic>
      <p:sp>
        <p:nvSpPr>
          <p:cNvPr id="115" name="TextBox 114"/>
          <p:cNvSpPr txBox="1"/>
          <p:nvPr/>
        </p:nvSpPr>
        <p:spPr>
          <a:xfrm>
            <a:off x="7419975" y="4055628"/>
            <a:ext cx="1368861" cy="179984"/>
          </a:xfrm>
          <a:prstGeom prst="rect">
            <a:avLst/>
          </a:prstGeom>
          <a:noFill/>
        </p:spPr>
        <p:txBody>
          <a:bodyPr wrap="none" lIns="0" rIns="0" tIns="0" bIns="0">
            <a:spAutoFit/>
          </a:bodyPr>
          <a:lstStyle/>
          <a:p>
            <a:r>
              <a:rPr sz="1055" b="0">
                <a:solidFill>
                  <a:srgbClr val="2E2E2E"/>
                </a:solidFill>
                <a:latin typeface="Calibri"/>
              </a:rPr>
              <a:t>BPS against the market.</a:t>
            </a:r>
          </a:p>
        </p:txBody>
      </p:sp>
      <p:sp>
        <p:nvSpPr>
          <p:cNvPr id="116" name="TextBox 115"/>
          <p:cNvSpPr txBox="1"/>
          <p:nvPr/>
        </p:nvSpPr>
        <p:spPr>
          <a:xfrm>
            <a:off x="7419975" y="4392850"/>
            <a:ext cx="1254373" cy="186689"/>
          </a:xfrm>
          <a:prstGeom prst="rect">
            <a:avLst/>
          </a:prstGeom>
          <a:noFill/>
        </p:spPr>
        <p:txBody>
          <a:bodyPr wrap="none" lIns="0" rIns="0" tIns="0" bIns="0">
            <a:spAutoFit/>
          </a:bodyPr>
          <a:lstStyle/>
          <a:p>
            <a:r>
              <a:rPr sz="1100" b="0">
                <a:solidFill>
                  <a:srgbClr val="2E2E2E"/>
                </a:solidFill>
                <a:latin typeface="Calibri"/>
              </a:rPr>
              <a:t>▸ Realisation moving</a:t>
            </a:r>
          </a:p>
        </p:txBody>
      </p:sp>
      <p:pic>
        <p:nvPicPr>
          <p:cNvPr id="117" name="Picture 116" descr="lock.png"/>
          <p:cNvPicPr>
            <a:picLocks noChangeAspect="1"/>
          </p:cNvPicPr>
          <p:nvPr/>
        </p:nvPicPr>
        <p:blipFill>
          <a:blip r:embed="rId4"/>
          <a:stretch>
            <a:fillRect/>
          </a:stretch>
        </p:blipFill>
        <p:spPr>
          <a:xfrm>
            <a:off x="8622399" y="4383071"/>
            <a:ext cx="128699" cy="187198"/>
          </a:xfrm>
          <a:prstGeom prst="rect">
            <a:avLst/>
          </a:prstGeom>
        </p:spPr>
      </p:pic>
      <p:sp>
        <p:nvSpPr>
          <p:cNvPr id="118" name="TextBox 117"/>
          <p:cNvSpPr txBox="1"/>
          <p:nvPr/>
        </p:nvSpPr>
        <p:spPr>
          <a:xfrm>
            <a:off x="8789895" y="4392850"/>
            <a:ext cx="423267" cy="186689"/>
          </a:xfrm>
          <a:prstGeom prst="rect">
            <a:avLst/>
          </a:prstGeom>
          <a:noFill/>
        </p:spPr>
        <p:txBody>
          <a:bodyPr wrap="none" lIns="0" rIns="0" tIns="0" bIns="0">
            <a:spAutoFit/>
          </a:bodyPr>
          <a:lstStyle/>
          <a:p>
            <a:r>
              <a:rPr sz="1100" b="0">
                <a:solidFill>
                  <a:srgbClr val="2E2E2E"/>
                </a:solidFill>
                <a:latin typeface="Calibri"/>
              </a:rPr>
              <a:t>a year</a:t>
            </a:r>
          </a:p>
        </p:txBody>
      </p:sp>
      <p:sp>
        <p:nvSpPr>
          <p:cNvPr id="119" name="TextBox 118"/>
          <p:cNvSpPr txBox="1"/>
          <p:nvPr/>
        </p:nvSpPr>
        <p:spPr>
          <a:xfrm>
            <a:off x="7419975" y="4560490"/>
            <a:ext cx="1911399" cy="186689"/>
          </a:xfrm>
          <a:prstGeom prst="rect">
            <a:avLst/>
          </a:prstGeom>
          <a:noFill/>
        </p:spPr>
        <p:txBody>
          <a:bodyPr wrap="none" lIns="0" rIns="0" tIns="0" bIns="0">
            <a:spAutoFit/>
          </a:bodyPr>
          <a:lstStyle/>
          <a:p>
            <a:r>
              <a:rPr sz="1100" b="0">
                <a:solidFill>
                  <a:srgbClr val="2E2E2E"/>
                </a:solidFill>
                <a:latin typeface="Calibri"/>
              </a:rPr>
              <a:t>widens the price gap substitutes</a:t>
            </a:r>
          </a:p>
        </p:txBody>
      </p:sp>
      <p:sp>
        <p:nvSpPr>
          <p:cNvPr id="120" name="TextBox 119"/>
          <p:cNvSpPr txBox="1"/>
          <p:nvPr/>
        </p:nvSpPr>
        <p:spPr>
          <a:xfrm>
            <a:off x="7419975" y="4728130"/>
            <a:ext cx="718765" cy="186689"/>
          </a:xfrm>
          <a:prstGeom prst="rect">
            <a:avLst/>
          </a:prstGeom>
          <a:noFill/>
        </p:spPr>
        <p:txBody>
          <a:bodyPr wrap="none" lIns="0" rIns="0" tIns="0" bIns="0">
            <a:spAutoFit/>
          </a:bodyPr>
          <a:lstStyle/>
          <a:p>
            <a:r>
              <a:rPr sz="1100" b="0">
                <a:solidFill>
                  <a:srgbClr val="2E2E2E"/>
                </a:solidFill>
                <a:latin typeface="Calibri"/>
              </a:rPr>
              <a:t>must close.</a:t>
            </a:r>
          </a:p>
        </p:txBody>
      </p:sp>
      <p:sp>
        <p:nvSpPr>
          <p:cNvPr id="121" name="TextBox 120"/>
          <p:cNvSpPr txBox="1"/>
          <p:nvPr/>
        </p:nvSpPr>
        <p:spPr>
          <a:xfrm>
            <a:off x="9801225" y="2848734"/>
            <a:ext cx="1989162" cy="186689"/>
          </a:xfrm>
          <a:prstGeom prst="rect">
            <a:avLst/>
          </a:prstGeom>
          <a:noFill/>
        </p:spPr>
        <p:txBody>
          <a:bodyPr wrap="none" lIns="0" rIns="0" tIns="0" bIns="0">
            <a:spAutoFit/>
          </a:bodyPr>
          <a:lstStyle/>
          <a:p>
            <a:r>
              <a:rPr sz="1100" b="0">
                <a:solidFill>
                  <a:srgbClr val="2E2E2E"/>
                </a:solidFill>
                <a:latin typeface="Calibri"/>
              </a:rPr>
              <a:t>▸ Assessed moderate to high. The</a:t>
            </a:r>
          </a:p>
        </p:txBody>
      </p:sp>
      <p:sp>
        <p:nvSpPr>
          <p:cNvPr id="122" name="TextBox 121"/>
          <p:cNvSpPr txBox="1"/>
          <p:nvPr/>
        </p:nvSpPr>
        <p:spPr>
          <a:xfrm>
            <a:off x="9801225" y="3016374"/>
            <a:ext cx="1003349" cy="186689"/>
          </a:xfrm>
          <a:prstGeom prst="rect">
            <a:avLst/>
          </a:prstGeom>
          <a:noFill/>
        </p:spPr>
        <p:txBody>
          <a:bodyPr wrap="none" lIns="0" rIns="0" tIns="0" bIns="0">
            <a:spAutoFit/>
          </a:bodyPr>
          <a:lstStyle/>
          <a:p>
            <a:r>
              <a:rPr sz="1100" b="0">
                <a:solidFill>
                  <a:srgbClr val="2E2E2E"/>
                </a:solidFill>
                <a:latin typeface="Calibri"/>
              </a:rPr>
              <a:t>market grows at</a:t>
            </a:r>
          </a:p>
        </p:txBody>
      </p:sp>
      <p:pic>
        <p:nvPicPr>
          <p:cNvPr id="123" name="Picture 122" descr="lock.png"/>
          <p:cNvPicPr>
            <a:picLocks noChangeAspect="1"/>
          </p:cNvPicPr>
          <p:nvPr/>
        </p:nvPicPr>
        <p:blipFill>
          <a:blip r:embed="rId4"/>
          <a:stretch>
            <a:fillRect/>
          </a:stretch>
        </p:blipFill>
        <p:spPr>
          <a:xfrm>
            <a:off x="10752626" y="3006595"/>
            <a:ext cx="128699" cy="187198"/>
          </a:xfrm>
          <a:prstGeom prst="rect">
            <a:avLst/>
          </a:prstGeom>
        </p:spPr>
      </p:pic>
      <p:sp>
        <p:nvSpPr>
          <p:cNvPr id="124" name="TextBox 123"/>
          <p:cNvSpPr txBox="1"/>
          <p:nvPr/>
        </p:nvSpPr>
        <p:spPr>
          <a:xfrm>
            <a:off x="10920122" y="3016374"/>
            <a:ext cx="940576" cy="186689"/>
          </a:xfrm>
          <a:prstGeom prst="rect">
            <a:avLst/>
          </a:prstGeom>
          <a:noFill/>
        </p:spPr>
        <p:txBody>
          <a:bodyPr wrap="none" lIns="0" rIns="0" tIns="0" bIns="0">
            <a:spAutoFit/>
          </a:bodyPr>
          <a:lstStyle/>
          <a:p>
            <a:r>
              <a:rPr sz="1100" b="0">
                <a:solidFill>
                  <a:srgbClr val="2E2E2E"/>
                </a:solidFill>
                <a:latin typeface="Calibri"/>
              </a:rPr>
              <a:t>CAGR and adds</a:t>
            </a:r>
          </a:p>
        </p:txBody>
      </p:sp>
      <p:pic>
        <p:nvPicPr>
          <p:cNvPr id="125" name="Picture 124" descr="lock.png"/>
          <p:cNvPicPr>
            <a:picLocks noChangeAspect="1"/>
          </p:cNvPicPr>
          <p:nvPr/>
        </p:nvPicPr>
        <p:blipFill>
          <a:blip r:embed="rId4"/>
          <a:stretch>
            <a:fillRect/>
          </a:stretch>
        </p:blipFill>
        <p:spPr>
          <a:xfrm>
            <a:off x="9787757" y="3174235"/>
            <a:ext cx="128699" cy="187198"/>
          </a:xfrm>
          <a:prstGeom prst="rect">
            <a:avLst/>
          </a:prstGeom>
        </p:spPr>
      </p:pic>
      <p:sp>
        <p:nvSpPr>
          <p:cNvPr id="126" name="TextBox 125"/>
          <p:cNvSpPr txBox="1"/>
          <p:nvPr/>
        </p:nvSpPr>
        <p:spPr>
          <a:xfrm>
            <a:off x="9955253" y="3184014"/>
            <a:ext cx="1629816" cy="186689"/>
          </a:xfrm>
          <a:prstGeom prst="rect">
            <a:avLst/>
          </a:prstGeom>
          <a:noFill/>
        </p:spPr>
        <p:txBody>
          <a:bodyPr wrap="none" lIns="0" rIns="0" tIns="0" bIns="0">
            <a:spAutoFit/>
          </a:bodyPr>
          <a:lstStyle/>
          <a:p>
            <a:r>
              <a:rPr sz="1100" b="0">
                <a:solidFill>
                  <a:srgbClr val="2E2E2E"/>
                </a:solidFill>
                <a:latin typeface="Calibri"/>
              </a:rPr>
              <a:t>US$ Mn by 2036, attracting</a:t>
            </a:r>
          </a:p>
        </p:txBody>
      </p:sp>
      <p:sp>
        <p:nvSpPr>
          <p:cNvPr id="127" name="TextBox 126"/>
          <p:cNvSpPr txBox="1"/>
          <p:nvPr/>
        </p:nvSpPr>
        <p:spPr>
          <a:xfrm>
            <a:off x="9801225" y="3351654"/>
            <a:ext cx="413444" cy="186689"/>
          </a:xfrm>
          <a:prstGeom prst="rect">
            <a:avLst/>
          </a:prstGeom>
          <a:noFill/>
        </p:spPr>
        <p:txBody>
          <a:bodyPr wrap="none" lIns="0" rIns="0" tIns="0" bIns="0">
            <a:spAutoFit/>
          </a:bodyPr>
          <a:lstStyle/>
          <a:p>
            <a:r>
              <a:rPr sz="1100" b="0">
                <a:solidFill>
                  <a:srgbClr val="2E2E2E"/>
                </a:solidFill>
                <a:latin typeface="Calibri"/>
              </a:rPr>
              <a:t>entry.</a:t>
            </a:r>
          </a:p>
        </p:txBody>
      </p:sp>
      <p:sp>
        <p:nvSpPr>
          <p:cNvPr id="128" name="TextBox 127"/>
          <p:cNvSpPr txBox="1"/>
          <p:nvPr/>
        </p:nvSpPr>
        <p:spPr>
          <a:xfrm>
            <a:off x="9801225" y="3708336"/>
            <a:ext cx="1971426" cy="186689"/>
          </a:xfrm>
          <a:prstGeom prst="rect">
            <a:avLst/>
          </a:prstGeom>
          <a:noFill/>
        </p:spPr>
        <p:txBody>
          <a:bodyPr wrap="none" lIns="0" rIns="0" tIns="0" bIns="0">
            <a:spAutoFit/>
          </a:bodyPr>
          <a:lstStyle/>
          <a:p>
            <a:r>
              <a:rPr sz="1100" b="0">
                <a:solidFill>
                  <a:srgbClr val="2E2E2E"/>
                </a:solidFill>
                <a:latin typeface="Calibri"/>
              </a:rPr>
              <a:t>▸ Demand spreads over 6 regions</a:t>
            </a:r>
          </a:p>
        </p:txBody>
      </p:sp>
      <p:sp>
        <p:nvSpPr>
          <p:cNvPr id="129" name="TextBox 128"/>
          <p:cNvSpPr txBox="1"/>
          <p:nvPr/>
        </p:nvSpPr>
        <p:spPr>
          <a:xfrm>
            <a:off x="9801225" y="3875976"/>
            <a:ext cx="1493118" cy="186689"/>
          </a:xfrm>
          <a:prstGeom prst="rect">
            <a:avLst/>
          </a:prstGeom>
          <a:noFill/>
        </p:spPr>
        <p:txBody>
          <a:bodyPr wrap="none" lIns="0" rIns="0" tIns="0" bIns="0">
            <a:spAutoFit/>
          </a:bodyPr>
          <a:lstStyle/>
          <a:p>
            <a:r>
              <a:rPr sz="1100" b="0">
                <a:solidFill>
                  <a:srgbClr val="2E2E2E"/>
                </a:solidFill>
                <a:latin typeface="Calibri"/>
              </a:rPr>
              <a:t>with no single one above</a:t>
            </a:r>
          </a:p>
        </p:txBody>
      </p:sp>
      <p:pic>
        <p:nvPicPr>
          <p:cNvPr id="130" name="Picture 129" descr="lock.png"/>
          <p:cNvPicPr>
            <a:picLocks noChangeAspect="1"/>
          </p:cNvPicPr>
          <p:nvPr/>
        </p:nvPicPr>
        <p:blipFill>
          <a:blip r:embed="rId4"/>
          <a:stretch>
            <a:fillRect/>
          </a:stretch>
        </p:blipFill>
        <p:spPr>
          <a:xfrm>
            <a:off x="11242394" y="3866197"/>
            <a:ext cx="128699" cy="187198"/>
          </a:xfrm>
          <a:prstGeom prst="rect">
            <a:avLst/>
          </a:prstGeom>
        </p:spPr>
      </p:pic>
      <p:sp>
        <p:nvSpPr>
          <p:cNvPr id="131" name="TextBox 130"/>
          <p:cNvSpPr txBox="1"/>
          <p:nvPr/>
        </p:nvSpPr>
        <p:spPr>
          <a:xfrm>
            <a:off x="11409890" y="3875976"/>
            <a:ext cx="271016" cy="186689"/>
          </a:xfrm>
          <a:prstGeom prst="rect">
            <a:avLst/>
          </a:prstGeom>
          <a:noFill/>
        </p:spPr>
        <p:txBody>
          <a:bodyPr wrap="none" lIns="0" rIns="0" tIns="0" bIns="0">
            <a:spAutoFit/>
          </a:bodyPr>
          <a:lstStyle/>
          <a:p>
            <a:r>
              <a:rPr sz="1100" b="0">
                <a:solidFill>
                  <a:srgbClr val="2E2E2E"/>
                </a:solidFill>
                <a:latin typeface="Calibri"/>
              </a:rPr>
              <a:t>, so</a:t>
            </a:r>
          </a:p>
        </p:txBody>
      </p:sp>
      <p:sp>
        <p:nvSpPr>
          <p:cNvPr id="132" name="TextBox 131"/>
          <p:cNvSpPr txBox="1"/>
          <p:nvPr/>
        </p:nvSpPr>
        <p:spPr>
          <a:xfrm>
            <a:off x="9801225" y="4043616"/>
            <a:ext cx="1498575" cy="186689"/>
          </a:xfrm>
          <a:prstGeom prst="rect">
            <a:avLst/>
          </a:prstGeom>
          <a:noFill/>
        </p:spPr>
        <p:txBody>
          <a:bodyPr wrap="none" lIns="0" rIns="0" tIns="0" bIns="0">
            <a:spAutoFit/>
          </a:bodyPr>
          <a:lstStyle/>
          <a:p>
            <a:r>
              <a:rPr sz="1100" b="0">
                <a:solidFill>
                  <a:srgbClr val="2E2E2E"/>
                </a:solidFill>
                <a:latin typeface="Calibri"/>
              </a:rPr>
              <a:t>regional entry is feasible.</a:t>
            </a:r>
          </a:p>
        </p:txBody>
      </p:sp>
      <p:sp>
        <p:nvSpPr>
          <p:cNvPr id="133" name="TextBox 132"/>
          <p:cNvSpPr txBox="1"/>
          <p:nvPr/>
        </p:nvSpPr>
        <p:spPr>
          <a:xfrm>
            <a:off x="9801225" y="4400299"/>
            <a:ext cx="2114550" cy="186689"/>
          </a:xfrm>
          <a:prstGeom prst="rect">
            <a:avLst/>
          </a:prstGeom>
          <a:noFill/>
        </p:spPr>
        <p:txBody>
          <a:bodyPr wrap="none" lIns="0" rIns="0" tIns="0" bIns="0">
            <a:spAutoFit/>
          </a:bodyPr>
          <a:lstStyle/>
          <a:p>
            <a:r>
              <a:rPr sz="1100" b="0">
                <a:solidFill>
                  <a:srgbClr val="2E2E2E"/>
                </a:solidFill>
                <a:latin typeface="Calibri"/>
              </a:rPr>
              <a:t>▸ Incumbent scale in 'North America'</a:t>
            </a:r>
          </a:p>
        </p:txBody>
      </p:sp>
      <p:sp>
        <p:nvSpPr>
          <p:cNvPr id="134" name="TextBox 133"/>
          <p:cNvSpPr txBox="1"/>
          <p:nvPr/>
        </p:nvSpPr>
        <p:spPr>
          <a:xfrm>
            <a:off x="9801225" y="4567939"/>
            <a:ext cx="1682477" cy="186689"/>
          </a:xfrm>
          <a:prstGeom prst="rect">
            <a:avLst/>
          </a:prstGeom>
          <a:noFill/>
        </p:spPr>
        <p:txBody>
          <a:bodyPr wrap="none" lIns="0" rIns="0" tIns="0" bIns="0">
            <a:spAutoFit/>
          </a:bodyPr>
          <a:lstStyle/>
          <a:p>
            <a:r>
              <a:rPr sz="1100" b="0">
                <a:solidFill>
                  <a:srgbClr val="2E2E2E"/>
                </a:solidFill>
                <a:latin typeface="Calibri"/>
              </a:rPr>
              <a:t>and 'Capsules and Softgels' (</a:t>
            </a:r>
          </a:p>
        </p:txBody>
      </p:sp>
      <p:pic>
        <p:nvPicPr>
          <p:cNvPr id="135" name="Picture 134" descr="lock.png"/>
          <p:cNvPicPr>
            <a:picLocks noChangeAspect="1"/>
          </p:cNvPicPr>
          <p:nvPr/>
        </p:nvPicPr>
        <p:blipFill>
          <a:blip r:embed="rId4"/>
          <a:stretch>
            <a:fillRect/>
          </a:stretch>
        </p:blipFill>
        <p:spPr>
          <a:xfrm>
            <a:off x="11431753" y="4558160"/>
            <a:ext cx="128699" cy="187198"/>
          </a:xfrm>
          <a:prstGeom prst="rect">
            <a:avLst/>
          </a:prstGeom>
        </p:spPr>
      </p:pic>
      <p:sp>
        <p:nvSpPr>
          <p:cNvPr id="136" name="TextBox 135"/>
          <p:cNvSpPr txBox="1"/>
          <p:nvPr/>
        </p:nvSpPr>
        <p:spPr>
          <a:xfrm>
            <a:off x="11599249" y="4567939"/>
            <a:ext cx="192434" cy="186689"/>
          </a:xfrm>
          <a:prstGeom prst="rect">
            <a:avLst/>
          </a:prstGeom>
          <a:noFill/>
        </p:spPr>
        <p:txBody>
          <a:bodyPr wrap="none" lIns="0" rIns="0" tIns="0" bIns="0">
            <a:spAutoFit/>
          </a:bodyPr>
          <a:lstStyle/>
          <a:p>
            <a:r>
              <a:rPr sz="1100" b="0">
                <a:solidFill>
                  <a:srgbClr val="2E2E2E"/>
                </a:solidFill>
                <a:latin typeface="Calibri"/>
              </a:rPr>
              <a:t>of</a:t>
            </a:r>
          </a:p>
        </p:txBody>
      </p:sp>
      <p:sp>
        <p:nvSpPr>
          <p:cNvPr id="137" name="TextBox 136"/>
          <p:cNvSpPr txBox="1"/>
          <p:nvPr/>
        </p:nvSpPr>
        <p:spPr>
          <a:xfrm>
            <a:off x="9801225" y="4735579"/>
            <a:ext cx="1843459" cy="186689"/>
          </a:xfrm>
          <a:prstGeom prst="rect">
            <a:avLst/>
          </a:prstGeom>
          <a:noFill/>
        </p:spPr>
        <p:txBody>
          <a:bodyPr wrap="none" lIns="0" rIns="0" tIns="0" bIns="0">
            <a:spAutoFit/>
          </a:bodyPr>
          <a:lstStyle/>
          <a:p>
            <a:r>
              <a:rPr sz="1100" b="0">
                <a:solidFill>
                  <a:srgbClr val="2E2E2E"/>
                </a:solidFill>
                <a:latin typeface="Calibri"/>
              </a:rPr>
              <a:t>segment) remains the principal</a:t>
            </a:r>
          </a:p>
        </p:txBody>
      </p:sp>
      <p:sp>
        <p:nvSpPr>
          <p:cNvPr id="138" name="TextBox 137"/>
          <p:cNvSpPr txBox="1"/>
          <p:nvPr/>
        </p:nvSpPr>
        <p:spPr>
          <a:xfrm>
            <a:off x="9801225" y="4903219"/>
            <a:ext cx="499938" cy="186689"/>
          </a:xfrm>
          <a:prstGeom prst="rect">
            <a:avLst/>
          </a:prstGeom>
          <a:noFill/>
        </p:spPr>
        <p:txBody>
          <a:bodyPr wrap="none" lIns="0" rIns="0" tIns="0" bIns="0">
            <a:spAutoFit/>
          </a:bodyPr>
          <a:lstStyle/>
          <a:p>
            <a:r>
              <a:rPr sz="1100" b="0">
                <a:solidFill>
                  <a:srgbClr val="2E2E2E"/>
                </a:solidFill>
                <a:latin typeface="Calibri"/>
              </a:rPr>
              <a:t>barrier.</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Senior Dog Cognitive Supplement Market</a:t>
            </a:r>
          </a:p>
        </p:txBody>
      </p:sp>
      <p:sp>
        <p:nvSpPr>
          <p:cNvPr id="6" name="FMI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Competition Assessment</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Competitive Landscape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Share by Leading Players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Company Profiles &amp; Strategic Benchmarking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18</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Market Share by Leading Players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Advice for Vendors &amp; Suppliers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Value Share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Who Shaped Growth</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Advice for Market Vendors / Suppliers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Strategic advice for vendors and suppliers on pricing, product, geography, channel and competitive risk</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Strategic advice for vendors and suppliers where to compete, how to price, and which risks to manage across the Senior Dog Cognitive Supplement Market.</a:t>
            </a:r>
          </a:p>
        </p:txBody>
      </p:sp>
      <p:sp>
        <p:nvSpPr>
          <p:cNvPr id="11" name="Rounded Rectangle 10"/>
          <p:cNvSpPr/>
          <p:nvPr/>
        </p:nvSpPr>
        <p:spPr>
          <a:xfrm>
            <a:off x="142875" y="1354081"/>
            <a:ext cx="5857875"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1439806"/>
            <a:ext cx="5591175" cy="209550"/>
          </a:xfrm>
          <a:prstGeom prst="rect">
            <a:avLst/>
          </a:prstGeom>
          <a:noFill/>
        </p:spPr>
        <p:txBody>
          <a:bodyPr wrap="square" lIns="0" rIns="19050" tIns="9525" bIns="9525">
            <a:spAutoFit/>
          </a:bodyPr>
          <a:lstStyle/>
          <a:p>
            <a:pPr algn="l"/>
            <a:r>
              <a:rPr sz="1300" b="1">
                <a:solidFill>
                  <a:srgbClr val="0B2E4A"/>
                </a:solidFill>
                <a:latin typeface="Calibri"/>
              </a:rPr>
              <a:t>Pricing &amp; Margin Strategy</a:t>
            </a:r>
          </a:p>
        </p:txBody>
      </p:sp>
      <p:sp>
        <p:nvSpPr>
          <p:cNvPr id="13" name="Rectangle 12"/>
          <p:cNvSpPr/>
          <p:nvPr/>
        </p:nvSpPr>
        <p:spPr>
          <a:xfrm>
            <a:off x="276225" y="1677931"/>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5" name="Rounded Rectangle 14"/>
          <p:cNvSpPr/>
          <p:nvPr/>
        </p:nvSpPr>
        <p:spPr>
          <a:xfrm>
            <a:off x="6191250" y="1354081"/>
            <a:ext cx="5857875"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4600" y="1439806"/>
            <a:ext cx="5591175" cy="209550"/>
          </a:xfrm>
          <a:prstGeom prst="rect">
            <a:avLst/>
          </a:prstGeom>
          <a:noFill/>
        </p:spPr>
        <p:txBody>
          <a:bodyPr wrap="square" lIns="0" rIns="19050" tIns="9525" bIns="9525">
            <a:spAutoFit/>
          </a:bodyPr>
          <a:lstStyle/>
          <a:p>
            <a:pPr algn="l"/>
            <a:r>
              <a:rPr sz="1300" b="1">
                <a:solidFill>
                  <a:srgbClr val="0B2E4A"/>
                </a:solidFill>
                <a:latin typeface="Calibri"/>
              </a:rPr>
              <a:t>Product &amp; Innovation</a:t>
            </a:r>
          </a:p>
        </p:txBody>
      </p:sp>
      <p:sp>
        <p:nvSpPr>
          <p:cNvPr id="17" name="Rectangle 16"/>
          <p:cNvSpPr/>
          <p:nvPr/>
        </p:nvSpPr>
        <p:spPr>
          <a:xfrm>
            <a:off x="6324600" y="1677931"/>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4600"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9" name="Rounded Rectangle 18"/>
          <p:cNvSpPr/>
          <p:nvPr/>
        </p:nvSpPr>
        <p:spPr>
          <a:xfrm>
            <a:off x="142875" y="4046502"/>
            <a:ext cx="5857875" cy="2509883"/>
          </a:xfrm>
          <a:prstGeom prst="roundRect">
            <a:avLst>
              <a:gd name="adj" fmla="val 303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132227"/>
            <a:ext cx="5591175" cy="209550"/>
          </a:xfrm>
          <a:prstGeom prst="rect">
            <a:avLst/>
          </a:prstGeom>
          <a:noFill/>
        </p:spPr>
        <p:txBody>
          <a:bodyPr wrap="square" lIns="0" rIns="19050" tIns="9525" bIns="9525">
            <a:spAutoFit/>
          </a:bodyPr>
          <a:lstStyle/>
          <a:p>
            <a:pPr algn="l"/>
            <a:r>
              <a:rPr sz="1300" b="1">
                <a:solidFill>
                  <a:srgbClr val="0B2E4A"/>
                </a:solidFill>
                <a:latin typeface="Calibri"/>
              </a:rPr>
              <a:t>Geographic &amp; Channel Expansion</a:t>
            </a:r>
          </a:p>
        </p:txBody>
      </p:sp>
      <p:sp>
        <p:nvSpPr>
          <p:cNvPr id="21" name="Rectangle 20"/>
          <p:cNvSpPr/>
          <p:nvPr/>
        </p:nvSpPr>
        <p:spPr>
          <a:xfrm>
            <a:off x="276225" y="4370352"/>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Expand selectively into under-penetrated regions where the leaders are thin, rather than head-on in saturated markets.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Balance retail, hospital/clinic and online channels online is the fastest-shifting route to end customers.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Build reliable distribution and logistics partnerships to convert demand into fulfilled volume.</a:t>
            </a:r>
          </a:p>
        </p:txBody>
      </p:sp>
      <p:sp>
        <p:nvSpPr>
          <p:cNvPr id="23" name="Rounded Rectangle 22"/>
          <p:cNvSpPr/>
          <p:nvPr/>
        </p:nvSpPr>
        <p:spPr>
          <a:xfrm>
            <a:off x="6191250" y="4046502"/>
            <a:ext cx="5857875" cy="2509883"/>
          </a:xfrm>
          <a:prstGeom prst="roundRect">
            <a:avLst>
              <a:gd name="adj" fmla="val 303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4600" y="4132227"/>
            <a:ext cx="5591175" cy="209550"/>
          </a:xfrm>
          <a:prstGeom prst="rect">
            <a:avLst/>
          </a:prstGeom>
          <a:noFill/>
        </p:spPr>
        <p:txBody>
          <a:bodyPr wrap="square" lIns="0" rIns="19050" tIns="9525" bIns="9525">
            <a:spAutoFit/>
          </a:bodyPr>
          <a:lstStyle/>
          <a:p>
            <a:pPr algn="l"/>
            <a:r>
              <a:rPr sz="1300" b="1">
                <a:solidFill>
                  <a:srgbClr val="0B2E4A"/>
                </a:solidFill>
                <a:latin typeface="Calibri"/>
              </a:rPr>
              <a:t>Competitive &amp; Risk Positioning</a:t>
            </a:r>
          </a:p>
        </p:txBody>
      </p:sp>
      <p:sp>
        <p:nvSpPr>
          <p:cNvPr id="25" name="Rectangle 24"/>
          <p:cNvSpPr/>
          <p:nvPr/>
        </p:nvSpPr>
        <p:spPr>
          <a:xfrm>
            <a:off x="6324600" y="4370352"/>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24600"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8" name="TextBox 27"/>
          <p:cNvSpPr txBox="1"/>
          <p:nvPr/>
        </p:nvSpPr>
        <p:spPr>
          <a:xfrm>
            <a:off x="276225" y="1773181"/>
            <a:ext cx="3235387" cy="194310"/>
          </a:xfrm>
          <a:prstGeom prst="rect">
            <a:avLst/>
          </a:prstGeom>
          <a:noFill/>
        </p:spPr>
        <p:txBody>
          <a:bodyPr wrap="none" lIns="0" rIns="0" tIns="0" bIns="0">
            <a:spAutoFit/>
          </a:bodyPr>
          <a:lstStyle/>
          <a:p>
            <a:r>
              <a:rPr sz="1150" b="0">
                <a:solidFill>
                  <a:srgbClr val="2E2E2E"/>
                </a:solidFill>
                <a:latin typeface="Calibri"/>
              </a:rPr>
              <a:t>▪ Hold price discipline: with the top three players at ~</a:t>
            </a:r>
          </a:p>
        </p:txBody>
      </p:sp>
      <p:pic>
        <p:nvPicPr>
          <p:cNvPr id="29" name="Picture 28" descr="lock.png"/>
          <p:cNvPicPr>
            <a:picLocks noChangeAspect="1"/>
          </p:cNvPicPr>
          <p:nvPr/>
        </p:nvPicPr>
        <p:blipFill>
          <a:blip r:embed="rId4"/>
          <a:stretch>
            <a:fillRect/>
          </a:stretch>
        </p:blipFill>
        <p:spPr>
          <a:xfrm>
            <a:off x="3460765" y="1762957"/>
            <a:ext cx="134549" cy="195707"/>
          </a:xfrm>
          <a:prstGeom prst="rect">
            <a:avLst/>
          </a:prstGeom>
        </p:spPr>
      </p:pic>
      <p:sp>
        <p:nvSpPr>
          <p:cNvPr id="30" name="TextBox 29"/>
          <p:cNvSpPr txBox="1"/>
          <p:nvPr/>
        </p:nvSpPr>
        <p:spPr>
          <a:xfrm>
            <a:off x="3635875" y="1773181"/>
            <a:ext cx="1859892" cy="194310"/>
          </a:xfrm>
          <a:prstGeom prst="rect">
            <a:avLst/>
          </a:prstGeom>
          <a:noFill/>
        </p:spPr>
        <p:txBody>
          <a:bodyPr wrap="none" lIns="0" rIns="0" tIns="0" bIns="0">
            <a:spAutoFit/>
          </a:bodyPr>
          <a:lstStyle/>
          <a:p>
            <a:r>
              <a:rPr sz="1150" b="0">
                <a:solidFill>
                  <a:srgbClr val="2E2E2E"/>
                </a:solidFill>
                <a:latin typeface="Calibri"/>
              </a:rPr>
              <a:t>share, avoid value-destructive</a:t>
            </a:r>
          </a:p>
        </p:txBody>
      </p:sp>
      <p:sp>
        <p:nvSpPr>
          <p:cNvPr id="31" name="TextBox 30"/>
          <p:cNvSpPr txBox="1"/>
          <p:nvPr/>
        </p:nvSpPr>
        <p:spPr>
          <a:xfrm>
            <a:off x="276225" y="1948441"/>
            <a:ext cx="3646723" cy="194310"/>
          </a:xfrm>
          <a:prstGeom prst="rect">
            <a:avLst/>
          </a:prstGeom>
          <a:noFill/>
        </p:spPr>
        <p:txBody>
          <a:bodyPr wrap="none" lIns="0" rIns="0" tIns="0" bIns="0">
            <a:spAutoFit/>
          </a:bodyPr>
          <a:lstStyle/>
          <a:p>
            <a:r>
              <a:rPr sz="1150" b="0">
                <a:solidFill>
                  <a:srgbClr val="2E2E2E"/>
                </a:solidFill>
                <a:latin typeface="Calibri"/>
              </a:rPr>
              <a:t>discounting compete on mix and service, not headline price.</a:t>
            </a:r>
          </a:p>
        </p:txBody>
      </p:sp>
      <p:sp>
        <p:nvSpPr>
          <p:cNvPr id="32" name="TextBox 31"/>
          <p:cNvSpPr txBox="1"/>
          <p:nvPr/>
        </p:nvSpPr>
        <p:spPr>
          <a:xfrm>
            <a:off x="276225" y="2176279"/>
            <a:ext cx="5488892" cy="194310"/>
          </a:xfrm>
          <a:prstGeom prst="rect">
            <a:avLst/>
          </a:prstGeom>
          <a:noFill/>
        </p:spPr>
        <p:txBody>
          <a:bodyPr wrap="none" lIns="0" rIns="0" tIns="0" bIns="0">
            <a:spAutoFit/>
          </a:bodyPr>
          <a:lstStyle/>
          <a:p>
            <a:r>
              <a:rPr sz="1150" b="0">
                <a:solidFill>
                  <a:srgbClr val="2E2E2E"/>
                </a:solidFill>
                <a:latin typeface="Calibri"/>
              </a:rPr>
              <a:t>▪ Premiumise toward higher-value formulations (e.g. 'Capsules and Softgels') to lift blended</a:t>
            </a:r>
          </a:p>
        </p:txBody>
      </p:sp>
      <p:sp>
        <p:nvSpPr>
          <p:cNvPr id="33" name="TextBox 32"/>
          <p:cNvSpPr txBox="1"/>
          <p:nvPr/>
        </p:nvSpPr>
        <p:spPr>
          <a:xfrm>
            <a:off x="276225" y="2351539"/>
            <a:ext cx="2706241" cy="194310"/>
          </a:xfrm>
          <a:prstGeom prst="rect">
            <a:avLst/>
          </a:prstGeom>
          <a:noFill/>
        </p:spPr>
        <p:txBody>
          <a:bodyPr wrap="none" lIns="0" rIns="0" tIns="0" bIns="0">
            <a:spAutoFit/>
          </a:bodyPr>
          <a:lstStyle/>
          <a:p>
            <a:r>
              <a:rPr sz="1150" b="0">
                <a:solidFill>
                  <a:srgbClr val="2E2E2E"/>
                </a:solidFill>
                <a:latin typeface="Calibri"/>
              </a:rPr>
              <a:t>ASP and defend margin as input costs move.</a:t>
            </a:r>
          </a:p>
        </p:txBody>
      </p:sp>
      <p:sp>
        <p:nvSpPr>
          <p:cNvPr id="34" name="TextBox 33"/>
          <p:cNvSpPr txBox="1"/>
          <p:nvPr/>
        </p:nvSpPr>
        <p:spPr>
          <a:xfrm>
            <a:off x="276225" y="2579377"/>
            <a:ext cx="4816264" cy="194310"/>
          </a:xfrm>
          <a:prstGeom prst="rect">
            <a:avLst/>
          </a:prstGeom>
          <a:noFill/>
        </p:spPr>
        <p:txBody>
          <a:bodyPr wrap="none" lIns="0" rIns="0" tIns="0" bIns="0">
            <a:spAutoFit/>
          </a:bodyPr>
          <a:lstStyle/>
          <a:p>
            <a:r>
              <a:rPr sz="1150" b="0">
                <a:solidFill>
                  <a:srgbClr val="2E2E2E"/>
                </a:solidFill>
                <a:latin typeface="Calibri"/>
              </a:rPr>
              <a:t>▪ Set transparent, corridor-based regional pricing to limit grey-market arbitrage.</a:t>
            </a:r>
          </a:p>
        </p:txBody>
      </p:sp>
      <p:sp>
        <p:nvSpPr>
          <p:cNvPr id="35" name="TextBox 34"/>
          <p:cNvSpPr txBox="1"/>
          <p:nvPr/>
        </p:nvSpPr>
        <p:spPr>
          <a:xfrm>
            <a:off x="6324600" y="1773181"/>
            <a:ext cx="5495453" cy="194310"/>
          </a:xfrm>
          <a:prstGeom prst="rect">
            <a:avLst/>
          </a:prstGeom>
          <a:noFill/>
        </p:spPr>
        <p:txBody>
          <a:bodyPr wrap="none" lIns="0" rIns="0" tIns="0" bIns="0">
            <a:spAutoFit/>
          </a:bodyPr>
          <a:lstStyle/>
          <a:p>
            <a:r>
              <a:rPr sz="1150" b="0">
                <a:solidFill>
                  <a:srgbClr val="2E2E2E"/>
                </a:solidFill>
                <a:latin typeface="Calibri"/>
              </a:rPr>
              <a:t>▪ Prioritise R&amp;D in the fastest-growing formulations a differentiated portfolio is the clearest</a:t>
            </a:r>
          </a:p>
        </p:txBody>
      </p:sp>
      <p:sp>
        <p:nvSpPr>
          <p:cNvPr id="36" name="TextBox 35"/>
          <p:cNvSpPr txBox="1"/>
          <p:nvPr/>
        </p:nvSpPr>
        <p:spPr>
          <a:xfrm>
            <a:off x="6324600" y="1948441"/>
            <a:ext cx="1660500" cy="194310"/>
          </a:xfrm>
          <a:prstGeom prst="rect">
            <a:avLst/>
          </a:prstGeom>
          <a:noFill/>
        </p:spPr>
        <p:txBody>
          <a:bodyPr wrap="none" lIns="0" rIns="0" tIns="0" bIns="0">
            <a:spAutoFit/>
          </a:bodyPr>
          <a:lstStyle/>
          <a:p>
            <a:r>
              <a:rPr sz="1150" b="0">
                <a:solidFill>
                  <a:srgbClr val="2E2E2E"/>
                </a:solidFill>
                <a:latin typeface="Calibri"/>
              </a:rPr>
              <a:t>route to out-growing the ~</a:t>
            </a:r>
          </a:p>
        </p:txBody>
      </p:sp>
      <p:pic>
        <p:nvPicPr>
          <p:cNvPr id="37" name="Picture 36" descr="lock.png"/>
          <p:cNvPicPr>
            <a:picLocks noChangeAspect="1"/>
          </p:cNvPicPr>
          <p:nvPr/>
        </p:nvPicPr>
        <p:blipFill>
          <a:blip r:embed="rId4"/>
          <a:stretch>
            <a:fillRect/>
          </a:stretch>
        </p:blipFill>
        <p:spPr>
          <a:xfrm>
            <a:off x="7934254" y="1938217"/>
            <a:ext cx="134549" cy="195707"/>
          </a:xfrm>
          <a:prstGeom prst="rect">
            <a:avLst/>
          </a:prstGeom>
        </p:spPr>
      </p:pic>
      <p:sp>
        <p:nvSpPr>
          <p:cNvPr id="38" name="TextBox 37"/>
          <p:cNvSpPr txBox="1"/>
          <p:nvPr/>
        </p:nvSpPr>
        <p:spPr>
          <a:xfrm>
            <a:off x="8109363" y="1948441"/>
            <a:ext cx="905700" cy="194310"/>
          </a:xfrm>
          <a:prstGeom prst="rect">
            <a:avLst/>
          </a:prstGeom>
          <a:noFill/>
        </p:spPr>
        <p:txBody>
          <a:bodyPr wrap="none" lIns="0" rIns="0" tIns="0" bIns="0">
            <a:spAutoFit/>
          </a:bodyPr>
          <a:lstStyle/>
          <a:p>
            <a:r>
              <a:rPr sz="1150" b="0">
                <a:solidFill>
                  <a:srgbClr val="2E2E2E"/>
                </a:solidFill>
                <a:latin typeface="Calibri"/>
              </a:rPr>
              <a:t>market CAGR.</a:t>
            </a:r>
          </a:p>
        </p:txBody>
      </p:sp>
      <p:sp>
        <p:nvSpPr>
          <p:cNvPr id="39" name="TextBox 38"/>
          <p:cNvSpPr txBox="1"/>
          <p:nvPr/>
        </p:nvSpPr>
        <p:spPr>
          <a:xfrm>
            <a:off x="6324600" y="2176279"/>
            <a:ext cx="5383919" cy="194310"/>
          </a:xfrm>
          <a:prstGeom prst="rect">
            <a:avLst/>
          </a:prstGeom>
          <a:noFill/>
        </p:spPr>
        <p:txBody>
          <a:bodyPr wrap="none" lIns="0" rIns="0" tIns="0" bIns="0">
            <a:spAutoFit/>
          </a:bodyPr>
          <a:lstStyle/>
          <a:p>
            <a:r>
              <a:rPr sz="1150" b="0">
                <a:solidFill>
                  <a:srgbClr val="2E2E2E"/>
                </a:solidFill>
                <a:latin typeface="Calibri"/>
              </a:rPr>
              <a:t>▪ Pursue certification and clinical validation to build switching costs and support premium</a:t>
            </a:r>
          </a:p>
        </p:txBody>
      </p:sp>
      <p:sp>
        <p:nvSpPr>
          <p:cNvPr id="40" name="TextBox 39"/>
          <p:cNvSpPr txBox="1"/>
          <p:nvPr/>
        </p:nvSpPr>
        <p:spPr>
          <a:xfrm>
            <a:off x="6324600" y="2351539"/>
            <a:ext cx="773075" cy="194310"/>
          </a:xfrm>
          <a:prstGeom prst="rect">
            <a:avLst/>
          </a:prstGeom>
          <a:noFill/>
        </p:spPr>
        <p:txBody>
          <a:bodyPr wrap="none" lIns="0" rIns="0" tIns="0" bIns="0">
            <a:spAutoFit/>
          </a:bodyPr>
          <a:lstStyle/>
          <a:p>
            <a:r>
              <a:rPr sz="1150" b="0">
                <a:solidFill>
                  <a:srgbClr val="2E2E2E"/>
                </a:solidFill>
                <a:latin typeface="Calibri"/>
              </a:rPr>
              <a:t>positioning.</a:t>
            </a:r>
          </a:p>
        </p:txBody>
      </p:sp>
      <p:sp>
        <p:nvSpPr>
          <p:cNvPr id="41" name="TextBox 40"/>
          <p:cNvSpPr txBox="1"/>
          <p:nvPr/>
        </p:nvSpPr>
        <p:spPr>
          <a:xfrm>
            <a:off x="6324600" y="2579377"/>
            <a:ext cx="3931406" cy="194310"/>
          </a:xfrm>
          <a:prstGeom prst="rect">
            <a:avLst/>
          </a:prstGeom>
          <a:noFill/>
        </p:spPr>
        <p:txBody>
          <a:bodyPr wrap="none" lIns="0" rIns="0" tIns="0" bIns="0">
            <a:spAutoFit/>
          </a:bodyPr>
          <a:lstStyle/>
          <a:p>
            <a:r>
              <a:rPr sz="1150" b="0">
                <a:solidFill>
                  <a:srgbClr val="2E2E2E"/>
                </a:solidFill>
                <a:latin typeface="Calibri"/>
              </a:rPr>
              <a:t>▪ Localise formats and pack sizes to each channel and geography.</a:t>
            </a:r>
          </a:p>
        </p:txBody>
      </p:sp>
      <p:sp>
        <p:nvSpPr>
          <p:cNvPr id="42" name="TextBox 41"/>
          <p:cNvSpPr txBox="1"/>
          <p:nvPr/>
        </p:nvSpPr>
        <p:spPr>
          <a:xfrm>
            <a:off x="6324600" y="4465602"/>
            <a:ext cx="3270473" cy="194310"/>
          </a:xfrm>
          <a:prstGeom prst="rect">
            <a:avLst/>
          </a:prstGeom>
          <a:noFill/>
        </p:spPr>
        <p:txBody>
          <a:bodyPr wrap="none" lIns="0" rIns="0" tIns="0" bIns="0">
            <a:spAutoFit/>
          </a:bodyPr>
          <a:lstStyle/>
          <a:p>
            <a:r>
              <a:rPr sz="1150" b="0">
                <a:solidFill>
                  <a:srgbClr val="2E2E2E"/>
                </a:solidFill>
                <a:latin typeface="Calibri"/>
              </a:rPr>
              <a:t>▪ Benchmark relentlessly against 'Standard Process' (~</a:t>
            </a:r>
          </a:p>
        </p:txBody>
      </p:sp>
      <p:pic>
        <p:nvPicPr>
          <p:cNvPr id="43" name="Picture 42" descr="lock.png"/>
          <p:cNvPicPr>
            <a:picLocks noChangeAspect="1"/>
          </p:cNvPicPr>
          <p:nvPr/>
        </p:nvPicPr>
        <p:blipFill>
          <a:blip r:embed="rId4"/>
          <a:stretch>
            <a:fillRect/>
          </a:stretch>
        </p:blipFill>
        <p:spPr>
          <a:xfrm>
            <a:off x="9544227" y="4455378"/>
            <a:ext cx="134549" cy="195707"/>
          </a:xfrm>
          <a:prstGeom prst="rect">
            <a:avLst/>
          </a:prstGeom>
        </p:spPr>
      </p:pic>
      <p:sp>
        <p:nvSpPr>
          <p:cNvPr id="44" name="TextBox 43"/>
          <p:cNvSpPr txBox="1"/>
          <p:nvPr/>
        </p:nvSpPr>
        <p:spPr>
          <a:xfrm>
            <a:off x="9719336" y="4465602"/>
            <a:ext cx="2032756" cy="194310"/>
          </a:xfrm>
          <a:prstGeom prst="rect">
            <a:avLst/>
          </a:prstGeom>
          <a:noFill/>
        </p:spPr>
        <p:txBody>
          <a:bodyPr wrap="none" lIns="0" rIns="0" tIns="0" bIns="0">
            <a:spAutoFit/>
          </a:bodyPr>
          <a:lstStyle/>
          <a:p>
            <a:r>
              <a:rPr sz="1150" b="0">
                <a:solidFill>
                  <a:srgbClr val="2E2E2E"/>
                </a:solidFill>
                <a:latin typeface="Calibri"/>
              </a:rPr>
              <a:t>share) match on service and lead</a:t>
            </a:r>
          </a:p>
        </p:txBody>
      </p:sp>
      <p:sp>
        <p:nvSpPr>
          <p:cNvPr id="45" name="TextBox 44"/>
          <p:cNvSpPr txBox="1"/>
          <p:nvPr/>
        </p:nvSpPr>
        <p:spPr>
          <a:xfrm>
            <a:off x="6324600" y="4640861"/>
            <a:ext cx="1747217" cy="194310"/>
          </a:xfrm>
          <a:prstGeom prst="rect">
            <a:avLst/>
          </a:prstGeom>
          <a:noFill/>
        </p:spPr>
        <p:txBody>
          <a:bodyPr wrap="none" lIns="0" rIns="0" tIns="0" bIns="0">
            <a:spAutoFit/>
          </a:bodyPr>
          <a:lstStyle/>
          <a:p>
            <a:r>
              <a:rPr sz="1150" b="0">
                <a:solidFill>
                  <a:srgbClr val="2E2E2E"/>
                </a:solidFill>
                <a:latin typeface="Calibri"/>
              </a:rPr>
              <a:t>on innovation to take share.</a:t>
            </a:r>
          </a:p>
        </p:txBody>
      </p:sp>
      <p:sp>
        <p:nvSpPr>
          <p:cNvPr id="46" name="TextBox 45"/>
          <p:cNvSpPr txBox="1"/>
          <p:nvPr/>
        </p:nvSpPr>
        <p:spPr>
          <a:xfrm>
            <a:off x="6324600" y="4868699"/>
            <a:ext cx="5455518" cy="194310"/>
          </a:xfrm>
          <a:prstGeom prst="rect">
            <a:avLst/>
          </a:prstGeom>
          <a:noFill/>
        </p:spPr>
        <p:txBody>
          <a:bodyPr wrap="none" lIns="0" rIns="0" tIns="0" bIns="0">
            <a:spAutoFit/>
          </a:bodyPr>
          <a:lstStyle/>
          <a:p>
            <a:r>
              <a:rPr sz="1150" b="0">
                <a:solidFill>
                  <a:srgbClr val="2E2E2E"/>
                </a:solidFill>
                <a:latin typeface="Calibri"/>
              </a:rPr>
              <a:t>▪ Diversify the customer base to cut dependence on a few large accounts and single-region</a:t>
            </a:r>
          </a:p>
        </p:txBody>
      </p:sp>
      <p:sp>
        <p:nvSpPr>
          <p:cNvPr id="47" name="TextBox 46"/>
          <p:cNvSpPr txBox="1"/>
          <p:nvPr/>
        </p:nvSpPr>
        <p:spPr>
          <a:xfrm>
            <a:off x="6324600" y="5043959"/>
            <a:ext cx="660400" cy="194310"/>
          </a:xfrm>
          <a:prstGeom prst="rect">
            <a:avLst/>
          </a:prstGeom>
          <a:noFill/>
        </p:spPr>
        <p:txBody>
          <a:bodyPr wrap="none" lIns="0" rIns="0" tIns="0" bIns="0">
            <a:spAutoFit/>
          </a:bodyPr>
          <a:lstStyle/>
          <a:p>
            <a:r>
              <a:rPr sz="1150" b="0">
                <a:solidFill>
                  <a:srgbClr val="2E2E2E"/>
                </a:solidFill>
                <a:latin typeface="Calibri"/>
              </a:rPr>
              <a:t>exposure.</a:t>
            </a:r>
          </a:p>
        </p:txBody>
      </p:sp>
      <p:sp>
        <p:nvSpPr>
          <p:cNvPr id="48" name="TextBox 47"/>
          <p:cNvSpPr txBox="1"/>
          <p:nvPr/>
        </p:nvSpPr>
        <p:spPr>
          <a:xfrm>
            <a:off x="6324600" y="5271797"/>
            <a:ext cx="5230167" cy="194310"/>
          </a:xfrm>
          <a:prstGeom prst="rect">
            <a:avLst/>
          </a:prstGeom>
          <a:noFill/>
        </p:spPr>
        <p:txBody>
          <a:bodyPr wrap="none" lIns="0" rIns="0" tIns="0" bIns="0">
            <a:spAutoFit/>
          </a:bodyPr>
          <a:lstStyle/>
          <a:p>
            <a:r>
              <a:rPr sz="1150" b="0">
                <a:solidFill>
                  <a:srgbClr val="2E2E2E"/>
                </a:solidFill>
                <a:latin typeface="Calibri"/>
              </a:rPr>
              <a:t>▪ Stress-test for regulatory, currency and supply shocks; keep flexible capacity and dual</a:t>
            </a:r>
          </a:p>
        </p:txBody>
      </p:sp>
      <p:sp>
        <p:nvSpPr>
          <p:cNvPr id="49" name="TextBox 48"/>
          <p:cNvSpPr txBox="1"/>
          <p:nvPr/>
        </p:nvSpPr>
        <p:spPr>
          <a:xfrm>
            <a:off x="6324600" y="5447057"/>
            <a:ext cx="615900" cy="194310"/>
          </a:xfrm>
          <a:prstGeom prst="rect">
            <a:avLst/>
          </a:prstGeom>
          <a:noFill/>
        </p:spPr>
        <p:txBody>
          <a:bodyPr wrap="none" lIns="0" rIns="0" tIns="0" bIns="0">
            <a:spAutoFit/>
          </a:bodyPr>
          <a:lstStyle/>
          <a:p>
            <a:r>
              <a:rPr sz="1150" b="0">
                <a:solidFill>
                  <a:srgbClr val="2E2E2E"/>
                </a:solidFill>
                <a:latin typeface="Calibri"/>
              </a:rPr>
              <a:t>sourcing.</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Company Value Share (Global)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company in the global market, 2025, highlighting leadership and the long tail</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Target market value share by key companies leadership, concentration and how the competitive mix shifts by region.</a:t>
            </a:r>
          </a:p>
        </p:txBody>
      </p:sp>
      <p:sp>
        <p:nvSpPr>
          <p:cNvPr id="11" name="Rounded Rectangle 10"/>
          <p:cNvSpPr/>
          <p:nvPr/>
        </p:nvSpPr>
        <p:spPr>
          <a:xfrm>
            <a:off x="142875" y="1354081"/>
            <a:ext cx="7543800" cy="5220558"/>
          </a:xfrm>
          <a:prstGeom prst="roundRect">
            <a:avLst>
              <a:gd name="adj" fmla="val 14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411231"/>
            <a:ext cx="73533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by Key Company (US$ Mn, 2026)</a:t>
            </a:r>
          </a:p>
        </p:txBody>
      </p:sp>
      <p:graphicFrame>
        <p:nvGraphicFramePr>
          <p:cNvPr id="13" name="Chart 12"/>
          <p:cNvGraphicFramePr>
            <a:graphicFrameLocks noGrp="1"/>
          </p:cNvGraphicFramePr>
          <p:nvPr/>
        </p:nvGraphicFramePr>
        <p:xfrm>
          <a:off x="238125" y="1639831"/>
          <a:ext cx="7353300" cy="4877658"/>
        </p:xfrm>
        <a:graphic>
          <a:graphicData uri="http://schemas.openxmlformats.org/drawingml/2006/chart">
            <c:chart xmlns:c="http://schemas.openxmlformats.org/drawingml/2006/chart" r:id="rId3"/>
          </a:graphicData>
        </a:graphic>
      </p:graphicFrame>
      <p:sp>
        <p:nvSpPr>
          <p:cNvPr id="14" name="TextBox 13"/>
          <p:cNvSpPr txBox="1"/>
          <p:nvPr/>
        </p:nvSpPr>
        <p:spPr>
          <a:xfrm>
            <a:off x="2049780" y="3878635"/>
            <a:ext cx="1524000" cy="400050"/>
          </a:xfrm>
          <a:prstGeom prst="rect">
            <a:avLst/>
          </a:prstGeom>
          <a:noFill/>
        </p:spPr>
        <p:txBody>
          <a:bodyPr wrap="square" lIns="28575" rIns="28575" tIns="9525" bIns="9525" anchor="ctr">
            <a:spAutoFit/>
          </a:bodyPr>
          <a:lstStyle/>
          <a:p>
            <a:pPr algn="ctr"/>
            <a:r>
              <a:rPr sz="1300" b="1">
                <a:solidFill>
                  <a:srgbClr val="2E2E2E"/>
                </a:solidFill>
                <a:latin typeface="Calibri"/>
              </a:rPr>
              <a:t/>
            </a:r>
          </a:p>
          <a:p>
            <a:pPr algn="ctr"/>
            <a:r>
              <a:rPr sz="1300" b="1">
                <a:solidFill>
                  <a:srgbClr val="2E2E2E"/>
                </a:solidFill>
                <a:latin typeface="Calibri"/>
              </a:rPr>
              <a:t/>
            </a:r>
          </a:p>
        </p:txBody>
      </p:sp>
      <p:sp>
        <p:nvSpPr>
          <p:cNvPr id="15" name="Rounded Rectangle 14"/>
          <p:cNvSpPr/>
          <p:nvPr/>
        </p:nvSpPr>
        <p:spPr>
          <a:xfrm>
            <a:off x="7800975" y="1354081"/>
            <a:ext cx="4248150" cy="5220558"/>
          </a:xfrm>
          <a:prstGeom prst="roundRect">
            <a:avLst>
              <a:gd name="adj" fmla="val 17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34325" y="1439806"/>
            <a:ext cx="39814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17" name="Rectangle 16"/>
          <p:cNvSpPr/>
          <p:nvPr/>
        </p:nvSpPr>
        <p:spPr>
          <a:xfrm>
            <a:off x="7934325" y="1677931"/>
            <a:ext cx="39814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34325" y="1763656"/>
            <a:ext cx="3981450" cy="4734783"/>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5"/>
          <a:stretch>
            <a:fillRect/>
          </a:stretch>
        </p:blipFill>
        <p:spPr>
          <a:xfrm>
            <a:off x="2533173" y="3678610"/>
            <a:ext cx="523875" cy="762000"/>
          </a:xfrm>
          <a:prstGeom prst="rect">
            <a:avLst/>
          </a:prstGeom>
        </p:spPr>
      </p:pic>
      <p:sp>
        <p:nvSpPr>
          <p:cNvPr id="21" name="TextBox 20"/>
          <p:cNvSpPr txBox="1"/>
          <p:nvPr/>
        </p:nvSpPr>
        <p:spPr>
          <a:xfrm>
            <a:off x="2634865" y="3914616"/>
            <a:ext cx="430029" cy="161696"/>
          </a:xfrm>
          <a:prstGeom prst="rect">
            <a:avLst/>
          </a:prstGeom>
          <a:noFill/>
        </p:spPr>
        <p:txBody>
          <a:bodyPr wrap="none" lIns="0" rIns="0" tIns="0" bIns="0">
            <a:spAutoFit/>
          </a:bodyPr>
          <a:lstStyle/>
          <a:p>
            <a:r>
              <a:rPr sz="935" b="1">
                <a:solidFill>
                  <a:srgbClr val="2E2E2E"/>
                </a:solidFill>
                <a:latin typeface="Calibri"/>
              </a:rPr>
              <a:t>100% =</a:t>
            </a:r>
          </a:p>
        </p:txBody>
      </p:sp>
      <p:pic>
        <p:nvPicPr>
          <p:cNvPr id="22" name="Picture 21" descr="lock.png"/>
          <p:cNvPicPr>
            <a:picLocks noChangeAspect="1"/>
          </p:cNvPicPr>
          <p:nvPr/>
        </p:nvPicPr>
        <p:blipFill>
          <a:blip r:embed="rId5"/>
          <a:stretch>
            <a:fillRect/>
          </a:stretch>
        </p:blipFill>
        <p:spPr>
          <a:xfrm>
            <a:off x="2540344" y="4091735"/>
            <a:ext cx="109510" cy="159288"/>
          </a:xfrm>
          <a:prstGeom prst="rect">
            <a:avLst/>
          </a:prstGeom>
        </p:spPr>
      </p:pic>
      <p:sp>
        <p:nvSpPr>
          <p:cNvPr id="23" name="TextBox 22"/>
          <p:cNvSpPr txBox="1"/>
          <p:nvPr/>
        </p:nvSpPr>
        <p:spPr>
          <a:xfrm>
            <a:off x="2682868" y="4100056"/>
            <a:ext cx="465087" cy="161696"/>
          </a:xfrm>
          <a:prstGeom prst="rect">
            <a:avLst/>
          </a:prstGeom>
          <a:noFill/>
        </p:spPr>
        <p:txBody>
          <a:bodyPr wrap="none" lIns="0" rIns="0" tIns="0" bIns="0">
            <a:spAutoFit/>
          </a:bodyPr>
          <a:lstStyle/>
          <a:p>
            <a:r>
              <a:rPr sz="935" b="1">
                <a:solidFill>
                  <a:srgbClr val="2E2E2E"/>
                </a:solidFill>
                <a:latin typeface="Calibri"/>
              </a:rPr>
              <a:t>US$ Mn</a:t>
            </a:r>
          </a:p>
        </p:txBody>
      </p:sp>
      <p:sp>
        <p:nvSpPr>
          <p:cNvPr id="24" name="TextBox 23"/>
          <p:cNvSpPr txBox="1"/>
          <p:nvPr/>
        </p:nvSpPr>
        <p:spPr>
          <a:xfrm>
            <a:off x="7934325" y="1773181"/>
            <a:ext cx="3766815" cy="194310"/>
          </a:xfrm>
          <a:prstGeom prst="rect">
            <a:avLst/>
          </a:prstGeom>
          <a:noFill/>
        </p:spPr>
        <p:txBody>
          <a:bodyPr wrap="none" lIns="0" rIns="0" tIns="0" bIns="0">
            <a:spAutoFit/>
          </a:bodyPr>
          <a:lstStyle/>
          <a:p>
            <a:r>
              <a:rPr sz="1150" b="0">
                <a:solidFill>
                  <a:srgbClr val="2E2E2E"/>
                </a:solidFill>
                <a:latin typeface="Calibri"/>
              </a:rPr>
              <a:t>Standard Process accounted for the largest share of the global</a:t>
            </a:r>
          </a:p>
        </p:txBody>
      </p:sp>
      <p:sp>
        <p:nvSpPr>
          <p:cNvPr id="25" name="TextBox 24"/>
          <p:cNvSpPr txBox="1"/>
          <p:nvPr/>
        </p:nvSpPr>
        <p:spPr>
          <a:xfrm>
            <a:off x="7934325" y="1948441"/>
            <a:ext cx="3962400" cy="194310"/>
          </a:xfrm>
          <a:prstGeom prst="rect">
            <a:avLst/>
          </a:prstGeom>
          <a:noFill/>
        </p:spPr>
        <p:txBody>
          <a:bodyPr wrap="none" lIns="0" rIns="0" tIns="0" bIns="0">
            <a:spAutoFit/>
          </a:bodyPr>
          <a:lstStyle/>
          <a:p>
            <a:r>
              <a:rPr sz="1150" b="0">
                <a:solidFill>
                  <a:srgbClr val="2E2E2E"/>
                </a:solidFill>
                <a:latin typeface="Calibri"/>
              </a:rPr>
              <a:t>senior dog cognitive supplement market in 2026. The global senior</a:t>
            </a:r>
          </a:p>
        </p:txBody>
      </p:sp>
      <p:sp>
        <p:nvSpPr>
          <p:cNvPr id="26" name="TextBox 25"/>
          <p:cNvSpPr txBox="1"/>
          <p:nvPr/>
        </p:nvSpPr>
        <p:spPr>
          <a:xfrm>
            <a:off x="7934325" y="2123701"/>
            <a:ext cx="3728876" cy="194310"/>
          </a:xfrm>
          <a:prstGeom prst="rect">
            <a:avLst/>
          </a:prstGeom>
          <a:noFill/>
        </p:spPr>
        <p:txBody>
          <a:bodyPr wrap="none" lIns="0" rIns="0" tIns="0" bIns="0">
            <a:spAutoFit/>
          </a:bodyPr>
          <a:lstStyle/>
          <a:p>
            <a:r>
              <a:rPr sz="1150" b="0">
                <a:solidFill>
                  <a:srgbClr val="2E2E2E"/>
                </a:solidFill>
                <a:latin typeface="Calibri"/>
              </a:rPr>
              <a:t>dog cognitive supplement market is fragmented, with the top</a:t>
            </a:r>
          </a:p>
        </p:txBody>
      </p:sp>
      <p:sp>
        <p:nvSpPr>
          <p:cNvPr id="27" name="TextBox 26"/>
          <p:cNvSpPr txBox="1"/>
          <p:nvPr/>
        </p:nvSpPr>
        <p:spPr>
          <a:xfrm>
            <a:off x="7934325" y="2298961"/>
            <a:ext cx="2560476" cy="194310"/>
          </a:xfrm>
          <a:prstGeom prst="rect">
            <a:avLst/>
          </a:prstGeom>
          <a:noFill/>
        </p:spPr>
        <p:txBody>
          <a:bodyPr wrap="none" lIns="0" rIns="0" tIns="0" bIns="0">
            <a:spAutoFit/>
          </a:bodyPr>
          <a:lstStyle/>
          <a:p>
            <a:r>
              <a:rPr sz="1150" b="0">
                <a:solidFill>
                  <a:srgbClr val="2E2E2E"/>
                </a:solidFill>
                <a:latin typeface="Calibri"/>
              </a:rPr>
              <a:t>three players accounting for an estimated</a:t>
            </a:r>
          </a:p>
        </p:txBody>
      </p:sp>
      <p:pic>
        <p:nvPicPr>
          <p:cNvPr id="28" name="Picture 27" descr="lock.png"/>
          <p:cNvPicPr>
            <a:picLocks noChangeAspect="1"/>
          </p:cNvPicPr>
          <p:nvPr/>
        </p:nvPicPr>
        <p:blipFill>
          <a:blip r:embed="rId5"/>
          <a:stretch>
            <a:fillRect/>
          </a:stretch>
        </p:blipFill>
        <p:spPr>
          <a:xfrm>
            <a:off x="10443955" y="2288737"/>
            <a:ext cx="134549" cy="195707"/>
          </a:xfrm>
          <a:prstGeom prst="rect">
            <a:avLst/>
          </a:prstGeom>
        </p:spPr>
      </p:pic>
      <p:sp>
        <p:nvSpPr>
          <p:cNvPr id="29" name="TextBox 28"/>
          <p:cNvSpPr txBox="1"/>
          <p:nvPr/>
        </p:nvSpPr>
        <p:spPr>
          <a:xfrm>
            <a:off x="10619064" y="2298961"/>
            <a:ext cx="789905" cy="194310"/>
          </a:xfrm>
          <a:prstGeom prst="rect">
            <a:avLst/>
          </a:prstGeom>
          <a:noFill/>
        </p:spPr>
        <p:txBody>
          <a:bodyPr wrap="none" lIns="0" rIns="0" tIns="0" bIns="0">
            <a:spAutoFit/>
          </a:bodyPr>
          <a:lstStyle/>
          <a:p>
            <a:r>
              <a:rPr sz="1150" b="0">
                <a:solidFill>
                  <a:srgbClr val="2E2E2E"/>
                </a:solidFill>
                <a:latin typeface="Calibri"/>
              </a:rPr>
              <a:t>share of the</a:t>
            </a:r>
          </a:p>
        </p:txBody>
      </p:sp>
      <p:sp>
        <p:nvSpPr>
          <p:cNvPr id="30" name="TextBox 29"/>
          <p:cNvSpPr txBox="1"/>
          <p:nvPr/>
        </p:nvSpPr>
        <p:spPr>
          <a:xfrm>
            <a:off x="7934325" y="2474221"/>
            <a:ext cx="1012118" cy="194310"/>
          </a:xfrm>
          <a:prstGeom prst="rect">
            <a:avLst/>
          </a:prstGeom>
          <a:noFill/>
        </p:spPr>
        <p:txBody>
          <a:bodyPr wrap="none" lIns="0" rIns="0" tIns="0" bIns="0">
            <a:spAutoFit/>
          </a:bodyPr>
          <a:lstStyle/>
          <a:p>
            <a:r>
              <a:rPr sz="1150" b="0">
                <a:solidFill>
                  <a:srgbClr val="2E2E2E"/>
                </a:solidFill>
                <a:latin typeface="Calibri"/>
              </a:rPr>
              <a:t>market in 2026.</a:t>
            </a:r>
          </a:p>
        </p:txBody>
      </p:sp>
      <p:sp>
        <p:nvSpPr>
          <p:cNvPr id="31" name="TextBox 30"/>
          <p:cNvSpPr txBox="1"/>
          <p:nvPr/>
        </p:nvSpPr>
        <p:spPr>
          <a:xfrm>
            <a:off x="7934325" y="2702058"/>
            <a:ext cx="2770708" cy="194310"/>
          </a:xfrm>
          <a:prstGeom prst="rect">
            <a:avLst/>
          </a:prstGeom>
          <a:noFill/>
        </p:spPr>
        <p:txBody>
          <a:bodyPr wrap="none" lIns="0" rIns="0" tIns="0" bIns="0">
            <a:spAutoFit/>
          </a:bodyPr>
          <a:lstStyle/>
          <a:p>
            <a:r>
              <a:rPr sz="1150" b="0">
                <a:solidFill>
                  <a:srgbClr val="2E2E2E"/>
                </a:solidFill>
                <a:latin typeface="Calibri"/>
              </a:rPr>
              <a:t>Standard Process accounted for an estimated</a:t>
            </a:r>
          </a:p>
        </p:txBody>
      </p:sp>
      <p:pic>
        <p:nvPicPr>
          <p:cNvPr id="32" name="Picture 31" descr="lock.png"/>
          <p:cNvPicPr>
            <a:picLocks noChangeAspect="1"/>
          </p:cNvPicPr>
          <p:nvPr/>
        </p:nvPicPr>
        <p:blipFill>
          <a:blip r:embed="rId5"/>
          <a:stretch>
            <a:fillRect/>
          </a:stretch>
        </p:blipFill>
        <p:spPr>
          <a:xfrm>
            <a:off x="10654187" y="2691835"/>
            <a:ext cx="134549" cy="195707"/>
          </a:xfrm>
          <a:prstGeom prst="rect">
            <a:avLst/>
          </a:prstGeom>
        </p:spPr>
      </p:pic>
      <p:sp>
        <p:nvSpPr>
          <p:cNvPr id="33" name="TextBox 32"/>
          <p:cNvSpPr txBox="1"/>
          <p:nvPr/>
        </p:nvSpPr>
        <p:spPr>
          <a:xfrm>
            <a:off x="10829296" y="2702058"/>
            <a:ext cx="789905" cy="194310"/>
          </a:xfrm>
          <a:prstGeom prst="rect">
            <a:avLst/>
          </a:prstGeom>
          <a:noFill/>
        </p:spPr>
        <p:txBody>
          <a:bodyPr wrap="none" lIns="0" rIns="0" tIns="0" bIns="0">
            <a:spAutoFit/>
          </a:bodyPr>
          <a:lstStyle/>
          <a:p>
            <a:r>
              <a:rPr sz="1150" b="0">
                <a:solidFill>
                  <a:srgbClr val="2E2E2E"/>
                </a:solidFill>
                <a:latin typeface="Calibri"/>
              </a:rPr>
              <a:t>share of the</a:t>
            </a:r>
          </a:p>
        </p:txBody>
      </p:sp>
      <p:sp>
        <p:nvSpPr>
          <p:cNvPr id="34" name="TextBox 33"/>
          <p:cNvSpPr txBox="1"/>
          <p:nvPr/>
        </p:nvSpPr>
        <p:spPr>
          <a:xfrm>
            <a:off x="7934325" y="2877318"/>
            <a:ext cx="2333699" cy="194310"/>
          </a:xfrm>
          <a:prstGeom prst="rect">
            <a:avLst/>
          </a:prstGeom>
          <a:noFill/>
        </p:spPr>
        <p:txBody>
          <a:bodyPr wrap="none" lIns="0" rIns="0" tIns="0" bIns="0">
            <a:spAutoFit/>
          </a:bodyPr>
          <a:lstStyle/>
          <a:p>
            <a:r>
              <a:rPr sz="1150" b="0">
                <a:solidFill>
                  <a:srgbClr val="2E2E2E"/>
                </a:solidFill>
                <a:latin typeface="Calibri"/>
              </a:rPr>
              <a:t>market, followed by VetriScience with</a:t>
            </a:r>
          </a:p>
        </p:txBody>
      </p:sp>
      <p:pic>
        <p:nvPicPr>
          <p:cNvPr id="35" name="Picture 34" descr="lock.png"/>
          <p:cNvPicPr>
            <a:picLocks noChangeAspect="1"/>
          </p:cNvPicPr>
          <p:nvPr/>
        </p:nvPicPr>
        <p:blipFill>
          <a:blip r:embed="rId5"/>
          <a:stretch>
            <a:fillRect/>
          </a:stretch>
        </p:blipFill>
        <p:spPr>
          <a:xfrm>
            <a:off x="10217178" y="2867095"/>
            <a:ext cx="134549" cy="195707"/>
          </a:xfrm>
          <a:prstGeom prst="rect">
            <a:avLst/>
          </a:prstGeom>
        </p:spPr>
      </p:pic>
      <p:sp>
        <p:nvSpPr>
          <p:cNvPr id="36" name="TextBox 35"/>
          <p:cNvSpPr txBox="1"/>
          <p:nvPr/>
        </p:nvSpPr>
        <p:spPr>
          <a:xfrm>
            <a:off x="10392287" y="2877318"/>
            <a:ext cx="1048019" cy="194310"/>
          </a:xfrm>
          <a:prstGeom prst="rect">
            <a:avLst/>
          </a:prstGeom>
          <a:noFill/>
        </p:spPr>
        <p:txBody>
          <a:bodyPr wrap="none" lIns="0" rIns="0" tIns="0" bIns="0">
            <a:spAutoFit/>
          </a:bodyPr>
          <a:lstStyle/>
          <a:p>
            <a:r>
              <a:rPr sz="1150" b="0">
                <a:solidFill>
                  <a:srgbClr val="2E2E2E"/>
                </a:solidFill>
                <a:latin typeface="Calibri"/>
              </a:rPr>
              <a:t>. Key players are</a:t>
            </a:r>
          </a:p>
        </p:txBody>
      </p:sp>
      <p:sp>
        <p:nvSpPr>
          <p:cNvPr id="37" name="TextBox 36"/>
          <p:cNvSpPr txBox="1"/>
          <p:nvPr/>
        </p:nvSpPr>
        <p:spPr>
          <a:xfrm>
            <a:off x="7934325" y="3052578"/>
            <a:ext cx="3551448" cy="194310"/>
          </a:xfrm>
          <a:prstGeom prst="rect">
            <a:avLst/>
          </a:prstGeom>
          <a:noFill/>
        </p:spPr>
        <p:txBody>
          <a:bodyPr wrap="none" lIns="0" rIns="0" tIns="0" bIns="0">
            <a:spAutoFit/>
          </a:bodyPr>
          <a:lstStyle/>
          <a:p>
            <a:r>
              <a:rPr sz="1150" b="0">
                <a:solidFill>
                  <a:srgbClr val="2E2E2E"/>
                </a:solidFill>
                <a:latin typeface="Calibri"/>
              </a:rPr>
              <a:t>focusing on product innovation, geographic expansion and</a:t>
            </a:r>
          </a:p>
        </p:txBody>
      </p:sp>
      <p:sp>
        <p:nvSpPr>
          <p:cNvPr id="38" name="TextBox 37"/>
          <p:cNvSpPr txBox="1"/>
          <p:nvPr/>
        </p:nvSpPr>
        <p:spPr>
          <a:xfrm>
            <a:off x="7934325" y="3227838"/>
            <a:ext cx="3540038" cy="194310"/>
          </a:xfrm>
          <a:prstGeom prst="rect">
            <a:avLst/>
          </a:prstGeom>
          <a:noFill/>
        </p:spPr>
        <p:txBody>
          <a:bodyPr wrap="none" lIns="0" rIns="0" tIns="0" bIns="0">
            <a:spAutoFit/>
          </a:bodyPr>
          <a:lstStyle/>
          <a:p>
            <a:r>
              <a:rPr sz="1150" b="0">
                <a:solidFill>
                  <a:srgbClr val="2E2E2E"/>
                </a:solidFill>
                <a:latin typeface="Calibri"/>
              </a:rPr>
              <a:t>strategic partnerships to strengthen their market position.</a:t>
            </a:r>
          </a:p>
        </p:txBody>
      </p:sp>
      <p:sp>
        <p:nvSpPr>
          <p:cNvPr id="39" name="TextBox 38"/>
          <p:cNvSpPr txBox="1"/>
          <p:nvPr/>
        </p:nvSpPr>
        <p:spPr>
          <a:xfrm>
            <a:off x="7934325" y="3455676"/>
            <a:ext cx="3647864" cy="194310"/>
          </a:xfrm>
          <a:prstGeom prst="rect">
            <a:avLst/>
          </a:prstGeom>
          <a:noFill/>
        </p:spPr>
        <p:txBody>
          <a:bodyPr wrap="none" lIns="0" rIns="0" tIns="0" bIns="0">
            <a:spAutoFit/>
          </a:bodyPr>
          <a:lstStyle/>
          <a:p>
            <a:r>
              <a:rPr sz="1150" b="0">
                <a:solidFill>
                  <a:srgbClr val="2E2E2E"/>
                </a:solidFill>
                <a:latin typeface="Calibri"/>
              </a:rPr>
              <a:t>Regional share differs from the global picture use the region</a:t>
            </a:r>
          </a:p>
        </p:txBody>
      </p:sp>
      <p:sp>
        <p:nvSpPr>
          <p:cNvPr id="40" name="TextBox 39"/>
          <p:cNvSpPr txBox="1"/>
          <p:nvPr/>
        </p:nvSpPr>
        <p:spPr>
          <a:xfrm>
            <a:off x="7934325" y="3630936"/>
            <a:ext cx="3444763" cy="194310"/>
          </a:xfrm>
          <a:prstGeom prst="rect">
            <a:avLst/>
          </a:prstGeom>
          <a:noFill/>
        </p:spPr>
        <p:txBody>
          <a:bodyPr wrap="none" lIns="0" rIns="0" tIns="0" bIns="0">
            <a:spAutoFit/>
          </a:bodyPr>
          <a:lstStyle/>
          <a:p>
            <a:r>
              <a:rPr sz="1150" b="0">
                <a:solidFill>
                  <a:srgbClr val="2E2E2E"/>
                </a:solidFill>
                <a:latin typeface="Calibri"/>
              </a:rPr>
              <a:t>selector to see how leadership shifts across geographies.</a:t>
            </a:r>
          </a:p>
        </p:txBody>
      </p:sp>
      <p:sp>
        <p:nvSpPr>
          <p:cNvPr id="41" name="lockshield_13"/>
          <p:cNvSpPr/>
          <p:nvPr/>
        </p:nvSpPr>
        <p:spPr>
          <a:xfrm>
            <a:off x="238125" y="1639831"/>
            <a:ext cx="7353300" cy="4877658"/>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Company Share by Product Type (Top 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company value share within each leading form type, highlighting where leadership differs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leading product types where each player concentrates, and how leadership varies by formulation.</a:t>
            </a:r>
          </a:p>
        </p:txBody>
      </p:sp>
      <p:sp>
        <p:nvSpPr>
          <p:cNvPr id="11" name="Rounded Rectangle 10"/>
          <p:cNvSpPr/>
          <p:nvPr/>
        </p:nvSpPr>
        <p:spPr>
          <a:xfrm>
            <a:off x="14287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Capsules and Softgels</a:t>
            </a:r>
          </a:p>
        </p:txBody>
      </p:sp>
      <p:graphicFrame>
        <p:nvGraphicFramePr>
          <p:cNvPr id="13" name="Chart 12"/>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4" name="Rounded Rectangle 13"/>
          <p:cNvSpPr/>
          <p:nvPr/>
        </p:nvSpPr>
        <p:spPr>
          <a:xfrm>
            <a:off x="412432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Tablets</a:t>
            </a:r>
          </a:p>
        </p:txBody>
      </p:sp>
      <p:graphicFrame>
        <p:nvGraphicFramePr>
          <p:cNvPr id="16" name="Chart 15"/>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7" name="Rounded Rectangle 16"/>
          <p:cNvSpPr/>
          <p:nvPr/>
        </p:nvSpPr>
        <p:spPr>
          <a:xfrm>
            <a:off x="8105775" y="1299320"/>
            <a:ext cx="39433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Chewables</a:t>
            </a:r>
          </a:p>
        </p:txBody>
      </p:sp>
      <p:graphicFrame>
        <p:nvGraphicFramePr>
          <p:cNvPr id="19" name="Chart 18"/>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20" name="Rounded Rectangle 19"/>
          <p:cNvSpPr/>
          <p:nvPr/>
        </p:nvSpPr>
        <p:spPr>
          <a:xfrm>
            <a:off x="142875" y="4603240"/>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Company Share Key Takeaways</a:t>
            </a:r>
          </a:p>
        </p:txBody>
      </p:sp>
      <p:sp>
        <p:nvSpPr>
          <p:cNvPr id="22" name="Rectangle 21"/>
          <p:cNvSpPr/>
          <p:nvPr/>
        </p:nvSpPr>
        <p:spPr>
          <a:xfrm>
            <a:off x="276225" y="492709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1233011" y="2619895"/>
            <a:ext cx="523875" cy="762000"/>
          </a:xfrm>
          <a:prstGeom prst="rect">
            <a:avLst/>
          </a:prstGeom>
        </p:spPr>
      </p:pic>
      <p:pic>
        <p:nvPicPr>
          <p:cNvPr id="26" name="Picture 25" descr="lock.png"/>
          <p:cNvPicPr>
            <a:picLocks noChangeAspect="1"/>
          </p:cNvPicPr>
          <p:nvPr/>
        </p:nvPicPr>
        <p:blipFill>
          <a:blip r:embed="rId7"/>
          <a:stretch>
            <a:fillRect/>
          </a:stretch>
        </p:blipFill>
        <p:spPr>
          <a:xfrm>
            <a:off x="5214461" y="2619895"/>
            <a:ext cx="523875" cy="762000"/>
          </a:xfrm>
          <a:prstGeom prst="rect">
            <a:avLst/>
          </a:prstGeom>
        </p:spPr>
      </p:pic>
      <p:pic>
        <p:nvPicPr>
          <p:cNvPr id="27" name="Picture 26" descr="lock.png"/>
          <p:cNvPicPr>
            <a:picLocks noChangeAspect="1"/>
          </p:cNvPicPr>
          <p:nvPr/>
        </p:nvPicPr>
        <p:blipFill>
          <a:blip r:embed="rId7"/>
          <a:stretch>
            <a:fillRect/>
          </a:stretch>
        </p:blipFill>
        <p:spPr>
          <a:xfrm>
            <a:off x="9235916" y="2619895"/>
            <a:ext cx="523875" cy="762000"/>
          </a:xfrm>
          <a:prstGeom prst="rect">
            <a:avLst/>
          </a:prstGeom>
        </p:spPr>
      </p:pic>
      <p:sp>
        <p:nvSpPr>
          <p:cNvPr id="28" name="TextBox 27"/>
          <p:cNvSpPr txBox="1"/>
          <p:nvPr/>
        </p:nvSpPr>
        <p:spPr>
          <a:xfrm>
            <a:off x="276225" y="5022340"/>
            <a:ext cx="3202297" cy="194310"/>
          </a:xfrm>
          <a:prstGeom prst="rect">
            <a:avLst/>
          </a:prstGeom>
          <a:noFill/>
        </p:spPr>
        <p:txBody>
          <a:bodyPr wrap="none" lIns="0" rIns="0" tIns="0" bIns="0">
            <a:spAutoFit/>
          </a:bodyPr>
          <a:lstStyle/>
          <a:p>
            <a:r>
              <a:rPr sz="1150" b="0">
                <a:solidFill>
                  <a:srgbClr val="2E2E2E"/>
                </a:solidFill>
                <a:latin typeface="Calibri"/>
              </a:rPr>
              <a:t>▪ Capsules and Softgels: 'Standard Process' leads at ~</a:t>
            </a:r>
          </a:p>
        </p:txBody>
      </p:sp>
      <p:pic>
        <p:nvPicPr>
          <p:cNvPr id="29" name="Picture 28" descr="lock.png"/>
          <p:cNvPicPr>
            <a:picLocks noChangeAspect="1"/>
          </p:cNvPicPr>
          <p:nvPr/>
        </p:nvPicPr>
        <p:blipFill>
          <a:blip r:embed="rId7"/>
          <a:stretch>
            <a:fillRect/>
          </a:stretch>
        </p:blipFill>
        <p:spPr>
          <a:xfrm>
            <a:off x="3427676" y="5012116"/>
            <a:ext cx="134549" cy="195707"/>
          </a:xfrm>
          <a:prstGeom prst="rect">
            <a:avLst/>
          </a:prstGeom>
        </p:spPr>
      </p:pic>
      <p:sp>
        <p:nvSpPr>
          <p:cNvPr id="30" name="TextBox 29"/>
          <p:cNvSpPr txBox="1"/>
          <p:nvPr/>
        </p:nvSpPr>
        <p:spPr>
          <a:xfrm>
            <a:off x="3602785" y="5022340"/>
            <a:ext cx="2212466" cy="194310"/>
          </a:xfrm>
          <a:prstGeom prst="rect">
            <a:avLst/>
          </a:prstGeom>
          <a:noFill/>
        </p:spPr>
        <p:txBody>
          <a:bodyPr wrap="none" lIns="0" rIns="0" tIns="0" bIns="0">
            <a:spAutoFit/>
          </a:bodyPr>
          <a:lstStyle/>
          <a:p>
            <a:r>
              <a:rPr sz="1150" b="0">
                <a:solidFill>
                  <a:srgbClr val="2E2E2E"/>
                </a:solidFill>
                <a:latin typeface="Calibri"/>
              </a:rPr>
              <a:t>, ahead of 'Nestlé Purina PetCare' (~</a:t>
            </a:r>
          </a:p>
        </p:txBody>
      </p:sp>
      <p:pic>
        <p:nvPicPr>
          <p:cNvPr id="31" name="Picture 30" descr="lock.png"/>
          <p:cNvPicPr>
            <a:picLocks noChangeAspect="1"/>
          </p:cNvPicPr>
          <p:nvPr/>
        </p:nvPicPr>
        <p:blipFill>
          <a:blip r:embed="rId7"/>
          <a:stretch>
            <a:fillRect/>
          </a:stretch>
        </p:blipFill>
        <p:spPr>
          <a:xfrm>
            <a:off x="5764406" y="5012116"/>
            <a:ext cx="134549" cy="195707"/>
          </a:xfrm>
          <a:prstGeom prst="rect">
            <a:avLst/>
          </a:prstGeom>
        </p:spPr>
      </p:pic>
      <p:sp>
        <p:nvSpPr>
          <p:cNvPr id="32" name="TextBox 31"/>
          <p:cNvSpPr txBox="1"/>
          <p:nvPr/>
        </p:nvSpPr>
        <p:spPr>
          <a:xfrm>
            <a:off x="5939515" y="5022340"/>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33" name="Picture 32" descr="lock.png"/>
          <p:cNvPicPr>
            <a:picLocks noChangeAspect="1"/>
          </p:cNvPicPr>
          <p:nvPr/>
        </p:nvPicPr>
        <p:blipFill>
          <a:blip r:embed="rId7"/>
          <a:stretch>
            <a:fillRect/>
          </a:stretch>
        </p:blipFill>
        <p:spPr>
          <a:xfrm>
            <a:off x="7274184" y="5012116"/>
            <a:ext cx="134549" cy="195707"/>
          </a:xfrm>
          <a:prstGeom prst="rect">
            <a:avLst/>
          </a:prstGeom>
        </p:spPr>
      </p:pic>
      <p:sp>
        <p:nvSpPr>
          <p:cNvPr id="34" name="TextBox 33"/>
          <p:cNvSpPr txBox="1"/>
          <p:nvPr/>
        </p:nvSpPr>
        <p:spPr>
          <a:xfrm>
            <a:off x="7449294" y="5022340"/>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35" name="Picture 34" descr="lock.png"/>
          <p:cNvPicPr>
            <a:picLocks noChangeAspect="1"/>
          </p:cNvPicPr>
          <p:nvPr/>
        </p:nvPicPr>
        <p:blipFill>
          <a:blip r:embed="rId7"/>
          <a:stretch>
            <a:fillRect/>
          </a:stretch>
        </p:blipFill>
        <p:spPr>
          <a:xfrm>
            <a:off x="9004750" y="5012116"/>
            <a:ext cx="134549" cy="195707"/>
          </a:xfrm>
          <a:prstGeom prst="rect">
            <a:avLst/>
          </a:prstGeom>
        </p:spPr>
      </p:pic>
      <p:sp>
        <p:nvSpPr>
          <p:cNvPr id="36" name="TextBox 35"/>
          <p:cNvSpPr txBox="1"/>
          <p:nvPr/>
        </p:nvSpPr>
        <p:spPr>
          <a:xfrm>
            <a:off x="9179859" y="5022340"/>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7" name="TextBox 36"/>
          <p:cNvSpPr txBox="1"/>
          <p:nvPr/>
        </p:nvSpPr>
        <p:spPr>
          <a:xfrm>
            <a:off x="276225" y="5250177"/>
            <a:ext cx="2080647" cy="194310"/>
          </a:xfrm>
          <a:prstGeom prst="rect">
            <a:avLst/>
          </a:prstGeom>
          <a:noFill/>
        </p:spPr>
        <p:txBody>
          <a:bodyPr wrap="none" lIns="0" rIns="0" tIns="0" bIns="0">
            <a:spAutoFit/>
          </a:bodyPr>
          <a:lstStyle/>
          <a:p>
            <a:r>
              <a:rPr sz="1150" b="0">
                <a:solidFill>
                  <a:srgbClr val="2E2E2E"/>
                </a:solidFill>
                <a:latin typeface="Calibri"/>
              </a:rPr>
              <a:t>▪ Tablets: 'Dr. Fossum's' leads at ~</a:t>
            </a:r>
          </a:p>
        </p:txBody>
      </p:sp>
      <p:pic>
        <p:nvPicPr>
          <p:cNvPr id="38" name="Picture 37" descr="lock.png"/>
          <p:cNvPicPr>
            <a:picLocks noChangeAspect="1"/>
          </p:cNvPicPr>
          <p:nvPr/>
        </p:nvPicPr>
        <p:blipFill>
          <a:blip r:embed="rId7"/>
          <a:stretch>
            <a:fillRect/>
          </a:stretch>
        </p:blipFill>
        <p:spPr>
          <a:xfrm>
            <a:off x="2306026" y="5239954"/>
            <a:ext cx="134549" cy="195707"/>
          </a:xfrm>
          <a:prstGeom prst="rect">
            <a:avLst/>
          </a:prstGeom>
        </p:spPr>
      </p:pic>
      <p:sp>
        <p:nvSpPr>
          <p:cNvPr id="39" name="TextBox 38"/>
          <p:cNvSpPr txBox="1"/>
          <p:nvPr/>
        </p:nvSpPr>
        <p:spPr>
          <a:xfrm>
            <a:off x="2481136" y="5250177"/>
            <a:ext cx="1650231" cy="194310"/>
          </a:xfrm>
          <a:prstGeom prst="rect">
            <a:avLst/>
          </a:prstGeom>
          <a:noFill/>
        </p:spPr>
        <p:txBody>
          <a:bodyPr wrap="none" lIns="0" rIns="0" tIns="0" bIns="0">
            <a:spAutoFit/>
          </a:bodyPr>
          <a:lstStyle/>
          <a:p>
            <a:r>
              <a:rPr sz="1150" b="0">
                <a:solidFill>
                  <a:srgbClr val="2E2E2E"/>
                </a:solidFill>
                <a:latin typeface="Calibri"/>
              </a:rPr>
              <a:t>, ahead of 'VetriScience' (~</a:t>
            </a:r>
          </a:p>
        </p:txBody>
      </p:sp>
      <p:pic>
        <p:nvPicPr>
          <p:cNvPr id="40" name="Picture 39" descr="lock.png"/>
          <p:cNvPicPr>
            <a:picLocks noChangeAspect="1"/>
          </p:cNvPicPr>
          <p:nvPr/>
        </p:nvPicPr>
        <p:blipFill>
          <a:blip r:embed="rId7"/>
          <a:stretch>
            <a:fillRect/>
          </a:stretch>
        </p:blipFill>
        <p:spPr>
          <a:xfrm>
            <a:off x="4080521" y="5239954"/>
            <a:ext cx="134549" cy="195707"/>
          </a:xfrm>
          <a:prstGeom prst="rect">
            <a:avLst/>
          </a:prstGeom>
        </p:spPr>
      </p:pic>
      <p:sp>
        <p:nvSpPr>
          <p:cNvPr id="41" name="TextBox 40"/>
          <p:cNvSpPr txBox="1"/>
          <p:nvPr/>
        </p:nvSpPr>
        <p:spPr>
          <a:xfrm>
            <a:off x="4255630" y="5250177"/>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2" name="Picture 41" descr="lock.png"/>
          <p:cNvPicPr>
            <a:picLocks noChangeAspect="1"/>
          </p:cNvPicPr>
          <p:nvPr/>
        </p:nvPicPr>
        <p:blipFill>
          <a:blip r:embed="rId7"/>
          <a:stretch>
            <a:fillRect/>
          </a:stretch>
        </p:blipFill>
        <p:spPr>
          <a:xfrm>
            <a:off x="5590299" y="5239954"/>
            <a:ext cx="134549" cy="195707"/>
          </a:xfrm>
          <a:prstGeom prst="rect">
            <a:avLst/>
          </a:prstGeom>
        </p:spPr>
      </p:pic>
      <p:sp>
        <p:nvSpPr>
          <p:cNvPr id="43" name="TextBox 42"/>
          <p:cNvSpPr txBox="1"/>
          <p:nvPr/>
        </p:nvSpPr>
        <p:spPr>
          <a:xfrm>
            <a:off x="5765409" y="5250177"/>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44" name="Picture 43" descr="lock.png"/>
          <p:cNvPicPr>
            <a:picLocks noChangeAspect="1"/>
          </p:cNvPicPr>
          <p:nvPr/>
        </p:nvPicPr>
        <p:blipFill>
          <a:blip r:embed="rId7"/>
          <a:stretch>
            <a:fillRect/>
          </a:stretch>
        </p:blipFill>
        <p:spPr>
          <a:xfrm>
            <a:off x="7320864" y="5239954"/>
            <a:ext cx="134549" cy="195707"/>
          </a:xfrm>
          <a:prstGeom prst="rect">
            <a:avLst/>
          </a:prstGeom>
        </p:spPr>
      </p:pic>
      <p:sp>
        <p:nvSpPr>
          <p:cNvPr id="45" name="TextBox 44"/>
          <p:cNvSpPr txBox="1"/>
          <p:nvPr/>
        </p:nvSpPr>
        <p:spPr>
          <a:xfrm>
            <a:off x="7495974" y="525017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276225" y="5478015"/>
            <a:ext cx="2563043" cy="194310"/>
          </a:xfrm>
          <a:prstGeom prst="rect">
            <a:avLst/>
          </a:prstGeom>
          <a:noFill/>
        </p:spPr>
        <p:txBody>
          <a:bodyPr wrap="none" lIns="0" rIns="0" tIns="0" bIns="0">
            <a:spAutoFit/>
          </a:bodyPr>
          <a:lstStyle/>
          <a:p>
            <a:r>
              <a:rPr sz="1150" b="0">
                <a:solidFill>
                  <a:srgbClr val="2E2E2E"/>
                </a:solidFill>
                <a:latin typeface="Calibri"/>
              </a:rPr>
              <a:t>▪ Chewables: 'Standard Process' leads at ~</a:t>
            </a:r>
          </a:p>
        </p:txBody>
      </p:sp>
      <p:pic>
        <p:nvPicPr>
          <p:cNvPr id="47" name="Picture 46" descr="lock.png"/>
          <p:cNvPicPr>
            <a:picLocks noChangeAspect="1"/>
          </p:cNvPicPr>
          <p:nvPr/>
        </p:nvPicPr>
        <p:blipFill>
          <a:blip r:embed="rId7"/>
          <a:stretch>
            <a:fillRect/>
          </a:stretch>
        </p:blipFill>
        <p:spPr>
          <a:xfrm>
            <a:off x="2788422" y="5467792"/>
            <a:ext cx="134549" cy="195707"/>
          </a:xfrm>
          <a:prstGeom prst="rect">
            <a:avLst/>
          </a:prstGeom>
        </p:spPr>
      </p:pic>
      <p:sp>
        <p:nvSpPr>
          <p:cNvPr id="48" name="TextBox 47"/>
          <p:cNvSpPr txBox="1"/>
          <p:nvPr/>
        </p:nvSpPr>
        <p:spPr>
          <a:xfrm>
            <a:off x="2963531" y="5478015"/>
            <a:ext cx="1650231" cy="194310"/>
          </a:xfrm>
          <a:prstGeom prst="rect">
            <a:avLst/>
          </a:prstGeom>
          <a:noFill/>
        </p:spPr>
        <p:txBody>
          <a:bodyPr wrap="none" lIns="0" rIns="0" tIns="0" bIns="0">
            <a:spAutoFit/>
          </a:bodyPr>
          <a:lstStyle/>
          <a:p>
            <a:r>
              <a:rPr sz="1150" b="0">
                <a:solidFill>
                  <a:srgbClr val="2E2E2E"/>
                </a:solidFill>
                <a:latin typeface="Calibri"/>
              </a:rPr>
              <a:t>, ahead of 'VetriScience' (~</a:t>
            </a:r>
          </a:p>
        </p:txBody>
      </p:sp>
      <p:pic>
        <p:nvPicPr>
          <p:cNvPr id="49" name="Picture 48" descr="lock.png"/>
          <p:cNvPicPr>
            <a:picLocks noChangeAspect="1"/>
          </p:cNvPicPr>
          <p:nvPr/>
        </p:nvPicPr>
        <p:blipFill>
          <a:blip r:embed="rId7"/>
          <a:stretch>
            <a:fillRect/>
          </a:stretch>
        </p:blipFill>
        <p:spPr>
          <a:xfrm>
            <a:off x="4562916" y="5467792"/>
            <a:ext cx="134549" cy="195707"/>
          </a:xfrm>
          <a:prstGeom prst="rect">
            <a:avLst/>
          </a:prstGeom>
        </p:spPr>
      </p:pic>
      <p:sp>
        <p:nvSpPr>
          <p:cNvPr id="50" name="TextBox 49"/>
          <p:cNvSpPr txBox="1"/>
          <p:nvPr/>
        </p:nvSpPr>
        <p:spPr>
          <a:xfrm>
            <a:off x="4738026" y="5478015"/>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51" name="Picture 50" descr="lock.png"/>
          <p:cNvPicPr>
            <a:picLocks noChangeAspect="1"/>
          </p:cNvPicPr>
          <p:nvPr/>
        </p:nvPicPr>
        <p:blipFill>
          <a:blip r:embed="rId7"/>
          <a:stretch>
            <a:fillRect/>
          </a:stretch>
        </p:blipFill>
        <p:spPr>
          <a:xfrm>
            <a:off x="6072695" y="5467792"/>
            <a:ext cx="134549" cy="195707"/>
          </a:xfrm>
          <a:prstGeom prst="rect">
            <a:avLst/>
          </a:prstGeom>
        </p:spPr>
      </p:pic>
      <p:sp>
        <p:nvSpPr>
          <p:cNvPr id="52" name="TextBox 51"/>
          <p:cNvSpPr txBox="1"/>
          <p:nvPr/>
        </p:nvSpPr>
        <p:spPr>
          <a:xfrm>
            <a:off x="6247804" y="5478015"/>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53" name="Picture 52" descr="lock.png"/>
          <p:cNvPicPr>
            <a:picLocks noChangeAspect="1"/>
          </p:cNvPicPr>
          <p:nvPr/>
        </p:nvPicPr>
        <p:blipFill>
          <a:blip r:embed="rId7"/>
          <a:stretch>
            <a:fillRect/>
          </a:stretch>
        </p:blipFill>
        <p:spPr>
          <a:xfrm>
            <a:off x="7803260" y="5467792"/>
            <a:ext cx="134549" cy="195707"/>
          </a:xfrm>
          <a:prstGeom prst="rect">
            <a:avLst/>
          </a:prstGeom>
        </p:spPr>
      </p:pic>
      <p:sp>
        <p:nvSpPr>
          <p:cNvPr id="54" name="TextBox 53"/>
          <p:cNvSpPr txBox="1"/>
          <p:nvPr/>
        </p:nvSpPr>
        <p:spPr>
          <a:xfrm>
            <a:off x="7978369" y="547801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55" name="TextBox 54"/>
          <p:cNvSpPr txBox="1"/>
          <p:nvPr/>
        </p:nvSpPr>
        <p:spPr>
          <a:xfrm>
            <a:off x="276225" y="5705853"/>
            <a:ext cx="8908516" cy="194310"/>
          </a:xfrm>
          <a:prstGeom prst="rect">
            <a:avLst/>
          </a:prstGeom>
          <a:noFill/>
        </p:spPr>
        <p:txBody>
          <a:bodyPr wrap="none" lIns="0" rIns="0" tIns="0" bIns="0">
            <a:spAutoFit/>
          </a:bodyPr>
          <a:lstStyle/>
          <a:p>
            <a:r>
              <a:rPr sz="1150" b="0">
                <a:solidFill>
                  <a:srgbClr val="2E2E2E"/>
                </a:solidFill>
                <a:latin typeface="Calibri"/>
              </a:rPr>
              <a:t>▪ Leadership shifts across formulations a strong position in one product type does not carry over to the others, so product-level targeting is essential.</a:t>
            </a:r>
          </a:p>
        </p:txBody>
      </p:sp>
      <p:sp>
        <p:nvSpPr>
          <p:cNvPr id="56" name="TextBox 55"/>
          <p:cNvSpPr txBox="1"/>
          <p:nvPr/>
        </p:nvSpPr>
        <p:spPr>
          <a:xfrm>
            <a:off x="276225" y="5933691"/>
            <a:ext cx="7218957" cy="194310"/>
          </a:xfrm>
          <a:prstGeom prst="rect">
            <a:avLst/>
          </a:prstGeom>
          <a:noFill/>
        </p:spPr>
        <p:txBody>
          <a:bodyPr wrap="none" lIns="0" rIns="0" tIns="0" bIns="0">
            <a:spAutoFit/>
          </a:bodyPr>
          <a:lstStyle/>
          <a:p>
            <a:r>
              <a:rPr sz="1150" b="0">
                <a:solidFill>
                  <a:srgbClr val="2E2E2E"/>
                </a:solidFill>
                <a:latin typeface="Calibri"/>
              </a:rPr>
              <a:t>▪ Note: competitor figures are indicative derived from market modelling and expert validation, not company disclosures.</a:t>
            </a:r>
          </a:p>
        </p:txBody>
      </p:sp>
      <p:sp>
        <p:nvSpPr>
          <p:cNvPr id="57" name="lockshield_13"/>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16"/>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19"/>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Company Share by Region (Top 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Company value share within the largest regions, highlighting where leadership shifts across geographies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largest regions where each player concentrates, and how leadership varies by geography.</a:t>
            </a:r>
          </a:p>
        </p:txBody>
      </p:sp>
      <p:sp>
        <p:nvSpPr>
          <p:cNvPr id="11" name="Rounded Rectangle 10"/>
          <p:cNvSpPr/>
          <p:nvPr/>
        </p:nvSpPr>
        <p:spPr>
          <a:xfrm>
            <a:off x="14287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a:t>
            </a:r>
          </a:p>
        </p:txBody>
      </p:sp>
      <p:graphicFrame>
        <p:nvGraphicFramePr>
          <p:cNvPr id="13" name="Chart 12"/>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4" name="Rounded Rectangle 13"/>
          <p:cNvSpPr/>
          <p:nvPr/>
        </p:nvSpPr>
        <p:spPr>
          <a:xfrm>
            <a:off x="412432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a:t>
            </a:r>
          </a:p>
        </p:txBody>
      </p:sp>
      <p:graphicFrame>
        <p:nvGraphicFramePr>
          <p:cNvPr id="16" name="Chart 15"/>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7" name="Rounded Rectangle 16"/>
          <p:cNvSpPr/>
          <p:nvPr/>
        </p:nvSpPr>
        <p:spPr>
          <a:xfrm>
            <a:off x="8105775" y="1299320"/>
            <a:ext cx="39433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South Asia &amp; Pacific</a:t>
            </a:r>
          </a:p>
        </p:txBody>
      </p:sp>
      <p:graphicFrame>
        <p:nvGraphicFramePr>
          <p:cNvPr id="19" name="Chart 18"/>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20" name="Rounded Rectangle 19"/>
          <p:cNvSpPr/>
          <p:nvPr/>
        </p:nvSpPr>
        <p:spPr>
          <a:xfrm>
            <a:off x="142875" y="4603240"/>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Company Share Key Takeaways</a:t>
            </a:r>
          </a:p>
        </p:txBody>
      </p:sp>
      <p:sp>
        <p:nvSpPr>
          <p:cNvPr id="22" name="Rectangle 21"/>
          <p:cNvSpPr/>
          <p:nvPr/>
        </p:nvSpPr>
        <p:spPr>
          <a:xfrm>
            <a:off x="276225" y="492709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1233011" y="2619895"/>
            <a:ext cx="523875" cy="762000"/>
          </a:xfrm>
          <a:prstGeom prst="rect">
            <a:avLst/>
          </a:prstGeom>
        </p:spPr>
      </p:pic>
      <p:pic>
        <p:nvPicPr>
          <p:cNvPr id="26" name="Picture 25" descr="lock.png"/>
          <p:cNvPicPr>
            <a:picLocks noChangeAspect="1"/>
          </p:cNvPicPr>
          <p:nvPr/>
        </p:nvPicPr>
        <p:blipFill>
          <a:blip r:embed="rId7"/>
          <a:stretch>
            <a:fillRect/>
          </a:stretch>
        </p:blipFill>
        <p:spPr>
          <a:xfrm>
            <a:off x="5214461" y="2619895"/>
            <a:ext cx="523875" cy="762000"/>
          </a:xfrm>
          <a:prstGeom prst="rect">
            <a:avLst/>
          </a:prstGeom>
        </p:spPr>
      </p:pic>
      <p:pic>
        <p:nvPicPr>
          <p:cNvPr id="27" name="Picture 26" descr="lock.png"/>
          <p:cNvPicPr>
            <a:picLocks noChangeAspect="1"/>
          </p:cNvPicPr>
          <p:nvPr/>
        </p:nvPicPr>
        <p:blipFill>
          <a:blip r:embed="rId7"/>
          <a:stretch>
            <a:fillRect/>
          </a:stretch>
        </p:blipFill>
        <p:spPr>
          <a:xfrm>
            <a:off x="9235916" y="2619895"/>
            <a:ext cx="523875" cy="762000"/>
          </a:xfrm>
          <a:prstGeom prst="rect">
            <a:avLst/>
          </a:prstGeom>
        </p:spPr>
      </p:pic>
      <p:sp>
        <p:nvSpPr>
          <p:cNvPr id="28" name="TextBox 27"/>
          <p:cNvSpPr txBox="1"/>
          <p:nvPr/>
        </p:nvSpPr>
        <p:spPr>
          <a:xfrm>
            <a:off x="276225" y="5022340"/>
            <a:ext cx="2792958" cy="194310"/>
          </a:xfrm>
          <a:prstGeom prst="rect">
            <a:avLst/>
          </a:prstGeom>
          <a:noFill/>
        </p:spPr>
        <p:txBody>
          <a:bodyPr wrap="none" lIns="0" rIns="0" tIns="0" bIns="0">
            <a:spAutoFit/>
          </a:bodyPr>
          <a:lstStyle/>
          <a:p>
            <a:r>
              <a:rPr sz="1150" b="0">
                <a:solidFill>
                  <a:srgbClr val="2E2E2E"/>
                </a:solidFill>
                <a:latin typeface="Calibri"/>
              </a:rPr>
              <a:t>▪ North America: 'Standard Process' leads at ~</a:t>
            </a:r>
          </a:p>
        </p:txBody>
      </p:sp>
      <p:pic>
        <p:nvPicPr>
          <p:cNvPr id="29" name="Picture 28" descr="lock.png"/>
          <p:cNvPicPr>
            <a:picLocks noChangeAspect="1"/>
          </p:cNvPicPr>
          <p:nvPr/>
        </p:nvPicPr>
        <p:blipFill>
          <a:blip r:embed="rId7"/>
          <a:stretch>
            <a:fillRect/>
          </a:stretch>
        </p:blipFill>
        <p:spPr>
          <a:xfrm>
            <a:off x="3018337" y="5012116"/>
            <a:ext cx="134549" cy="195707"/>
          </a:xfrm>
          <a:prstGeom prst="rect">
            <a:avLst/>
          </a:prstGeom>
        </p:spPr>
      </p:pic>
      <p:sp>
        <p:nvSpPr>
          <p:cNvPr id="30" name="TextBox 29"/>
          <p:cNvSpPr txBox="1"/>
          <p:nvPr/>
        </p:nvSpPr>
        <p:spPr>
          <a:xfrm>
            <a:off x="3193446" y="5022340"/>
            <a:ext cx="1650231" cy="194310"/>
          </a:xfrm>
          <a:prstGeom prst="rect">
            <a:avLst/>
          </a:prstGeom>
          <a:noFill/>
        </p:spPr>
        <p:txBody>
          <a:bodyPr wrap="none" lIns="0" rIns="0" tIns="0" bIns="0">
            <a:spAutoFit/>
          </a:bodyPr>
          <a:lstStyle/>
          <a:p>
            <a:r>
              <a:rPr sz="1150" b="0">
                <a:solidFill>
                  <a:srgbClr val="2E2E2E"/>
                </a:solidFill>
                <a:latin typeface="Calibri"/>
              </a:rPr>
              <a:t>, ahead of 'VetriScience' (~</a:t>
            </a:r>
          </a:p>
        </p:txBody>
      </p:sp>
      <p:pic>
        <p:nvPicPr>
          <p:cNvPr id="31" name="Picture 30" descr="lock.png"/>
          <p:cNvPicPr>
            <a:picLocks noChangeAspect="1"/>
          </p:cNvPicPr>
          <p:nvPr/>
        </p:nvPicPr>
        <p:blipFill>
          <a:blip r:embed="rId7"/>
          <a:stretch>
            <a:fillRect/>
          </a:stretch>
        </p:blipFill>
        <p:spPr>
          <a:xfrm>
            <a:off x="4792831" y="5012116"/>
            <a:ext cx="134549" cy="195707"/>
          </a:xfrm>
          <a:prstGeom prst="rect">
            <a:avLst/>
          </a:prstGeom>
        </p:spPr>
      </p:pic>
      <p:sp>
        <p:nvSpPr>
          <p:cNvPr id="32" name="TextBox 31"/>
          <p:cNvSpPr txBox="1"/>
          <p:nvPr/>
        </p:nvSpPr>
        <p:spPr>
          <a:xfrm>
            <a:off x="4967940" y="5022340"/>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33" name="Picture 32" descr="lock.png"/>
          <p:cNvPicPr>
            <a:picLocks noChangeAspect="1"/>
          </p:cNvPicPr>
          <p:nvPr/>
        </p:nvPicPr>
        <p:blipFill>
          <a:blip r:embed="rId7"/>
          <a:stretch>
            <a:fillRect/>
          </a:stretch>
        </p:blipFill>
        <p:spPr>
          <a:xfrm>
            <a:off x="6302610" y="5012116"/>
            <a:ext cx="134549" cy="195707"/>
          </a:xfrm>
          <a:prstGeom prst="rect">
            <a:avLst/>
          </a:prstGeom>
        </p:spPr>
      </p:pic>
      <p:sp>
        <p:nvSpPr>
          <p:cNvPr id="34" name="TextBox 33"/>
          <p:cNvSpPr txBox="1"/>
          <p:nvPr/>
        </p:nvSpPr>
        <p:spPr>
          <a:xfrm>
            <a:off x="6477719" y="5022340"/>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35" name="Picture 34" descr="lock.png"/>
          <p:cNvPicPr>
            <a:picLocks noChangeAspect="1"/>
          </p:cNvPicPr>
          <p:nvPr/>
        </p:nvPicPr>
        <p:blipFill>
          <a:blip r:embed="rId7"/>
          <a:stretch>
            <a:fillRect/>
          </a:stretch>
        </p:blipFill>
        <p:spPr>
          <a:xfrm>
            <a:off x="8033175" y="5012116"/>
            <a:ext cx="134549" cy="195707"/>
          </a:xfrm>
          <a:prstGeom prst="rect">
            <a:avLst/>
          </a:prstGeom>
        </p:spPr>
      </p:pic>
      <p:sp>
        <p:nvSpPr>
          <p:cNvPr id="36" name="TextBox 35"/>
          <p:cNvSpPr txBox="1"/>
          <p:nvPr/>
        </p:nvSpPr>
        <p:spPr>
          <a:xfrm>
            <a:off x="8208284" y="5022340"/>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7" name="TextBox 36"/>
          <p:cNvSpPr txBox="1"/>
          <p:nvPr/>
        </p:nvSpPr>
        <p:spPr>
          <a:xfrm>
            <a:off x="276225" y="5250177"/>
            <a:ext cx="2346821" cy="194310"/>
          </a:xfrm>
          <a:prstGeom prst="rect">
            <a:avLst/>
          </a:prstGeom>
          <a:noFill/>
        </p:spPr>
        <p:txBody>
          <a:bodyPr wrap="none" lIns="0" rIns="0" tIns="0" bIns="0">
            <a:spAutoFit/>
          </a:bodyPr>
          <a:lstStyle/>
          <a:p>
            <a:r>
              <a:rPr sz="1150" b="0">
                <a:solidFill>
                  <a:srgbClr val="2E2E2E"/>
                </a:solidFill>
                <a:latin typeface="Calibri"/>
              </a:rPr>
              <a:t>▪ Europe: 'Standard Process' leads at ~</a:t>
            </a:r>
          </a:p>
        </p:txBody>
      </p:sp>
      <p:pic>
        <p:nvPicPr>
          <p:cNvPr id="38" name="Picture 37" descr="lock.png"/>
          <p:cNvPicPr>
            <a:picLocks noChangeAspect="1"/>
          </p:cNvPicPr>
          <p:nvPr/>
        </p:nvPicPr>
        <p:blipFill>
          <a:blip r:embed="rId7"/>
          <a:stretch>
            <a:fillRect/>
          </a:stretch>
        </p:blipFill>
        <p:spPr>
          <a:xfrm>
            <a:off x="2572200" y="5239954"/>
            <a:ext cx="134549" cy="195707"/>
          </a:xfrm>
          <a:prstGeom prst="rect">
            <a:avLst/>
          </a:prstGeom>
        </p:spPr>
      </p:pic>
      <p:sp>
        <p:nvSpPr>
          <p:cNvPr id="39" name="TextBox 38"/>
          <p:cNvSpPr txBox="1"/>
          <p:nvPr/>
        </p:nvSpPr>
        <p:spPr>
          <a:xfrm>
            <a:off x="2747309" y="5250177"/>
            <a:ext cx="2212466" cy="194310"/>
          </a:xfrm>
          <a:prstGeom prst="rect">
            <a:avLst/>
          </a:prstGeom>
          <a:noFill/>
        </p:spPr>
        <p:txBody>
          <a:bodyPr wrap="none" lIns="0" rIns="0" tIns="0" bIns="0">
            <a:spAutoFit/>
          </a:bodyPr>
          <a:lstStyle/>
          <a:p>
            <a:r>
              <a:rPr sz="1150" b="0">
                <a:solidFill>
                  <a:srgbClr val="2E2E2E"/>
                </a:solidFill>
                <a:latin typeface="Calibri"/>
              </a:rPr>
              <a:t>, ahead of 'Nestlé Purina PetCare' (~</a:t>
            </a:r>
          </a:p>
        </p:txBody>
      </p:sp>
      <p:pic>
        <p:nvPicPr>
          <p:cNvPr id="40" name="Picture 39" descr="lock.png"/>
          <p:cNvPicPr>
            <a:picLocks noChangeAspect="1"/>
          </p:cNvPicPr>
          <p:nvPr/>
        </p:nvPicPr>
        <p:blipFill>
          <a:blip r:embed="rId7"/>
          <a:stretch>
            <a:fillRect/>
          </a:stretch>
        </p:blipFill>
        <p:spPr>
          <a:xfrm>
            <a:off x="4908929" y="5239954"/>
            <a:ext cx="134549" cy="195707"/>
          </a:xfrm>
          <a:prstGeom prst="rect">
            <a:avLst/>
          </a:prstGeom>
        </p:spPr>
      </p:pic>
      <p:sp>
        <p:nvSpPr>
          <p:cNvPr id="41" name="TextBox 40"/>
          <p:cNvSpPr txBox="1"/>
          <p:nvPr/>
        </p:nvSpPr>
        <p:spPr>
          <a:xfrm>
            <a:off x="5084039" y="5250177"/>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2" name="Picture 41" descr="lock.png"/>
          <p:cNvPicPr>
            <a:picLocks noChangeAspect="1"/>
          </p:cNvPicPr>
          <p:nvPr/>
        </p:nvPicPr>
        <p:blipFill>
          <a:blip r:embed="rId7"/>
          <a:stretch>
            <a:fillRect/>
          </a:stretch>
        </p:blipFill>
        <p:spPr>
          <a:xfrm>
            <a:off x="6418708" y="5239954"/>
            <a:ext cx="134549" cy="195707"/>
          </a:xfrm>
          <a:prstGeom prst="rect">
            <a:avLst/>
          </a:prstGeom>
        </p:spPr>
      </p:pic>
      <p:sp>
        <p:nvSpPr>
          <p:cNvPr id="43" name="TextBox 42"/>
          <p:cNvSpPr txBox="1"/>
          <p:nvPr/>
        </p:nvSpPr>
        <p:spPr>
          <a:xfrm>
            <a:off x="6593817" y="5250177"/>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44" name="Picture 43" descr="lock.png"/>
          <p:cNvPicPr>
            <a:picLocks noChangeAspect="1"/>
          </p:cNvPicPr>
          <p:nvPr/>
        </p:nvPicPr>
        <p:blipFill>
          <a:blip r:embed="rId7"/>
          <a:stretch>
            <a:fillRect/>
          </a:stretch>
        </p:blipFill>
        <p:spPr>
          <a:xfrm>
            <a:off x="8149273" y="5239954"/>
            <a:ext cx="134549" cy="195707"/>
          </a:xfrm>
          <a:prstGeom prst="rect">
            <a:avLst/>
          </a:prstGeom>
        </p:spPr>
      </p:pic>
      <p:sp>
        <p:nvSpPr>
          <p:cNvPr id="45" name="TextBox 44"/>
          <p:cNvSpPr txBox="1"/>
          <p:nvPr/>
        </p:nvSpPr>
        <p:spPr>
          <a:xfrm>
            <a:off x="8324382" y="525017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276225" y="5478015"/>
            <a:ext cx="2821737" cy="194310"/>
          </a:xfrm>
          <a:prstGeom prst="rect">
            <a:avLst/>
          </a:prstGeom>
          <a:noFill/>
        </p:spPr>
        <p:txBody>
          <a:bodyPr wrap="none" lIns="0" rIns="0" tIns="0" bIns="0">
            <a:spAutoFit/>
          </a:bodyPr>
          <a:lstStyle/>
          <a:p>
            <a:r>
              <a:rPr sz="1150" b="0">
                <a:solidFill>
                  <a:srgbClr val="2E2E2E"/>
                </a:solidFill>
                <a:latin typeface="Calibri"/>
              </a:rPr>
              <a:t>▪ South Asia &amp; Pacific: 'Dr. Fossum's' leads at ~</a:t>
            </a:r>
          </a:p>
        </p:txBody>
      </p:sp>
      <p:pic>
        <p:nvPicPr>
          <p:cNvPr id="47" name="Picture 46" descr="lock.png"/>
          <p:cNvPicPr>
            <a:picLocks noChangeAspect="1"/>
          </p:cNvPicPr>
          <p:nvPr/>
        </p:nvPicPr>
        <p:blipFill>
          <a:blip r:embed="rId7"/>
          <a:stretch>
            <a:fillRect/>
          </a:stretch>
        </p:blipFill>
        <p:spPr>
          <a:xfrm>
            <a:off x="3047116" y="5467792"/>
            <a:ext cx="134549" cy="195707"/>
          </a:xfrm>
          <a:prstGeom prst="rect">
            <a:avLst/>
          </a:prstGeom>
        </p:spPr>
      </p:pic>
      <p:sp>
        <p:nvSpPr>
          <p:cNvPr id="48" name="TextBox 47"/>
          <p:cNvSpPr txBox="1"/>
          <p:nvPr/>
        </p:nvSpPr>
        <p:spPr>
          <a:xfrm>
            <a:off x="3222225" y="5478015"/>
            <a:ext cx="1650231" cy="194310"/>
          </a:xfrm>
          <a:prstGeom prst="rect">
            <a:avLst/>
          </a:prstGeom>
          <a:noFill/>
        </p:spPr>
        <p:txBody>
          <a:bodyPr wrap="none" lIns="0" rIns="0" tIns="0" bIns="0">
            <a:spAutoFit/>
          </a:bodyPr>
          <a:lstStyle/>
          <a:p>
            <a:r>
              <a:rPr sz="1150" b="0">
                <a:solidFill>
                  <a:srgbClr val="2E2E2E"/>
                </a:solidFill>
                <a:latin typeface="Calibri"/>
              </a:rPr>
              <a:t>, ahead of 'VetriScience' (~</a:t>
            </a:r>
          </a:p>
        </p:txBody>
      </p:sp>
      <p:pic>
        <p:nvPicPr>
          <p:cNvPr id="49" name="Picture 48" descr="lock.png"/>
          <p:cNvPicPr>
            <a:picLocks noChangeAspect="1"/>
          </p:cNvPicPr>
          <p:nvPr/>
        </p:nvPicPr>
        <p:blipFill>
          <a:blip r:embed="rId7"/>
          <a:stretch>
            <a:fillRect/>
          </a:stretch>
        </p:blipFill>
        <p:spPr>
          <a:xfrm>
            <a:off x="4821610" y="5467792"/>
            <a:ext cx="134549" cy="195707"/>
          </a:xfrm>
          <a:prstGeom prst="rect">
            <a:avLst/>
          </a:prstGeom>
        </p:spPr>
      </p:pic>
      <p:sp>
        <p:nvSpPr>
          <p:cNvPr id="50" name="TextBox 49"/>
          <p:cNvSpPr txBox="1"/>
          <p:nvPr/>
        </p:nvSpPr>
        <p:spPr>
          <a:xfrm>
            <a:off x="4996720" y="5478015"/>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51" name="Picture 50" descr="lock.png"/>
          <p:cNvPicPr>
            <a:picLocks noChangeAspect="1"/>
          </p:cNvPicPr>
          <p:nvPr/>
        </p:nvPicPr>
        <p:blipFill>
          <a:blip r:embed="rId7"/>
          <a:stretch>
            <a:fillRect/>
          </a:stretch>
        </p:blipFill>
        <p:spPr>
          <a:xfrm>
            <a:off x="6331389" y="5467792"/>
            <a:ext cx="134549" cy="195707"/>
          </a:xfrm>
          <a:prstGeom prst="rect">
            <a:avLst/>
          </a:prstGeom>
        </p:spPr>
      </p:pic>
      <p:sp>
        <p:nvSpPr>
          <p:cNvPr id="52" name="TextBox 51"/>
          <p:cNvSpPr txBox="1"/>
          <p:nvPr/>
        </p:nvSpPr>
        <p:spPr>
          <a:xfrm>
            <a:off x="6506498" y="5478015"/>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53" name="Picture 52" descr="lock.png"/>
          <p:cNvPicPr>
            <a:picLocks noChangeAspect="1"/>
          </p:cNvPicPr>
          <p:nvPr/>
        </p:nvPicPr>
        <p:blipFill>
          <a:blip r:embed="rId7"/>
          <a:stretch>
            <a:fillRect/>
          </a:stretch>
        </p:blipFill>
        <p:spPr>
          <a:xfrm>
            <a:off x="8061954" y="5467792"/>
            <a:ext cx="134549" cy="195707"/>
          </a:xfrm>
          <a:prstGeom prst="rect">
            <a:avLst/>
          </a:prstGeom>
        </p:spPr>
      </p:pic>
      <p:sp>
        <p:nvSpPr>
          <p:cNvPr id="54" name="TextBox 53"/>
          <p:cNvSpPr txBox="1"/>
          <p:nvPr/>
        </p:nvSpPr>
        <p:spPr>
          <a:xfrm>
            <a:off x="8237063" y="547801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55" name="TextBox 54"/>
          <p:cNvSpPr txBox="1"/>
          <p:nvPr/>
        </p:nvSpPr>
        <p:spPr>
          <a:xfrm>
            <a:off x="276225" y="5705853"/>
            <a:ext cx="9705801" cy="194310"/>
          </a:xfrm>
          <a:prstGeom prst="rect">
            <a:avLst/>
          </a:prstGeom>
          <a:noFill/>
        </p:spPr>
        <p:txBody>
          <a:bodyPr wrap="none" lIns="0" rIns="0" tIns="0" bIns="0">
            <a:spAutoFit/>
          </a:bodyPr>
          <a:lstStyle/>
          <a:p>
            <a:r>
              <a:rPr sz="1150" b="0">
                <a:solidFill>
                  <a:srgbClr val="2E2E2E"/>
                </a:solidFill>
                <a:latin typeface="Calibri"/>
              </a:rPr>
              <a:t>▪ Leadership is not uniform across geographies a strong position in one region does not carry over to the others, so region-level go-to-market planning is essential.</a:t>
            </a:r>
          </a:p>
        </p:txBody>
      </p:sp>
      <p:sp>
        <p:nvSpPr>
          <p:cNvPr id="56" name="TextBox 55"/>
          <p:cNvSpPr txBox="1"/>
          <p:nvPr/>
        </p:nvSpPr>
        <p:spPr>
          <a:xfrm>
            <a:off x="276225" y="5933691"/>
            <a:ext cx="7218957" cy="194310"/>
          </a:xfrm>
          <a:prstGeom prst="rect">
            <a:avLst/>
          </a:prstGeom>
          <a:noFill/>
        </p:spPr>
        <p:txBody>
          <a:bodyPr wrap="none" lIns="0" rIns="0" tIns="0" bIns="0">
            <a:spAutoFit/>
          </a:bodyPr>
          <a:lstStyle/>
          <a:p>
            <a:r>
              <a:rPr sz="1150" b="0">
                <a:solidFill>
                  <a:srgbClr val="2E2E2E"/>
                </a:solidFill>
                <a:latin typeface="Calibri"/>
              </a:rPr>
              <a:t>▪ Note: competitor figures are indicative derived from market modelling and expert validation, not company disclosures.</a:t>
            </a:r>
          </a:p>
        </p:txBody>
      </p:sp>
      <p:sp>
        <p:nvSpPr>
          <p:cNvPr id="57" name="lockshield_13"/>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16"/>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19"/>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Who Shaped Growth</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Ranking of the players that shaped growth, by value share, growth role and signature move</a:t>
            </a:r>
          </a:p>
        </p:txBody>
      </p:sp>
      <p:sp>
        <p:nvSpPr>
          <p:cNvPr id="10" name="TextBox 9"/>
          <p:cNvSpPr txBox="1"/>
          <p:nvPr/>
        </p:nvSpPr>
        <p:spPr>
          <a:xfrm>
            <a:off x="142875" y="970754"/>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A framework to identify the companies that most influenced annual Senior Dog Cognitive Supplement Market growth, ranked by growth-shaping impact.</a:t>
            </a:r>
          </a:p>
        </p:txBody>
      </p:sp>
      <p:sp>
        <p:nvSpPr>
          <p:cNvPr id="11" name="Rounded Rectangle 10"/>
          <p:cNvSpPr/>
          <p:nvPr/>
        </p:nvSpPr>
        <p:spPr>
          <a:xfrm>
            <a:off x="3619500" y="1189798"/>
            <a:ext cx="4953000" cy="419835"/>
          </a:xfrm>
          <a:prstGeom prst="roundRect">
            <a:avLst>
              <a:gd name="adj" fmla="val 1538"/>
            </a:avLst>
          </a:prstGeom>
          <a:solidFill>
            <a:srgbClr val="F4F8FB"/>
          </a:solidFill>
          <a:ln w="12700">
            <a:solidFill>
              <a:srgbClr val="CF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33800" y="1226305"/>
            <a:ext cx="4724400" cy="173410"/>
          </a:xfrm>
          <a:prstGeom prst="rect">
            <a:avLst/>
          </a:prstGeom>
          <a:noFill/>
        </p:spPr>
        <p:txBody>
          <a:bodyPr wrap="square" lIns="28575" rIns="28575" tIns="9525" bIns="9525" anchor="ctr">
            <a:spAutoFit/>
          </a:bodyPr>
          <a:lstStyle/>
          <a:p>
            <a:pPr algn="ctr"/>
            <a:r>
              <a:rPr sz="1100" b="1">
                <a:solidFill>
                  <a:srgbClr val="0B2E4A"/>
                </a:solidFill>
                <a:latin typeface="Calibri"/>
              </a:rPr>
              <a:t>RANKED BY GROWTH-SHAPING IMPACT</a:t>
            </a:r>
          </a:p>
        </p:txBody>
      </p:sp>
      <p:sp>
        <p:nvSpPr>
          <p:cNvPr id="13" name="TextBox 12"/>
          <p:cNvSpPr txBox="1"/>
          <p:nvPr/>
        </p:nvSpPr>
        <p:spPr>
          <a:xfrm>
            <a:off x="3733800" y="1399716"/>
            <a:ext cx="4724400" cy="173410"/>
          </a:xfrm>
          <a:prstGeom prst="rect">
            <a:avLst/>
          </a:prstGeom>
          <a:noFill/>
        </p:spPr>
        <p:txBody>
          <a:bodyPr wrap="square" lIns="28575" rIns="28575" tIns="9525" bIns="9525" anchor="ctr">
            <a:spAutoFit/>
          </a:bodyPr>
          <a:lstStyle/>
          <a:p>
            <a:pPr algn="ctr"/>
            <a:r>
              <a:rPr sz="1100" b="0">
                <a:solidFill>
                  <a:srgbClr val="6C7A89"/>
                </a:solidFill>
                <a:latin typeface="Calibri"/>
              </a:rPr>
              <a:t>Ranked by overall contribution to category growth, not share alone.</a:t>
            </a:r>
          </a:p>
        </p:txBody>
      </p:sp>
      <p:cxnSp>
        <p:nvCxnSpPr>
          <p:cNvPr id="14" name="Connector 13"/>
          <p:cNvCxnSpPr/>
          <p:nvPr/>
        </p:nvCxnSpPr>
        <p:spPr>
          <a:xfrm>
            <a:off x="428625"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743950"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23875" y="1792170"/>
            <a:ext cx="11106150" cy="0"/>
          </a:xfrm>
          <a:prstGeom prst="line">
            <a:avLst/>
          </a:prstGeom>
          <a:ln w="25400">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17" name="Freeform 16"/>
          <p:cNvSpPr/>
          <p:nvPr/>
        </p:nvSpPr>
        <p:spPr>
          <a:xfrm>
            <a:off x="11630025" y="1728282"/>
            <a:ext cx="171450" cy="127776"/>
          </a:xfrm>
          <a:custGeom>
            <a:avLst/>
            <a:gdLst/>
            <a:ahLst/>
            <a:cxnLst/>
            <a:rect l="l" t="t" r="r" b="b"/>
            <a:pathLst>
              <a:path w="18" h="14">
                <a:moveTo>
                  <a:pt x="0" y="0"/>
                </a:moveTo>
                <a:lnTo>
                  <a:pt x="18" y="7"/>
                </a:lnTo>
                <a:lnTo>
                  <a:pt x="0" y="14"/>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52525" y="1655267"/>
            <a:ext cx="285750" cy="273805"/>
          </a:xfrm>
          <a:prstGeom prst="ellipse">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525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0" name="Rounded Rectangle 19"/>
          <p:cNvSpPr/>
          <p:nvPr/>
        </p:nvSpPr>
        <p:spPr>
          <a:xfrm>
            <a:off x="142875" y="1992961"/>
            <a:ext cx="2305050" cy="2135683"/>
          </a:xfrm>
          <a:prstGeom prst="roundRect">
            <a:avLst>
              <a:gd name="adj" fmla="val 3719"/>
            </a:avLst>
          </a:prstGeom>
          <a:solidFill>
            <a:srgbClr val="FFFFFF"/>
          </a:solidFill>
          <a:ln w="2032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42875" y="1992961"/>
            <a:ext cx="2305050" cy="310313"/>
          </a:xfrm>
          <a:prstGeom prst="roundRect">
            <a:avLst>
              <a:gd name="adj" fmla="val 3719"/>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71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71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24" name="TextBox 23"/>
          <p:cNvSpPr txBox="1"/>
          <p:nvPr/>
        </p:nvSpPr>
        <p:spPr>
          <a:xfrm>
            <a:off x="5238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Standard Process</a:t>
            </a:r>
          </a:p>
        </p:txBody>
      </p:sp>
      <p:sp>
        <p:nvSpPr>
          <p:cNvPr id="25" name="TextBox 24"/>
          <p:cNvSpPr txBox="1"/>
          <p:nvPr/>
        </p:nvSpPr>
        <p:spPr>
          <a:xfrm>
            <a:off x="2381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4286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27" name="Connector 26"/>
          <p:cNvCxnSpPr/>
          <p:nvPr/>
        </p:nvCxnSpPr>
        <p:spPr>
          <a:xfrm>
            <a:off x="2381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381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 name="TextBox 28"/>
          <p:cNvSpPr txBox="1"/>
          <p:nvPr/>
        </p:nvSpPr>
        <p:spPr>
          <a:xfrm>
            <a:off x="4286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30" name="TextBox 29"/>
          <p:cNvSpPr txBox="1"/>
          <p:nvPr/>
        </p:nvSpPr>
        <p:spPr>
          <a:xfrm>
            <a:off x="428625" y="2805250"/>
            <a:ext cx="1924050" cy="164283"/>
          </a:xfrm>
          <a:prstGeom prst="rect">
            <a:avLst/>
          </a:prstGeom>
          <a:noFill/>
        </p:spPr>
        <p:txBody>
          <a:bodyPr wrap="square" lIns="28575" rIns="28575" tIns="9525" bIns="9525" anchor="ctr">
            <a:spAutoFit/>
          </a:bodyPr>
          <a:lstStyle/>
          <a:p>
            <a:pPr algn="l"/>
            <a:r>
              <a:rPr sz="1100" b="1">
                <a:solidFill>
                  <a:srgbClr val="0E72AE"/>
                </a:solidFill>
                <a:latin typeface="Calibri"/>
              </a:rPr>
              <a:t>Market leader</a:t>
            </a:r>
          </a:p>
        </p:txBody>
      </p:sp>
      <p:cxnSp>
        <p:nvCxnSpPr>
          <p:cNvPr id="31" name="Connector 30"/>
          <p:cNvCxnSpPr/>
          <p:nvPr/>
        </p:nvCxnSpPr>
        <p:spPr>
          <a:xfrm>
            <a:off x="2381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381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3" name="TextBox 32"/>
          <p:cNvSpPr txBox="1"/>
          <p:nvPr/>
        </p:nvSpPr>
        <p:spPr>
          <a:xfrm>
            <a:off x="4286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34" name="TextBox 33"/>
          <p:cNvSpPr txBox="1"/>
          <p:nvPr/>
        </p:nvSpPr>
        <p:spPr>
          <a:xfrm>
            <a:off x="4286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Expanded reach across its core segment</a:t>
            </a:r>
          </a:p>
        </p:txBody>
      </p:sp>
      <p:cxnSp>
        <p:nvCxnSpPr>
          <p:cNvPr id="35" name="Connector 34"/>
          <p:cNvCxnSpPr/>
          <p:nvPr/>
        </p:nvCxnSpPr>
        <p:spPr>
          <a:xfrm>
            <a:off x="2381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381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7" name="TextBox 36"/>
          <p:cNvSpPr txBox="1"/>
          <p:nvPr/>
        </p:nvSpPr>
        <p:spPr>
          <a:xfrm>
            <a:off x="4286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38" name="TextBox 37"/>
          <p:cNvSpPr txBox="1"/>
          <p:nvPr/>
        </p:nvSpPr>
        <p:spPr>
          <a:xfrm>
            <a:off x="4286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New launch</a:t>
            </a:r>
          </a:p>
        </p:txBody>
      </p:sp>
      <p:sp>
        <p:nvSpPr>
          <p:cNvPr id="39" name="Oval 38"/>
          <p:cNvSpPr/>
          <p:nvPr/>
        </p:nvSpPr>
        <p:spPr>
          <a:xfrm>
            <a:off x="3552825" y="1655267"/>
            <a:ext cx="285750" cy="27380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528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1" name="Rounded Rectangle 40"/>
          <p:cNvSpPr/>
          <p:nvPr/>
        </p:nvSpPr>
        <p:spPr>
          <a:xfrm>
            <a:off x="2543175" y="1992961"/>
            <a:ext cx="2305050" cy="2135683"/>
          </a:xfrm>
          <a:prstGeom prst="roundRect">
            <a:avLst>
              <a:gd name="adj" fmla="val 3719"/>
            </a:avLst>
          </a:prstGeom>
          <a:solidFill>
            <a:srgbClr val="FFFFFF"/>
          </a:solidFill>
          <a:ln w="2032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2543175" y="1992961"/>
            <a:ext cx="2305050" cy="310313"/>
          </a:xfrm>
          <a:prstGeom prst="roundRect">
            <a:avLst>
              <a:gd name="adj" fmla="val 3719"/>
            </a:avLst>
          </a:prstGeom>
          <a:solidFill>
            <a:srgbClr val="A35313"/>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6574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574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45" name="TextBox 44"/>
          <p:cNvSpPr txBox="1"/>
          <p:nvPr/>
        </p:nvSpPr>
        <p:spPr>
          <a:xfrm>
            <a:off x="29241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VetriScience</a:t>
            </a:r>
          </a:p>
        </p:txBody>
      </p:sp>
      <p:sp>
        <p:nvSpPr>
          <p:cNvPr id="46" name="TextBox 45"/>
          <p:cNvSpPr txBox="1"/>
          <p:nvPr/>
        </p:nvSpPr>
        <p:spPr>
          <a:xfrm>
            <a:off x="26384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7" name="TextBox 46"/>
          <p:cNvSpPr txBox="1"/>
          <p:nvPr/>
        </p:nvSpPr>
        <p:spPr>
          <a:xfrm>
            <a:off x="28289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48" name="Connector 47"/>
          <p:cNvCxnSpPr/>
          <p:nvPr/>
        </p:nvCxnSpPr>
        <p:spPr>
          <a:xfrm>
            <a:off x="26384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6384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0" name="TextBox 49"/>
          <p:cNvSpPr txBox="1"/>
          <p:nvPr/>
        </p:nvSpPr>
        <p:spPr>
          <a:xfrm>
            <a:off x="28289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51" name="TextBox 50"/>
          <p:cNvSpPr txBox="1"/>
          <p:nvPr/>
        </p:nvSpPr>
        <p:spPr>
          <a:xfrm>
            <a:off x="2828925" y="2805250"/>
            <a:ext cx="1924050" cy="164283"/>
          </a:xfrm>
          <a:prstGeom prst="rect">
            <a:avLst/>
          </a:prstGeom>
          <a:noFill/>
        </p:spPr>
        <p:txBody>
          <a:bodyPr wrap="square" lIns="28575" rIns="28575" tIns="9525" bIns="9525" anchor="ctr">
            <a:spAutoFit/>
          </a:bodyPr>
          <a:lstStyle/>
          <a:p>
            <a:pPr algn="l"/>
            <a:r>
              <a:rPr sz="1100" b="1">
                <a:solidFill>
                  <a:srgbClr val="A35313"/>
                </a:solidFill>
                <a:latin typeface="Calibri"/>
              </a:rPr>
              <a:t>Portfolio expander</a:t>
            </a:r>
          </a:p>
        </p:txBody>
      </p:sp>
      <p:cxnSp>
        <p:nvCxnSpPr>
          <p:cNvPr id="52" name="Connector 51"/>
          <p:cNvCxnSpPr/>
          <p:nvPr/>
        </p:nvCxnSpPr>
        <p:spPr>
          <a:xfrm>
            <a:off x="26384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26384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4" name="TextBox 53"/>
          <p:cNvSpPr txBox="1"/>
          <p:nvPr/>
        </p:nvSpPr>
        <p:spPr>
          <a:xfrm>
            <a:off x="28289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55" name="TextBox 54"/>
          <p:cNvSpPr txBox="1"/>
          <p:nvPr/>
        </p:nvSpPr>
        <p:spPr>
          <a:xfrm>
            <a:off x="28289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Drove new customer adoption</a:t>
            </a:r>
          </a:p>
        </p:txBody>
      </p:sp>
      <p:cxnSp>
        <p:nvCxnSpPr>
          <p:cNvPr id="56" name="Connector 55"/>
          <p:cNvCxnSpPr/>
          <p:nvPr/>
        </p:nvCxnSpPr>
        <p:spPr>
          <a:xfrm>
            <a:off x="26384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26384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8" name="TextBox 57"/>
          <p:cNvSpPr txBox="1"/>
          <p:nvPr/>
        </p:nvSpPr>
        <p:spPr>
          <a:xfrm>
            <a:off x="28289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59" name="TextBox 58"/>
          <p:cNvSpPr txBox="1"/>
          <p:nvPr/>
        </p:nvSpPr>
        <p:spPr>
          <a:xfrm>
            <a:off x="28289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expansion</a:t>
            </a:r>
          </a:p>
        </p:txBody>
      </p:sp>
      <p:sp>
        <p:nvSpPr>
          <p:cNvPr id="60" name="Oval 59"/>
          <p:cNvSpPr/>
          <p:nvPr/>
        </p:nvSpPr>
        <p:spPr>
          <a:xfrm>
            <a:off x="5953125" y="1655267"/>
            <a:ext cx="285750" cy="273805"/>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9531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62" name="Rounded Rectangle 61"/>
          <p:cNvSpPr/>
          <p:nvPr/>
        </p:nvSpPr>
        <p:spPr>
          <a:xfrm>
            <a:off x="4943475" y="1992961"/>
            <a:ext cx="2305050" cy="2135683"/>
          </a:xfrm>
          <a:prstGeom prst="roundRect">
            <a:avLst>
              <a:gd name="adj" fmla="val 3719"/>
            </a:avLst>
          </a:prstGeom>
          <a:solidFill>
            <a:srgbClr val="FFFFFF"/>
          </a:solidFill>
          <a:ln w="2032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4943475" y="1992961"/>
            <a:ext cx="2305050" cy="310313"/>
          </a:xfrm>
          <a:prstGeom prst="roundRect">
            <a:avLst>
              <a:gd name="adj" fmla="val 3719"/>
            </a:avLst>
          </a:prstGeom>
          <a:solidFill>
            <a:srgbClr val="69B1E0"/>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50577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577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66" name="TextBox 65"/>
          <p:cNvSpPr txBox="1"/>
          <p:nvPr/>
        </p:nvSpPr>
        <p:spPr>
          <a:xfrm>
            <a:off x="53244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Dr. Fossum's</a:t>
            </a:r>
          </a:p>
        </p:txBody>
      </p:sp>
      <p:sp>
        <p:nvSpPr>
          <p:cNvPr id="67" name="TextBox 66"/>
          <p:cNvSpPr txBox="1"/>
          <p:nvPr/>
        </p:nvSpPr>
        <p:spPr>
          <a:xfrm>
            <a:off x="50387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8" name="TextBox 67"/>
          <p:cNvSpPr txBox="1"/>
          <p:nvPr/>
        </p:nvSpPr>
        <p:spPr>
          <a:xfrm>
            <a:off x="52292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69" name="Connector 68"/>
          <p:cNvCxnSpPr/>
          <p:nvPr/>
        </p:nvCxnSpPr>
        <p:spPr>
          <a:xfrm>
            <a:off x="50387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50387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1" name="TextBox 70"/>
          <p:cNvSpPr txBox="1"/>
          <p:nvPr/>
        </p:nvSpPr>
        <p:spPr>
          <a:xfrm>
            <a:off x="52292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72" name="TextBox 71"/>
          <p:cNvSpPr txBox="1"/>
          <p:nvPr/>
        </p:nvSpPr>
        <p:spPr>
          <a:xfrm>
            <a:off x="5229225" y="2805250"/>
            <a:ext cx="1924050" cy="164283"/>
          </a:xfrm>
          <a:prstGeom prst="rect">
            <a:avLst/>
          </a:prstGeom>
          <a:noFill/>
        </p:spPr>
        <p:txBody>
          <a:bodyPr wrap="square" lIns="28575" rIns="28575" tIns="9525" bIns="9525" anchor="ctr">
            <a:spAutoFit/>
          </a:bodyPr>
          <a:lstStyle/>
          <a:p>
            <a:pPr algn="l"/>
            <a:r>
              <a:rPr sz="1100" b="1">
                <a:solidFill>
                  <a:srgbClr val="69B1E0"/>
                </a:solidFill>
                <a:latin typeface="Calibri"/>
              </a:rPr>
              <a:t>Access builder</a:t>
            </a:r>
          </a:p>
        </p:txBody>
      </p:sp>
      <p:cxnSp>
        <p:nvCxnSpPr>
          <p:cNvPr id="73" name="Connector 72"/>
          <p:cNvCxnSpPr/>
          <p:nvPr/>
        </p:nvCxnSpPr>
        <p:spPr>
          <a:xfrm>
            <a:off x="50387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0387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5" name="TextBox 74"/>
          <p:cNvSpPr txBox="1"/>
          <p:nvPr/>
        </p:nvSpPr>
        <p:spPr>
          <a:xfrm>
            <a:off x="52292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76" name="TextBox 75"/>
          <p:cNvSpPr txBox="1"/>
          <p:nvPr/>
        </p:nvSpPr>
        <p:spPr>
          <a:xfrm>
            <a:off x="52292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Won through wider channel availability</a:t>
            </a:r>
          </a:p>
        </p:txBody>
      </p:sp>
      <p:cxnSp>
        <p:nvCxnSpPr>
          <p:cNvPr id="77" name="Connector 76"/>
          <p:cNvCxnSpPr/>
          <p:nvPr/>
        </p:nvCxnSpPr>
        <p:spPr>
          <a:xfrm>
            <a:off x="50387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50387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9" name="TextBox 78"/>
          <p:cNvSpPr txBox="1"/>
          <p:nvPr/>
        </p:nvSpPr>
        <p:spPr>
          <a:xfrm>
            <a:off x="52292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80" name="TextBox 79"/>
          <p:cNvSpPr txBox="1"/>
          <p:nvPr/>
        </p:nvSpPr>
        <p:spPr>
          <a:xfrm>
            <a:off x="52292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Pricing strategy</a:t>
            </a:r>
          </a:p>
        </p:txBody>
      </p:sp>
      <p:sp>
        <p:nvSpPr>
          <p:cNvPr id="81" name="Oval 80"/>
          <p:cNvSpPr/>
          <p:nvPr/>
        </p:nvSpPr>
        <p:spPr>
          <a:xfrm>
            <a:off x="8353425" y="1655267"/>
            <a:ext cx="285750" cy="273805"/>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3534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83" name="Rounded Rectangle 82"/>
          <p:cNvSpPr/>
          <p:nvPr/>
        </p:nvSpPr>
        <p:spPr>
          <a:xfrm>
            <a:off x="7343775" y="1992961"/>
            <a:ext cx="2305050" cy="2135683"/>
          </a:xfrm>
          <a:prstGeom prst="roundRect">
            <a:avLst>
              <a:gd name="adj" fmla="val 3719"/>
            </a:avLst>
          </a:prstGeom>
          <a:solidFill>
            <a:srgbClr val="FFFFFF"/>
          </a:solid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7343775" y="1992961"/>
            <a:ext cx="2305050" cy="310313"/>
          </a:xfrm>
          <a:prstGeom prst="roundRect">
            <a:avLst>
              <a:gd name="adj" fmla="val 3719"/>
            </a:avLst>
          </a:prstGeom>
          <a:solidFill>
            <a:srgbClr val="6F3CC2"/>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4580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4580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87" name="TextBox 86"/>
          <p:cNvSpPr txBox="1"/>
          <p:nvPr/>
        </p:nvSpPr>
        <p:spPr>
          <a:xfrm>
            <a:off x="77247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Nestlé Purina PetCare</a:t>
            </a:r>
          </a:p>
        </p:txBody>
      </p:sp>
      <p:sp>
        <p:nvSpPr>
          <p:cNvPr id="88" name="TextBox 87"/>
          <p:cNvSpPr txBox="1"/>
          <p:nvPr/>
        </p:nvSpPr>
        <p:spPr>
          <a:xfrm>
            <a:off x="74390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9" name="TextBox 88"/>
          <p:cNvSpPr txBox="1"/>
          <p:nvPr/>
        </p:nvSpPr>
        <p:spPr>
          <a:xfrm>
            <a:off x="76295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90" name="Connector 89"/>
          <p:cNvCxnSpPr/>
          <p:nvPr/>
        </p:nvCxnSpPr>
        <p:spPr>
          <a:xfrm>
            <a:off x="74390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74390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2" name="TextBox 91"/>
          <p:cNvSpPr txBox="1"/>
          <p:nvPr/>
        </p:nvSpPr>
        <p:spPr>
          <a:xfrm>
            <a:off x="76295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93" name="TextBox 92"/>
          <p:cNvSpPr txBox="1"/>
          <p:nvPr/>
        </p:nvSpPr>
        <p:spPr>
          <a:xfrm>
            <a:off x="7629525" y="2805250"/>
            <a:ext cx="1924050" cy="164283"/>
          </a:xfrm>
          <a:prstGeom prst="rect">
            <a:avLst/>
          </a:prstGeom>
          <a:noFill/>
        </p:spPr>
        <p:txBody>
          <a:bodyPr wrap="square" lIns="28575" rIns="28575" tIns="9525" bIns="9525" anchor="ctr">
            <a:spAutoFit/>
          </a:bodyPr>
          <a:lstStyle/>
          <a:p>
            <a:pPr algn="l"/>
            <a:r>
              <a:rPr sz="1100" b="1">
                <a:solidFill>
                  <a:srgbClr val="6F3CC2"/>
                </a:solidFill>
                <a:latin typeface="Calibri"/>
              </a:rPr>
              <a:t>Premiumiser</a:t>
            </a:r>
          </a:p>
        </p:txBody>
      </p:sp>
      <p:cxnSp>
        <p:nvCxnSpPr>
          <p:cNvPr id="94" name="Connector 93"/>
          <p:cNvCxnSpPr/>
          <p:nvPr/>
        </p:nvCxnSpPr>
        <p:spPr>
          <a:xfrm>
            <a:off x="74390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74390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6" name="TextBox 95"/>
          <p:cNvSpPr txBox="1"/>
          <p:nvPr/>
        </p:nvSpPr>
        <p:spPr>
          <a:xfrm>
            <a:off x="76295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97" name="TextBox 96"/>
          <p:cNvSpPr txBox="1"/>
          <p:nvPr/>
        </p:nvSpPr>
        <p:spPr>
          <a:xfrm>
            <a:off x="76295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Supported premium SKU growth</a:t>
            </a:r>
          </a:p>
        </p:txBody>
      </p:sp>
      <p:cxnSp>
        <p:nvCxnSpPr>
          <p:cNvPr id="98" name="Connector 97"/>
          <p:cNvCxnSpPr/>
          <p:nvPr/>
        </p:nvCxnSpPr>
        <p:spPr>
          <a:xfrm>
            <a:off x="74390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74390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0" name="TextBox 99"/>
          <p:cNvSpPr txBox="1"/>
          <p:nvPr/>
        </p:nvSpPr>
        <p:spPr>
          <a:xfrm>
            <a:off x="76295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101" name="TextBox 100"/>
          <p:cNvSpPr txBox="1"/>
          <p:nvPr/>
        </p:nvSpPr>
        <p:spPr>
          <a:xfrm>
            <a:off x="76295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Portfolio/brand investment</a:t>
            </a:r>
          </a:p>
        </p:txBody>
      </p:sp>
      <p:sp>
        <p:nvSpPr>
          <p:cNvPr id="102" name="Oval 101"/>
          <p:cNvSpPr/>
          <p:nvPr/>
        </p:nvSpPr>
        <p:spPr>
          <a:xfrm>
            <a:off x="10753725" y="1655267"/>
            <a:ext cx="285750" cy="27380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07537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104" name="Rounded Rectangle 103"/>
          <p:cNvSpPr/>
          <p:nvPr/>
        </p:nvSpPr>
        <p:spPr>
          <a:xfrm>
            <a:off x="9744075" y="1992961"/>
            <a:ext cx="2305050" cy="2135683"/>
          </a:xfrm>
          <a:prstGeom prst="roundRect">
            <a:avLst>
              <a:gd name="adj" fmla="val 3719"/>
            </a:avLst>
          </a:prstGeom>
          <a:solidFill>
            <a:srgbClr val="FFFFFF"/>
          </a:solidFill>
          <a:ln w="2032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ounded Rectangle 104"/>
          <p:cNvSpPr/>
          <p:nvPr/>
        </p:nvSpPr>
        <p:spPr>
          <a:xfrm>
            <a:off x="9744075" y="1992961"/>
            <a:ext cx="2305050" cy="310313"/>
          </a:xfrm>
          <a:prstGeom prst="roundRect">
            <a:avLst>
              <a:gd name="adj" fmla="val 3719"/>
            </a:avLst>
          </a:prstGeom>
          <a:solidFill>
            <a:srgbClr val="A86F00"/>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98583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8583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108" name="TextBox 107"/>
          <p:cNvSpPr txBox="1"/>
          <p:nvPr/>
        </p:nvSpPr>
        <p:spPr>
          <a:xfrm>
            <a:off x="101250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PetHeal</a:t>
            </a:r>
          </a:p>
        </p:txBody>
      </p:sp>
      <p:sp>
        <p:nvSpPr>
          <p:cNvPr id="109" name="TextBox 108"/>
          <p:cNvSpPr txBox="1"/>
          <p:nvPr/>
        </p:nvSpPr>
        <p:spPr>
          <a:xfrm>
            <a:off x="98393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0" name="TextBox 109"/>
          <p:cNvSpPr txBox="1"/>
          <p:nvPr/>
        </p:nvSpPr>
        <p:spPr>
          <a:xfrm>
            <a:off x="100298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111" name="Connector 110"/>
          <p:cNvCxnSpPr/>
          <p:nvPr/>
        </p:nvCxnSpPr>
        <p:spPr>
          <a:xfrm>
            <a:off x="98393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98393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3" name="TextBox 112"/>
          <p:cNvSpPr txBox="1"/>
          <p:nvPr/>
        </p:nvSpPr>
        <p:spPr>
          <a:xfrm>
            <a:off x="100298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114" name="TextBox 113"/>
          <p:cNvSpPr txBox="1"/>
          <p:nvPr/>
        </p:nvSpPr>
        <p:spPr>
          <a:xfrm>
            <a:off x="10029825" y="2805250"/>
            <a:ext cx="1924050" cy="164283"/>
          </a:xfrm>
          <a:prstGeom prst="rect">
            <a:avLst/>
          </a:prstGeom>
          <a:noFill/>
        </p:spPr>
        <p:txBody>
          <a:bodyPr wrap="square" lIns="28575" rIns="28575" tIns="9525" bIns="9525" anchor="ctr">
            <a:spAutoFit/>
          </a:bodyPr>
          <a:lstStyle/>
          <a:p>
            <a:pPr algn="l"/>
            <a:r>
              <a:rPr sz="1100" b="1">
                <a:solidFill>
                  <a:srgbClr val="A86F00"/>
                </a:solidFill>
                <a:latin typeface="Calibri"/>
              </a:rPr>
              <a:t>Disruptor</a:t>
            </a:r>
          </a:p>
        </p:txBody>
      </p:sp>
      <p:cxnSp>
        <p:nvCxnSpPr>
          <p:cNvPr id="115" name="Connector 114"/>
          <p:cNvCxnSpPr/>
          <p:nvPr/>
        </p:nvCxnSpPr>
        <p:spPr>
          <a:xfrm>
            <a:off x="98393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98393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7" name="TextBox 116"/>
          <p:cNvSpPr txBox="1"/>
          <p:nvPr/>
        </p:nvSpPr>
        <p:spPr>
          <a:xfrm>
            <a:off x="100298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118" name="TextBox 117"/>
          <p:cNvSpPr txBox="1"/>
          <p:nvPr/>
        </p:nvSpPr>
        <p:spPr>
          <a:xfrm>
            <a:off x="100298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Strengthened end-user and specifier pull</a:t>
            </a:r>
          </a:p>
        </p:txBody>
      </p:sp>
      <p:cxnSp>
        <p:nvCxnSpPr>
          <p:cNvPr id="119" name="Connector 118"/>
          <p:cNvCxnSpPr/>
          <p:nvPr/>
        </p:nvCxnSpPr>
        <p:spPr>
          <a:xfrm>
            <a:off x="98393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98393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1" name="TextBox 120"/>
          <p:cNvSpPr txBox="1"/>
          <p:nvPr/>
        </p:nvSpPr>
        <p:spPr>
          <a:xfrm>
            <a:off x="100298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122" name="TextBox 121"/>
          <p:cNvSpPr txBox="1"/>
          <p:nvPr/>
        </p:nvSpPr>
        <p:spPr>
          <a:xfrm>
            <a:off x="100298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Partnership / acquisition</a:t>
            </a:r>
          </a:p>
        </p:txBody>
      </p:sp>
      <p:sp>
        <p:nvSpPr>
          <p:cNvPr id="123" name="Rounded Rectangle 122"/>
          <p:cNvSpPr/>
          <p:nvPr/>
        </p:nvSpPr>
        <p:spPr>
          <a:xfrm>
            <a:off x="142875" y="4238166"/>
            <a:ext cx="7886700" cy="2391234"/>
          </a:xfrm>
          <a:prstGeom prst="roundRect">
            <a:avLst>
              <a:gd name="adj" fmla="val 1086"/>
            </a:avLst>
          </a:prstGeom>
          <a:solidFill>
            <a:srgbClr val="F7FAFC"/>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42875" y="4311180"/>
            <a:ext cx="7886700" cy="182537"/>
          </a:xfrm>
          <a:prstGeom prst="rect">
            <a:avLst/>
          </a:prstGeom>
          <a:noFill/>
        </p:spPr>
        <p:txBody>
          <a:bodyPr wrap="square" lIns="28575" rIns="28575" tIns="9525" bIns="9525" anchor="ctr">
            <a:spAutoFit/>
          </a:bodyPr>
          <a:lstStyle/>
          <a:p>
            <a:pPr algn="ctr"/>
            <a:r>
              <a:rPr sz="1100" b="1">
                <a:solidFill>
                  <a:srgbClr val="0B2E4A"/>
                </a:solidFill>
                <a:latin typeface="Calibri"/>
              </a:rPr>
              <a:t>HOW TO DECIDE WHO SHAPED GROWTH</a:t>
            </a:r>
          </a:p>
        </p:txBody>
      </p:sp>
      <p:sp>
        <p:nvSpPr>
          <p:cNvPr id="125" name="Oval 124"/>
          <p:cNvSpPr/>
          <p:nvPr/>
        </p:nvSpPr>
        <p:spPr>
          <a:xfrm>
            <a:off x="815340" y="4539352"/>
            <a:ext cx="400050" cy="383328"/>
          </a:xfrm>
          <a:prstGeom prst="ellipse">
            <a:avLst/>
          </a:prstGeom>
          <a:solidFill>
            <a:srgbClr val="FFFFFF"/>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81534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27" name="TextBox 126"/>
          <p:cNvSpPr txBox="1"/>
          <p:nvPr/>
        </p:nvSpPr>
        <p:spPr>
          <a:xfrm>
            <a:off x="27622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0E72AE"/>
                </a:solidFill>
                <a:latin typeface="Calibri"/>
              </a:rPr>
              <a:t>1. SHARE GAIN</a:t>
            </a:r>
          </a:p>
        </p:txBody>
      </p:sp>
      <p:sp>
        <p:nvSpPr>
          <p:cNvPr id="128" name="TextBox 127"/>
          <p:cNvSpPr txBox="1"/>
          <p:nvPr/>
        </p:nvSpPr>
        <p:spPr>
          <a:xfrm>
            <a:off x="27622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Company gained value or volume share</a:t>
            </a:r>
          </a:p>
        </p:txBody>
      </p:sp>
      <p:sp>
        <p:nvSpPr>
          <p:cNvPr id="129" name="Rounded Rectangle 128"/>
          <p:cNvSpPr/>
          <p:nvPr/>
        </p:nvSpPr>
        <p:spPr>
          <a:xfrm>
            <a:off x="520065" y="6027028"/>
            <a:ext cx="990600" cy="237298"/>
          </a:xfrm>
          <a:prstGeom prst="roundRect">
            <a:avLst>
              <a:gd name="adj" fmla="val 11538"/>
            </a:avLst>
          </a:prstGeom>
          <a:solidFill>
            <a:srgbClr val="FFFFFF"/>
          </a:solidFill>
          <a:ln w="1524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520065" y="6036155"/>
            <a:ext cx="990600" cy="219044"/>
          </a:xfrm>
          <a:prstGeom prst="rect">
            <a:avLst/>
          </a:prstGeom>
          <a:noFill/>
        </p:spPr>
        <p:txBody>
          <a:bodyPr wrap="square" lIns="28575" rIns="28575" tIns="9525" bIns="9525" anchor="ctr">
            <a:spAutoFit/>
          </a:bodyPr>
          <a:lstStyle/>
          <a:p>
            <a:pPr algn="ctr"/>
            <a:r>
              <a:rPr sz="1100" b="1">
                <a:solidFill>
                  <a:srgbClr val="0E72AE"/>
                </a:solidFill>
                <a:latin typeface="Calibri"/>
              </a:rPr>
              <a:t> </a:t>
            </a:r>
          </a:p>
        </p:txBody>
      </p:sp>
      <p:sp>
        <p:nvSpPr>
          <p:cNvPr id="131" name="TextBox 130"/>
          <p:cNvSpPr txBox="1"/>
          <p:nvPr/>
        </p:nvSpPr>
        <p:spPr>
          <a:xfrm>
            <a:off x="175450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32" name="Oval 131"/>
          <p:cNvSpPr/>
          <p:nvPr/>
        </p:nvSpPr>
        <p:spPr>
          <a:xfrm>
            <a:off x="2350770" y="4539352"/>
            <a:ext cx="400050" cy="383328"/>
          </a:xfrm>
          <a:prstGeom prst="ellipse">
            <a:avLst/>
          </a:prstGeom>
          <a:solidFill>
            <a:srgbClr val="FFFFFF"/>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35077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34" name="TextBox 133"/>
          <p:cNvSpPr txBox="1"/>
          <p:nvPr/>
        </p:nvSpPr>
        <p:spPr>
          <a:xfrm>
            <a:off x="181165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35313"/>
                </a:solidFill>
                <a:latin typeface="Calibri"/>
              </a:rPr>
              <a:t>2. DISTRIBUTION EXPANSION</a:t>
            </a:r>
          </a:p>
        </p:txBody>
      </p:sp>
      <p:sp>
        <p:nvSpPr>
          <p:cNvPr id="135" name="TextBox 134"/>
          <p:cNvSpPr txBox="1"/>
          <p:nvPr/>
        </p:nvSpPr>
        <p:spPr>
          <a:xfrm>
            <a:off x="181165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Expanded channel, retail or e-commerce reach</a:t>
            </a:r>
          </a:p>
        </p:txBody>
      </p:sp>
      <p:sp>
        <p:nvSpPr>
          <p:cNvPr id="136" name="Rounded Rectangle 135"/>
          <p:cNvSpPr/>
          <p:nvPr/>
        </p:nvSpPr>
        <p:spPr>
          <a:xfrm>
            <a:off x="2055495" y="6027028"/>
            <a:ext cx="990600" cy="237298"/>
          </a:xfrm>
          <a:prstGeom prst="roundRect">
            <a:avLst>
              <a:gd name="adj" fmla="val 11538"/>
            </a:avLst>
          </a:prstGeom>
          <a:solidFill>
            <a:srgbClr val="FFFFFF"/>
          </a:solidFill>
          <a:ln w="1524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2055495" y="6036155"/>
            <a:ext cx="990600" cy="219044"/>
          </a:xfrm>
          <a:prstGeom prst="rect">
            <a:avLst/>
          </a:prstGeom>
          <a:noFill/>
        </p:spPr>
        <p:txBody>
          <a:bodyPr wrap="square" lIns="28575" rIns="28575" tIns="9525" bIns="9525" anchor="ctr">
            <a:spAutoFit/>
          </a:bodyPr>
          <a:lstStyle/>
          <a:p>
            <a:pPr algn="ctr"/>
            <a:r>
              <a:rPr sz="1100" b="1">
                <a:solidFill>
                  <a:srgbClr val="A35313"/>
                </a:solidFill>
                <a:latin typeface="Calibri"/>
              </a:rPr>
              <a:t> </a:t>
            </a:r>
          </a:p>
        </p:txBody>
      </p:sp>
      <p:sp>
        <p:nvSpPr>
          <p:cNvPr id="138" name="TextBox 137"/>
          <p:cNvSpPr txBox="1"/>
          <p:nvPr/>
        </p:nvSpPr>
        <p:spPr>
          <a:xfrm>
            <a:off x="328993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39" name="Oval 138"/>
          <p:cNvSpPr/>
          <p:nvPr/>
        </p:nvSpPr>
        <p:spPr>
          <a:xfrm>
            <a:off x="3886200" y="4539352"/>
            <a:ext cx="400050" cy="383328"/>
          </a:xfrm>
          <a:prstGeom prst="ellipse">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388620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1" name="TextBox 140"/>
          <p:cNvSpPr txBox="1"/>
          <p:nvPr/>
        </p:nvSpPr>
        <p:spPr>
          <a:xfrm>
            <a:off x="334708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9B1E0"/>
                </a:solidFill>
                <a:latin typeface="Calibri"/>
              </a:rPr>
              <a:t>3. INNOVATION / LAUNCHES</a:t>
            </a:r>
          </a:p>
        </p:txBody>
      </p:sp>
      <p:sp>
        <p:nvSpPr>
          <p:cNvPr id="142" name="TextBox 141"/>
          <p:cNvSpPr txBox="1"/>
          <p:nvPr/>
        </p:nvSpPr>
        <p:spPr>
          <a:xfrm>
            <a:off x="334708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New SKUs, pack sizes or product improvements</a:t>
            </a:r>
          </a:p>
        </p:txBody>
      </p:sp>
      <p:sp>
        <p:nvSpPr>
          <p:cNvPr id="143" name="Rounded Rectangle 142"/>
          <p:cNvSpPr/>
          <p:nvPr/>
        </p:nvSpPr>
        <p:spPr>
          <a:xfrm>
            <a:off x="3590925" y="6027028"/>
            <a:ext cx="990600" cy="237298"/>
          </a:xfrm>
          <a:prstGeom prst="roundRect">
            <a:avLst>
              <a:gd name="adj" fmla="val 11538"/>
            </a:avLst>
          </a:prstGeom>
          <a:solidFill>
            <a:srgbClr val="FFFFFF"/>
          </a:solidFill>
          <a:ln w="1524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590925" y="6036155"/>
            <a:ext cx="990600" cy="219044"/>
          </a:xfrm>
          <a:prstGeom prst="rect">
            <a:avLst/>
          </a:prstGeom>
          <a:noFill/>
        </p:spPr>
        <p:txBody>
          <a:bodyPr wrap="square" lIns="28575" rIns="28575" tIns="9525" bIns="9525" anchor="ctr">
            <a:spAutoFit/>
          </a:bodyPr>
          <a:lstStyle/>
          <a:p>
            <a:pPr algn="ctr"/>
            <a:r>
              <a:rPr sz="1100" b="1">
                <a:solidFill>
                  <a:srgbClr val="69B1E0"/>
                </a:solidFill>
                <a:latin typeface="Calibri"/>
              </a:rPr>
              <a:t> </a:t>
            </a:r>
          </a:p>
        </p:txBody>
      </p:sp>
      <p:sp>
        <p:nvSpPr>
          <p:cNvPr id="145" name="TextBox 144"/>
          <p:cNvSpPr txBox="1"/>
          <p:nvPr/>
        </p:nvSpPr>
        <p:spPr>
          <a:xfrm>
            <a:off x="482536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46" name="Oval 145"/>
          <p:cNvSpPr/>
          <p:nvPr/>
        </p:nvSpPr>
        <p:spPr>
          <a:xfrm>
            <a:off x="5421630" y="4539352"/>
            <a:ext cx="400050" cy="383328"/>
          </a:xfrm>
          <a:prstGeom prst="ellipse">
            <a:avLst/>
          </a:prstGeom>
          <a:solidFill>
            <a:srgbClr val="FFFFFF"/>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542163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8" name="TextBox 147"/>
          <p:cNvSpPr txBox="1"/>
          <p:nvPr/>
        </p:nvSpPr>
        <p:spPr>
          <a:xfrm>
            <a:off x="488251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F3CC2"/>
                </a:solidFill>
                <a:latin typeface="Calibri"/>
              </a:rPr>
              <a:t>4. BUYER INFLUENCE</a:t>
            </a:r>
          </a:p>
        </p:txBody>
      </p:sp>
      <p:sp>
        <p:nvSpPr>
          <p:cNvPr id="149" name="TextBox 148"/>
          <p:cNvSpPr txBox="1"/>
          <p:nvPr/>
        </p:nvSpPr>
        <p:spPr>
          <a:xfrm>
            <a:off x="488251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Stronger specifier, channel or end-user pull</a:t>
            </a:r>
          </a:p>
        </p:txBody>
      </p:sp>
      <p:sp>
        <p:nvSpPr>
          <p:cNvPr id="150" name="Rounded Rectangle 149"/>
          <p:cNvSpPr/>
          <p:nvPr/>
        </p:nvSpPr>
        <p:spPr>
          <a:xfrm>
            <a:off x="5126355" y="6027028"/>
            <a:ext cx="990600" cy="237298"/>
          </a:xfrm>
          <a:prstGeom prst="roundRect">
            <a:avLst>
              <a:gd name="adj" fmla="val 11538"/>
            </a:avLst>
          </a:prstGeom>
          <a:solidFill>
            <a:srgbClr val="FFFFFF"/>
          </a:solidFill>
          <a:ln w="1524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126355" y="6036155"/>
            <a:ext cx="990600" cy="219044"/>
          </a:xfrm>
          <a:prstGeom prst="rect">
            <a:avLst/>
          </a:prstGeom>
          <a:noFill/>
        </p:spPr>
        <p:txBody>
          <a:bodyPr wrap="square" lIns="28575" rIns="28575" tIns="9525" bIns="9525" anchor="ctr">
            <a:spAutoFit/>
          </a:bodyPr>
          <a:lstStyle/>
          <a:p>
            <a:pPr algn="ctr"/>
            <a:r>
              <a:rPr sz="1100" b="1">
                <a:solidFill>
                  <a:srgbClr val="6F3CC2"/>
                </a:solidFill>
                <a:latin typeface="Calibri"/>
              </a:rPr>
              <a:t> </a:t>
            </a:r>
          </a:p>
        </p:txBody>
      </p:sp>
      <p:sp>
        <p:nvSpPr>
          <p:cNvPr id="152" name="TextBox 151"/>
          <p:cNvSpPr txBox="1"/>
          <p:nvPr/>
        </p:nvSpPr>
        <p:spPr>
          <a:xfrm>
            <a:off x="636079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53" name="Oval 152"/>
          <p:cNvSpPr/>
          <p:nvPr/>
        </p:nvSpPr>
        <p:spPr>
          <a:xfrm>
            <a:off x="6957060" y="4539352"/>
            <a:ext cx="400050" cy="383328"/>
          </a:xfrm>
          <a:prstGeom prst="ellipse">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695706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55" name="TextBox 154"/>
          <p:cNvSpPr txBox="1"/>
          <p:nvPr/>
        </p:nvSpPr>
        <p:spPr>
          <a:xfrm>
            <a:off x="641794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86F00"/>
                </a:solidFill>
                <a:latin typeface="Calibri"/>
              </a:rPr>
              <a:t>5. BRAND / PRICING POWER</a:t>
            </a:r>
          </a:p>
        </p:txBody>
      </p:sp>
      <p:sp>
        <p:nvSpPr>
          <p:cNvPr id="156" name="TextBox 155"/>
          <p:cNvSpPr txBox="1"/>
          <p:nvPr/>
        </p:nvSpPr>
        <p:spPr>
          <a:xfrm>
            <a:off x="641794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Premiumisation, positioning or pricing execution</a:t>
            </a:r>
          </a:p>
        </p:txBody>
      </p:sp>
      <p:sp>
        <p:nvSpPr>
          <p:cNvPr id="157" name="Rounded Rectangle 156"/>
          <p:cNvSpPr/>
          <p:nvPr/>
        </p:nvSpPr>
        <p:spPr>
          <a:xfrm>
            <a:off x="6661785" y="6027028"/>
            <a:ext cx="990600" cy="237298"/>
          </a:xfrm>
          <a:prstGeom prst="roundRect">
            <a:avLst>
              <a:gd name="adj" fmla="val 11538"/>
            </a:avLst>
          </a:prstGeom>
          <a:solidFill>
            <a:srgbClr val="FFFFFF"/>
          </a:solidFill>
          <a:ln w="1524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6661785" y="6036155"/>
            <a:ext cx="990600" cy="219044"/>
          </a:xfrm>
          <a:prstGeom prst="rect">
            <a:avLst/>
          </a:prstGeom>
          <a:noFill/>
        </p:spPr>
        <p:txBody>
          <a:bodyPr wrap="square" lIns="28575" rIns="28575" tIns="9525" bIns="9525" anchor="ctr">
            <a:spAutoFit/>
          </a:bodyPr>
          <a:lstStyle/>
          <a:p>
            <a:pPr algn="ctr"/>
            <a:r>
              <a:rPr sz="1100" b="1">
                <a:solidFill>
                  <a:srgbClr val="A86F00"/>
                </a:solidFill>
                <a:latin typeface="Calibri"/>
              </a:rPr>
              <a:t> </a:t>
            </a:r>
          </a:p>
        </p:txBody>
      </p:sp>
      <p:sp>
        <p:nvSpPr>
          <p:cNvPr id="159" name="Rounded Rectangle 158"/>
          <p:cNvSpPr/>
          <p:nvPr/>
        </p:nvSpPr>
        <p:spPr>
          <a:xfrm>
            <a:off x="8191500" y="4238166"/>
            <a:ext cx="3857625" cy="2391234"/>
          </a:xfrm>
          <a:prstGeom prst="roundRect">
            <a:avLst>
              <a:gd name="adj" fmla="val 2222"/>
            </a:avLst>
          </a:prstGeom>
          <a:solidFill>
            <a:srgbClr val="F4FAF9"/>
          </a:solidFill>
          <a:ln w="12700">
            <a:solidFill>
              <a:srgbClr val="CF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8191500" y="4311180"/>
            <a:ext cx="3857625" cy="182537"/>
          </a:xfrm>
          <a:prstGeom prst="rect">
            <a:avLst/>
          </a:prstGeom>
          <a:noFill/>
        </p:spPr>
        <p:txBody>
          <a:bodyPr wrap="square" lIns="28575" rIns="28575" tIns="9525" bIns="9525" anchor="ctr">
            <a:spAutoFit/>
          </a:bodyPr>
          <a:lstStyle/>
          <a:p>
            <a:pPr algn="ctr"/>
            <a:r>
              <a:rPr sz="1100" b="1">
                <a:solidFill>
                  <a:srgbClr val="1F6F63"/>
                </a:solidFill>
                <a:latin typeface="Calibri"/>
              </a:rPr>
              <a:t>BEST WAY TO USE THIS SLIDE</a:t>
            </a:r>
          </a:p>
        </p:txBody>
      </p:sp>
      <p:cxnSp>
        <p:nvCxnSpPr>
          <p:cNvPr id="161" name="Connector 160"/>
          <p:cNvCxnSpPr/>
          <p:nvPr/>
        </p:nvCxnSpPr>
        <p:spPr>
          <a:xfrm>
            <a:off x="8343900" y="4548478"/>
            <a:ext cx="3552825" cy="0"/>
          </a:xfrm>
          <a:prstGeom prst="line">
            <a:avLst/>
          </a:prstGeom>
          <a:ln w="12700">
            <a:solidFill>
              <a:srgbClr val="CFE3E0"/>
            </a:solidFill>
          </a:ln>
          <a:effectLst/>
        </p:spPr>
        <p:style>
          <a:lnRef idx="2">
            <a:schemeClr val="accent1"/>
          </a:lnRef>
          <a:fillRef idx="0">
            <a:schemeClr val="accent1"/>
          </a:fillRef>
          <a:effectRef idx="1">
            <a:schemeClr val="accent1"/>
          </a:effectRef>
          <a:fontRef idx="minor">
            <a:schemeClr val="tx1"/>
          </a:fontRef>
        </p:style>
      </p:cxnSp>
      <p:sp>
        <p:nvSpPr>
          <p:cNvPr id="162" name="Oval 161"/>
          <p:cNvSpPr/>
          <p:nvPr/>
        </p:nvSpPr>
        <p:spPr>
          <a:xfrm>
            <a:off x="8372475" y="4721889"/>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8372475" y="4767523"/>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4" name="TextBox 163"/>
          <p:cNvSpPr txBox="1"/>
          <p:nvPr/>
        </p:nvSpPr>
        <p:spPr>
          <a:xfrm>
            <a:off x="8743950" y="4694508"/>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Rank companies by impact on category growth</a:t>
            </a:r>
          </a:p>
        </p:txBody>
      </p:sp>
      <p:sp>
        <p:nvSpPr>
          <p:cNvPr id="165" name="Oval 164"/>
          <p:cNvSpPr/>
          <p:nvPr/>
        </p:nvSpPr>
        <p:spPr>
          <a:xfrm>
            <a:off x="8372475" y="5360768"/>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372475" y="540640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7" name="TextBox 166"/>
          <p:cNvSpPr txBox="1"/>
          <p:nvPr/>
        </p:nvSpPr>
        <p:spPr>
          <a:xfrm>
            <a:off x="8743950" y="533338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Mention the one move that explains their impact</a:t>
            </a:r>
          </a:p>
        </p:txBody>
      </p:sp>
      <p:sp>
        <p:nvSpPr>
          <p:cNvPr id="168" name="Oval 167"/>
          <p:cNvSpPr/>
          <p:nvPr/>
        </p:nvSpPr>
        <p:spPr>
          <a:xfrm>
            <a:off x="8372475" y="5999647"/>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372475" y="604528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70" name="TextBox 169"/>
          <p:cNvSpPr txBox="1"/>
          <p:nvPr/>
        </p:nvSpPr>
        <p:spPr>
          <a:xfrm>
            <a:off x="8743950" y="597226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Do not rely on market share alone</a:t>
            </a:r>
          </a:p>
        </p:txBody>
      </p:sp>
      <p:sp>
        <p:nvSpPr>
          <p:cNvPr id="171" name="TextBox 17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2" name="Picture 171" descr="lock.png"/>
          <p:cNvPicPr>
            <a:picLocks noChangeAspect="1"/>
          </p:cNvPicPr>
          <p:nvPr/>
        </p:nvPicPr>
        <p:blipFill>
          <a:blip r:embed="rId4"/>
          <a:stretch>
            <a:fillRect/>
          </a:stretch>
        </p:blipFill>
        <p:spPr>
          <a:xfrm>
            <a:off x="951015" y="6052078"/>
            <a:ext cx="128699" cy="187198"/>
          </a:xfrm>
          <a:prstGeom prst="rect">
            <a:avLst/>
          </a:prstGeom>
        </p:spPr>
      </p:pic>
      <p:pic>
        <p:nvPicPr>
          <p:cNvPr id="173" name="Picture 172" descr="lock.png"/>
          <p:cNvPicPr>
            <a:picLocks noChangeAspect="1"/>
          </p:cNvPicPr>
          <p:nvPr/>
        </p:nvPicPr>
        <p:blipFill>
          <a:blip r:embed="rId4"/>
          <a:stretch>
            <a:fillRect/>
          </a:stretch>
        </p:blipFill>
        <p:spPr>
          <a:xfrm>
            <a:off x="2486445" y="6052078"/>
            <a:ext cx="128699" cy="187198"/>
          </a:xfrm>
          <a:prstGeom prst="rect">
            <a:avLst/>
          </a:prstGeom>
        </p:spPr>
      </p:pic>
      <p:pic>
        <p:nvPicPr>
          <p:cNvPr id="174" name="Picture 173" descr="lock.png"/>
          <p:cNvPicPr>
            <a:picLocks noChangeAspect="1"/>
          </p:cNvPicPr>
          <p:nvPr/>
        </p:nvPicPr>
        <p:blipFill>
          <a:blip r:embed="rId4"/>
          <a:stretch>
            <a:fillRect/>
          </a:stretch>
        </p:blipFill>
        <p:spPr>
          <a:xfrm>
            <a:off x="4021875" y="6052078"/>
            <a:ext cx="128699" cy="187198"/>
          </a:xfrm>
          <a:prstGeom prst="rect">
            <a:avLst/>
          </a:prstGeom>
        </p:spPr>
      </p:pic>
      <p:pic>
        <p:nvPicPr>
          <p:cNvPr id="175" name="Picture 174" descr="lock.png"/>
          <p:cNvPicPr>
            <a:picLocks noChangeAspect="1"/>
          </p:cNvPicPr>
          <p:nvPr/>
        </p:nvPicPr>
        <p:blipFill>
          <a:blip r:embed="rId4"/>
          <a:stretch>
            <a:fillRect/>
          </a:stretch>
        </p:blipFill>
        <p:spPr>
          <a:xfrm>
            <a:off x="5557305" y="6052078"/>
            <a:ext cx="128699" cy="187198"/>
          </a:xfrm>
          <a:prstGeom prst="rect">
            <a:avLst/>
          </a:prstGeom>
        </p:spPr>
      </p:pic>
      <p:pic>
        <p:nvPicPr>
          <p:cNvPr id="176" name="Picture 175" descr="lock.png"/>
          <p:cNvPicPr>
            <a:picLocks noChangeAspect="1"/>
          </p:cNvPicPr>
          <p:nvPr/>
        </p:nvPicPr>
        <p:blipFill>
          <a:blip r:embed="rId4"/>
          <a:stretch>
            <a:fillRect/>
          </a:stretch>
        </p:blipFill>
        <p:spPr>
          <a:xfrm>
            <a:off x="7092735" y="6052078"/>
            <a:ext cx="128699" cy="187198"/>
          </a:xfrm>
          <a:prstGeom prst="rect">
            <a:avLst/>
          </a:prstGeom>
        </p:spPr>
      </p:pic>
      <p:sp>
        <p:nvSpPr>
          <p:cNvPr id="177" name="TextBox 176"/>
          <p:cNvSpPr txBox="1"/>
          <p:nvPr/>
        </p:nvSpPr>
        <p:spPr>
          <a:xfrm>
            <a:off x="4572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78" name="Picture 177" descr="lock.png"/>
          <p:cNvPicPr>
            <a:picLocks noChangeAspect="1"/>
          </p:cNvPicPr>
          <p:nvPr/>
        </p:nvPicPr>
        <p:blipFill>
          <a:blip r:embed="rId4"/>
          <a:stretch>
            <a:fillRect/>
          </a:stretch>
        </p:blipFill>
        <p:spPr>
          <a:xfrm>
            <a:off x="994083" y="2391038"/>
            <a:ext cx="92663" cy="134782"/>
          </a:xfrm>
          <a:prstGeom prst="rect">
            <a:avLst/>
          </a:prstGeom>
        </p:spPr>
      </p:pic>
      <p:sp>
        <p:nvSpPr>
          <p:cNvPr id="179" name="TextBox 178"/>
          <p:cNvSpPr txBox="1"/>
          <p:nvPr/>
        </p:nvSpPr>
        <p:spPr>
          <a:xfrm>
            <a:off x="28575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0" name="Picture 179" descr="lock.png"/>
          <p:cNvPicPr>
            <a:picLocks noChangeAspect="1"/>
          </p:cNvPicPr>
          <p:nvPr/>
        </p:nvPicPr>
        <p:blipFill>
          <a:blip r:embed="rId4"/>
          <a:stretch>
            <a:fillRect/>
          </a:stretch>
        </p:blipFill>
        <p:spPr>
          <a:xfrm>
            <a:off x="3394383" y="2391038"/>
            <a:ext cx="92663" cy="134782"/>
          </a:xfrm>
          <a:prstGeom prst="rect">
            <a:avLst/>
          </a:prstGeom>
        </p:spPr>
      </p:pic>
      <p:sp>
        <p:nvSpPr>
          <p:cNvPr id="181" name="TextBox 180"/>
          <p:cNvSpPr txBox="1"/>
          <p:nvPr/>
        </p:nvSpPr>
        <p:spPr>
          <a:xfrm>
            <a:off x="52578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2" name="Picture 181" descr="lock.png"/>
          <p:cNvPicPr>
            <a:picLocks noChangeAspect="1"/>
          </p:cNvPicPr>
          <p:nvPr/>
        </p:nvPicPr>
        <p:blipFill>
          <a:blip r:embed="rId4"/>
          <a:stretch>
            <a:fillRect/>
          </a:stretch>
        </p:blipFill>
        <p:spPr>
          <a:xfrm>
            <a:off x="5794683" y="2391038"/>
            <a:ext cx="92663" cy="134782"/>
          </a:xfrm>
          <a:prstGeom prst="rect">
            <a:avLst/>
          </a:prstGeom>
        </p:spPr>
      </p:pic>
      <p:sp>
        <p:nvSpPr>
          <p:cNvPr id="183" name="TextBox 182"/>
          <p:cNvSpPr txBox="1"/>
          <p:nvPr/>
        </p:nvSpPr>
        <p:spPr>
          <a:xfrm>
            <a:off x="76581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4" name="Picture 183" descr="lock.png"/>
          <p:cNvPicPr>
            <a:picLocks noChangeAspect="1"/>
          </p:cNvPicPr>
          <p:nvPr/>
        </p:nvPicPr>
        <p:blipFill>
          <a:blip r:embed="rId4"/>
          <a:stretch>
            <a:fillRect/>
          </a:stretch>
        </p:blipFill>
        <p:spPr>
          <a:xfrm>
            <a:off x="8194983" y="2391038"/>
            <a:ext cx="92663" cy="134782"/>
          </a:xfrm>
          <a:prstGeom prst="rect">
            <a:avLst/>
          </a:prstGeom>
        </p:spPr>
      </p:pic>
      <p:sp>
        <p:nvSpPr>
          <p:cNvPr id="185" name="TextBox 184"/>
          <p:cNvSpPr txBox="1"/>
          <p:nvPr/>
        </p:nvSpPr>
        <p:spPr>
          <a:xfrm>
            <a:off x="100584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6" name="Picture 185" descr="lock.png"/>
          <p:cNvPicPr>
            <a:picLocks noChangeAspect="1"/>
          </p:cNvPicPr>
          <p:nvPr/>
        </p:nvPicPr>
        <p:blipFill>
          <a:blip r:embed="rId4"/>
          <a:stretch>
            <a:fillRect/>
          </a:stretch>
        </p:blipFill>
        <p:spPr>
          <a:xfrm>
            <a:off x="10595283" y="2391038"/>
            <a:ext cx="92663" cy="134782"/>
          </a:xfrm>
          <a:prstGeom prst="rect">
            <a:avLst/>
          </a:prstGeom>
        </p:spPr>
      </p:pic>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19</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Company Profiles &amp; Strategic Benchmarking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Standard Process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Standard Process Penetration &amp; Win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Standard Process SWOT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Standard Process Key Financials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Standard Process Strategy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Standard Process Executive Market Snapshot (1/5)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total market, addressable opportunity and share of market by end-market, region and product</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Executive snapshot and strategic positioning Standard Process: market, addressable opportunity and SOM splits by end-market, region and product.</a:t>
            </a:r>
          </a:p>
        </p:txBody>
      </p:sp>
      <p:sp>
        <p:nvSpPr>
          <p:cNvPr id="11" name="Rounded Rectangle 10"/>
          <p:cNvSpPr/>
          <p:nvPr/>
        </p:nvSpPr>
        <p:spPr>
          <a:xfrm>
            <a:off x="14287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TAM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Total market</a:t>
            </a:r>
          </a:p>
        </p:txBody>
      </p:sp>
      <p:sp>
        <p:nvSpPr>
          <p:cNvPr id="12" name="Rounded Rectangle 11"/>
          <p:cNvSpPr/>
          <p:nvPr/>
        </p:nvSpPr>
        <p:spPr>
          <a:xfrm>
            <a:off x="254317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SAM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Addressable</a:t>
            </a:r>
          </a:p>
        </p:txBody>
      </p:sp>
      <p:sp>
        <p:nvSpPr>
          <p:cNvPr id="13" name="Rounded Rectangle 12"/>
          <p:cNvSpPr/>
          <p:nvPr/>
        </p:nvSpPr>
        <p:spPr>
          <a:xfrm>
            <a:off x="4953000"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4" name="Rounded Rectangle 13"/>
          <p:cNvSpPr/>
          <p:nvPr/>
        </p:nvSpPr>
        <p:spPr>
          <a:xfrm>
            <a:off x="7353300"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Order momentum</a:t>
            </a:r>
          </a:p>
        </p:txBody>
      </p:sp>
      <p:sp>
        <p:nvSpPr>
          <p:cNvPr id="15" name="Rounded Rectangle 14"/>
          <p:cNvSpPr/>
          <p:nvPr/>
        </p:nvSpPr>
        <p:spPr>
          <a:xfrm>
            <a:off x="976312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Profitability</a:t>
            </a:r>
          </a:p>
        </p:txBody>
      </p:sp>
      <p:sp>
        <p:nvSpPr>
          <p:cNvPr id="16" name="Rounded Rectangle 15"/>
          <p:cNvSpPr/>
          <p:nvPr/>
        </p:nvSpPr>
        <p:spPr>
          <a:xfrm>
            <a:off x="142875" y="2065976"/>
            <a:ext cx="38290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End-Market (US$ Mn)</a:t>
            </a:r>
          </a:p>
        </p:txBody>
      </p:sp>
      <p:graphicFrame>
        <p:nvGraphicFramePr>
          <p:cNvPr id="18" name="Chart 17"/>
          <p:cNvGraphicFramePr>
            <a:graphicFrameLocks noGrp="1"/>
          </p:cNvGraphicFramePr>
          <p:nvPr/>
        </p:nvGraphicFramePr>
        <p:xfrm>
          <a:off x="238125" y="2351726"/>
          <a:ext cx="3638550" cy="2267379"/>
        </p:xfrm>
        <a:graphic>
          <a:graphicData uri="http://schemas.openxmlformats.org/drawingml/2006/chart">
            <c:chart xmlns:c="http://schemas.openxmlformats.org/drawingml/2006/chart" r:id="rId3"/>
          </a:graphicData>
        </a:graphic>
      </p:graphicFrame>
      <p:sp>
        <p:nvSpPr>
          <p:cNvPr id="19" name="Rounded Rectangle 18"/>
          <p:cNvSpPr/>
          <p:nvPr/>
        </p:nvSpPr>
        <p:spPr>
          <a:xfrm>
            <a:off x="4124325" y="2065976"/>
            <a:ext cx="38290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1957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Region (US$ Mn)</a:t>
            </a:r>
          </a:p>
        </p:txBody>
      </p:sp>
      <p:graphicFrame>
        <p:nvGraphicFramePr>
          <p:cNvPr id="21" name="Chart 20"/>
          <p:cNvGraphicFramePr>
            <a:graphicFrameLocks noGrp="1"/>
          </p:cNvGraphicFramePr>
          <p:nvPr/>
        </p:nvGraphicFramePr>
        <p:xfrm>
          <a:off x="4219575" y="2351726"/>
          <a:ext cx="3638550" cy="2267379"/>
        </p:xfrm>
        <a:graphic>
          <a:graphicData uri="http://schemas.openxmlformats.org/drawingml/2006/chart">
            <c:chart xmlns:c="http://schemas.openxmlformats.org/drawingml/2006/chart" r:id="rId4"/>
          </a:graphicData>
        </a:graphic>
      </p:graphicFrame>
      <p:sp>
        <p:nvSpPr>
          <p:cNvPr id="22" name="Rounded Rectangle 21"/>
          <p:cNvSpPr/>
          <p:nvPr/>
        </p:nvSpPr>
        <p:spPr>
          <a:xfrm>
            <a:off x="8105775" y="2065976"/>
            <a:ext cx="39433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01025" y="2123126"/>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Product Line (US$ Mn)</a:t>
            </a:r>
          </a:p>
        </p:txBody>
      </p:sp>
      <p:graphicFrame>
        <p:nvGraphicFramePr>
          <p:cNvPr id="24" name="Chart 23"/>
          <p:cNvGraphicFramePr>
            <a:graphicFrameLocks noGrp="1"/>
          </p:cNvGraphicFramePr>
          <p:nvPr/>
        </p:nvGraphicFramePr>
        <p:xfrm>
          <a:off x="8201025" y="2351726"/>
          <a:ext cx="3752850" cy="2267379"/>
        </p:xfrm>
        <a:graphic>
          <a:graphicData uri="http://schemas.openxmlformats.org/drawingml/2006/chart">
            <c:chart xmlns:c="http://schemas.openxmlformats.org/drawingml/2006/chart" r:id="rId5"/>
          </a:graphicData>
        </a:graphic>
      </p:graphicFrame>
      <p:sp>
        <p:nvSpPr>
          <p:cNvPr id="25" name="Rounded Rectangle 24"/>
          <p:cNvSpPr/>
          <p:nvPr/>
        </p:nvSpPr>
        <p:spPr>
          <a:xfrm>
            <a:off x="142875" y="4785777"/>
            <a:ext cx="11906250" cy="1807116"/>
          </a:xfrm>
          <a:prstGeom prst="roundRect">
            <a:avLst>
              <a:gd name="adj" fmla="val 42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4871502"/>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27" name="Rectangle 26"/>
          <p:cNvSpPr/>
          <p:nvPr/>
        </p:nvSpPr>
        <p:spPr>
          <a:xfrm>
            <a:off x="276225" y="5109627"/>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6225" y="5195352"/>
            <a:ext cx="11639550" cy="132134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0" name="Picture 29" descr="lock.png"/>
          <p:cNvPicPr>
            <a:picLocks noChangeAspect="1"/>
          </p:cNvPicPr>
          <p:nvPr/>
        </p:nvPicPr>
        <p:blipFill>
          <a:blip r:embed="rId7"/>
          <a:stretch>
            <a:fillRect/>
          </a:stretch>
        </p:blipFill>
        <p:spPr>
          <a:xfrm>
            <a:off x="1202531" y="1522714"/>
            <a:ext cx="157162" cy="228600"/>
          </a:xfrm>
          <a:prstGeom prst="rect">
            <a:avLst/>
          </a:prstGeom>
        </p:spPr>
      </p:pic>
      <p:pic>
        <p:nvPicPr>
          <p:cNvPr id="31" name="Picture 30" descr="lock.png"/>
          <p:cNvPicPr>
            <a:picLocks noChangeAspect="1"/>
          </p:cNvPicPr>
          <p:nvPr/>
        </p:nvPicPr>
        <p:blipFill>
          <a:blip r:embed="rId7"/>
          <a:stretch>
            <a:fillRect/>
          </a:stretch>
        </p:blipFill>
        <p:spPr>
          <a:xfrm>
            <a:off x="3602831" y="1522714"/>
            <a:ext cx="157162" cy="228600"/>
          </a:xfrm>
          <a:prstGeom prst="rect">
            <a:avLst/>
          </a:prstGeom>
        </p:spPr>
      </p:pic>
      <p:pic>
        <p:nvPicPr>
          <p:cNvPr id="32" name="Picture 31" descr="lock.png"/>
          <p:cNvPicPr>
            <a:picLocks noChangeAspect="1"/>
          </p:cNvPicPr>
          <p:nvPr/>
        </p:nvPicPr>
        <p:blipFill>
          <a:blip r:embed="rId7"/>
          <a:stretch>
            <a:fillRect/>
          </a:stretch>
        </p:blipFill>
        <p:spPr>
          <a:xfrm>
            <a:off x="8412956" y="1522714"/>
            <a:ext cx="157162" cy="228600"/>
          </a:xfrm>
          <a:prstGeom prst="rect">
            <a:avLst/>
          </a:prstGeom>
        </p:spPr>
      </p:pic>
      <p:pic>
        <p:nvPicPr>
          <p:cNvPr id="33" name="Picture 32" descr="lock.png"/>
          <p:cNvPicPr>
            <a:picLocks noChangeAspect="1"/>
          </p:cNvPicPr>
          <p:nvPr/>
        </p:nvPicPr>
        <p:blipFill>
          <a:blip r:embed="rId7"/>
          <a:stretch>
            <a:fillRect/>
          </a:stretch>
        </p:blipFill>
        <p:spPr>
          <a:xfrm>
            <a:off x="10822781" y="1522714"/>
            <a:ext cx="157162" cy="228600"/>
          </a:xfrm>
          <a:prstGeom prst="rect">
            <a:avLst/>
          </a:prstGeom>
        </p:spPr>
      </p:pic>
      <p:pic>
        <p:nvPicPr>
          <p:cNvPr id="34" name="Picture 33" descr="lock.png"/>
          <p:cNvPicPr>
            <a:picLocks noChangeAspect="1"/>
          </p:cNvPicPr>
          <p:nvPr/>
        </p:nvPicPr>
        <p:blipFill>
          <a:blip r:embed="rId7"/>
          <a:stretch>
            <a:fillRect/>
          </a:stretch>
        </p:blipFill>
        <p:spPr>
          <a:xfrm>
            <a:off x="2104623" y="3299104"/>
            <a:ext cx="197242" cy="286897"/>
          </a:xfrm>
          <a:prstGeom prst="rect">
            <a:avLst/>
          </a:prstGeom>
        </p:spPr>
      </p:pic>
      <p:pic>
        <p:nvPicPr>
          <p:cNvPr id="35" name="Picture 34" descr="lock.png"/>
          <p:cNvPicPr>
            <a:picLocks noChangeAspect="1"/>
          </p:cNvPicPr>
          <p:nvPr/>
        </p:nvPicPr>
        <p:blipFill>
          <a:blip r:embed="rId7"/>
          <a:stretch>
            <a:fillRect/>
          </a:stretch>
        </p:blipFill>
        <p:spPr>
          <a:xfrm>
            <a:off x="6086073" y="3299104"/>
            <a:ext cx="197242" cy="286897"/>
          </a:xfrm>
          <a:prstGeom prst="rect">
            <a:avLst/>
          </a:prstGeom>
        </p:spPr>
      </p:pic>
      <p:pic>
        <p:nvPicPr>
          <p:cNvPr id="36" name="Picture 35" descr="lock.png"/>
          <p:cNvPicPr>
            <a:picLocks noChangeAspect="1"/>
          </p:cNvPicPr>
          <p:nvPr/>
        </p:nvPicPr>
        <p:blipFill>
          <a:blip r:embed="rId7"/>
          <a:stretch>
            <a:fillRect/>
          </a:stretch>
        </p:blipFill>
        <p:spPr>
          <a:xfrm>
            <a:off x="9278088" y="3145920"/>
            <a:ext cx="444576" cy="646656"/>
          </a:xfrm>
          <a:prstGeom prst="rect">
            <a:avLst/>
          </a:prstGeom>
        </p:spPr>
      </p:pic>
      <p:sp>
        <p:nvSpPr>
          <p:cNvPr id="37" name="TextBox 36"/>
          <p:cNvSpPr txBox="1"/>
          <p:nvPr/>
        </p:nvSpPr>
        <p:spPr>
          <a:xfrm>
            <a:off x="5758516" y="1377568"/>
            <a:ext cx="741641" cy="146456"/>
          </a:xfrm>
          <a:prstGeom prst="rect">
            <a:avLst/>
          </a:prstGeom>
          <a:noFill/>
        </p:spPr>
        <p:txBody>
          <a:bodyPr wrap="none" lIns="0" rIns="0" tIns="0" bIns="0">
            <a:spAutoFit/>
          </a:bodyPr>
          <a:lstStyle/>
          <a:p>
            <a:r>
              <a:rPr sz="835" b="1">
                <a:solidFill>
                  <a:srgbClr val="6C7A89"/>
                </a:solidFill>
                <a:latin typeface="Calibri"/>
              </a:rPr>
              <a:t>SOM (US$ MN)</a:t>
            </a:r>
          </a:p>
        </p:txBody>
      </p:sp>
      <p:pic>
        <p:nvPicPr>
          <p:cNvPr id="38" name="Picture 37" descr="lock.png"/>
          <p:cNvPicPr>
            <a:picLocks noChangeAspect="1"/>
          </p:cNvPicPr>
          <p:nvPr/>
        </p:nvPicPr>
        <p:blipFill>
          <a:blip r:embed="rId7"/>
          <a:stretch>
            <a:fillRect/>
          </a:stretch>
        </p:blipFill>
        <p:spPr>
          <a:xfrm>
            <a:off x="6017010" y="1533061"/>
            <a:ext cx="133378" cy="194005"/>
          </a:xfrm>
          <a:prstGeom prst="rect">
            <a:avLst/>
          </a:prstGeom>
        </p:spPr>
      </p:pic>
      <p:pic>
        <p:nvPicPr>
          <p:cNvPr id="39" name="Picture 38" descr="lock.png"/>
          <p:cNvPicPr>
            <a:picLocks noChangeAspect="1"/>
          </p:cNvPicPr>
          <p:nvPr/>
        </p:nvPicPr>
        <p:blipFill>
          <a:blip r:embed="rId7"/>
          <a:stretch>
            <a:fillRect/>
          </a:stretch>
        </p:blipFill>
        <p:spPr>
          <a:xfrm>
            <a:off x="5865805" y="1761621"/>
            <a:ext cx="97811" cy="142270"/>
          </a:xfrm>
          <a:prstGeom prst="rect">
            <a:avLst/>
          </a:prstGeom>
        </p:spPr>
      </p:pic>
      <p:sp>
        <p:nvSpPr>
          <p:cNvPr id="40" name="TextBox 39"/>
          <p:cNvSpPr txBox="1"/>
          <p:nvPr/>
        </p:nvSpPr>
        <p:spPr>
          <a:xfrm>
            <a:off x="5993102" y="1769053"/>
            <a:ext cx="389531" cy="146456"/>
          </a:xfrm>
          <a:prstGeom prst="rect">
            <a:avLst/>
          </a:prstGeom>
          <a:noFill/>
        </p:spPr>
        <p:txBody>
          <a:bodyPr wrap="none" lIns="0" rIns="0" tIns="0" bIns="0">
            <a:spAutoFit/>
          </a:bodyPr>
          <a:lstStyle/>
          <a:p>
            <a:r>
              <a:rPr sz="835" b="0">
                <a:solidFill>
                  <a:srgbClr val="6C7A89"/>
                </a:solidFill>
                <a:latin typeface="Calibri"/>
              </a:rPr>
              <a:t>of SAM</a:t>
            </a:r>
          </a:p>
        </p:txBody>
      </p:sp>
      <p:sp>
        <p:nvSpPr>
          <p:cNvPr id="41" name="TextBox 40"/>
          <p:cNvSpPr txBox="1"/>
          <p:nvPr/>
        </p:nvSpPr>
        <p:spPr>
          <a:xfrm>
            <a:off x="276225" y="5204877"/>
            <a:ext cx="2856855" cy="194310"/>
          </a:xfrm>
          <a:prstGeom prst="rect">
            <a:avLst/>
          </a:prstGeom>
          <a:noFill/>
        </p:spPr>
        <p:txBody>
          <a:bodyPr wrap="none" lIns="0" rIns="0" tIns="0" bIns="0">
            <a:spAutoFit/>
          </a:bodyPr>
          <a:lstStyle/>
          <a:p>
            <a:r>
              <a:rPr sz="1150" b="0">
                <a:solidFill>
                  <a:srgbClr val="2E2E2E"/>
                </a:solidFill>
                <a:latin typeface="Calibri"/>
              </a:rPr>
              <a:t>▪ Market Position: Standard Process captures ~</a:t>
            </a:r>
          </a:p>
        </p:txBody>
      </p:sp>
      <p:pic>
        <p:nvPicPr>
          <p:cNvPr id="42" name="Picture 41" descr="lock.png"/>
          <p:cNvPicPr>
            <a:picLocks noChangeAspect="1"/>
          </p:cNvPicPr>
          <p:nvPr/>
        </p:nvPicPr>
        <p:blipFill>
          <a:blip r:embed="rId7"/>
          <a:stretch>
            <a:fillRect/>
          </a:stretch>
        </p:blipFill>
        <p:spPr>
          <a:xfrm>
            <a:off x="3082234" y="5194653"/>
            <a:ext cx="134549" cy="195707"/>
          </a:xfrm>
          <a:prstGeom prst="rect">
            <a:avLst/>
          </a:prstGeom>
        </p:spPr>
      </p:pic>
      <p:sp>
        <p:nvSpPr>
          <p:cNvPr id="43" name="TextBox 42"/>
          <p:cNvSpPr txBox="1"/>
          <p:nvPr/>
        </p:nvSpPr>
        <p:spPr>
          <a:xfrm>
            <a:off x="3257343" y="5204877"/>
            <a:ext cx="6156957" cy="194310"/>
          </a:xfrm>
          <a:prstGeom prst="rect">
            <a:avLst/>
          </a:prstGeom>
          <a:noFill/>
        </p:spPr>
        <p:txBody>
          <a:bodyPr wrap="none" lIns="0" rIns="0" tIns="0" bIns="0">
            <a:spAutoFit/>
          </a:bodyPr>
          <a:lstStyle/>
          <a:p>
            <a:r>
              <a:rPr sz="1150" b="0">
                <a:solidFill>
                  <a:srgbClr val="2E2E2E"/>
                </a:solidFill>
                <a:latin typeface="Calibri"/>
              </a:rPr>
              <a:t>of a US$ Mn SAM, with its strongest end-market in 'Veterinary-Guided Cognitive Dysfunction Support'.</a:t>
            </a:r>
          </a:p>
        </p:txBody>
      </p:sp>
      <p:sp>
        <p:nvSpPr>
          <p:cNvPr id="44" name="TextBox 43"/>
          <p:cNvSpPr txBox="1"/>
          <p:nvPr/>
        </p:nvSpPr>
        <p:spPr>
          <a:xfrm>
            <a:off x="276225" y="5432715"/>
            <a:ext cx="7358446" cy="194310"/>
          </a:xfrm>
          <a:prstGeom prst="rect">
            <a:avLst/>
          </a:prstGeom>
          <a:noFill/>
        </p:spPr>
        <p:txBody>
          <a:bodyPr wrap="none" lIns="0" rIns="0" tIns="0" bIns="0">
            <a:spAutoFit/>
          </a:bodyPr>
          <a:lstStyle/>
          <a:p>
            <a:r>
              <a:rPr sz="1150" b="0">
                <a:solidFill>
                  <a:srgbClr val="2E2E2E"/>
                </a:solidFill>
                <a:latin typeface="Calibri"/>
              </a:rPr>
              <a:t>▪ Geographic Balance: 'North America' is the largest SOM region; 'Rest of the World' shows the highest SAM penetration (~</a:t>
            </a:r>
          </a:p>
        </p:txBody>
      </p:sp>
      <p:pic>
        <p:nvPicPr>
          <p:cNvPr id="45" name="Picture 44" descr="lock.png"/>
          <p:cNvPicPr>
            <a:picLocks noChangeAspect="1"/>
          </p:cNvPicPr>
          <p:nvPr/>
        </p:nvPicPr>
        <p:blipFill>
          <a:blip r:embed="rId7"/>
          <a:stretch>
            <a:fillRect/>
          </a:stretch>
        </p:blipFill>
        <p:spPr>
          <a:xfrm>
            <a:off x="7583825" y="5422491"/>
            <a:ext cx="134549" cy="195707"/>
          </a:xfrm>
          <a:prstGeom prst="rect">
            <a:avLst/>
          </a:prstGeom>
        </p:spPr>
      </p:pic>
      <p:sp>
        <p:nvSpPr>
          <p:cNvPr id="46" name="TextBox 45"/>
          <p:cNvSpPr txBox="1"/>
          <p:nvPr/>
        </p:nvSpPr>
        <p:spPr>
          <a:xfrm>
            <a:off x="7758935" y="543271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7" name="TextBox 46"/>
          <p:cNvSpPr txBox="1"/>
          <p:nvPr/>
        </p:nvSpPr>
        <p:spPr>
          <a:xfrm>
            <a:off x="276225" y="5660552"/>
            <a:ext cx="1391791" cy="194310"/>
          </a:xfrm>
          <a:prstGeom prst="rect">
            <a:avLst/>
          </a:prstGeom>
          <a:noFill/>
        </p:spPr>
        <p:txBody>
          <a:bodyPr wrap="none" lIns="0" rIns="0" tIns="0" bIns="0">
            <a:spAutoFit/>
          </a:bodyPr>
          <a:lstStyle/>
          <a:p>
            <a:r>
              <a:rPr sz="1150" b="0">
                <a:solidFill>
                  <a:srgbClr val="2E2E2E"/>
                </a:solidFill>
                <a:latin typeface="Calibri"/>
              </a:rPr>
              <a:t>▪ Growth Trajectory: a</a:t>
            </a:r>
          </a:p>
        </p:txBody>
      </p:sp>
      <p:pic>
        <p:nvPicPr>
          <p:cNvPr id="48" name="Picture 47" descr="lock.png"/>
          <p:cNvPicPr>
            <a:picLocks noChangeAspect="1"/>
          </p:cNvPicPr>
          <p:nvPr/>
        </p:nvPicPr>
        <p:blipFill>
          <a:blip r:embed="rId7"/>
          <a:stretch>
            <a:fillRect/>
          </a:stretch>
        </p:blipFill>
        <p:spPr>
          <a:xfrm>
            <a:off x="1617169" y="5650329"/>
            <a:ext cx="134549" cy="195707"/>
          </a:xfrm>
          <a:prstGeom prst="rect">
            <a:avLst/>
          </a:prstGeom>
        </p:spPr>
      </p:pic>
      <p:sp>
        <p:nvSpPr>
          <p:cNvPr id="49" name="TextBox 48"/>
          <p:cNvSpPr txBox="1"/>
          <p:nvPr/>
        </p:nvSpPr>
        <p:spPr>
          <a:xfrm>
            <a:off x="1792279" y="5660552"/>
            <a:ext cx="1129072" cy="194310"/>
          </a:xfrm>
          <a:prstGeom prst="rect">
            <a:avLst/>
          </a:prstGeom>
          <a:noFill/>
        </p:spPr>
        <p:txBody>
          <a:bodyPr wrap="none" lIns="0" rIns="0" tIns="0" bIns="0">
            <a:spAutoFit/>
          </a:bodyPr>
          <a:lstStyle/>
          <a:p>
            <a:r>
              <a:rPr sz="1150" b="0">
                <a:solidFill>
                  <a:srgbClr val="2E2E2E"/>
                </a:solidFill>
                <a:latin typeface="Calibri"/>
              </a:rPr>
              <a:t>book-to-bill and ~</a:t>
            </a:r>
          </a:p>
        </p:txBody>
      </p:sp>
      <p:pic>
        <p:nvPicPr>
          <p:cNvPr id="50" name="Picture 49" descr="lock.png"/>
          <p:cNvPicPr>
            <a:picLocks noChangeAspect="1"/>
          </p:cNvPicPr>
          <p:nvPr/>
        </p:nvPicPr>
        <p:blipFill>
          <a:blip r:embed="rId7"/>
          <a:stretch>
            <a:fillRect/>
          </a:stretch>
        </p:blipFill>
        <p:spPr>
          <a:xfrm>
            <a:off x="2870505" y="5650329"/>
            <a:ext cx="134549" cy="195707"/>
          </a:xfrm>
          <a:prstGeom prst="rect">
            <a:avLst/>
          </a:prstGeom>
        </p:spPr>
      </p:pic>
      <p:sp>
        <p:nvSpPr>
          <p:cNvPr id="51" name="TextBox 50"/>
          <p:cNvSpPr txBox="1"/>
          <p:nvPr/>
        </p:nvSpPr>
        <p:spPr>
          <a:xfrm>
            <a:off x="3045614" y="5660552"/>
            <a:ext cx="4503594" cy="194310"/>
          </a:xfrm>
          <a:prstGeom prst="rect">
            <a:avLst/>
          </a:prstGeom>
          <a:noFill/>
        </p:spPr>
        <p:txBody>
          <a:bodyPr wrap="none" lIns="0" rIns="0" tIns="0" bIns="0">
            <a:spAutoFit/>
          </a:bodyPr>
          <a:lstStyle/>
          <a:p>
            <a:r>
              <a:rPr sz="1150" b="0">
                <a:solidFill>
                  <a:srgbClr val="2E2E2E"/>
                </a:solidFill>
                <a:latin typeface="Calibri"/>
              </a:rPr>
              <a:t>EBITDA margin point to a path to capture more of the addressable market.</a:t>
            </a:r>
          </a:p>
        </p:txBody>
      </p:sp>
      <p:sp>
        <p:nvSpPr>
          <p:cNvPr id="52" name="TextBox 51"/>
          <p:cNvSpPr txBox="1"/>
          <p:nvPr/>
        </p:nvSpPr>
        <p:spPr>
          <a:xfrm>
            <a:off x="276225" y="5888390"/>
            <a:ext cx="1353535" cy="194310"/>
          </a:xfrm>
          <a:prstGeom prst="rect">
            <a:avLst/>
          </a:prstGeom>
          <a:noFill/>
        </p:spPr>
        <p:txBody>
          <a:bodyPr wrap="none" lIns="0" rIns="0" tIns="0" bIns="0">
            <a:spAutoFit/>
          </a:bodyPr>
          <a:lstStyle/>
          <a:p>
            <a:r>
              <a:rPr sz="1150" b="0">
                <a:solidFill>
                  <a:srgbClr val="2E2E2E"/>
                </a:solidFill>
                <a:latin typeface="Calibri"/>
              </a:rPr>
              <a:t>▪ Competitive Edge: ~</a:t>
            </a:r>
          </a:p>
        </p:txBody>
      </p:sp>
      <p:pic>
        <p:nvPicPr>
          <p:cNvPr id="53" name="Picture 52" descr="lock.png"/>
          <p:cNvPicPr>
            <a:picLocks noChangeAspect="1"/>
          </p:cNvPicPr>
          <p:nvPr/>
        </p:nvPicPr>
        <p:blipFill>
          <a:blip r:embed="rId7"/>
          <a:stretch>
            <a:fillRect/>
          </a:stretch>
        </p:blipFill>
        <p:spPr>
          <a:xfrm>
            <a:off x="1578914" y="5878167"/>
            <a:ext cx="134549" cy="195707"/>
          </a:xfrm>
          <a:prstGeom prst="rect">
            <a:avLst/>
          </a:prstGeom>
        </p:spPr>
      </p:pic>
      <p:sp>
        <p:nvSpPr>
          <p:cNvPr id="54" name="TextBox 53"/>
          <p:cNvSpPr txBox="1"/>
          <p:nvPr/>
        </p:nvSpPr>
        <p:spPr>
          <a:xfrm>
            <a:off x="1754024" y="5888390"/>
            <a:ext cx="1072591" cy="194310"/>
          </a:xfrm>
          <a:prstGeom prst="rect">
            <a:avLst/>
          </a:prstGeom>
          <a:noFill/>
        </p:spPr>
        <p:txBody>
          <a:bodyPr wrap="none" lIns="0" rIns="0" tIns="0" bIns="0">
            <a:spAutoFit/>
          </a:bodyPr>
          <a:lstStyle/>
          <a:p>
            <a:r>
              <a:rPr sz="1150" b="0">
                <a:solidFill>
                  <a:srgbClr val="2E2E2E"/>
                </a:solidFill>
                <a:latin typeface="Calibri"/>
              </a:rPr>
              <a:t>win rate with a +</a:t>
            </a:r>
          </a:p>
        </p:txBody>
      </p:sp>
      <p:pic>
        <p:nvPicPr>
          <p:cNvPr id="55" name="Picture 54" descr="lock.png"/>
          <p:cNvPicPr>
            <a:picLocks noChangeAspect="1"/>
          </p:cNvPicPr>
          <p:nvPr/>
        </p:nvPicPr>
        <p:blipFill>
          <a:blip r:embed="rId7"/>
          <a:stretch>
            <a:fillRect/>
          </a:stretch>
        </p:blipFill>
        <p:spPr>
          <a:xfrm>
            <a:off x="2775769" y="5878167"/>
            <a:ext cx="134549" cy="195707"/>
          </a:xfrm>
          <a:prstGeom prst="rect">
            <a:avLst/>
          </a:prstGeom>
        </p:spPr>
      </p:pic>
      <p:sp>
        <p:nvSpPr>
          <p:cNvPr id="56" name="TextBox 55"/>
          <p:cNvSpPr txBox="1"/>
          <p:nvPr/>
        </p:nvSpPr>
        <p:spPr>
          <a:xfrm>
            <a:off x="2950879" y="5888390"/>
            <a:ext cx="1137059" cy="194310"/>
          </a:xfrm>
          <a:prstGeom prst="rect">
            <a:avLst/>
          </a:prstGeom>
          <a:noFill/>
        </p:spPr>
        <p:txBody>
          <a:bodyPr wrap="none" lIns="0" rIns="0" tIns="0" bIns="0">
            <a:spAutoFit/>
          </a:bodyPr>
          <a:lstStyle/>
          <a:p>
            <a:r>
              <a:rPr sz="1150" b="0">
                <a:solidFill>
                  <a:srgbClr val="2E2E2E"/>
                </a:solidFill>
                <a:latin typeface="Calibri"/>
              </a:rPr>
              <a:t>ASP premium and</a:t>
            </a:r>
          </a:p>
        </p:txBody>
      </p:sp>
      <p:pic>
        <p:nvPicPr>
          <p:cNvPr id="57" name="Picture 56" descr="lock.png"/>
          <p:cNvPicPr>
            <a:picLocks noChangeAspect="1"/>
          </p:cNvPicPr>
          <p:nvPr/>
        </p:nvPicPr>
        <p:blipFill>
          <a:blip r:embed="rId7"/>
          <a:stretch>
            <a:fillRect/>
          </a:stretch>
        </p:blipFill>
        <p:spPr>
          <a:xfrm>
            <a:off x="4037092" y="5878167"/>
            <a:ext cx="134549" cy="195707"/>
          </a:xfrm>
          <a:prstGeom prst="rect">
            <a:avLst/>
          </a:prstGeom>
        </p:spPr>
      </p:pic>
      <p:sp>
        <p:nvSpPr>
          <p:cNvPr id="58" name="TextBox 57"/>
          <p:cNvSpPr txBox="1"/>
          <p:nvPr/>
        </p:nvSpPr>
        <p:spPr>
          <a:xfrm>
            <a:off x="4212201" y="5888390"/>
            <a:ext cx="1259147" cy="194310"/>
          </a:xfrm>
          <a:prstGeom prst="rect">
            <a:avLst/>
          </a:prstGeom>
          <a:noFill/>
        </p:spPr>
        <p:txBody>
          <a:bodyPr wrap="none" lIns="0" rIns="0" tIns="0" bIns="0">
            <a:spAutoFit/>
          </a:bodyPr>
          <a:lstStyle/>
          <a:p>
            <a:r>
              <a:rPr sz="1150" b="0">
                <a:solidFill>
                  <a:srgbClr val="2E2E2E"/>
                </a:solidFill>
                <a:latin typeface="Calibri"/>
              </a:rPr>
              <a:t>x pipeline coverage.</a:t>
            </a:r>
          </a:p>
        </p:txBody>
      </p:sp>
      <p:sp>
        <p:nvSpPr>
          <p:cNvPr id="59" name="lockshield_18"/>
          <p:cNvSpPr/>
          <p:nvPr/>
        </p:nvSpPr>
        <p:spPr>
          <a:xfrm>
            <a:off x="23812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lockshield_21"/>
          <p:cNvSpPr/>
          <p:nvPr/>
        </p:nvSpPr>
        <p:spPr>
          <a:xfrm>
            <a:off x="421957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lockshield_24"/>
          <p:cNvSpPr/>
          <p:nvPr/>
        </p:nvSpPr>
        <p:spPr>
          <a:xfrm>
            <a:off x="8201025" y="2351726"/>
            <a:ext cx="37528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Standard Process Regional Penetration &amp; Win Position (2/5)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penetration and competitive positioning highlighting growth potential, win rates and sales efficiency</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penetration and competitive positioning Standard Process: SOM vs SAM by region, win position, TAM/SAM/SOM and go-to-market benchmarks.</a:t>
            </a:r>
          </a:p>
        </p:txBody>
      </p:sp>
      <p:sp>
        <p:nvSpPr>
          <p:cNvPr id="11" name="Rounded Rectangle 10"/>
          <p:cNvSpPr/>
          <p:nvPr/>
        </p:nvSpPr>
        <p:spPr>
          <a:xfrm>
            <a:off x="142875" y="1299320"/>
            <a:ext cx="5905500" cy="2263459"/>
          </a:xfrm>
          <a:prstGeom prst="roundRect">
            <a:avLst>
              <a:gd name="adj" fmla="val 33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vs SAM Penetration by Region</a:t>
            </a:r>
          </a:p>
        </p:txBody>
      </p:sp>
      <p:graphicFrame>
        <p:nvGraphicFramePr>
          <p:cNvPr id="13" name="Chart 12"/>
          <p:cNvGraphicFramePr>
            <a:graphicFrameLocks noGrp="1"/>
          </p:cNvGraphicFramePr>
          <p:nvPr/>
        </p:nvGraphicFramePr>
        <p:xfrm>
          <a:off x="238125" y="1585070"/>
          <a:ext cx="5715000" cy="1920559"/>
        </p:xfrm>
        <a:graphic>
          <a:graphicData uri="http://schemas.openxmlformats.org/drawingml/2006/chart">
            <c:chart xmlns:c="http://schemas.openxmlformats.org/drawingml/2006/chart" r:id="rId3"/>
          </a:graphicData>
        </a:graphic>
      </p:graphicFrame>
      <p:sp>
        <p:nvSpPr>
          <p:cNvPr id="14" name="Rounded Rectangle 13"/>
          <p:cNvSpPr/>
          <p:nvPr/>
        </p:nvSpPr>
        <p:spPr>
          <a:xfrm>
            <a:off x="6162675" y="1299320"/>
            <a:ext cx="5886450" cy="2263459"/>
          </a:xfrm>
          <a:prstGeom prst="roundRect">
            <a:avLst>
              <a:gd name="adj" fmla="val 33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7925" y="1356470"/>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Competitive Win Position</a:t>
            </a:r>
          </a:p>
        </p:txBody>
      </p:sp>
      <p:cxnSp>
        <p:nvCxnSpPr>
          <p:cNvPr id="16" name="Connector 15"/>
          <p:cNvCxnSpPr/>
          <p:nvPr/>
        </p:nvCxnSpPr>
        <p:spPr>
          <a:xfrm>
            <a:off x="6581775" y="3219879"/>
            <a:ext cx="5257800" cy="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81775" y="1680320"/>
            <a:ext cx="0" cy="1539559"/>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67475" y="3238929"/>
            <a:ext cx="228600" cy="114300"/>
          </a:xfrm>
          <a:prstGeom prst="rect">
            <a:avLst/>
          </a:prstGeom>
          <a:noFill/>
        </p:spPr>
        <p:txBody>
          <a:bodyPr wrap="none" lIns="0" rIns="0" tIns="0" bIns="0">
            <a:spAutoFit/>
          </a:bodyPr>
          <a:lstStyle/>
          <a:p>
            <a:pPr algn="ctr"/>
            <a:r>
              <a:rPr sz="1100" b="0">
                <a:solidFill>
                  <a:srgbClr val="6C7A89"/>
                </a:solidFill>
                <a:latin typeface="Calibri"/>
              </a:rPr>
              <a:t>0</a:t>
            </a:r>
          </a:p>
        </p:txBody>
      </p:sp>
      <p:sp>
        <p:nvSpPr>
          <p:cNvPr id="19" name="TextBox 18"/>
          <p:cNvSpPr txBox="1"/>
          <p:nvPr/>
        </p:nvSpPr>
        <p:spPr>
          <a:xfrm>
            <a:off x="7969704" y="3238929"/>
            <a:ext cx="228600" cy="114300"/>
          </a:xfrm>
          <a:prstGeom prst="rect">
            <a:avLst/>
          </a:prstGeom>
          <a:noFill/>
        </p:spPr>
        <p:txBody>
          <a:bodyPr wrap="none" lIns="0" rIns="0" tIns="0" bIns="0">
            <a:spAutoFit/>
          </a:bodyPr>
          <a:lstStyle/>
          <a:p>
            <a:pPr algn="ctr"/>
            <a:r>
              <a:rPr sz="1100" b="0">
                <a:solidFill>
                  <a:srgbClr val="6C7A89"/>
                </a:solidFill>
                <a:latin typeface="Calibri"/>
              </a:rPr>
              <a:t>1</a:t>
            </a:r>
          </a:p>
        </p:txBody>
      </p:sp>
      <p:sp>
        <p:nvSpPr>
          <p:cNvPr id="20" name="TextBox 19"/>
          <p:cNvSpPr txBox="1"/>
          <p:nvPr/>
        </p:nvSpPr>
        <p:spPr>
          <a:xfrm>
            <a:off x="9471932" y="3238929"/>
            <a:ext cx="228600" cy="114300"/>
          </a:xfrm>
          <a:prstGeom prst="rect">
            <a:avLst/>
          </a:prstGeom>
          <a:noFill/>
        </p:spPr>
        <p:txBody>
          <a:bodyPr wrap="none" lIns="0" rIns="0" tIns="0" bIns="0">
            <a:spAutoFit/>
          </a:bodyPr>
          <a:lstStyle/>
          <a:p>
            <a:pPr algn="ctr"/>
            <a:r>
              <a:rPr sz="1100" b="0">
                <a:solidFill>
                  <a:srgbClr val="6C7A89"/>
                </a:solidFill>
                <a:latin typeface="Calibri"/>
              </a:rPr>
              <a:t>2</a:t>
            </a:r>
          </a:p>
        </p:txBody>
      </p:sp>
      <p:sp>
        <p:nvSpPr>
          <p:cNvPr id="21" name="TextBox 20"/>
          <p:cNvSpPr txBox="1"/>
          <p:nvPr/>
        </p:nvSpPr>
        <p:spPr>
          <a:xfrm>
            <a:off x="10974161" y="3238929"/>
            <a:ext cx="228600" cy="114300"/>
          </a:xfrm>
          <a:prstGeom prst="rect">
            <a:avLst/>
          </a:prstGeom>
          <a:noFill/>
        </p:spPr>
        <p:txBody>
          <a:bodyPr wrap="none" lIns="0" rIns="0" tIns="0" bIns="0">
            <a:spAutoFit/>
          </a:bodyPr>
          <a:lstStyle/>
          <a:p>
            <a:pPr algn="ctr"/>
            <a:r>
              <a:rPr sz="1100" b="0">
                <a:solidFill>
                  <a:srgbClr val="6C7A89"/>
                </a:solidFill>
                <a:latin typeface="Calibri"/>
              </a:rPr>
              <a:t>3</a:t>
            </a:r>
          </a:p>
        </p:txBody>
      </p:sp>
      <p:sp>
        <p:nvSpPr>
          <p:cNvPr id="22" name="TextBox 21"/>
          <p:cNvSpPr txBox="1"/>
          <p:nvPr/>
        </p:nvSpPr>
        <p:spPr>
          <a:xfrm>
            <a:off x="6581775" y="3353229"/>
            <a:ext cx="5257800" cy="114300"/>
          </a:xfrm>
          <a:prstGeom prst="rect">
            <a:avLst/>
          </a:prstGeom>
          <a:noFill/>
        </p:spPr>
        <p:txBody>
          <a:bodyPr wrap="square" lIns="28575" rIns="28575" tIns="9525" bIns="9525">
            <a:spAutoFit/>
          </a:bodyPr>
          <a:lstStyle/>
          <a:p>
            <a:pPr algn="ctr"/>
            <a:r>
              <a:rPr sz="1100" b="0">
                <a:solidFill>
                  <a:srgbClr val="6C7A89"/>
                </a:solidFill>
                <a:latin typeface="Calibri"/>
              </a:rPr>
              <a:t>Win Rate %</a:t>
            </a:r>
          </a:p>
        </p:txBody>
      </p:sp>
      <p:sp>
        <p:nvSpPr>
          <p:cNvPr id="23" name="TextBox 22"/>
          <p:cNvSpPr txBox="1"/>
          <p:nvPr/>
        </p:nvSpPr>
        <p:spPr>
          <a:xfrm rot="16200000">
            <a:off x="6029325" y="2373900"/>
            <a:ext cx="571500" cy="152400"/>
          </a:xfrm>
          <a:prstGeom prst="rect">
            <a:avLst/>
          </a:prstGeom>
          <a:noFill/>
        </p:spPr>
        <p:txBody>
          <a:bodyPr wrap="square" lIns="28575" rIns="28575" tIns="9525" bIns="9525">
            <a:spAutoFit/>
          </a:bodyPr>
          <a:lstStyle/>
          <a:p>
            <a:pPr algn="ctr"/>
            <a:r>
              <a:rPr sz="1100" b="0">
                <a:solidFill>
                  <a:srgbClr val="6C7A89"/>
                </a:solidFill>
                <a:latin typeface="Calibri"/>
              </a:rPr>
              <a:t>ASP vs Peer</a:t>
            </a:r>
          </a:p>
        </p:txBody>
      </p:sp>
      <p:sp>
        <p:nvSpPr>
          <p:cNvPr id="24" name="Oval 23"/>
          <p:cNvSpPr/>
          <p:nvPr/>
        </p:nvSpPr>
        <p:spPr>
          <a:xfrm>
            <a:off x="7359287" y="1979874"/>
            <a:ext cx="247650" cy="247650"/>
          </a:xfrm>
          <a:prstGeom prst="ellipse">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45037" y="201797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Standard Process</a:t>
            </a:r>
          </a:p>
        </p:txBody>
      </p:sp>
      <p:sp>
        <p:nvSpPr>
          <p:cNvPr id="26" name="Oval 25"/>
          <p:cNvSpPr/>
          <p:nvPr/>
        </p:nvSpPr>
        <p:spPr>
          <a:xfrm>
            <a:off x="9283609" y="1912810"/>
            <a:ext cx="304800" cy="304800"/>
          </a:xfrm>
          <a:prstGeom prst="ellipse">
            <a:avLst/>
          </a:prstGeom>
          <a:solidFill>
            <a:srgbClr val="8C8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26509" y="1979485"/>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Industry Avg.</a:t>
            </a:r>
          </a:p>
        </p:txBody>
      </p:sp>
      <p:sp>
        <p:nvSpPr>
          <p:cNvPr id="28" name="Oval 27"/>
          <p:cNvSpPr/>
          <p:nvPr/>
        </p:nvSpPr>
        <p:spPr>
          <a:xfrm>
            <a:off x="10513967" y="2711164"/>
            <a:ext cx="247650" cy="247650"/>
          </a:xfrm>
          <a:prstGeom prst="ellipse">
            <a:avLst/>
          </a:prstGeom>
          <a:solidFill>
            <a:srgbClr val="0E72A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06100" y="274926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Market Leader</a:t>
            </a:r>
          </a:p>
        </p:txBody>
      </p:sp>
      <p:sp>
        <p:nvSpPr>
          <p:cNvPr id="30" name="Rounded Rectangle 29"/>
          <p:cNvSpPr/>
          <p:nvPr/>
        </p:nvSpPr>
        <p:spPr>
          <a:xfrm>
            <a:off x="142875" y="3635794"/>
            <a:ext cx="5905500" cy="1661086"/>
          </a:xfrm>
          <a:prstGeom prst="roundRect">
            <a:avLst>
              <a:gd name="adj" fmla="val 4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369294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TAM · SAM · SOM (US$ Mn)</a:t>
            </a:r>
          </a:p>
        </p:txBody>
      </p:sp>
      <p:sp>
        <p:nvSpPr>
          <p:cNvPr id="32" name="Rectangle 31"/>
          <p:cNvSpPr/>
          <p:nvPr/>
        </p:nvSpPr>
        <p:spPr>
          <a:xfrm>
            <a:off x="238125" y="3921544"/>
            <a:ext cx="5715000" cy="363195"/>
          </a:xfrm>
          <a:prstGeom prst="rect">
            <a:avLst/>
          </a:prstGeom>
          <a:solidFill>
            <a:srgbClr val="0A2E4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3" name="Rectangle 32"/>
          <p:cNvSpPr/>
          <p:nvPr/>
        </p:nvSpPr>
        <p:spPr>
          <a:xfrm>
            <a:off x="238125" y="4399039"/>
            <a:ext cx="4400550" cy="363195"/>
          </a:xfrm>
          <a:prstGeom prst="rect">
            <a:avLst/>
          </a:prstGeom>
          <a:solidFill>
            <a:srgbClr val="1668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4" name="Rectangle 33"/>
          <p:cNvSpPr/>
          <p:nvPr/>
        </p:nvSpPr>
        <p:spPr>
          <a:xfrm>
            <a:off x="238125" y="4876535"/>
            <a:ext cx="3086100" cy="363195"/>
          </a:xfrm>
          <a:prstGeom prst="rect">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5" name="Rounded Rectangle 34"/>
          <p:cNvSpPr/>
          <p:nvPr/>
        </p:nvSpPr>
        <p:spPr>
          <a:xfrm>
            <a:off x="6162675" y="3635794"/>
            <a:ext cx="5886450" cy="1661086"/>
          </a:xfrm>
          <a:prstGeom prst="roundRect">
            <a:avLst>
              <a:gd name="adj" fmla="val 4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57925" y="3692944"/>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Go-to-Market Benchmarks (Target vs Actual)</a:t>
            </a:r>
          </a:p>
        </p:txBody>
      </p:sp>
      <p:sp>
        <p:nvSpPr>
          <p:cNvPr id="37" name="Rectangle 36"/>
          <p:cNvSpPr/>
          <p:nvPr/>
        </p:nvSpPr>
        <p:spPr>
          <a:xfrm>
            <a:off x="10391775" y="3940594"/>
            <a:ext cx="95250" cy="952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0607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Target</a:t>
            </a:r>
          </a:p>
        </p:txBody>
      </p:sp>
      <p:sp>
        <p:nvSpPr>
          <p:cNvPr id="39" name="Rectangle 38"/>
          <p:cNvSpPr/>
          <p:nvPr/>
        </p:nvSpPr>
        <p:spPr>
          <a:xfrm>
            <a:off x="11134725" y="3940594"/>
            <a:ext cx="95250" cy="95250"/>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24902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Actual</a:t>
            </a:r>
          </a:p>
        </p:txBody>
      </p:sp>
      <p:sp>
        <p:nvSpPr>
          <p:cNvPr id="41" name="TextBox 40"/>
          <p:cNvSpPr txBox="1"/>
          <p:nvPr/>
        </p:nvSpPr>
        <p:spPr>
          <a:xfrm>
            <a:off x="6276975" y="4153941"/>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Conversion (%)</a:t>
            </a:r>
          </a:p>
        </p:txBody>
      </p:sp>
      <p:sp>
        <p:nvSpPr>
          <p:cNvPr id="42" name="Rectangle 41"/>
          <p:cNvSpPr/>
          <p:nvPr/>
        </p:nvSpPr>
        <p:spPr>
          <a:xfrm>
            <a:off x="7381875" y="4164998"/>
            <a:ext cx="1597914"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381875" y="4277766"/>
            <a:ext cx="301828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6975" y="4466337"/>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Sales Cycle (Days)</a:t>
            </a:r>
          </a:p>
        </p:txBody>
      </p:sp>
      <p:sp>
        <p:nvSpPr>
          <p:cNvPr id="45" name="Rectangle 44"/>
          <p:cNvSpPr/>
          <p:nvPr/>
        </p:nvSpPr>
        <p:spPr>
          <a:xfrm>
            <a:off x="7381875" y="4477393"/>
            <a:ext cx="3817239"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381875" y="4590162"/>
            <a:ext cx="2219325"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76975" y="4778732"/>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Pipeline Coverage</a:t>
            </a:r>
          </a:p>
        </p:txBody>
      </p:sp>
      <p:sp>
        <p:nvSpPr>
          <p:cNvPr id="48" name="Rectangle 47"/>
          <p:cNvSpPr/>
          <p:nvPr/>
        </p:nvSpPr>
        <p:spPr>
          <a:xfrm>
            <a:off x="7381875" y="4789789"/>
            <a:ext cx="2130552"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381875" y="4902557"/>
            <a:ext cx="390601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142875" y="5369895"/>
            <a:ext cx="11906250" cy="1259505"/>
          </a:xfrm>
          <a:prstGeom prst="roundRect">
            <a:avLst>
              <a:gd name="adj" fmla="val 60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6225" y="5455620"/>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2" name="Rectangle 51"/>
          <p:cNvSpPr/>
          <p:nvPr/>
        </p:nvSpPr>
        <p:spPr>
          <a:xfrm>
            <a:off x="276225" y="569374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6225" y="5779470"/>
            <a:ext cx="11639550" cy="77373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54" name="TextBox 5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5" name="Picture 54" descr="lock.png"/>
          <p:cNvPicPr>
            <a:picLocks noChangeAspect="1"/>
          </p:cNvPicPr>
          <p:nvPr/>
        </p:nvPicPr>
        <p:blipFill>
          <a:blip r:embed="rId5"/>
          <a:stretch>
            <a:fillRect/>
          </a:stretch>
        </p:blipFill>
        <p:spPr>
          <a:xfrm>
            <a:off x="3327425" y="2314517"/>
            <a:ext cx="199521" cy="290213"/>
          </a:xfrm>
          <a:prstGeom prst="rect">
            <a:avLst/>
          </a:prstGeom>
        </p:spPr>
      </p:pic>
      <p:sp>
        <p:nvSpPr>
          <p:cNvPr id="56" name="TextBox 55"/>
          <p:cNvSpPr txBox="1"/>
          <p:nvPr/>
        </p:nvSpPr>
        <p:spPr>
          <a:xfrm>
            <a:off x="352425" y="4015511"/>
            <a:ext cx="871202" cy="194310"/>
          </a:xfrm>
          <a:prstGeom prst="rect">
            <a:avLst/>
          </a:prstGeom>
          <a:noFill/>
        </p:spPr>
        <p:txBody>
          <a:bodyPr wrap="none" lIns="0" rIns="0" tIns="0" bIns="0">
            <a:spAutoFit/>
          </a:bodyPr>
          <a:lstStyle/>
          <a:p>
            <a:r>
              <a:rPr sz="1150" b="1">
                <a:solidFill>
                  <a:srgbClr val="FFFFFF"/>
                </a:solidFill>
                <a:latin typeface="Calibri"/>
              </a:rPr>
              <a:t>TAM · 100% ·</a:t>
            </a:r>
          </a:p>
        </p:txBody>
      </p:sp>
      <p:pic>
        <p:nvPicPr>
          <p:cNvPr id="57" name="Picture 56" descr="lock.png"/>
          <p:cNvPicPr>
            <a:picLocks noChangeAspect="1"/>
          </p:cNvPicPr>
          <p:nvPr/>
        </p:nvPicPr>
        <p:blipFill>
          <a:blip r:embed="rId5"/>
          <a:stretch>
            <a:fillRect/>
          </a:stretch>
        </p:blipFill>
        <p:spPr>
          <a:xfrm>
            <a:off x="1172781" y="4005288"/>
            <a:ext cx="134549" cy="195707"/>
          </a:xfrm>
          <a:prstGeom prst="rect">
            <a:avLst/>
          </a:prstGeom>
        </p:spPr>
      </p:pic>
      <p:sp>
        <p:nvSpPr>
          <p:cNvPr id="58" name="TextBox 57"/>
          <p:cNvSpPr txBox="1"/>
          <p:nvPr/>
        </p:nvSpPr>
        <p:spPr>
          <a:xfrm>
            <a:off x="1347890" y="4015511"/>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59" name="TextBox 58"/>
          <p:cNvSpPr txBox="1"/>
          <p:nvPr/>
        </p:nvSpPr>
        <p:spPr>
          <a:xfrm>
            <a:off x="352425" y="4493006"/>
            <a:ext cx="433623" cy="194310"/>
          </a:xfrm>
          <a:prstGeom prst="rect">
            <a:avLst/>
          </a:prstGeom>
          <a:noFill/>
        </p:spPr>
        <p:txBody>
          <a:bodyPr wrap="none" lIns="0" rIns="0" tIns="0" bIns="0">
            <a:spAutoFit/>
          </a:bodyPr>
          <a:lstStyle/>
          <a:p>
            <a:r>
              <a:rPr sz="1150" b="1">
                <a:solidFill>
                  <a:srgbClr val="FFFFFF"/>
                </a:solidFill>
                <a:latin typeface="Calibri"/>
              </a:rPr>
              <a:t>SAM ·</a:t>
            </a:r>
          </a:p>
        </p:txBody>
      </p:sp>
      <p:pic>
        <p:nvPicPr>
          <p:cNvPr id="60" name="Picture 59" descr="lock.png"/>
          <p:cNvPicPr>
            <a:picLocks noChangeAspect="1"/>
          </p:cNvPicPr>
          <p:nvPr/>
        </p:nvPicPr>
        <p:blipFill>
          <a:blip r:embed="rId5"/>
          <a:stretch>
            <a:fillRect/>
          </a:stretch>
        </p:blipFill>
        <p:spPr>
          <a:xfrm>
            <a:off x="735202" y="4482783"/>
            <a:ext cx="134549" cy="195707"/>
          </a:xfrm>
          <a:prstGeom prst="rect">
            <a:avLst/>
          </a:prstGeom>
        </p:spPr>
      </p:pic>
      <p:sp>
        <p:nvSpPr>
          <p:cNvPr id="61" name="TextBox 60"/>
          <p:cNvSpPr txBox="1"/>
          <p:nvPr/>
        </p:nvSpPr>
        <p:spPr>
          <a:xfrm>
            <a:off x="910311" y="4493006"/>
            <a:ext cx="594791" cy="194310"/>
          </a:xfrm>
          <a:prstGeom prst="rect">
            <a:avLst/>
          </a:prstGeom>
          <a:noFill/>
        </p:spPr>
        <p:txBody>
          <a:bodyPr wrap="none" lIns="0" rIns="0" tIns="0" bIns="0">
            <a:spAutoFit/>
          </a:bodyPr>
          <a:lstStyle/>
          <a:p>
            <a:r>
              <a:rPr sz="1150" b="1">
                <a:solidFill>
                  <a:srgbClr val="FFFFFF"/>
                </a:solidFill>
                <a:latin typeface="Calibri"/>
              </a:rPr>
              <a:t>of TAM ·</a:t>
            </a:r>
          </a:p>
        </p:txBody>
      </p:sp>
      <p:pic>
        <p:nvPicPr>
          <p:cNvPr id="62" name="Picture 61" descr="lock.png"/>
          <p:cNvPicPr>
            <a:picLocks noChangeAspect="1"/>
          </p:cNvPicPr>
          <p:nvPr/>
        </p:nvPicPr>
        <p:blipFill>
          <a:blip r:embed="rId5"/>
          <a:stretch>
            <a:fillRect/>
          </a:stretch>
        </p:blipFill>
        <p:spPr>
          <a:xfrm>
            <a:off x="1454256" y="4482783"/>
            <a:ext cx="134549" cy="195707"/>
          </a:xfrm>
          <a:prstGeom prst="rect">
            <a:avLst/>
          </a:prstGeom>
        </p:spPr>
      </p:pic>
      <p:sp>
        <p:nvSpPr>
          <p:cNvPr id="63" name="TextBox 62"/>
          <p:cNvSpPr txBox="1"/>
          <p:nvPr/>
        </p:nvSpPr>
        <p:spPr>
          <a:xfrm>
            <a:off x="1629366" y="4493006"/>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4" name="TextBox 63"/>
          <p:cNvSpPr txBox="1"/>
          <p:nvPr/>
        </p:nvSpPr>
        <p:spPr>
          <a:xfrm>
            <a:off x="352425" y="4970502"/>
            <a:ext cx="443892" cy="194310"/>
          </a:xfrm>
          <a:prstGeom prst="rect">
            <a:avLst/>
          </a:prstGeom>
          <a:noFill/>
        </p:spPr>
        <p:txBody>
          <a:bodyPr wrap="none" lIns="0" rIns="0" tIns="0" bIns="0">
            <a:spAutoFit/>
          </a:bodyPr>
          <a:lstStyle/>
          <a:p>
            <a:r>
              <a:rPr sz="1150" b="1">
                <a:solidFill>
                  <a:srgbClr val="FFFFFF"/>
                </a:solidFill>
                <a:latin typeface="Calibri"/>
              </a:rPr>
              <a:t>SOM ·</a:t>
            </a:r>
          </a:p>
        </p:txBody>
      </p:sp>
      <p:pic>
        <p:nvPicPr>
          <p:cNvPr id="65" name="Picture 64" descr="lock.png"/>
          <p:cNvPicPr>
            <a:picLocks noChangeAspect="1"/>
          </p:cNvPicPr>
          <p:nvPr/>
        </p:nvPicPr>
        <p:blipFill>
          <a:blip r:embed="rId5"/>
          <a:stretch>
            <a:fillRect/>
          </a:stretch>
        </p:blipFill>
        <p:spPr>
          <a:xfrm>
            <a:off x="745471" y="4960279"/>
            <a:ext cx="134549" cy="195707"/>
          </a:xfrm>
          <a:prstGeom prst="rect">
            <a:avLst/>
          </a:prstGeom>
        </p:spPr>
      </p:pic>
      <p:sp>
        <p:nvSpPr>
          <p:cNvPr id="66" name="TextBox 65"/>
          <p:cNvSpPr txBox="1"/>
          <p:nvPr/>
        </p:nvSpPr>
        <p:spPr>
          <a:xfrm>
            <a:off x="920580" y="4970502"/>
            <a:ext cx="591368" cy="194310"/>
          </a:xfrm>
          <a:prstGeom prst="rect">
            <a:avLst/>
          </a:prstGeom>
          <a:noFill/>
        </p:spPr>
        <p:txBody>
          <a:bodyPr wrap="none" lIns="0" rIns="0" tIns="0" bIns="0">
            <a:spAutoFit/>
          </a:bodyPr>
          <a:lstStyle/>
          <a:p>
            <a:r>
              <a:rPr sz="1150" b="1">
                <a:solidFill>
                  <a:srgbClr val="FFFFFF"/>
                </a:solidFill>
                <a:latin typeface="Calibri"/>
              </a:rPr>
              <a:t>of SAM ·</a:t>
            </a:r>
          </a:p>
        </p:txBody>
      </p:sp>
      <p:pic>
        <p:nvPicPr>
          <p:cNvPr id="67" name="Picture 66" descr="lock.png"/>
          <p:cNvPicPr>
            <a:picLocks noChangeAspect="1"/>
          </p:cNvPicPr>
          <p:nvPr/>
        </p:nvPicPr>
        <p:blipFill>
          <a:blip r:embed="rId5"/>
          <a:stretch>
            <a:fillRect/>
          </a:stretch>
        </p:blipFill>
        <p:spPr>
          <a:xfrm>
            <a:off x="1461102" y="4960279"/>
            <a:ext cx="134549" cy="195707"/>
          </a:xfrm>
          <a:prstGeom prst="rect">
            <a:avLst/>
          </a:prstGeom>
        </p:spPr>
      </p:pic>
      <p:sp>
        <p:nvSpPr>
          <p:cNvPr id="68" name="TextBox 67"/>
          <p:cNvSpPr txBox="1"/>
          <p:nvPr/>
        </p:nvSpPr>
        <p:spPr>
          <a:xfrm>
            <a:off x="1636212" y="4970502"/>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9" name="TextBox 68"/>
          <p:cNvSpPr txBox="1"/>
          <p:nvPr/>
        </p:nvSpPr>
        <p:spPr>
          <a:xfrm>
            <a:off x="276225" y="5788995"/>
            <a:ext cx="7663656" cy="186689"/>
          </a:xfrm>
          <a:prstGeom prst="rect">
            <a:avLst/>
          </a:prstGeom>
          <a:noFill/>
        </p:spPr>
        <p:txBody>
          <a:bodyPr wrap="none" lIns="0" rIns="0" tIns="0" bIns="0">
            <a:spAutoFit/>
          </a:bodyPr>
          <a:lstStyle/>
          <a:p>
            <a:r>
              <a:rPr sz="1100" b="0">
                <a:solidFill>
                  <a:srgbClr val="2E2E2E"/>
                </a:solidFill>
                <a:latin typeface="Calibri"/>
              </a:rPr>
              <a:t>▪ Regional Opportunity: 'Rest of the World' shows the highest SAM penetration; lower-penetration regions are the growth headroom.</a:t>
            </a:r>
          </a:p>
        </p:txBody>
      </p:sp>
      <p:sp>
        <p:nvSpPr>
          <p:cNvPr id="70" name="TextBox 69"/>
          <p:cNvSpPr txBox="1"/>
          <p:nvPr/>
        </p:nvSpPr>
        <p:spPr>
          <a:xfrm>
            <a:off x="276225" y="6006927"/>
            <a:ext cx="1297999" cy="186689"/>
          </a:xfrm>
          <a:prstGeom prst="rect">
            <a:avLst/>
          </a:prstGeom>
          <a:noFill/>
        </p:spPr>
        <p:txBody>
          <a:bodyPr wrap="none" lIns="0" rIns="0" tIns="0" bIns="0">
            <a:spAutoFit/>
          </a:bodyPr>
          <a:lstStyle/>
          <a:p>
            <a:r>
              <a:rPr sz="1100" b="0">
                <a:solidFill>
                  <a:srgbClr val="2E2E2E"/>
                </a:solidFill>
                <a:latin typeface="Calibri"/>
              </a:rPr>
              <a:t>▪ Competitive Edge: ~</a:t>
            </a:r>
          </a:p>
        </p:txBody>
      </p:sp>
      <p:pic>
        <p:nvPicPr>
          <p:cNvPr id="71" name="Picture 70" descr="lock.png"/>
          <p:cNvPicPr>
            <a:picLocks noChangeAspect="1"/>
          </p:cNvPicPr>
          <p:nvPr/>
        </p:nvPicPr>
        <p:blipFill>
          <a:blip r:embed="rId5"/>
          <a:stretch>
            <a:fillRect/>
          </a:stretch>
        </p:blipFill>
        <p:spPr>
          <a:xfrm>
            <a:off x="1522276" y="5997147"/>
            <a:ext cx="128699" cy="187198"/>
          </a:xfrm>
          <a:prstGeom prst="rect">
            <a:avLst/>
          </a:prstGeom>
        </p:spPr>
      </p:pic>
      <p:sp>
        <p:nvSpPr>
          <p:cNvPr id="72" name="TextBox 71"/>
          <p:cNvSpPr txBox="1"/>
          <p:nvPr/>
        </p:nvSpPr>
        <p:spPr>
          <a:xfrm>
            <a:off x="1689771" y="6006927"/>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73" name="Picture 72" descr="lock.png"/>
          <p:cNvPicPr>
            <a:picLocks noChangeAspect="1"/>
          </p:cNvPicPr>
          <p:nvPr/>
        </p:nvPicPr>
        <p:blipFill>
          <a:blip r:embed="rId5"/>
          <a:stretch>
            <a:fillRect/>
          </a:stretch>
        </p:blipFill>
        <p:spPr>
          <a:xfrm>
            <a:off x="2667093" y="5997147"/>
            <a:ext cx="128699" cy="187198"/>
          </a:xfrm>
          <a:prstGeom prst="rect">
            <a:avLst/>
          </a:prstGeom>
        </p:spPr>
      </p:pic>
      <p:sp>
        <p:nvSpPr>
          <p:cNvPr id="74" name="TextBox 73"/>
          <p:cNvSpPr txBox="1"/>
          <p:nvPr/>
        </p:nvSpPr>
        <p:spPr>
          <a:xfrm>
            <a:off x="2834589" y="6006927"/>
            <a:ext cx="2311400" cy="186689"/>
          </a:xfrm>
          <a:prstGeom prst="rect">
            <a:avLst/>
          </a:prstGeom>
          <a:noFill/>
        </p:spPr>
        <p:txBody>
          <a:bodyPr wrap="none" lIns="0" rIns="0" tIns="0" bIns="0">
            <a:spAutoFit/>
          </a:bodyPr>
          <a:lstStyle/>
          <a:p>
            <a:r>
              <a:rPr sz="1100" b="0">
                <a:solidFill>
                  <a:srgbClr val="2E2E2E"/>
                </a:solidFill>
                <a:latin typeface="Calibri"/>
              </a:rPr>
              <a:t>ASP premium signals value recognition;</a:t>
            </a:r>
          </a:p>
        </p:txBody>
      </p:sp>
      <p:pic>
        <p:nvPicPr>
          <p:cNvPr id="75" name="Picture 74" descr="lock.png"/>
          <p:cNvPicPr>
            <a:picLocks noChangeAspect="1"/>
          </p:cNvPicPr>
          <p:nvPr/>
        </p:nvPicPr>
        <p:blipFill>
          <a:blip r:embed="rId5"/>
          <a:stretch>
            <a:fillRect/>
          </a:stretch>
        </p:blipFill>
        <p:spPr>
          <a:xfrm>
            <a:off x="5094041" y="5997147"/>
            <a:ext cx="128699" cy="187198"/>
          </a:xfrm>
          <a:prstGeom prst="rect">
            <a:avLst/>
          </a:prstGeom>
        </p:spPr>
      </p:pic>
      <p:sp>
        <p:nvSpPr>
          <p:cNvPr id="76" name="TextBox 75"/>
          <p:cNvSpPr txBox="1"/>
          <p:nvPr/>
        </p:nvSpPr>
        <p:spPr>
          <a:xfrm>
            <a:off x="5261537" y="6006927"/>
            <a:ext cx="2251645" cy="186689"/>
          </a:xfrm>
          <a:prstGeom prst="rect">
            <a:avLst/>
          </a:prstGeom>
          <a:noFill/>
        </p:spPr>
        <p:txBody>
          <a:bodyPr wrap="none" lIns="0" rIns="0" tIns="0" bIns="0">
            <a:spAutoFit/>
          </a:bodyPr>
          <a:lstStyle/>
          <a:p>
            <a:r>
              <a:rPr sz="1100" b="0">
                <a:solidFill>
                  <a:srgbClr val="2E2E2E"/>
                </a:solidFill>
                <a:latin typeface="Calibri"/>
              </a:rPr>
              <a:t>x pipeline coverage underpins growth.</a:t>
            </a:r>
          </a:p>
        </p:txBody>
      </p:sp>
      <p:sp>
        <p:nvSpPr>
          <p:cNvPr id="77" name="TextBox 76"/>
          <p:cNvSpPr txBox="1"/>
          <p:nvPr/>
        </p:nvSpPr>
        <p:spPr>
          <a:xfrm>
            <a:off x="276225" y="6224859"/>
            <a:ext cx="2615015" cy="186689"/>
          </a:xfrm>
          <a:prstGeom prst="rect">
            <a:avLst/>
          </a:prstGeom>
          <a:noFill/>
        </p:spPr>
        <p:txBody>
          <a:bodyPr wrap="none" lIns="0" rIns="0" tIns="0" bIns="0">
            <a:spAutoFit/>
          </a:bodyPr>
          <a:lstStyle/>
          <a:p>
            <a:r>
              <a:rPr sz="1100" b="0">
                <a:solidFill>
                  <a:srgbClr val="2E2E2E"/>
                </a:solidFill>
                <a:latin typeface="Calibri"/>
              </a:rPr>
              <a:t>▪ Sales Efficiency: a ~95-day sales cycle and ~</a:t>
            </a:r>
          </a:p>
        </p:txBody>
      </p:sp>
      <p:pic>
        <p:nvPicPr>
          <p:cNvPr id="78" name="Picture 77" descr="lock.png"/>
          <p:cNvPicPr>
            <a:picLocks noChangeAspect="1"/>
          </p:cNvPicPr>
          <p:nvPr/>
        </p:nvPicPr>
        <p:blipFill>
          <a:blip r:embed="rId5"/>
          <a:stretch>
            <a:fillRect/>
          </a:stretch>
        </p:blipFill>
        <p:spPr>
          <a:xfrm>
            <a:off x="2839292" y="6215079"/>
            <a:ext cx="128699" cy="187198"/>
          </a:xfrm>
          <a:prstGeom prst="rect">
            <a:avLst/>
          </a:prstGeom>
        </p:spPr>
      </p:pic>
      <p:sp>
        <p:nvSpPr>
          <p:cNvPr id="79" name="TextBox 78"/>
          <p:cNvSpPr txBox="1"/>
          <p:nvPr/>
        </p:nvSpPr>
        <p:spPr>
          <a:xfrm>
            <a:off x="3006787" y="6224859"/>
            <a:ext cx="2384524" cy="186689"/>
          </a:xfrm>
          <a:prstGeom prst="rect">
            <a:avLst/>
          </a:prstGeom>
          <a:noFill/>
        </p:spPr>
        <p:txBody>
          <a:bodyPr wrap="none" lIns="0" rIns="0" tIns="0" bIns="0">
            <a:spAutoFit/>
          </a:bodyPr>
          <a:lstStyle/>
          <a:p>
            <a:r>
              <a:rPr sz="1100" b="0">
                <a:solidFill>
                  <a:srgbClr val="2E2E2E"/>
                </a:solidFill>
                <a:latin typeface="Calibri"/>
              </a:rPr>
              <a:t>conversion support faster share capture.</a:t>
            </a:r>
          </a:p>
        </p:txBody>
      </p:sp>
      <p:sp>
        <p:nvSpPr>
          <p:cNvPr id="80" name="lockshield_13"/>
          <p:cNvSpPr/>
          <p:nvPr/>
        </p:nvSpPr>
        <p:spPr>
          <a:xfrm>
            <a:off x="238125" y="1585070"/>
            <a:ext cx="5715000" cy="192055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Standard Process SWOT Analysis (3/5)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SWOT assessment of Standard Process: strengths, weaknesses, opportunities and threats shaping its competitive position</a:t>
            </a:r>
          </a:p>
        </p:txBody>
      </p:sp>
      <p:sp>
        <p:nvSpPr>
          <p:cNvPr id="10" name="TextBox 9"/>
          <p:cNvSpPr txBox="1"/>
          <p:nvPr/>
        </p:nvSpPr>
        <p:spPr>
          <a:xfrm>
            <a:off x="142875" y="1007261"/>
            <a:ext cx="11906250" cy="164283"/>
          </a:xfrm>
          <a:prstGeom prst="rect">
            <a:avLst/>
          </a:prstGeom>
          <a:noFill/>
        </p:spPr>
        <p:txBody>
          <a:bodyPr wrap="square" lIns="28575" rIns="28575" tIns="9525" bIns="9525" anchor="ctr">
            <a:spAutoFit/>
          </a:bodyPr>
          <a:lstStyle/>
          <a:p>
            <a:pPr algn="l"/>
            <a:r>
              <a:rPr sz="1150" b="0">
                <a:solidFill>
                  <a:srgbClr val="2E2E2E"/>
                </a:solidFill>
                <a:latin typeface="Calibri"/>
              </a:rPr>
              <a:t>SWOT assessment Standard Process: strengths, weaknesses, opportunities and threats (indicative).</a:t>
            </a:r>
          </a:p>
        </p:txBody>
      </p:sp>
      <p:cxnSp>
        <p:nvCxnSpPr>
          <p:cNvPr id="11" name="Connector 10"/>
          <p:cNvCxnSpPr/>
          <p:nvPr/>
        </p:nvCxnSpPr>
        <p:spPr>
          <a:xfrm>
            <a:off x="3810000" y="3891345"/>
            <a:ext cx="4572000" cy="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6000" y="1919946"/>
            <a:ext cx="0" cy="3942799"/>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757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29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43612" y="1869748"/>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043612" y="58125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724400" y="2577079"/>
            <a:ext cx="1257300" cy="1204744"/>
          </a:xfrm>
          <a:prstGeom prst="roundRect">
            <a:avLst>
              <a:gd name="adj" fmla="val 12121"/>
            </a:avLst>
          </a:prstGeom>
          <a:noFill/>
          <a:ln w="19050">
            <a:solidFill>
              <a:srgbClr val="69B1E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0300" y="2577079"/>
            <a:ext cx="1257300" cy="1204744"/>
          </a:xfrm>
          <a:prstGeom prst="roundRect">
            <a:avLst>
              <a:gd name="adj" fmla="val 12121"/>
            </a:avLst>
          </a:prstGeom>
          <a:noFill/>
          <a:ln w="19050">
            <a:solidFill>
              <a:srgbClr val="0B2E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724400" y="4000868"/>
            <a:ext cx="1257300" cy="1204744"/>
          </a:xfrm>
          <a:prstGeom prst="roundRect">
            <a:avLst>
              <a:gd name="adj" fmla="val 12121"/>
            </a:avLst>
          </a:prstGeom>
          <a:noFill/>
          <a:ln w="19050">
            <a:solidFill>
              <a:srgbClr val="A3531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10300" y="4000868"/>
            <a:ext cx="1257300" cy="1204744"/>
          </a:xfrm>
          <a:prstGeom prst="roundRect">
            <a:avLst>
              <a:gd name="adj" fmla="val 12121"/>
            </a:avLst>
          </a:prstGeom>
          <a:noFill/>
          <a:ln w="19050">
            <a:solidFill>
              <a:srgbClr val="A86F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5524500" y="2978660"/>
            <a:ext cx="1143000" cy="803163"/>
          </a:xfrm>
          <a:custGeom>
            <a:avLst/>
            <a:gdLst/>
            <a:ahLst/>
            <a:cxnLst/>
            <a:rect l="l" t="t" r="r" b="b"/>
            <a:pathLst>
              <a:path w="120" h="88">
                <a:moveTo>
                  <a:pt x="0" y="0"/>
                </a:moveTo>
                <a:lnTo>
                  <a:pt x="120" y="0"/>
                </a:lnTo>
                <a:lnTo>
                  <a:pt x="60" y="88"/>
                </a:lnTo>
                <a:close/>
              </a:path>
            </a:pathLst>
          </a:cu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5524500" y="4000868"/>
            <a:ext cx="1143000" cy="803163"/>
          </a:xfrm>
          <a:custGeom>
            <a:avLst/>
            <a:gdLst/>
            <a:ahLst/>
            <a:cxnLst/>
            <a:rect l="l" t="t" r="r" b="b"/>
            <a:pathLst>
              <a:path w="120" h="88">
                <a:moveTo>
                  <a:pt x="0" y="88"/>
                </a:moveTo>
                <a:lnTo>
                  <a:pt x="120" y="88"/>
                </a:lnTo>
                <a:lnTo>
                  <a:pt x="60" y="0"/>
                </a:lnTo>
                <a:close/>
              </a:path>
            </a:pathLst>
          </a:cu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5143500" y="3343734"/>
            <a:ext cx="838200" cy="1095222"/>
          </a:xfrm>
          <a:custGeom>
            <a:avLst/>
            <a:gdLst/>
            <a:ahLst/>
            <a:cxnLst/>
            <a:rect l="l" t="t" r="r" b="b"/>
            <a:pathLst>
              <a:path w="88" h="120">
                <a:moveTo>
                  <a:pt x="0" y="0"/>
                </a:moveTo>
                <a:lnTo>
                  <a:pt x="0" y="120"/>
                </a:lnTo>
                <a:lnTo>
                  <a:pt x="88" y="60"/>
                </a:lnTo>
                <a:close/>
              </a:path>
            </a:pathLst>
          </a:cu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6210300" y="3343734"/>
            <a:ext cx="838200" cy="1095222"/>
          </a:xfrm>
          <a:custGeom>
            <a:avLst/>
            <a:gdLst/>
            <a:ahLst/>
            <a:cxnLst/>
            <a:rect l="l" t="t" r="r" b="b"/>
            <a:pathLst>
              <a:path w="88" h="120">
                <a:moveTo>
                  <a:pt x="88" y="0"/>
                </a:moveTo>
                <a:lnTo>
                  <a:pt x="88" y="120"/>
                </a:lnTo>
                <a:lnTo>
                  <a:pt x="0" y="60"/>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86450" y="3243339"/>
            <a:ext cx="419100" cy="273805"/>
          </a:xfrm>
          <a:prstGeom prst="rect">
            <a:avLst/>
          </a:prstGeom>
          <a:noFill/>
        </p:spPr>
        <p:txBody>
          <a:bodyPr wrap="none" lIns="0" rIns="0" tIns="0" bIns="0" anchor="ctr">
            <a:spAutoFit/>
          </a:bodyPr>
          <a:lstStyle/>
          <a:p>
            <a:pPr algn="ctr"/>
            <a:r>
              <a:rPr sz="2100" b="1">
                <a:solidFill>
                  <a:srgbClr val="1F2933"/>
                </a:solidFill>
                <a:latin typeface="Calibri"/>
              </a:rPr>
              <a:t>S</a:t>
            </a:r>
          </a:p>
        </p:txBody>
      </p:sp>
      <p:sp>
        <p:nvSpPr>
          <p:cNvPr id="26" name="TextBox 25"/>
          <p:cNvSpPr txBox="1"/>
          <p:nvPr/>
        </p:nvSpPr>
        <p:spPr>
          <a:xfrm>
            <a:off x="5886450" y="4265546"/>
            <a:ext cx="419100" cy="273805"/>
          </a:xfrm>
          <a:prstGeom prst="rect">
            <a:avLst/>
          </a:prstGeom>
          <a:noFill/>
        </p:spPr>
        <p:txBody>
          <a:bodyPr wrap="none" lIns="0" rIns="0" tIns="0" bIns="0" anchor="ctr">
            <a:spAutoFit/>
          </a:bodyPr>
          <a:lstStyle/>
          <a:p>
            <a:pPr algn="ctr"/>
            <a:r>
              <a:rPr sz="2100" b="1">
                <a:solidFill>
                  <a:srgbClr val="FFFFFF"/>
                </a:solidFill>
                <a:latin typeface="Calibri"/>
              </a:rPr>
              <a:t>O</a:t>
            </a:r>
          </a:p>
        </p:txBody>
      </p:sp>
      <p:sp>
        <p:nvSpPr>
          <p:cNvPr id="27" name="TextBox 26"/>
          <p:cNvSpPr txBox="1"/>
          <p:nvPr/>
        </p:nvSpPr>
        <p:spPr>
          <a:xfrm>
            <a:off x="53530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T</a:t>
            </a:r>
          </a:p>
        </p:txBody>
      </p:sp>
      <p:sp>
        <p:nvSpPr>
          <p:cNvPr id="28" name="TextBox 27"/>
          <p:cNvSpPr txBox="1"/>
          <p:nvPr/>
        </p:nvSpPr>
        <p:spPr>
          <a:xfrm>
            <a:off x="64198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W</a:t>
            </a:r>
          </a:p>
        </p:txBody>
      </p:sp>
      <p:sp>
        <p:nvSpPr>
          <p:cNvPr id="29" name="TextBox 28"/>
          <p:cNvSpPr txBox="1"/>
          <p:nvPr/>
        </p:nvSpPr>
        <p:spPr>
          <a:xfrm>
            <a:off x="190500" y="1299320"/>
            <a:ext cx="3667125" cy="182537"/>
          </a:xfrm>
          <a:prstGeom prst="rect">
            <a:avLst/>
          </a:prstGeom>
          <a:noFill/>
        </p:spPr>
        <p:txBody>
          <a:bodyPr wrap="square" lIns="28575" rIns="28575" tIns="9525" bIns="9525" anchor="ctr">
            <a:spAutoFit/>
          </a:bodyPr>
          <a:lstStyle/>
          <a:p>
            <a:pPr algn="l"/>
            <a:r>
              <a:rPr sz="1350" b="1">
                <a:solidFill>
                  <a:srgbClr val="0B2E4A"/>
                </a:solidFill>
                <a:latin typeface="Calibri"/>
              </a:rPr>
              <a:t>Strengths</a:t>
            </a:r>
          </a:p>
        </p:txBody>
      </p:sp>
      <p:sp>
        <p:nvSpPr>
          <p:cNvPr id="30" name="Rectangle 29"/>
          <p:cNvSpPr/>
          <p:nvPr/>
        </p:nvSpPr>
        <p:spPr>
          <a:xfrm>
            <a:off x="190500" y="1500111"/>
            <a:ext cx="1428750" cy="1825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04788" y="1605070"/>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3375"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3" name="Oval 32"/>
          <p:cNvSpPr/>
          <p:nvPr/>
        </p:nvSpPr>
        <p:spPr>
          <a:xfrm>
            <a:off x="204788" y="2116174"/>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3375"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Balanced SOM across regions and end-markets; strongest in 'North America'.</a:t>
            </a:r>
          </a:p>
        </p:txBody>
      </p:sp>
      <p:sp>
        <p:nvSpPr>
          <p:cNvPr id="35" name="Oval 34"/>
          <p:cNvSpPr/>
          <p:nvPr/>
        </p:nvSpPr>
        <p:spPr>
          <a:xfrm>
            <a:off x="204788" y="2627277"/>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33375"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7" name="TextBox 36"/>
          <p:cNvSpPr txBox="1"/>
          <p:nvPr/>
        </p:nvSpPr>
        <p:spPr>
          <a:xfrm>
            <a:off x="8334375" y="1299320"/>
            <a:ext cx="3667125" cy="182537"/>
          </a:xfrm>
          <a:prstGeom prst="rect">
            <a:avLst/>
          </a:prstGeom>
          <a:noFill/>
        </p:spPr>
        <p:txBody>
          <a:bodyPr wrap="square" lIns="28575" rIns="28575" tIns="9525" bIns="9525" anchor="ctr">
            <a:spAutoFit/>
          </a:bodyPr>
          <a:lstStyle/>
          <a:p>
            <a:pPr algn="l"/>
            <a:r>
              <a:rPr sz="1350" b="1">
                <a:solidFill>
                  <a:srgbClr val="082238"/>
                </a:solidFill>
                <a:latin typeface="Calibri"/>
              </a:rPr>
              <a:t>Weaknesses</a:t>
            </a:r>
          </a:p>
        </p:txBody>
      </p:sp>
      <p:sp>
        <p:nvSpPr>
          <p:cNvPr id="38" name="Rectangle 37"/>
          <p:cNvSpPr/>
          <p:nvPr/>
        </p:nvSpPr>
        <p:spPr>
          <a:xfrm>
            <a:off x="8334375" y="1500111"/>
            <a:ext cx="1428750" cy="18254"/>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348662" y="1605070"/>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77250"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1" name="Oval 40"/>
          <p:cNvSpPr/>
          <p:nvPr/>
        </p:nvSpPr>
        <p:spPr>
          <a:xfrm>
            <a:off x="8348662" y="2116174"/>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77250"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Uneven SAM penetration strong in 'Rest of the World', thin elsewhere.</a:t>
            </a:r>
          </a:p>
        </p:txBody>
      </p:sp>
      <p:sp>
        <p:nvSpPr>
          <p:cNvPr id="43" name="Oval 42"/>
          <p:cNvSpPr/>
          <p:nvPr/>
        </p:nvSpPr>
        <p:spPr>
          <a:xfrm>
            <a:off x="8348662" y="2627277"/>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77250"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Reliance on a few large accounts/regions raises concentration risk.</a:t>
            </a:r>
          </a:p>
        </p:txBody>
      </p:sp>
      <p:sp>
        <p:nvSpPr>
          <p:cNvPr id="45" name="TextBox 44"/>
          <p:cNvSpPr txBox="1"/>
          <p:nvPr/>
        </p:nvSpPr>
        <p:spPr>
          <a:xfrm>
            <a:off x="190500" y="4055629"/>
            <a:ext cx="3667125" cy="182537"/>
          </a:xfrm>
          <a:prstGeom prst="rect">
            <a:avLst/>
          </a:prstGeom>
          <a:noFill/>
        </p:spPr>
        <p:txBody>
          <a:bodyPr wrap="square" lIns="28575" rIns="28575" tIns="9525" bIns="9525" anchor="ctr">
            <a:spAutoFit/>
          </a:bodyPr>
          <a:lstStyle/>
          <a:p>
            <a:pPr algn="l"/>
            <a:r>
              <a:rPr sz="1350" b="1">
                <a:solidFill>
                  <a:srgbClr val="A35313"/>
                </a:solidFill>
                <a:latin typeface="Calibri"/>
              </a:rPr>
              <a:t>Threats</a:t>
            </a:r>
          </a:p>
        </p:txBody>
      </p:sp>
      <p:sp>
        <p:nvSpPr>
          <p:cNvPr id="46" name="Rectangle 45"/>
          <p:cNvSpPr/>
          <p:nvPr/>
        </p:nvSpPr>
        <p:spPr>
          <a:xfrm>
            <a:off x="190500" y="4256419"/>
            <a:ext cx="1428750" cy="1825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04788" y="4361379"/>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33375"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Oval 48"/>
          <p:cNvSpPr/>
          <p:nvPr/>
        </p:nvSpPr>
        <p:spPr>
          <a:xfrm>
            <a:off x="204788" y="4872482"/>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33375"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Input-cost inflation and price pressure can squeeze margin.</a:t>
            </a:r>
          </a:p>
        </p:txBody>
      </p:sp>
      <p:sp>
        <p:nvSpPr>
          <p:cNvPr id="51" name="Oval 50"/>
          <p:cNvSpPr/>
          <p:nvPr/>
        </p:nvSpPr>
        <p:spPr>
          <a:xfrm>
            <a:off x="204788" y="5383586"/>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33375"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Tier-1 incumbents and regulation raise barriers and switching friction.</a:t>
            </a:r>
          </a:p>
        </p:txBody>
      </p:sp>
      <p:sp>
        <p:nvSpPr>
          <p:cNvPr id="53" name="TextBox 52"/>
          <p:cNvSpPr txBox="1"/>
          <p:nvPr/>
        </p:nvSpPr>
        <p:spPr>
          <a:xfrm>
            <a:off x="8334375" y="4055629"/>
            <a:ext cx="3667125" cy="182537"/>
          </a:xfrm>
          <a:prstGeom prst="rect">
            <a:avLst/>
          </a:prstGeom>
          <a:noFill/>
        </p:spPr>
        <p:txBody>
          <a:bodyPr wrap="square" lIns="28575" rIns="28575" tIns="9525" bIns="9525" anchor="ctr">
            <a:spAutoFit/>
          </a:bodyPr>
          <a:lstStyle/>
          <a:p>
            <a:pPr algn="l"/>
            <a:r>
              <a:rPr sz="1350" b="1">
                <a:solidFill>
                  <a:srgbClr val="A86F00"/>
                </a:solidFill>
                <a:latin typeface="Calibri"/>
              </a:rPr>
              <a:t>Opportunities</a:t>
            </a:r>
          </a:p>
        </p:txBody>
      </p:sp>
      <p:sp>
        <p:nvSpPr>
          <p:cNvPr id="54" name="Rectangle 53"/>
          <p:cNvSpPr/>
          <p:nvPr/>
        </p:nvSpPr>
        <p:spPr>
          <a:xfrm>
            <a:off x="8334375" y="4256419"/>
            <a:ext cx="1428750" cy="1825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8348662" y="4361379"/>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77250"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Premiumisation headroom in 'Capsules and Softgels' and adjacent high-value lines.</a:t>
            </a:r>
          </a:p>
        </p:txBody>
      </p:sp>
      <p:sp>
        <p:nvSpPr>
          <p:cNvPr id="57" name="Oval 56"/>
          <p:cNvSpPr/>
          <p:nvPr/>
        </p:nvSpPr>
        <p:spPr>
          <a:xfrm>
            <a:off x="8348662" y="4872482"/>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77250"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Under-penetrated regions offer share-capture runway.</a:t>
            </a:r>
          </a:p>
        </p:txBody>
      </p:sp>
      <p:sp>
        <p:nvSpPr>
          <p:cNvPr id="59" name="Oval 58"/>
          <p:cNvSpPr/>
          <p:nvPr/>
        </p:nvSpPr>
        <p:spPr>
          <a:xfrm>
            <a:off x="8348662" y="5383586"/>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77250"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shift to online and clinics opens new demand pools.</a:t>
            </a:r>
          </a:p>
        </p:txBody>
      </p:sp>
      <p:sp>
        <p:nvSpPr>
          <p:cNvPr id="61" name="TextBox 60"/>
          <p:cNvSpPr txBox="1"/>
          <p:nvPr/>
        </p:nvSpPr>
        <p:spPr>
          <a:xfrm>
            <a:off x="2857500" y="6428609"/>
            <a:ext cx="9191625" cy="182537"/>
          </a:xfrm>
          <a:prstGeom prst="rect">
            <a:avLst/>
          </a:prstGeom>
          <a:noFill/>
        </p:spPr>
        <p:txBody>
          <a:bodyPr wrap="square" lIns="28575" rIns="28575" tIns="9525" bIns="9525" anchor="ctr">
            <a:spAutoFit/>
          </a:bodyPr>
          <a:lstStyle/>
          <a:p>
            <a:pPr algn="l"/>
            <a:r>
              <a:rPr sz="1100" b="0">
                <a:solidFill>
                  <a:srgbClr val="C0392B"/>
                </a:solidFill>
                <a:latin typeface="Calibri"/>
              </a:rPr>
              <a:t>Note: competitor figures are indicative derived from market modelling and expert validation, not company disclosures.</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361950" y="1642784"/>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64" name="Picture 63" descr="lock.png"/>
          <p:cNvPicPr>
            <a:picLocks noChangeAspect="1"/>
          </p:cNvPicPr>
          <p:nvPr/>
        </p:nvPicPr>
        <p:blipFill>
          <a:blip r:embed="rId4"/>
          <a:stretch>
            <a:fillRect/>
          </a:stretch>
        </p:blipFill>
        <p:spPr>
          <a:xfrm>
            <a:off x="455778" y="1633005"/>
            <a:ext cx="128699" cy="187198"/>
          </a:xfrm>
          <a:prstGeom prst="rect">
            <a:avLst/>
          </a:prstGeom>
        </p:spPr>
      </p:pic>
      <p:sp>
        <p:nvSpPr>
          <p:cNvPr id="65" name="TextBox 64"/>
          <p:cNvSpPr txBox="1"/>
          <p:nvPr/>
        </p:nvSpPr>
        <p:spPr>
          <a:xfrm>
            <a:off x="623274" y="1642784"/>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66" name="Picture 65" descr="lock.png"/>
          <p:cNvPicPr>
            <a:picLocks noChangeAspect="1"/>
          </p:cNvPicPr>
          <p:nvPr/>
        </p:nvPicPr>
        <p:blipFill>
          <a:blip r:embed="rId4"/>
          <a:stretch>
            <a:fillRect/>
          </a:stretch>
        </p:blipFill>
        <p:spPr>
          <a:xfrm>
            <a:off x="1600596" y="1633005"/>
            <a:ext cx="128699" cy="187198"/>
          </a:xfrm>
          <a:prstGeom prst="rect">
            <a:avLst/>
          </a:prstGeom>
        </p:spPr>
      </p:pic>
      <p:sp>
        <p:nvSpPr>
          <p:cNvPr id="67" name="TextBox 66"/>
          <p:cNvSpPr txBox="1"/>
          <p:nvPr/>
        </p:nvSpPr>
        <p:spPr>
          <a:xfrm>
            <a:off x="1768092" y="1642784"/>
            <a:ext cx="1490662" cy="186689"/>
          </a:xfrm>
          <a:prstGeom prst="rect">
            <a:avLst/>
          </a:prstGeom>
          <a:noFill/>
        </p:spPr>
        <p:txBody>
          <a:bodyPr wrap="none" lIns="0" rIns="0" tIns="0" bIns="0">
            <a:spAutoFit/>
          </a:bodyPr>
          <a:lstStyle/>
          <a:p>
            <a:r>
              <a:rPr sz="1100" b="0">
                <a:solidFill>
                  <a:srgbClr val="2E2E2E"/>
                </a:solidFill>
                <a:latin typeface="Calibri"/>
              </a:rPr>
              <a:t>ASP premium clear value</a:t>
            </a:r>
          </a:p>
        </p:txBody>
      </p:sp>
      <p:sp>
        <p:nvSpPr>
          <p:cNvPr id="68" name="TextBox 67"/>
          <p:cNvSpPr txBox="1"/>
          <p:nvPr/>
        </p:nvSpPr>
        <p:spPr>
          <a:xfrm>
            <a:off x="361950" y="1810424"/>
            <a:ext cx="760238" cy="186689"/>
          </a:xfrm>
          <a:prstGeom prst="rect">
            <a:avLst/>
          </a:prstGeom>
          <a:noFill/>
        </p:spPr>
        <p:txBody>
          <a:bodyPr wrap="none" lIns="0" rIns="0" tIns="0" bIns="0">
            <a:spAutoFit/>
          </a:bodyPr>
          <a:lstStyle/>
          <a:p>
            <a:r>
              <a:rPr sz="1100" b="0">
                <a:solidFill>
                  <a:srgbClr val="2E2E2E"/>
                </a:solidFill>
                <a:latin typeface="Calibri"/>
              </a:rPr>
              <a:t>recognition.</a:t>
            </a:r>
          </a:p>
        </p:txBody>
      </p:sp>
      <p:pic>
        <p:nvPicPr>
          <p:cNvPr id="69" name="Picture 68" descr="lock.png"/>
          <p:cNvPicPr>
            <a:picLocks noChangeAspect="1"/>
          </p:cNvPicPr>
          <p:nvPr/>
        </p:nvPicPr>
        <p:blipFill>
          <a:blip r:embed="rId4"/>
          <a:stretch>
            <a:fillRect/>
          </a:stretch>
        </p:blipFill>
        <p:spPr>
          <a:xfrm>
            <a:off x="348482" y="2655212"/>
            <a:ext cx="128699" cy="187198"/>
          </a:xfrm>
          <a:prstGeom prst="rect">
            <a:avLst/>
          </a:prstGeom>
        </p:spPr>
      </p:pic>
      <p:sp>
        <p:nvSpPr>
          <p:cNvPr id="70" name="TextBox 69"/>
          <p:cNvSpPr txBox="1"/>
          <p:nvPr/>
        </p:nvSpPr>
        <p:spPr>
          <a:xfrm>
            <a:off x="515978" y="2664991"/>
            <a:ext cx="1083295" cy="186689"/>
          </a:xfrm>
          <a:prstGeom prst="rect">
            <a:avLst/>
          </a:prstGeom>
          <a:noFill/>
        </p:spPr>
        <p:txBody>
          <a:bodyPr wrap="none" lIns="0" rIns="0" tIns="0" bIns="0">
            <a:spAutoFit/>
          </a:bodyPr>
          <a:lstStyle/>
          <a:p>
            <a:r>
              <a:rPr sz="1100" b="0">
                <a:solidFill>
                  <a:srgbClr val="2E2E2E"/>
                </a:solidFill>
                <a:latin typeface="Calibri"/>
              </a:rPr>
              <a:t>book-to-bill and ~</a:t>
            </a:r>
          </a:p>
        </p:txBody>
      </p:sp>
      <p:pic>
        <p:nvPicPr>
          <p:cNvPr id="71" name="Picture 70" descr="lock.png"/>
          <p:cNvPicPr>
            <a:picLocks noChangeAspect="1"/>
          </p:cNvPicPr>
          <p:nvPr/>
        </p:nvPicPr>
        <p:blipFill>
          <a:blip r:embed="rId4"/>
          <a:stretch>
            <a:fillRect/>
          </a:stretch>
        </p:blipFill>
        <p:spPr>
          <a:xfrm>
            <a:off x="1547325" y="2655212"/>
            <a:ext cx="128699" cy="187198"/>
          </a:xfrm>
          <a:prstGeom prst="rect">
            <a:avLst/>
          </a:prstGeom>
        </p:spPr>
      </p:pic>
      <p:sp>
        <p:nvSpPr>
          <p:cNvPr id="72" name="TextBox 71"/>
          <p:cNvSpPr txBox="1"/>
          <p:nvPr/>
        </p:nvSpPr>
        <p:spPr>
          <a:xfrm>
            <a:off x="1714820" y="2664991"/>
            <a:ext cx="1304547" cy="186689"/>
          </a:xfrm>
          <a:prstGeom prst="rect">
            <a:avLst/>
          </a:prstGeom>
          <a:noFill/>
        </p:spPr>
        <p:txBody>
          <a:bodyPr wrap="none" lIns="0" rIns="0" tIns="0" bIns="0">
            <a:spAutoFit/>
          </a:bodyPr>
          <a:lstStyle/>
          <a:p>
            <a:r>
              <a:rPr sz="1100" b="0">
                <a:solidFill>
                  <a:srgbClr val="2E2E2E"/>
                </a:solidFill>
                <a:latin typeface="Calibri"/>
              </a:rPr>
              <a:t>EBITDA signal healthy</a:t>
            </a:r>
          </a:p>
        </p:txBody>
      </p:sp>
      <p:sp>
        <p:nvSpPr>
          <p:cNvPr id="73" name="TextBox 72"/>
          <p:cNvSpPr txBox="1"/>
          <p:nvPr/>
        </p:nvSpPr>
        <p:spPr>
          <a:xfrm>
            <a:off x="361950" y="2832631"/>
            <a:ext cx="783158" cy="186689"/>
          </a:xfrm>
          <a:prstGeom prst="rect">
            <a:avLst/>
          </a:prstGeom>
          <a:noFill/>
        </p:spPr>
        <p:txBody>
          <a:bodyPr wrap="none" lIns="0" rIns="0" tIns="0" bIns="0">
            <a:spAutoFit/>
          </a:bodyPr>
          <a:lstStyle/>
          <a:p>
            <a:r>
              <a:rPr sz="1100" b="0">
                <a:solidFill>
                  <a:srgbClr val="2E2E2E"/>
                </a:solidFill>
                <a:latin typeface="Calibri"/>
              </a:rPr>
              <a:t>momentum.</a:t>
            </a:r>
          </a:p>
        </p:txBody>
      </p:sp>
      <p:sp>
        <p:nvSpPr>
          <p:cNvPr id="74" name="TextBox 73"/>
          <p:cNvSpPr txBox="1"/>
          <p:nvPr/>
        </p:nvSpPr>
        <p:spPr>
          <a:xfrm>
            <a:off x="8505825" y="1726603"/>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75" name="Picture 74" descr="lock.png"/>
          <p:cNvPicPr>
            <a:picLocks noChangeAspect="1"/>
          </p:cNvPicPr>
          <p:nvPr/>
        </p:nvPicPr>
        <p:blipFill>
          <a:blip r:embed="rId4"/>
          <a:stretch>
            <a:fillRect/>
          </a:stretch>
        </p:blipFill>
        <p:spPr>
          <a:xfrm>
            <a:off x="8599653" y="1716825"/>
            <a:ext cx="128699" cy="187198"/>
          </a:xfrm>
          <a:prstGeom prst="rect">
            <a:avLst/>
          </a:prstGeom>
        </p:spPr>
      </p:pic>
      <p:sp>
        <p:nvSpPr>
          <p:cNvPr id="76" name="TextBox 75"/>
          <p:cNvSpPr txBox="1"/>
          <p:nvPr/>
        </p:nvSpPr>
        <p:spPr>
          <a:xfrm>
            <a:off x="8767149" y="1726603"/>
            <a:ext cx="2910582" cy="186689"/>
          </a:xfrm>
          <a:prstGeom prst="rect">
            <a:avLst/>
          </a:prstGeom>
          <a:noFill/>
        </p:spPr>
        <p:txBody>
          <a:bodyPr wrap="none" lIns="0" rIns="0" tIns="0" bIns="0">
            <a:spAutoFit/>
          </a:bodyPr>
          <a:lstStyle/>
          <a:p>
            <a:r>
              <a:rPr sz="1100" b="0">
                <a:solidFill>
                  <a:srgbClr val="2E2E2E"/>
                </a:solidFill>
                <a:latin typeface="Calibri"/>
              </a:rPr>
              <a:t>share leaves a scale gap versus the market leader.</a:t>
            </a:r>
          </a:p>
        </p:txBody>
      </p:sp>
      <p:sp>
        <p:nvSpPr>
          <p:cNvPr id="77" name="TextBox 76"/>
          <p:cNvSpPr txBox="1"/>
          <p:nvPr/>
        </p:nvSpPr>
        <p:spPr>
          <a:xfrm>
            <a:off x="361950" y="4482912"/>
            <a:ext cx="1324495" cy="186689"/>
          </a:xfrm>
          <a:prstGeom prst="rect">
            <a:avLst/>
          </a:prstGeom>
          <a:noFill/>
        </p:spPr>
        <p:txBody>
          <a:bodyPr wrap="none" lIns="0" rIns="0" tIns="0" bIns="0">
            <a:spAutoFit/>
          </a:bodyPr>
          <a:lstStyle/>
          <a:p>
            <a:r>
              <a:rPr sz="1100" b="0">
                <a:solidFill>
                  <a:srgbClr val="2E2E2E"/>
                </a:solidFill>
                <a:latin typeface="Calibri"/>
              </a:rPr>
              <a:t>Intense competition ~</a:t>
            </a:r>
          </a:p>
        </p:txBody>
      </p:sp>
      <p:pic>
        <p:nvPicPr>
          <p:cNvPr id="78" name="Picture 77" descr="lock.png"/>
          <p:cNvPicPr>
            <a:picLocks noChangeAspect="1"/>
          </p:cNvPicPr>
          <p:nvPr/>
        </p:nvPicPr>
        <p:blipFill>
          <a:blip r:embed="rId4"/>
          <a:stretch>
            <a:fillRect/>
          </a:stretch>
        </p:blipFill>
        <p:spPr>
          <a:xfrm>
            <a:off x="1634497" y="4473133"/>
            <a:ext cx="128699" cy="187198"/>
          </a:xfrm>
          <a:prstGeom prst="rect">
            <a:avLst/>
          </a:prstGeom>
        </p:spPr>
      </p:pic>
      <p:sp>
        <p:nvSpPr>
          <p:cNvPr id="79" name="TextBox 78"/>
          <p:cNvSpPr txBox="1"/>
          <p:nvPr/>
        </p:nvSpPr>
        <p:spPr>
          <a:xfrm>
            <a:off x="1801993" y="4482912"/>
            <a:ext cx="1738684" cy="186689"/>
          </a:xfrm>
          <a:prstGeom prst="rect">
            <a:avLst/>
          </a:prstGeom>
          <a:noFill/>
        </p:spPr>
        <p:txBody>
          <a:bodyPr wrap="none" lIns="0" rIns="0" tIns="0" bIns="0">
            <a:spAutoFit/>
          </a:bodyPr>
          <a:lstStyle/>
          <a:p>
            <a:r>
              <a:rPr sz="1100" b="0">
                <a:solidFill>
                  <a:srgbClr val="2E2E2E"/>
                </a:solidFill>
                <a:latin typeface="Calibri"/>
              </a:rPr>
              <a:t>x pipeline needed to convert.</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Standard Process Key Financials (4/5)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Standard Process's financial performance, key ratios and pricing, highlighting margin and momentum</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Key financials and pricing Standard Process (all figures indicative, USD Mn unless noted).</a:t>
            </a:r>
          </a:p>
        </p:txBody>
      </p:sp>
      <p:sp>
        <p:nvSpPr>
          <p:cNvPr id="11" name="Rounded Rectangle 10"/>
          <p:cNvSpPr/>
          <p:nvPr/>
        </p:nvSpPr>
        <p:spPr>
          <a:xfrm>
            <a:off x="142875" y="1354081"/>
            <a:ext cx="5905500" cy="1916638"/>
          </a:xfrm>
          <a:prstGeom prst="roundRect">
            <a:avLst>
              <a:gd name="adj" fmla="val 397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411231"/>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Standard Process Financial Performance</a:t>
            </a:r>
          </a:p>
        </p:txBody>
      </p:sp>
      <p:graphicFrame>
        <p:nvGraphicFramePr>
          <p:cNvPr id="13" name="Table 12"/>
          <p:cNvGraphicFramePr>
            <a:graphicFrameLocks noGrp="1"/>
          </p:cNvGraphicFramePr>
          <p:nvPr/>
        </p:nvGraphicFramePr>
        <p:xfrm>
          <a:off x="152400" y="1611256"/>
          <a:ext cx="5886449" cy="1449914"/>
        </p:xfrm>
        <a:graphic>
          <a:graphicData uri="http://schemas.openxmlformats.org/drawingml/2006/table">
            <a:tbl>
              <a:tblPr>
                <a:tableStyleId>{5C22544A-7EE6-4342-B048-85BDC9FD1C3A}</a:tableStyleId>
              </a:tblPr>
              <a:tblGrid>
                <a:gridCol w="2446649"/>
                <a:gridCol w="687960"/>
                <a:gridCol w="687960"/>
                <a:gridCol w="687960"/>
                <a:gridCol w="687960"/>
                <a:gridCol w="687960"/>
              </a:tblGrid>
              <a:tr h="246126">
                <a:tc>
                  <a:txBody>
                    <a:bodyPr wrap="none"/>
                    <a:lstStyle/>
                    <a:p>
                      <a:pPr algn="l"/>
                      <a:r>
                        <a:rPr sz="1100" b="1">
                          <a:solidFill>
                            <a:srgbClr val="0B2E4A"/>
                          </a:solidFill>
                          <a:latin typeface="Calibri"/>
                        </a:rPr>
                        <a:t>USD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300947">
                <a:tc>
                  <a:txBody>
                    <a:bodyPr wrap="none"/>
                    <a:lstStyle/>
                    <a:p>
                      <a:pPr algn="l"/>
                      <a:r>
                        <a:rPr sz="1100" b="1">
                          <a:solidFill>
                            <a:srgbClr val="2E2E2E"/>
                          </a:solidFill>
                          <a:latin typeface="Calibri"/>
                        </a:rPr>
                        <a:t>Revenue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Gross Profit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00947">
                <a:tc>
                  <a:txBody>
                    <a:bodyPr wrap="none"/>
                    <a:lstStyle/>
                    <a:p>
                      <a:pPr algn="l"/>
                      <a:r>
                        <a:rPr sz="1100" b="1">
                          <a:solidFill>
                            <a:srgbClr val="2E2E2E"/>
                          </a:solidFill>
                          <a:latin typeface="Calibri"/>
                        </a:rPr>
                        <a:t>Pre-Tax Profit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Profit After Tax / Net Profit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070695"/>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98495"/>
            <a:ext cx="5905500" cy="3194397"/>
          </a:xfrm>
          <a:prstGeom prst="roundRect">
            <a:avLst>
              <a:gd name="adj" fmla="val 238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Standard Process Key Ratios</a:t>
            </a:r>
          </a:p>
        </p:txBody>
      </p:sp>
      <p:graphicFrame>
        <p:nvGraphicFramePr>
          <p:cNvPr id="17" name="Table 16"/>
          <p:cNvGraphicFramePr>
            <a:graphicFrameLocks noGrp="1"/>
          </p:cNvGraphicFramePr>
          <p:nvPr/>
        </p:nvGraphicFramePr>
        <p:xfrm>
          <a:off x="152400" y="3655670"/>
          <a:ext cx="5886450" cy="2727671"/>
        </p:xfrm>
        <a:graphic>
          <a:graphicData uri="http://schemas.openxmlformats.org/drawingml/2006/table">
            <a:tbl>
              <a:tblPr>
                <a:tableStyleId>{5C22544A-7EE6-4342-B048-85BDC9FD1C3A}</a:tableStyleId>
              </a:tblPr>
              <a:tblGrid>
                <a:gridCol w="1859260"/>
                <a:gridCol w="805438"/>
                <a:gridCol w="805438"/>
                <a:gridCol w="805438"/>
                <a:gridCol w="805438"/>
                <a:gridCol w="805438"/>
              </a:tblGrid>
              <a:tr h="246126">
                <a:tc>
                  <a:txBody>
                    <a:bodyPr wrap="none"/>
                    <a:lstStyle/>
                    <a:p>
                      <a:pPr algn="l"/>
                      <a:r>
                        <a:rPr sz="1100" b="1">
                          <a:solidFill>
                            <a:srgbClr val="0B2E4A"/>
                          </a:solidFill>
                          <a:latin typeface="Calibri"/>
                        </a:rPr>
                        <a:t>Key Ratios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496309">
                <a:tc>
                  <a:txBody>
                    <a:bodyPr wrap="none"/>
                    <a:lstStyle/>
                    <a:p>
                      <a:pPr algn="l"/>
                      <a:r>
                        <a:rPr sz="1100" b="1">
                          <a:solidFill>
                            <a:srgbClr val="2E2E2E"/>
                          </a:solidFill>
                          <a:latin typeface="Calibri"/>
                        </a:rPr>
                        <a:t>Gross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Pre-Tax Margin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96309">
                <a:tc>
                  <a:txBody>
                    <a:bodyPr wrap="none"/>
                    <a:lstStyle/>
                    <a:p>
                      <a:pPr algn="l"/>
                      <a:r>
                        <a:rPr sz="1100" b="1">
                          <a:solidFill>
                            <a:srgbClr val="2E2E2E"/>
                          </a:solidFill>
                          <a:latin typeface="Calibri"/>
                        </a:rPr>
                        <a:t>Net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Return on Equity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96309">
                <a:tc>
                  <a:txBody>
                    <a:bodyPr wrap="none"/>
                    <a:lstStyle/>
                    <a:p>
                      <a:pPr algn="l"/>
                      <a:r>
                        <a:rPr sz="1100" b="1">
                          <a:solidFill>
                            <a:srgbClr val="2E2E2E"/>
                          </a:solidFill>
                          <a:latin typeface="Calibri"/>
                        </a:rPr>
                        <a:t>Return on Assets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8" name="TextBox 17"/>
          <p:cNvSpPr txBox="1"/>
          <p:nvPr/>
        </p:nvSpPr>
        <p:spPr>
          <a:xfrm>
            <a:off x="219075" y="6392868"/>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6200775" y="1354081"/>
            <a:ext cx="5848350" cy="5238811"/>
          </a:xfrm>
          <a:prstGeom prst="roundRect">
            <a:avLst>
              <a:gd name="adj" fmla="val 14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6025" y="1411231"/>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Standard Process Pricing Analysis (US$/MT)</a:t>
            </a:r>
          </a:p>
        </p:txBody>
      </p:sp>
      <p:graphicFrame>
        <p:nvGraphicFramePr>
          <p:cNvPr id="21" name="Table 20"/>
          <p:cNvGraphicFramePr>
            <a:graphicFrameLocks noGrp="1"/>
          </p:cNvGraphicFramePr>
          <p:nvPr/>
        </p:nvGraphicFramePr>
        <p:xfrm>
          <a:off x="6210300" y="1611256"/>
          <a:ext cx="5829301" cy="4772086"/>
        </p:xfrm>
        <a:graphic>
          <a:graphicData uri="http://schemas.openxmlformats.org/drawingml/2006/table">
            <a:tbl>
              <a:tblPr>
                <a:tableStyleId>{5C22544A-7EE6-4342-B048-85BDC9FD1C3A}</a:tableStyleId>
              </a:tblPr>
              <a:tblGrid>
                <a:gridCol w="3441251"/>
                <a:gridCol w="1194025"/>
                <a:gridCol w="1194025"/>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1131490">
                <a:tc>
                  <a:txBody>
                    <a:bodyPr wrap="none"/>
                    <a:lstStyle/>
                    <a:p>
                      <a:pPr algn="l"/>
                      <a:r>
                        <a:rPr sz="1100" b="1">
                          <a:solidFill>
                            <a:srgbClr val="2E2E2E"/>
                          </a:solidFill>
                          <a:latin typeface="Calibri"/>
                        </a:rPr>
                        <a:t>Capsules and Softgels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131490">
                <a:tc>
                  <a:txBody>
                    <a:bodyPr wrap="none"/>
                    <a:lstStyle/>
                    <a:p>
                      <a:pPr algn="l"/>
                      <a:r>
                        <a:rPr sz="1100" b="1">
                          <a:solidFill>
                            <a:srgbClr val="2E2E2E"/>
                          </a:solidFill>
                          <a:latin typeface="Calibri"/>
                        </a:rPr>
                        <a:t>Tablets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1131490">
                <a:tc>
                  <a:txBody>
                    <a:bodyPr wrap="none"/>
                    <a:lstStyle/>
                    <a:p>
                      <a:pPr algn="l"/>
                      <a:r>
                        <a:rPr sz="1100" b="1">
                          <a:solidFill>
                            <a:srgbClr val="2E2E2E"/>
                          </a:solidFill>
                          <a:latin typeface="Calibri"/>
                        </a:rPr>
                        <a:t>Chewables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131490">
                <a:tc>
                  <a:txBody>
                    <a:bodyPr wrap="none"/>
                    <a:lstStyle/>
                    <a:p>
                      <a:pPr algn="l"/>
                      <a:r>
                        <a:rPr sz="1100" b="1">
                          <a:solidFill>
                            <a:srgbClr val="2E2E2E"/>
                          </a:solidFill>
                          <a:latin typeface="Calibri"/>
                        </a:rPr>
                        <a:t>Gels and Pastes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22" name="TextBox 21"/>
          <p:cNvSpPr txBox="1"/>
          <p:nvPr/>
        </p:nvSpPr>
        <p:spPr>
          <a:xfrm>
            <a:off x="6276975" y="6392868"/>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4150927" y="2219245"/>
            <a:ext cx="330041" cy="480060"/>
          </a:xfrm>
          <a:prstGeom prst="rect">
            <a:avLst/>
          </a:prstGeom>
        </p:spPr>
      </p:pic>
      <p:pic>
        <p:nvPicPr>
          <p:cNvPr id="25" name="Picture 24" descr="lock.png"/>
          <p:cNvPicPr>
            <a:picLocks noChangeAspect="1"/>
          </p:cNvPicPr>
          <p:nvPr/>
        </p:nvPicPr>
        <p:blipFill>
          <a:blip r:embed="rId4"/>
          <a:stretch>
            <a:fillRect/>
          </a:stretch>
        </p:blipFill>
        <p:spPr>
          <a:xfrm>
            <a:off x="3838564" y="4875868"/>
            <a:ext cx="366712" cy="533400"/>
          </a:xfrm>
          <a:prstGeom prst="rect">
            <a:avLst/>
          </a:prstGeom>
        </p:spPr>
      </p:pic>
      <p:pic>
        <p:nvPicPr>
          <p:cNvPr id="26" name="Picture 25" descr="lock.png"/>
          <p:cNvPicPr>
            <a:picLocks noChangeAspect="1"/>
          </p:cNvPicPr>
          <p:nvPr/>
        </p:nvPicPr>
        <p:blipFill>
          <a:blip r:embed="rId4"/>
          <a:stretch>
            <a:fillRect/>
          </a:stretch>
        </p:blipFill>
        <p:spPr>
          <a:xfrm>
            <a:off x="10658886" y="3853662"/>
            <a:ext cx="366712" cy="533400"/>
          </a:xfrm>
          <a:prstGeom prst="rect">
            <a:avLst/>
          </a:prstGeom>
        </p:spPr>
      </p:pic>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Standard Process Strategy Analysis (5/5)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Standard Process's strategic priorities and the competitive moves that support them</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Strategy analysis Standard Process: strategic priorities and the competitive moves that support them (indicative).</a:t>
            </a:r>
          </a:p>
        </p:txBody>
      </p:sp>
      <p:sp>
        <p:nvSpPr>
          <p:cNvPr id="11" name="Rounded Rectangle 10"/>
          <p:cNvSpPr/>
          <p:nvPr/>
        </p:nvSpPr>
        <p:spPr>
          <a:xfrm>
            <a:off x="14287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MARKET SHARE</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of global value</a:t>
            </a:r>
          </a:p>
        </p:txBody>
      </p:sp>
      <p:sp>
        <p:nvSpPr>
          <p:cNvPr id="12" name="Rounded Rectangle 11"/>
          <p:cNvSpPr/>
          <p:nvPr/>
        </p:nvSpPr>
        <p:spPr>
          <a:xfrm>
            <a:off x="254317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WIN RATE</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deals won</a:t>
            </a:r>
          </a:p>
        </p:txBody>
      </p:sp>
      <p:sp>
        <p:nvSpPr>
          <p:cNvPr id="13" name="Rounded Rectangle 12"/>
          <p:cNvSpPr/>
          <p:nvPr/>
        </p:nvSpPr>
        <p:spPr>
          <a:xfrm>
            <a:off x="4953000"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ASP PREMIUM</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vs peers</a:t>
            </a:r>
          </a:p>
        </p:txBody>
      </p:sp>
      <p:sp>
        <p:nvSpPr>
          <p:cNvPr id="14" name="Rounded Rectangle 13"/>
          <p:cNvSpPr/>
          <p:nvPr/>
        </p:nvSpPr>
        <p:spPr>
          <a:xfrm>
            <a:off x="7353300"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order momentum</a:t>
            </a:r>
          </a:p>
        </p:txBody>
      </p:sp>
      <p:sp>
        <p:nvSpPr>
          <p:cNvPr id="15" name="Rounded Rectangle 14"/>
          <p:cNvSpPr/>
          <p:nvPr/>
        </p:nvSpPr>
        <p:spPr>
          <a:xfrm>
            <a:off x="976312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profitability</a:t>
            </a:r>
          </a:p>
        </p:txBody>
      </p:sp>
      <p:sp>
        <p:nvSpPr>
          <p:cNvPr id="16" name="Rounded Rectangle 15"/>
          <p:cNvSpPr/>
          <p:nvPr/>
        </p:nvSpPr>
        <p:spPr>
          <a:xfrm>
            <a:off x="142875" y="2084229"/>
            <a:ext cx="5905500" cy="4490410"/>
          </a:xfrm>
          <a:prstGeom prst="roundRect">
            <a:avLst>
              <a:gd name="adj" fmla="val 169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169954"/>
            <a:ext cx="5638800" cy="209550"/>
          </a:xfrm>
          <a:prstGeom prst="rect">
            <a:avLst/>
          </a:prstGeom>
          <a:noFill/>
        </p:spPr>
        <p:txBody>
          <a:bodyPr wrap="square" lIns="0" rIns="19050" tIns="9525" bIns="9525">
            <a:spAutoFit/>
          </a:bodyPr>
          <a:lstStyle/>
          <a:p>
            <a:pPr algn="l"/>
            <a:r>
              <a:rPr sz="1300" b="1">
                <a:solidFill>
                  <a:srgbClr val="0B2E4A"/>
                </a:solidFill>
                <a:latin typeface="Calibri"/>
              </a:rPr>
              <a:t>Strategic Priorities</a:t>
            </a:r>
          </a:p>
        </p:txBody>
      </p:sp>
      <p:sp>
        <p:nvSpPr>
          <p:cNvPr id="18" name="Rectangle 17"/>
          <p:cNvSpPr/>
          <p:nvPr/>
        </p:nvSpPr>
        <p:spPr>
          <a:xfrm>
            <a:off x="276225" y="2408079"/>
            <a:ext cx="5638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493804"/>
            <a:ext cx="563880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0" name="Rounded Rectangle 19"/>
          <p:cNvSpPr/>
          <p:nvPr/>
        </p:nvSpPr>
        <p:spPr>
          <a:xfrm>
            <a:off x="6200775" y="2084229"/>
            <a:ext cx="5848350" cy="4490410"/>
          </a:xfrm>
          <a:prstGeom prst="roundRect">
            <a:avLst>
              <a:gd name="adj" fmla="val 169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4125" y="2169954"/>
            <a:ext cx="5581650" cy="209550"/>
          </a:xfrm>
          <a:prstGeom prst="rect">
            <a:avLst/>
          </a:prstGeom>
          <a:noFill/>
        </p:spPr>
        <p:txBody>
          <a:bodyPr wrap="square" lIns="0" rIns="19050" tIns="9525" bIns="9525">
            <a:spAutoFit/>
          </a:bodyPr>
          <a:lstStyle/>
          <a:p>
            <a:pPr algn="l"/>
            <a:r>
              <a:rPr sz="1300" b="1">
                <a:solidFill>
                  <a:srgbClr val="0B2E4A"/>
                </a:solidFill>
                <a:latin typeface="Calibri"/>
              </a:rPr>
              <a:t>Competitive Moves</a:t>
            </a:r>
          </a:p>
        </p:txBody>
      </p:sp>
      <p:sp>
        <p:nvSpPr>
          <p:cNvPr id="22" name="Rectangle 21"/>
          <p:cNvSpPr/>
          <p:nvPr/>
        </p:nvSpPr>
        <p:spPr>
          <a:xfrm>
            <a:off x="6334125" y="2408079"/>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4125" y="2493804"/>
            <a:ext cx="558165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4"/>
          <a:stretch>
            <a:fillRect/>
          </a:stretch>
        </p:blipFill>
        <p:spPr>
          <a:xfrm>
            <a:off x="1202531" y="1540967"/>
            <a:ext cx="157162" cy="228600"/>
          </a:xfrm>
          <a:prstGeom prst="rect">
            <a:avLst/>
          </a:prstGeom>
        </p:spPr>
      </p:pic>
      <p:pic>
        <p:nvPicPr>
          <p:cNvPr id="26" name="Picture 25" descr="lock.png"/>
          <p:cNvPicPr>
            <a:picLocks noChangeAspect="1"/>
          </p:cNvPicPr>
          <p:nvPr/>
        </p:nvPicPr>
        <p:blipFill>
          <a:blip r:embed="rId4"/>
          <a:stretch>
            <a:fillRect/>
          </a:stretch>
        </p:blipFill>
        <p:spPr>
          <a:xfrm>
            <a:off x="3602831" y="1540967"/>
            <a:ext cx="157162" cy="228600"/>
          </a:xfrm>
          <a:prstGeom prst="rect">
            <a:avLst/>
          </a:prstGeom>
        </p:spPr>
      </p:pic>
      <p:pic>
        <p:nvPicPr>
          <p:cNvPr id="27" name="Picture 26" descr="lock.png"/>
          <p:cNvPicPr>
            <a:picLocks noChangeAspect="1"/>
          </p:cNvPicPr>
          <p:nvPr/>
        </p:nvPicPr>
        <p:blipFill>
          <a:blip r:embed="rId4"/>
          <a:stretch>
            <a:fillRect/>
          </a:stretch>
        </p:blipFill>
        <p:spPr>
          <a:xfrm>
            <a:off x="6012656" y="1540967"/>
            <a:ext cx="157162" cy="228600"/>
          </a:xfrm>
          <a:prstGeom prst="rect">
            <a:avLst/>
          </a:prstGeom>
        </p:spPr>
      </p:pic>
      <p:pic>
        <p:nvPicPr>
          <p:cNvPr id="28" name="Picture 27" descr="lock.png"/>
          <p:cNvPicPr>
            <a:picLocks noChangeAspect="1"/>
          </p:cNvPicPr>
          <p:nvPr/>
        </p:nvPicPr>
        <p:blipFill>
          <a:blip r:embed="rId4"/>
          <a:stretch>
            <a:fillRect/>
          </a:stretch>
        </p:blipFill>
        <p:spPr>
          <a:xfrm>
            <a:off x="8412956" y="1540967"/>
            <a:ext cx="157162" cy="228600"/>
          </a:xfrm>
          <a:prstGeom prst="rect">
            <a:avLst/>
          </a:prstGeom>
        </p:spPr>
      </p:pic>
      <p:pic>
        <p:nvPicPr>
          <p:cNvPr id="29" name="Picture 28" descr="lock.png"/>
          <p:cNvPicPr>
            <a:picLocks noChangeAspect="1"/>
          </p:cNvPicPr>
          <p:nvPr/>
        </p:nvPicPr>
        <p:blipFill>
          <a:blip r:embed="rId4"/>
          <a:stretch>
            <a:fillRect/>
          </a:stretch>
        </p:blipFill>
        <p:spPr>
          <a:xfrm>
            <a:off x="10822781" y="1540967"/>
            <a:ext cx="157162" cy="228600"/>
          </a:xfrm>
          <a:prstGeom prst="rect">
            <a:avLst/>
          </a:prstGeom>
        </p:spPr>
      </p:pic>
      <p:sp>
        <p:nvSpPr>
          <p:cNvPr id="30" name="TextBox 29"/>
          <p:cNvSpPr txBox="1"/>
          <p:nvPr/>
        </p:nvSpPr>
        <p:spPr>
          <a:xfrm>
            <a:off x="276225" y="2503329"/>
            <a:ext cx="5128331" cy="194310"/>
          </a:xfrm>
          <a:prstGeom prst="rect">
            <a:avLst/>
          </a:prstGeom>
          <a:noFill/>
        </p:spPr>
        <p:txBody>
          <a:bodyPr wrap="none" lIns="0" rIns="0" tIns="0" bIns="0">
            <a:spAutoFit/>
          </a:bodyPr>
          <a:lstStyle/>
          <a:p>
            <a:r>
              <a:rPr sz="1150" b="0">
                <a:solidFill>
                  <a:srgbClr val="2E2E2E"/>
                </a:solidFill>
                <a:latin typeface="Calibri"/>
              </a:rPr>
              <a:t>▪ Defend and extend leadership in 'Veterinary-Guided Cognitive Dysfunction Support'</a:t>
            </a:r>
          </a:p>
        </p:txBody>
      </p:sp>
      <p:sp>
        <p:nvSpPr>
          <p:cNvPr id="31" name="TextBox 30"/>
          <p:cNvSpPr txBox="1"/>
          <p:nvPr/>
        </p:nvSpPr>
        <p:spPr>
          <a:xfrm>
            <a:off x="276225" y="2678589"/>
            <a:ext cx="4911538" cy="194310"/>
          </a:xfrm>
          <a:prstGeom prst="rect">
            <a:avLst/>
          </a:prstGeom>
          <a:noFill/>
        </p:spPr>
        <p:txBody>
          <a:bodyPr wrap="none" lIns="0" rIns="0" tIns="0" bIns="0">
            <a:spAutoFit/>
          </a:bodyPr>
          <a:lstStyle/>
          <a:p>
            <a:r>
              <a:rPr sz="1150" b="0">
                <a:solidFill>
                  <a:srgbClr val="2E2E2E"/>
                </a:solidFill>
                <a:latin typeface="Calibri"/>
              </a:rPr>
              <a:t>Standard Process's strongest end-market while scaling the next-best applications.</a:t>
            </a:r>
          </a:p>
        </p:txBody>
      </p:sp>
      <p:sp>
        <p:nvSpPr>
          <p:cNvPr id="32" name="TextBox 31"/>
          <p:cNvSpPr txBox="1"/>
          <p:nvPr/>
        </p:nvSpPr>
        <p:spPr>
          <a:xfrm>
            <a:off x="276225" y="2906426"/>
            <a:ext cx="909997" cy="194310"/>
          </a:xfrm>
          <a:prstGeom prst="rect">
            <a:avLst/>
          </a:prstGeom>
          <a:noFill/>
        </p:spPr>
        <p:txBody>
          <a:bodyPr wrap="none" lIns="0" rIns="0" tIns="0" bIns="0">
            <a:spAutoFit/>
          </a:bodyPr>
          <a:lstStyle/>
          <a:p>
            <a:r>
              <a:rPr sz="1150" b="0">
                <a:solidFill>
                  <a:srgbClr val="2E2E2E"/>
                </a:solidFill>
                <a:latin typeface="Calibri"/>
              </a:rPr>
              <a:t>▪ Convert its ~</a:t>
            </a:r>
          </a:p>
        </p:txBody>
      </p:sp>
      <p:pic>
        <p:nvPicPr>
          <p:cNvPr id="33" name="Picture 32" descr="lock.png"/>
          <p:cNvPicPr>
            <a:picLocks noChangeAspect="1"/>
          </p:cNvPicPr>
          <p:nvPr/>
        </p:nvPicPr>
        <p:blipFill>
          <a:blip r:embed="rId4"/>
          <a:stretch>
            <a:fillRect/>
          </a:stretch>
        </p:blipFill>
        <p:spPr>
          <a:xfrm>
            <a:off x="1135376" y="2896203"/>
            <a:ext cx="134549" cy="195707"/>
          </a:xfrm>
          <a:prstGeom prst="rect">
            <a:avLst/>
          </a:prstGeom>
        </p:spPr>
      </p:pic>
      <p:sp>
        <p:nvSpPr>
          <p:cNvPr id="34" name="TextBox 33"/>
          <p:cNvSpPr txBox="1"/>
          <p:nvPr/>
        </p:nvSpPr>
        <p:spPr>
          <a:xfrm>
            <a:off x="1310485" y="2906426"/>
            <a:ext cx="929109" cy="194310"/>
          </a:xfrm>
          <a:prstGeom prst="rect">
            <a:avLst/>
          </a:prstGeom>
          <a:noFill/>
        </p:spPr>
        <p:txBody>
          <a:bodyPr wrap="none" lIns="0" rIns="0" tIns="0" bIns="0">
            <a:spAutoFit/>
          </a:bodyPr>
          <a:lstStyle/>
          <a:p>
            <a:r>
              <a:rPr sz="1150" b="0">
                <a:solidFill>
                  <a:srgbClr val="2E2E2E"/>
                </a:solidFill>
                <a:latin typeface="Calibri"/>
              </a:rPr>
              <a:t>win rate and +</a:t>
            </a:r>
          </a:p>
        </p:txBody>
      </p:sp>
      <p:pic>
        <p:nvPicPr>
          <p:cNvPr id="35" name="Picture 34" descr="lock.png"/>
          <p:cNvPicPr>
            <a:picLocks noChangeAspect="1"/>
          </p:cNvPicPr>
          <p:nvPr/>
        </p:nvPicPr>
        <p:blipFill>
          <a:blip r:embed="rId4"/>
          <a:stretch>
            <a:fillRect/>
          </a:stretch>
        </p:blipFill>
        <p:spPr>
          <a:xfrm>
            <a:off x="2188748" y="2896203"/>
            <a:ext cx="134549" cy="195707"/>
          </a:xfrm>
          <a:prstGeom prst="rect">
            <a:avLst/>
          </a:prstGeom>
        </p:spPr>
      </p:pic>
      <p:sp>
        <p:nvSpPr>
          <p:cNvPr id="36" name="TextBox 35"/>
          <p:cNvSpPr txBox="1"/>
          <p:nvPr/>
        </p:nvSpPr>
        <p:spPr>
          <a:xfrm>
            <a:off x="2363857" y="2906426"/>
            <a:ext cx="3109019" cy="194310"/>
          </a:xfrm>
          <a:prstGeom prst="rect">
            <a:avLst/>
          </a:prstGeom>
          <a:noFill/>
        </p:spPr>
        <p:txBody>
          <a:bodyPr wrap="none" lIns="0" rIns="0" tIns="0" bIns="0">
            <a:spAutoFit/>
          </a:bodyPr>
          <a:lstStyle/>
          <a:p>
            <a:r>
              <a:rPr sz="1150" b="0">
                <a:solidFill>
                  <a:srgbClr val="2E2E2E"/>
                </a:solidFill>
                <a:latin typeface="Calibri"/>
              </a:rPr>
              <a:t>ASP premium into share gains through value-based</a:t>
            </a:r>
          </a:p>
        </p:txBody>
      </p:sp>
      <p:sp>
        <p:nvSpPr>
          <p:cNvPr id="37" name="TextBox 36"/>
          <p:cNvSpPr txBox="1"/>
          <p:nvPr/>
        </p:nvSpPr>
        <p:spPr>
          <a:xfrm>
            <a:off x="276225" y="3081686"/>
            <a:ext cx="489247" cy="194310"/>
          </a:xfrm>
          <a:prstGeom prst="rect">
            <a:avLst/>
          </a:prstGeom>
          <a:noFill/>
        </p:spPr>
        <p:txBody>
          <a:bodyPr wrap="none" lIns="0" rIns="0" tIns="0" bIns="0">
            <a:spAutoFit/>
          </a:bodyPr>
          <a:lstStyle/>
          <a:p>
            <a:r>
              <a:rPr sz="1150" b="0">
                <a:solidFill>
                  <a:srgbClr val="2E2E2E"/>
                </a:solidFill>
                <a:latin typeface="Calibri"/>
              </a:rPr>
              <a:t>selling.</a:t>
            </a:r>
          </a:p>
        </p:txBody>
      </p:sp>
      <p:sp>
        <p:nvSpPr>
          <p:cNvPr id="38" name="TextBox 37"/>
          <p:cNvSpPr txBox="1"/>
          <p:nvPr/>
        </p:nvSpPr>
        <p:spPr>
          <a:xfrm>
            <a:off x="276225" y="3309524"/>
            <a:ext cx="3294434" cy="194310"/>
          </a:xfrm>
          <a:prstGeom prst="rect">
            <a:avLst/>
          </a:prstGeom>
          <a:noFill/>
        </p:spPr>
        <p:txBody>
          <a:bodyPr wrap="none" lIns="0" rIns="0" tIns="0" bIns="0">
            <a:spAutoFit/>
          </a:bodyPr>
          <a:lstStyle/>
          <a:p>
            <a:r>
              <a:rPr sz="1150" b="0">
                <a:solidFill>
                  <a:srgbClr val="2E2E2E"/>
                </a:solidFill>
                <a:latin typeface="Calibri"/>
              </a:rPr>
              <a:t>▪ Raise SAM penetration beyond 'Rest of the World' (~</a:t>
            </a:r>
          </a:p>
        </p:txBody>
      </p:sp>
      <p:pic>
        <p:nvPicPr>
          <p:cNvPr id="39" name="Picture 38" descr="lock.png"/>
          <p:cNvPicPr>
            <a:picLocks noChangeAspect="1"/>
          </p:cNvPicPr>
          <p:nvPr/>
        </p:nvPicPr>
        <p:blipFill>
          <a:blip r:embed="rId4"/>
          <a:stretch>
            <a:fillRect/>
          </a:stretch>
        </p:blipFill>
        <p:spPr>
          <a:xfrm>
            <a:off x="3519813" y="3299301"/>
            <a:ext cx="134549" cy="195707"/>
          </a:xfrm>
          <a:prstGeom prst="rect">
            <a:avLst/>
          </a:prstGeom>
        </p:spPr>
      </p:pic>
      <p:sp>
        <p:nvSpPr>
          <p:cNvPr id="40" name="TextBox 39"/>
          <p:cNvSpPr txBox="1"/>
          <p:nvPr/>
        </p:nvSpPr>
        <p:spPr>
          <a:xfrm>
            <a:off x="3694922" y="3309524"/>
            <a:ext cx="2019064" cy="194310"/>
          </a:xfrm>
          <a:prstGeom prst="rect">
            <a:avLst/>
          </a:prstGeom>
          <a:noFill/>
        </p:spPr>
        <p:txBody>
          <a:bodyPr wrap="none" lIns="0" rIns="0" tIns="0" bIns="0">
            <a:spAutoFit/>
          </a:bodyPr>
          <a:lstStyle/>
          <a:p>
            <a:r>
              <a:rPr sz="1150" b="0">
                <a:solidFill>
                  <a:srgbClr val="2E2E2E"/>
                </a:solidFill>
                <a:latin typeface="Calibri"/>
              </a:rPr>
              <a:t>) into lower-penetration regions.</a:t>
            </a:r>
          </a:p>
        </p:txBody>
      </p:sp>
      <p:sp>
        <p:nvSpPr>
          <p:cNvPr id="41" name="TextBox 40"/>
          <p:cNvSpPr txBox="1"/>
          <p:nvPr/>
        </p:nvSpPr>
        <p:spPr>
          <a:xfrm>
            <a:off x="276225" y="3537362"/>
            <a:ext cx="694059" cy="194310"/>
          </a:xfrm>
          <a:prstGeom prst="rect">
            <a:avLst/>
          </a:prstGeom>
          <a:noFill/>
        </p:spPr>
        <p:txBody>
          <a:bodyPr wrap="none" lIns="0" rIns="0" tIns="0" bIns="0">
            <a:spAutoFit/>
          </a:bodyPr>
          <a:lstStyle/>
          <a:p>
            <a:r>
              <a:rPr sz="1150" b="0">
                <a:solidFill>
                  <a:srgbClr val="2E2E2E"/>
                </a:solidFill>
                <a:latin typeface="Calibri"/>
              </a:rPr>
              <a:t>▪ Sustain a</a:t>
            </a:r>
          </a:p>
        </p:txBody>
      </p:sp>
      <p:pic>
        <p:nvPicPr>
          <p:cNvPr id="42" name="Picture 41" descr="lock.png"/>
          <p:cNvPicPr>
            <a:picLocks noChangeAspect="1"/>
          </p:cNvPicPr>
          <p:nvPr/>
        </p:nvPicPr>
        <p:blipFill>
          <a:blip r:embed="rId4"/>
          <a:stretch>
            <a:fillRect/>
          </a:stretch>
        </p:blipFill>
        <p:spPr>
          <a:xfrm>
            <a:off x="919438" y="3527139"/>
            <a:ext cx="134549" cy="195707"/>
          </a:xfrm>
          <a:prstGeom prst="rect">
            <a:avLst/>
          </a:prstGeom>
        </p:spPr>
      </p:pic>
      <p:sp>
        <p:nvSpPr>
          <p:cNvPr id="43" name="TextBox 42"/>
          <p:cNvSpPr txBox="1"/>
          <p:nvPr/>
        </p:nvSpPr>
        <p:spPr>
          <a:xfrm>
            <a:off x="1094548" y="3537362"/>
            <a:ext cx="3750555" cy="194310"/>
          </a:xfrm>
          <a:prstGeom prst="rect">
            <a:avLst/>
          </a:prstGeom>
          <a:noFill/>
        </p:spPr>
        <p:txBody>
          <a:bodyPr wrap="none" lIns="0" rIns="0" tIns="0" bIns="0">
            <a:spAutoFit/>
          </a:bodyPr>
          <a:lstStyle/>
          <a:p>
            <a:r>
              <a:rPr sz="1150" b="0">
                <a:solidFill>
                  <a:srgbClr val="2E2E2E"/>
                </a:solidFill>
                <a:latin typeface="Calibri"/>
              </a:rPr>
              <a:t>book-to-bill with disciplined capacity and channel investment.</a:t>
            </a:r>
          </a:p>
        </p:txBody>
      </p:sp>
      <p:sp>
        <p:nvSpPr>
          <p:cNvPr id="44" name="TextBox 43"/>
          <p:cNvSpPr txBox="1"/>
          <p:nvPr/>
        </p:nvSpPr>
        <p:spPr>
          <a:xfrm>
            <a:off x="276225" y="3765200"/>
            <a:ext cx="5321163" cy="194310"/>
          </a:xfrm>
          <a:prstGeom prst="rect">
            <a:avLst/>
          </a:prstGeom>
          <a:noFill/>
        </p:spPr>
        <p:txBody>
          <a:bodyPr wrap="none" lIns="0" rIns="0" tIns="0" bIns="0">
            <a:spAutoFit/>
          </a:bodyPr>
          <a:lstStyle/>
          <a:p>
            <a:r>
              <a:rPr sz="1150" b="0">
                <a:solidFill>
                  <a:srgbClr val="2E2E2E"/>
                </a:solidFill>
                <a:latin typeface="Calibri"/>
              </a:rPr>
              <a:t>▪ Protect margin through corridor-based pricing and cost discipline as input prices move.</a:t>
            </a:r>
          </a:p>
        </p:txBody>
      </p:sp>
      <p:sp>
        <p:nvSpPr>
          <p:cNvPr id="45" name="TextBox 44"/>
          <p:cNvSpPr txBox="1"/>
          <p:nvPr/>
        </p:nvSpPr>
        <p:spPr>
          <a:xfrm>
            <a:off x="6334125" y="2503329"/>
            <a:ext cx="5562600" cy="194310"/>
          </a:xfrm>
          <a:prstGeom prst="rect">
            <a:avLst/>
          </a:prstGeom>
          <a:noFill/>
        </p:spPr>
        <p:txBody>
          <a:bodyPr wrap="none" lIns="0" rIns="0" tIns="0" bIns="0">
            <a:spAutoFit/>
          </a:bodyPr>
          <a:lstStyle/>
          <a:p>
            <a:r>
              <a:rPr sz="1150" b="0">
                <a:solidFill>
                  <a:srgbClr val="2E2E2E"/>
                </a:solidFill>
                <a:latin typeface="Calibri"/>
              </a:rPr>
              <a:t>▪ Premiumise the portfolio around 'Capsules and Softgels' and adjacent high-value lines to lift</a:t>
            </a:r>
          </a:p>
        </p:txBody>
      </p:sp>
      <p:sp>
        <p:nvSpPr>
          <p:cNvPr id="46" name="TextBox 45"/>
          <p:cNvSpPr txBox="1"/>
          <p:nvPr/>
        </p:nvSpPr>
        <p:spPr>
          <a:xfrm>
            <a:off x="6334125" y="2678589"/>
            <a:ext cx="1034653" cy="194310"/>
          </a:xfrm>
          <a:prstGeom prst="rect">
            <a:avLst/>
          </a:prstGeom>
          <a:noFill/>
        </p:spPr>
        <p:txBody>
          <a:bodyPr wrap="none" lIns="0" rIns="0" tIns="0" bIns="0">
            <a:spAutoFit/>
          </a:bodyPr>
          <a:lstStyle/>
          <a:p>
            <a:r>
              <a:rPr sz="1150" b="0">
                <a:solidFill>
                  <a:srgbClr val="2E2E2E"/>
                </a:solidFill>
                <a:latin typeface="Calibri"/>
              </a:rPr>
              <a:t>blended pricing.</a:t>
            </a:r>
          </a:p>
        </p:txBody>
      </p:sp>
      <p:sp>
        <p:nvSpPr>
          <p:cNvPr id="47" name="TextBox 46"/>
          <p:cNvSpPr txBox="1"/>
          <p:nvPr/>
        </p:nvSpPr>
        <p:spPr>
          <a:xfrm>
            <a:off x="6334125" y="2906426"/>
            <a:ext cx="5219613" cy="194310"/>
          </a:xfrm>
          <a:prstGeom prst="rect">
            <a:avLst/>
          </a:prstGeom>
          <a:noFill/>
        </p:spPr>
        <p:txBody>
          <a:bodyPr wrap="none" lIns="0" rIns="0" tIns="0" bIns="0">
            <a:spAutoFit/>
          </a:bodyPr>
          <a:lstStyle/>
          <a:p>
            <a:r>
              <a:rPr sz="1150" b="0">
                <a:solidFill>
                  <a:srgbClr val="2E2E2E"/>
                </a:solidFill>
                <a:latin typeface="Calibri"/>
              </a:rPr>
              <a:t>▪ Deepen presence in 'North America' (largest SOM region) and build out under-served</a:t>
            </a:r>
          </a:p>
        </p:txBody>
      </p:sp>
      <p:sp>
        <p:nvSpPr>
          <p:cNvPr id="48" name="TextBox 47"/>
          <p:cNvSpPr txBox="1"/>
          <p:nvPr/>
        </p:nvSpPr>
        <p:spPr>
          <a:xfrm>
            <a:off x="6334125" y="3081686"/>
            <a:ext cx="838113" cy="194310"/>
          </a:xfrm>
          <a:prstGeom prst="rect">
            <a:avLst/>
          </a:prstGeom>
          <a:noFill/>
        </p:spPr>
        <p:txBody>
          <a:bodyPr wrap="none" lIns="0" rIns="0" tIns="0" bIns="0">
            <a:spAutoFit/>
          </a:bodyPr>
          <a:lstStyle/>
          <a:p>
            <a:r>
              <a:rPr sz="1150" b="0">
                <a:solidFill>
                  <a:srgbClr val="2E2E2E"/>
                </a:solidFill>
                <a:latin typeface="Calibri"/>
              </a:rPr>
              <a:t>geographies.</a:t>
            </a:r>
          </a:p>
        </p:txBody>
      </p:sp>
      <p:sp>
        <p:nvSpPr>
          <p:cNvPr id="49" name="TextBox 48"/>
          <p:cNvSpPr txBox="1"/>
          <p:nvPr/>
        </p:nvSpPr>
        <p:spPr>
          <a:xfrm>
            <a:off x="6334125" y="3309524"/>
            <a:ext cx="5471144" cy="194310"/>
          </a:xfrm>
          <a:prstGeom prst="rect">
            <a:avLst/>
          </a:prstGeom>
          <a:noFill/>
        </p:spPr>
        <p:txBody>
          <a:bodyPr wrap="none" lIns="0" rIns="0" tIns="0" bIns="0">
            <a:spAutoFit/>
          </a:bodyPr>
          <a:lstStyle/>
          <a:p>
            <a:r>
              <a:rPr sz="1150" b="0">
                <a:solidFill>
                  <a:srgbClr val="2E2E2E"/>
                </a:solidFill>
                <a:latin typeface="Calibri"/>
              </a:rPr>
              <a:t>▪ Invest in R&amp;D, certification and selective M&amp;A to move up the price ladder and widen the</a:t>
            </a:r>
          </a:p>
        </p:txBody>
      </p:sp>
      <p:sp>
        <p:nvSpPr>
          <p:cNvPr id="50" name="TextBox 49"/>
          <p:cNvSpPr txBox="1"/>
          <p:nvPr/>
        </p:nvSpPr>
        <p:spPr>
          <a:xfrm>
            <a:off x="6334125" y="3484784"/>
            <a:ext cx="425636" cy="194310"/>
          </a:xfrm>
          <a:prstGeom prst="rect">
            <a:avLst/>
          </a:prstGeom>
          <a:noFill/>
        </p:spPr>
        <p:txBody>
          <a:bodyPr wrap="none" lIns="0" rIns="0" tIns="0" bIns="0">
            <a:spAutoFit/>
          </a:bodyPr>
          <a:lstStyle/>
          <a:p>
            <a:r>
              <a:rPr sz="1150" b="0">
                <a:solidFill>
                  <a:srgbClr val="2E2E2E"/>
                </a:solidFill>
                <a:latin typeface="Calibri"/>
              </a:rPr>
              <a:t>moat.</a:t>
            </a:r>
          </a:p>
        </p:txBody>
      </p:sp>
      <p:sp>
        <p:nvSpPr>
          <p:cNvPr id="51" name="TextBox 50"/>
          <p:cNvSpPr txBox="1"/>
          <p:nvPr/>
        </p:nvSpPr>
        <p:spPr>
          <a:xfrm>
            <a:off x="6334125" y="3712622"/>
            <a:ext cx="5267535" cy="194310"/>
          </a:xfrm>
          <a:prstGeom prst="rect">
            <a:avLst/>
          </a:prstGeom>
          <a:noFill/>
        </p:spPr>
        <p:txBody>
          <a:bodyPr wrap="none" lIns="0" rIns="0" tIns="0" bIns="0">
            <a:spAutoFit/>
          </a:bodyPr>
          <a:lstStyle/>
          <a:p>
            <a:r>
              <a:rPr sz="1150" b="0">
                <a:solidFill>
                  <a:srgbClr val="2E2E2E"/>
                </a:solidFill>
                <a:latin typeface="Calibri"/>
              </a:rPr>
              <a:t>▪ Diversify the customer base and secure supply to de-risk concentration and input-cost</a:t>
            </a:r>
          </a:p>
        </p:txBody>
      </p:sp>
      <p:sp>
        <p:nvSpPr>
          <p:cNvPr id="52" name="TextBox 51"/>
          <p:cNvSpPr txBox="1"/>
          <p:nvPr/>
        </p:nvSpPr>
        <p:spPr>
          <a:xfrm>
            <a:off x="6334125" y="3887882"/>
            <a:ext cx="509215" cy="194310"/>
          </a:xfrm>
          <a:prstGeom prst="rect">
            <a:avLst/>
          </a:prstGeom>
          <a:noFill/>
        </p:spPr>
        <p:txBody>
          <a:bodyPr wrap="none" lIns="0" rIns="0" tIns="0" bIns="0">
            <a:spAutoFit/>
          </a:bodyPr>
          <a:lstStyle/>
          <a:p>
            <a:r>
              <a:rPr sz="1150" b="0">
                <a:solidFill>
                  <a:srgbClr val="2E2E2E"/>
                </a:solidFill>
                <a:latin typeface="Calibri"/>
              </a:rPr>
              <a:t>shocks.</a:t>
            </a:r>
          </a:p>
        </p:txBody>
      </p:sp>
      <p:sp>
        <p:nvSpPr>
          <p:cNvPr id="53" name="TextBox 52"/>
          <p:cNvSpPr txBox="1"/>
          <p:nvPr/>
        </p:nvSpPr>
        <p:spPr>
          <a:xfrm>
            <a:off x="6334125" y="4115720"/>
            <a:ext cx="3102173" cy="194310"/>
          </a:xfrm>
          <a:prstGeom prst="rect">
            <a:avLst/>
          </a:prstGeom>
          <a:noFill/>
        </p:spPr>
        <p:txBody>
          <a:bodyPr wrap="none" lIns="0" rIns="0" tIns="0" bIns="0">
            <a:spAutoFit/>
          </a:bodyPr>
          <a:lstStyle/>
          <a:p>
            <a:r>
              <a:rPr sz="1150" b="0">
                <a:solidFill>
                  <a:srgbClr val="2E2E2E"/>
                </a:solidFill>
                <a:latin typeface="Calibri"/>
              </a:rPr>
              <a:t>▪ Sharpen go-to-market a ~95-day sales cycle and ~</a:t>
            </a:r>
          </a:p>
        </p:txBody>
      </p:sp>
      <p:pic>
        <p:nvPicPr>
          <p:cNvPr id="54" name="Picture 53" descr="lock.png"/>
          <p:cNvPicPr>
            <a:picLocks noChangeAspect="1"/>
          </p:cNvPicPr>
          <p:nvPr/>
        </p:nvPicPr>
        <p:blipFill>
          <a:blip r:embed="rId4"/>
          <a:stretch>
            <a:fillRect/>
          </a:stretch>
        </p:blipFill>
        <p:spPr>
          <a:xfrm>
            <a:off x="9385452" y="4105497"/>
            <a:ext cx="134549" cy="195707"/>
          </a:xfrm>
          <a:prstGeom prst="rect">
            <a:avLst/>
          </a:prstGeom>
        </p:spPr>
      </p:pic>
      <p:sp>
        <p:nvSpPr>
          <p:cNvPr id="55" name="TextBox 54"/>
          <p:cNvSpPr txBox="1"/>
          <p:nvPr/>
        </p:nvSpPr>
        <p:spPr>
          <a:xfrm>
            <a:off x="9560561" y="4115720"/>
            <a:ext cx="2003660" cy="194310"/>
          </a:xfrm>
          <a:prstGeom prst="rect">
            <a:avLst/>
          </a:prstGeom>
          <a:noFill/>
        </p:spPr>
        <p:txBody>
          <a:bodyPr wrap="none" lIns="0" rIns="0" tIns="0" bIns="0">
            <a:spAutoFit/>
          </a:bodyPr>
          <a:lstStyle/>
          <a:p>
            <a:r>
              <a:rPr sz="1150" b="0">
                <a:solidFill>
                  <a:srgbClr val="2E2E2E"/>
                </a:solidFill>
                <a:latin typeface="Calibri"/>
              </a:rPr>
              <a:t>conversion speed share capture.</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20</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Senior Dog Cognitive Supplement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Competitive Landscape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Pipeline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Strategic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Competition Dashboard</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Competitive Landscape at a Glance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Market concentration, segment leadership and the moves that will shift share, 2026–2036, in one page</a:t>
            </a:r>
          </a:p>
        </p:txBody>
      </p:sp>
      <p:cxnSp>
        <p:nvCxnSpPr>
          <p:cNvPr id="10" name="Connector 9"/>
          <p:cNvCxnSpPr/>
          <p:nvPr/>
        </p:nvCxnSpPr>
        <p:spPr>
          <a:xfrm>
            <a:off x="190500" y="10477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476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12" name="TextBox 11"/>
          <p:cNvSpPr txBox="1"/>
          <p:nvPr/>
        </p:nvSpPr>
        <p:spPr>
          <a:xfrm>
            <a:off x="2476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E87722"/>
                </a:solidFill>
                <a:latin typeface="Calibri"/>
              </a:rPr>
              <a:t> </a:t>
            </a:r>
          </a:p>
        </p:txBody>
      </p:sp>
      <p:cxnSp>
        <p:nvCxnSpPr>
          <p:cNvPr id="13" name="Connector 12"/>
          <p:cNvCxnSpPr/>
          <p:nvPr/>
        </p:nvCxnSpPr>
        <p:spPr>
          <a:xfrm>
            <a:off x="16668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7240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5" name="TextBox 14"/>
          <p:cNvSpPr txBox="1"/>
          <p:nvPr/>
        </p:nvSpPr>
        <p:spPr>
          <a:xfrm>
            <a:off x="17240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16" name="Connector 15"/>
          <p:cNvCxnSpPr/>
          <p:nvPr/>
        </p:nvCxnSpPr>
        <p:spPr>
          <a:xfrm>
            <a:off x="31432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2004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product types</a:t>
            </a:r>
          </a:p>
        </p:txBody>
      </p:sp>
      <p:sp>
        <p:nvSpPr>
          <p:cNvPr id="18" name="TextBox 17"/>
          <p:cNvSpPr txBox="1"/>
          <p:nvPr/>
        </p:nvSpPr>
        <p:spPr>
          <a:xfrm>
            <a:off x="32004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19" name="Connector 18"/>
          <p:cNvCxnSpPr/>
          <p:nvPr/>
        </p:nvCxnSpPr>
        <p:spPr>
          <a:xfrm>
            <a:off x="46196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6767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end use</a:t>
            </a:r>
          </a:p>
        </p:txBody>
      </p:sp>
      <p:sp>
        <p:nvSpPr>
          <p:cNvPr id="21" name="TextBox 20"/>
          <p:cNvSpPr txBox="1"/>
          <p:nvPr/>
        </p:nvSpPr>
        <p:spPr>
          <a:xfrm>
            <a:off x="46767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r>
          </a:p>
        </p:txBody>
      </p:sp>
      <p:cxnSp>
        <p:nvCxnSpPr>
          <p:cNvPr id="22" name="Connector 21"/>
          <p:cNvCxnSpPr/>
          <p:nvPr/>
        </p:nvCxnSpPr>
        <p:spPr>
          <a:xfrm>
            <a:off x="609600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1531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Named competitors</a:t>
            </a:r>
          </a:p>
        </p:txBody>
      </p:sp>
      <p:sp>
        <p:nvSpPr>
          <p:cNvPr id="24" name="TextBox 23"/>
          <p:cNvSpPr txBox="1"/>
          <p:nvPr/>
        </p:nvSpPr>
        <p:spPr>
          <a:xfrm>
            <a:off x="61531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10</a:t>
            </a:r>
          </a:p>
        </p:txBody>
      </p:sp>
      <p:cxnSp>
        <p:nvCxnSpPr>
          <p:cNvPr id="25" name="Connector 24"/>
          <p:cNvCxnSpPr/>
          <p:nvPr/>
        </p:nvCxnSpPr>
        <p:spPr>
          <a:xfrm>
            <a:off x="75723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6295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Moves tracked</a:t>
            </a:r>
          </a:p>
        </p:txBody>
      </p:sp>
      <p:sp>
        <p:nvSpPr>
          <p:cNvPr id="27" name="TextBox 26"/>
          <p:cNvSpPr txBox="1"/>
          <p:nvPr/>
        </p:nvSpPr>
        <p:spPr>
          <a:xfrm>
            <a:off x="76295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50</a:t>
            </a:r>
          </a:p>
        </p:txBody>
      </p:sp>
      <p:cxnSp>
        <p:nvCxnSpPr>
          <p:cNvPr id="28" name="Connector 27"/>
          <p:cNvCxnSpPr/>
          <p:nvPr/>
        </p:nvCxnSpPr>
        <p:spPr>
          <a:xfrm>
            <a:off x="90487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1059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player</a:t>
            </a:r>
          </a:p>
        </p:txBody>
      </p:sp>
      <p:sp>
        <p:nvSpPr>
          <p:cNvPr id="30" name="TextBox 29"/>
          <p:cNvSpPr txBox="1"/>
          <p:nvPr/>
        </p:nvSpPr>
        <p:spPr>
          <a:xfrm>
            <a:off x="91059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Standard Process</a:t>
            </a:r>
          </a:p>
        </p:txBody>
      </p:sp>
      <p:cxnSp>
        <p:nvCxnSpPr>
          <p:cNvPr id="31" name="Connector 30"/>
          <p:cNvCxnSpPr/>
          <p:nvPr/>
        </p:nvCxnSpPr>
        <p:spPr>
          <a:xfrm>
            <a:off x="105251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5822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sp>
        <p:nvSpPr>
          <p:cNvPr id="33" name="TextBox 32"/>
          <p:cNvSpPr txBox="1"/>
          <p:nvPr/>
        </p:nvSpPr>
        <p:spPr>
          <a:xfrm>
            <a:off x="105822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34" name="Connector 33"/>
          <p:cNvCxnSpPr/>
          <p:nvPr/>
        </p:nvCxnSpPr>
        <p:spPr>
          <a:xfrm>
            <a:off x="190500" y="1733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90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37" name="TextBox 36"/>
          <p:cNvSpPr txBox="1"/>
          <p:nvPr/>
        </p:nvSpPr>
        <p:spPr>
          <a:xfrm>
            <a:off x="495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Leadership is concentrated in value, spread in capability</a:t>
            </a:r>
          </a:p>
        </p:txBody>
      </p:sp>
      <p:sp>
        <p:nvSpPr>
          <p:cNvPr id="38" name="TextBox 37"/>
          <p:cNvSpPr txBox="1"/>
          <p:nvPr/>
        </p:nvSpPr>
        <p:spPr>
          <a:xfrm>
            <a:off x="495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39" name="Rectangle 38"/>
          <p:cNvSpPr/>
          <p:nvPr/>
        </p:nvSpPr>
        <p:spPr>
          <a:xfrm>
            <a:off x="190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90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1" name="TextBox 40"/>
          <p:cNvSpPr txBox="1"/>
          <p:nvPr/>
        </p:nvSpPr>
        <p:spPr>
          <a:xfrm>
            <a:off x="495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The tier structure is steep</a:t>
            </a:r>
          </a:p>
        </p:txBody>
      </p:sp>
      <p:sp>
        <p:nvSpPr>
          <p:cNvPr id="42" name="TextBox 41"/>
          <p:cNvSpPr txBox="1"/>
          <p:nvPr/>
        </p:nvSpPr>
        <p:spPr>
          <a:xfrm>
            <a:off x="495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3" name="Rectangle 42"/>
          <p:cNvSpPr/>
          <p:nvPr/>
        </p:nvSpPr>
        <p:spPr>
          <a:xfrm>
            <a:off x="190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90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45" name="TextBox 44"/>
          <p:cNvSpPr txBox="1"/>
          <p:nvPr/>
        </p:nvSpPr>
        <p:spPr>
          <a:xfrm>
            <a:off x="495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Growth is shifting inside the product mix</a:t>
            </a:r>
          </a:p>
        </p:txBody>
      </p:sp>
      <p:sp>
        <p:nvSpPr>
          <p:cNvPr id="46" name="TextBox 45"/>
          <p:cNvSpPr txBox="1"/>
          <p:nvPr/>
        </p:nvSpPr>
        <p:spPr>
          <a:xfrm>
            <a:off x="495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7" name="Rectangle 46"/>
          <p:cNvSpPr/>
          <p:nvPr/>
        </p:nvSpPr>
        <p:spPr>
          <a:xfrm>
            <a:off x="6286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86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49" name="TextBox 48"/>
          <p:cNvSpPr txBox="1"/>
          <p:nvPr/>
        </p:nvSpPr>
        <p:spPr>
          <a:xfrm>
            <a:off x="6591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Reach divides the field</a:t>
            </a:r>
          </a:p>
        </p:txBody>
      </p:sp>
      <p:sp>
        <p:nvSpPr>
          <p:cNvPr id="50" name="TextBox 49"/>
          <p:cNvSpPr txBox="1"/>
          <p:nvPr/>
        </p:nvSpPr>
        <p:spPr>
          <a:xfrm>
            <a:off x="6591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players compete globally, 2 regionally and 4 in one market or niche.</a:t>
            </a:r>
          </a:p>
        </p:txBody>
      </p:sp>
      <p:sp>
        <p:nvSpPr>
          <p:cNvPr id="51" name="Rectangle 50"/>
          <p:cNvSpPr/>
          <p:nvPr/>
        </p:nvSpPr>
        <p:spPr>
          <a:xfrm>
            <a:off x="6286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86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53" name="TextBox 52"/>
          <p:cNvSpPr txBox="1"/>
          <p:nvPr/>
        </p:nvSpPr>
        <p:spPr>
          <a:xfrm>
            <a:off x="6591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Consolidation is an active lever</a:t>
            </a:r>
          </a:p>
        </p:txBody>
      </p:sp>
      <p:sp>
        <p:nvSpPr>
          <p:cNvPr id="54" name="TextBox 53"/>
          <p:cNvSpPr txBox="1"/>
          <p:nvPr/>
        </p:nvSpPr>
        <p:spPr>
          <a:xfrm>
            <a:off x="6591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is an active strategy at 5 of 10 named players; the independent target list is shrinking.</a:t>
            </a:r>
          </a:p>
        </p:txBody>
      </p:sp>
      <p:sp>
        <p:nvSpPr>
          <p:cNvPr id="55" name="Rectangle 54"/>
          <p:cNvSpPr/>
          <p:nvPr/>
        </p:nvSpPr>
        <p:spPr>
          <a:xfrm>
            <a:off x="6286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86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6</a:t>
            </a:r>
          </a:p>
        </p:txBody>
      </p:sp>
      <p:sp>
        <p:nvSpPr>
          <p:cNvPr id="57" name="TextBox 56"/>
          <p:cNvSpPr txBox="1"/>
          <p:nvPr/>
        </p:nvSpPr>
        <p:spPr>
          <a:xfrm>
            <a:off x="6591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Success factors, in order</a:t>
            </a:r>
          </a:p>
        </p:txBody>
      </p:sp>
      <p:sp>
        <p:nvSpPr>
          <p:cNvPr id="58" name="TextBox 57"/>
          <p:cNvSpPr txBox="1"/>
          <p:nvPr/>
        </p:nvSpPr>
        <p:spPr>
          <a:xfrm>
            <a:off x="6591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 segment breadth, 2 scale and share, 3 geographic reach, 4 innovation pipeline, 5 strategic momentum.  Ranking leads: VetriScience, Standard Process, Dr. Fossum's.</a:t>
            </a:r>
          </a:p>
        </p:txBody>
      </p:sp>
      <p:cxnSp>
        <p:nvCxnSpPr>
          <p:cNvPr id="59" name="Connector 58"/>
          <p:cNvCxnSpPr/>
          <p:nvPr/>
        </p:nvCxnSpPr>
        <p:spPr>
          <a:xfrm>
            <a:off x="190500" y="521970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190500" y="5276850"/>
            <a:ext cx="3810000" cy="152400"/>
          </a:xfrm>
          <a:prstGeom prst="rect">
            <a:avLst/>
          </a:prstGeom>
          <a:noFill/>
        </p:spPr>
        <p:txBody>
          <a:bodyPr wrap="square" lIns="28575" rIns="28575" tIns="9525" bIns="9525" anchor="t">
            <a:spAutoFit/>
          </a:bodyPr>
          <a:lstStyle/>
          <a:p>
            <a:pPr algn="l"/>
            <a:r>
              <a:rPr sz="1100" b="1">
                <a:solidFill>
                  <a:srgbClr val="0F2D52"/>
                </a:solidFill>
                <a:latin typeface="Calibri"/>
              </a:rPr>
              <a:t>HOW THIS SECTION IS BUILT</a:t>
            </a:r>
          </a:p>
        </p:txBody>
      </p:sp>
      <p:sp>
        <p:nvSpPr>
          <p:cNvPr id="61" name="TextBox 60"/>
          <p:cNvSpPr txBox="1"/>
          <p:nvPr/>
        </p:nvSpPr>
        <p:spPr>
          <a:xfrm>
            <a:off x="190500" y="5448300"/>
            <a:ext cx="11811000" cy="5715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Pages 2 to 4 show where the market is and who plays.  Pages 5 to 7 rate every named company on twenty Ps (who they are, what they sell, how they win); a cell reads n/a where no evidence exists.  Page 8 turns the pattern into five success factors and a ranking.  Pages 9 and 10 list what each player is doing and what each of your departments should do about it.</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lock.png"/>
          <p:cNvPicPr>
            <a:picLocks noChangeAspect="1"/>
          </p:cNvPicPr>
          <p:nvPr/>
        </p:nvPicPr>
        <p:blipFill>
          <a:blip r:embed="rId4"/>
          <a:stretch>
            <a:fillRect/>
          </a:stretch>
        </p:blipFill>
        <p:spPr>
          <a:xfrm>
            <a:off x="873863" y="1401826"/>
            <a:ext cx="128699" cy="187198"/>
          </a:xfrm>
          <a:prstGeom prst="rect">
            <a:avLst/>
          </a:prstGeom>
        </p:spPr>
      </p:pic>
      <p:pic>
        <p:nvPicPr>
          <p:cNvPr id="64" name="Picture 63" descr="lock.png"/>
          <p:cNvPicPr>
            <a:picLocks noChangeAspect="1"/>
          </p:cNvPicPr>
          <p:nvPr/>
        </p:nvPicPr>
        <p:blipFill>
          <a:blip r:embed="rId4"/>
          <a:stretch>
            <a:fillRect/>
          </a:stretch>
        </p:blipFill>
        <p:spPr>
          <a:xfrm>
            <a:off x="2350238" y="1401826"/>
            <a:ext cx="128699" cy="187198"/>
          </a:xfrm>
          <a:prstGeom prst="rect">
            <a:avLst/>
          </a:prstGeom>
        </p:spPr>
      </p:pic>
      <p:pic>
        <p:nvPicPr>
          <p:cNvPr id="65" name="Picture 64" descr="lock.png"/>
          <p:cNvPicPr>
            <a:picLocks noChangeAspect="1"/>
          </p:cNvPicPr>
          <p:nvPr/>
        </p:nvPicPr>
        <p:blipFill>
          <a:blip r:embed="rId4"/>
          <a:stretch>
            <a:fillRect/>
          </a:stretch>
        </p:blipFill>
        <p:spPr>
          <a:xfrm>
            <a:off x="3826613" y="1401826"/>
            <a:ext cx="128699" cy="187198"/>
          </a:xfrm>
          <a:prstGeom prst="rect">
            <a:avLst/>
          </a:prstGeom>
        </p:spPr>
      </p:pic>
      <p:pic>
        <p:nvPicPr>
          <p:cNvPr id="66" name="Picture 65" descr="lock.png"/>
          <p:cNvPicPr>
            <a:picLocks noChangeAspect="1"/>
          </p:cNvPicPr>
          <p:nvPr/>
        </p:nvPicPr>
        <p:blipFill>
          <a:blip r:embed="rId4"/>
          <a:stretch>
            <a:fillRect/>
          </a:stretch>
        </p:blipFill>
        <p:spPr>
          <a:xfrm>
            <a:off x="11208488" y="1401826"/>
            <a:ext cx="128699" cy="187198"/>
          </a:xfrm>
          <a:prstGeom prst="rect">
            <a:avLst/>
          </a:prstGeom>
        </p:spPr>
      </p:pic>
      <p:sp>
        <p:nvSpPr>
          <p:cNvPr id="67" name="TextBox 66"/>
          <p:cNvSpPr txBox="1"/>
          <p:nvPr/>
        </p:nvSpPr>
        <p:spPr>
          <a:xfrm>
            <a:off x="4705350" y="1304925"/>
            <a:ext cx="1052964" cy="139750"/>
          </a:xfrm>
          <a:prstGeom prst="rect">
            <a:avLst/>
          </a:prstGeom>
          <a:noFill/>
        </p:spPr>
        <p:txBody>
          <a:bodyPr wrap="none" lIns="0" rIns="0" tIns="0" bIns="0">
            <a:spAutoFit/>
          </a:bodyPr>
          <a:lstStyle/>
          <a:p>
            <a:r>
              <a:rPr sz="791" b="1">
                <a:solidFill>
                  <a:srgbClr val="0F2D52"/>
                </a:solidFill>
                <a:latin typeface="Calibri"/>
              </a:rPr>
              <a:t>Support for Observable</a:t>
            </a:r>
          </a:p>
        </p:txBody>
      </p:sp>
      <p:sp>
        <p:nvSpPr>
          <p:cNvPr id="68" name="TextBox 67"/>
          <p:cNvSpPr txBox="1"/>
          <p:nvPr/>
        </p:nvSpPr>
        <p:spPr>
          <a:xfrm>
            <a:off x="4705350" y="1425625"/>
            <a:ext cx="1002280" cy="139750"/>
          </a:xfrm>
          <a:prstGeom prst="rect">
            <a:avLst/>
          </a:prstGeom>
          <a:noFill/>
        </p:spPr>
        <p:txBody>
          <a:bodyPr wrap="none" lIns="0" rIns="0" tIns="0" bIns="0">
            <a:spAutoFit/>
          </a:bodyPr>
          <a:lstStyle/>
          <a:p>
            <a:r>
              <a:rPr sz="791" b="1">
                <a:solidFill>
                  <a:srgbClr val="0F2D52"/>
                </a:solidFill>
                <a:latin typeface="Calibri"/>
              </a:rPr>
              <a:t>Age-Related Cognitive</a:t>
            </a:r>
          </a:p>
        </p:txBody>
      </p:sp>
      <p:sp>
        <p:nvSpPr>
          <p:cNvPr id="69" name="TextBox 68"/>
          <p:cNvSpPr txBox="1"/>
          <p:nvPr/>
        </p:nvSpPr>
        <p:spPr>
          <a:xfrm>
            <a:off x="4705350" y="1546326"/>
            <a:ext cx="451621" cy="139750"/>
          </a:xfrm>
          <a:prstGeom prst="rect">
            <a:avLst/>
          </a:prstGeom>
          <a:noFill/>
        </p:spPr>
        <p:txBody>
          <a:bodyPr wrap="none" lIns="0" rIns="0" tIns="0" bIns="0">
            <a:spAutoFit/>
          </a:bodyPr>
          <a:lstStyle/>
          <a:p>
            <a:r>
              <a:rPr sz="791" b="1">
                <a:solidFill>
                  <a:srgbClr val="0F2D52"/>
                </a:solidFill>
                <a:latin typeface="Calibri"/>
              </a:rPr>
              <a:t>Changes,</a:t>
            </a:r>
          </a:p>
        </p:txBody>
      </p:sp>
      <p:pic>
        <p:nvPicPr>
          <p:cNvPr id="70" name="Picture 69" descr="lock.png"/>
          <p:cNvPicPr>
            <a:picLocks noChangeAspect="1"/>
          </p:cNvPicPr>
          <p:nvPr/>
        </p:nvPicPr>
        <p:blipFill>
          <a:blip r:embed="rId4"/>
          <a:stretch>
            <a:fillRect/>
          </a:stretch>
        </p:blipFill>
        <p:spPr>
          <a:xfrm>
            <a:off x="5098233" y="1539285"/>
            <a:ext cx="92663" cy="134782"/>
          </a:xfrm>
          <a:prstGeom prst="rect">
            <a:avLst/>
          </a:prstGeom>
        </p:spPr>
      </p:pic>
      <p:sp>
        <p:nvSpPr>
          <p:cNvPr id="71" name="TextBox 70"/>
          <p:cNvSpPr txBox="1"/>
          <p:nvPr/>
        </p:nvSpPr>
        <p:spPr>
          <a:xfrm>
            <a:off x="523875" y="2124075"/>
            <a:ext cx="1137319" cy="186689"/>
          </a:xfrm>
          <a:prstGeom prst="rect">
            <a:avLst/>
          </a:prstGeom>
          <a:noFill/>
        </p:spPr>
        <p:txBody>
          <a:bodyPr wrap="none" lIns="0" rIns="0" tIns="0" bIns="0">
            <a:spAutoFit/>
          </a:bodyPr>
          <a:lstStyle/>
          <a:p>
            <a:r>
              <a:rPr sz="1100" b="0">
                <a:solidFill>
                  <a:srgbClr val="1F2933"/>
                </a:solidFill>
                <a:latin typeface="Calibri"/>
              </a:rPr>
              <a:t>The top three hold</a:t>
            </a:r>
          </a:p>
        </p:txBody>
      </p:sp>
      <p:pic>
        <p:nvPicPr>
          <p:cNvPr id="72" name="Picture 71" descr="lock.png"/>
          <p:cNvPicPr>
            <a:picLocks noChangeAspect="1"/>
          </p:cNvPicPr>
          <p:nvPr/>
        </p:nvPicPr>
        <p:blipFill>
          <a:blip r:embed="rId4"/>
          <a:stretch>
            <a:fillRect/>
          </a:stretch>
        </p:blipFill>
        <p:spPr>
          <a:xfrm>
            <a:off x="1609246" y="2114296"/>
            <a:ext cx="128699" cy="187198"/>
          </a:xfrm>
          <a:prstGeom prst="rect">
            <a:avLst/>
          </a:prstGeom>
        </p:spPr>
      </p:pic>
      <p:sp>
        <p:nvSpPr>
          <p:cNvPr id="73" name="TextBox 72"/>
          <p:cNvSpPr txBox="1"/>
          <p:nvPr/>
        </p:nvSpPr>
        <p:spPr>
          <a:xfrm>
            <a:off x="1776742" y="2124075"/>
            <a:ext cx="3949327" cy="186689"/>
          </a:xfrm>
          <a:prstGeom prst="rect">
            <a:avLst/>
          </a:prstGeom>
          <a:noFill/>
        </p:spPr>
        <p:txBody>
          <a:bodyPr wrap="none" lIns="0" rIns="0" tIns="0" bIns="0">
            <a:spAutoFit/>
          </a:bodyPr>
          <a:lstStyle/>
          <a:p>
            <a:r>
              <a:rPr sz="1100" b="0">
                <a:solidFill>
                  <a:srgbClr val="1F2933"/>
                </a:solidFill>
                <a:latin typeface="Calibri"/>
              </a:rPr>
              <a:t>of 2026 value, but 3 companies lead the 8 sub-segments tracked; no</a:t>
            </a:r>
          </a:p>
        </p:txBody>
      </p:sp>
      <p:sp>
        <p:nvSpPr>
          <p:cNvPr id="74" name="TextBox 73"/>
          <p:cNvSpPr txBox="1"/>
          <p:nvPr/>
        </p:nvSpPr>
        <p:spPr>
          <a:xfrm>
            <a:off x="523875" y="2291715"/>
            <a:ext cx="1386433" cy="186689"/>
          </a:xfrm>
          <a:prstGeom prst="rect">
            <a:avLst/>
          </a:prstGeom>
          <a:noFill/>
        </p:spPr>
        <p:txBody>
          <a:bodyPr wrap="none" lIns="0" rIns="0" tIns="0" bIns="0">
            <a:spAutoFit/>
          </a:bodyPr>
          <a:lstStyle/>
          <a:p>
            <a:r>
              <a:rPr sz="1100" b="0">
                <a:solidFill>
                  <a:srgbClr val="1F2933"/>
                </a:solidFill>
                <a:latin typeface="Calibri"/>
              </a:rPr>
              <a:t>one leads more than 5.</a:t>
            </a:r>
          </a:p>
        </p:txBody>
      </p:sp>
      <p:sp>
        <p:nvSpPr>
          <p:cNvPr id="75" name="TextBox 74"/>
          <p:cNvSpPr txBox="1"/>
          <p:nvPr/>
        </p:nvSpPr>
        <p:spPr>
          <a:xfrm>
            <a:off x="523875" y="3228975"/>
            <a:ext cx="1364059" cy="186689"/>
          </a:xfrm>
          <a:prstGeom prst="rect">
            <a:avLst/>
          </a:prstGeom>
          <a:noFill/>
        </p:spPr>
        <p:txBody>
          <a:bodyPr wrap="none" lIns="0" rIns="0" tIns="0" bIns="0">
            <a:spAutoFit/>
          </a:bodyPr>
          <a:lstStyle/>
          <a:p>
            <a:r>
              <a:rPr sz="1100" b="0">
                <a:solidFill>
                  <a:srgbClr val="1F2933"/>
                </a:solidFill>
                <a:latin typeface="Calibri"/>
              </a:rPr>
              <a:t>Tier 1 (4 players) holds</a:t>
            </a:r>
          </a:p>
        </p:txBody>
      </p:sp>
      <p:pic>
        <p:nvPicPr>
          <p:cNvPr id="76" name="Picture 75" descr="lock.png"/>
          <p:cNvPicPr>
            <a:picLocks noChangeAspect="1"/>
          </p:cNvPicPr>
          <p:nvPr/>
        </p:nvPicPr>
        <p:blipFill>
          <a:blip r:embed="rId4"/>
          <a:stretch>
            <a:fillRect/>
          </a:stretch>
        </p:blipFill>
        <p:spPr>
          <a:xfrm>
            <a:off x="1835985" y="3219196"/>
            <a:ext cx="128699" cy="187198"/>
          </a:xfrm>
          <a:prstGeom prst="rect">
            <a:avLst/>
          </a:prstGeom>
        </p:spPr>
      </p:pic>
      <p:sp>
        <p:nvSpPr>
          <p:cNvPr id="77" name="TextBox 76"/>
          <p:cNvSpPr txBox="1"/>
          <p:nvPr/>
        </p:nvSpPr>
        <p:spPr>
          <a:xfrm>
            <a:off x="2003481" y="3228975"/>
            <a:ext cx="1875656" cy="186689"/>
          </a:xfrm>
          <a:prstGeom prst="rect">
            <a:avLst/>
          </a:prstGeom>
          <a:noFill/>
        </p:spPr>
        <p:txBody>
          <a:bodyPr wrap="none" lIns="0" rIns="0" tIns="0" bIns="0">
            <a:spAutoFit/>
          </a:bodyPr>
          <a:lstStyle/>
          <a:p>
            <a:r>
              <a:rPr sz="1100" b="0">
                <a:solidFill>
                  <a:srgbClr val="1F2933"/>
                </a:solidFill>
                <a:latin typeface="Calibri"/>
              </a:rPr>
              <a:t>; Tier 2 and Tier 3 together hold</a:t>
            </a:r>
          </a:p>
        </p:txBody>
      </p:sp>
      <p:pic>
        <p:nvPicPr>
          <p:cNvPr id="78" name="Picture 77" descr="lock.png"/>
          <p:cNvPicPr>
            <a:picLocks noChangeAspect="1"/>
          </p:cNvPicPr>
          <p:nvPr/>
        </p:nvPicPr>
        <p:blipFill>
          <a:blip r:embed="rId4"/>
          <a:stretch>
            <a:fillRect/>
          </a:stretch>
        </p:blipFill>
        <p:spPr>
          <a:xfrm>
            <a:off x="3827189" y="3219196"/>
            <a:ext cx="128699" cy="187198"/>
          </a:xfrm>
          <a:prstGeom prst="rect">
            <a:avLst/>
          </a:prstGeom>
        </p:spPr>
      </p:pic>
      <p:sp>
        <p:nvSpPr>
          <p:cNvPr id="79" name="TextBox 78"/>
          <p:cNvSpPr txBox="1"/>
          <p:nvPr/>
        </p:nvSpPr>
        <p:spPr>
          <a:xfrm>
            <a:off x="3994685" y="3228975"/>
            <a:ext cx="111397" cy="186689"/>
          </a:xfrm>
          <a:prstGeom prst="rect">
            <a:avLst/>
          </a:prstGeom>
          <a:noFill/>
        </p:spPr>
        <p:txBody>
          <a:bodyPr wrap="none" lIns="0" rIns="0" tIns="0" bIns="0">
            <a:spAutoFit/>
          </a:bodyPr>
          <a:lstStyle/>
          <a:p>
            <a:r>
              <a:rPr sz="1100" b="0">
                <a:solidFill>
                  <a:srgbClr val="1F2933"/>
                </a:solidFill>
                <a:latin typeface="Calibri"/>
              </a:rPr>
              <a:t>.</a:t>
            </a:r>
          </a:p>
        </p:txBody>
      </p:sp>
      <p:sp>
        <p:nvSpPr>
          <p:cNvPr id="80" name="TextBox 79"/>
          <p:cNvSpPr txBox="1"/>
          <p:nvPr/>
        </p:nvSpPr>
        <p:spPr>
          <a:xfrm>
            <a:off x="523875" y="4333875"/>
            <a:ext cx="4360242" cy="186689"/>
          </a:xfrm>
          <a:prstGeom prst="rect">
            <a:avLst/>
          </a:prstGeom>
          <a:noFill/>
        </p:spPr>
        <p:txBody>
          <a:bodyPr wrap="none" lIns="0" rIns="0" tIns="0" bIns="0">
            <a:spAutoFit/>
          </a:bodyPr>
          <a:lstStyle/>
          <a:p>
            <a:r>
              <a:rPr sz="1100" b="0">
                <a:solidFill>
                  <a:srgbClr val="1F2933"/>
                </a:solidFill>
                <a:latin typeface="Calibri"/>
              </a:rPr>
              <a:t>'Capsules and Softgels' is the largest line; 'Chewables' compounds fastest at</a:t>
            </a:r>
          </a:p>
        </p:txBody>
      </p:sp>
      <p:pic>
        <p:nvPicPr>
          <p:cNvPr id="81" name="Picture 80" descr="lock.png"/>
          <p:cNvPicPr>
            <a:picLocks noChangeAspect="1"/>
          </p:cNvPicPr>
          <p:nvPr/>
        </p:nvPicPr>
        <p:blipFill>
          <a:blip r:embed="rId4"/>
          <a:stretch>
            <a:fillRect/>
          </a:stretch>
        </p:blipFill>
        <p:spPr>
          <a:xfrm>
            <a:off x="4832168" y="4324096"/>
            <a:ext cx="128699" cy="187198"/>
          </a:xfrm>
          <a:prstGeom prst="rect">
            <a:avLst/>
          </a:prstGeom>
        </p:spPr>
      </p:pic>
      <p:sp>
        <p:nvSpPr>
          <p:cNvPr id="82" name="TextBox 81"/>
          <p:cNvSpPr txBox="1"/>
          <p:nvPr/>
        </p:nvSpPr>
        <p:spPr>
          <a:xfrm>
            <a:off x="4999664" y="4333875"/>
            <a:ext cx="430617" cy="186689"/>
          </a:xfrm>
          <a:prstGeom prst="rect">
            <a:avLst/>
          </a:prstGeom>
          <a:noFill/>
        </p:spPr>
        <p:txBody>
          <a:bodyPr wrap="none" lIns="0" rIns="0" tIns="0" bIns="0">
            <a:spAutoFit/>
          </a:bodyPr>
          <a:lstStyle/>
          <a:p>
            <a:r>
              <a:rPr sz="1100" b="0">
                <a:solidFill>
                  <a:srgbClr val="1F2933"/>
                </a:solidFill>
                <a:latin typeface="Calibri"/>
              </a:rPr>
              <a:t>CAGR.</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Segment Leadership Map</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Share by player group and which named player leads or is active in each sub-segment, 2026</a:t>
            </a:r>
          </a:p>
        </p:txBody>
      </p:sp>
      <p:sp>
        <p:nvSpPr>
          <p:cNvPr id="10" name="TextBox 9"/>
          <p:cNvSpPr txBox="1"/>
          <p:nvPr/>
        </p:nvSpPr>
        <p:spPr>
          <a:xfrm>
            <a:off x="190500" y="104775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Who holds the market, 2026</a:t>
            </a:r>
          </a:p>
        </p:txBody>
      </p:sp>
      <p:sp>
        <p:nvSpPr>
          <p:cNvPr id="11" name="Rectangle 10"/>
          <p:cNvSpPr/>
          <p:nvPr/>
        </p:nvSpPr>
        <p:spPr>
          <a:xfrm>
            <a:off x="190500" y="1257300"/>
            <a:ext cx="4509884" cy="266700"/>
          </a:xfrm>
          <a:prstGeom prst="rect">
            <a:avLst/>
          </a:prstGeom>
          <a:solidFill>
            <a:srgbClr val="0F2D52"/>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650" y="1257300"/>
            <a:ext cx="4433684"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3" name="Rectangle 12"/>
          <p:cNvSpPr/>
          <p:nvPr/>
        </p:nvSpPr>
        <p:spPr>
          <a:xfrm>
            <a:off x="4700384" y="1257300"/>
            <a:ext cx="1536162" cy="266700"/>
          </a:xfrm>
          <a:prstGeom prst="rect">
            <a:avLst/>
          </a:prstGeom>
          <a:solidFill>
            <a:srgbClr val="1F6FA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7534" y="1257300"/>
            <a:ext cx="1459962"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5" name="Rectangle 14"/>
          <p:cNvSpPr/>
          <p:nvPr/>
        </p:nvSpPr>
        <p:spPr>
          <a:xfrm>
            <a:off x="6236546" y="1257300"/>
            <a:ext cx="2242416" cy="266700"/>
          </a:xfrm>
          <a:prstGeom prst="rect">
            <a:avLst/>
          </a:prstGeom>
          <a:solidFill>
            <a:srgbClr val="6FA0C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3696" y="1257300"/>
            <a:ext cx="2166216"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7" name="Rectangle 16"/>
          <p:cNvSpPr/>
          <p:nvPr/>
        </p:nvSpPr>
        <p:spPr>
          <a:xfrm>
            <a:off x="8478962" y="1257300"/>
            <a:ext cx="3522538" cy="266700"/>
          </a:xfrm>
          <a:prstGeom prst="rect">
            <a:avLst/>
          </a:prstGeom>
          <a:solidFill>
            <a:srgbClr val="A9C6E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36112" y="1257300"/>
            <a:ext cx="3446338" cy="266700"/>
          </a:xfrm>
          <a:prstGeom prst="rect">
            <a:avLst/>
          </a:prstGeom>
          <a:noFill/>
        </p:spPr>
        <p:txBody>
          <a:bodyPr wrap="square" lIns="28575" rIns="28575" tIns="9525" bIns="9525" anchor="ctr">
            <a:spAutoFit/>
          </a:bodyPr>
          <a:lstStyle/>
          <a:p>
            <a:pPr algn="l"/>
            <a:r>
              <a:rPr sz="1100" b="1">
                <a:solidFill>
                  <a:srgbClr val="0F2D52"/>
                </a:solidFill>
                <a:latin typeface="Calibri"/>
              </a:rPr>
              <a:t/>
            </a:r>
          </a:p>
        </p:txBody>
      </p:sp>
      <p:sp>
        <p:nvSpPr>
          <p:cNvPr id="19" name="Rectangle 18"/>
          <p:cNvSpPr/>
          <p:nvPr/>
        </p:nvSpPr>
        <p:spPr>
          <a:xfrm>
            <a:off x="190500" y="1600200"/>
            <a:ext cx="85725" cy="857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43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Standard Process, VetriScience, Dr. Fossum's</a:t>
            </a:r>
          </a:p>
        </p:txBody>
      </p:sp>
      <p:sp>
        <p:nvSpPr>
          <p:cNvPr id="21" name="Rectangle 20"/>
          <p:cNvSpPr/>
          <p:nvPr/>
        </p:nvSpPr>
        <p:spPr>
          <a:xfrm>
            <a:off x="3143250" y="1600200"/>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670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Nestlé Purina PetCare, PetHeal</a:t>
            </a:r>
          </a:p>
        </p:txBody>
      </p:sp>
      <p:sp>
        <p:nvSpPr>
          <p:cNvPr id="23" name="Rectangle 22"/>
          <p:cNvSpPr/>
          <p:nvPr/>
        </p:nvSpPr>
        <p:spPr>
          <a:xfrm>
            <a:off x="6096000" y="1600200"/>
            <a:ext cx="85725" cy="85725"/>
          </a:xfrm>
          <a:prstGeom prst="rect">
            <a:avLst/>
          </a:prstGeom>
          <a:solidFill>
            <a:srgbClr val="6FA0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98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Senior Dogs Club, VISYO Corporation, NaturVet, Zesty Paws, Ark Naturals</a:t>
            </a:r>
          </a:p>
        </p:txBody>
      </p:sp>
      <p:sp>
        <p:nvSpPr>
          <p:cNvPr id="25" name="Rectangle 24"/>
          <p:cNvSpPr/>
          <p:nvPr/>
        </p:nvSpPr>
        <p:spPr>
          <a:xfrm>
            <a:off x="9048750" y="1600200"/>
            <a:ext cx="85725" cy="857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725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Long tail of regional and niche suppliers</a:t>
            </a:r>
          </a:p>
        </p:txBody>
      </p:sp>
      <p:cxnSp>
        <p:nvCxnSpPr>
          <p:cNvPr id="27" name="Connector 26"/>
          <p:cNvCxnSpPr/>
          <p:nvPr/>
        </p:nvCxnSpPr>
        <p:spPr>
          <a:xfrm>
            <a:off x="190500" y="19240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90500" y="1981200"/>
            <a:ext cx="8572500" cy="171450"/>
          </a:xfrm>
          <a:prstGeom prst="rect">
            <a:avLst/>
          </a:prstGeom>
          <a:noFill/>
        </p:spPr>
        <p:txBody>
          <a:bodyPr wrap="square" lIns="28575" rIns="28575" tIns="9525" bIns="9525" anchor="t">
            <a:spAutoFit/>
          </a:bodyPr>
          <a:lstStyle/>
          <a:p>
            <a:pPr algn="l"/>
            <a:r>
              <a:rPr sz="1100" b="1">
                <a:solidFill>
                  <a:srgbClr val="0F2D52"/>
                </a:solidFill>
                <a:latin typeface="Calibri"/>
              </a:rPr>
              <a:t>Who leads which sub-segment, 2026  (full = leader, half = active)</a:t>
            </a:r>
          </a:p>
        </p:txBody>
      </p:sp>
      <p:sp>
        <p:nvSpPr>
          <p:cNvPr id="29" name="TextBox 28"/>
          <p:cNvSpPr txBox="1"/>
          <p:nvPr/>
        </p:nvSpPr>
        <p:spPr>
          <a:xfrm>
            <a:off x="211455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Capsules and Softgels</a:t>
            </a:r>
          </a:p>
        </p:txBody>
      </p:sp>
      <p:sp>
        <p:nvSpPr>
          <p:cNvPr id="30" name="TextBox 29"/>
          <p:cNvSpPr txBox="1"/>
          <p:nvPr/>
        </p:nvSpPr>
        <p:spPr>
          <a:xfrm>
            <a:off x="335280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Tablets</a:t>
            </a:r>
          </a:p>
        </p:txBody>
      </p:sp>
      <p:sp>
        <p:nvSpPr>
          <p:cNvPr id="31" name="TextBox 30"/>
          <p:cNvSpPr txBox="1"/>
          <p:nvPr/>
        </p:nvSpPr>
        <p:spPr>
          <a:xfrm>
            <a:off x="459105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Chewables</a:t>
            </a:r>
          </a:p>
        </p:txBody>
      </p:sp>
      <p:sp>
        <p:nvSpPr>
          <p:cNvPr id="32" name="TextBox 31"/>
          <p:cNvSpPr txBox="1"/>
          <p:nvPr/>
        </p:nvSpPr>
        <p:spPr>
          <a:xfrm>
            <a:off x="582930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Gels and Pastes</a:t>
            </a:r>
          </a:p>
        </p:txBody>
      </p:sp>
      <p:sp>
        <p:nvSpPr>
          <p:cNvPr id="33" name="TextBox 32"/>
          <p:cNvSpPr txBox="1"/>
          <p:nvPr/>
        </p:nvSpPr>
        <p:spPr>
          <a:xfrm>
            <a:off x="706755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Support for Observable Age-Related Cognitive Changes</a:t>
            </a:r>
          </a:p>
        </p:txBody>
      </p:sp>
      <p:sp>
        <p:nvSpPr>
          <p:cNvPr id="34" name="TextBox 33"/>
          <p:cNvSpPr txBox="1"/>
          <p:nvPr/>
        </p:nvSpPr>
        <p:spPr>
          <a:xfrm>
            <a:off x="830580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Routine Cognitive Wellness</a:t>
            </a:r>
          </a:p>
        </p:txBody>
      </p:sp>
      <p:sp>
        <p:nvSpPr>
          <p:cNvPr id="35" name="TextBox 34"/>
          <p:cNvSpPr txBox="1"/>
          <p:nvPr/>
        </p:nvSpPr>
        <p:spPr>
          <a:xfrm>
            <a:off x="954405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Preventive Cognitive Support for Senior Dogs</a:t>
            </a:r>
          </a:p>
        </p:txBody>
      </p:sp>
      <p:sp>
        <p:nvSpPr>
          <p:cNvPr id="36" name="TextBox 35"/>
          <p:cNvSpPr txBox="1"/>
          <p:nvPr/>
        </p:nvSpPr>
        <p:spPr>
          <a:xfrm>
            <a:off x="1078230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Veterinary-Guided Cognitive Dysfunction Support</a:t>
            </a:r>
          </a:p>
        </p:txBody>
      </p:sp>
      <p:cxnSp>
        <p:nvCxnSpPr>
          <p:cNvPr id="37" name="Connector 36"/>
          <p:cNvCxnSpPr/>
          <p:nvPr/>
        </p:nvCxnSpPr>
        <p:spPr>
          <a:xfrm>
            <a:off x="190500" y="2609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90500" y="2638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5750" y="26289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Standard Process</a:t>
            </a:r>
          </a:p>
        </p:txBody>
      </p:sp>
      <p:sp>
        <p:nvSpPr>
          <p:cNvPr id="40" name="TextBox 39"/>
          <p:cNvSpPr txBox="1"/>
          <p:nvPr/>
        </p:nvSpPr>
        <p:spPr>
          <a:xfrm>
            <a:off x="285750" y="27908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1" name="Oval 40"/>
          <p:cNvSpPr/>
          <p:nvPr/>
        </p:nvSpPr>
        <p:spPr>
          <a:xfrm>
            <a:off x="2638425"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714625" y="2705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87667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11492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35317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7591425"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7667625" y="2705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829675"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8905875" y="2705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06792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130617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a:off x="190500" y="2952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190500" y="2981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85750" y="29718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VetriScience</a:t>
            </a:r>
          </a:p>
        </p:txBody>
      </p:sp>
      <p:sp>
        <p:nvSpPr>
          <p:cNvPr id="55" name="TextBox 54"/>
          <p:cNvSpPr txBox="1"/>
          <p:nvPr/>
        </p:nvSpPr>
        <p:spPr>
          <a:xfrm>
            <a:off x="285750" y="31337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6" name="Oval 55"/>
          <p:cNvSpPr/>
          <p:nvPr/>
        </p:nvSpPr>
        <p:spPr>
          <a:xfrm>
            <a:off x="263842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271462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387667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395287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511492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635317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642937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759142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766762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8829675" y="3048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006792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1014412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130617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1138237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a:off x="190500" y="3295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190500" y="3324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85750" y="33147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Dr. Fossum's</a:t>
            </a:r>
          </a:p>
        </p:txBody>
      </p:sp>
      <p:sp>
        <p:nvSpPr>
          <p:cNvPr id="73" name="TextBox 72"/>
          <p:cNvSpPr txBox="1"/>
          <p:nvPr/>
        </p:nvSpPr>
        <p:spPr>
          <a:xfrm>
            <a:off x="285750" y="34766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74" name="Oval 73"/>
          <p:cNvSpPr/>
          <p:nvPr/>
        </p:nvSpPr>
        <p:spPr>
          <a:xfrm>
            <a:off x="2638425"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387667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511492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reeform 76"/>
          <p:cNvSpPr/>
          <p:nvPr/>
        </p:nvSpPr>
        <p:spPr>
          <a:xfrm>
            <a:off x="519112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635317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7591425"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882967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Freeform 80"/>
          <p:cNvSpPr/>
          <p:nvPr/>
        </p:nvSpPr>
        <p:spPr>
          <a:xfrm>
            <a:off x="890587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006792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reeform 82"/>
          <p:cNvSpPr/>
          <p:nvPr/>
        </p:nvSpPr>
        <p:spPr>
          <a:xfrm>
            <a:off x="1014412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130617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1138237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6" name="Connector 85"/>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190500" y="3667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85750" y="36576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Nestlé Purina PetCare</a:t>
            </a:r>
          </a:p>
        </p:txBody>
      </p:sp>
      <p:sp>
        <p:nvSpPr>
          <p:cNvPr id="89" name="TextBox 88"/>
          <p:cNvSpPr txBox="1"/>
          <p:nvPr/>
        </p:nvSpPr>
        <p:spPr>
          <a:xfrm>
            <a:off x="285750" y="38195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90" name="Oval 89"/>
          <p:cNvSpPr/>
          <p:nvPr/>
        </p:nvSpPr>
        <p:spPr>
          <a:xfrm>
            <a:off x="263842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387667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395287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511492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reeform 93"/>
          <p:cNvSpPr/>
          <p:nvPr/>
        </p:nvSpPr>
        <p:spPr>
          <a:xfrm>
            <a:off x="519112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635317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642937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759142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766762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882967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Freeform 99"/>
          <p:cNvSpPr/>
          <p:nvPr/>
        </p:nvSpPr>
        <p:spPr>
          <a:xfrm>
            <a:off x="890587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1006792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1130617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3" name="Connector 102"/>
          <p:cNvCxnSpPr/>
          <p:nvPr/>
        </p:nvCxnSpPr>
        <p:spPr>
          <a:xfrm>
            <a:off x="190500" y="3981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190500" y="4010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85750" y="40005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PetHeal</a:t>
            </a:r>
          </a:p>
        </p:txBody>
      </p:sp>
      <p:sp>
        <p:nvSpPr>
          <p:cNvPr id="106" name="TextBox 105"/>
          <p:cNvSpPr txBox="1"/>
          <p:nvPr/>
        </p:nvSpPr>
        <p:spPr>
          <a:xfrm>
            <a:off x="285750" y="41624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107" name="Oval 106"/>
          <p:cNvSpPr/>
          <p:nvPr/>
        </p:nvSpPr>
        <p:spPr>
          <a:xfrm>
            <a:off x="263842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271462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387667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Freeform 109"/>
          <p:cNvSpPr/>
          <p:nvPr/>
        </p:nvSpPr>
        <p:spPr>
          <a:xfrm>
            <a:off x="395287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511492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Freeform 111"/>
          <p:cNvSpPr/>
          <p:nvPr/>
        </p:nvSpPr>
        <p:spPr>
          <a:xfrm>
            <a:off x="519112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635317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759142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Freeform 114"/>
          <p:cNvSpPr/>
          <p:nvPr/>
        </p:nvSpPr>
        <p:spPr>
          <a:xfrm>
            <a:off x="766762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882967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1006792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1014412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1130617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0" name="Connector 119"/>
          <p:cNvCxnSpPr/>
          <p:nvPr/>
        </p:nvCxnSpPr>
        <p:spPr>
          <a:xfrm>
            <a:off x="190500" y="4324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1" name="Rectangle 120"/>
          <p:cNvSpPr/>
          <p:nvPr/>
        </p:nvSpPr>
        <p:spPr>
          <a:xfrm>
            <a:off x="190500" y="4352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285750" y="43434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Senior Dogs Club</a:t>
            </a:r>
          </a:p>
        </p:txBody>
      </p:sp>
      <p:sp>
        <p:nvSpPr>
          <p:cNvPr id="123" name="TextBox 122"/>
          <p:cNvSpPr txBox="1"/>
          <p:nvPr/>
        </p:nvSpPr>
        <p:spPr>
          <a:xfrm>
            <a:off x="285750" y="45053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124" name="Oval 123"/>
          <p:cNvSpPr/>
          <p:nvPr/>
        </p:nvSpPr>
        <p:spPr>
          <a:xfrm>
            <a:off x="263842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Freeform 124"/>
          <p:cNvSpPr/>
          <p:nvPr/>
        </p:nvSpPr>
        <p:spPr>
          <a:xfrm>
            <a:off x="271462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387667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Freeform 126"/>
          <p:cNvSpPr/>
          <p:nvPr/>
        </p:nvSpPr>
        <p:spPr>
          <a:xfrm>
            <a:off x="395287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511492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635317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759142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882967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Freeform 131"/>
          <p:cNvSpPr/>
          <p:nvPr/>
        </p:nvSpPr>
        <p:spPr>
          <a:xfrm>
            <a:off x="890587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1006792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1014412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1130617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6" name="Connector 135"/>
          <p:cNvCxnSpPr/>
          <p:nvPr/>
        </p:nvCxnSpPr>
        <p:spPr>
          <a:xfrm>
            <a:off x="190500" y="4667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7" name="Rectangle 136"/>
          <p:cNvSpPr/>
          <p:nvPr/>
        </p:nvSpPr>
        <p:spPr>
          <a:xfrm>
            <a:off x="190500" y="4695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285750" y="46863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VISYO Corporation</a:t>
            </a:r>
          </a:p>
        </p:txBody>
      </p:sp>
      <p:sp>
        <p:nvSpPr>
          <p:cNvPr id="139" name="TextBox 138"/>
          <p:cNvSpPr txBox="1"/>
          <p:nvPr/>
        </p:nvSpPr>
        <p:spPr>
          <a:xfrm>
            <a:off x="285750" y="48482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40" name="Oval 139"/>
          <p:cNvSpPr/>
          <p:nvPr/>
        </p:nvSpPr>
        <p:spPr>
          <a:xfrm>
            <a:off x="263842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Freeform 140"/>
          <p:cNvSpPr/>
          <p:nvPr/>
        </p:nvSpPr>
        <p:spPr>
          <a:xfrm>
            <a:off x="2714625"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387667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511492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Freeform 143"/>
          <p:cNvSpPr/>
          <p:nvPr/>
        </p:nvSpPr>
        <p:spPr>
          <a:xfrm>
            <a:off x="5191125"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635317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759142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Freeform 146"/>
          <p:cNvSpPr/>
          <p:nvPr/>
        </p:nvSpPr>
        <p:spPr>
          <a:xfrm>
            <a:off x="7667625"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882967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Freeform 148"/>
          <p:cNvSpPr/>
          <p:nvPr/>
        </p:nvSpPr>
        <p:spPr>
          <a:xfrm>
            <a:off x="8905875"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1006792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1130617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2" name="Connector 151"/>
          <p:cNvCxnSpPr/>
          <p:nvPr/>
        </p:nvCxnSpPr>
        <p:spPr>
          <a:xfrm>
            <a:off x="190500" y="5010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3" name="Rectangle 152"/>
          <p:cNvSpPr/>
          <p:nvPr/>
        </p:nvSpPr>
        <p:spPr>
          <a:xfrm>
            <a:off x="190500" y="5038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285750" y="50292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NaturVet</a:t>
            </a:r>
          </a:p>
        </p:txBody>
      </p:sp>
      <p:sp>
        <p:nvSpPr>
          <p:cNvPr id="155" name="TextBox 154"/>
          <p:cNvSpPr txBox="1"/>
          <p:nvPr/>
        </p:nvSpPr>
        <p:spPr>
          <a:xfrm>
            <a:off x="285750" y="51911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56" name="Oval 155"/>
          <p:cNvSpPr/>
          <p:nvPr/>
        </p:nvSpPr>
        <p:spPr>
          <a:xfrm>
            <a:off x="263842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387667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Freeform 157"/>
          <p:cNvSpPr/>
          <p:nvPr/>
        </p:nvSpPr>
        <p:spPr>
          <a:xfrm>
            <a:off x="3952875"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511492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Freeform 159"/>
          <p:cNvSpPr/>
          <p:nvPr/>
        </p:nvSpPr>
        <p:spPr>
          <a:xfrm>
            <a:off x="5191125"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635317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759142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Freeform 162"/>
          <p:cNvSpPr/>
          <p:nvPr/>
        </p:nvSpPr>
        <p:spPr>
          <a:xfrm>
            <a:off x="7667625"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882967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1006792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Freeform 165"/>
          <p:cNvSpPr/>
          <p:nvPr/>
        </p:nvSpPr>
        <p:spPr>
          <a:xfrm>
            <a:off x="10144125"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1130617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8" name="Connector 167"/>
          <p:cNvCxnSpPr/>
          <p:nvPr/>
        </p:nvCxnSpPr>
        <p:spPr>
          <a:xfrm>
            <a:off x="190500" y="5353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69" name="Rectangle 168"/>
          <p:cNvSpPr/>
          <p:nvPr/>
        </p:nvSpPr>
        <p:spPr>
          <a:xfrm>
            <a:off x="190500" y="5381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285750" y="53721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Zesty Paws</a:t>
            </a:r>
          </a:p>
        </p:txBody>
      </p:sp>
      <p:sp>
        <p:nvSpPr>
          <p:cNvPr id="171" name="TextBox 170"/>
          <p:cNvSpPr txBox="1"/>
          <p:nvPr/>
        </p:nvSpPr>
        <p:spPr>
          <a:xfrm>
            <a:off x="285750" y="55340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72" name="Oval 171"/>
          <p:cNvSpPr/>
          <p:nvPr/>
        </p:nvSpPr>
        <p:spPr>
          <a:xfrm>
            <a:off x="263842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Freeform 172"/>
          <p:cNvSpPr/>
          <p:nvPr/>
        </p:nvSpPr>
        <p:spPr>
          <a:xfrm>
            <a:off x="2714625"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387667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Freeform 174"/>
          <p:cNvSpPr/>
          <p:nvPr/>
        </p:nvSpPr>
        <p:spPr>
          <a:xfrm>
            <a:off x="3952875"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511492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Freeform 176"/>
          <p:cNvSpPr/>
          <p:nvPr/>
        </p:nvSpPr>
        <p:spPr>
          <a:xfrm>
            <a:off x="5191125"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635317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759142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Oval 179"/>
          <p:cNvSpPr/>
          <p:nvPr/>
        </p:nvSpPr>
        <p:spPr>
          <a:xfrm>
            <a:off x="882967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Freeform 180"/>
          <p:cNvSpPr/>
          <p:nvPr/>
        </p:nvSpPr>
        <p:spPr>
          <a:xfrm>
            <a:off x="8905875"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1006792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Freeform 182"/>
          <p:cNvSpPr/>
          <p:nvPr/>
        </p:nvSpPr>
        <p:spPr>
          <a:xfrm>
            <a:off x="10144125"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1130617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5" name="Connector 184"/>
          <p:cNvCxnSpPr/>
          <p:nvPr/>
        </p:nvCxnSpPr>
        <p:spPr>
          <a:xfrm>
            <a:off x="190500" y="5695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86" name="Rectangle 185"/>
          <p:cNvSpPr/>
          <p:nvPr/>
        </p:nvSpPr>
        <p:spPr>
          <a:xfrm>
            <a:off x="190500" y="5724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285750" y="57150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Ark Naturals</a:t>
            </a:r>
          </a:p>
        </p:txBody>
      </p:sp>
      <p:sp>
        <p:nvSpPr>
          <p:cNvPr id="188" name="TextBox 187"/>
          <p:cNvSpPr txBox="1"/>
          <p:nvPr/>
        </p:nvSpPr>
        <p:spPr>
          <a:xfrm>
            <a:off x="285750" y="58769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89" name="Oval 188"/>
          <p:cNvSpPr/>
          <p:nvPr/>
        </p:nvSpPr>
        <p:spPr>
          <a:xfrm>
            <a:off x="263842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Freeform 189"/>
          <p:cNvSpPr/>
          <p:nvPr/>
        </p:nvSpPr>
        <p:spPr>
          <a:xfrm>
            <a:off x="2714625"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387667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Freeform 191"/>
          <p:cNvSpPr/>
          <p:nvPr/>
        </p:nvSpPr>
        <p:spPr>
          <a:xfrm>
            <a:off x="3952875"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511492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635317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759142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Freeform 195"/>
          <p:cNvSpPr/>
          <p:nvPr/>
        </p:nvSpPr>
        <p:spPr>
          <a:xfrm>
            <a:off x="7667625"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882967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Freeform 197"/>
          <p:cNvSpPr/>
          <p:nvPr/>
        </p:nvSpPr>
        <p:spPr>
          <a:xfrm>
            <a:off x="8905875"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1006792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Oval 199"/>
          <p:cNvSpPr/>
          <p:nvPr/>
        </p:nvSpPr>
        <p:spPr>
          <a:xfrm>
            <a:off x="1130617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1" name="Connector 200"/>
          <p:cNvCxnSpPr/>
          <p:nvPr/>
        </p:nvCxnSpPr>
        <p:spPr>
          <a:xfrm>
            <a:off x="190500" y="6038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202" name="Rectangle 201"/>
          <p:cNvSpPr/>
          <p:nvPr/>
        </p:nvSpPr>
        <p:spPr>
          <a:xfrm>
            <a:off x="190500" y="6124575"/>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31432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1</a:t>
            </a:r>
          </a:p>
        </p:txBody>
      </p:sp>
      <p:sp>
        <p:nvSpPr>
          <p:cNvPr id="204" name="Rectangle 203"/>
          <p:cNvSpPr/>
          <p:nvPr/>
        </p:nvSpPr>
        <p:spPr>
          <a:xfrm>
            <a:off x="847725" y="6124575"/>
            <a:ext cx="85725" cy="85725"/>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971550"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2</a:t>
            </a:r>
          </a:p>
        </p:txBody>
      </p:sp>
      <p:sp>
        <p:nvSpPr>
          <p:cNvPr id="206" name="Rectangle 205"/>
          <p:cNvSpPr/>
          <p:nvPr/>
        </p:nvSpPr>
        <p:spPr>
          <a:xfrm>
            <a:off x="1504950" y="6124575"/>
            <a:ext cx="85725" cy="85725"/>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162877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3</a:t>
            </a:r>
          </a:p>
        </p:txBody>
      </p:sp>
      <p:sp>
        <p:nvSpPr>
          <p:cNvPr id="208" name="TextBox 207"/>
          <p:cNvSpPr txBox="1"/>
          <p:nvPr/>
        </p:nvSpPr>
        <p:spPr>
          <a:xfrm>
            <a:off x="190500" y="62865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209" name="TextBox 208"/>
          <p:cNvSpPr txBox="1"/>
          <p:nvPr/>
        </p:nvSpPr>
        <p:spPr>
          <a:xfrm>
            <a:off x="190500" y="64008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Read across a row to see breadth; down a column to see contestability.  'Capsules and Softgels' is the most contested column (8 players active); 'Gels and Pastes' is the most open (3).</a:t>
            </a:r>
          </a:p>
        </p:txBody>
      </p:sp>
      <p:sp>
        <p:nvSpPr>
          <p:cNvPr id="210" name="TextBox 20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11" name="TextBox 210"/>
          <p:cNvSpPr txBox="1"/>
          <p:nvPr/>
        </p:nvSpPr>
        <p:spPr>
          <a:xfrm>
            <a:off x="276225" y="1306830"/>
            <a:ext cx="398164" cy="186689"/>
          </a:xfrm>
          <a:prstGeom prst="rect">
            <a:avLst/>
          </a:prstGeom>
          <a:noFill/>
        </p:spPr>
        <p:txBody>
          <a:bodyPr wrap="none" lIns="0" rIns="0" tIns="0" bIns="0">
            <a:spAutoFit/>
          </a:bodyPr>
          <a:lstStyle/>
          <a:p>
            <a:r>
              <a:rPr sz="1100" b="1">
                <a:solidFill>
                  <a:srgbClr val="FFFFFF"/>
                </a:solidFill>
                <a:latin typeface="Calibri"/>
              </a:rPr>
              <a:t>Top 3</a:t>
            </a:r>
          </a:p>
        </p:txBody>
      </p:sp>
      <p:pic>
        <p:nvPicPr>
          <p:cNvPr id="212" name="Picture 211" descr="lock.png"/>
          <p:cNvPicPr>
            <a:picLocks noChangeAspect="1"/>
          </p:cNvPicPr>
          <p:nvPr/>
        </p:nvPicPr>
        <p:blipFill>
          <a:blip r:embed="rId4"/>
          <a:stretch>
            <a:fillRect/>
          </a:stretch>
        </p:blipFill>
        <p:spPr>
          <a:xfrm>
            <a:off x="622441" y="1297051"/>
            <a:ext cx="128699" cy="187198"/>
          </a:xfrm>
          <a:prstGeom prst="rect">
            <a:avLst/>
          </a:prstGeom>
        </p:spPr>
      </p:pic>
      <p:sp>
        <p:nvSpPr>
          <p:cNvPr id="213" name="TextBox 212"/>
          <p:cNvSpPr txBox="1"/>
          <p:nvPr/>
        </p:nvSpPr>
        <p:spPr>
          <a:xfrm>
            <a:off x="4786109" y="1306830"/>
            <a:ext cx="813172" cy="186689"/>
          </a:xfrm>
          <a:prstGeom prst="rect">
            <a:avLst/>
          </a:prstGeom>
          <a:noFill/>
        </p:spPr>
        <p:txBody>
          <a:bodyPr wrap="none" lIns="0" rIns="0" tIns="0" bIns="0">
            <a:spAutoFit/>
          </a:bodyPr>
          <a:lstStyle/>
          <a:p>
            <a:r>
              <a:rPr sz="1100" b="1">
                <a:solidFill>
                  <a:srgbClr val="FFFFFF"/>
                </a:solidFill>
                <a:latin typeface="Calibri"/>
              </a:rPr>
              <a:t>Rest of top 5</a:t>
            </a:r>
          </a:p>
        </p:txBody>
      </p:sp>
      <p:pic>
        <p:nvPicPr>
          <p:cNvPr id="214" name="Picture 213" descr="lock.png"/>
          <p:cNvPicPr>
            <a:picLocks noChangeAspect="1"/>
          </p:cNvPicPr>
          <p:nvPr/>
        </p:nvPicPr>
        <p:blipFill>
          <a:blip r:embed="rId4"/>
          <a:stretch>
            <a:fillRect/>
          </a:stretch>
        </p:blipFill>
        <p:spPr>
          <a:xfrm>
            <a:off x="5547332" y="1297051"/>
            <a:ext cx="128699" cy="187198"/>
          </a:xfrm>
          <a:prstGeom prst="rect">
            <a:avLst/>
          </a:prstGeom>
        </p:spPr>
      </p:pic>
      <p:sp>
        <p:nvSpPr>
          <p:cNvPr id="215" name="TextBox 214"/>
          <p:cNvSpPr txBox="1"/>
          <p:nvPr/>
        </p:nvSpPr>
        <p:spPr>
          <a:xfrm>
            <a:off x="6322271" y="1306830"/>
            <a:ext cx="620266" cy="186689"/>
          </a:xfrm>
          <a:prstGeom prst="rect">
            <a:avLst/>
          </a:prstGeom>
          <a:noFill/>
        </p:spPr>
        <p:txBody>
          <a:bodyPr wrap="none" lIns="0" rIns="0" tIns="0" bIns="0">
            <a:spAutoFit/>
          </a:bodyPr>
          <a:lstStyle/>
          <a:p>
            <a:r>
              <a:rPr sz="1100" b="1">
                <a:solidFill>
                  <a:srgbClr val="FFFFFF"/>
                </a:solidFill>
                <a:latin typeface="Calibri"/>
              </a:rPr>
              <a:t>Emerging</a:t>
            </a:r>
          </a:p>
        </p:txBody>
      </p:sp>
      <p:pic>
        <p:nvPicPr>
          <p:cNvPr id="216" name="Picture 215" descr="lock.png"/>
          <p:cNvPicPr>
            <a:picLocks noChangeAspect="1"/>
          </p:cNvPicPr>
          <p:nvPr/>
        </p:nvPicPr>
        <p:blipFill>
          <a:blip r:embed="rId4"/>
          <a:stretch>
            <a:fillRect/>
          </a:stretch>
        </p:blipFill>
        <p:spPr>
          <a:xfrm>
            <a:off x="6890588" y="1297051"/>
            <a:ext cx="128699" cy="187198"/>
          </a:xfrm>
          <a:prstGeom prst="rect">
            <a:avLst/>
          </a:prstGeom>
        </p:spPr>
      </p:pic>
      <p:sp>
        <p:nvSpPr>
          <p:cNvPr id="217" name="TextBox 216"/>
          <p:cNvSpPr txBox="1"/>
          <p:nvPr/>
        </p:nvSpPr>
        <p:spPr>
          <a:xfrm>
            <a:off x="8564687" y="1306830"/>
            <a:ext cx="469924" cy="186689"/>
          </a:xfrm>
          <a:prstGeom prst="rect">
            <a:avLst/>
          </a:prstGeom>
          <a:noFill/>
        </p:spPr>
        <p:txBody>
          <a:bodyPr wrap="none" lIns="0" rIns="0" tIns="0" bIns="0">
            <a:spAutoFit/>
          </a:bodyPr>
          <a:lstStyle/>
          <a:p>
            <a:r>
              <a:rPr sz="1100" b="1">
                <a:solidFill>
                  <a:srgbClr val="0F2D52"/>
                </a:solidFill>
                <a:latin typeface="Calibri"/>
              </a:rPr>
              <a:t>Others</a:t>
            </a:r>
          </a:p>
        </p:txBody>
      </p:sp>
      <p:pic>
        <p:nvPicPr>
          <p:cNvPr id="218" name="Picture 217" descr="lock.png"/>
          <p:cNvPicPr>
            <a:picLocks noChangeAspect="1"/>
          </p:cNvPicPr>
          <p:nvPr/>
        </p:nvPicPr>
        <p:blipFill>
          <a:blip r:embed="rId4"/>
          <a:stretch>
            <a:fillRect/>
          </a:stretch>
        </p:blipFill>
        <p:spPr>
          <a:xfrm>
            <a:off x="8982663" y="1297051"/>
            <a:ext cx="128699" cy="187198"/>
          </a:xfrm>
          <a:prstGeom prst="rect">
            <a:avLst/>
          </a:prstGeom>
        </p:spPr>
      </p:pic>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Value Chain Positioning of Leading Players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How the market is organised by product type and end use, and who leads at each stage</a:t>
            </a:r>
          </a:p>
        </p:txBody>
      </p:sp>
      <p:sp>
        <p:nvSpPr>
          <p:cNvPr id="10" name="TextBox 9"/>
          <p:cNvSpPr txBox="1"/>
          <p:nvPr/>
        </p:nvSpPr>
        <p:spPr>
          <a:xfrm>
            <a:off x="2476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11" name="TextBox 10"/>
          <p:cNvSpPr txBox="1"/>
          <p:nvPr/>
        </p:nvSpPr>
        <p:spPr>
          <a:xfrm>
            <a:off x="247650" y="1238250"/>
            <a:ext cx="2266950" cy="228600"/>
          </a:xfrm>
          <a:prstGeom prst="rect">
            <a:avLst/>
          </a:prstGeom>
          <a:noFill/>
        </p:spPr>
        <p:txBody>
          <a:bodyPr wrap="square" lIns="28575" rIns="28575" tIns="9525" bIns="9525" anchor="t">
            <a:spAutoFit/>
          </a:bodyPr>
          <a:lstStyle/>
          <a:p>
            <a:pPr algn="l"/>
            <a:r>
              <a:rPr sz="1100" b="1">
                <a:solidFill>
                  <a:srgbClr val="E87722"/>
                </a:solidFill>
                <a:latin typeface="Calibri"/>
              </a:rPr>
              <a:t> </a:t>
            </a:r>
          </a:p>
        </p:txBody>
      </p:sp>
      <p:cxnSp>
        <p:nvCxnSpPr>
          <p:cNvPr id="12" name="Connector 11"/>
          <p:cNvCxnSpPr/>
          <p:nvPr/>
        </p:nvCxnSpPr>
        <p:spPr>
          <a:xfrm>
            <a:off x="25527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6098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4" name="TextBox 13"/>
          <p:cNvSpPr txBox="1"/>
          <p:nvPr/>
        </p:nvSpPr>
        <p:spPr>
          <a:xfrm>
            <a:off x="26098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5" name="Connector 14"/>
          <p:cNvCxnSpPr/>
          <p:nvPr/>
        </p:nvCxnSpPr>
        <p:spPr>
          <a:xfrm>
            <a:off x="49149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9720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Capsules and Softgels, share</a:t>
            </a:r>
          </a:p>
        </p:txBody>
      </p:sp>
      <p:sp>
        <p:nvSpPr>
          <p:cNvPr id="17" name="TextBox 16"/>
          <p:cNvSpPr txBox="1"/>
          <p:nvPr/>
        </p:nvSpPr>
        <p:spPr>
          <a:xfrm>
            <a:off x="49720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8" name="Connector 17"/>
          <p:cNvCxnSpPr/>
          <p:nvPr/>
        </p:nvCxnSpPr>
        <p:spPr>
          <a:xfrm>
            <a:off x="72771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3342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Tablets, share</a:t>
            </a:r>
          </a:p>
        </p:txBody>
      </p:sp>
      <p:sp>
        <p:nvSpPr>
          <p:cNvPr id="20" name="TextBox 19"/>
          <p:cNvSpPr txBox="1"/>
          <p:nvPr/>
        </p:nvSpPr>
        <p:spPr>
          <a:xfrm>
            <a:off x="73342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21" name="Connector 20"/>
          <p:cNvCxnSpPr/>
          <p:nvPr/>
        </p:nvCxnSpPr>
        <p:spPr>
          <a:xfrm>
            <a:off x="96393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6964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Chewables, share</a:t>
            </a:r>
          </a:p>
        </p:txBody>
      </p:sp>
      <p:sp>
        <p:nvSpPr>
          <p:cNvPr id="23" name="TextBox 22"/>
          <p:cNvSpPr txBox="1"/>
          <p:nvPr/>
        </p:nvSpPr>
        <p:spPr>
          <a:xfrm>
            <a:off x="96964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24" name="Connector 23"/>
          <p:cNvCxnSpPr/>
          <p:nvPr/>
        </p:nvCxnSpPr>
        <p:spPr>
          <a:xfrm>
            <a:off x="190500" y="154305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90500"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750"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1. Capsules and Softgels</a:t>
            </a:r>
          </a:p>
        </p:txBody>
      </p:sp>
      <p:sp>
        <p:nvSpPr>
          <p:cNvPr id="28" name="TextBox 27"/>
          <p:cNvSpPr txBox="1"/>
          <p:nvPr/>
        </p:nvSpPr>
        <p:spPr>
          <a:xfrm>
            <a:off x="285750" y="1924050"/>
            <a:ext cx="666750" cy="190500"/>
          </a:xfrm>
          <a:prstGeom prst="rect">
            <a:avLst/>
          </a:prstGeom>
          <a:noFill/>
        </p:spPr>
        <p:txBody>
          <a:bodyPr wrap="none" lIns="0" rIns="0" tIns="0" bIns="0" anchor="t">
            <a:spAutoFit/>
          </a:bodyPr>
          <a:lstStyle/>
          <a:p>
            <a:pPr algn="l"/>
            <a:r>
              <a:rPr sz="1100" b="1">
                <a:solidFill>
                  <a:srgbClr val="1F2933"/>
                </a:solidFill>
                <a:latin typeface="Calibri"/>
              </a:rPr>
              <a:t> </a:t>
            </a:r>
          </a:p>
        </p:txBody>
      </p:sp>
      <p:sp>
        <p:nvSpPr>
          <p:cNvPr id="29" name="TextBox 28"/>
          <p:cNvSpPr txBox="1"/>
          <p:nvPr/>
        </p:nvSpPr>
        <p:spPr>
          <a:xfrm>
            <a:off x="971550"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30" name="TextBox 29"/>
          <p:cNvSpPr txBox="1"/>
          <p:nvPr/>
        </p:nvSpPr>
        <p:spPr>
          <a:xfrm>
            <a:off x="285750"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31" name="TextBox 30"/>
          <p:cNvSpPr txBox="1"/>
          <p:nvPr/>
        </p:nvSpPr>
        <p:spPr>
          <a:xfrm>
            <a:off x="971550"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32" name="Connector 31"/>
          <p:cNvCxnSpPr/>
          <p:nvPr/>
        </p:nvCxnSpPr>
        <p:spPr>
          <a:xfrm>
            <a:off x="285750"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85750"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34" name="TextBox 33"/>
          <p:cNvSpPr txBox="1"/>
          <p:nvPr/>
        </p:nvSpPr>
        <p:spPr>
          <a:xfrm>
            <a:off x="285750"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Dr. Fossum's</a:t>
            </a:r>
          </a:p>
        </p:txBody>
      </p:sp>
      <p:sp>
        <p:nvSpPr>
          <p:cNvPr id="35" name="TextBox 34"/>
          <p:cNvSpPr txBox="1"/>
          <p:nvPr/>
        </p:nvSpPr>
        <p:spPr>
          <a:xfrm>
            <a:off x="285750"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36" name="TextBox 35"/>
          <p:cNvSpPr txBox="1"/>
          <p:nvPr/>
        </p:nvSpPr>
        <p:spPr>
          <a:xfrm>
            <a:off x="285750"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Standard Process</a:t>
            </a:r>
          </a:p>
        </p:txBody>
      </p:sp>
      <p:sp>
        <p:nvSpPr>
          <p:cNvPr id="37" name="TextBox 36"/>
          <p:cNvSpPr txBox="1"/>
          <p:nvPr/>
        </p:nvSpPr>
        <p:spPr>
          <a:xfrm>
            <a:off x="285750"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VetriScience</a:t>
            </a:r>
          </a:p>
        </p:txBody>
      </p:sp>
      <p:sp>
        <p:nvSpPr>
          <p:cNvPr id="38" name="TextBox 37"/>
          <p:cNvSpPr txBox="1"/>
          <p:nvPr/>
        </p:nvSpPr>
        <p:spPr>
          <a:xfrm>
            <a:off x="285750"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PetHeal</a:t>
            </a:r>
          </a:p>
        </p:txBody>
      </p:sp>
      <p:sp>
        <p:nvSpPr>
          <p:cNvPr id="39" name="TextBox 38"/>
          <p:cNvSpPr txBox="1"/>
          <p:nvPr/>
        </p:nvSpPr>
        <p:spPr>
          <a:xfrm>
            <a:off x="285750"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Senior Dogs Club</a:t>
            </a:r>
          </a:p>
        </p:txBody>
      </p:sp>
      <p:cxnSp>
        <p:nvCxnSpPr>
          <p:cNvPr id="40" name="Connector 39"/>
          <p:cNvCxnSpPr/>
          <p:nvPr/>
        </p:nvCxnSpPr>
        <p:spPr>
          <a:xfrm>
            <a:off x="285750"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285750"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42" name="TextBox 41"/>
          <p:cNvSpPr txBox="1"/>
          <p:nvPr/>
        </p:nvSpPr>
        <p:spPr>
          <a:xfrm>
            <a:off x="285750"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43" name="Connector 42"/>
          <p:cNvCxnSpPr/>
          <p:nvPr/>
        </p:nvCxnSpPr>
        <p:spPr>
          <a:xfrm>
            <a:off x="2995612"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44" name="Freeform 43"/>
          <p:cNvSpPr/>
          <p:nvPr/>
        </p:nvSpPr>
        <p:spPr>
          <a:xfrm>
            <a:off x="3105150" y="3448050"/>
            <a:ext cx="57150" cy="95250"/>
          </a:xfrm>
          <a:custGeom>
            <a:avLst/>
            <a:gdLst/>
            <a:ahLst/>
            <a:cxnLst/>
            <a:rect l="l" t="t" r="r" b="b"/>
            <a:pathLst>
              <a:path w="6" h="10">
                <a:moveTo>
                  <a:pt x="6"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05162"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205162"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300412"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sp>
        <p:nvSpPr>
          <p:cNvPr id="48" name="TextBox 47"/>
          <p:cNvSpPr txBox="1"/>
          <p:nvPr/>
        </p:nvSpPr>
        <p:spPr>
          <a:xfrm>
            <a:off x="3300412" y="1924050"/>
            <a:ext cx="666750" cy="190500"/>
          </a:xfrm>
          <a:prstGeom prst="rect">
            <a:avLst/>
          </a:prstGeom>
          <a:noFill/>
        </p:spPr>
        <p:txBody>
          <a:bodyPr wrap="none" lIns="0" rIns="0" tIns="0" bIns="0" anchor="t">
            <a:spAutoFit/>
          </a:bodyPr>
          <a:lstStyle/>
          <a:p>
            <a:pPr algn="l"/>
            <a:r>
              <a:rPr sz="1100" b="1">
                <a:solidFill>
                  <a:srgbClr val="1F2933"/>
                </a:solidFill>
                <a:latin typeface="Calibri"/>
              </a:rPr>
              <a:t> </a:t>
            </a:r>
          </a:p>
        </p:txBody>
      </p:sp>
      <p:sp>
        <p:nvSpPr>
          <p:cNvPr id="49" name="TextBox 48"/>
          <p:cNvSpPr txBox="1"/>
          <p:nvPr/>
        </p:nvSpPr>
        <p:spPr>
          <a:xfrm>
            <a:off x="3986212"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50" name="TextBox 49"/>
          <p:cNvSpPr txBox="1"/>
          <p:nvPr/>
        </p:nvSpPr>
        <p:spPr>
          <a:xfrm>
            <a:off x="3300412"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51" name="TextBox 50"/>
          <p:cNvSpPr txBox="1"/>
          <p:nvPr/>
        </p:nvSpPr>
        <p:spPr>
          <a:xfrm>
            <a:off x="3986212"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52" name="Connector 51"/>
          <p:cNvCxnSpPr/>
          <p:nvPr/>
        </p:nvCxnSpPr>
        <p:spPr>
          <a:xfrm>
            <a:off x="3300412"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3300412"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54" name="TextBox 53"/>
          <p:cNvSpPr txBox="1"/>
          <p:nvPr/>
        </p:nvSpPr>
        <p:spPr>
          <a:xfrm>
            <a:off x="3300412"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Standard Process</a:t>
            </a:r>
          </a:p>
        </p:txBody>
      </p:sp>
      <p:sp>
        <p:nvSpPr>
          <p:cNvPr id="55" name="TextBox 54"/>
          <p:cNvSpPr txBox="1"/>
          <p:nvPr/>
        </p:nvSpPr>
        <p:spPr>
          <a:xfrm>
            <a:off x="3300412"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56" name="TextBox 55"/>
          <p:cNvSpPr txBox="1"/>
          <p:nvPr/>
        </p:nvSpPr>
        <p:spPr>
          <a:xfrm>
            <a:off x="3300412"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VetriScience</a:t>
            </a:r>
          </a:p>
        </p:txBody>
      </p:sp>
      <p:sp>
        <p:nvSpPr>
          <p:cNvPr id="57" name="TextBox 56"/>
          <p:cNvSpPr txBox="1"/>
          <p:nvPr/>
        </p:nvSpPr>
        <p:spPr>
          <a:xfrm>
            <a:off x="3300412"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Nestlé Purina PetCare</a:t>
            </a:r>
          </a:p>
        </p:txBody>
      </p:sp>
      <p:sp>
        <p:nvSpPr>
          <p:cNvPr id="58" name="TextBox 57"/>
          <p:cNvSpPr txBox="1"/>
          <p:nvPr/>
        </p:nvSpPr>
        <p:spPr>
          <a:xfrm>
            <a:off x="3300412"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PetHeal</a:t>
            </a:r>
          </a:p>
        </p:txBody>
      </p:sp>
      <p:sp>
        <p:nvSpPr>
          <p:cNvPr id="59" name="TextBox 58"/>
          <p:cNvSpPr txBox="1"/>
          <p:nvPr/>
        </p:nvSpPr>
        <p:spPr>
          <a:xfrm>
            <a:off x="3300412"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Senior Dogs Club</a:t>
            </a:r>
          </a:p>
        </p:txBody>
      </p:sp>
      <p:cxnSp>
        <p:nvCxnSpPr>
          <p:cNvPr id="60" name="Connector 59"/>
          <p:cNvCxnSpPr/>
          <p:nvPr/>
        </p:nvCxnSpPr>
        <p:spPr>
          <a:xfrm>
            <a:off x="3300412"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3300412"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62" name="TextBox 61"/>
          <p:cNvSpPr txBox="1"/>
          <p:nvPr/>
        </p:nvSpPr>
        <p:spPr>
          <a:xfrm>
            <a:off x="3300412"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63" name="Connector 62"/>
          <p:cNvCxnSpPr/>
          <p:nvPr/>
        </p:nvCxnSpPr>
        <p:spPr>
          <a:xfrm>
            <a:off x="6010275"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64" name="Freeform 63"/>
          <p:cNvSpPr/>
          <p:nvPr/>
        </p:nvSpPr>
        <p:spPr>
          <a:xfrm>
            <a:off x="6115050" y="3448050"/>
            <a:ext cx="66675" cy="95250"/>
          </a:xfrm>
          <a:custGeom>
            <a:avLst/>
            <a:gdLst/>
            <a:ahLst/>
            <a:cxnLst/>
            <a:rect l="l" t="t" r="r" b="b"/>
            <a:pathLst>
              <a:path w="7" h="10">
                <a:moveTo>
                  <a:pt x="7"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219825"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219825"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315075"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3. Chewables</a:t>
            </a:r>
          </a:p>
        </p:txBody>
      </p:sp>
      <p:sp>
        <p:nvSpPr>
          <p:cNvPr id="68" name="TextBox 67"/>
          <p:cNvSpPr txBox="1"/>
          <p:nvPr/>
        </p:nvSpPr>
        <p:spPr>
          <a:xfrm>
            <a:off x="6315075" y="1924050"/>
            <a:ext cx="666750" cy="190500"/>
          </a:xfrm>
          <a:prstGeom prst="rect">
            <a:avLst/>
          </a:prstGeom>
          <a:noFill/>
        </p:spPr>
        <p:txBody>
          <a:bodyPr wrap="none" lIns="0" rIns="0" tIns="0" bIns="0" anchor="t">
            <a:spAutoFit/>
          </a:bodyPr>
          <a:lstStyle/>
          <a:p>
            <a:pPr algn="l"/>
            <a:r>
              <a:rPr sz="1100" b="1">
                <a:solidFill>
                  <a:srgbClr val="1F2933"/>
                </a:solidFill>
                <a:latin typeface="Calibri"/>
              </a:rPr>
              <a:t> </a:t>
            </a:r>
          </a:p>
        </p:txBody>
      </p:sp>
      <p:sp>
        <p:nvSpPr>
          <p:cNvPr id="69" name="TextBox 68"/>
          <p:cNvSpPr txBox="1"/>
          <p:nvPr/>
        </p:nvSpPr>
        <p:spPr>
          <a:xfrm>
            <a:off x="7000875"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70" name="TextBox 69"/>
          <p:cNvSpPr txBox="1"/>
          <p:nvPr/>
        </p:nvSpPr>
        <p:spPr>
          <a:xfrm>
            <a:off x="6315075"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71" name="TextBox 70"/>
          <p:cNvSpPr txBox="1"/>
          <p:nvPr/>
        </p:nvSpPr>
        <p:spPr>
          <a:xfrm>
            <a:off x="7000875"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72" name="Connector 71"/>
          <p:cNvCxnSpPr/>
          <p:nvPr/>
        </p:nvCxnSpPr>
        <p:spPr>
          <a:xfrm>
            <a:off x="6315075"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315075"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74" name="TextBox 73"/>
          <p:cNvSpPr txBox="1"/>
          <p:nvPr/>
        </p:nvSpPr>
        <p:spPr>
          <a:xfrm>
            <a:off x="6315075"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Standard Process</a:t>
            </a:r>
          </a:p>
        </p:txBody>
      </p:sp>
      <p:sp>
        <p:nvSpPr>
          <p:cNvPr id="75" name="TextBox 74"/>
          <p:cNvSpPr txBox="1"/>
          <p:nvPr/>
        </p:nvSpPr>
        <p:spPr>
          <a:xfrm>
            <a:off x="6315075"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76" name="TextBox 75"/>
          <p:cNvSpPr txBox="1"/>
          <p:nvPr/>
        </p:nvSpPr>
        <p:spPr>
          <a:xfrm>
            <a:off x="6315075"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Dr. Fossum's</a:t>
            </a:r>
          </a:p>
        </p:txBody>
      </p:sp>
      <p:sp>
        <p:nvSpPr>
          <p:cNvPr id="77" name="TextBox 76"/>
          <p:cNvSpPr txBox="1"/>
          <p:nvPr/>
        </p:nvSpPr>
        <p:spPr>
          <a:xfrm>
            <a:off x="6315075"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Nestlé Purina PetCare</a:t>
            </a:r>
          </a:p>
        </p:txBody>
      </p:sp>
      <p:sp>
        <p:nvSpPr>
          <p:cNvPr id="78" name="TextBox 77"/>
          <p:cNvSpPr txBox="1"/>
          <p:nvPr/>
        </p:nvSpPr>
        <p:spPr>
          <a:xfrm>
            <a:off x="6315075"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PetHeal</a:t>
            </a:r>
          </a:p>
        </p:txBody>
      </p:sp>
      <p:sp>
        <p:nvSpPr>
          <p:cNvPr id="79" name="TextBox 78"/>
          <p:cNvSpPr txBox="1"/>
          <p:nvPr/>
        </p:nvSpPr>
        <p:spPr>
          <a:xfrm>
            <a:off x="6315075"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VISYO Corporation</a:t>
            </a:r>
          </a:p>
        </p:txBody>
      </p:sp>
      <p:cxnSp>
        <p:nvCxnSpPr>
          <p:cNvPr id="80" name="Connector 79"/>
          <p:cNvCxnSpPr/>
          <p:nvPr/>
        </p:nvCxnSpPr>
        <p:spPr>
          <a:xfrm>
            <a:off x="6315075"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6315075"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82" name="TextBox 81"/>
          <p:cNvSpPr txBox="1"/>
          <p:nvPr/>
        </p:nvSpPr>
        <p:spPr>
          <a:xfrm>
            <a:off x="6315075"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83" name="Connector 82"/>
          <p:cNvCxnSpPr/>
          <p:nvPr/>
        </p:nvCxnSpPr>
        <p:spPr>
          <a:xfrm>
            <a:off x="9024938"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84" name="Freeform 83"/>
          <p:cNvSpPr/>
          <p:nvPr/>
        </p:nvSpPr>
        <p:spPr>
          <a:xfrm>
            <a:off x="9124950" y="3448050"/>
            <a:ext cx="76200" cy="95250"/>
          </a:xfrm>
          <a:custGeom>
            <a:avLst/>
            <a:gdLst/>
            <a:ahLst/>
            <a:cxnLst/>
            <a:rect l="l" t="t" r="r" b="b"/>
            <a:pathLst>
              <a:path w="8" h="10">
                <a:moveTo>
                  <a:pt x="8"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9234488"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9234488"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329738"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4. End-use Application</a:t>
            </a:r>
          </a:p>
        </p:txBody>
      </p:sp>
      <p:sp>
        <p:nvSpPr>
          <p:cNvPr id="88" name="TextBox 87"/>
          <p:cNvSpPr txBox="1"/>
          <p:nvPr/>
        </p:nvSpPr>
        <p:spPr>
          <a:xfrm>
            <a:off x="9329738" y="1924050"/>
            <a:ext cx="2576512" cy="190500"/>
          </a:xfrm>
          <a:prstGeom prst="rect">
            <a:avLst/>
          </a:prstGeom>
          <a:noFill/>
        </p:spPr>
        <p:txBody>
          <a:bodyPr wrap="square" lIns="28575" rIns="28575" tIns="9525" bIns="9525" anchor="t">
            <a:spAutoFit/>
          </a:bodyPr>
          <a:lstStyle/>
          <a:p>
            <a:pPr algn="l"/>
            <a:r>
              <a:rPr sz="1100" b="1">
                <a:solidFill>
                  <a:srgbClr val="1F2933"/>
                </a:solidFill>
                <a:latin typeface="Calibri"/>
              </a:rPr>
              <a:t>By application</a:t>
            </a:r>
          </a:p>
        </p:txBody>
      </p:sp>
      <p:sp>
        <p:nvSpPr>
          <p:cNvPr id="89" name="TextBox 88"/>
          <p:cNvSpPr txBox="1"/>
          <p:nvPr/>
        </p:nvSpPr>
        <p:spPr>
          <a:xfrm>
            <a:off x="9329738" y="2133600"/>
            <a:ext cx="2576512" cy="190500"/>
          </a:xfrm>
          <a:prstGeom prst="rect">
            <a:avLst/>
          </a:prstGeom>
          <a:noFill/>
        </p:spPr>
        <p:txBody>
          <a:bodyPr wrap="square" lIns="28575" rIns="28575" tIns="9525" bIns="9525" anchor="t">
            <a:spAutoFit/>
          </a:bodyPr>
          <a:lstStyle/>
          <a:p>
            <a:pPr algn="l"/>
            <a:r>
              <a:rPr sz="1100" b="0">
                <a:solidFill>
                  <a:srgbClr val="5F6B7A"/>
                </a:solidFill>
                <a:latin typeface="Calibri"/>
              </a:rPr>
              <a:t>Who buys the output.</a:t>
            </a:r>
          </a:p>
        </p:txBody>
      </p:sp>
      <p:cxnSp>
        <p:nvCxnSpPr>
          <p:cNvPr id="90" name="Connector 89"/>
          <p:cNvCxnSpPr/>
          <p:nvPr/>
        </p:nvCxnSpPr>
        <p:spPr>
          <a:xfrm>
            <a:off x="9329738"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329738" y="24193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Support for Observable Age-Related Cognitive Changes</a:t>
            </a:r>
          </a:p>
        </p:txBody>
      </p:sp>
      <p:sp>
        <p:nvSpPr>
          <p:cNvPr id="92" name="Rectangle 91"/>
          <p:cNvSpPr/>
          <p:nvPr/>
        </p:nvSpPr>
        <p:spPr>
          <a:xfrm>
            <a:off x="10682288" y="2524125"/>
            <a:ext cx="766762"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1487150" y="24860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4" name="TextBox 93"/>
          <p:cNvSpPr txBox="1"/>
          <p:nvPr/>
        </p:nvSpPr>
        <p:spPr>
          <a:xfrm>
            <a:off x="9329738" y="27432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Routine Cognitive Wellness</a:t>
            </a:r>
          </a:p>
        </p:txBody>
      </p:sp>
      <p:sp>
        <p:nvSpPr>
          <p:cNvPr id="95" name="Rectangle 94"/>
          <p:cNvSpPr/>
          <p:nvPr/>
        </p:nvSpPr>
        <p:spPr>
          <a:xfrm>
            <a:off x="10682288" y="2847975"/>
            <a:ext cx="264235"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0984622" y="28098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7" name="TextBox 96"/>
          <p:cNvSpPr txBox="1"/>
          <p:nvPr/>
        </p:nvSpPr>
        <p:spPr>
          <a:xfrm>
            <a:off x="9329738" y="30670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Preventive Cognitive Support for Senior Dogs</a:t>
            </a:r>
          </a:p>
        </p:txBody>
      </p:sp>
      <p:sp>
        <p:nvSpPr>
          <p:cNvPr id="98" name="Rectangle 97"/>
          <p:cNvSpPr/>
          <p:nvPr/>
        </p:nvSpPr>
        <p:spPr>
          <a:xfrm>
            <a:off x="10682288" y="3171825"/>
            <a:ext cx="96994"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0817382" y="31337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100" name="TextBox 99"/>
          <p:cNvSpPr txBox="1"/>
          <p:nvPr/>
        </p:nvSpPr>
        <p:spPr>
          <a:xfrm>
            <a:off x="9329738" y="33909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Veterinary-Guided Cognitive Dysfunction Support</a:t>
            </a:r>
          </a:p>
        </p:txBody>
      </p:sp>
      <p:sp>
        <p:nvSpPr>
          <p:cNvPr id="101" name="Rectangle 100"/>
          <p:cNvSpPr/>
          <p:nvPr/>
        </p:nvSpPr>
        <p:spPr>
          <a:xfrm>
            <a:off x="10682288" y="3495675"/>
            <a:ext cx="90711"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811099" y="34575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03" name="Connector 102"/>
          <p:cNvCxnSpPr/>
          <p:nvPr/>
        </p:nvCxnSpPr>
        <p:spPr>
          <a:xfrm>
            <a:off x="9329738"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9329738"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105" name="TextBox 104"/>
          <p:cNvSpPr txBox="1"/>
          <p:nvPr/>
        </p:nvSpPr>
        <p:spPr>
          <a:xfrm>
            <a:off x="9329738"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106" name="Rectangle 105"/>
          <p:cNvSpPr/>
          <p:nvPr/>
        </p:nvSpPr>
        <p:spPr>
          <a:xfrm>
            <a:off x="190500" y="54673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90500" y="5467350"/>
            <a:ext cx="47625" cy="4000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04800" y="5467350"/>
            <a:ext cx="1047750" cy="400050"/>
          </a:xfrm>
          <a:prstGeom prst="rect">
            <a:avLst/>
          </a:prstGeom>
          <a:noFill/>
        </p:spPr>
        <p:txBody>
          <a:bodyPr wrap="square" lIns="28575" rIns="28575" tIns="9525" bIns="9525" anchor="ctr">
            <a:spAutoFit/>
          </a:bodyPr>
          <a:lstStyle/>
          <a:p>
            <a:pPr algn="l"/>
            <a:r>
              <a:rPr sz="1100" b="1">
                <a:solidFill>
                  <a:srgbClr val="0F2D52"/>
                </a:solidFill>
                <a:latin typeface="Calibri"/>
              </a:rPr>
              <a:t>ENABLERS</a:t>
            </a:r>
          </a:p>
        </p:txBody>
      </p:sp>
      <p:sp>
        <p:nvSpPr>
          <p:cNvPr id="109" name="TextBox 108"/>
          <p:cNvSpPr txBox="1"/>
          <p:nvPr/>
        </p:nvSpPr>
        <p:spPr>
          <a:xfrm>
            <a:off x="1428750" y="54673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Chewables Compounds Fastest Across the Form Type Mix  |  South Asia &amp; Pacific Emerges as the Growth Engine Among Regions  |  Premiumisation Lifts Average Realisation</a:t>
            </a:r>
          </a:p>
        </p:txBody>
      </p:sp>
      <p:sp>
        <p:nvSpPr>
          <p:cNvPr id="110" name="Rectangle 109"/>
          <p:cNvSpPr/>
          <p:nvPr/>
        </p:nvSpPr>
        <p:spPr>
          <a:xfrm>
            <a:off x="190500" y="59245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90500" y="5924550"/>
            <a:ext cx="47625" cy="400050"/>
          </a:xfrm>
          <a:prstGeom prst="rect">
            <a:avLst/>
          </a:prstGeom>
          <a:solidFill>
            <a:srgbClr val="8B1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304800" y="5924550"/>
            <a:ext cx="1047750" cy="400050"/>
          </a:xfrm>
          <a:prstGeom prst="rect">
            <a:avLst/>
          </a:prstGeom>
          <a:noFill/>
        </p:spPr>
        <p:txBody>
          <a:bodyPr wrap="square" lIns="28575" rIns="28575" tIns="9525" bIns="9525" anchor="ctr">
            <a:spAutoFit/>
          </a:bodyPr>
          <a:lstStyle/>
          <a:p>
            <a:pPr algn="l"/>
            <a:r>
              <a:rPr sz="1100" b="1">
                <a:solidFill>
                  <a:srgbClr val="8B1E2D"/>
                </a:solidFill>
                <a:latin typeface="Calibri"/>
              </a:rPr>
              <a:t>CONSTRAINTS</a:t>
            </a:r>
          </a:p>
        </p:txBody>
      </p:sp>
      <p:sp>
        <p:nvSpPr>
          <p:cNvPr id="113" name="TextBox 112"/>
          <p:cNvSpPr txBox="1"/>
          <p:nvPr/>
        </p:nvSpPr>
        <p:spPr>
          <a:xfrm>
            <a:off x="1428750" y="59245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Liquids Lags the Category and Dilutes Blended Growth  |  Uneven Region Performance Caps the Blended Rate  |  Concentration Risk Limits Pricing and Sourcing Flexibility</a:t>
            </a:r>
          </a:p>
        </p:txBody>
      </p:sp>
      <p:sp>
        <p:nvSpPr>
          <p:cNvPr id="114" name="TextBox 1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15" name="Picture 114" descr="lock.png"/>
          <p:cNvPicPr>
            <a:picLocks noChangeAspect="1"/>
          </p:cNvPicPr>
          <p:nvPr/>
        </p:nvPicPr>
        <p:blipFill>
          <a:blip r:embed="rId4"/>
          <a:stretch>
            <a:fillRect/>
          </a:stretch>
        </p:blipFill>
        <p:spPr>
          <a:xfrm>
            <a:off x="1316775" y="1258951"/>
            <a:ext cx="128699" cy="187198"/>
          </a:xfrm>
          <a:prstGeom prst="rect">
            <a:avLst/>
          </a:prstGeom>
        </p:spPr>
      </p:pic>
      <p:pic>
        <p:nvPicPr>
          <p:cNvPr id="116" name="Picture 115" descr="lock.png"/>
          <p:cNvPicPr>
            <a:picLocks noChangeAspect="1"/>
          </p:cNvPicPr>
          <p:nvPr/>
        </p:nvPicPr>
        <p:blipFill>
          <a:blip r:embed="rId4"/>
          <a:stretch>
            <a:fillRect/>
          </a:stretch>
        </p:blipFill>
        <p:spPr>
          <a:xfrm>
            <a:off x="3678975" y="1258951"/>
            <a:ext cx="128699" cy="187198"/>
          </a:xfrm>
          <a:prstGeom prst="rect">
            <a:avLst/>
          </a:prstGeom>
        </p:spPr>
      </p:pic>
      <p:pic>
        <p:nvPicPr>
          <p:cNvPr id="117" name="Picture 116" descr="lock.png"/>
          <p:cNvPicPr>
            <a:picLocks noChangeAspect="1"/>
          </p:cNvPicPr>
          <p:nvPr/>
        </p:nvPicPr>
        <p:blipFill>
          <a:blip r:embed="rId4"/>
          <a:stretch>
            <a:fillRect/>
          </a:stretch>
        </p:blipFill>
        <p:spPr>
          <a:xfrm>
            <a:off x="6041175" y="1258951"/>
            <a:ext cx="128699" cy="187198"/>
          </a:xfrm>
          <a:prstGeom prst="rect">
            <a:avLst/>
          </a:prstGeom>
        </p:spPr>
      </p:pic>
      <p:pic>
        <p:nvPicPr>
          <p:cNvPr id="118" name="Picture 117" descr="lock.png"/>
          <p:cNvPicPr>
            <a:picLocks noChangeAspect="1"/>
          </p:cNvPicPr>
          <p:nvPr/>
        </p:nvPicPr>
        <p:blipFill>
          <a:blip r:embed="rId4"/>
          <a:stretch>
            <a:fillRect/>
          </a:stretch>
        </p:blipFill>
        <p:spPr>
          <a:xfrm>
            <a:off x="8403375" y="1258951"/>
            <a:ext cx="128699" cy="187198"/>
          </a:xfrm>
          <a:prstGeom prst="rect">
            <a:avLst/>
          </a:prstGeom>
        </p:spPr>
      </p:pic>
      <p:pic>
        <p:nvPicPr>
          <p:cNvPr id="119" name="Picture 118" descr="lock.png"/>
          <p:cNvPicPr>
            <a:picLocks noChangeAspect="1"/>
          </p:cNvPicPr>
          <p:nvPr/>
        </p:nvPicPr>
        <p:blipFill>
          <a:blip r:embed="rId4"/>
          <a:stretch>
            <a:fillRect/>
          </a:stretch>
        </p:blipFill>
        <p:spPr>
          <a:xfrm>
            <a:off x="10765575" y="1258951"/>
            <a:ext cx="128699" cy="187198"/>
          </a:xfrm>
          <a:prstGeom prst="rect">
            <a:avLst/>
          </a:prstGeom>
        </p:spPr>
      </p:pic>
      <p:pic>
        <p:nvPicPr>
          <p:cNvPr id="120" name="Picture 119" descr="lock.png"/>
          <p:cNvPicPr>
            <a:picLocks noChangeAspect="1"/>
          </p:cNvPicPr>
          <p:nvPr/>
        </p:nvPicPr>
        <p:blipFill>
          <a:blip r:embed="rId4"/>
          <a:stretch>
            <a:fillRect/>
          </a:stretch>
        </p:blipFill>
        <p:spPr>
          <a:xfrm>
            <a:off x="554775" y="1925701"/>
            <a:ext cx="128699" cy="187198"/>
          </a:xfrm>
          <a:prstGeom prst="rect">
            <a:avLst/>
          </a:prstGeom>
        </p:spPr>
      </p:pic>
      <p:pic>
        <p:nvPicPr>
          <p:cNvPr id="121" name="Picture 120" descr="lock.png"/>
          <p:cNvPicPr>
            <a:picLocks noChangeAspect="1"/>
          </p:cNvPicPr>
          <p:nvPr/>
        </p:nvPicPr>
        <p:blipFill>
          <a:blip r:embed="rId4"/>
          <a:stretch>
            <a:fillRect/>
          </a:stretch>
        </p:blipFill>
        <p:spPr>
          <a:xfrm>
            <a:off x="554775" y="2135251"/>
            <a:ext cx="128699" cy="187198"/>
          </a:xfrm>
          <a:prstGeom prst="rect">
            <a:avLst/>
          </a:prstGeom>
        </p:spPr>
      </p:pic>
      <p:pic>
        <p:nvPicPr>
          <p:cNvPr id="122" name="Picture 121" descr="lock.png"/>
          <p:cNvPicPr>
            <a:picLocks noChangeAspect="1"/>
          </p:cNvPicPr>
          <p:nvPr/>
        </p:nvPicPr>
        <p:blipFill>
          <a:blip r:embed="rId4"/>
          <a:stretch>
            <a:fillRect/>
          </a:stretch>
        </p:blipFill>
        <p:spPr>
          <a:xfrm>
            <a:off x="4524318" y="1725676"/>
            <a:ext cx="128699" cy="187198"/>
          </a:xfrm>
          <a:prstGeom prst="rect">
            <a:avLst/>
          </a:prstGeom>
        </p:spPr>
      </p:pic>
      <p:pic>
        <p:nvPicPr>
          <p:cNvPr id="123" name="Picture 122" descr="lock.png"/>
          <p:cNvPicPr>
            <a:picLocks noChangeAspect="1"/>
          </p:cNvPicPr>
          <p:nvPr/>
        </p:nvPicPr>
        <p:blipFill>
          <a:blip r:embed="rId4"/>
          <a:stretch>
            <a:fillRect/>
          </a:stretch>
        </p:blipFill>
        <p:spPr>
          <a:xfrm>
            <a:off x="3569437" y="1925701"/>
            <a:ext cx="128699" cy="187198"/>
          </a:xfrm>
          <a:prstGeom prst="rect">
            <a:avLst/>
          </a:prstGeom>
        </p:spPr>
      </p:pic>
      <p:pic>
        <p:nvPicPr>
          <p:cNvPr id="124" name="Picture 123" descr="lock.png"/>
          <p:cNvPicPr>
            <a:picLocks noChangeAspect="1"/>
          </p:cNvPicPr>
          <p:nvPr/>
        </p:nvPicPr>
        <p:blipFill>
          <a:blip r:embed="rId4"/>
          <a:stretch>
            <a:fillRect/>
          </a:stretch>
        </p:blipFill>
        <p:spPr>
          <a:xfrm>
            <a:off x="3569437" y="2135251"/>
            <a:ext cx="128699" cy="187198"/>
          </a:xfrm>
          <a:prstGeom prst="rect">
            <a:avLst/>
          </a:prstGeom>
        </p:spPr>
      </p:pic>
      <p:pic>
        <p:nvPicPr>
          <p:cNvPr id="125" name="Picture 124" descr="lock.png"/>
          <p:cNvPicPr>
            <a:picLocks noChangeAspect="1"/>
          </p:cNvPicPr>
          <p:nvPr/>
        </p:nvPicPr>
        <p:blipFill>
          <a:blip r:embed="rId4"/>
          <a:stretch>
            <a:fillRect/>
          </a:stretch>
        </p:blipFill>
        <p:spPr>
          <a:xfrm>
            <a:off x="6584100" y="1925701"/>
            <a:ext cx="128699" cy="187198"/>
          </a:xfrm>
          <a:prstGeom prst="rect">
            <a:avLst/>
          </a:prstGeom>
        </p:spPr>
      </p:pic>
      <p:pic>
        <p:nvPicPr>
          <p:cNvPr id="126" name="Picture 125" descr="lock.png"/>
          <p:cNvPicPr>
            <a:picLocks noChangeAspect="1"/>
          </p:cNvPicPr>
          <p:nvPr/>
        </p:nvPicPr>
        <p:blipFill>
          <a:blip r:embed="rId4"/>
          <a:stretch>
            <a:fillRect/>
          </a:stretch>
        </p:blipFill>
        <p:spPr>
          <a:xfrm>
            <a:off x="6584100" y="2135251"/>
            <a:ext cx="128699" cy="187198"/>
          </a:xfrm>
          <a:prstGeom prst="rect">
            <a:avLst/>
          </a:prstGeom>
        </p:spPr>
      </p:pic>
      <p:pic>
        <p:nvPicPr>
          <p:cNvPr id="127" name="Picture 126" descr="lock.png"/>
          <p:cNvPicPr>
            <a:picLocks noChangeAspect="1"/>
          </p:cNvPicPr>
          <p:nvPr/>
        </p:nvPicPr>
        <p:blipFill>
          <a:blip r:embed="rId4"/>
          <a:stretch>
            <a:fillRect/>
          </a:stretch>
        </p:blipFill>
        <p:spPr>
          <a:xfrm>
            <a:off x="11660925" y="2487676"/>
            <a:ext cx="128699" cy="187198"/>
          </a:xfrm>
          <a:prstGeom prst="rect">
            <a:avLst/>
          </a:prstGeom>
        </p:spPr>
      </p:pic>
      <p:pic>
        <p:nvPicPr>
          <p:cNvPr id="128" name="Picture 127" descr="lock.png"/>
          <p:cNvPicPr>
            <a:picLocks noChangeAspect="1"/>
          </p:cNvPicPr>
          <p:nvPr/>
        </p:nvPicPr>
        <p:blipFill>
          <a:blip r:embed="rId4"/>
          <a:stretch>
            <a:fillRect/>
          </a:stretch>
        </p:blipFill>
        <p:spPr>
          <a:xfrm>
            <a:off x="11158397" y="2811526"/>
            <a:ext cx="128699" cy="187198"/>
          </a:xfrm>
          <a:prstGeom prst="rect">
            <a:avLst/>
          </a:prstGeom>
        </p:spPr>
      </p:pic>
      <p:pic>
        <p:nvPicPr>
          <p:cNvPr id="129" name="Picture 128" descr="lock.png"/>
          <p:cNvPicPr>
            <a:picLocks noChangeAspect="1"/>
          </p:cNvPicPr>
          <p:nvPr/>
        </p:nvPicPr>
        <p:blipFill>
          <a:blip r:embed="rId4"/>
          <a:stretch>
            <a:fillRect/>
          </a:stretch>
        </p:blipFill>
        <p:spPr>
          <a:xfrm>
            <a:off x="10991157" y="3135376"/>
            <a:ext cx="128699" cy="187198"/>
          </a:xfrm>
          <a:prstGeom prst="rect">
            <a:avLst/>
          </a:prstGeom>
        </p:spPr>
      </p:pic>
      <p:pic>
        <p:nvPicPr>
          <p:cNvPr id="130" name="Picture 129" descr="lock.png"/>
          <p:cNvPicPr>
            <a:picLocks noChangeAspect="1"/>
          </p:cNvPicPr>
          <p:nvPr/>
        </p:nvPicPr>
        <p:blipFill>
          <a:blip r:embed="rId4"/>
          <a:stretch>
            <a:fillRect/>
          </a:stretch>
        </p:blipFill>
        <p:spPr>
          <a:xfrm>
            <a:off x="10984874" y="3459226"/>
            <a:ext cx="128699" cy="187198"/>
          </a:xfrm>
          <a:prstGeom prst="rect">
            <a:avLst/>
          </a:prstGeom>
        </p:spPr>
      </p:pic>
      <p:sp>
        <p:nvSpPr>
          <p:cNvPr id="131" name="TextBox 130"/>
          <p:cNvSpPr txBox="1"/>
          <p:nvPr/>
        </p:nvSpPr>
        <p:spPr>
          <a:xfrm>
            <a:off x="314325" y="4676775"/>
            <a:ext cx="2441550" cy="186689"/>
          </a:xfrm>
          <a:prstGeom prst="rect">
            <a:avLst/>
          </a:prstGeom>
          <a:noFill/>
        </p:spPr>
        <p:txBody>
          <a:bodyPr wrap="none" lIns="0" rIns="0" tIns="0" bIns="0">
            <a:spAutoFit/>
          </a:bodyPr>
          <a:lstStyle/>
          <a:p>
            <a:r>
              <a:rPr sz="1100" b="0">
                <a:solidFill>
                  <a:srgbClr val="1F2933"/>
                </a:solidFill>
                <a:latin typeface="Calibri"/>
              </a:rPr>
              <a:t>5 named players compete here; 'Capsules</a:t>
            </a:r>
          </a:p>
        </p:txBody>
      </p:sp>
      <p:sp>
        <p:nvSpPr>
          <p:cNvPr id="132" name="TextBox 131"/>
          <p:cNvSpPr txBox="1"/>
          <p:nvPr/>
        </p:nvSpPr>
        <p:spPr>
          <a:xfrm>
            <a:off x="314325" y="4844415"/>
            <a:ext cx="1101576" cy="186689"/>
          </a:xfrm>
          <a:prstGeom prst="rect">
            <a:avLst/>
          </a:prstGeom>
          <a:noFill/>
        </p:spPr>
        <p:txBody>
          <a:bodyPr wrap="none" lIns="0" rIns="0" tIns="0" bIns="0">
            <a:spAutoFit/>
          </a:bodyPr>
          <a:lstStyle/>
          <a:p>
            <a:r>
              <a:rPr sz="1100" b="0">
                <a:solidFill>
                  <a:srgbClr val="1F2933"/>
                </a:solidFill>
                <a:latin typeface="Calibri"/>
              </a:rPr>
              <a:t>and Softgels' adds</a:t>
            </a:r>
          </a:p>
        </p:txBody>
      </p:sp>
      <p:pic>
        <p:nvPicPr>
          <p:cNvPr id="133" name="Picture 132" descr="lock.png"/>
          <p:cNvPicPr>
            <a:picLocks noChangeAspect="1"/>
          </p:cNvPicPr>
          <p:nvPr/>
        </p:nvPicPr>
        <p:blipFill>
          <a:blip r:embed="rId4"/>
          <a:stretch>
            <a:fillRect/>
          </a:stretch>
        </p:blipFill>
        <p:spPr>
          <a:xfrm>
            <a:off x="1363952" y="4834636"/>
            <a:ext cx="128699" cy="187198"/>
          </a:xfrm>
          <a:prstGeom prst="rect">
            <a:avLst/>
          </a:prstGeom>
        </p:spPr>
      </p:pic>
      <p:sp>
        <p:nvSpPr>
          <p:cNvPr id="134" name="TextBox 133"/>
          <p:cNvSpPr txBox="1"/>
          <p:nvPr/>
        </p:nvSpPr>
        <p:spPr>
          <a:xfrm>
            <a:off x="1531448" y="4844415"/>
            <a:ext cx="1044550" cy="186689"/>
          </a:xfrm>
          <a:prstGeom prst="rect">
            <a:avLst/>
          </a:prstGeom>
          <a:noFill/>
        </p:spPr>
        <p:txBody>
          <a:bodyPr wrap="none" lIns="0" rIns="0" tIns="0" bIns="0">
            <a:spAutoFit/>
          </a:bodyPr>
          <a:lstStyle/>
          <a:p>
            <a:r>
              <a:rPr sz="1100" b="0">
                <a:solidFill>
                  <a:srgbClr val="1F2933"/>
                </a:solidFill>
                <a:latin typeface="Calibri"/>
              </a:rPr>
              <a:t>US$ Mn by 2036.</a:t>
            </a:r>
          </a:p>
        </p:txBody>
      </p:sp>
      <p:sp>
        <p:nvSpPr>
          <p:cNvPr id="135" name="TextBox 134"/>
          <p:cNvSpPr txBox="1"/>
          <p:nvPr/>
        </p:nvSpPr>
        <p:spPr>
          <a:xfrm>
            <a:off x="3328987" y="4676775"/>
            <a:ext cx="2385069" cy="186689"/>
          </a:xfrm>
          <a:prstGeom prst="rect">
            <a:avLst/>
          </a:prstGeom>
          <a:noFill/>
        </p:spPr>
        <p:txBody>
          <a:bodyPr wrap="none" lIns="0" rIns="0" tIns="0" bIns="0">
            <a:spAutoFit/>
          </a:bodyPr>
          <a:lstStyle/>
          <a:p>
            <a:r>
              <a:rPr sz="1100" b="0">
                <a:solidFill>
                  <a:srgbClr val="1F2933"/>
                </a:solidFill>
                <a:latin typeface="Calibri"/>
              </a:rPr>
              <a:t>5 named players compete here; 'Tablets'</a:t>
            </a:r>
          </a:p>
        </p:txBody>
      </p:sp>
      <p:sp>
        <p:nvSpPr>
          <p:cNvPr id="136" name="TextBox 135"/>
          <p:cNvSpPr txBox="1"/>
          <p:nvPr/>
        </p:nvSpPr>
        <p:spPr>
          <a:xfrm>
            <a:off x="3328987" y="4844415"/>
            <a:ext cx="344413" cy="186689"/>
          </a:xfrm>
          <a:prstGeom prst="rect">
            <a:avLst/>
          </a:prstGeom>
          <a:noFill/>
        </p:spPr>
        <p:txBody>
          <a:bodyPr wrap="none" lIns="0" rIns="0" tIns="0" bIns="0">
            <a:spAutoFit/>
          </a:bodyPr>
          <a:lstStyle/>
          <a:p>
            <a:r>
              <a:rPr sz="1100" b="0">
                <a:solidFill>
                  <a:srgbClr val="1F2933"/>
                </a:solidFill>
                <a:latin typeface="Calibri"/>
              </a:rPr>
              <a:t>adds</a:t>
            </a:r>
          </a:p>
        </p:txBody>
      </p:sp>
      <p:pic>
        <p:nvPicPr>
          <p:cNvPr id="137" name="Picture 136" descr="lock.png"/>
          <p:cNvPicPr>
            <a:picLocks noChangeAspect="1"/>
          </p:cNvPicPr>
          <p:nvPr/>
        </p:nvPicPr>
        <p:blipFill>
          <a:blip r:embed="rId4"/>
          <a:stretch>
            <a:fillRect/>
          </a:stretch>
        </p:blipFill>
        <p:spPr>
          <a:xfrm>
            <a:off x="3621451" y="4834636"/>
            <a:ext cx="128699" cy="187198"/>
          </a:xfrm>
          <a:prstGeom prst="rect">
            <a:avLst/>
          </a:prstGeom>
        </p:spPr>
      </p:pic>
      <p:sp>
        <p:nvSpPr>
          <p:cNvPr id="138" name="TextBox 137"/>
          <p:cNvSpPr txBox="1"/>
          <p:nvPr/>
        </p:nvSpPr>
        <p:spPr>
          <a:xfrm>
            <a:off x="3788947" y="4844415"/>
            <a:ext cx="1044550" cy="186689"/>
          </a:xfrm>
          <a:prstGeom prst="rect">
            <a:avLst/>
          </a:prstGeom>
          <a:noFill/>
        </p:spPr>
        <p:txBody>
          <a:bodyPr wrap="none" lIns="0" rIns="0" tIns="0" bIns="0">
            <a:spAutoFit/>
          </a:bodyPr>
          <a:lstStyle/>
          <a:p>
            <a:r>
              <a:rPr sz="1100" b="0">
                <a:solidFill>
                  <a:srgbClr val="1F2933"/>
                </a:solidFill>
                <a:latin typeface="Calibri"/>
              </a:rPr>
              <a:t>US$ Mn by 2036.</a:t>
            </a:r>
          </a:p>
        </p:txBody>
      </p:sp>
      <p:sp>
        <p:nvSpPr>
          <p:cNvPr id="139" name="TextBox 138"/>
          <p:cNvSpPr txBox="1"/>
          <p:nvPr/>
        </p:nvSpPr>
        <p:spPr>
          <a:xfrm>
            <a:off x="6343650" y="4676775"/>
            <a:ext cx="2519362" cy="186689"/>
          </a:xfrm>
          <a:prstGeom prst="rect">
            <a:avLst/>
          </a:prstGeom>
          <a:noFill/>
        </p:spPr>
        <p:txBody>
          <a:bodyPr wrap="none" lIns="0" rIns="0" tIns="0" bIns="0">
            <a:spAutoFit/>
          </a:bodyPr>
          <a:lstStyle/>
          <a:p>
            <a:r>
              <a:rPr sz="1100" b="0">
                <a:solidFill>
                  <a:srgbClr val="1F2933"/>
                </a:solidFill>
                <a:latin typeface="Calibri"/>
              </a:rPr>
              <a:t>5 named players compete here; 'Chewables'</a:t>
            </a:r>
          </a:p>
        </p:txBody>
      </p:sp>
      <p:sp>
        <p:nvSpPr>
          <p:cNvPr id="140" name="TextBox 139"/>
          <p:cNvSpPr txBox="1"/>
          <p:nvPr/>
        </p:nvSpPr>
        <p:spPr>
          <a:xfrm>
            <a:off x="6343650" y="4844415"/>
            <a:ext cx="344413" cy="186689"/>
          </a:xfrm>
          <a:prstGeom prst="rect">
            <a:avLst/>
          </a:prstGeom>
          <a:noFill/>
        </p:spPr>
        <p:txBody>
          <a:bodyPr wrap="none" lIns="0" rIns="0" tIns="0" bIns="0">
            <a:spAutoFit/>
          </a:bodyPr>
          <a:lstStyle/>
          <a:p>
            <a:r>
              <a:rPr sz="1100" b="0">
                <a:solidFill>
                  <a:srgbClr val="1F2933"/>
                </a:solidFill>
                <a:latin typeface="Calibri"/>
              </a:rPr>
              <a:t>adds</a:t>
            </a:r>
          </a:p>
        </p:txBody>
      </p:sp>
      <p:pic>
        <p:nvPicPr>
          <p:cNvPr id="141" name="Picture 140" descr="lock.png"/>
          <p:cNvPicPr>
            <a:picLocks noChangeAspect="1"/>
          </p:cNvPicPr>
          <p:nvPr/>
        </p:nvPicPr>
        <p:blipFill>
          <a:blip r:embed="rId4"/>
          <a:stretch>
            <a:fillRect/>
          </a:stretch>
        </p:blipFill>
        <p:spPr>
          <a:xfrm>
            <a:off x="6636114" y="4834636"/>
            <a:ext cx="128699" cy="187198"/>
          </a:xfrm>
          <a:prstGeom prst="rect">
            <a:avLst/>
          </a:prstGeom>
        </p:spPr>
      </p:pic>
      <p:sp>
        <p:nvSpPr>
          <p:cNvPr id="142" name="TextBox 141"/>
          <p:cNvSpPr txBox="1"/>
          <p:nvPr/>
        </p:nvSpPr>
        <p:spPr>
          <a:xfrm>
            <a:off x="6803610" y="4844415"/>
            <a:ext cx="1044550" cy="186689"/>
          </a:xfrm>
          <a:prstGeom prst="rect">
            <a:avLst/>
          </a:prstGeom>
          <a:noFill/>
        </p:spPr>
        <p:txBody>
          <a:bodyPr wrap="none" lIns="0" rIns="0" tIns="0" bIns="0">
            <a:spAutoFit/>
          </a:bodyPr>
          <a:lstStyle/>
          <a:p>
            <a:r>
              <a:rPr sz="1100" b="0">
                <a:solidFill>
                  <a:srgbClr val="1F2933"/>
                </a:solidFill>
                <a:latin typeface="Calibri"/>
              </a:rPr>
              <a:t>US$ Mn by 2036.</a:t>
            </a:r>
          </a:p>
        </p:txBody>
      </p:sp>
      <p:sp>
        <p:nvSpPr>
          <p:cNvPr id="143" name="TextBox 142"/>
          <p:cNvSpPr txBox="1"/>
          <p:nvPr/>
        </p:nvSpPr>
        <p:spPr>
          <a:xfrm>
            <a:off x="9358313" y="4676775"/>
            <a:ext cx="1728861" cy="186689"/>
          </a:xfrm>
          <a:prstGeom prst="rect">
            <a:avLst/>
          </a:prstGeom>
          <a:noFill/>
        </p:spPr>
        <p:txBody>
          <a:bodyPr wrap="none" lIns="0" rIns="0" tIns="0" bIns="0">
            <a:spAutoFit/>
          </a:bodyPr>
          <a:lstStyle/>
          <a:p>
            <a:r>
              <a:rPr sz="1100" b="0">
                <a:solidFill>
                  <a:srgbClr val="1F2933"/>
                </a:solidFill>
                <a:latin typeface="Calibri"/>
              </a:rPr>
              <a:t>The top two end uses pay for</a:t>
            </a:r>
          </a:p>
        </p:txBody>
      </p:sp>
      <p:pic>
        <p:nvPicPr>
          <p:cNvPr id="144" name="Picture 143" descr="lock.png"/>
          <p:cNvPicPr>
            <a:picLocks noChangeAspect="1"/>
          </p:cNvPicPr>
          <p:nvPr/>
        </p:nvPicPr>
        <p:blipFill>
          <a:blip r:embed="rId4"/>
          <a:stretch>
            <a:fillRect/>
          </a:stretch>
        </p:blipFill>
        <p:spPr>
          <a:xfrm>
            <a:off x="11035226" y="4666996"/>
            <a:ext cx="128699" cy="187198"/>
          </a:xfrm>
          <a:prstGeom prst="rect">
            <a:avLst/>
          </a:prstGeom>
        </p:spPr>
      </p:pic>
      <p:sp>
        <p:nvSpPr>
          <p:cNvPr id="145" name="TextBox 144"/>
          <p:cNvSpPr txBox="1"/>
          <p:nvPr/>
        </p:nvSpPr>
        <p:spPr>
          <a:xfrm>
            <a:off x="11202722" y="4676775"/>
            <a:ext cx="413990" cy="186689"/>
          </a:xfrm>
          <a:prstGeom prst="rect">
            <a:avLst/>
          </a:prstGeom>
          <a:noFill/>
        </p:spPr>
        <p:txBody>
          <a:bodyPr wrap="none" lIns="0" rIns="0" tIns="0" bIns="0">
            <a:spAutoFit/>
          </a:bodyPr>
          <a:lstStyle/>
          <a:p>
            <a:r>
              <a:rPr sz="1100" b="0">
                <a:solidFill>
                  <a:srgbClr val="1F2933"/>
                </a:solidFill>
                <a:latin typeface="Calibri"/>
              </a:rPr>
              <a:t>of the</a:t>
            </a:r>
          </a:p>
        </p:txBody>
      </p:sp>
      <p:sp>
        <p:nvSpPr>
          <p:cNvPr id="146" name="TextBox 145"/>
          <p:cNvSpPr txBox="1"/>
          <p:nvPr/>
        </p:nvSpPr>
        <p:spPr>
          <a:xfrm>
            <a:off x="9358313" y="4844415"/>
            <a:ext cx="2519361" cy="186689"/>
          </a:xfrm>
          <a:prstGeom prst="rect">
            <a:avLst/>
          </a:prstGeom>
          <a:noFill/>
        </p:spPr>
        <p:txBody>
          <a:bodyPr wrap="none" lIns="0" rIns="0" tIns="0" bIns="0">
            <a:spAutoFit/>
          </a:bodyPr>
          <a:lstStyle/>
          <a:p>
            <a:r>
              <a:rPr sz="1100" b="0">
                <a:solidFill>
                  <a:srgbClr val="1F2933"/>
                </a:solidFill>
                <a:latin typeface="Calibri"/>
              </a:rPr>
              <a:t>market; vendors package for one vertical at</a:t>
            </a:r>
          </a:p>
        </p:txBody>
      </p:sp>
      <p:sp>
        <p:nvSpPr>
          <p:cNvPr id="147" name="TextBox 146"/>
          <p:cNvSpPr txBox="1"/>
          <p:nvPr/>
        </p:nvSpPr>
        <p:spPr>
          <a:xfrm>
            <a:off x="9358313" y="5012055"/>
            <a:ext cx="470197" cy="186689"/>
          </a:xfrm>
          <a:prstGeom prst="rect">
            <a:avLst/>
          </a:prstGeom>
          <a:noFill/>
        </p:spPr>
        <p:txBody>
          <a:bodyPr wrap="none" lIns="0" rIns="0" tIns="0" bIns="0">
            <a:spAutoFit/>
          </a:bodyPr>
          <a:lstStyle/>
          <a:p>
            <a:r>
              <a:rPr sz="1100" b="0">
                <a:solidFill>
                  <a:srgbClr val="1F2933"/>
                </a:solidFill>
                <a:latin typeface="Calibri"/>
              </a:rPr>
              <a:t>a time.</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Player Landscape by Business Type and Reach</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Named players by business type and geographic reach, with how each group competes</a:t>
            </a:r>
          </a:p>
        </p:txBody>
      </p:sp>
      <p:sp>
        <p:nvSpPr>
          <p:cNvPr id="10" name="Rectangle 9"/>
          <p:cNvSpPr/>
          <p:nvPr/>
        </p:nvSpPr>
        <p:spPr>
          <a:xfrm>
            <a:off x="1638300" y="1047750"/>
            <a:ext cx="3422650" cy="2667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145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1  (4)</a:t>
            </a:r>
          </a:p>
        </p:txBody>
      </p:sp>
      <p:sp>
        <p:nvSpPr>
          <p:cNvPr id="12" name="Rectangle 11"/>
          <p:cNvSpPr/>
          <p:nvPr/>
        </p:nvSpPr>
        <p:spPr>
          <a:xfrm>
            <a:off x="5099050" y="1047750"/>
            <a:ext cx="3422650" cy="2667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7525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2  (2)</a:t>
            </a:r>
          </a:p>
        </p:txBody>
      </p:sp>
      <p:sp>
        <p:nvSpPr>
          <p:cNvPr id="14" name="Rectangle 13"/>
          <p:cNvSpPr/>
          <p:nvPr/>
        </p:nvSpPr>
        <p:spPr>
          <a:xfrm>
            <a:off x="8559800" y="1047750"/>
            <a:ext cx="3422650" cy="2667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360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3  (4)</a:t>
            </a:r>
          </a:p>
        </p:txBody>
      </p:sp>
      <p:sp>
        <p:nvSpPr>
          <p:cNvPr id="16" name="TextBox 15"/>
          <p:cNvSpPr txBox="1"/>
          <p:nvPr/>
        </p:nvSpPr>
        <p:spPr>
          <a:xfrm>
            <a:off x="190500" y="14097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Global (4)</a:t>
            </a:r>
          </a:p>
        </p:txBody>
      </p:sp>
      <p:sp>
        <p:nvSpPr>
          <p:cNvPr id="17" name="TextBox 16"/>
          <p:cNvSpPr txBox="1"/>
          <p:nvPr/>
        </p:nvSpPr>
        <p:spPr>
          <a:xfrm>
            <a:off x="190500" y="15811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Sells in most major regions</a:t>
            </a:r>
          </a:p>
        </p:txBody>
      </p:sp>
      <p:cxnSp>
        <p:nvCxnSpPr>
          <p:cNvPr id="18" name="Connector 17"/>
          <p:cNvCxnSpPr/>
          <p:nvPr/>
        </p:nvCxnSpPr>
        <p:spPr>
          <a:xfrm>
            <a:off x="1647825" y="13906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733550" y="1447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33550" y="1438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1" name="TextBox 20"/>
          <p:cNvSpPr txBox="1"/>
          <p:nvPr/>
        </p:nvSpPr>
        <p:spPr>
          <a:xfrm>
            <a:off x="1924050" y="1428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Standard Process</a:t>
            </a:r>
          </a:p>
        </p:txBody>
      </p:sp>
      <p:sp>
        <p:nvSpPr>
          <p:cNvPr id="22" name="Rectangle 21"/>
          <p:cNvSpPr/>
          <p:nvPr/>
        </p:nvSpPr>
        <p:spPr>
          <a:xfrm>
            <a:off x="1733550" y="1638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33550" y="1628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4" name="TextBox 23"/>
          <p:cNvSpPr txBox="1"/>
          <p:nvPr/>
        </p:nvSpPr>
        <p:spPr>
          <a:xfrm>
            <a:off x="1924050" y="1619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VetriScience</a:t>
            </a:r>
          </a:p>
        </p:txBody>
      </p:sp>
      <p:sp>
        <p:nvSpPr>
          <p:cNvPr id="25" name="Rectangle 24"/>
          <p:cNvSpPr/>
          <p:nvPr/>
        </p:nvSpPr>
        <p:spPr>
          <a:xfrm>
            <a:off x="1733550" y="1828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33550" y="1819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7" name="TextBox 26"/>
          <p:cNvSpPr txBox="1"/>
          <p:nvPr/>
        </p:nvSpPr>
        <p:spPr>
          <a:xfrm>
            <a:off x="1924050" y="1809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Dr. Fossum's</a:t>
            </a:r>
          </a:p>
        </p:txBody>
      </p:sp>
      <p:sp>
        <p:nvSpPr>
          <p:cNvPr id="28" name="Rectangle 27"/>
          <p:cNvSpPr/>
          <p:nvPr/>
        </p:nvSpPr>
        <p:spPr>
          <a:xfrm>
            <a:off x="1733550" y="2019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33550" y="2009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30" name="TextBox 29"/>
          <p:cNvSpPr txBox="1"/>
          <p:nvPr/>
        </p:nvSpPr>
        <p:spPr>
          <a:xfrm>
            <a:off x="1924050" y="2000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Nestlé Purina PetCare</a:t>
            </a:r>
          </a:p>
        </p:txBody>
      </p:sp>
      <p:cxnSp>
        <p:nvCxnSpPr>
          <p:cNvPr id="31" name="Connector 30"/>
          <p:cNvCxnSpPr/>
          <p:nvPr/>
        </p:nvCxnSpPr>
        <p:spPr>
          <a:xfrm>
            <a:off x="5108575" y="13906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569325" y="13906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90500" y="24384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Regional (2)</a:t>
            </a:r>
          </a:p>
        </p:txBody>
      </p:sp>
      <p:sp>
        <p:nvSpPr>
          <p:cNvPr id="34" name="TextBox 33"/>
          <p:cNvSpPr txBox="1"/>
          <p:nvPr/>
        </p:nvSpPr>
        <p:spPr>
          <a:xfrm>
            <a:off x="190500" y="26098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Strong in one or two regions</a:t>
            </a:r>
          </a:p>
        </p:txBody>
      </p:sp>
      <p:cxnSp>
        <p:nvCxnSpPr>
          <p:cNvPr id="35" name="Connector 34"/>
          <p:cNvCxnSpPr/>
          <p:nvPr/>
        </p:nvCxnSpPr>
        <p:spPr>
          <a:xfrm>
            <a:off x="190500" y="240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647825" y="24193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108575" y="24193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5194300" y="24765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94300" y="24669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0" name="TextBox 39"/>
          <p:cNvSpPr txBox="1"/>
          <p:nvPr/>
        </p:nvSpPr>
        <p:spPr>
          <a:xfrm>
            <a:off x="5384800" y="24574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PetHeal</a:t>
            </a:r>
          </a:p>
        </p:txBody>
      </p:sp>
      <p:sp>
        <p:nvSpPr>
          <p:cNvPr id="41" name="Rectangle 40"/>
          <p:cNvSpPr/>
          <p:nvPr/>
        </p:nvSpPr>
        <p:spPr>
          <a:xfrm>
            <a:off x="5194300" y="26670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94300" y="26574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3" name="TextBox 42"/>
          <p:cNvSpPr txBox="1"/>
          <p:nvPr/>
        </p:nvSpPr>
        <p:spPr>
          <a:xfrm>
            <a:off x="5384800" y="26479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Senior Dogs Club</a:t>
            </a:r>
          </a:p>
        </p:txBody>
      </p:sp>
      <p:cxnSp>
        <p:nvCxnSpPr>
          <p:cNvPr id="44" name="Connector 43"/>
          <p:cNvCxnSpPr/>
          <p:nvPr/>
        </p:nvCxnSpPr>
        <p:spPr>
          <a:xfrm>
            <a:off x="8569325" y="24193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90500" y="34671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Local or niche (4)</a:t>
            </a:r>
          </a:p>
        </p:txBody>
      </p:sp>
      <p:sp>
        <p:nvSpPr>
          <p:cNvPr id="46" name="TextBox 45"/>
          <p:cNvSpPr txBox="1"/>
          <p:nvPr/>
        </p:nvSpPr>
        <p:spPr>
          <a:xfrm>
            <a:off x="190500" y="36385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One market or one specialist use</a:t>
            </a:r>
          </a:p>
        </p:txBody>
      </p:sp>
      <p:cxnSp>
        <p:nvCxnSpPr>
          <p:cNvPr id="47" name="Connector 46"/>
          <p:cNvCxnSpPr/>
          <p:nvPr/>
        </p:nvCxnSpPr>
        <p:spPr>
          <a:xfrm>
            <a:off x="190500" y="3429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647825" y="34480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108575" y="34480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569325" y="34480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8655050" y="3505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55050" y="34956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3" name="TextBox 52"/>
          <p:cNvSpPr txBox="1"/>
          <p:nvPr/>
        </p:nvSpPr>
        <p:spPr>
          <a:xfrm>
            <a:off x="8845550" y="34861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VISYO Corporation</a:t>
            </a:r>
          </a:p>
        </p:txBody>
      </p:sp>
      <p:sp>
        <p:nvSpPr>
          <p:cNvPr id="54" name="Rectangle 53"/>
          <p:cNvSpPr/>
          <p:nvPr/>
        </p:nvSpPr>
        <p:spPr>
          <a:xfrm>
            <a:off x="8655050" y="3695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55050" y="36861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6" name="TextBox 55"/>
          <p:cNvSpPr txBox="1"/>
          <p:nvPr/>
        </p:nvSpPr>
        <p:spPr>
          <a:xfrm>
            <a:off x="8845550" y="36766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NaturVet</a:t>
            </a:r>
          </a:p>
        </p:txBody>
      </p:sp>
      <p:sp>
        <p:nvSpPr>
          <p:cNvPr id="57" name="Rectangle 56"/>
          <p:cNvSpPr/>
          <p:nvPr/>
        </p:nvSpPr>
        <p:spPr>
          <a:xfrm>
            <a:off x="8655050" y="3886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655050" y="38766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9" name="TextBox 58"/>
          <p:cNvSpPr txBox="1"/>
          <p:nvPr/>
        </p:nvSpPr>
        <p:spPr>
          <a:xfrm>
            <a:off x="8845550" y="38671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Zesty Paws</a:t>
            </a:r>
          </a:p>
        </p:txBody>
      </p:sp>
      <p:sp>
        <p:nvSpPr>
          <p:cNvPr id="60" name="Rectangle 59"/>
          <p:cNvSpPr/>
          <p:nvPr/>
        </p:nvSpPr>
        <p:spPr>
          <a:xfrm>
            <a:off x="8655050" y="4076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655050" y="40671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62" name="TextBox 61"/>
          <p:cNvSpPr txBox="1"/>
          <p:nvPr/>
        </p:nvSpPr>
        <p:spPr>
          <a:xfrm>
            <a:off x="8845550" y="40576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Ark Naturals</a:t>
            </a:r>
          </a:p>
        </p:txBody>
      </p:sp>
      <p:sp>
        <p:nvSpPr>
          <p:cNvPr id="63" name="Rectangle 62"/>
          <p:cNvSpPr/>
          <p:nvPr/>
        </p:nvSpPr>
        <p:spPr>
          <a:xfrm>
            <a:off x="190500" y="4524375"/>
            <a:ext cx="123825" cy="1238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619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1</a:t>
            </a:r>
          </a:p>
        </p:txBody>
      </p:sp>
      <p:sp>
        <p:nvSpPr>
          <p:cNvPr id="65" name="TextBox 64"/>
          <p:cNvSpPr txBox="1"/>
          <p:nvPr/>
        </p:nvSpPr>
        <p:spPr>
          <a:xfrm>
            <a:off x="8191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66" name="TextBox 65"/>
          <p:cNvSpPr txBox="1"/>
          <p:nvPr/>
        </p:nvSpPr>
        <p:spPr>
          <a:xfrm>
            <a:off x="14478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67" name="Rectangle 66"/>
          <p:cNvSpPr/>
          <p:nvPr/>
        </p:nvSpPr>
        <p:spPr>
          <a:xfrm>
            <a:off x="2952750" y="4524375"/>
            <a:ext cx="123825" cy="1238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12420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2</a:t>
            </a:r>
          </a:p>
        </p:txBody>
      </p:sp>
      <p:sp>
        <p:nvSpPr>
          <p:cNvPr id="69" name="TextBox 68"/>
          <p:cNvSpPr txBox="1"/>
          <p:nvPr/>
        </p:nvSpPr>
        <p:spPr>
          <a:xfrm>
            <a:off x="358140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70" name="TextBox 69"/>
          <p:cNvSpPr txBox="1"/>
          <p:nvPr/>
        </p:nvSpPr>
        <p:spPr>
          <a:xfrm>
            <a:off x="421005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71" name="Rectangle 70"/>
          <p:cNvSpPr/>
          <p:nvPr/>
        </p:nvSpPr>
        <p:spPr>
          <a:xfrm>
            <a:off x="5715000" y="4524375"/>
            <a:ext cx="123825" cy="1238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8864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3</a:t>
            </a:r>
          </a:p>
        </p:txBody>
      </p:sp>
      <p:sp>
        <p:nvSpPr>
          <p:cNvPr id="73" name="TextBox 72"/>
          <p:cNvSpPr txBox="1"/>
          <p:nvPr/>
        </p:nvSpPr>
        <p:spPr>
          <a:xfrm>
            <a:off x="63436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74" name="TextBox 73"/>
          <p:cNvSpPr txBox="1"/>
          <p:nvPr/>
        </p:nvSpPr>
        <p:spPr>
          <a:xfrm>
            <a:off x="69723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75" name="TextBox 74"/>
          <p:cNvSpPr txBox="1"/>
          <p:nvPr/>
        </p:nvSpPr>
        <p:spPr>
          <a:xfrm>
            <a:off x="190500" y="4705350"/>
            <a:ext cx="11811000" cy="171450"/>
          </a:xfrm>
          <a:prstGeom prst="rect">
            <a:avLst/>
          </a:prstGeom>
          <a:noFill/>
        </p:spPr>
        <p:txBody>
          <a:bodyPr wrap="square" lIns="28575" rIns="28575" tIns="9525" bIns="9525" anchor="t">
            <a:spAutoFit/>
          </a:bodyPr>
          <a:lstStyle/>
          <a:p>
            <a:pPr algn="l"/>
            <a:r>
              <a:rPr sz="1100" b="0">
                <a:solidFill>
                  <a:srgbClr val="1F2933"/>
                </a:solidFill>
                <a:latin typeface="Calibri"/>
              </a:rPr>
              <a:t>BY TYPE   Tier 1 4   |   Tier 2 2   |   Tier 3 4      BY REACH   Global 4   |   Regional 2   |   Local or niche 4</a:t>
            </a:r>
          </a:p>
        </p:txBody>
      </p:sp>
      <p:sp>
        <p:nvSpPr>
          <p:cNvPr id="76" name="Rectangle 75"/>
          <p:cNvSpPr/>
          <p:nvPr/>
        </p:nvSpPr>
        <p:spPr>
          <a:xfrm>
            <a:off x="190500" y="4972050"/>
            <a:ext cx="2809875" cy="38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9050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78" name="TextBox 77"/>
          <p:cNvSpPr txBox="1"/>
          <p:nvPr/>
        </p:nvSpPr>
        <p:spPr>
          <a:xfrm>
            <a:off x="19050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79" name="TextBox 78"/>
          <p:cNvSpPr txBox="1"/>
          <p:nvPr/>
        </p:nvSpPr>
        <p:spPr>
          <a:xfrm>
            <a:off x="19050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Direct + key accounts; premium / bundled positioning.</a:t>
            </a:r>
          </a:p>
        </p:txBody>
      </p:sp>
      <p:sp>
        <p:nvSpPr>
          <p:cNvPr id="80" name="TextBox 79"/>
          <p:cNvSpPr txBox="1"/>
          <p:nvPr/>
        </p:nvSpPr>
        <p:spPr>
          <a:xfrm>
            <a:off x="19050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81" name="TextBox 80"/>
          <p:cNvSpPr txBox="1"/>
          <p:nvPr/>
        </p:nvSpPr>
        <p:spPr>
          <a:xfrm>
            <a:off x="19050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82" name="Rectangle 81"/>
          <p:cNvSpPr/>
          <p:nvPr/>
        </p:nvSpPr>
        <p:spPr>
          <a:xfrm>
            <a:off x="3190875" y="4972050"/>
            <a:ext cx="2809875" cy="38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190875"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84" name="TextBox 83"/>
          <p:cNvSpPr txBox="1"/>
          <p:nvPr/>
        </p:nvSpPr>
        <p:spPr>
          <a:xfrm>
            <a:off x="3190875"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85" name="TextBox 84"/>
          <p:cNvSpPr txBox="1"/>
          <p:nvPr/>
        </p:nvSpPr>
        <p:spPr>
          <a:xfrm>
            <a:off x="3190875"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Distributors; mid / value-added positioning.</a:t>
            </a:r>
          </a:p>
        </p:txBody>
      </p:sp>
      <p:sp>
        <p:nvSpPr>
          <p:cNvPr id="86" name="TextBox 85"/>
          <p:cNvSpPr txBox="1"/>
          <p:nvPr/>
        </p:nvSpPr>
        <p:spPr>
          <a:xfrm>
            <a:off x="3190875"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87" name="TextBox 86"/>
          <p:cNvSpPr txBox="1"/>
          <p:nvPr/>
        </p:nvSpPr>
        <p:spPr>
          <a:xfrm>
            <a:off x="3190875"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88" name="Rectangle 87"/>
          <p:cNvSpPr/>
          <p:nvPr/>
        </p:nvSpPr>
        <p:spPr>
          <a:xfrm>
            <a:off x="6191250" y="4972050"/>
            <a:ext cx="2809875" cy="38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19125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90" name="TextBox 89"/>
          <p:cNvSpPr txBox="1"/>
          <p:nvPr/>
        </p:nvSpPr>
        <p:spPr>
          <a:xfrm>
            <a:off x="619125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91" name="TextBox 90"/>
          <p:cNvSpPr txBox="1"/>
          <p:nvPr/>
        </p:nvSpPr>
        <p:spPr>
          <a:xfrm>
            <a:off x="619125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Regional partners; value / entry positioning.</a:t>
            </a:r>
          </a:p>
        </p:txBody>
      </p:sp>
      <p:sp>
        <p:nvSpPr>
          <p:cNvPr id="92" name="TextBox 91"/>
          <p:cNvSpPr txBox="1"/>
          <p:nvPr/>
        </p:nvSpPr>
        <p:spPr>
          <a:xfrm>
            <a:off x="619125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93" name="TextBox 92"/>
          <p:cNvSpPr txBox="1"/>
          <p:nvPr/>
        </p:nvSpPr>
        <p:spPr>
          <a:xfrm>
            <a:off x="619125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94" name="TextBox 9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95" name="Picture 94" descr="lock.png"/>
          <p:cNvPicPr>
            <a:picLocks noChangeAspect="1"/>
          </p:cNvPicPr>
          <p:nvPr/>
        </p:nvPicPr>
        <p:blipFill>
          <a:blip r:embed="rId4"/>
          <a:stretch>
            <a:fillRect/>
          </a:stretch>
        </p:blipFill>
        <p:spPr>
          <a:xfrm>
            <a:off x="1059600" y="4487926"/>
            <a:ext cx="128699" cy="187198"/>
          </a:xfrm>
          <a:prstGeom prst="rect">
            <a:avLst/>
          </a:prstGeom>
        </p:spPr>
      </p:pic>
      <p:pic>
        <p:nvPicPr>
          <p:cNvPr id="96" name="Picture 95" descr="lock.png"/>
          <p:cNvPicPr>
            <a:picLocks noChangeAspect="1"/>
          </p:cNvPicPr>
          <p:nvPr/>
        </p:nvPicPr>
        <p:blipFill>
          <a:blip r:embed="rId4"/>
          <a:stretch>
            <a:fillRect/>
          </a:stretch>
        </p:blipFill>
        <p:spPr>
          <a:xfrm>
            <a:off x="3821850" y="4487926"/>
            <a:ext cx="128699" cy="187198"/>
          </a:xfrm>
          <a:prstGeom prst="rect">
            <a:avLst/>
          </a:prstGeom>
        </p:spPr>
      </p:pic>
      <p:pic>
        <p:nvPicPr>
          <p:cNvPr id="97" name="Picture 96" descr="lock.png"/>
          <p:cNvPicPr>
            <a:picLocks noChangeAspect="1"/>
          </p:cNvPicPr>
          <p:nvPr/>
        </p:nvPicPr>
        <p:blipFill>
          <a:blip r:embed="rId4"/>
          <a:stretch>
            <a:fillRect/>
          </a:stretch>
        </p:blipFill>
        <p:spPr>
          <a:xfrm>
            <a:off x="6584100" y="4487926"/>
            <a:ext cx="128699" cy="187198"/>
          </a:xfrm>
          <a:prstGeom prst="rect">
            <a:avLst/>
          </a:prstGeom>
        </p:spPr>
      </p:pic>
      <p:sp>
        <p:nvSpPr>
          <p:cNvPr id="98" name="TextBox 97"/>
          <p:cNvSpPr txBox="1"/>
          <p:nvPr/>
        </p:nvSpPr>
        <p:spPr>
          <a:xfrm>
            <a:off x="219075" y="5876925"/>
            <a:ext cx="792708" cy="186689"/>
          </a:xfrm>
          <a:prstGeom prst="rect">
            <a:avLst/>
          </a:prstGeom>
          <a:noFill/>
        </p:spPr>
        <p:txBody>
          <a:bodyPr wrap="none" lIns="0" rIns="0" tIns="0" bIns="0">
            <a:spAutoFit/>
          </a:bodyPr>
          <a:lstStyle/>
          <a:p>
            <a:r>
              <a:rPr sz="1100" b="0">
                <a:solidFill>
                  <a:srgbClr val="1F2933"/>
                </a:solidFill>
                <a:latin typeface="Calibri"/>
              </a:rPr>
              <a:t>Buy to scale;</a:t>
            </a:r>
          </a:p>
        </p:txBody>
      </p:sp>
      <p:pic>
        <p:nvPicPr>
          <p:cNvPr id="99" name="Picture 98" descr="lock.png"/>
          <p:cNvPicPr>
            <a:picLocks noChangeAspect="1"/>
          </p:cNvPicPr>
          <p:nvPr/>
        </p:nvPicPr>
        <p:blipFill>
          <a:blip r:embed="rId4"/>
          <a:stretch>
            <a:fillRect/>
          </a:stretch>
        </p:blipFill>
        <p:spPr>
          <a:xfrm>
            <a:off x="959834" y="5867145"/>
            <a:ext cx="128699" cy="187198"/>
          </a:xfrm>
          <a:prstGeom prst="rect">
            <a:avLst/>
          </a:prstGeom>
        </p:spPr>
      </p:pic>
      <p:sp>
        <p:nvSpPr>
          <p:cNvPr id="100" name="TextBox 99"/>
          <p:cNvSpPr txBox="1"/>
          <p:nvPr/>
        </p:nvSpPr>
        <p:spPr>
          <a:xfrm>
            <a:off x="1127330"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101" name="TextBox 100"/>
          <p:cNvSpPr txBox="1"/>
          <p:nvPr/>
        </p:nvSpPr>
        <p:spPr>
          <a:xfrm>
            <a:off x="3219450" y="5876925"/>
            <a:ext cx="792708" cy="186689"/>
          </a:xfrm>
          <a:prstGeom prst="rect">
            <a:avLst/>
          </a:prstGeom>
          <a:noFill/>
        </p:spPr>
        <p:txBody>
          <a:bodyPr wrap="none" lIns="0" rIns="0" tIns="0" bIns="0">
            <a:spAutoFit/>
          </a:bodyPr>
          <a:lstStyle/>
          <a:p>
            <a:r>
              <a:rPr sz="1100" b="0">
                <a:solidFill>
                  <a:srgbClr val="1F2933"/>
                </a:solidFill>
                <a:latin typeface="Calibri"/>
              </a:rPr>
              <a:t>Buy to scale;</a:t>
            </a:r>
          </a:p>
        </p:txBody>
      </p:sp>
      <p:pic>
        <p:nvPicPr>
          <p:cNvPr id="102" name="Picture 101" descr="lock.png"/>
          <p:cNvPicPr>
            <a:picLocks noChangeAspect="1"/>
          </p:cNvPicPr>
          <p:nvPr/>
        </p:nvPicPr>
        <p:blipFill>
          <a:blip r:embed="rId4"/>
          <a:stretch>
            <a:fillRect/>
          </a:stretch>
        </p:blipFill>
        <p:spPr>
          <a:xfrm>
            <a:off x="3960209" y="5867145"/>
            <a:ext cx="128699" cy="187198"/>
          </a:xfrm>
          <a:prstGeom prst="rect">
            <a:avLst/>
          </a:prstGeom>
        </p:spPr>
      </p:pic>
      <p:sp>
        <p:nvSpPr>
          <p:cNvPr id="103" name="TextBox 102"/>
          <p:cNvSpPr txBox="1"/>
          <p:nvPr/>
        </p:nvSpPr>
        <p:spPr>
          <a:xfrm>
            <a:off x="4127705"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104" name="TextBox 103"/>
          <p:cNvSpPr txBox="1"/>
          <p:nvPr/>
        </p:nvSpPr>
        <p:spPr>
          <a:xfrm>
            <a:off x="6219825" y="5876925"/>
            <a:ext cx="792708" cy="186689"/>
          </a:xfrm>
          <a:prstGeom prst="rect">
            <a:avLst/>
          </a:prstGeom>
          <a:noFill/>
        </p:spPr>
        <p:txBody>
          <a:bodyPr wrap="none" lIns="0" rIns="0" tIns="0" bIns="0">
            <a:spAutoFit/>
          </a:bodyPr>
          <a:lstStyle/>
          <a:p>
            <a:r>
              <a:rPr sz="1100" b="0">
                <a:solidFill>
                  <a:srgbClr val="1F2933"/>
                </a:solidFill>
                <a:latin typeface="Calibri"/>
              </a:rPr>
              <a:t>Buy to scale;</a:t>
            </a:r>
          </a:p>
        </p:txBody>
      </p:sp>
      <p:pic>
        <p:nvPicPr>
          <p:cNvPr id="105" name="Picture 104" descr="lock.png"/>
          <p:cNvPicPr>
            <a:picLocks noChangeAspect="1"/>
          </p:cNvPicPr>
          <p:nvPr/>
        </p:nvPicPr>
        <p:blipFill>
          <a:blip r:embed="rId4"/>
          <a:stretch>
            <a:fillRect/>
          </a:stretch>
        </p:blipFill>
        <p:spPr>
          <a:xfrm>
            <a:off x="6960584" y="5867145"/>
            <a:ext cx="128699" cy="187198"/>
          </a:xfrm>
          <a:prstGeom prst="rect">
            <a:avLst/>
          </a:prstGeom>
        </p:spPr>
      </p:pic>
      <p:sp>
        <p:nvSpPr>
          <p:cNvPr id="106" name="TextBox 105"/>
          <p:cNvSpPr txBox="1"/>
          <p:nvPr/>
        </p:nvSpPr>
        <p:spPr>
          <a:xfrm>
            <a:off x="7128080"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Corporate Scorecard: Who They Are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Eight corporate Ps for every named competitor: ownership, strategy, breadth, presence, scale and performance</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1, CORPORATE: WHO THEY ARE</a:t>
            </a:r>
          </a:p>
        </p:txBody>
      </p:sp>
      <p:sp>
        <p:nvSpPr>
          <p:cNvPr id="12" name="TextBox 11"/>
          <p:cNvSpPr txBox="1"/>
          <p:nvPr/>
        </p:nvSpPr>
        <p:spPr>
          <a:xfrm>
            <a:off x="2038350" y="1295400"/>
            <a:ext cx="230505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Parent and ownership</a:t>
            </a:r>
          </a:p>
        </p:txBody>
      </p:sp>
      <p:sp>
        <p:nvSpPr>
          <p:cNvPr id="13" name="TextBox 12"/>
          <p:cNvSpPr txBox="1"/>
          <p:nvPr/>
        </p:nvSpPr>
        <p:spPr>
          <a:xfrm>
            <a:off x="2038350" y="1657350"/>
            <a:ext cx="230505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From the company roster</a:t>
            </a:r>
          </a:p>
        </p:txBody>
      </p:sp>
      <p:sp>
        <p:nvSpPr>
          <p:cNvPr id="14" name="TextBox 13"/>
          <p:cNvSpPr txBox="1"/>
          <p:nvPr/>
        </p:nvSpPr>
        <p:spPr>
          <a:xfrm>
            <a:off x="4419600" y="1295400"/>
            <a:ext cx="119380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Purpose (strategy)</a:t>
            </a:r>
          </a:p>
        </p:txBody>
      </p:sp>
      <p:sp>
        <p:nvSpPr>
          <p:cNvPr id="15" name="TextBox 14"/>
          <p:cNvSpPr txBox="1"/>
          <p:nvPr/>
        </p:nvSpPr>
        <p:spPr>
          <a:xfrm>
            <a:off x="4419600" y="1657350"/>
            <a:ext cx="119380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Dominant active move</a:t>
            </a:r>
          </a:p>
        </p:txBody>
      </p:sp>
      <p:sp>
        <p:nvSpPr>
          <p:cNvPr id="16" name="TextBox 15"/>
          <p:cNvSpPr txBox="1"/>
          <p:nvPr/>
        </p:nvSpPr>
        <p:spPr>
          <a:xfrm>
            <a:off x="5689600" y="1295400"/>
            <a:ext cx="98213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Portfolio breadth</a:t>
            </a:r>
          </a:p>
        </p:txBody>
      </p:sp>
      <p:sp>
        <p:nvSpPr>
          <p:cNvPr id="17" name="TextBox 16"/>
          <p:cNvSpPr txBox="1"/>
          <p:nvPr/>
        </p:nvSpPr>
        <p:spPr>
          <a:xfrm>
            <a:off x="5689600" y="1657350"/>
            <a:ext cx="98213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Sub-segments: 6+ 3, 4+ 2, 2+ 1</a:t>
            </a:r>
          </a:p>
        </p:txBody>
      </p:sp>
      <p:sp>
        <p:nvSpPr>
          <p:cNvPr id="18" name="TextBox 17"/>
          <p:cNvSpPr txBox="1"/>
          <p:nvPr/>
        </p:nvSpPr>
        <p:spPr>
          <a:xfrm>
            <a:off x="6747933" y="1295400"/>
            <a:ext cx="98213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Presence</a:t>
            </a:r>
          </a:p>
        </p:txBody>
      </p:sp>
      <p:sp>
        <p:nvSpPr>
          <p:cNvPr id="19" name="TextBox 18"/>
          <p:cNvSpPr txBox="1"/>
          <p:nvPr/>
        </p:nvSpPr>
        <p:spPr>
          <a:xfrm>
            <a:off x="6747933" y="1657350"/>
            <a:ext cx="98213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3, regional 2, local 1</a:t>
            </a:r>
          </a:p>
        </p:txBody>
      </p:sp>
      <p:sp>
        <p:nvSpPr>
          <p:cNvPr id="20" name="TextBox 19"/>
          <p:cNvSpPr txBox="1"/>
          <p:nvPr/>
        </p:nvSpPr>
        <p:spPr>
          <a:xfrm>
            <a:off x="7806267" y="1295400"/>
            <a:ext cx="98213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Power (scale)</a:t>
            </a:r>
          </a:p>
        </p:txBody>
      </p:sp>
      <p:sp>
        <p:nvSpPr>
          <p:cNvPr id="21" name="TextBox 20"/>
          <p:cNvSpPr txBox="1"/>
          <p:nvPr/>
        </p:nvSpPr>
        <p:spPr>
          <a:xfrm>
            <a:off x="7806267" y="1657350"/>
            <a:ext cx="98213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1 = 3, 2 = 2, 3 = 1</a:t>
            </a:r>
          </a:p>
        </p:txBody>
      </p:sp>
      <p:sp>
        <p:nvSpPr>
          <p:cNvPr id="22" name="TextBox 21"/>
          <p:cNvSpPr txBox="1"/>
          <p:nvPr/>
        </p:nvSpPr>
        <p:spPr>
          <a:xfrm>
            <a:off x="8864600" y="1295400"/>
            <a:ext cx="98213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Performance</a:t>
            </a:r>
          </a:p>
        </p:txBody>
      </p:sp>
      <p:sp>
        <p:nvSpPr>
          <p:cNvPr id="23" name="TextBox 22"/>
          <p:cNvSpPr txBox="1"/>
          <p:nvPr/>
        </p:nvSpPr>
        <p:spPr>
          <a:xfrm>
            <a:off x="8864600" y="1657350"/>
            <a:ext cx="98213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
            </a:r>
          </a:p>
        </p:txBody>
      </p:sp>
      <p:sp>
        <p:nvSpPr>
          <p:cNvPr id="24" name="TextBox 23"/>
          <p:cNvSpPr txBox="1"/>
          <p:nvPr/>
        </p:nvSpPr>
        <p:spPr>
          <a:xfrm>
            <a:off x="9922933" y="1295400"/>
            <a:ext cx="98213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People</a:t>
            </a:r>
          </a:p>
        </p:txBody>
      </p:sp>
      <p:sp>
        <p:nvSpPr>
          <p:cNvPr id="25" name="TextBox 24"/>
          <p:cNvSpPr txBox="1"/>
          <p:nvPr/>
        </p:nvSpPr>
        <p:spPr>
          <a:xfrm>
            <a:off x="9922933" y="1657350"/>
            <a:ext cx="98213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Talent; not assessed</a:t>
            </a:r>
          </a:p>
        </p:txBody>
      </p:sp>
      <p:sp>
        <p:nvSpPr>
          <p:cNvPr id="26" name="TextBox 25"/>
          <p:cNvSpPr txBox="1"/>
          <p:nvPr/>
        </p:nvSpPr>
        <p:spPr>
          <a:xfrm>
            <a:off x="10981267" y="1295400"/>
            <a:ext cx="98213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Partnerships</a:t>
            </a:r>
          </a:p>
        </p:txBody>
      </p:sp>
      <p:sp>
        <p:nvSpPr>
          <p:cNvPr id="27" name="TextBox 26"/>
          <p:cNvSpPr txBox="1"/>
          <p:nvPr/>
        </p:nvSpPr>
        <p:spPr>
          <a:xfrm>
            <a:off x="10981267" y="1657350"/>
            <a:ext cx="98213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alliances</a:t>
            </a:r>
          </a:p>
        </p:txBody>
      </p:sp>
      <p:cxnSp>
        <p:nvCxnSpPr>
          <p:cNvPr id="28" name="Connector 27"/>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5750" y="22479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Standard Process</a:t>
            </a:r>
          </a:p>
        </p:txBody>
      </p:sp>
      <p:sp>
        <p:nvSpPr>
          <p:cNvPr id="31" name="TextBox 30"/>
          <p:cNvSpPr txBox="1"/>
          <p:nvPr/>
        </p:nvSpPr>
        <p:spPr>
          <a:xfrm>
            <a:off x="285750" y="24098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2" name="TextBox 31"/>
          <p:cNvSpPr txBox="1"/>
          <p:nvPr/>
        </p:nvSpPr>
        <p:spPr>
          <a:xfrm>
            <a:off x="2000250" y="22288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3" name="TextBox 32"/>
          <p:cNvSpPr txBox="1"/>
          <p:nvPr/>
        </p:nvSpPr>
        <p:spPr>
          <a:xfrm>
            <a:off x="4419600" y="22288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34" name="Oval 33"/>
          <p:cNvSpPr/>
          <p:nvPr/>
        </p:nvSpPr>
        <p:spPr>
          <a:xfrm>
            <a:off x="6104467"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162800"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221133"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279467"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84833" y="22288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9" name="TextBox 38"/>
          <p:cNvSpPr txBox="1"/>
          <p:nvPr/>
        </p:nvSpPr>
        <p:spPr>
          <a:xfrm>
            <a:off x="10943167" y="22288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40" name="Connector 39"/>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5750" y="25908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VetriScience</a:t>
            </a:r>
          </a:p>
        </p:txBody>
      </p:sp>
      <p:sp>
        <p:nvSpPr>
          <p:cNvPr id="43" name="TextBox 42"/>
          <p:cNvSpPr txBox="1"/>
          <p:nvPr/>
        </p:nvSpPr>
        <p:spPr>
          <a:xfrm>
            <a:off x="285750" y="27527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4" name="TextBox 43"/>
          <p:cNvSpPr txBox="1"/>
          <p:nvPr/>
        </p:nvSpPr>
        <p:spPr>
          <a:xfrm>
            <a:off x="2000250" y="25717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5" name="TextBox 44"/>
          <p:cNvSpPr txBox="1"/>
          <p:nvPr/>
        </p:nvSpPr>
        <p:spPr>
          <a:xfrm>
            <a:off x="4419600" y="25717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46" name="Oval 45"/>
          <p:cNvSpPr/>
          <p:nvPr/>
        </p:nvSpPr>
        <p:spPr>
          <a:xfrm>
            <a:off x="6104467"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162800"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221133"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279467"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884833" y="25717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1" name="TextBox 50"/>
          <p:cNvSpPr txBox="1"/>
          <p:nvPr/>
        </p:nvSpPr>
        <p:spPr>
          <a:xfrm>
            <a:off x="10943167" y="25717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52" name="Connector 51"/>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85750" y="29337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Dr. Fossum's</a:t>
            </a:r>
          </a:p>
        </p:txBody>
      </p:sp>
      <p:sp>
        <p:nvSpPr>
          <p:cNvPr id="55" name="TextBox 54"/>
          <p:cNvSpPr txBox="1"/>
          <p:nvPr/>
        </p:nvSpPr>
        <p:spPr>
          <a:xfrm>
            <a:off x="285750" y="30956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6" name="TextBox 55"/>
          <p:cNvSpPr txBox="1"/>
          <p:nvPr/>
        </p:nvSpPr>
        <p:spPr>
          <a:xfrm>
            <a:off x="2000250" y="29146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7" name="TextBox 56"/>
          <p:cNvSpPr txBox="1"/>
          <p:nvPr/>
        </p:nvSpPr>
        <p:spPr>
          <a:xfrm>
            <a:off x="4419600" y="29146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58" name="Oval 57"/>
          <p:cNvSpPr/>
          <p:nvPr/>
        </p:nvSpPr>
        <p:spPr>
          <a:xfrm>
            <a:off x="6104467"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7162800"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8221133"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9279467"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9353550" y="3009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884833" y="29146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4" name="TextBox 63"/>
          <p:cNvSpPr txBox="1"/>
          <p:nvPr/>
        </p:nvSpPr>
        <p:spPr>
          <a:xfrm>
            <a:off x="10943167" y="29146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65" name="Connector 64"/>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85750" y="32766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Nestlé Purina PetCare</a:t>
            </a:r>
          </a:p>
        </p:txBody>
      </p:sp>
      <p:sp>
        <p:nvSpPr>
          <p:cNvPr id="68" name="TextBox 67"/>
          <p:cNvSpPr txBox="1"/>
          <p:nvPr/>
        </p:nvSpPr>
        <p:spPr>
          <a:xfrm>
            <a:off x="285750" y="34385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69" name="TextBox 68"/>
          <p:cNvSpPr txBox="1"/>
          <p:nvPr/>
        </p:nvSpPr>
        <p:spPr>
          <a:xfrm>
            <a:off x="2000250" y="32575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0" name="TextBox 69"/>
          <p:cNvSpPr txBox="1"/>
          <p:nvPr/>
        </p:nvSpPr>
        <p:spPr>
          <a:xfrm>
            <a:off x="4419600" y="32575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71" name="Oval 70"/>
          <p:cNvSpPr/>
          <p:nvPr/>
        </p:nvSpPr>
        <p:spPr>
          <a:xfrm>
            <a:off x="6104467"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6181725" y="3352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7162800"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8221133"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9279467"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9353550" y="3352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884833" y="32575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8" name="TextBox 77"/>
          <p:cNvSpPr txBox="1"/>
          <p:nvPr/>
        </p:nvSpPr>
        <p:spPr>
          <a:xfrm>
            <a:off x="10943167" y="32575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79" name="Connector 78"/>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0" name="Rectangle 79"/>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85750" y="36195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PetHeal</a:t>
            </a:r>
          </a:p>
        </p:txBody>
      </p:sp>
      <p:sp>
        <p:nvSpPr>
          <p:cNvPr id="82" name="TextBox 81"/>
          <p:cNvSpPr txBox="1"/>
          <p:nvPr/>
        </p:nvSpPr>
        <p:spPr>
          <a:xfrm>
            <a:off x="285750" y="37814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3" name="TextBox 82"/>
          <p:cNvSpPr txBox="1"/>
          <p:nvPr/>
        </p:nvSpPr>
        <p:spPr>
          <a:xfrm>
            <a:off x="2000250" y="36004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4" name="TextBox 83"/>
          <p:cNvSpPr txBox="1"/>
          <p:nvPr/>
        </p:nvSpPr>
        <p:spPr>
          <a:xfrm>
            <a:off x="4419600" y="36004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85" name="Oval 84"/>
          <p:cNvSpPr/>
          <p:nvPr/>
        </p:nvSpPr>
        <p:spPr>
          <a:xfrm>
            <a:off x="6104467"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6181725"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7162800"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7239000"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8221133"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8296275"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9279467"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9353550"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884833" y="36004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4" name="TextBox 93"/>
          <p:cNvSpPr txBox="1"/>
          <p:nvPr/>
        </p:nvSpPr>
        <p:spPr>
          <a:xfrm>
            <a:off x="10943167" y="36004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95" name="Connector 94"/>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85750" y="39624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Senior Dogs Club</a:t>
            </a:r>
          </a:p>
        </p:txBody>
      </p:sp>
      <p:sp>
        <p:nvSpPr>
          <p:cNvPr id="98" name="TextBox 97"/>
          <p:cNvSpPr txBox="1"/>
          <p:nvPr/>
        </p:nvSpPr>
        <p:spPr>
          <a:xfrm>
            <a:off x="285750" y="41243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99" name="TextBox 98"/>
          <p:cNvSpPr txBox="1"/>
          <p:nvPr/>
        </p:nvSpPr>
        <p:spPr>
          <a:xfrm>
            <a:off x="2000250" y="39433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0" name="TextBox 99"/>
          <p:cNvSpPr txBox="1"/>
          <p:nvPr/>
        </p:nvSpPr>
        <p:spPr>
          <a:xfrm>
            <a:off x="4419600" y="39433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01" name="Oval 100"/>
          <p:cNvSpPr/>
          <p:nvPr/>
        </p:nvSpPr>
        <p:spPr>
          <a:xfrm>
            <a:off x="6104467"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Freeform 101"/>
          <p:cNvSpPr/>
          <p:nvPr/>
        </p:nvSpPr>
        <p:spPr>
          <a:xfrm>
            <a:off x="6181725"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7162800"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Freeform 103"/>
          <p:cNvSpPr/>
          <p:nvPr/>
        </p:nvSpPr>
        <p:spPr>
          <a:xfrm>
            <a:off x="7239000"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8221133"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Freeform 105"/>
          <p:cNvSpPr/>
          <p:nvPr/>
        </p:nvSpPr>
        <p:spPr>
          <a:xfrm>
            <a:off x="8296275"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279467"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9353550"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884833" y="39433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0" name="TextBox 109"/>
          <p:cNvSpPr txBox="1"/>
          <p:nvPr/>
        </p:nvSpPr>
        <p:spPr>
          <a:xfrm>
            <a:off x="10943167" y="39433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11" name="Connector 110"/>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2" name="Rectangle 111"/>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85750" y="43053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VISYO Corporation</a:t>
            </a:r>
          </a:p>
        </p:txBody>
      </p:sp>
      <p:sp>
        <p:nvSpPr>
          <p:cNvPr id="114" name="TextBox 113"/>
          <p:cNvSpPr txBox="1"/>
          <p:nvPr/>
        </p:nvSpPr>
        <p:spPr>
          <a:xfrm>
            <a:off x="285750" y="44672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5" name="TextBox 114"/>
          <p:cNvSpPr txBox="1"/>
          <p:nvPr/>
        </p:nvSpPr>
        <p:spPr>
          <a:xfrm>
            <a:off x="2000250" y="42862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6" name="TextBox 115"/>
          <p:cNvSpPr txBox="1"/>
          <p:nvPr/>
        </p:nvSpPr>
        <p:spPr>
          <a:xfrm>
            <a:off x="4419600" y="42862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117" name="Oval 116"/>
          <p:cNvSpPr/>
          <p:nvPr/>
        </p:nvSpPr>
        <p:spPr>
          <a:xfrm>
            <a:off x="6104467"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6181725"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7162800"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7239000" y="43815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8221133"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Freeform 121"/>
          <p:cNvSpPr/>
          <p:nvPr/>
        </p:nvSpPr>
        <p:spPr>
          <a:xfrm>
            <a:off x="8296275" y="43815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9279467"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Freeform 123"/>
          <p:cNvSpPr/>
          <p:nvPr/>
        </p:nvSpPr>
        <p:spPr>
          <a:xfrm>
            <a:off x="9353550" y="4381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9884833" y="42862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6" name="TextBox 125"/>
          <p:cNvSpPr txBox="1"/>
          <p:nvPr/>
        </p:nvSpPr>
        <p:spPr>
          <a:xfrm>
            <a:off x="10943167" y="42862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27" name="Connector 126"/>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8" name="Rectangle 127"/>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285750" y="46482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NaturVet</a:t>
            </a:r>
          </a:p>
        </p:txBody>
      </p:sp>
      <p:sp>
        <p:nvSpPr>
          <p:cNvPr id="130" name="TextBox 129"/>
          <p:cNvSpPr txBox="1"/>
          <p:nvPr/>
        </p:nvSpPr>
        <p:spPr>
          <a:xfrm>
            <a:off x="285750" y="48101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31" name="TextBox 130"/>
          <p:cNvSpPr txBox="1"/>
          <p:nvPr/>
        </p:nvSpPr>
        <p:spPr>
          <a:xfrm>
            <a:off x="2000250" y="46291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32" name="TextBox 131"/>
          <p:cNvSpPr txBox="1"/>
          <p:nvPr/>
        </p:nvSpPr>
        <p:spPr>
          <a:xfrm>
            <a:off x="4419600" y="46291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33" name="Oval 132"/>
          <p:cNvSpPr/>
          <p:nvPr/>
        </p:nvSpPr>
        <p:spPr>
          <a:xfrm>
            <a:off x="6104467"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6181725" y="4724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7162800"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Freeform 135"/>
          <p:cNvSpPr/>
          <p:nvPr/>
        </p:nvSpPr>
        <p:spPr>
          <a:xfrm>
            <a:off x="7239000" y="47244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8221133"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reeform 137"/>
          <p:cNvSpPr/>
          <p:nvPr/>
        </p:nvSpPr>
        <p:spPr>
          <a:xfrm>
            <a:off x="8296275" y="47244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9279467"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9353550" y="47244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9884833" y="46291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42" name="TextBox 141"/>
          <p:cNvSpPr txBox="1"/>
          <p:nvPr/>
        </p:nvSpPr>
        <p:spPr>
          <a:xfrm>
            <a:off x="10943167" y="46291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43" name="Connector 142"/>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4" name="Rectangle 143"/>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285750" y="49911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Zesty Paws</a:t>
            </a:r>
          </a:p>
        </p:txBody>
      </p:sp>
      <p:sp>
        <p:nvSpPr>
          <p:cNvPr id="146" name="TextBox 145"/>
          <p:cNvSpPr txBox="1"/>
          <p:nvPr/>
        </p:nvSpPr>
        <p:spPr>
          <a:xfrm>
            <a:off x="285750" y="51530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47" name="TextBox 146"/>
          <p:cNvSpPr txBox="1"/>
          <p:nvPr/>
        </p:nvSpPr>
        <p:spPr>
          <a:xfrm>
            <a:off x="2000250" y="49720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48" name="TextBox 147"/>
          <p:cNvSpPr txBox="1"/>
          <p:nvPr/>
        </p:nvSpPr>
        <p:spPr>
          <a:xfrm>
            <a:off x="4419600" y="49720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149" name="Oval 148"/>
          <p:cNvSpPr/>
          <p:nvPr/>
        </p:nvSpPr>
        <p:spPr>
          <a:xfrm>
            <a:off x="6104467"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Freeform 149"/>
          <p:cNvSpPr/>
          <p:nvPr/>
        </p:nvSpPr>
        <p:spPr>
          <a:xfrm>
            <a:off x="6181725" y="5067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7162800"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Freeform 151"/>
          <p:cNvSpPr/>
          <p:nvPr/>
        </p:nvSpPr>
        <p:spPr>
          <a:xfrm>
            <a:off x="7239000" y="50673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8221133"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Freeform 153"/>
          <p:cNvSpPr/>
          <p:nvPr/>
        </p:nvSpPr>
        <p:spPr>
          <a:xfrm>
            <a:off x="8296275" y="50673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9279467"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Freeform 155"/>
          <p:cNvSpPr/>
          <p:nvPr/>
        </p:nvSpPr>
        <p:spPr>
          <a:xfrm>
            <a:off x="9353550" y="50673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9884833" y="49720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58" name="TextBox 157"/>
          <p:cNvSpPr txBox="1"/>
          <p:nvPr/>
        </p:nvSpPr>
        <p:spPr>
          <a:xfrm>
            <a:off x="10943167" y="49720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59" name="Connector 158"/>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60" name="Rectangle 159"/>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285750" y="53340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Ark Naturals</a:t>
            </a:r>
          </a:p>
        </p:txBody>
      </p:sp>
      <p:sp>
        <p:nvSpPr>
          <p:cNvPr id="162" name="TextBox 161"/>
          <p:cNvSpPr txBox="1"/>
          <p:nvPr/>
        </p:nvSpPr>
        <p:spPr>
          <a:xfrm>
            <a:off x="285750" y="54959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63" name="TextBox 162"/>
          <p:cNvSpPr txBox="1"/>
          <p:nvPr/>
        </p:nvSpPr>
        <p:spPr>
          <a:xfrm>
            <a:off x="2000250" y="53149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64" name="TextBox 163"/>
          <p:cNvSpPr txBox="1"/>
          <p:nvPr/>
        </p:nvSpPr>
        <p:spPr>
          <a:xfrm>
            <a:off x="4419600" y="53149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65" name="Oval 164"/>
          <p:cNvSpPr/>
          <p:nvPr/>
        </p:nvSpPr>
        <p:spPr>
          <a:xfrm>
            <a:off x="6104467"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Freeform 165"/>
          <p:cNvSpPr/>
          <p:nvPr/>
        </p:nvSpPr>
        <p:spPr>
          <a:xfrm>
            <a:off x="6181725" y="5410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7162800"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Freeform 167"/>
          <p:cNvSpPr/>
          <p:nvPr/>
        </p:nvSpPr>
        <p:spPr>
          <a:xfrm>
            <a:off x="7239000" y="54102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8221133"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Freeform 169"/>
          <p:cNvSpPr/>
          <p:nvPr/>
        </p:nvSpPr>
        <p:spPr>
          <a:xfrm>
            <a:off x="8296275" y="54102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9279467"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Freeform 171"/>
          <p:cNvSpPr/>
          <p:nvPr/>
        </p:nvSpPr>
        <p:spPr>
          <a:xfrm>
            <a:off x="9353550" y="54102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9884833" y="53149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74" name="TextBox 173"/>
          <p:cNvSpPr txBox="1"/>
          <p:nvPr/>
        </p:nvSpPr>
        <p:spPr>
          <a:xfrm>
            <a:off x="10943167" y="53149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75" name="Connector 174"/>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76" name="Oval 175"/>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78" name="Oval 177"/>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Freeform 178"/>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81" name="Oval 180"/>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Freeform 181"/>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84" name="Oval 183"/>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86" name="TextBox 185"/>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87" name="TextBox 186"/>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of 10 named players compete globally; scale and share follow the tier structure.</a:t>
            </a:r>
          </a:p>
        </p:txBody>
      </p:sp>
      <p:sp>
        <p:nvSpPr>
          <p:cNvPr id="188" name="TextBox 18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89" name="TextBox 188"/>
          <p:cNvSpPr txBox="1"/>
          <p:nvPr/>
        </p:nvSpPr>
        <p:spPr>
          <a:xfrm>
            <a:off x="8893175" y="1666875"/>
            <a:ext cx="398983" cy="186689"/>
          </a:xfrm>
          <a:prstGeom prst="rect">
            <a:avLst/>
          </a:prstGeom>
          <a:noFill/>
        </p:spPr>
        <p:txBody>
          <a:bodyPr wrap="none" lIns="0" rIns="0" tIns="0" bIns="0">
            <a:spAutoFit/>
          </a:bodyPr>
          <a:lstStyle/>
          <a:p>
            <a:r>
              <a:rPr sz="1100" b="0">
                <a:solidFill>
                  <a:srgbClr val="5F6B7A"/>
                </a:solidFill>
                <a:latin typeface="Calibri"/>
              </a:rPr>
              <a:t>Share</a:t>
            </a:r>
          </a:p>
        </p:txBody>
      </p:sp>
      <p:pic>
        <p:nvPicPr>
          <p:cNvPr id="190" name="Picture 189" descr="lock.png"/>
          <p:cNvPicPr>
            <a:picLocks noChangeAspect="1"/>
          </p:cNvPicPr>
          <p:nvPr/>
        </p:nvPicPr>
        <p:blipFill>
          <a:blip r:embed="rId4"/>
          <a:stretch>
            <a:fillRect/>
          </a:stretch>
        </p:blipFill>
        <p:spPr>
          <a:xfrm>
            <a:off x="9240209" y="1657096"/>
            <a:ext cx="128699" cy="187198"/>
          </a:xfrm>
          <a:prstGeom prst="rect">
            <a:avLst/>
          </a:prstGeom>
        </p:spPr>
      </p:pic>
      <p:sp>
        <p:nvSpPr>
          <p:cNvPr id="191" name="TextBox 190"/>
          <p:cNvSpPr txBox="1"/>
          <p:nvPr/>
        </p:nvSpPr>
        <p:spPr>
          <a:xfrm>
            <a:off x="9407705" y="1666875"/>
            <a:ext cx="384522" cy="186689"/>
          </a:xfrm>
          <a:prstGeom prst="rect">
            <a:avLst/>
          </a:prstGeom>
          <a:noFill/>
        </p:spPr>
        <p:txBody>
          <a:bodyPr wrap="none" lIns="0" rIns="0" tIns="0" bIns="0">
            <a:spAutoFit/>
          </a:bodyPr>
          <a:lstStyle/>
          <a:p>
            <a:r>
              <a:rPr sz="1100" b="0">
                <a:solidFill>
                  <a:srgbClr val="5F6B7A"/>
                </a:solidFill>
                <a:latin typeface="Calibri"/>
              </a:rPr>
              <a:t>+ = 3,</a:t>
            </a:r>
          </a:p>
        </p:txBody>
      </p:sp>
      <p:pic>
        <p:nvPicPr>
          <p:cNvPr id="192" name="Picture 191" descr="lock.png"/>
          <p:cNvPicPr>
            <a:picLocks noChangeAspect="1"/>
          </p:cNvPicPr>
          <p:nvPr/>
        </p:nvPicPr>
        <p:blipFill>
          <a:blip r:embed="rId4"/>
          <a:stretch>
            <a:fillRect/>
          </a:stretch>
        </p:blipFill>
        <p:spPr>
          <a:xfrm>
            <a:off x="8879707" y="1824736"/>
            <a:ext cx="128699" cy="187198"/>
          </a:xfrm>
          <a:prstGeom prst="rect">
            <a:avLst/>
          </a:prstGeom>
        </p:spPr>
      </p:pic>
      <p:sp>
        <p:nvSpPr>
          <p:cNvPr id="193" name="TextBox 192"/>
          <p:cNvSpPr txBox="1"/>
          <p:nvPr/>
        </p:nvSpPr>
        <p:spPr>
          <a:xfrm>
            <a:off x="9047203" y="1834515"/>
            <a:ext cx="643458" cy="186689"/>
          </a:xfrm>
          <a:prstGeom prst="rect">
            <a:avLst/>
          </a:prstGeom>
          <a:noFill/>
        </p:spPr>
        <p:txBody>
          <a:bodyPr wrap="none" lIns="0" rIns="0" tIns="0" bIns="0">
            <a:spAutoFit/>
          </a:bodyPr>
          <a:lstStyle/>
          <a:p>
            <a:r>
              <a:rPr sz="1100" b="0">
                <a:solidFill>
                  <a:srgbClr val="5F6B7A"/>
                </a:solidFill>
                <a:latin typeface="Calibri"/>
              </a:rPr>
              <a:t>= 2, else 1</a:t>
            </a:r>
          </a:p>
        </p:txBody>
      </p:sp>
      <p:pic>
        <p:nvPicPr>
          <p:cNvPr id="194" name="Picture 193" descr="lock.png"/>
          <p:cNvPicPr>
            <a:picLocks noChangeAspect="1"/>
          </p:cNvPicPr>
          <p:nvPr/>
        </p:nvPicPr>
        <p:blipFill>
          <a:blip r:embed="rId4"/>
          <a:stretch>
            <a:fillRect/>
          </a:stretch>
        </p:blipFill>
        <p:spPr>
          <a:xfrm>
            <a:off x="3126525" y="2306701"/>
            <a:ext cx="128699" cy="187198"/>
          </a:xfrm>
          <a:prstGeom prst="rect">
            <a:avLst/>
          </a:prstGeom>
        </p:spPr>
      </p:pic>
      <p:pic>
        <p:nvPicPr>
          <p:cNvPr id="195" name="Picture 194" descr="lock.png"/>
          <p:cNvPicPr>
            <a:picLocks noChangeAspect="1"/>
          </p:cNvPicPr>
          <p:nvPr/>
        </p:nvPicPr>
        <p:blipFill>
          <a:blip r:embed="rId4"/>
          <a:stretch>
            <a:fillRect/>
          </a:stretch>
        </p:blipFill>
        <p:spPr>
          <a:xfrm>
            <a:off x="10349650" y="2306701"/>
            <a:ext cx="128699" cy="187198"/>
          </a:xfrm>
          <a:prstGeom prst="rect">
            <a:avLst/>
          </a:prstGeom>
        </p:spPr>
      </p:pic>
      <p:pic>
        <p:nvPicPr>
          <p:cNvPr id="196" name="Picture 195" descr="lock.png"/>
          <p:cNvPicPr>
            <a:picLocks noChangeAspect="1"/>
          </p:cNvPicPr>
          <p:nvPr/>
        </p:nvPicPr>
        <p:blipFill>
          <a:blip r:embed="rId4"/>
          <a:stretch>
            <a:fillRect/>
          </a:stretch>
        </p:blipFill>
        <p:spPr>
          <a:xfrm>
            <a:off x="11407984" y="2306701"/>
            <a:ext cx="128699" cy="187198"/>
          </a:xfrm>
          <a:prstGeom prst="rect">
            <a:avLst/>
          </a:prstGeom>
        </p:spPr>
      </p:pic>
      <p:pic>
        <p:nvPicPr>
          <p:cNvPr id="197" name="Picture 196" descr="lock.png"/>
          <p:cNvPicPr>
            <a:picLocks noChangeAspect="1"/>
          </p:cNvPicPr>
          <p:nvPr/>
        </p:nvPicPr>
        <p:blipFill>
          <a:blip r:embed="rId4"/>
          <a:stretch>
            <a:fillRect/>
          </a:stretch>
        </p:blipFill>
        <p:spPr>
          <a:xfrm>
            <a:off x="3126525" y="2649601"/>
            <a:ext cx="128699" cy="187198"/>
          </a:xfrm>
          <a:prstGeom prst="rect">
            <a:avLst/>
          </a:prstGeom>
        </p:spPr>
      </p:pic>
      <p:pic>
        <p:nvPicPr>
          <p:cNvPr id="198" name="Picture 197" descr="lock.png"/>
          <p:cNvPicPr>
            <a:picLocks noChangeAspect="1"/>
          </p:cNvPicPr>
          <p:nvPr/>
        </p:nvPicPr>
        <p:blipFill>
          <a:blip r:embed="rId4"/>
          <a:stretch>
            <a:fillRect/>
          </a:stretch>
        </p:blipFill>
        <p:spPr>
          <a:xfrm>
            <a:off x="10349650" y="2649601"/>
            <a:ext cx="128699" cy="187198"/>
          </a:xfrm>
          <a:prstGeom prst="rect">
            <a:avLst/>
          </a:prstGeom>
        </p:spPr>
      </p:pic>
      <p:pic>
        <p:nvPicPr>
          <p:cNvPr id="199" name="Picture 198" descr="lock.png"/>
          <p:cNvPicPr>
            <a:picLocks noChangeAspect="1"/>
          </p:cNvPicPr>
          <p:nvPr/>
        </p:nvPicPr>
        <p:blipFill>
          <a:blip r:embed="rId4"/>
          <a:stretch>
            <a:fillRect/>
          </a:stretch>
        </p:blipFill>
        <p:spPr>
          <a:xfrm>
            <a:off x="11407984" y="2649601"/>
            <a:ext cx="128699" cy="187198"/>
          </a:xfrm>
          <a:prstGeom prst="rect">
            <a:avLst/>
          </a:prstGeom>
        </p:spPr>
      </p:pic>
      <p:pic>
        <p:nvPicPr>
          <p:cNvPr id="200" name="Picture 199" descr="lock.png"/>
          <p:cNvPicPr>
            <a:picLocks noChangeAspect="1"/>
          </p:cNvPicPr>
          <p:nvPr/>
        </p:nvPicPr>
        <p:blipFill>
          <a:blip r:embed="rId4"/>
          <a:stretch>
            <a:fillRect/>
          </a:stretch>
        </p:blipFill>
        <p:spPr>
          <a:xfrm>
            <a:off x="3126525" y="2992501"/>
            <a:ext cx="128699" cy="187198"/>
          </a:xfrm>
          <a:prstGeom prst="rect">
            <a:avLst/>
          </a:prstGeom>
        </p:spPr>
      </p:pic>
      <p:pic>
        <p:nvPicPr>
          <p:cNvPr id="201" name="Picture 200" descr="lock.png"/>
          <p:cNvPicPr>
            <a:picLocks noChangeAspect="1"/>
          </p:cNvPicPr>
          <p:nvPr/>
        </p:nvPicPr>
        <p:blipFill>
          <a:blip r:embed="rId4"/>
          <a:stretch>
            <a:fillRect/>
          </a:stretch>
        </p:blipFill>
        <p:spPr>
          <a:xfrm>
            <a:off x="10349650" y="2992501"/>
            <a:ext cx="128699" cy="187198"/>
          </a:xfrm>
          <a:prstGeom prst="rect">
            <a:avLst/>
          </a:prstGeom>
        </p:spPr>
      </p:pic>
      <p:pic>
        <p:nvPicPr>
          <p:cNvPr id="202" name="Picture 201" descr="lock.png"/>
          <p:cNvPicPr>
            <a:picLocks noChangeAspect="1"/>
          </p:cNvPicPr>
          <p:nvPr/>
        </p:nvPicPr>
        <p:blipFill>
          <a:blip r:embed="rId4"/>
          <a:stretch>
            <a:fillRect/>
          </a:stretch>
        </p:blipFill>
        <p:spPr>
          <a:xfrm>
            <a:off x="11407984" y="2992501"/>
            <a:ext cx="128699" cy="187198"/>
          </a:xfrm>
          <a:prstGeom prst="rect">
            <a:avLst/>
          </a:prstGeom>
        </p:spPr>
      </p:pic>
      <p:pic>
        <p:nvPicPr>
          <p:cNvPr id="203" name="Picture 202" descr="lock.png"/>
          <p:cNvPicPr>
            <a:picLocks noChangeAspect="1"/>
          </p:cNvPicPr>
          <p:nvPr/>
        </p:nvPicPr>
        <p:blipFill>
          <a:blip r:embed="rId4"/>
          <a:stretch>
            <a:fillRect/>
          </a:stretch>
        </p:blipFill>
        <p:spPr>
          <a:xfrm>
            <a:off x="3126525" y="3335401"/>
            <a:ext cx="128699" cy="187198"/>
          </a:xfrm>
          <a:prstGeom prst="rect">
            <a:avLst/>
          </a:prstGeom>
        </p:spPr>
      </p:pic>
      <p:pic>
        <p:nvPicPr>
          <p:cNvPr id="204" name="Picture 203" descr="lock.png"/>
          <p:cNvPicPr>
            <a:picLocks noChangeAspect="1"/>
          </p:cNvPicPr>
          <p:nvPr/>
        </p:nvPicPr>
        <p:blipFill>
          <a:blip r:embed="rId4"/>
          <a:stretch>
            <a:fillRect/>
          </a:stretch>
        </p:blipFill>
        <p:spPr>
          <a:xfrm>
            <a:off x="10349650" y="3335401"/>
            <a:ext cx="128699" cy="187198"/>
          </a:xfrm>
          <a:prstGeom prst="rect">
            <a:avLst/>
          </a:prstGeom>
        </p:spPr>
      </p:pic>
      <p:pic>
        <p:nvPicPr>
          <p:cNvPr id="205" name="Picture 204" descr="lock.png"/>
          <p:cNvPicPr>
            <a:picLocks noChangeAspect="1"/>
          </p:cNvPicPr>
          <p:nvPr/>
        </p:nvPicPr>
        <p:blipFill>
          <a:blip r:embed="rId4"/>
          <a:stretch>
            <a:fillRect/>
          </a:stretch>
        </p:blipFill>
        <p:spPr>
          <a:xfrm>
            <a:off x="11407984" y="3335401"/>
            <a:ext cx="128699" cy="187198"/>
          </a:xfrm>
          <a:prstGeom prst="rect">
            <a:avLst/>
          </a:prstGeom>
        </p:spPr>
      </p:pic>
      <p:pic>
        <p:nvPicPr>
          <p:cNvPr id="206" name="Picture 205" descr="lock.png"/>
          <p:cNvPicPr>
            <a:picLocks noChangeAspect="1"/>
          </p:cNvPicPr>
          <p:nvPr/>
        </p:nvPicPr>
        <p:blipFill>
          <a:blip r:embed="rId4"/>
          <a:stretch>
            <a:fillRect/>
          </a:stretch>
        </p:blipFill>
        <p:spPr>
          <a:xfrm>
            <a:off x="3126525" y="3678301"/>
            <a:ext cx="128699" cy="187198"/>
          </a:xfrm>
          <a:prstGeom prst="rect">
            <a:avLst/>
          </a:prstGeom>
        </p:spPr>
      </p:pic>
      <p:pic>
        <p:nvPicPr>
          <p:cNvPr id="207" name="Picture 206" descr="lock.png"/>
          <p:cNvPicPr>
            <a:picLocks noChangeAspect="1"/>
          </p:cNvPicPr>
          <p:nvPr/>
        </p:nvPicPr>
        <p:blipFill>
          <a:blip r:embed="rId4"/>
          <a:stretch>
            <a:fillRect/>
          </a:stretch>
        </p:blipFill>
        <p:spPr>
          <a:xfrm>
            <a:off x="10349650" y="3678301"/>
            <a:ext cx="128699" cy="187198"/>
          </a:xfrm>
          <a:prstGeom prst="rect">
            <a:avLst/>
          </a:prstGeom>
        </p:spPr>
      </p:pic>
      <p:pic>
        <p:nvPicPr>
          <p:cNvPr id="208" name="Picture 207" descr="lock.png"/>
          <p:cNvPicPr>
            <a:picLocks noChangeAspect="1"/>
          </p:cNvPicPr>
          <p:nvPr/>
        </p:nvPicPr>
        <p:blipFill>
          <a:blip r:embed="rId4"/>
          <a:stretch>
            <a:fillRect/>
          </a:stretch>
        </p:blipFill>
        <p:spPr>
          <a:xfrm>
            <a:off x="11407984" y="3678301"/>
            <a:ext cx="128699" cy="187198"/>
          </a:xfrm>
          <a:prstGeom prst="rect">
            <a:avLst/>
          </a:prstGeom>
        </p:spPr>
      </p:pic>
      <p:pic>
        <p:nvPicPr>
          <p:cNvPr id="209" name="Picture 208" descr="lock.png"/>
          <p:cNvPicPr>
            <a:picLocks noChangeAspect="1"/>
          </p:cNvPicPr>
          <p:nvPr/>
        </p:nvPicPr>
        <p:blipFill>
          <a:blip r:embed="rId4"/>
          <a:stretch>
            <a:fillRect/>
          </a:stretch>
        </p:blipFill>
        <p:spPr>
          <a:xfrm>
            <a:off x="3126525" y="4021201"/>
            <a:ext cx="128699" cy="187198"/>
          </a:xfrm>
          <a:prstGeom prst="rect">
            <a:avLst/>
          </a:prstGeom>
        </p:spPr>
      </p:pic>
      <p:pic>
        <p:nvPicPr>
          <p:cNvPr id="210" name="Picture 209" descr="lock.png"/>
          <p:cNvPicPr>
            <a:picLocks noChangeAspect="1"/>
          </p:cNvPicPr>
          <p:nvPr/>
        </p:nvPicPr>
        <p:blipFill>
          <a:blip r:embed="rId4"/>
          <a:stretch>
            <a:fillRect/>
          </a:stretch>
        </p:blipFill>
        <p:spPr>
          <a:xfrm>
            <a:off x="10349650" y="4021201"/>
            <a:ext cx="128699" cy="187198"/>
          </a:xfrm>
          <a:prstGeom prst="rect">
            <a:avLst/>
          </a:prstGeom>
        </p:spPr>
      </p:pic>
      <p:pic>
        <p:nvPicPr>
          <p:cNvPr id="211" name="Picture 210" descr="lock.png"/>
          <p:cNvPicPr>
            <a:picLocks noChangeAspect="1"/>
          </p:cNvPicPr>
          <p:nvPr/>
        </p:nvPicPr>
        <p:blipFill>
          <a:blip r:embed="rId4"/>
          <a:stretch>
            <a:fillRect/>
          </a:stretch>
        </p:blipFill>
        <p:spPr>
          <a:xfrm>
            <a:off x="11407984" y="4021201"/>
            <a:ext cx="128699" cy="187198"/>
          </a:xfrm>
          <a:prstGeom prst="rect">
            <a:avLst/>
          </a:prstGeom>
        </p:spPr>
      </p:pic>
      <p:pic>
        <p:nvPicPr>
          <p:cNvPr id="212" name="Picture 211" descr="lock.png"/>
          <p:cNvPicPr>
            <a:picLocks noChangeAspect="1"/>
          </p:cNvPicPr>
          <p:nvPr/>
        </p:nvPicPr>
        <p:blipFill>
          <a:blip r:embed="rId4"/>
          <a:stretch>
            <a:fillRect/>
          </a:stretch>
        </p:blipFill>
        <p:spPr>
          <a:xfrm>
            <a:off x="3126525" y="4364101"/>
            <a:ext cx="128699" cy="187198"/>
          </a:xfrm>
          <a:prstGeom prst="rect">
            <a:avLst/>
          </a:prstGeom>
        </p:spPr>
      </p:pic>
      <p:pic>
        <p:nvPicPr>
          <p:cNvPr id="213" name="Picture 212" descr="lock.png"/>
          <p:cNvPicPr>
            <a:picLocks noChangeAspect="1"/>
          </p:cNvPicPr>
          <p:nvPr/>
        </p:nvPicPr>
        <p:blipFill>
          <a:blip r:embed="rId4"/>
          <a:stretch>
            <a:fillRect/>
          </a:stretch>
        </p:blipFill>
        <p:spPr>
          <a:xfrm>
            <a:off x="10349650" y="4364101"/>
            <a:ext cx="128699" cy="187198"/>
          </a:xfrm>
          <a:prstGeom prst="rect">
            <a:avLst/>
          </a:prstGeom>
        </p:spPr>
      </p:pic>
      <p:pic>
        <p:nvPicPr>
          <p:cNvPr id="214" name="Picture 213" descr="lock.png"/>
          <p:cNvPicPr>
            <a:picLocks noChangeAspect="1"/>
          </p:cNvPicPr>
          <p:nvPr/>
        </p:nvPicPr>
        <p:blipFill>
          <a:blip r:embed="rId4"/>
          <a:stretch>
            <a:fillRect/>
          </a:stretch>
        </p:blipFill>
        <p:spPr>
          <a:xfrm>
            <a:off x="11407984" y="4364101"/>
            <a:ext cx="128699" cy="187198"/>
          </a:xfrm>
          <a:prstGeom prst="rect">
            <a:avLst/>
          </a:prstGeom>
        </p:spPr>
      </p:pic>
      <p:pic>
        <p:nvPicPr>
          <p:cNvPr id="215" name="Picture 214" descr="lock.png"/>
          <p:cNvPicPr>
            <a:picLocks noChangeAspect="1"/>
          </p:cNvPicPr>
          <p:nvPr/>
        </p:nvPicPr>
        <p:blipFill>
          <a:blip r:embed="rId4"/>
          <a:stretch>
            <a:fillRect/>
          </a:stretch>
        </p:blipFill>
        <p:spPr>
          <a:xfrm>
            <a:off x="3126525" y="4707001"/>
            <a:ext cx="128699" cy="187198"/>
          </a:xfrm>
          <a:prstGeom prst="rect">
            <a:avLst/>
          </a:prstGeom>
        </p:spPr>
      </p:pic>
      <p:pic>
        <p:nvPicPr>
          <p:cNvPr id="216" name="Picture 215" descr="lock.png"/>
          <p:cNvPicPr>
            <a:picLocks noChangeAspect="1"/>
          </p:cNvPicPr>
          <p:nvPr/>
        </p:nvPicPr>
        <p:blipFill>
          <a:blip r:embed="rId4"/>
          <a:stretch>
            <a:fillRect/>
          </a:stretch>
        </p:blipFill>
        <p:spPr>
          <a:xfrm>
            <a:off x="10349650" y="4707001"/>
            <a:ext cx="128699" cy="187198"/>
          </a:xfrm>
          <a:prstGeom prst="rect">
            <a:avLst/>
          </a:prstGeom>
        </p:spPr>
      </p:pic>
      <p:pic>
        <p:nvPicPr>
          <p:cNvPr id="217" name="Picture 216" descr="lock.png"/>
          <p:cNvPicPr>
            <a:picLocks noChangeAspect="1"/>
          </p:cNvPicPr>
          <p:nvPr/>
        </p:nvPicPr>
        <p:blipFill>
          <a:blip r:embed="rId4"/>
          <a:stretch>
            <a:fillRect/>
          </a:stretch>
        </p:blipFill>
        <p:spPr>
          <a:xfrm>
            <a:off x="11407984" y="4707001"/>
            <a:ext cx="128699" cy="187198"/>
          </a:xfrm>
          <a:prstGeom prst="rect">
            <a:avLst/>
          </a:prstGeom>
        </p:spPr>
      </p:pic>
      <p:pic>
        <p:nvPicPr>
          <p:cNvPr id="218" name="Picture 217" descr="lock.png"/>
          <p:cNvPicPr>
            <a:picLocks noChangeAspect="1"/>
          </p:cNvPicPr>
          <p:nvPr/>
        </p:nvPicPr>
        <p:blipFill>
          <a:blip r:embed="rId4"/>
          <a:stretch>
            <a:fillRect/>
          </a:stretch>
        </p:blipFill>
        <p:spPr>
          <a:xfrm>
            <a:off x="3126525" y="5049901"/>
            <a:ext cx="128699" cy="187198"/>
          </a:xfrm>
          <a:prstGeom prst="rect">
            <a:avLst/>
          </a:prstGeom>
        </p:spPr>
      </p:pic>
      <p:pic>
        <p:nvPicPr>
          <p:cNvPr id="219" name="Picture 218" descr="lock.png"/>
          <p:cNvPicPr>
            <a:picLocks noChangeAspect="1"/>
          </p:cNvPicPr>
          <p:nvPr/>
        </p:nvPicPr>
        <p:blipFill>
          <a:blip r:embed="rId4"/>
          <a:stretch>
            <a:fillRect/>
          </a:stretch>
        </p:blipFill>
        <p:spPr>
          <a:xfrm>
            <a:off x="10349650" y="5049901"/>
            <a:ext cx="128699" cy="187198"/>
          </a:xfrm>
          <a:prstGeom prst="rect">
            <a:avLst/>
          </a:prstGeom>
        </p:spPr>
      </p:pic>
      <p:pic>
        <p:nvPicPr>
          <p:cNvPr id="220" name="Picture 219" descr="lock.png"/>
          <p:cNvPicPr>
            <a:picLocks noChangeAspect="1"/>
          </p:cNvPicPr>
          <p:nvPr/>
        </p:nvPicPr>
        <p:blipFill>
          <a:blip r:embed="rId4"/>
          <a:stretch>
            <a:fillRect/>
          </a:stretch>
        </p:blipFill>
        <p:spPr>
          <a:xfrm>
            <a:off x="11407984" y="5049901"/>
            <a:ext cx="128699" cy="187198"/>
          </a:xfrm>
          <a:prstGeom prst="rect">
            <a:avLst/>
          </a:prstGeom>
        </p:spPr>
      </p:pic>
      <p:pic>
        <p:nvPicPr>
          <p:cNvPr id="221" name="Picture 220" descr="lock.png"/>
          <p:cNvPicPr>
            <a:picLocks noChangeAspect="1"/>
          </p:cNvPicPr>
          <p:nvPr/>
        </p:nvPicPr>
        <p:blipFill>
          <a:blip r:embed="rId4"/>
          <a:stretch>
            <a:fillRect/>
          </a:stretch>
        </p:blipFill>
        <p:spPr>
          <a:xfrm>
            <a:off x="3126525" y="5392801"/>
            <a:ext cx="128699" cy="187198"/>
          </a:xfrm>
          <a:prstGeom prst="rect">
            <a:avLst/>
          </a:prstGeom>
        </p:spPr>
      </p:pic>
      <p:pic>
        <p:nvPicPr>
          <p:cNvPr id="222" name="Picture 221" descr="lock.png"/>
          <p:cNvPicPr>
            <a:picLocks noChangeAspect="1"/>
          </p:cNvPicPr>
          <p:nvPr/>
        </p:nvPicPr>
        <p:blipFill>
          <a:blip r:embed="rId4"/>
          <a:stretch>
            <a:fillRect/>
          </a:stretch>
        </p:blipFill>
        <p:spPr>
          <a:xfrm>
            <a:off x="10349650" y="5392801"/>
            <a:ext cx="128699" cy="187198"/>
          </a:xfrm>
          <a:prstGeom prst="rect">
            <a:avLst/>
          </a:prstGeom>
        </p:spPr>
      </p:pic>
      <p:pic>
        <p:nvPicPr>
          <p:cNvPr id="223" name="Picture 222" descr="lock.png"/>
          <p:cNvPicPr>
            <a:picLocks noChangeAspect="1"/>
          </p:cNvPicPr>
          <p:nvPr/>
        </p:nvPicPr>
        <p:blipFill>
          <a:blip r:embed="rId4"/>
          <a:stretch>
            <a:fillRect/>
          </a:stretch>
        </p:blipFill>
        <p:spPr>
          <a:xfrm>
            <a:off x="11407984" y="5392801"/>
            <a:ext cx="128699" cy="187198"/>
          </a:xfrm>
          <a:prstGeom prst="rect">
            <a:avLst/>
          </a:prstGeom>
        </p:spPr>
      </p:pic>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Offering Scorecard: What They Sell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Six offering Ps: product, technology, price and model, verticals, proof and IP</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2, OFFERING: WHAT THEY SELL</a:t>
            </a:r>
          </a:p>
        </p:txBody>
      </p:sp>
      <p:sp>
        <p:nvSpPr>
          <p:cNvPr id="12" name="TextBox 11"/>
          <p:cNvSpPr txBox="1"/>
          <p:nvPr/>
        </p:nvSpPr>
        <p:spPr>
          <a:xfrm>
            <a:off x="2038350" y="1295400"/>
            <a:ext cx="139457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Product</a:t>
            </a:r>
          </a:p>
        </p:txBody>
      </p:sp>
      <p:sp>
        <p:nvSpPr>
          <p:cNvPr id="13" name="TextBox 12"/>
          <p:cNvSpPr txBox="1"/>
          <p:nvPr/>
        </p:nvSpPr>
        <p:spPr>
          <a:xfrm>
            <a:off x="2038350" y="1657350"/>
            <a:ext cx="139457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Of the top three types offered</a:t>
            </a:r>
          </a:p>
        </p:txBody>
      </p:sp>
      <p:sp>
        <p:nvSpPr>
          <p:cNvPr id="14" name="TextBox 13"/>
          <p:cNvSpPr txBox="1"/>
          <p:nvPr/>
        </p:nvSpPr>
        <p:spPr>
          <a:xfrm>
            <a:off x="3509122" y="1295400"/>
            <a:ext cx="139457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Platform (technology)</a:t>
            </a:r>
          </a:p>
        </p:txBody>
      </p:sp>
      <p:sp>
        <p:nvSpPr>
          <p:cNvPr id="15" name="TextBox 14"/>
          <p:cNvSpPr txBox="1"/>
          <p:nvPr/>
        </p:nvSpPr>
        <p:spPr>
          <a:xfrm>
            <a:off x="3509122" y="1657350"/>
            <a:ext cx="139457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development: both 3, one 2</a:t>
            </a:r>
          </a:p>
        </p:txBody>
      </p:sp>
      <p:sp>
        <p:nvSpPr>
          <p:cNvPr id="16" name="TextBox 15"/>
          <p:cNvSpPr txBox="1"/>
          <p:nvPr/>
        </p:nvSpPr>
        <p:spPr>
          <a:xfrm>
            <a:off x="4979894"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Price and model</a:t>
            </a:r>
          </a:p>
        </p:txBody>
      </p:sp>
      <p:sp>
        <p:nvSpPr>
          <p:cNvPr id="17" name="TextBox 16"/>
          <p:cNvSpPr txBox="1"/>
          <p:nvPr/>
        </p:nvSpPr>
        <p:spPr>
          <a:xfrm>
            <a:off x="4979894"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Positioning by tier</a:t>
            </a:r>
          </a:p>
        </p:txBody>
      </p:sp>
      <p:sp>
        <p:nvSpPr>
          <p:cNvPr id="18" name="TextBox 17"/>
          <p:cNvSpPr txBox="1"/>
          <p:nvPr/>
        </p:nvSpPr>
        <p:spPr>
          <a:xfrm>
            <a:off x="6744821"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Positioning (verticals)</a:t>
            </a:r>
          </a:p>
        </p:txBody>
      </p:sp>
      <p:sp>
        <p:nvSpPr>
          <p:cNvPr id="19" name="TextBox 18"/>
          <p:cNvSpPr txBox="1"/>
          <p:nvPr/>
        </p:nvSpPr>
        <p:spPr>
          <a:xfrm>
            <a:off x="6744821"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End uses served</a:t>
            </a:r>
          </a:p>
        </p:txBody>
      </p:sp>
      <p:sp>
        <p:nvSpPr>
          <p:cNvPr id="20" name="TextBox 19"/>
          <p:cNvSpPr txBox="1"/>
          <p:nvPr/>
        </p:nvSpPr>
        <p:spPr>
          <a:xfrm>
            <a:off x="8509747"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Proof</a:t>
            </a:r>
          </a:p>
        </p:txBody>
      </p:sp>
      <p:sp>
        <p:nvSpPr>
          <p:cNvPr id="21" name="TextBox 20"/>
          <p:cNvSpPr txBox="1"/>
          <p:nvPr/>
        </p:nvSpPr>
        <p:spPr>
          <a:xfrm>
            <a:off x="8509747"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customer references</a:t>
            </a:r>
          </a:p>
        </p:txBody>
      </p:sp>
      <p:sp>
        <p:nvSpPr>
          <p:cNvPr id="22" name="TextBox 21"/>
          <p:cNvSpPr txBox="1"/>
          <p:nvPr/>
        </p:nvSpPr>
        <p:spPr>
          <a:xfrm>
            <a:off x="10274674"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Patents and IP</a:t>
            </a:r>
          </a:p>
        </p:txBody>
      </p:sp>
      <p:sp>
        <p:nvSpPr>
          <p:cNvPr id="23" name="TextBox 22"/>
          <p:cNvSpPr txBox="1"/>
          <p:nvPr/>
        </p:nvSpPr>
        <p:spPr>
          <a:xfrm>
            <a:off x="10274674"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Where the study covers patents</a:t>
            </a:r>
          </a:p>
        </p:txBody>
      </p:sp>
      <p:cxnSp>
        <p:nvCxnSpPr>
          <p:cNvPr id="24" name="Connector 23"/>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22479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Standard Process</a:t>
            </a:r>
          </a:p>
        </p:txBody>
      </p:sp>
      <p:sp>
        <p:nvSpPr>
          <p:cNvPr id="27" name="TextBox 26"/>
          <p:cNvSpPr txBox="1"/>
          <p:nvPr/>
        </p:nvSpPr>
        <p:spPr>
          <a:xfrm>
            <a:off x="285750" y="24098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8" name="Oval 27"/>
          <p:cNvSpPr/>
          <p:nvPr/>
        </p:nvSpPr>
        <p:spPr>
          <a:xfrm>
            <a:off x="2659436"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130208" y="2324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4210050" y="23241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79894" y="22288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32" name="TextBox 31"/>
          <p:cNvSpPr txBox="1"/>
          <p:nvPr/>
        </p:nvSpPr>
        <p:spPr>
          <a:xfrm>
            <a:off x="6744821" y="22288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Support for Observable Age-Related Cognitive Changes, Routine Cognitive Wellness</a:t>
            </a:r>
          </a:p>
        </p:txBody>
      </p:sp>
      <p:sp>
        <p:nvSpPr>
          <p:cNvPr id="33" name="TextBox 32"/>
          <p:cNvSpPr txBox="1"/>
          <p:nvPr/>
        </p:nvSpPr>
        <p:spPr>
          <a:xfrm>
            <a:off x="8471647" y="22288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4" name="TextBox 33"/>
          <p:cNvSpPr txBox="1"/>
          <p:nvPr/>
        </p:nvSpPr>
        <p:spPr>
          <a:xfrm>
            <a:off x="10236574" y="22288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35" name="Connector 34"/>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5750" y="25908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VetriScience</a:t>
            </a:r>
          </a:p>
        </p:txBody>
      </p:sp>
      <p:sp>
        <p:nvSpPr>
          <p:cNvPr id="38" name="TextBox 37"/>
          <p:cNvSpPr txBox="1"/>
          <p:nvPr/>
        </p:nvSpPr>
        <p:spPr>
          <a:xfrm>
            <a:off x="285750" y="27527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9" name="Oval 38"/>
          <p:cNvSpPr/>
          <p:nvPr/>
        </p:nvSpPr>
        <p:spPr>
          <a:xfrm>
            <a:off x="2659436" y="2667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733675" y="26670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130208"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979894" y="25717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43" name="TextBox 42"/>
          <p:cNvSpPr txBox="1"/>
          <p:nvPr/>
        </p:nvSpPr>
        <p:spPr>
          <a:xfrm>
            <a:off x="6744821" y="25717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Support for Observable Age-Related Cognitive Changes, Preventive Cognitive Support for Senior Dogs</a:t>
            </a:r>
          </a:p>
        </p:txBody>
      </p:sp>
      <p:sp>
        <p:nvSpPr>
          <p:cNvPr id="44" name="TextBox 43"/>
          <p:cNvSpPr txBox="1"/>
          <p:nvPr/>
        </p:nvSpPr>
        <p:spPr>
          <a:xfrm>
            <a:off x="8471647" y="25717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5" name="TextBox 44"/>
          <p:cNvSpPr txBox="1"/>
          <p:nvPr/>
        </p:nvSpPr>
        <p:spPr>
          <a:xfrm>
            <a:off x="10236574" y="25717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46" name="Connector 45"/>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85750" y="29337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Dr. Fossum's</a:t>
            </a:r>
          </a:p>
        </p:txBody>
      </p:sp>
      <p:sp>
        <p:nvSpPr>
          <p:cNvPr id="49" name="TextBox 48"/>
          <p:cNvSpPr txBox="1"/>
          <p:nvPr/>
        </p:nvSpPr>
        <p:spPr>
          <a:xfrm>
            <a:off x="285750" y="30956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0" name="Oval 49"/>
          <p:cNvSpPr/>
          <p:nvPr/>
        </p:nvSpPr>
        <p:spPr>
          <a:xfrm>
            <a:off x="2659436"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2733675" y="3009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130208"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4210050" y="30099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979894" y="29146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55" name="TextBox 54"/>
          <p:cNvSpPr txBox="1"/>
          <p:nvPr/>
        </p:nvSpPr>
        <p:spPr>
          <a:xfrm>
            <a:off x="6744821" y="29146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Routine Cognitive Wellness, Preventive Cognitive Support for Senior Dogs</a:t>
            </a:r>
          </a:p>
        </p:txBody>
      </p:sp>
      <p:sp>
        <p:nvSpPr>
          <p:cNvPr id="56" name="TextBox 55"/>
          <p:cNvSpPr txBox="1"/>
          <p:nvPr/>
        </p:nvSpPr>
        <p:spPr>
          <a:xfrm>
            <a:off x="8471647" y="29146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7" name="TextBox 56"/>
          <p:cNvSpPr txBox="1"/>
          <p:nvPr/>
        </p:nvSpPr>
        <p:spPr>
          <a:xfrm>
            <a:off x="10236574" y="29146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58" name="Connector 57"/>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85750" y="32766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Nestlé Purina PetCare</a:t>
            </a:r>
          </a:p>
        </p:txBody>
      </p:sp>
      <p:sp>
        <p:nvSpPr>
          <p:cNvPr id="61" name="TextBox 60"/>
          <p:cNvSpPr txBox="1"/>
          <p:nvPr/>
        </p:nvSpPr>
        <p:spPr>
          <a:xfrm>
            <a:off x="285750" y="34385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62" name="Oval 61"/>
          <p:cNvSpPr/>
          <p:nvPr/>
        </p:nvSpPr>
        <p:spPr>
          <a:xfrm>
            <a:off x="2659436"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2733675" y="3352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130208"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979894" y="32575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66" name="TextBox 65"/>
          <p:cNvSpPr txBox="1"/>
          <p:nvPr/>
        </p:nvSpPr>
        <p:spPr>
          <a:xfrm>
            <a:off x="6744821" y="32575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Support for Observable Age-Related Cognitive Changes, Routine Cognitive Wellness</a:t>
            </a:r>
          </a:p>
        </p:txBody>
      </p:sp>
      <p:sp>
        <p:nvSpPr>
          <p:cNvPr id="67" name="TextBox 66"/>
          <p:cNvSpPr txBox="1"/>
          <p:nvPr/>
        </p:nvSpPr>
        <p:spPr>
          <a:xfrm>
            <a:off x="8471647" y="32575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8" name="TextBox 67"/>
          <p:cNvSpPr txBox="1"/>
          <p:nvPr/>
        </p:nvSpPr>
        <p:spPr>
          <a:xfrm>
            <a:off x="10236574" y="32575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69" name="Connector 68"/>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85750" y="36195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PetHeal</a:t>
            </a:r>
          </a:p>
        </p:txBody>
      </p:sp>
      <p:sp>
        <p:nvSpPr>
          <p:cNvPr id="72" name="TextBox 71"/>
          <p:cNvSpPr txBox="1"/>
          <p:nvPr/>
        </p:nvSpPr>
        <p:spPr>
          <a:xfrm>
            <a:off x="285750" y="37814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3" name="Oval 72"/>
          <p:cNvSpPr/>
          <p:nvPr/>
        </p:nvSpPr>
        <p:spPr>
          <a:xfrm>
            <a:off x="2659436"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4130208"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4210050" y="3695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979894" y="36004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77" name="TextBox 76"/>
          <p:cNvSpPr txBox="1"/>
          <p:nvPr/>
        </p:nvSpPr>
        <p:spPr>
          <a:xfrm>
            <a:off x="6744821" y="36004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Support for Observable Age-Related Cognitive Changes, Preventive Cognitive Support for Senior Dogs</a:t>
            </a:r>
          </a:p>
        </p:txBody>
      </p:sp>
      <p:sp>
        <p:nvSpPr>
          <p:cNvPr id="78" name="TextBox 77"/>
          <p:cNvSpPr txBox="1"/>
          <p:nvPr/>
        </p:nvSpPr>
        <p:spPr>
          <a:xfrm>
            <a:off x="8471647" y="36004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9" name="TextBox 78"/>
          <p:cNvSpPr txBox="1"/>
          <p:nvPr/>
        </p:nvSpPr>
        <p:spPr>
          <a:xfrm>
            <a:off x="10236574" y="36004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80" name="Connector 79"/>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85750" y="39624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Senior Dogs Club</a:t>
            </a:r>
          </a:p>
        </p:txBody>
      </p:sp>
      <p:sp>
        <p:nvSpPr>
          <p:cNvPr id="83" name="TextBox 82"/>
          <p:cNvSpPr txBox="1"/>
          <p:nvPr/>
        </p:nvSpPr>
        <p:spPr>
          <a:xfrm>
            <a:off x="285750" y="41243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4" name="Oval 83"/>
          <p:cNvSpPr/>
          <p:nvPr/>
        </p:nvSpPr>
        <p:spPr>
          <a:xfrm>
            <a:off x="2659436"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2733675"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4130208"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979894" y="39433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88" name="TextBox 87"/>
          <p:cNvSpPr txBox="1"/>
          <p:nvPr/>
        </p:nvSpPr>
        <p:spPr>
          <a:xfrm>
            <a:off x="6744821" y="39433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Routine Cognitive Wellness, Preventive Cognitive Support for Senior Dogs</a:t>
            </a:r>
          </a:p>
        </p:txBody>
      </p:sp>
      <p:sp>
        <p:nvSpPr>
          <p:cNvPr id="89" name="TextBox 88"/>
          <p:cNvSpPr txBox="1"/>
          <p:nvPr/>
        </p:nvSpPr>
        <p:spPr>
          <a:xfrm>
            <a:off x="8471647" y="39433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0" name="TextBox 89"/>
          <p:cNvSpPr txBox="1"/>
          <p:nvPr/>
        </p:nvSpPr>
        <p:spPr>
          <a:xfrm>
            <a:off x="10236574" y="39433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91" name="Connector 90"/>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85750" y="43053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VISYO Corporation</a:t>
            </a:r>
          </a:p>
        </p:txBody>
      </p:sp>
      <p:sp>
        <p:nvSpPr>
          <p:cNvPr id="94" name="TextBox 93"/>
          <p:cNvSpPr txBox="1"/>
          <p:nvPr/>
        </p:nvSpPr>
        <p:spPr>
          <a:xfrm>
            <a:off x="285750" y="44672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5" name="Oval 94"/>
          <p:cNvSpPr/>
          <p:nvPr/>
        </p:nvSpPr>
        <p:spPr>
          <a:xfrm>
            <a:off x="2659436"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2733675" y="4381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4130208"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4210050" y="4381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979894" y="42862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00" name="TextBox 99"/>
          <p:cNvSpPr txBox="1"/>
          <p:nvPr/>
        </p:nvSpPr>
        <p:spPr>
          <a:xfrm>
            <a:off x="6744821" y="42862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Support for Observable Age-Related Cognitive Changes, Routine Cognitive Wellness</a:t>
            </a:r>
          </a:p>
        </p:txBody>
      </p:sp>
      <p:sp>
        <p:nvSpPr>
          <p:cNvPr id="101" name="TextBox 100"/>
          <p:cNvSpPr txBox="1"/>
          <p:nvPr/>
        </p:nvSpPr>
        <p:spPr>
          <a:xfrm>
            <a:off x="8471647" y="42862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2" name="TextBox 101"/>
          <p:cNvSpPr txBox="1"/>
          <p:nvPr/>
        </p:nvSpPr>
        <p:spPr>
          <a:xfrm>
            <a:off x="10236574" y="42862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03" name="Connector 102"/>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85750" y="46482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NaturVet</a:t>
            </a:r>
          </a:p>
        </p:txBody>
      </p:sp>
      <p:sp>
        <p:nvSpPr>
          <p:cNvPr id="106" name="TextBox 105"/>
          <p:cNvSpPr txBox="1"/>
          <p:nvPr/>
        </p:nvSpPr>
        <p:spPr>
          <a:xfrm>
            <a:off x="285750" y="48101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7" name="Oval 106"/>
          <p:cNvSpPr/>
          <p:nvPr/>
        </p:nvSpPr>
        <p:spPr>
          <a:xfrm>
            <a:off x="2659436"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2733675" y="47244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4130208"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979894" y="46291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11" name="TextBox 110"/>
          <p:cNvSpPr txBox="1"/>
          <p:nvPr/>
        </p:nvSpPr>
        <p:spPr>
          <a:xfrm>
            <a:off x="6744821" y="46291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Support for Observable Age-Related Cognitive Changes, Preventive Cognitive Support for Senior Dogs</a:t>
            </a:r>
          </a:p>
        </p:txBody>
      </p:sp>
      <p:sp>
        <p:nvSpPr>
          <p:cNvPr id="112" name="TextBox 111"/>
          <p:cNvSpPr txBox="1"/>
          <p:nvPr/>
        </p:nvSpPr>
        <p:spPr>
          <a:xfrm>
            <a:off x="8471647" y="46291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3" name="TextBox 112"/>
          <p:cNvSpPr txBox="1"/>
          <p:nvPr/>
        </p:nvSpPr>
        <p:spPr>
          <a:xfrm>
            <a:off x="10236574" y="46291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14" name="Connector 113"/>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5" name="Rectangle 114"/>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285750" y="49911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Zesty Paws</a:t>
            </a:r>
          </a:p>
        </p:txBody>
      </p:sp>
      <p:sp>
        <p:nvSpPr>
          <p:cNvPr id="117" name="TextBox 116"/>
          <p:cNvSpPr txBox="1"/>
          <p:nvPr/>
        </p:nvSpPr>
        <p:spPr>
          <a:xfrm>
            <a:off x="285750" y="51530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8" name="Oval 117"/>
          <p:cNvSpPr/>
          <p:nvPr/>
        </p:nvSpPr>
        <p:spPr>
          <a:xfrm>
            <a:off x="2659436"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4130208"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4210050" y="50673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4979894" y="49720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22" name="TextBox 121"/>
          <p:cNvSpPr txBox="1"/>
          <p:nvPr/>
        </p:nvSpPr>
        <p:spPr>
          <a:xfrm>
            <a:off x="6744821" y="49720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Routine Cognitive Wellness, Preventive Cognitive Support for Senior Dogs</a:t>
            </a:r>
          </a:p>
        </p:txBody>
      </p:sp>
      <p:sp>
        <p:nvSpPr>
          <p:cNvPr id="123" name="TextBox 122"/>
          <p:cNvSpPr txBox="1"/>
          <p:nvPr/>
        </p:nvSpPr>
        <p:spPr>
          <a:xfrm>
            <a:off x="8471647" y="49720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4" name="TextBox 123"/>
          <p:cNvSpPr txBox="1"/>
          <p:nvPr/>
        </p:nvSpPr>
        <p:spPr>
          <a:xfrm>
            <a:off x="10236574" y="49720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25" name="Connector 124"/>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6" name="Rectangle 125"/>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285750" y="53340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Ark Naturals</a:t>
            </a:r>
          </a:p>
        </p:txBody>
      </p:sp>
      <p:sp>
        <p:nvSpPr>
          <p:cNvPr id="128" name="TextBox 127"/>
          <p:cNvSpPr txBox="1"/>
          <p:nvPr/>
        </p:nvSpPr>
        <p:spPr>
          <a:xfrm>
            <a:off x="285750" y="54959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9" name="Oval 128"/>
          <p:cNvSpPr/>
          <p:nvPr/>
        </p:nvSpPr>
        <p:spPr>
          <a:xfrm>
            <a:off x="2659436"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Freeform 129"/>
          <p:cNvSpPr/>
          <p:nvPr/>
        </p:nvSpPr>
        <p:spPr>
          <a:xfrm>
            <a:off x="2733675" y="54102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4130208"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4979894" y="53149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33" name="TextBox 132"/>
          <p:cNvSpPr txBox="1"/>
          <p:nvPr/>
        </p:nvSpPr>
        <p:spPr>
          <a:xfrm>
            <a:off x="6744821" y="53149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Support for Observable Age-Related Cognitive Changes, Routine Cognitive Wellness</a:t>
            </a:r>
          </a:p>
        </p:txBody>
      </p:sp>
      <p:sp>
        <p:nvSpPr>
          <p:cNvPr id="134" name="TextBox 133"/>
          <p:cNvSpPr txBox="1"/>
          <p:nvPr/>
        </p:nvSpPr>
        <p:spPr>
          <a:xfrm>
            <a:off x="8471647" y="53149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35" name="TextBox 134"/>
          <p:cNvSpPr txBox="1"/>
          <p:nvPr/>
        </p:nvSpPr>
        <p:spPr>
          <a:xfrm>
            <a:off x="10236574" y="53149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36" name="Connector 135"/>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7" name="Oval 136"/>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39" name="Oval 138"/>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42" name="Oval 141"/>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Freeform 142"/>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45" name="Oval 144"/>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47" name="TextBox 146"/>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48" name="TextBox 147"/>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breadth and technology strength do not always go together; the end uses each player serves show where it competes head to head.  Proof needs customer research.</a:t>
            </a:r>
          </a:p>
        </p:txBody>
      </p:sp>
      <p:sp>
        <p:nvSpPr>
          <p:cNvPr id="149" name="TextBox 14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0" name="Picture 149" descr="lock.png"/>
          <p:cNvPicPr>
            <a:picLocks noChangeAspect="1"/>
          </p:cNvPicPr>
          <p:nvPr/>
        </p:nvPicPr>
        <p:blipFill>
          <a:blip r:embed="rId4"/>
          <a:stretch>
            <a:fillRect/>
          </a:stretch>
        </p:blipFill>
        <p:spPr>
          <a:xfrm>
            <a:off x="9289760" y="2306701"/>
            <a:ext cx="128699" cy="187198"/>
          </a:xfrm>
          <a:prstGeom prst="rect">
            <a:avLst/>
          </a:prstGeom>
        </p:spPr>
      </p:pic>
      <p:pic>
        <p:nvPicPr>
          <p:cNvPr id="151" name="Picture 150" descr="lock.png"/>
          <p:cNvPicPr>
            <a:picLocks noChangeAspect="1"/>
          </p:cNvPicPr>
          <p:nvPr/>
        </p:nvPicPr>
        <p:blipFill>
          <a:blip r:embed="rId4"/>
          <a:stretch>
            <a:fillRect/>
          </a:stretch>
        </p:blipFill>
        <p:spPr>
          <a:xfrm>
            <a:off x="11054687" y="2306701"/>
            <a:ext cx="128699" cy="187198"/>
          </a:xfrm>
          <a:prstGeom prst="rect">
            <a:avLst/>
          </a:prstGeom>
        </p:spPr>
      </p:pic>
      <p:pic>
        <p:nvPicPr>
          <p:cNvPr id="152" name="Picture 151" descr="lock.png"/>
          <p:cNvPicPr>
            <a:picLocks noChangeAspect="1"/>
          </p:cNvPicPr>
          <p:nvPr/>
        </p:nvPicPr>
        <p:blipFill>
          <a:blip r:embed="rId4"/>
          <a:stretch>
            <a:fillRect/>
          </a:stretch>
        </p:blipFill>
        <p:spPr>
          <a:xfrm>
            <a:off x="9289760" y="2649601"/>
            <a:ext cx="128699" cy="187198"/>
          </a:xfrm>
          <a:prstGeom prst="rect">
            <a:avLst/>
          </a:prstGeom>
        </p:spPr>
      </p:pic>
      <p:pic>
        <p:nvPicPr>
          <p:cNvPr id="153" name="Picture 152" descr="lock.png"/>
          <p:cNvPicPr>
            <a:picLocks noChangeAspect="1"/>
          </p:cNvPicPr>
          <p:nvPr/>
        </p:nvPicPr>
        <p:blipFill>
          <a:blip r:embed="rId4"/>
          <a:stretch>
            <a:fillRect/>
          </a:stretch>
        </p:blipFill>
        <p:spPr>
          <a:xfrm>
            <a:off x="11054687" y="2649601"/>
            <a:ext cx="128699" cy="187198"/>
          </a:xfrm>
          <a:prstGeom prst="rect">
            <a:avLst/>
          </a:prstGeom>
        </p:spPr>
      </p:pic>
      <p:pic>
        <p:nvPicPr>
          <p:cNvPr id="154" name="Picture 153" descr="lock.png"/>
          <p:cNvPicPr>
            <a:picLocks noChangeAspect="1"/>
          </p:cNvPicPr>
          <p:nvPr/>
        </p:nvPicPr>
        <p:blipFill>
          <a:blip r:embed="rId4"/>
          <a:stretch>
            <a:fillRect/>
          </a:stretch>
        </p:blipFill>
        <p:spPr>
          <a:xfrm>
            <a:off x="9289760" y="2992501"/>
            <a:ext cx="128699" cy="187198"/>
          </a:xfrm>
          <a:prstGeom prst="rect">
            <a:avLst/>
          </a:prstGeom>
        </p:spPr>
      </p:pic>
      <p:pic>
        <p:nvPicPr>
          <p:cNvPr id="155" name="Picture 154" descr="lock.png"/>
          <p:cNvPicPr>
            <a:picLocks noChangeAspect="1"/>
          </p:cNvPicPr>
          <p:nvPr/>
        </p:nvPicPr>
        <p:blipFill>
          <a:blip r:embed="rId4"/>
          <a:stretch>
            <a:fillRect/>
          </a:stretch>
        </p:blipFill>
        <p:spPr>
          <a:xfrm>
            <a:off x="11054687" y="29925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289760" y="3335401"/>
            <a:ext cx="128699" cy="187198"/>
          </a:xfrm>
          <a:prstGeom prst="rect">
            <a:avLst/>
          </a:prstGeom>
        </p:spPr>
      </p:pic>
      <p:pic>
        <p:nvPicPr>
          <p:cNvPr id="157" name="Picture 156" descr="lock.png"/>
          <p:cNvPicPr>
            <a:picLocks noChangeAspect="1"/>
          </p:cNvPicPr>
          <p:nvPr/>
        </p:nvPicPr>
        <p:blipFill>
          <a:blip r:embed="rId4"/>
          <a:stretch>
            <a:fillRect/>
          </a:stretch>
        </p:blipFill>
        <p:spPr>
          <a:xfrm>
            <a:off x="11054687" y="3335401"/>
            <a:ext cx="128699" cy="187198"/>
          </a:xfrm>
          <a:prstGeom prst="rect">
            <a:avLst/>
          </a:prstGeom>
        </p:spPr>
      </p:pic>
      <p:pic>
        <p:nvPicPr>
          <p:cNvPr id="158" name="Picture 157" descr="lock.png"/>
          <p:cNvPicPr>
            <a:picLocks noChangeAspect="1"/>
          </p:cNvPicPr>
          <p:nvPr/>
        </p:nvPicPr>
        <p:blipFill>
          <a:blip r:embed="rId4"/>
          <a:stretch>
            <a:fillRect/>
          </a:stretch>
        </p:blipFill>
        <p:spPr>
          <a:xfrm>
            <a:off x="9289760" y="3678301"/>
            <a:ext cx="128699" cy="187198"/>
          </a:xfrm>
          <a:prstGeom prst="rect">
            <a:avLst/>
          </a:prstGeom>
        </p:spPr>
      </p:pic>
      <p:pic>
        <p:nvPicPr>
          <p:cNvPr id="159" name="Picture 158" descr="lock.png"/>
          <p:cNvPicPr>
            <a:picLocks noChangeAspect="1"/>
          </p:cNvPicPr>
          <p:nvPr/>
        </p:nvPicPr>
        <p:blipFill>
          <a:blip r:embed="rId4"/>
          <a:stretch>
            <a:fillRect/>
          </a:stretch>
        </p:blipFill>
        <p:spPr>
          <a:xfrm>
            <a:off x="11054687" y="3678301"/>
            <a:ext cx="128699" cy="187198"/>
          </a:xfrm>
          <a:prstGeom prst="rect">
            <a:avLst/>
          </a:prstGeom>
        </p:spPr>
      </p:pic>
      <p:pic>
        <p:nvPicPr>
          <p:cNvPr id="160" name="Picture 159" descr="lock.png"/>
          <p:cNvPicPr>
            <a:picLocks noChangeAspect="1"/>
          </p:cNvPicPr>
          <p:nvPr/>
        </p:nvPicPr>
        <p:blipFill>
          <a:blip r:embed="rId4"/>
          <a:stretch>
            <a:fillRect/>
          </a:stretch>
        </p:blipFill>
        <p:spPr>
          <a:xfrm>
            <a:off x="9289760" y="4021201"/>
            <a:ext cx="128699" cy="187198"/>
          </a:xfrm>
          <a:prstGeom prst="rect">
            <a:avLst/>
          </a:prstGeom>
        </p:spPr>
      </p:pic>
      <p:pic>
        <p:nvPicPr>
          <p:cNvPr id="161" name="Picture 160" descr="lock.png"/>
          <p:cNvPicPr>
            <a:picLocks noChangeAspect="1"/>
          </p:cNvPicPr>
          <p:nvPr/>
        </p:nvPicPr>
        <p:blipFill>
          <a:blip r:embed="rId4"/>
          <a:stretch>
            <a:fillRect/>
          </a:stretch>
        </p:blipFill>
        <p:spPr>
          <a:xfrm>
            <a:off x="11054687" y="4021201"/>
            <a:ext cx="128699" cy="187198"/>
          </a:xfrm>
          <a:prstGeom prst="rect">
            <a:avLst/>
          </a:prstGeom>
        </p:spPr>
      </p:pic>
      <p:pic>
        <p:nvPicPr>
          <p:cNvPr id="162" name="Picture 161" descr="lock.png"/>
          <p:cNvPicPr>
            <a:picLocks noChangeAspect="1"/>
          </p:cNvPicPr>
          <p:nvPr/>
        </p:nvPicPr>
        <p:blipFill>
          <a:blip r:embed="rId4"/>
          <a:stretch>
            <a:fillRect/>
          </a:stretch>
        </p:blipFill>
        <p:spPr>
          <a:xfrm>
            <a:off x="9289760" y="4364101"/>
            <a:ext cx="128699" cy="187198"/>
          </a:xfrm>
          <a:prstGeom prst="rect">
            <a:avLst/>
          </a:prstGeom>
        </p:spPr>
      </p:pic>
      <p:pic>
        <p:nvPicPr>
          <p:cNvPr id="163" name="Picture 162" descr="lock.png"/>
          <p:cNvPicPr>
            <a:picLocks noChangeAspect="1"/>
          </p:cNvPicPr>
          <p:nvPr/>
        </p:nvPicPr>
        <p:blipFill>
          <a:blip r:embed="rId4"/>
          <a:stretch>
            <a:fillRect/>
          </a:stretch>
        </p:blipFill>
        <p:spPr>
          <a:xfrm>
            <a:off x="11054687" y="4364101"/>
            <a:ext cx="128699" cy="187198"/>
          </a:xfrm>
          <a:prstGeom prst="rect">
            <a:avLst/>
          </a:prstGeom>
        </p:spPr>
      </p:pic>
      <p:pic>
        <p:nvPicPr>
          <p:cNvPr id="164" name="Picture 163" descr="lock.png"/>
          <p:cNvPicPr>
            <a:picLocks noChangeAspect="1"/>
          </p:cNvPicPr>
          <p:nvPr/>
        </p:nvPicPr>
        <p:blipFill>
          <a:blip r:embed="rId4"/>
          <a:stretch>
            <a:fillRect/>
          </a:stretch>
        </p:blipFill>
        <p:spPr>
          <a:xfrm>
            <a:off x="9289760" y="4707001"/>
            <a:ext cx="128699" cy="187198"/>
          </a:xfrm>
          <a:prstGeom prst="rect">
            <a:avLst/>
          </a:prstGeom>
        </p:spPr>
      </p:pic>
      <p:pic>
        <p:nvPicPr>
          <p:cNvPr id="165" name="Picture 164" descr="lock.png"/>
          <p:cNvPicPr>
            <a:picLocks noChangeAspect="1"/>
          </p:cNvPicPr>
          <p:nvPr/>
        </p:nvPicPr>
        <p:blipFill>
          <a:blip r:embed="rId4"/>
          <a:stretch>
            <a:fillRect/>
          </a:stretch>
        </p:blipFill>
        <p:spPr>
          <a:xfrm>
            <a:off x="11054687" y="47070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289760" y="5049901"/>
            <a:ext cx="128699" cy="187198"/>
          </a:xfrm>
          <a:prstGeom prst="rect">
            <a:avLst/>
          </a:prstGeom>
        </p:spPr>
      </p:pic>
      <p:pic>
        <p:nvPicPr>
          <p:cNvPr id="167" name="Picture 166" descr="lock.png"/>
          <p:cNvPicPr>
            <a:picLocks noChangeAspect="1"/>
          </p:cNvPicPr>
          <p:nvPr/>
        </p:nvPicPr>
        <p:blipFill>
          <a:blip r:embed="rId4"/>
          <a:stretch>
            <a:fillRect/>
          </a:stretch>
        </p:blipFill>
        <p:spPr>
          <a:xfrm>
            <a:off x="11054687" y="5049901"/>
            <a:ext cx="128699" cy="187198"/>
          </a:xfrm>
          <a:prstGeom prst="rect">
            <a:avLst/>
          </a:prstGeom>
        </p:spPr>
      </p:pic>
      <p:pic>
        <p:nvPicPr>
          <p:cNvPr id="168" name="Picture 167" descr="lock.png"/>
          <p:cNvPicPr>
            <a:picLocks noChangeAspect="1"/>
          </p:cNvPicPr>
          <p:nvPr/>
        </p:nvPicPr>
        <p:blipFill>
          <a:blip r:embed="rId4"/>
          <a:stretch>
            <a:fillRect/>
          </a:stretch>
        </p:blipFill>
        <p:spPr>
          <a:xfrm>
            <a:off x="9289760" y="5392801"/>
            <a:ext cx="128699" cy="187198"/>
          </a:xfrm>
          <a:prstGeom prst="rect">
            <a:avLst/>
          </a:prstGeom>
        </p:spPr>
      </p:pic>
      <p:pic>
        <p:nvPicPr>
          <p:cNvPr id="169" name="Picture 168" descr="lock.png"/>
          <p:cNvPicPr>
            <a:picLocks noChangeAspect="1"/>
          </p:cNvPicPr>
          <p:nvPr/>
        </p:nvPicPr>
        <p:blipFill>
          <a:blip r:embed="rId4"/>
          <a:stretch>
            <a:fillRect/>
          </a:stretch>
        </p:blipFill>
        <p:spPr>
          <a:xfrm>
            <a:off x="11054687" y="5392801"/>
            <a:ext cx="128699" cy="187198"/>
          </a:xfrm>
          <a:prstGeom prst="rect">
            <a:avLst/>
          </a:prstGeom>
        </p:spPr>
      </p:pic>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Execution Scorecard: How They Win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Six execution Ps: channel, promotion, momentum, pipeline, policy exposure and prospects</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3, EXECUTION: HOW THEY WIN</a:t>
            </a:r>
          </a:p>
        </p:txBody>
      </p:sp>
      <p:sp>
        <p:nvSpPr>
          <p:cNvPr id="12" name="TextBox 11"/>
          <p:cNvSpPr txBox="1"/>
          <p:nvPr/>
        </p:nvSpPr>
        <p:spPr>
          <a:xfrm>
            <a:off x="2038350"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Place (channel)</a:t>
            </a:r>
          </a:p>
        </p:txBody>
      </p:sp>
      <p:sp>
        <p:nvSpPr>
          <p:cNvPr id="13" name="TextBox 12"/>
          <p:cNvSpPr txBox="1"/>
          <p:nvPr/>
        </p:nvSpPr>
        <p:spPr>
          <a:xfrm>
            <a:off x="2038350"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Route to market by tier</a:t>
            </a:r>
          </a:p>
        </p:txBody>
      </p:sp>
      <p:sp>
        <p:nvSpPr>
          <p:cNvPr id="14" name="TextBox 13"/>
          <p:cNvSpPr txBox="1"/>
          <p:nvPr/>
        </p:nvSpPr>
        <p:spPr>
          <a:xfrm>
            <a:off x="3803276"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Promotion</a:t>
            </a:r>
          </a:p>
        </p:txBody>
      </p:sp>
      <p:sp>
        <p:nvSpPr>
          <p:cNvPr id="15" name="TextBox 14"/>
          <p:cNvSpPr txBox="1"/>
          <p:nvPr/>
        </p:nvSpPr>
        <p:spPr>
          <a:xfrm>
            <a:off x="3803276"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Go-to-market; not assessed</a:t>
            </a:r>
          </a:p>
        </p:txBody>
      </p:sp>
      <p:sp>
        <p:nvSpPr>
          <p:cNvPr id="16" name="TextBox 15"/>
          <p:cNvSpPr txBox="1"/>
          <p:nvPr/>
        </p:nvSpPr>
        <p:spPr>
          <a:xfrm>
            <a:off x="5568203" y="1295400"/>
            <a:ext cx="139457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Pace (momentum)</a:t>
            </a:r>
          </a:p>
        </p:txBody>
      </p:sp>
      <p:sp>
        <p:nvSpPr>
          <p:cNvPr id="17" name="TextBox 16"/>
          <p:cNvSpPr txBox="1"/>
          <p:nvPr/>
        </p:nvSpPr>
        <p:spPr>
          <a:xfrm>
            <a:off x="5568203" y="1657350"/>
            <a:ext cx="139457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Active moves: 5+ = 3, 3-4 = 2</a:t>
            </a:r>
          </a:p>
        </p:txBody>
      </p:sp>
      <p:sp>
        <p:nvSpPr>
          <p:cNvPr id="18" name="TextBox 17"/>
          <p:cNvSpPr txBox="1"/>
          <p:nvPr/>
        </p:nvSpPr>
        <p:spPr>
          <a:xfrm>
            <a:off x="7038975"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Pipeline</a:t>
            </a:r>
          </a:p>
        </p:txBody>
      </p:sp>
      <p:sp>
        <p:nvSpPr>
          <p:cNvPr id="19" name="TextBox 18"/>
          <p:cNvSpPr txBox="1"/>
          <p:nvPr/>
        </p:nvSpPr>
        <p:spPr>
          <a:xfrm>
            <a:off x="7038975"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Launch or development in motion</a:t>
            </a:r>
          </a:p>
        </p:txBody>
      </p:sp>
      <p:sp>
        <p:nvSpPr>
          <p:cNvPr id="20" name="TextBox 19"/>
          <p:cNvSpPr txBox="1"/>
          <p:nvPr/>
        </p:nvSpPr>
        <p:spPr>
          <a:xfrm>
            <a:off x="8803901"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Policy exposure</a:t>
            </a:r>
          </a:p>
        </p:txBody>
      </p:sp>
      <p:sp>
        <p:nvSpPr>
          <p:cNvPr id="21" name="TextBox 20"/>
          <p:cNvSpPr txBox="1"/>
          <p:nvPr/>
        </p:nvSpPr>
        <p:spPr>
          <a:xfrm>
            <a:off x="8803901"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Regulation in its favour or against</a:t>
            </a:r>
          </a:p>
        </p:txBody>
      </p:sp>
      <p:sp>
        <p:nvSpPr>
          <p:cNvPr id="22" name="TextBox 21"/>
          <p:cNvSpPr txBox="1"/>
          <p:nvPr/>
        </p:nvSpPr>
        <p:spPr>
          <a:xfrm>
            <a:off x="10568828" y="1295400"/>
            <a:ext cx="139457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Prospects</a:t>
            </a:r>
          </a:p>
        </p:txBody>
      </p:sp>
      <p:sp>
        <p:nvSpPr>
          <p:cNvPr id="23" name="TextBox 22"/>
          <p:cNvSpPr txBox="1"/>
          <p:nvPr/>
        </p:nvSpPr>
        <p:spPr>
          <a:xfrm>
            <a:off x="10568828" y="1657350"/>
            <a:ext cx="139457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Gaining 3, holding 2, at risk 1</a:t>
            </a:r>
          </a:p>
        </p:txBody>
      </p:sp>
      <p:cxnSp>
        <p:nvCxnSpPr>
          <p:cNvPr id="24" name="Connector 23"/>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22479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Standard Process</a:t>
            </a:r>
          </a:p>
        </p:txBody>
      </p:sp>
      <p:sp>
        <p:nvSpPr>
          <p:cNvPr id="27" name="TextBox 26"/>
          <p:cNvSpPr txBox="1"/>
          <p:nvPr/>
        </p:nvSpPr>
        <p:spPr>
          <a:xfrm>
            <a:off x="285750" y="24098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8" name="TextBox 27"/>
          <p:cNvSpPr txBox="1"/>
          <p:nvPr/>
        </p:nvSpPr>
        <p:spPr>
          <a:xfrm>
            <a:off x="2038350" y="22288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29" name="TextBox 28"/>
          <p:cNvSpPr txBox="1"/>
          <p:nvPr/>
        </p:nvSpPr>
        <p:spPr>
          <a:xfrm>
            <a:off x="3765176" y="22288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0" name="Oval 29"/>
          <p:cNvSpPr/>
          <p:nvPr/>
        </p:nvSpPr>
        <p:spPr>
          <a:xfrm>
            <a:off x="6189289"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00875" y="22288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2" name="TextBox 31"/>
          <p:cNvSpPr txBox="1"/>
          <p:nvPr/>
        </p:nvSpPr>
        <p:spPr>
          <a:xfrm>
            <a:off x="8765801" y="22288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3" name="Oval 32"/>
          <p:cNvSpPr/>
          <p:nvPr/>
        </p:nvSpPr>
        <p:spPr>
          <a:xfrm>
            <a:off x="11189914"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5750" y="25908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VetriScience</a:t>
            </a:r>
          </a:p>
        </p:txBody>
      </p:sp>
      <p:sp>
        <p:nvSpPr>
          <p:cNvPr id="37" name="TextBox 36"/>
          <p:cNvSpPr txBox="1"/>
          <p:nvPr/>
        </p:nvSpPr>
        <p:spPr>
          <a:xfrm>
            <a:off x="285750" y="27527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8" name="TextBox 37"/>
          <p:cNvSpPr txBox="1"/>
          <p:nvPr/>
        </p:nvSpPr>
        <p:spPr>
          <a:xfrm>
            <a:off x="2038350" y="25717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39" name="TextBox 38"/>
          <p:cNvSpPr txBox="1"/>
          <p:nvPr/>
        </p:nvSpPr>
        <p:spPr>
          <a:xfrm>
            <a:off x="3765176" y="25717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0" name="Oval 39"/>
          <p:cNvSpPr/>
          <p:nvPr/>
        </p:nvSpPr>
        <p:spPr>
          <a:xfrm>
            <a:off x="6189289"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38975" y="25717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42" name="TextBox 41"/>
          <p:cNvSpPr txBox="1"/>
          <p:nvPr/>
        </p:nvSpPr>
        <p:spPr>
          <a:xfrm>
            <a:off x="8765801" y="25717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3" name="Oval 42"/>
          <p:cNvSpPr/>
          <p:nvPr/>
        </p:nvSpPr>
        <p:spPr>
          <a:xfrm>
            <a:off x="11189914"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85750" y="29337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Dr. Fossum's</a:t>
            </a:r>
          </a:p>
        </p:txBody>
      </p:sp>
      <p:sp>
        <p:nvSpPr>
          <p:cNvPr id="47" name="TextBox 46"/>
          <p:cNvSpPr txBox="1"/>
          <p:nvPr/>
        </p:nvSpPr>
        <p:spPr>
          <a:xfrm>
            <a:off x="285750" y="30956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8" name="TextBox 47"/>
          <p:cNvSpPr txBox="1"/>
          <p:nvPr/>
        </p:nvSpPr>
        <p:spPr>
          <a:xfrm>
            <a:off x="2038350" y="29146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49" name="TextBox 48"/>
          <p:cNvSpPr txBox="1"/>
          <p:nvPr/>
        </p:nvSpPr>
        <p:spPr>
          <a:xfrm>
            <a:off x="3765176" y="29146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0" name="Oval 49"/>
          <p:cNvSpPr/>
          <p:nvPr/>
        </p:nvSpPr>
        <p:spPr>
          <a:xfrm>
            <a:off x="6189289"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000875" y="29146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2" name="TextBox 51"/>
          <p:cNvSpPr txBox="1"/>
          <p:nvPr/>
        </p:nvSpPr>
        <p:spPr>
          <a:xfrm>
            <a:off x="8765801" y="29146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3" name="Oval 52"/>
          <p:cNvSpPr/>
          <p:nvPr/>
        </p:nvSpPr>
        <p:spPr>
          <a:xfrm>
            <a:off x="11189914"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5750" y="32766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Nestlé Purina PetCare</a:t>
            </a:r>
          </a:p>
        </p:txBody>
      </p:sp>
      <p:sp>
        <p:nvSpPr>
          <p:cNvPr id="57" name="TextBox 56"/>
          <p:cNvSpPr txBox="1"/>
          <p:nvPr/>
        </p:nvSpPr>
        <p:spPr>
          <a:xfrm>
            <a:off x="285750" y="34385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8" name="TextBox 57"/>
          <p:cNvSpPr txBox="1"/>
          <p:nvPr/>
        </p:nvSpPr>
        <p:spPr>
          <a:xfrm>
            <a:off x="2038350" y="32575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59" name="TextBox 58"/>
          <p:cNvSpPr txBox="1"/>
          <p:nvPr/>
        </p:nvSpPr>
        <p:spPr>
          <a:xfrm>
            <a:off x="3765176" y="32575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0" name="Oval 59"/>
          <p:cNvSpPr/>
          <p:nvPr/>
        </p:nvSpPr>
        <p:spPr>
          <a:xfrm>
            <a:off x="6189289"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038975" y="32575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62" name="TextBox 61"/>
          <p:cNvSpPr txBox="1"/>
          <p:nvPr/>
        </p:nvSpPr>
        <p:spPr>
          <a:xfrm>
            <a:off x="8765801" y="32575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3" name="Oval 62"/>
          <p:cNvSpPr/>
          <p:nvPr/>
        </p:nvSpPr>
        <p:spPr>
          <a:xfrm>
            <a:off x="11189914"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85750" y="36195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PetHeal</a:t>
            </a:r>
          </a:p>
        </p:txBody>
      </p:sp>
      <p:sp>
        <p:nvSpPr>
          <p:cNvPr id="67" name="TextBox 66"/>
          <p:cNvSpPr txBox="1"/>
          <p:nvPr/>
        </p:nvSpPr>
        <p:spPr>
          <a:xfrm>
            <a:off x="285750" y="37814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68" name="TextBox 67"/>
          <p:cNvSpPr txBox="1"/>
          <p:nvPr/>
        </p:nvSpPr>
        <p:spPr>
          <a:xfrm>
            <a:off x="2038350" y="36004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69" name="TextBox 68"/>
          <p:cNvSpPr txBox="1"/>
          <p:nvPr/>
        </p:nvSpPr>
        <p:spPr>
          <a:xfrm>
            <a:off x="3765176" y="36004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0" name="Oval 69"/>
          <p:cNvSpPr/>
          <p:nvPr/>
        </p:nvSpPr>
        <p:spPr>
          <a:xfrm>
            <a:off x="6189289"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000875" y="36004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2" name="TextBox 71"/>
          <p:cNvSpPr txBox="1"/>
          <p:nvPr/>
        </p:nvSpPr>
        <p:spPr>
          <a:xfrm>
            <a:off x="8765801" y="36004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3" name="Oval 72"/>
          <p:cNvSpPr/>
          <p:nvPr/>
        </p:nvSpPr>
        <p:spPr>
          <a:xfrm>
            <a:off x="11189914"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11268075"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5" name="Connector 74"/>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85750" y="39624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Senior Dogs Club</a:t>
            </a:r>
          </a:p>
        </p:txBody>
      </p:sp>
      <p:sp>
        <p:nvSpPr>
          <p:cNvPr id="78" name="TextBox 77"/>
          <p:cNvSpPr txBox="1"/>
          <p:nvPr/>
        </p:nvSpPr>
        <p:spPr>
          <a:xfrm>
            <a:off x="285750" y="41243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9" name="TextBox 78"/>
          <p:cNvSpPr txBox="1"/>
          <p:nvPr/>
        </p:nvSpPr>
        <p:spPr>
          <a:xfrm>
            <a:off x="2038350" y="39433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80" name="TextBox 79"/>
          <p:cNvSpPr txBox="1"/>
          <p:nvPr/>
        </p:nvSpPr>
        <p:spPr>
          <a:xfrm>
            <a:off x="3765176" y="39433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1" name="Oval 80"/>
          <p:cNvSpPr/>
          <p:nvPr/>
        </p:nvSpPr>
        <p:spPr>
          <a:xfrm>
            <a:off x="6189289"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038975" y="39433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83" name="TextBox 82"/>
          <p:cNvSpPr txBox="1"/>
          <p:nvPr/>
        </p:nvSpPr>
        <p:spPr>
          <a:xfrm>
            <a:off x="8765801" y="39433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4" name="Oval 83"/>
          <p:cNvSpPr/>
          <p:nvPr/>
        </p:nvSpPr>
        <p:spPr>
          <a:xfrm>
            <a:off x="11189914"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11268075"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6" name="Connector 85"/>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85750" y="43053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VISYO Corporation</a:t>
            </a:r>
          </a:p>
        </p:txBody>
      </p:sp>
      <p:sp>
        <p:nvSpPr>
          <p:cNvPr id="89" name="TextBox 88"/>
          <p:cNvSpPr txBox="1"/>
          <p:nvPr/>
        </p:nvSpPr>
        <p:spPr>
          <a:xfrm>
            <a:off x="285750" y="44672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0" name="TextBox 89"/>
          <p:cNvSpPr txBox="1"/>
          <p:nvPr/>
        </p:nvSpPr>
        <p:spPr>
          <a:xfrm>
            <a:off x="2038350" y="42862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91" name="TextBox 90"/>
          <p:cNvSpPr txBox="1"/>
          <p:nvPr/>
        </p:nvSpPr>
        <p:spPr>
          <a:xfrm>
            <a:off x="3765176" y="42862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2" name="Oval 91"/>
          <p:cNvSpPr/>
          <p:nvPr/>
        </p:nvSpPr>
        <p:spPr>
          <a:xfrm>
            <a:off x="6189289" y="43815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000875" y="42862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4" name="TextBox 93"/>
          <p:cNvSpPr txBox="1"/>
          <p:nvPr/>
        </p:nvSpPr>
        <p:spPr>
          <a:xfrm>
            <a:off x="8765801" y="42862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5" name="Oval 94"/>
          <p:cNvSpPr/>
          <p:nvPr/>
        </p:nvSpPr>
        <p:spPr>
          <a:xfrm>
            <a:off x="11189914"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11268075"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7" name="Connector 96"/>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85750" y="46482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NaturVet</a:t>
            </a:r>
          </a:p>
        </p:txBody>
      </p:sp>
      <p:sp>
        <p:nvSpPr>
          <p:cNvPr id="100" name="TextBox 99"/>
          <p:cNvSpPr txBox="1"/>
          <p:nvPr/>
        </p:nvSpPr>
        <p:spPr>
          <a:xfrm>
            <a:off x="285750" y="48101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1" name="TextBox 100"/>
          <p:cNvSpPr txBox="1"/>
          <p:nvPr/>
        </p:nvSpPr>
        <p:spPr>
          <a:xfrm>
            <a:off x="2038350" y="46291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02" name="TextBox 101"/>
          <p:cNvSpPr txBox="1"/>
          <p:nvPr/>
        </p:nvSpPr>
        <p:spPr>
          <a:xfrm>
            <a:off x="3765176" y="46291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3" name="Oval 102"/>
          <p:cNvSpPr/>
          <p:nvPr/>
        </p:nvSpPr>
        <p:spPr>
          <a:xfrm>
            <a:off x="6189289"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7038975" y="46291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105" name="TextBox 104"/>
          <p:cNvSpPr txBox="1"/>
          <p:nvPr/>
        </p:nvSpPr>
        <p:spPr>
          <a:xfrm>
            <a:off x="8765801" y="46291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6" name="Oval 105"/>
          <p:cNvSpPr/>
          <p:nvPr/>
        </p:nvSpPr>
        <p:spPr>
          <a:xfrm>
            <a:off x="11189914"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Freeform 106"/>
          <p:cNvSpPr/>
          <p:nvPr/>
        </p:nvSpPr>
        <p:spPr>
          <a:xfrm>
            <a:off x="11268075" y="4724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8" name="Connector 107"/>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9" name="Rectangle 108"/>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85750" y="49911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Zesty Paws</a:t>
            </a:r>
          </a:p>
        </p:txBody>
      </p:sp>
      <p:sp>
        <p:nvSpPr>
          <p:cNvPr id="111" name="TextBox 110"/>
          <p:cNvSpPr txBox="1"/>
          <p:nvPr/>
        </p:nvSpPr>
        <p:spPr>
          <a:xfrm>
            <a:off x="285750" y="51530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2" name="TextBox 111"/>
          <p:cNvSpPr txBox="1"/>
          <p:nvPr/>
        </p:nvSpPr>
        <p:spPr>
          <a:xfrm>
            <a:off x="2038350" y="49720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13" name="TextBox 112"/>
          <p:cNvSpPr txBox="1"/>
          <p:nvPr/>
        </p:nvSpPr>
        <p:spPr>
          <a:xfrm>
            <a:off x="3765176" y="49720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4" name="Oval 113"/>
          <p:cNvSpPr/>
          <p:nvPr/>
        </p:nvSpPr>
        <p:spPr>
          <a:xfrm>
            <a:off x="6189289"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000875" y="49720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6" name="TextBox 115"/>
          <p:cNvSpPr txBox="1"/>
          <p:nvPr/>
        </p:nvSpPr>
        <p:spPr>
          <a:xfrm>
            <a:off x="8765801" y="49720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7" name="Oval 116"/>
          <p:cNvSpPr/>
          <p:nvPr/>
        </p:nvSpPr>
        <p:spPr>
          <a:xfrm>
            <a:off x="11189914"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11268075" y="5067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9" name="Connector 118"/>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0" name="Rectangle 119"/>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285750" y="53340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Ark Naturals</a:t>
            </a:r>
          </a:p>
        </p:txBody>
      </p:sp>
      <p:sp>
        <p:nvSpPr>
          <p:cNvPr id="122" name="TextBox 121"/>
          <p:cNvSpPr txBox="1"/>
          <p:nvPr/>
        </p:nvSpPr>
        <p:spPr>
          <a:xfrm>
            <a:off x="285750" y="54959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3" name="TextBox 122"/>
          <p:cNvSpPr txBox="1"/>
          <p:nvPr/>
        </p:nvSpPr>
        <p:spPr>
          <a:xfrm>
            <a:off x="2038350" y="53149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24" name="TextBox 123"/>
          <p:cNvSpPr txBox="1"/>
          <p:nvPr/>
        </p:nvSpPr>
        <p:spPr>
          <a:xfrm>
            <a:off x="3765176" y="53149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5" name="Oval 124"/>
          <p:cNvSpPr/>
          <p:nvPr/>
        </p:nvSpPr>
        <p:spPr>
          <a:xfrm>
            <a:off x="6189289"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7038975" y="53149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127" name="TextBox 126"/>
          <p:cNvSpPr txBox="1"/>
          <p:nvPr/>
        </p:nvSpPr>
        <p:spPr>
          <a:xfrm>
            <a:off x="8765801" y="53149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8" name="Oval 127"/>
          <p:cNvSpPr/>
          <p:nvPr/>
        </p:nvSpPr>
        <p:spPr>
          <a:xfrm>
            <a:off x="11189914"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Freeform 128"/>
          <p:cNvSpPr/>
          <p:nvPr/>
        </p:nvSpPr>
        <p:spPr>
          <a:xfrm>
            <a:off x="11268075" y="5410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0" name="Connector 129"/>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1" name="Oval 130"/>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33" name="Oval 132"/>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36" name="Oval 135"/>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Freeform 136"/>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39" name="Oval 138"/>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41" name="TextBox 140"/>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42" name="TextBox 141"/>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Momentum sits with the players running the most strategic moves; prospects combine breadth, reach, scale and pace.  Promotion and policy exposure need market and regulatory research.</a:t>
            </a:r>
          </a:p>
        </p:txBody>
      </p:sp>
      <p:sp>
        <p:nvSpPr>
          <p:cNvPr id="143" name="TextBox 14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44" name="Picture 143" descr="lock.png"/>
          <p:cNvPicPr>
            <a:picLocks noChangeAspect="1"/>
          </p:cNvPicPr>
          <p:nvPr/>
        </p:nvPicPr>
        <p:blipFill>
          <a:blip r:embed="rId4"/>
          <a:stretch>
            <a:fillRect/>
          </a:stretch>
        </p:blipFill>
        <p:spPr>
          <a:xfrm>
            <a:off x="4583289" y="2306701"/>
            <a:ext cx="128699" cy="187198"/>
          </a:xfrm>
          <a:prstGeom prst="rect">
            <a:avLst/>
          </a:prstGeom>
        </p:spPr>
      </p:pic>
      <p:pic>
        <p:nvPicPr>
          <p:cNvPr id="145" name="Picture 144" descr="lock.png"/>
          <p:cNvPicPr>
            <a:picLocks noChangeAspect="1"/>
          </p:cNvPicPr>
          <p:nvPr/>
        </p:nvPicPr>
        <p:blipFill>
          <a:blip r:embed="rId4"/>
          <a:stretch>
            <a:fillRect/>
          </a:stretch>
        </p:blipFill>
        <p:spPr>
          <a:xfrm>
            <a:off x="7818988" y="2306701"/>
            <a:ext cx="128699" cy="187198"/>
          </a:xfrm>
          <a:prstGeom prst="rect">
            <a:avLst/>
          </a:prstGeom>
        </p:spPr>
      </p:pic>
      <p:pic>
        <p:nvPicPr>
          <p:cNvPr id="146" name="Picture 145" descr="lock.png"/>
          <p:cNvPicPr>
            <a:picLocks noChangeAspect="1"/>
          </p:cNvPicPr>
          <p:nvPr/>
        </p:nvPicPr>
        <p:blipFill>
          <a:blip r:embed="rId4"/>
          <a:stretch>
            <a:fillRect/>
          </a:stretch>
        </p:blipFill>
        <p:spPr>
          <a:xfrm>
            <a:off x="9583914" y="2306701"/>
            <a:ext cx="128699" cy="187198"/>
          </a:xfrm>
          <a:prstGeom prst="rect">
            <a:avLst/>
          </a:prstGeom>
        </p:spPr>
      </p:pic>
      <p:pic>
        <p:nvPicPr>
          <p:cNvPr id="147" name="Picture 146" descr="lock.png"/>
          <p:cNvPicPr>
            <a:picLocks noChangeAspect="1"/>
          </p:cNvPicPr>
          <p:nvPr/>
        </p:nvPicPr>
        <p:blipFill>
          <a:blip r:embed="rId4"/>
          <a:stretch>
            <a:fillRect/>
          </a:stretch>
        </p:blipFill>
        <p:spPr>
          <a:xfrm>
            <a:off x="4583289" y="2649601"/>
            <a:ext cx="128699" cy="187198"/>
          </a:xfrm>
          <a:prstGeom prst="rect">
            <a:avLst/>
          </a:prstGeom>
        </p:spPr>
      </p:pic>
      <p:pic>
        <p:nvPicPr>
          <p:cNvPr id="148" name="Picture 147" descr="lock.png"/>
          <p:cNvPicPr>
            <a:picLocks noChangeAspect="1"/>
          </p:cNvPicPr>
          <p:nvPr/>
        </p:nvPicPr>
        <p:blipFill>
          <a:blip r:embed="rId4"/>
          <a:stretch>
            <a:fillRect/>
          </a:stretch>
        </p:blipFill>
        <p:spPr>
          <a:xfrm>
            <a:off x="9583914" y="2649601"/>
            <a:ext cx="128699" cy="187198"/>
          </a:xfrm>
          <a:prstGeom prst="rect">
            <a:avLst/>
          </a:prstGeom>
        </p:spPr>
      </p:pic>
      <p:pic>
        <p:nvPicPr>
          <p:cNvPr id="149" name="Picture 148" descr="lock.png"/>
          <p:cNvPicPr>
            <a:picLocks noChangeAspect="1"/>
          </p:cNvPicPr>
          <p:nvPr/>
        </p:nvPicPr>
        <p:blipFill>
          <a:blip r:embed="rId4"/>
          <a:stretch>
            <a:fillRect/>
          </a:stretch>
        </p:blipFill>
        <p:spPr>
          <a:xfrm>
            <a:off x="4583289" y="2992501"/>
            <a:ext cx="128699" cy="187198"/>
          </a:xfrm>
          <a:prstGeom prst="rect">
            <a:avLst/>
          </a:prstGeom>
        </p:spPr>
      </p:pic>
      <p:pic>
        <p:nvPicPr>
          <p:cNvPr id="150" name="Picture 149" descr="lock.png"/>
          <p:cNvPicPr>
            <a:picLocks noChangeAspect="1"/>
          </p:cNvPicPr>
          <p:nvPr/>
        </p:nvPicPr>
        <p:blipFill>
          <a:blip r:embed="rId4"/>
          <a:stretch>
            <a:fillRect/>
          </a:stretch>
        </p:blipFill>
        <p:spPr>
          <a:xfrm>
            <a:off x="7818988" y="2992501"/>
            <a:ext cx="128699" cy="187198"/>
          </a:xfrm>
          <a:prstGeom prst="rect">
            <a:avLst/>
          </a:prstGeom>
        </p:spPr>
      </p:pic>
      <p:pic>
        <p:nvPicPr>
          <p:cNvPr id="151" name="Picture 150" descr="lock.png"/>
          <p:cNvPicPr>
            <a:picLocks noChangeAspect="1"/>
          </p:cNvPicPr>
          <p:nvPr/>
        </p:nvPicPr>
        <p:blipFill>
          <a:blip r:embed="rId4"/>
          <a:stretch>
            <a:fillRect/>
          </a:stretch>
        </p:blipFill>
        <p:spPr>
          <a:xfrm>
            <a:off x="9583914" y="2992501"/>
            <a:ext cx="128699" cy="187198"/>
          </a:xfrm>
          <a:prstGeom prst="rect">
            <a:avLst/>
          </a:prstGeom>
        </p:spPr>
      </p:pic>
      <p:pic>
        <p:nvPicPr>
          <p:cNvPr id="152" name="Picture 151" descr="lock.png"/>
          <p:cNvPicPr>
            <a:picLocks noChangeAspect="1"/>
          </p:cNvPicPr>
          <p:nvPr/>
        </p:nvPicPr>
        <p:blipFill>
          <a:blip r:embed="rId4"/>
          <a:stretch>
            <a:fillRect/>
          </a:stretch>
        </p:blipFill>
        <p:spPr>
          <a:xfrm>
            <a:off x="4583289" y="3335401"/>
            <a:ext cx="128699" cy="187198"/>
          </a:xfrm>
          <a:prstGeom prst="rect">
            <a:avLst/>
          </a:prstGeom>
        </p:spPr>
      </p:pic>
      <p:pic>
        <p:nvPicPr>
          <p:cNvPr id="153" name="Picture 152" descr="lock.png"/>
          <p:cNvPicPr>
            <a:picLocks noChangeAspect="1"/>
          </p:cNvPicPr>
          <p:nvPr/>
        </p:nvPicPr>
        <p:blipFill>
          <a:blip r:embed="rId4"/>
          <a:stretch>
            <a:fillRect/>
          </a:stretch>
        </p:blipFill>
        <p:spPr>
          <a:xfrm>
            <a:off x="9583914" y="3335401"/>
            <a:ext cx="128699" cy="187198"/>
          </a:xfrm>
          <a:prstGeom prst="rect">
            <a:avLst/>
          </a:prstGeom>
        </p:spPr>
      </p:pic>
      <p:pic>
        <p:nvPicPr>
          <p:cNvPr id="154" name="Picture 153" descr="lock.png"/>
          <p:cNvPicPr>
            <a:picLocks noChangeAspect="1"/>
          </p:cNvPicPr>
          <p:nvPr/>
        </p:nvPicPr>
        <p:blipFill>
          <a:blip r:embed="rId4"/>
          <a:stretch>
            <a:fillRect/>
          </a:stretch>
        </p:blipFill>
        <p:spPr>
          <a:xfrm>
            <a:off x="4583289" y="3678301"/>
            <a:ext cx="128699" cy="187198"/>
          </a:xfrm>
          <a:prstGeom prst="rect">
            <a:avLst/>
          </a:prstGeom>
        </p:spPr>
      </p:pic>
      <p:pic>
        <p:nvPicPr>
          <p:cNvPr id="155" name="Picture 154" descr="lock.png"/>
          <p:cNvPicPr>
            <a:picLocks noChangeAspect="1"/>
          </p:cNvPicPr>
          <p:nvPr/>
        </p:nvPicPr>
        <p:blipFill>
          <a:blip r:embed="rId4"/>
          <a:stretch>
            <a:fillRect/>
          </a:stretch>
        </p:blipFill>
        <p:spPr>
          <a:xfrm>
            <a:off x="7818988" y="36783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583914" y="3678301"/>
            <a:ext cx="128699" cy="187198"/>
          </a:xfrm>
          <a:prstGeom prst="rect">
            <a:avLst/>
          </a:prstGeom>
        </p:spPr>
      </p:pic>
      <p:pic>
        <p:nvPicPr>
          <p:cNvPr id="157" name="Picture 156" descr="lock.png"/>
          <p:cNvPicPr>
            <a:picLocks noChangeAspect="1"/>
          </p:cNvPicPr>
          <p:nvPr/>
        </p:nvPicPr>
        <p:blipFill>
          <a:blip r:embed="rId4"/>
          <a:stretch>
            <a:fillRect/>
          </a:stretch>
        </p:blipFill>
        <p:spPr>
          <a:xfrm>
            <a:off x="4583289" y="4021201"/>
            <a:ext cx="128699" cy="187198"/>
          </a:xfrm>
          <a:prstGeom prst="rect">
            <a:avLst/>
          </a:prstGeom>
        </p:spPr>
      </p:pic>
      <p:pic>
        <p:nvPicPr>
          <p:cNvPr id="158" name="Picture 157" descr="lock.png"/>
          <p:cNvPicPr>
            <a:picLocks noChangeAspect="1"/>
          </p:cNvPicPr>
          <p:nvPr/>
        </p:nvPicPr>
        <p:blipFill>
          <a:blip r:embed="rId4"/>
          <a:stretch>
            <a:fillRect/>
          </a:stretch>
        </p:blipFill>
        <p:spPr>
          <a:xfrm>
            <a:off x="9583914" y="4021201"/>
            <a:ext cx="128699" cy="187198"/>
          </a:xfrm>
          <a:prstGeom prst="rect">
            <a:avLst/>
          </a:prstGeom>
        </p:spPr>
      </p:pic>
      <p:pic>
        <p:nvPicPr>
          <p:cNvPr id="159" name="Picture 158" descr="lock.png"/>
          <p:cNvPicPr>
            <a:picLocks noChangeAspect="1"/>
          </p:cNvPicPr>
          <p:nvPr/>
        </p:nvPicPr>
        <p:blipFill>
          <a:blip r:embed="rId4"/>
          <a:stretch>
            <a:fillRect/>
          </a:stretch>
        </p:blipFill>
        <p:spPr>
          <a:xfrm>
            <a:off x="4583289" y="4364101"/>
            <a:ext cx="128699" cy="187198"/>
          </a:xfrm>
          <a:prstGeom prst="rect">
            <a:avLst/>
          </a:prstGeom>
        </p:spPr>
      </p:pic>
      <p:pic>
        <p:nvPicPr>
          <p:cNvPr id="160" name="Picture 159" descr="lock.png"/>
          <p:cNvPicPr>
            <a:picLocks noChangeAspect="1"/>
          </p:cNvPicPr>
          <p:nvPr/>
        </p:nvPicPr>
        <p:blipFill>
          <a:blip r:embed="rId4"/>
          <a:stretch>
            <a:fillRect/>
          </a:stretch>
        </p:blipFill>
        <p:spPr>
          <a:xfrm>
            <a:off x="7818988" y="4364101"/>
            <a:ext cx="128699" cy="187198"/>
          </a:xfrm>
          <a:prstGeom prst="rect">
            <a:avLst/>
          </a:prstGeom>
        </p:spPr>
      </p:pic>
      <p:pic>
        <p:nvPicPr>
          <p:cNvPr id="161" name="Picture 160" descr="lock.png"/>
          <p:cNvPicPr>
            <a:picLocks noChangeAspect="1"/>
          </p:cNvPicPr>
          <p:nvPr/>
        </p:nvPicPr>
        <p:blipFill>
          <a:blip r:embed="rId4"/>
          <a:stretch>
            <a:fillRect/>
          </a:stretch>
        </p:blipFill>
        <p:spPr>
          <a:xfrm>
            <a:off x="9583914" y="4364101"/>
            <a:ext cx="128699" cy="187198"/>
          </a:xfrm>
          <a:prstGeom prst="rect">
            <a:avLst/>
          </a:prstGeom>
        </p:spPr>
      </p:pic>
      <p:pic>
        <p:nvPicPr>
          <p:cNvPr id="162" name="Picture 161" descr="lock.png"/>
          <p:cNvPicPr>
            <a:picLocks noChangeAspect="1"/>
          </p:cNvPicPr>
          <p:nvPr/>
        </p:nvPicPr>
        <p:blipFill>
          <a:blip r:embed="rId4"/>
          <a:stretch>
            <a:fillRect/>
          </a:stretch>
        </p:blipFill>
        <p:spPr>
          <a:xfrm>
            <a:off x="4583289" y="4707001"/>
            <a:ext cx="128699" cy="187198"/>
          </a:xfrm>
          <a:prstGeom prst="rect">
            <a:avLst/>
          </a:prstGeom>
        </p:spPr>
      </p:pic>
      <p:pic>
        <p:nvPicPr>
          <p:cNvPr id="163" name="Picture 162" descr="lock.png"/>
          <p:cNvPicPr>
            <a:picLocks noChangeAspect="1"/>
          </p:cNvPicPr>
          <p:nvPr/>
        </p:nvPicPr>
        <p:blipFill>
          <a:blip r:embed="rId4"/>
          <a:stretch>
            <a:fillRect/>
          </a:stretch>
        </p:blipFill>
        <p:spPr>
          <a:xfrm>
            <a:off x="9583914" y="4707001"/>
            <a:ext cx="128699" cy="187198"/>
          </a:xfrm>
          <a:prstGeom prst="rect">
            <a:avLst/>
          </a:prstGeom>
        </p:spPr>
      </p:pic>
      <p:pic>
        <p:nvPicPr>
          <p:cNvPr id="164" name="Picture 163" descr="lock.png"/>
          <p:cNvPicPr>
            <a:picLocks noChangeAspect="1"/>
          </p:cNvPicPr>
          <p:nvPr/>
        </p:nvPicPr>
        <p:blipFill>
          <a:blip r:embed="rId4"/>
          <a:stretch>
            <a:fillRect/>
          </a:stretch>
        </p:blipFill>
        <p:spPr>
          <a:xfrm>
            <a:off x="4583289" y="5049901"/>
            <a:ext cx="128699" cy="187198"/>
          </a:xfrm>
          <a:prstGeom prst="rect">
            <a:avLst/>
          </a:prstGeom>
        </p:spPr>
      </p:pic>
      <p:pic>
        <p:nvPicPr>
          <p:cNvPr id="165" name="Picture 164" descr="lock.png"/>
          <p:cNvPicPr>
            <a:picLocks noChangeAspect="1"/>
          </p:cNvPicPr>
          <p:nvPr/>
        </p:nvPicPr>
        <p:blipFill>
          <a:blip r:embed="rId4"/>
          <a:stretch>
            <a:fillRect/>
          </a:stretch>
        </p:blipFill>
        <p:spPr>
          <a:xfrm>
            <a:off x="7818988" y="50499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583914" y="5049901"/>
            <a:ext cx="128699" cy="187198"/>
          </a:xfrm>
          <a:prstGeom prst="rect">
            <a:avLst/>
          </a:prstGeom>
        </p:spPr>
      </p:pic>
      <p:pic>
        <p:nvPicPr>
          <p:cNvPr id="167" name="Picture 166" descr="lock.png"/>
          <p:cNvPicPr>
            <a:picLocks noChangeAspect="1"/>
          </p:cNvPicPr>
          <p:nvPr/>
        </p:nvPicPr>
        <p:blipFill>
          <a:blip r:embed="rId4"/>
          <a:stretch>
            <a:fillRect/>
          </a:stretch>
        </p:blipFill>
        <p:spPr>
          <a:xfrm>
            <a:off x="4583289" y="5392801"/>
            <a:ext cx="128699" cy="187198"/>
          </a:xfrm>
          <a:prstGeom prst="rect">
            <a:avLst/>
          </a:prstGeom>
        </p:spPr>
      </p:pic>
      <p:pic>
        <p:nvPicPr>
          <p:cNvPr id="168" name="Picture 167" descr="lock.png"/>
          <p:cNvPicPr>
            <a:picLocks noChangeAspect="1"/>
          </p:cNvPicPr>
          <p:nvPr/>
        </p:nvPicPr>
        <p:blipFill>
          <a:blip r:embed="rId4"/>
          <a:stretch>
            <a:fillRect/>
          </a:stretch>
        </p:blipFill>
        <p:spPr>
          <a:xfrm>
            <a:off x="9583914" y="5392801"/>
            <a:ext cx="128699" cy="187198"/>
          </a:xfrm>
          <a:prstGeom prst="rect">
            <a:avLst/>
          </a:prstGeom>
        </p:spPr>
      </p:pic>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Success Factors and Composite Ranking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Five weighted success factors and the composite ranking they produce</a:t>
            </a:r>
          </a:p>
        </p:txBody>
      </p:sp>
      <p:sp>
        <p:nvSpPr>
          <p:cNvPr id="10" name="TextBox 9"/>
          <p:cNvSpPr txBox="1"/>
          <p:nvPr/>
        </p:nvSpPr>
        <p:spPr>
          <a:xfrm>
            <a:off x="21336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1. Segment breadth</a:t>
            </a:r>
          </a:p>
        </p:txBody>
      </p:sp>
      <p:sp>
        <p:nvSpPr>
          <p:cNvPr id="11" name="TextBox 10"/>
          <p:cNvSpPr txBox="1"/>
          <p:nvPr/>
        </p:nvSpPr>
        <p:spPr>
          <a:xfrm>
            <a:off x="21336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2" name="TextBox 11"/>
          <p:cNvSpPr txBox="1"/>
          <p:nvPr/>
        </p:nvSpPr>
        <p:spPr>
          <a:xfrm>
            <a:off x="21336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Lead or be active in several sub-segments</a:t>
            </a:r>
          </a:p>
        </p:txBody>
      </p:sp>
      <p:sp>
        <p:nvSpPr>
          <p:cNvPr id="13" name="TextBox 12"/>
          <p:cNvSpPr txBox="1"/>
          <p:nvPr/>
        </p:nvSpPr>
        <p:spPr>
          <a:xfrm>
            <a:off x="37909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2. Scale and share</a:t>
            </a:r>
          </a:p>
        </p:txBody>
      </p:sp>
      <p:sp>
        <p:nvSpPr>
          <p:cNvPr id="14" name="TextBox 13"/>
          <p:cNvSpPr txBox="1"/>
          <p:nvPr/>
        </p:nvSpPr>
        <p:spPr>
          <a:xfrm>
            <a:off x="37909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5" name="TextBox 14"/>
          <p:cNvSpPr txBox="1"/>
          <p:nvPr/>
        </p:nvSpPr>
        <p:spPr>
          <a:xfrm>
            <a:off x="37909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position and share of market value</a:t>
            </a:r>
          </a:p>
        </p:txBody>
      </p:sp>
      <p:sp>
        <p:nvSpPr>
          <p:cNvPr id="16" name="TextBox 15"/>
          <p:cNvSpPr txBox="1"/>
          <p:nvPr/>
        </p:nvSpPr>
        <p:spPr>
          <a:xfrm>
            <a:off x="54483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3. Geographic reach</a:t>
            </a:r>
          </a:p>
        </p:txBody>
      </p:sp>
      <p:sp>
        <p:nvSpPr>
          <p:cNvPr id="17" name="TextBox 16"/>
          <p:cNvSpPr txBox="1"/>
          <p:nvPr/>
        </p:nvSpPr>
        <p:spPr>
          <a:xfrm>
            <a:off x="54483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8" name="TextBox 17"/>
          <p:cNvSpPr txBox="1"/>
          <p:nvPr/>
        </p:nvSpPr>
        <p:spPr>
          <a:xfrm>
            <a:off x="54483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regional or single-market footprint</a:t>
            </a:r>
          </a:p>
        </p:txBody>
      </p:sp>
      <p:sp>
        <p:nvSpPr>
          <p:cNvPr id="19" name="TextBox 18"/>
          <p:cNvSpPr txBox="1"/>
          <p:nvPr/>
        </p:nvSpPr>
        <p:spPr>
          <a:xfrm>
            <a:off x="71056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4. Innovation pipeline</a:t>
            </a:r>
          </a:p>
        </p:txBody>
      </p:sp>
      <p:sp>
        <p:nvSpPr>
          <p:cNvPr id="20" name="TextBox 19"/>
          <p:cNvSpPr txBox="1"/>
          <p:nvPr/>
        </p:nvSpPr>
        <p:spPr>
          <a:xfrm>
            <a:off x="71056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21" name="TextBox 20"/>
          <p:cNvSpPr txBox="1"/>
          <p:nvPr/>
        </p:nvSpPr>
        <p:spPr>
          <a:xfrm>
            <a:off x="71056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product development in motion</a:t>
            </a:r>
          </a:p>
        </p:txBody>
      </p:sp>
      <p:sp>
        <p:nvSpPr>
          <p:cNvPr id="22" name="TextBox 21"/>
          <p:cNvSpPr txBox="1"/>
          <p:nvPr/>
        </p:nvSpPr>
        <p:spPr>
          <a:xfrm>
            <a:off x="87630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5. Strategic momentum</a:t>
            </a:r>
          </a:p>
        </p:txBody>
      </p:sp>
      <p:sp>
        <p:nvSpPr>
          <p:cNvPr id="23" name="TextBox 22"/>
          <p:cNvSpPr txBox="1"/>
          <p:nvPr/>
        </p:nvSpPr>
        <p:spPr>
          <a:xfrm>
            <a:off x="87630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24" name="TextBox 23"/>
          <p:cNvSpPr txBox="1"/>
          <p:nvPr/>
        </p:nvSpPr>
        <p:spPr>
          <a:xfrm>
            <a:off x="87630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Number of active strategic moves</a:t>
            </a:r>
          </a:p>
        </p:txBody>
      </p:sp>
      <p:sp>
        <p:nvSpPr>
          <p:cNvPr id="25" name="TextBox 24"/>
          <p:cNvSpPr txBox="1"/>
          <p:nvPr/>
        </p:nvSpPr>
        <p:spPr>
          <a:xfrm>
            <a:off x="10420350" y="1047750"/>
            <a:ext cx="1619250" cy="171450"/>
          </a:xfrm>
          <a:prstGeom prst="rect">
            <a:avLst/>
          </a:prstGeom>
          <a:noFill/>
        </p:spPr>
        <p:txBody>
          <a:bodyPr wrap="square" lIns="28575" rIns="28575" tIns="9525" bIns="9525" anchor="t">
            <a:spAutoFit/>
          </a:bodyPr>
          <a:lstStyle/>
          <a:p>
            <a:pPr algn="l"/>
            <a:r>
              <a:rPr sz="1100" b="1">
                <a:solidFill>
                  <a:srgbClr val="0F2D52"/>
                </a:solidFill>
                <a:latin typeface="Calibri"/>
              </a:rPr>
              <a:t>Composite</a:t>
            </a:r>
          </a:p>
        </p:txBody>
      </p:sp>
      <p:sp>
        <p:nvSpPr>
          <p:cNvPr id="26" name="TextBox 25"/>
          <p:cNvSpPr txBox="1"/>
          <p:nvPr/>
        </p:nvSpPr>
        <p:spPr>
          <a:xfrm>
            <a:off x="10420350" y="1219200"/>
            <a:ext cx="1619250" cy="152400"/>
          </a:xfrm>
          <a:prstGeom prst="rect">
            <a:avLst/>
          </a:prstGeom>
          <a:noFill/>
        </p:spPr>
        <p:txBody>
          <a:bodyPr wrap="square" lIns="28575" rIns="28575" tIns="9525" bIns="9525" anchor="t">
            <a:spAutoFit/>
          </a:bodyPr>
          <a:lstStyle/>
          <a:p>
            <a:pPr algn="l"/>
            <a:r>
              <a:rPr sz="1100" b="0">
                <a:solidFill>
                  <a:srgbClr val="1F2933"/>
                </a:solidFill>
                <a:latin typeface="Calibri"/>
              </a:rPr>
              <a:t>weighted 0 to 3</a:t>
            </a:r>
          </a:p>
        </p:txBody>
      </p:sp>
      <p:cxnSp>
        <p:nvCxnSpPr>
          <p:cNvPr id="27" name="Connector 26"/>
          <p:cNvCxnSpPr/>
          <p:nvPr/>
        </p:nvCxnSpPr>
        <p:spPr>
          <a:xfrm>
            <a:off x="190500" y="17526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190500" y="18478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5750" y="1809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VetriScience</a:t>
            </a:r>
          </a:p>
        </p:txBody>
      </p:sp>
      <p:sp>
        <p:nvSpPr>
          <p:cNvPr id="30" name="Oval 29"/>
          <p:cNvSpPr/>
          <p:nvPr/>
        </p:nvSpPr>
        <p:spPr>
          <a:xfrm>
            <a:off x="28479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053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1626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200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4773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420350" y="1895475"/>
            <a:ext cx="11430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601450" y="1809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37" name="Connector 36"/>
          <p:cNvCxnSpPr/>
          <p:nvPr/>
        </p:nvCxnSpPr>
        <p:spPr>
          <a:xfrm>
            <a:off x="190500" y="2114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90500" y="21526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5750" y="2114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Standard Process</a:t>
            </a:r>
          </a:p>
        </p:txBody>
      </p:sp>
      <p:sp>
        <p:nvSpPr>
          <p:cNvPr id="40" name="Oval 39"/>
          <p:cNvSpPr/>
          <p:nvPr/>
        </p:nvSpPr>
        <p:spPr>
          <a:xfrm>
            <a:off x="28479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50532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1626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820025" y="2190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7896225" y="2190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4773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420350" y="2200275"/>
            <a:ext cx="1085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544300" y="2114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48" name="Connector 47"/>
          <p:cNvCxnSpPr/>
          <p:nvPr/>
        </p:nvCxnSpPr>
        <p:spPr>
          <a:xfrm>
            <a:off x="190500" y="2419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190500" y="24574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5750" y="2419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Dr. Fossum's</a:t>
            </a:r>
          </a:p>
        </p:txBody>
      </p:sp>
      <p:sp>
        <p:nvSpPr>
          <p:cNvPr id="51" name="Oval 50"/>
          <p:cNvSpPr/>
          <p:nvPr/>
        </p:nvSpPr>
        <p:spPr>
          <a:xfrm>
            <a:off x="28479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50532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1626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7820025" y="2495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7896225" y="2495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94773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420350" y="2505075"/>
            <a:ext cx="1085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544300" y="2419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59" name="Connector 58"/>
          <p:cNvCxnSpPr/>
          <p:nvPr/>
        </p:nvCxnSpPr>
        <p:spPr>
          <a:xfrm>
            <a:off x="190500" y="2724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190500" y="27622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85750" y="27241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Nestlé Purina PetCare</a:t>
            </a:r>
          </a:p>
        </p:txBody>
      </p:sp>
      <p:sp>
        <p:nvSpPr>
          <p:cNvPr id="62" name="Oval 61"/>
          <p:cNvSpPr/>
          <p:nvPr/>
        </p:nvSpPr>
        <p:spPr>
          <a:xfrm>
            <a:off x="2847975" y="2800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2924175" y="2800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5053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61626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78200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94773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0420350" y="2809875"/>
            <a:ext cx="10287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487150" y="27241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70" name="Connector 69"/>
          <p:cNvCxnSpPr/>
          <p:nvPr/>
        </p:nvCxnSpPr>
        <p:spPr>
          <a:xfrm>
            <a:off x="190500" y="3028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190500" y="30670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85750" y="30289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Senior Dogs Club</a:t>
            </a:r>
          </a:p>
        </p:txBody>
      </p:sp>
      <p:sp>
        <p:nvSpPr>
          <p:cNvPr id="73" name="Oval 72"/>
          <p:cNvSpPr/>
          <p:nvPr/>
        </p:nvSpPr>
        <p:spPr>
          <a:xfrm>
            <a:off x="28479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29241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450532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458152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1626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62388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782002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947737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0420350" y="3114675"/>
            <a:ext cx="8763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1334750" y="30289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83" name="Connector 82"/>
          <p:cNvCxnSpPr/>
          <p:nvPr/>
        </p:nvCxnSpPr>
        <p:spPr>
          <a:xfrm>
            <a:off x="190500" y="3333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4" name="Rectangle 83"/>
          <p:cNvSpPr/>
          <p:nvPr/>
        </p:nvSpPr>
        <p:spPr>
          <a:xfrm>
            <a:off x="190500" y="33718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85750" y="3333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PetHeal</a:t>
            </a:r>
          </a:p>
        </p:txBody>
      </p:sp>
      <p:sp>
        <p:nvSpPr>
          <p:cNvPr id="86" name="Oval 85"/>
          <p:cNvSpPr/>
          <p:nvPr/>
        </p:nvSpPr>
        <p:spPr>
          <a:xfrm>
            <a:off x="28479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reeform 86"/>
          <p:cNvSpPr/>
          <p:nvPr/>
        </p:nvSpPr>
        <p:spPr>
          <a:xfrm>
            <a:off x="29241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45053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45815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61626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reeform 90"/>
          <p:cNvSpPr/>
          <p:nvPr/>
        </p:nvSpPr>
        <p:spPr>
          <a:xfrm>
            <a:off x="62388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78200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78962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9477375" y="3409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420350" y="3419475"/>
            <a:ext cx="8191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1277600" y="3333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97" name="Connector 96"/>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190500" y="36766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85750" y="3638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NaturVet</a:t>
            </a:r>
          </a:p>
        </p:txBody>
      </p:sp>
      <p:sp>
        <p:nvSpPr>
          <p:cNvPr id="100" name="Oval 99"/>
          <p:cNvSpPr/>
          <p:nvPr/>
        </p:nvSpPr>
        <p:spPr>
          <a:xfrm>
            <a:off x="28479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Freeform 100"/>
          <p:cNvSpPr/>
          <p:nvPr/>
        </p:nvSpPr>
        <p:spPr>
          <a:xfrm>
            <a:off x="2924175" y="3714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450532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reeform 102"/>
          <p:cNvSpPr/>
          <p:nvPr/>
        </p:nvSpPr>
        <p:spPr>
          <a:xfrm>
            <a:off x="458152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61626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623887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782002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47737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0420350" y="37242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1182350" y="3638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10" name="Connector 109"/>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1" name="Rectangle 110"/>
          <p:cNvSpPr/>
          <p:nvPr/>
        </p:nvSpPr>
        <p:spPr>
          <a:xfrm>
            <a:off x="190500" y="39814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285750" y="3943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Ark Naturals</a:t>
            </a:r>
          </a:p>
        </p:txBody>
      </p:sp>
      <p:sp>
        <p:nvSpPr>
          <p:cNvPr id="113" name="Oval 112"/>
          <p:cNvSpPr/>
          <p:nvPr/>
        </p:nvSpPr>
        <p:spPr>
          <a:xfrm>
            <a:off x="28479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Freeform 113"/>
          <p:cNvSpPr/>
          <p:nvPr/>
        </p:nvSpPr>
        <p:spPr>
          <a:xfrm>
            <a:off x="2924175" y="4019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450532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Freeform 115"/>
          <p:cNvSpPr/>
          <p:nvPr/>
        </p:nvSpPr>
        <p:spPr>
          <a:xfrm>
            <a:off x="458152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61626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623887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782002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947737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0420350" y="40290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1182350" y="3943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23" name="Connector 122"/>
          <p:cNvCxnSpPr/>
          <p:nvPr/>
        </p:nvCxnSpPr>
        <p:spPr>
          <a:xfrm>
            <a:off x="190500" y="4248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4" name="Rectangle 123"/>
          <p:cNvSpPr/>
          <p:nvPr/>
        </p:nvSpPr>
        <p:spPr>
          <a:xfrm>
            <a:off x="190500" y="42862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285750" y="42481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VISYO Corporation</a:t>
            </a:r>
          </a:p>
        </p:txBody>
      </p:sp>
      <p:sp>
        <p:nvSpPr>
          <p:cNvPr id="126" name="Oval 125"/>
          <p:cNvSpPr/>
          <p:nvPr/>
        </p:nvSpPr>
        <p:spPr>
          <a:xfrm>
            <a:off x="28479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Freeform 126"/>
          <p:cNvSpPr/>
          <p:nvPr/>
        </p:nvSpPr>
        <p:spPr>
          <a:xfrm>
            <a:off x="292417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45053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Freeform 128"/>
          <p:cNvSpPr/>
          <p:nvPr/>
        </p:nvSpPr>
        <p:spPr>
          <a:xfrm>
            <a:off x="458152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61626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Freeform 130"/>
          <p:cNvSpPr/>
          <p:nvPr/>
        </p:nvSpPr>
        <p:spPr>
          <a:xfrm>
            <a:off x="623887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78200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Freeform 132"/>
          <p:cNvSpPr/>
          <p:nvPr/>
        </p:nvSpPr>
        <p:spPr>
          <a:xfrm>
            <a:off x="789622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9477375" y="4324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0420350" y="43338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11125200" y="42481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37" name="Connector 136"/>
          <p:cNvCxnSpPr/>
          <p:nvPr/>
        </p:nvCxnSpPr>
        <p:spPr>
          <a:xfrm>
            <a:off x="190500" y="4552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8" name="Rectangle 137"/>
          <p:cNvSpPr/>
          <p:nvPr/>
        </p:nvSpPr>
        <p:spPr>
          <a:xfrm>
            <a:off x="190500" y="45910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285750" y="45529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Zesty Paws</a:t>
            </a:r>
          </a:p>
        </p:txBody>
      </p:sp>
      <p:sp>
        <p:nvSpPr>
          <p:cNvPr id="140" name="Oval 139"/>
          <p:cNvSpPr/>
          <p:nvPr/>
        </p:nvSpPr>
        <p:spPr>
          <a:xfrm>
            <a:off x="28479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Freeform 140"/>
          <p:cNvSpPr/>
          <p:nvPr/>
        </p:nvSpPr>
        <p:spPr>
          <a:xfrm>
            <a:off x="2924175" y="4629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45053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Freeform 142"/>
          <p:cNvSpPr/>
          <p:nvPr/>
        </p:nvSpPr>
        <p:spPr>
          <a:xfrm>
            <a:off x="458152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61626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Freeform 144"/>
          <p:cNvSpPr/>
          <p:nvPr/>
        </p:nvSpPr>
        <p:spPr>
          <a:xfrm>
            <a:off x="623887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78200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Freeform 146"/>
          <p:cNvSpPr/>
          <p:nvPr/>
        </p:nvSpPr>
        <p:spPr>
          <a:xfrm>
            <a:off x="7896225" y="4629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9477375" y="4629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10420350" y="46386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1125200" y="45529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51" name="Connector 150"/>
          <p:cNvCxnSpPr/>
          <p:nvPr/>
        </p:nvCxnSpPr>
        <p:spPr>
          <a:xfrm>
            <a:off x="190500" y="4857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2" name="Oval 151"/>
          <p:cNvSpPr/>
          <p:nvPr/>
        </p:nvSpPr>
        <p:spPr>
          <a:xfrm>
            <a:off x="200025" y="49339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38100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54" name="Oval 153"/>
          <p:cNvSpPr/>
          <p:nvPr/>
        </p:nvSpPr>
        <p:spPr>
          <a:xfrm>
            <a:off x="2065020"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Freeform 154"/>
          <p:cNvSpPr/>
          <p:nvPr/>
        </p:nvSpPr>
        <p:spPr>
          <a:xfrm>
            <a:off x="2133600" y="49339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2245995"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57" name="Oval 156"/>
          <p:cNvSpPr/>
          <p:nvPr/>
        </p:nvSpPr>
        <p:spPr>
          <a:xfrm>
            <a:off x="367855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Freeform 157"/>
          <p:cNvSpPr/>
          <p:nvPr/>
        </p:nvSpPr>
        <p:spPr>
          <a:xfrm>
            <a:off x="3743325" y="49339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385953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60" name="Oval 159"/>
          <p:cNvSpPr/>
          <p:nvPr/>
        </p:nvSpPr>
        <p:spPr>
          <a:xfrm>
            <a:off x="510349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528447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62" name="TextBox 161"/>
          <p:cNvSpPr txBox="1"/>
          <p:nvPr/>
        </p:nvSpPr>
        <p:spPr>
          <a:xfrm>
            <a:off x="190500" y="51435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STRATEGIC GROUPS</a:t>
            </a:r>
          </a:p>
        </p:txBody>
      </p:sp>
      <p:sp>
        <p:nvSpPr>
          <p:cNvPr id="163" name="Rectangle 162"/>
          <p:cNvSpPr/>
          <p:nvPr/>
        </p:nvSpPr>
        <p:spPr>
          <a:xfrm>
            <a:off x="190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190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165" name="TextBox 164"/>
          <p:cNvSpPr txBox="1"/>
          <p:nvPr/>
        </p:nvSpPr>
        <p:spPr>
          <a:xfrm>
            <a:off x="190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VetriScience, Standard Process, Dr. Fossum's, Nestlé Purina PetCare</a:t>
            </a:r>
          </a:p>
        </p:txBody>
      </p:sp>
      <p:sp>
        <p:nvSpPr>
          <p:cNvPr id="166" name="TextBox 165"/>
          <p:cNvSpPr txBox="1"/>
          <p:nvPr/>
        </p:nvSpPr>
        <p:spPr>
          <a:xfrm>
            <a:off x="190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scale and share; weakest on innovation pipeline.</a:t>
            </a:r>
          </a:p>
        </p:txBody>
      </p:sp>
      <p:sp>
        <p:nvSpPr>
          <p:cNvPr id="167" name="Rectangle 166"/>
          <p:cNvSpPr/>
          <p:nvPr/>
        </p:nvSpPr>
        <p:spPr>
          <a:xfrm>
            <a:off x="41910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41910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169" name="TextBox 168"/>
          <p:cNvSpPr txBox="1"/>
          <p:nvPr/>
        </p:nvSpPr>
        <p:spPr>
          <a:xfrm>
            <a:off x="41910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Senior Dogs Club, PetHeal</a:t>
            </a:r>
          </a:p>
        </p:txBody>
      </p:sp>
      <p:sp>
        <p:nvSpPr>
          <p:cNvPr id="170" name="TextBox 169"/>
          <p:cNvSpPr txBox="1"/>
          <p:nvPr/>
        </p:nvSpPr>
        <p:spPr>
          <a:xfrm>
            <a:off x="41910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segment breadth.</a:t>
            </a:r>
          </a:p>
        </p:txBody>
      </p:sp>
      <p:sp>
        <p:nvSpPr>
          <p:cNvPr id="171" name="Rectangle 170"/>
          <p:cNvSpPr/>
          <p:nvPr/>
        </p:nvSpPr>
        <p:spPr>
          <a:xfrm>
            <a:off x="8191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8191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173" name="TextBox 172"/>
          <p:cNvSpPr txBox="1"/>
          <p:nvPr/>
        </p:nvSpPr>
        <p:spPr>
          <a:xfrm>
            <a:off x="8191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NaturVet, Ark Naturals, VISYO Corporation, Zesty Paws</a:t>
            </a:r>
          </a:p>
        </p:txBody>
      </p:sp>
      <p:sp>
        <p:nvSpPr>
          <p:cNvPr id="174" name="TextBox 173"/>
          <p:cNvSpPr txBox="1"/>
          <p:nvPr/>
        </p:nvSpPr>
        <p:spPr>
          <a:xfrm>
            <a:off x="8191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scale and share.</a:t>
            </a:r>
          </a:p>
        </p:txBody>
      </p:sp>
      <p:sp>
        <p:nvSpPr>
          <p:cNvPr id="175" name="TextBox 17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6" name="Picture 175" descr="lock.png"/>
          <p:cNvPicPr>
            <a:picLocks noChangeAspect="1"/>
          </p:cNvPicPr>
          <p:nvPr/>
        </p:nvPicPr>
        <p:blipFill>
          <a:blip r:embed="rId4"/>
          <a:stretch>
            <a:fillRect/>
          </a:stretch>
        </p:blipFill>
        <p:spPr>
          <a:xfrm>
            <a:off x="11746650" y="1868551"/>
            <a:ext cx="128699" cy="187198"/>
          </a:xfrm>
          <a:prstGeom prst="rect">
            <a:avLst/>
          </a:prstGeom>
        </p:spPr>
      </p:pic>
      <p:pic>
        <p:nvPicPr>
          <p:cNvPr id="177" name="Picture 176" descr="lock.png"/>
          <p:cNvPicPr>
            <a:picLocks noChangeAspect="1"/>
          </p:cNvPicPr>
          <p:nvPr/>
        </p:nvPicPr>
        <p:blipFill>
          <a:blip r:embed="rId4"/>
          <a:stretch>
            <a:fillRect/>
          </a:stretch>
        </p:blipFill>
        <p:spPr>
          <a:xfrm>
            <a:off x="11689500" y="2173351"/>
            <a:ext cx="128699" cy="187198"/>
          </a:xfrm>
          <a:prstGeom prst="rect">
            <a:avLst/>
          </a:prstGeom>
        </p:spPr>
      </p:pic>
      <p:pic>
        <p:nvPicPr>
          <p:cNvPr id="178" name="Picture 177" descr="lock.png"/>
          <p:cNvPicPr>
            <a:picLocks noChangeAspect="1"/>
          </p:cNvPicPr>
          <p:nvPr/>
        </p:nvPicPr>
        <p:blipFill>
          <a:blip r:embed="rId4"/>
          <a:stretch>
            <a:fillRect/>
          </a:stretch>
        </p:blipFill>
        <p:spPr>
          <a:xfrm>
            <a:off x="11689500" y="2478151"/>
            <a:ext cx="128699" cy="187198"/>
          </a:xfrm>
          <a:prstGeom prst="rect">
            <a:avLst/>
          </a:prstGeom>
        </p:spPr>
      </p:pic>
      <p:pic>
        <p:nvPicPr>
          <p:cNvPr id="179" name="Picture 178" descr="lock.png"/>
          <p:cNvPicPr>
            <a:picLocks noChangeAspect="1"/>
          </p:cNvPicPr>
          <p:nvPr/>
        </p:nvPicPr>
        <p:blipFill>
          <a:blip r:embed="rId4"/>
          <a:stretch>
            <a:fillRect/>
          </a:stretch>
        </p:blipFill>
        <p:spPr>
          <a:xfrm>
            <a:off x="11632350" y="2782951"/>
            <a:ext cx="128699" cy="187198"/>
          </a:xfrm>
          <a:prstGeom prst="rect">
            <a:avLst/>
          </a:prstGeom>
        </p:spPr>
      </p:pic>
      <p:pic>
        <p:nvPicPr>
          <p:cNvPr id="180" name="Picture 179" descr="lock.png"/>
          <p:cNvPicPr>
            <a:picLocks noChangeAspect="1"/>
          </p:cNvPicPr>
          <p:nvPr/>
        </p:nvPicPr>
        <p:blipFill>
          <a:blip r:embed="rId4"/>
          <a:stretch>
            <a:fillRect/>
          </a:stretch>
        </p:blipFill>
        <p:spPr>
          <a:xfrm>
            <a:off x="11479950" y="3087751"/>
            <a:ext cx="128699" cy="187198"/>
          </a:xfrm>
          <a:prstGeom prst="rect">
            <a:avLst/>
          </a:prstGeom>
        </p:spPr>
      </p:pic>
      <p:pic>
        <p:nvPicPr>
          <p:cNvPr id="181" name="Picture 180" descr="lock.png"/>
          <p:cNvPicPr>
            <a:picLocks noChangeAspect="1"/>
          </p:cNvPicPr>
          <p:nvPr/>
        </p:nvPicPr>
        <p:blipFill>
          <a:blip r:embed="rId4"/>
          <a:stretch>
            <a:fillRect/>
          </a:stretch>
        </p:blipFill>
        <p:spPr>
          <a:xfrm>
            <a:off x="11422800" y="3392551"/>
            <a:ext cx="128699" cy="187198"/>
          </a:xfrm>
          <a:prstGeom prst="rect">
            <a:avLst/>
          </a:prstGeom>
        </p:spPr>
      </p:pic>
      <p:pic>
        <p:nvPicPr>
          <p:cNvPr id="182" name="Picture 181" descr="lock.png"/>
          <p:cNvPicPr>
            <a:picLocks noChangeAspect="1"/>
          </p:cNvPicPr>
          <p:nvPr/>
        </p:nvPicPr>
        <p:blipFill>
          <a:blip r:embed="rId4"/>
          <a:stretch>
            <a:fillRect/>
          </a:stretch>
        </p:blipFill>
        <p:spPr>
          <a:xfrm>
            <a:off x="11327550" y="3697351"/>
            <a:ext cx="128699" cy="187198"/>
          </a:xfrm>
          <a:prstGeom prst="rect">
            <a:avLst/>
          </a:prstGeom>
        </p:spPr>
      </p:pic>
      <p:pic>
        <p:nvPicPr>
          <p:cNvPr id="183" name="Picture 182" descr="lock.png"/>
          <p:cNvPicPr>
            <a:picLocks noChangeAspect="1"/>
          </p:cNvPicPr>
          <p:nvPr/>
        </p:nvPicPr>
        <p:blipFill>
          <a:blip r:embed="rId4"/>
          <a:stretch>
            <a:fillRect/>
          </a:stretch>
        </p:blipFill>
        <p:spPr>
          <a:xfrm>
            <a:off x="11327550" y="4002151"/>
            <a:ext cx="128699" cy="187198"/>
          </a:xfrm>
          <a:prstGeom prst="rect">
            <a:avLst/>
          </a:prstGeom>
        </p:spPr>
      </p:pic>
      <p:pic>
        <p:nvPicPr>
          <p:cNvPr id="184" name="Picture 183" descr="lock.png"/>
          <p:cNvPicPr>
            <a:picLocks noChangeAspect="1"/>
          </p:cNvPicPr>
          <p:nvPr/>
        </p:nvPicPr>
        <p:blipFill>
          <a:blip r:embed="rId4"/>
          <a:stretch>
            <a:fillRect/>
          </a:stretch>
        </p:blipFill>
        <p:spPr>
          <a:xfrm>
            <a:off x="11270400" y="4306951"/>
            <a:ext cx="128699" cy="187198"/>
          </a:xfrm>
          <a:prstGeom prst="rect">
            <a:avLst/>
          </a:prstGeom>
        </p:spPr>
      </p:pic>
      <p:pic>
        <p:nvPicPr>
          <p:cNvPr id="185" name="Picture 184" descr="lock.png"/>
          <p:cNvPicPr>
            <a:picLocks noChangeAspect="1"/>
          </p:cNvPicPr>
          <p:nvPr/>
        </p:nvPicPr>
        <p:blipFill>
          <a:blip r:embed="rId4"/>
          <a:stretch>
            <a:fillRect/>
          </a:stretch>
        </p:blipFill>
        <p:spPr>
          <a:xfrm>
            <a:off x="11270400" y="4611751"/>
            <a:ext cx="128699" cy="187198"/>
          </a:xfrm>
          <a:prstGeom prst="rect">
            <a:avLst/>
          </a:prstGeom>
        </p:spPr>
      </p:pic>
      <p:sp>
        <p:nvSpPr>
          <p:cNvPr id="186" name="TextBox 185"/>
          <p:cNvSpPr txBox="1"/>
          <p:nvPr/>
        </p:nvSpPr>
        <p:spPr>
          <a:xfrm>
            <a:off x="21621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87" name="Picture 186" descr="lock.png"/>
          <p:cNvPicPr>
            <a:picLocks noChangeAspect="1"/>
          </p:cNvPicPr>
          <p:nvPr/>
        </p:nvPicPr>
        <p:blipFill>
          <a:blip r:embed="rId4"/>
          <a:stretch>
            <a:fillRect/>
          </a:stretch>
        </p:blipFill>
        <p:spPr>
          <a:xfrm>
            <a:off x="2482959" y="1212159"/>
            <a:ext cx="92663" cy="134782"/>
          </a:xfrm>
          <a:prstGeom prst="rect">
            <a:avLst/>
          </a:prstGeom>
        </p:spPr>
      </p:pic>
      <p:sp>
        <p:nvSpPr>
          <p:cNvPr id="188" name="TextBox 187"/>
          <p:cNvSpPr txBox="1"/>
          <p:nvPr/>
        </p:nvSpPr>
        <p:spPr>
          <a:xfrm>
            <a:off x="38195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89" name="Picture 188" descr="lock.png"/>
          <p:cNvPicPr>
            <a:picLocks noChangeAspect="1"/>
          </p:cNvPicPr>
          <p:nvPr/>
        </p:nvPicPr>
        <p:blipFill>
          <a:blip r:embed="rId4"/>
          <a:stretch>
            <a:fillRect/>
          </a:stretch>
        </p:blipFill>
        <p:spPr>
          <a:xfrm>
            <a:off x="4140309" y="1212159"/>
            <a:ext cx="92663" cy="134782"/>
          </a:xfrm>
          <a:prstGeom prst="rect">
            <a:avLst/>
          </a:prstGeom>
        </p:spPr>
      </p:pic>
      <p:sp>
        <p:nvSpPr>
          <p:cNvPr id="190" name="TextBox 189"/>
          <p:cNvSpPr txBox="1"/>
          <p:nvPr/>
        </p:nvSpPr>
        <p:spPr>
          <a:xfrm>
            <a:off x="54768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1" name="Picture 190" descr="lock.png"/>
          <p:cNvPicPr>
            <a:picLocks noChangeAspect="1"/>
          </p:cNvPicPr>
          <p:nvPr/>
        </p:nvPicPr>
        <p:blipFill>
          <a:blip r:embed="rId4"/>
          <a:stretch>
            <a:fillRect/>
          </a:stretch>
        </p:blipFill>
        <p:spPr>
          <a:xfrm>
            <a:off x="5797659" y="1212159"/>
            <a:ext cx="92663" cy="134782"/>
          </a:xfrm>
          <a:prstGeom prst="rect">
            <a:avLst/>
          </a:prstGeom>
        </p:spPr>
      </p:pic>
      <p:sp>
        <p:nvSpPr>
          <p:cNvPr id="192" name="TextBox 191"/>
          <p:cNvSpPr txBox="1"/>
          <p:nvPr/>
        </p:nvSpPr>
        <p:spPr>
          <a:xfrm>
            <a:off x="71342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3" name="Picture 192" descr="lock.png"/>
          <p:cNvPicPr>
            <a:picLocks noChangeAspect="1"/>
          </p:cNvPicPr>
          <p:nvPr/>
        </p:nvPicPr>
        <p:blipFill>
          <a:blip r:embed="rId4"/>
          <a:stretch>
            <a:fillRect/>
          </a:stretch>
        </p:blipFill>
        <p:spPr>
          <a:xfrm>
            <a:off x="7455009" y="1212159"/>
            <a:ext cx="92663" cy="134782"/>
          </a:xfrm>
          <a:prstGeom prst="rect">
            <a:avLst/>
          </a:prstGeom>
        </p:spPr>
      </p:pic>
      <p:sp>
        <p:nvSpPr>
          <p:cNvPr id="194" name="TextBox 193"/>
          <p:cNvSpPr txBox="1"/>
          <p:nvPr/>
        </p:nvSpPr>
        <p:spPr>
          <a:xfrm>
            <a:off x="87915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5" name="Picture 194" descr="lock.png"/>
          <p:cNvPicPr>
            <a:picLocks noChangeAspect="1"/>
          </p:cNvPicPr>
          <p:nvPr/>
        </p:nvPicPr>
        <p:blipFill>
          <a:blip r:embed="rId4"/>
          <a:stretch>
            <a:fillRect/>
          </a:stretch>
        </p:blipFill>
        <p:spPr>
          <a:xfrm>
            <a:off x="9112359" y="1212159"/>
            <a:ext cx="92663" cy="134782"/>
          </a:xfrm>
          <a:prstGeom prst="rect">
            <a:avLst/>
          </a:prstGeom>
        </p:spPr>
      </p:pic>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Strategic Activity Tracker</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Each player's active strategic moves: what, type, source department, signal and who should act</a:t>
            </a:r>
          </a:p>
        </p:txBody>
      </p:sp>
      <p:sp>
        <p:nvSpPr>
          <p:cNvPr id="10" name="TextBox 9"/>
          <p:cNvSpPr txBox="1"/>
          <p:nvPr/>
        </p:nvSpPr>
        <p:spPr>
          <a:xfrm>
            <a:off x="209550" y="1047750"/>
            <a:ext cx="1295400" cy="171450"/>
          </a:xfrm>
          <a:prstGeom prst="rect">
            <a:avLst/>
          </a:prstGeom>
          <a:noFill/>
        </p:spPr>
        <p:txBody>
          <a:bodyPr wrap="square" lIns="28575" rIns="28575" tIns="9525" bIns="9525" anchor="t">
            <a:spAutoFit/>
          </a:bodyPr>
          <a:lstStyle/>
          <a:p>
            <a:pPr algn="l"/>
            <a:r>
              <a:rPr sz="1100" b="1">
                <a:solidFill>
                  <a:srgbClr val="0F2D52"/>
                </a:solidFill>
                <a:latin typeface="Calibri"/>
              </a:rPr>
              <a:t>COMPANY</a:t>
            </a:r>
          </a:p>
        </p:txBody>
      </p:sp>
      <p:sp>
        <p:nvSpPr>
          <p:cNvPr id="11" name="TextBox 10"/>
          <p:cNvSpPr txBox="1"/>
          <p:nvPr/>
        </p:nvSpPr>
        <p:spPr>
          <a:xfrm>
            <a:off x="1543050" y="1047750"/>
            <a:ext cx="2343150" cy="171450"/>
          </a:xfrm>
          <a:prstGeom prst="rect">
            <a:avLst/>
          </a:prstGeom>
          <a:noFill/>
        </p:spPr>
        <p:txBody>
          <a:bodyPr wrap="square" lIns="28575" rIns="28575" tIns="9525" bIns="9525" anchor="t">
            <a:spAutoFit/>
          </a:bodyPr>
          <a:lstStyle/>
          <a:p>
            <a:pPr algn="l"/>
            <a:r>
              <a:rPr sz="1100" b="1">
                <a:solidFill>
                  <a:srgbClr val="0F2D52"/>
                </a:solidFill>
                <a:latin typeface="Calibri"/>
              </a:rPr>
              <a:t>DEVELOPMENT (WHAT IS HAPPENING)</a:t>
            </a:r>
          </a:p>
        </p:txBody>
      </p:sp>
      <p:sp>
        <p:nvSpPr>
          <p:cNvPr id="12" name="TextBox 11"/>
          <p:cNvSpPr txBox="1"/>
          <p:nvPr/>
        </p:nvSpPr>
        <p:spPr>
          <a:xfrm>
            <a:off x="3924300" y="1047750"/>
            <a:ext cx="533400" cy="171450"/>
          </a:xfrm>
          <a:prstGeom prst="rect">
            <a:avLst/>
          </a:prstGeom>
          <a:noFill/>
        </p:spPr>
        <p:txBody>
          <a:bodyPr wrap="none" lIns="0" rIns="0" tIns="0" bIns="0" anchor="t">
            <a:spAutoFit/>
          </a:bodyPr>
          <a:lstStyle/>
          <a:p>
            <a:pPr algn="l"/>
            <a:r>
              <a:rPr sz="1100" b="1">
                <a:solidFill>
                  <a:srgbClr val="0F2D52"/>
                </a:solidFill>
                <a:latin typeface="Calibri"/>
              </a:rPr>
              <a:t>DATE</a:t>
            </a:r>
          </a:p>
        </p:txBody>
      </p:sp>
      <p:sp>
        <p:nvSpPr>
          <p:cNvPr id="13" name="TextBox 12"/>
          <p:cNvSpPr txBox="1"/>
          <p:nvPr/>
        </p:nvSpPr>
        <p:spPr>
          <a:xfrm>
            <a:off x="4495800" y="1047750"/>
            <a:ext cx="438150" cy="171450"/>
          </a:xfrm>
          <a:prstGeom prst="rect">
            <a:avLst/>
          </a:prstGeom>
          <a:noFill/>
        </p:spPr>
        <p:txBody>
          <a:bodyPr wrap="none" lIns="0" rIns="0" tIns="0" bIns="0" anchor="t">
            <a:spAutoFit/>
          </a:bodyPr>
          <a:lstStyle/>
          <a:p>
            <a:pPr algn="l"/>
            <a:r>
              <a:rPr sz="1100" b="1">
                <a:solidFill>
                  <a:srgbClr val="0F2D52"/>
                </a:solidFill>
                <a:latin typeface="Calibri"/>
              </a:rPr>
              <a:t>TYPE</a:t>
            </a:r>
          </a:p>
        </p:txBody>
      </p:sp>
      <p:sp>
        <p:nvSpPr>
          <p:cNvPr id="14" name="TextBox 13"/>
          <p:cNvSpPr txBox="1"/>
          <p:nvPr/>
        </p:nvSpPr>
        <p:spPr>
          <a:xfrm>
            <a:off x="4972050" y="1047750"/>
            <a:ext cx="1200150" cy="171450"/>
          </a:xfrm>
          <a:prstGeom prst="rect">
            <a:avLst/>
          </a:prstGeom>
          <a:noFill/>
        </p:spPr>
        <p:txBody>
          <a:bodyPr wrap="square" lIns="28575" rIns="28575" tIns="9525" bIns="9525" anchor="t">
            <a:spAutoFit/>
          </a:bodyPr>
          <a:lstStyle/>
          <a:p>
            <a:pPr algn="l"/>
            <a:r>
              <a:rPr sz="1100" b="1">
                <a:solidFill>
                  <a:srgbClr val="0F2D52"/>
                </a:solidFill>
                <a:latin typeface="Calibri"/>
              </a:rPr>
              <a:t>SOURCE DEPT</a:t>
            </a:r>
          </a:p>
        </p:txBody>
      </p:sp>
      <p:sp>
        <p:nvSpPr>
          <p:cNvPr id="15" name="TextBox 14"/>
          <p:cNvSpPr txBox="1"/>
          <p:nvPr/>
        </p:nvSpPr>
        <p:spPr>
          <a:xfrm>
            <a:off x="6210300" y="1047750"/>
            <a:ext cx="914400" cy="171450"/>
          </a:xfrm>
          <a:prstGeom prst="rect">
            <a:avLst/>
          </a:prstGeom>
          <a:noFill/>
        </p:spPr>
        <p:txBody>
          <a:bodyPr wrap="square" lIns="28575" rIns="28575" tIns="9525" bIns="9525" anchor="t">
            <a:spAutoFit/>
          </a:bodyPr>
          <a:lstStyle/>
          <a:p>
            <a:pPr algn="l"/>
            <a:r>
              <a:rPr sz="1100" b="1">
                <a:solidFill>
                  <a:srgbClr val="0F2D52"/>
                </a:solidFill>
                <a:latin typeface="Calibri"/>
              </a:rPr>
              <a:t>EVIDENCE</a:t>
            </a:r>
          </a:p>
        </p:txBody>
      </p:sp>
      <p:sp>
        <p:nvSpPr>
          <p:cNvPr id="16" name="TextBox 15"/>
          <p:cNvSpPr txBox="1"/>
          <p:nvPr/>
        </p:nvSpPr>
        <p:spPr>
          <a:xfrm>
            <a:off x="7162800" y="1047750"/>
            <a:ext cx="2152650" cy="171450"/>
          </a:xfrm>
          <a:prstGeom prst="rect">
            <a:avLst/>
          </a:prstGeom>
          <a:noFill/>
        </p:spPr>
        <p:txBody>
          <a:bodyPr wrap="square" lIns="28575" rIns="28575" tIns="9525" bIns="9525" anchor="t">
            <a:spAutoFit/>
          </a:bodyPr>
          <a:lstStyle/>
          <a:p>
            <a:pPr algn="l"/>
            <a:r>
              <a:rPr sz="1100" b="1">
                <a:solidFill>
                  <a:srgbClr val="0F2D52"/>
                </a:solidFill>
                <a:latin typeface="Calibri"/>
              </a:rPr>
              <a:t>SIGNAL (WHAT IT INDICATES)</a:t>
            </a:r>
          </a:p>
        </p:txBody>
      </p:sp>
      <p:sp>
        <p:nvSpPr>
          <p:cNvPr id="17" name="TextBox 16"/>
          <p:cNvSpPr txBox="1"/>
          <p:nvPr/>
        </p:nvSpPr>
        <p:spPr>
          <a:xfrm>
            <a:off x="9353550" y="1047750"/>
            <a:ext cx="2628900" cy="171450"/>
          </a:xfrm>
          <a:prstGeom prst="rect">
            <a:avLst/>
          </a:prstGeom>
          <a:noFill/>
        </p:spPr>
        <p:txBody>
          <a:bodyPr wrap="square" lIns="28575" rIns="28575" tIns="9525" bIns="9525" anchor="t">
            <a:spAutoFit/>
          </a:bodyPr>
          <a:lstStyle/>
          <a:p>
            <a:pPr algn="l"/>
            <a:r>
              <a:rPr sz="1100" b="1">
                <a:solidFill>
                  <a:srgbClr val="0F2D52"/>
                </a:solidFill>
                <a:latin typeface="Calibri"/>
              </a:rPr>
              <a:t>WHO SHOULD ACT</a:t>
            </a:r>
          </a:p>
        </p:txBody>
      </p:sp>
      <p:cxnSp>
        <p:nvCxnSpPr>
          <p:cNvPr id="18" name="Connector 17"/>
          <p:cNvCxnSpPr/>
          <p:nvPr/>
        </p:nvCxnSpPr>
        <p:spPr>
          <a:xfrm>
            <a:off x="190500" y="12382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90500" y="12954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6700" y="12858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Standard Process</a:t>
            </a:r>
          </a:p>
        </p:txBody>
      </p:sp>
      <p:sp>
        <p:nvSpPr>
          <p:cNvPr id="21" name="TextBox 20"/>
          <p:cNvSpPr txBox="1"/>
          <p:nvPr/>
        </p:nvSpPr>
        <p:spPr>
          <a:xfrm>
            <a:off x="1543050" y="12858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North America</a:t>
            </a:r>
          </a:p>
        </p:txBody>
      </p:sp>
      <p:sp>
        <p:nvSpPr>
          <p:cNvPr id="22" name="TextBox 21"/>
          <p:cNvSpPr txBox="1"/>
          <p:nvPr/>
        </p:nvSpPr>
        <p:spPr>
          <a:xfrm>
            <a:off x="3924300" y="12858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23" name="Rectangle 22"/>
          <p:cNvSpPr/>
          <p:nvPr/>
        </p:nvSpPr>
        <p:spPr>
          <a:xfrm>
            <a:off x="4514850" y="13144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14850" y="13144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25" name="TextBox 24"/>
          <p:cNvSpPr txBox="1"/>
          <p:nvPr/>
        </p:nvSpPr>
        <p:spPr>
          <a:xfrm>
            <a:off x="4972050" y="12858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26" name="TextBox 25"/>
          <p:cNvSpPr txBox="1"/>
          <p:nvPr/>
        </p:nvSpPr>
        <p:spPr>
          <a:xfrm>
            <a:off x="6210300" y="12858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27" name="TextBox 26"/>
          <p:cNvSpPr txBox="1"/>
          <p:nvPr/>
        </p:nvSpPr>
        <p:spPr>
          <a:xfrm>
            <a:off x="7162800" y="12858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28" name="TextBox 27"/>
          <p:cNvSpPr txBox="1"/>
          <p:nvPr/>
        </p:nvSpPr>
        <p:spPr>
          <a:xfrm>
            <a:off x="9353550" y="12858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29" name="Connector 28"/>
          <p:cNvCxnSpPr/>
          <p:nvPr/>
        </p:nvCxnSpPr>
        <p:spPr>
          <a:xfrm>
            <a:off x="190500" y="17526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190500" y="17907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6700" y="17811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VetriScience</a:t>
            </a:r>
          </a:p>
        </p:txBody>
      </p:sp>
      <p:sp>
        <p:nvSpPr>
          <p:cNvPr id="32" name="TextBox 31"/>
          <p:cNvSpPr txBox="1"/>
          <p:nvPr/>
        </p:nvSpPr>
        <p:spPr>
          <a:xfrm>
            <a:off x="1543050" y="17811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Capsules and Softgels</a:t>
            </a:r>
          </a:p>
        </p:txBody>
      </p:sp>
      <p:sp>
        <p:nvSpPr>
          <p:cNvPr id="33" name="TextBox 32"/>
          <p:cNvSpPr txBox="1"/>
          <p:nvPr/>
        </p:nvSpPr>
        <p:spPr>
          <a:xfrm>
            <a:off x="3924300" y="17811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34" name="Rectangle 33"/>
          <p:cNvSpPr/>
          <p:nvPr/>
        </p:nvSpPr>
        <p:spPr>
          <a:xfrm>
            <a:off x="4514850" y="18097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14850" y="18097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36" name="TextBox 35"/>
          <p:cNvSpPr txBox="1"/>
          <p:nvPr/>
        </p:nvSpPr>
        <p:spPr>
          <a:xfrm>
            <a:off x="4972050" y="17811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37" name="TextBox 36"/>
          <p:cNvSpPr txBox="1"/>
          <p:nvPr/>
        </p:nvSpPr>
        <p:spPr>
          <a:xfrm>
            <a:off x="6210300" y="17811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38" name="TextBox 37"/>
          <p:cNvSpPr txBox="1"/>
          <p:nvPr/>
        </p:nvSpPr>
        <p:spPr>
          <a:xfrm>
            <a:off x="7162800" y="17811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39" name="TextBox 38"/>
          <p:cNvSpPr txBox="1"/>
          <p:nvPr/>
        </p:nvSpPr>
        <p:spPr>
          <a:xfrm>
            <a:off x="9353550" y="17811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40" name="Connector 39"/>
          <p:cNvCxnSpPr/>
          <p:nvPr/>
        </p:nvCxnSpPr>
        <p:spPr>
          <a:xfrm>
            <a:off x="190500" y="22479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90500" y="22860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6700" y="22764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Dr. Fossum's</a:t>
            </a:r>
          </a:p>
        </p:txBody>
      </p:sp>
      <p:sp>
        <p:nvSpPr>
          <p:cNvPr id="43" name="TextBox 42"/>
          <p:cNvSpPr txBox="1"/>
          <p:nvPr/>
        </p:nvSpPr>
        <p:spPr>
          <a:xfrm>
            <a:off x="1543050" y="22764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South Asia &amp; Pacific</a:t>
            </a:r>
          </a:p>
        </p:txBody>
      </p:sp>
      <p:sp>
        <p:nvSpPr>
          <p:cNvPr id="44" name="TextBox 43"/>
          <p:cNvSpPr txBox="1"/>
          <p:nvPr/>
        </p:nvSpPr>
        <p:spPr>
          <a:xfrm>
            <a:off x="3924300" y="22764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45" name="Rectangle 44"/>
          <p:cNvSpPr/>
          <p:nvPr/>
        </p:nvSpPr>
        <p:spPr>
          <a:xfrm>
            <a:off x="4514850" y="23050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14850" y="23050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47" name="TextBox 46"/>
          <p:cNvSpPr txBox="1"/>
          <p:nvPr/>
        </p:nvSpPr>
        <p:spPr>
          <a:xfrm>
            <a:off x="4972050" y="22764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48" name="TextBox 47"/>
          <p:cNvSpPr txBox="1"/>
          <p:nvPr/>
        </p:nvSpPr>
        <p:spPr>
          <a:xfrm>
            <a:off x="6210300" y="22764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49" name="TextBox 48"/>
          <p:cNvSpPr txBox="1"/>
          <p:nvPr/>
        </p:nvSpPr>
        <p:spPr>
          <a:xfrm>
            <a:off x="7162800" y="22764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50" name="TextBox 49"/>
          <p:cNvSpPr txBox="1"/>
          <p:nvPr/>
        </p:nvSpPr>
        <p:spPr>
          <a:xfrm>
            <a:off x="9353550" y="22764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51" name="Connector 50"/>
          <p:cNvCxnSpPr/>
          <p:nvPr/>
        </p:nvCxnSpPr>
        <p:spPr>
          <a:xfrm>
            <a:off x="190500" y="27432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190500" y="27813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66700" y="27717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Nestlé Purina PetCare</a:t>
            </a:r>
          </a:p>
        </p:txBody>
      </p:sp>
      <p:sp>
        <p:nvSpPr>
          <p:cNvPr id="54" name="TextBox 53"/>
          <p:cNvSpPr txBox="1"/>
          <p:nvPr/>
        </p:nvSpPr>
        <p:spPr>
          <a:xfrm>
            <a:off x="1543050" y="27717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Tablets</a:t>
            </a:r>
          </a:p>
        </p:txBody>
      </p:sp>
      <p:sp>
        <p:nvSpPr>
          <p:cNvPr id="55" name="TextBox 54"/>
          <p:cNvSpPr txBox="1"/>
          <p:nvPr/>
        </p:nvSpPr>
        <p:spPr>
          <a:xfrm>
            <a:off x="3924300" y="27717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56" name="Rectangle 55"/>
          <p:cNvSpPr/>
          <p:nvPr/>
        </p:nvSpPr>
        <p:spPr>
          <a:xfrm>
            <a:off x="4514850" y="28003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14850" y="28003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58" name="TextBox 57"/>
          <p:cNvSpPr txBox="1"/>
          <p:nvPr/>
        </p:nvSpPr>
        <p:spPr>
          <a:xfrm>
            <a:off x="4972050" y="27717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59" name="TextBox 58"/>
          <p:cNvSpPr txBox="1"/>
          <p:nvPr/>
        </p:nvSpPr>
        <p:spPr>
          <a:xfrm>
            <a:off x="6210300" y="27717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60" name="TextBox 59"/>
          <p:cNvSpPr txBox="1"/>
          <p:nvPr/>
        </p:nvSpPr>
        <p:spPr>
          <a:xfrm>
            <a:off x="7162800" y="27717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61" name="TextBox 60"/>
          <p:cNvSpPr txBox="1"/>
          <p:nvPr/>
        </p:nvSpPr>
        <p:spPr>
          <a:xfrm>
            <a:off x="9353550" y="27717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62" name="Connector 61"/>
          <p:cNvCxnSpPr/>
          <p:nvPr/>
        </p:nvCxnSpPr>
        <p:spPr>
          <a:xfrm>
            <a:off x="190500" y="32385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190500" y="32766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66700" y="32670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PetHeal</a:t>
            </a:r>
          </a:p>
        </p:txBody>
      </p:sp>
      <p:sp>
        <p:nvSpPr>
          <p:cNvPr id="65" name="TextBox 64"/>
          <p:cNvSpPr txBox="1"/>
          <p:nvPr/>
        </p:nvSpPr>
        <p:spPr>
          <a:xfrm>
            <a:off x="1543050" y="32670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Latin America</a:t>
            </a:r>
          </a:p>
        </p:txBody>
      </p:sp>
      <p:sp>
        <p:nvSpPr>
          <p:cNvPr id="66" name="TextBox 65"/>
          <p:cNvSpPr txBox="1"/>
          <p:nvPr/>
        </p:nvSpPr>
        <p:spPr>
          <a:xfrm>
            <a:off x="3924300" y="32670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67" name="Rectangle 66"/>
          <p:cNvSpPr/>
          <p:nvPr/>
        </p:nvSpPr>
        <p:spPr>
          <a:xfrm>
            <a:off x="4514850" y="32956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514850" y="32956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69" name="TextBox 68"/>
          <p:cNvSpPr txBox="1"/>
          <p:nvPr/>
        </p:nvSpPr>
        <p:spPr>
          <a:xfrm>
            <a:off x="4972050" y="32670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70" name="TextBox 69"/>
          <p:cNvSpPr txBox="1"/>
          <p:nvPr/>
        </p:nvSpPr>
        <p:spPr>
          <a:xfrm>
            <a:off x="6210300" y="32670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71" name="TextBox 70"/>
          <p:cNvSpPr txBox="1"/>
          <p:nvPr/>
        </p:nvSpPr>
        <p:spPr>
          <a:xfrm>
            <a:off x="7162800" y="32670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72" name="TextBox 71"/>
          <p:cNvSpPr txBox="1"/>
          <p:nvPr/>
        </p:nvSpPr>
        <p:spPr>
          <a:xfrm>
            <a:off x="9353550" y="32670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73" name="Connector 72"/>
          <p:cNvCxnSpPr/>
          <p:nvPr/>
        </p:nvCxnSpPr>
        <p:spPr>
          <a:xfrm>
            <a:off x="190500" y="37338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190500" y="37719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66700" y="37623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Senior Dogs Club</a:t>
            </a:r>
          </a:p>
        </p:txBody>
      </p:sp>
      <p:sp>
        <p:nvSpPr>
          <p:cNvPr id="76" name="TextBox 75"/>
          <p:cNvSpPr txBox="1"/>
          <p:nvPr/>
        </p:nvSpPr>
        <p:spPr>
          <a:xfrm>
            <a:off x="1543050" y="37623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Capsules and Softgels</a:t>
            </a:r>
          </a:p>
        </p:txBody>
      </p:sp>
      <p:sp>
        <p:nvSpPr>
          <p:cNvPr id="77" name="TextBox 76"/>
          <p:cNvSpPr txBox="1"/>
          <p:nvPr/>
        </p:nvSpPr>
        <p:spPr>
          <a:xfrm>
            <a:off x="3924300" y="37623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78" name="Rectangle 77"/>
          <p:cNvSpPr/>
          <p:nvPr/>
        </p:nvSpPr>
        <p:spPr>
          <a:xfrm>
            <a:off x="4514850" y="37909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514850" y="37909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80" name="TextBox 79"/>
          <p:cNvSpPr txBox="1"/>
          <p:nvPr/>
        </p:nvSpPr>
        <p:spPr>
          <a:xfrm>
            <a:off x="4972050" y="37623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81" name="TextBox 80"/>
          <p:cNvSpPr txBox="1"/>
          <p:nvPr/>
        </p:nvSpPr>
        <p:spPr>
          <a:xfrm>
            <a:off x="6210300" y="37623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82" name="TextBox 81"/>
          <p:cNvSpPr txBox="1"/>
          <p:nvPr/>
        </p:nvSpPr>
        <p:spPr>
          <a:xfrm>
            <a:off x="7162800" y="37623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83" name="TextBox 82"/>
          <p:cNvSpPr txBox="1"/>
          <p:nvPr/>
        </p:nvSpPr>
        <p:spPr>
          <a:xfrm>
            <a:off x="9353550" y="37623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84" name="Connector 83"/>
          <p:cNvCxnSpPr/>
          <p:nvPr/>
        </p:nvCxnSpPr>
        <p:spPr>
          <a:xfrm>
            <a:off x="190500" y="42291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190500" y="42672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66700" y="42576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VISYO Corporation</a:t>
            </a:r>
          </a:p>
        </p:txBody>
      </p:sp>
      <p:sp>
        <p:nvSpPr>
          <p:cNvPr id="87" name="TextBox 86"/>
          <p:cNvSpPr txBox="1"/>
          <p:nvPr/>
        </p:nvSpPr>
        <p:spPr>
          <a:xfrm>
            <a:off x="1543050" y="42576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North America</a:t>
            </a:r>
          </a:p>
        </p:txBody>
      </p:sp>
      <p:sp>
        <p:nvSpPr>
          <p:cNvPr id="88" name="TextBox 87"/>
          <p:cNvSpPr txBox="1"/>
          <p:nvPr/>
        </p:nvSpPr>
        <p:spPr>
          <a:xfrm>
            <a:off x="3924300" y="42576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89" name="Rectangle 88"/>
          <p:cNvSpPr/>
          <p:nvPr/>
        </p:nvSpPr>
        <p:spPr>
          <a:xfrm>
            <a:off x="4514850" y="42862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514850" y="42862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91" name="TextBox 90"/>
          <p:cNvSpPr txBox="1"/>
          <p:nvPr/>
        </p:nvSpPr>
        <p:spPr>
          <a:xfrm>
            <a:off x="4972050" y="42576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92" name="TextBox 91"/>
          <p:cNvSpPr txBox="1"/>
          <p:nvPr/>
        </p:nvSpPr>
        <p:spPr>
          <a:xfrm>
            <a:off x="6210300" y="42576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93" name="TextBox 92"/>
          <p:cNvSpPr txBox="1"/>
          <p:nvPr/>
        </p:nvSpPr>
        <p:spPr>
          <a:xfrm>
            <a:off x="7162800" y="42576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94" name="TextBox 93"/>
          <p:cNvSpPr txBox="1"/>
          <p:nvPr/>
        </p:nvSpPr>
        <p:spPr>
          <a:xfrm>
            <a:off x="9353550" y="42576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95" name="Connector 94"/>
          <p:cNvCxnSpPr/>
          <p:nvPr/>
        </p:nvCxnSpPr>
        <p:spPr>
          <a:xfrm>
            <a:off x="190500" y="47244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190500" y="47625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66700" y="47529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NaturVet</a:t>
            </a:r>
          </a:p>
        </p:txBody>
      </p:sp>
      <p:sp>
        <p:nvSpPr>
          <p:cNvPr id="98" name="TextBox 97"/>
          <p:cNvSpPr txBox="1"/>
          <p:nvPr/>
        </p:nvSpPr>
        <p:spPr>
          <a:xfrm>
            <a:off x="1543050" y="47529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Tablets</a:t>
            </a:r>
          </a:p>
        </p:txBody>
      </p:sp>
      <p:sp>
        <p:nvSpPr>
          <p:cNvPr id="99" name="TextBox 98"/>
          <p:cNvSpPr txBox="1"/>
          <p:nvPr/>
        </p:nvSpPr>
        <p:spPr>
          <a:xfrm>
            <a:off x="3924300" y="47529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00" name="Rectangle 99"/>
          <p:cNvSpPr/>
          <p:nvPr/>
        </p:nvSpPr>
        <p:spPr>
          <a:xfrm>
            <a:off x="4514850" y="47815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514850" y="47815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02" name="TextBox 101"/>
          <p:cNvSpPr txBox="1"/>
          <p:nvPr/>
        </p:nvSpPr>
        <p:spPr>
          <a:xfrm>
            <a:off x="4972050" y="47529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103" name="TextBox 102"/>
          <p:cNvSpPr txBox="1"/>
          <p:nvPr/>
        </p:nvSpPr>
        <p:spPr>
          <a:xfrm>
            <a:off x="6210300" y="47529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104" name="TextBox 103"/>
          <p:cNvSpPr txBox="1"/>
          <p:nvPr/>
        </p:nvSpPr>
        <p:spPr>
          <a:xfrm>
            <a:off x="7162800" y="47529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105" name="TextBox 104"/>
          <p:cNvSpPr txBox="1"/>
          <p:nvPr/>
        </p:nvSpPr>
        <p:spPr>
          <a:xfrm>
            <a:off x="9353550" y="47529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106" name="Connector 105"/>
          <p:cNvCxnSpPr/>
          <p:nvPr/>
        </p:nvCxnSpPr>
        <p:spPr>
          <a:xfrm>
            <a:off x="190500" y="52197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7" name="Rectangle 106"/>
          <p:cNvSpPr/>
          <p:nvPr/>
        </p:nvSpPr>
        <p:spPr>
          <a:xfrm>
            <a:off x="190500" y="52578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266700" y="52482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Zesty Paws</a:t>
            </a:r>
          </a:p>
        </p:txBody>
      </p:sp>
      <p:sp>
        <p:nvSpPr>
          <p:cNvPr id="109" name="TextBox 108"/>
          <p:cNvSpPr txBox="1"/>
          <p:nvPr/>
        </p:nvSpPr>
        <p:spPr>
          <a:xfrm>
            <a:off x="1543050" y="52482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South Asia &amp; Pacific</a:t>
            </a:r>
          </a:p>
        </p:txBody>
      </p:sp>
      <p:sp>
        <p:nvSpPr>
          <p:cNvPr id="110" name="TextBox 109"/>
          <p:cNvSpPr txBox="1"/>
          <p:nvPr/>
        </p:nvSpPr>
        <p:spPr>
          <a:xfrm>
            <a:off x="3924300" y="52482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11" name="Rectangle 110"/>
          <p:cNvSpPr/>
          <p:nvPr/>
        </p:nvSpPr>
        <p:spPr>
          <a:xfrm>
            <a:off x="4514850" y="52768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4514850" y="52768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113" name="TextBox 112"/>
          <p:cNvSpPr txBox="1"/>
          <p:nvPr/>
        </p:nvSpPr>
        <p:spPr>
          <a:xfrm>
            <a:off x="4972050" y="52482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114" name="TextBox 113"/>
          <p:cNvSpPr txBox="1"/>
          <p:nvPr/>
        </p:nvSpPr>
        <p:spPr>
          <a:xfrm>
            <a:off x="6210300" y="52482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115" name="TextBox 114"/>
          <p:cNvSpPr txBox="1"/>
          <p:nvPr/>
        </p:nvSpPr>
        <p:spPr>
          <a:xfrm>
            <a:off x="7162800" y="52482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116" name="TextBox 115"/>
          <p:cNvSpPr txBox="1"/>
          <p:nvPr/>
        </p:nvSpPr>
        <p:spPr>
          <a:xfrm>
            <a:off x="9353550" y="52482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117" name="Connector 116"/>
          <p:cNvCxnSpPr/>
          <p:nvPr/>
        </p:nvCxnSpPr>
        <p:spPr>
          <a:xfrm>
            <a:off x="190500" y="5715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8" name="Rectangle 117"/>
          <p:cNvSpPr/>
          <p:nvPr/>
        </p:nvSpPr>
        <p:spPr>
          <a:xfrm>
            <a:off x="190500" y="57531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266700" y="57435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Ark Naturals</a:t>
            </a:r>
          </a:p>
        </p:txBody>
      </p:sp>
      <p:sp>
        <p:nvSpPr>
          <p:cNvPr id="120" name="TextBox 119"/>
          <p:cNvSpPr txBox="1"/>
          <p:nvPr/>
        </p:nvSpPr>
        <p:spPr>
          <a:xfrm>
            <a:off x="1543050" y="57435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Capsules and Softgels</a:t>
            </a:r>
          </a:p>
        </p:txBody>
      </p:sp>
      <p:sp>
        <p:nvSpPr>
          <p:cNvPr id="121" name="TextBox 120"/>
          <p:cNvSpPr txBox="1"/>
          <p:nvPr/>
        </p:nvSpPr>
        <p:spPr>
          <a:xfrm>
            <a:off x="3924300" y="57435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22" name="Rectangle 121"/>
          <p:cNvSpPr/>
          <p:nvPr/>
        </p:nvSpPr>
        <p:spPr>
          <a:xfrm>
            <a:off x="4514850" y="57721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4514850" y="57721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24" name="TextBox 123"/>
          <p:cNvSpPr txBox="1"/>
          <p:nvPr/>
        </p:nvSpPr>
        <p:spPr>
          <a:xfrm>
            <a:off x="4972050" y="57435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125" name="TextBox 124"/>
          <p:cNvSpPr txBox="1"/>
          <p:nvPr/>
        </p:nvSpPr>
        <p:spPr>
          <a:xfrm>
            <a:off x="6210300" y="57435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126" name="TextBox 125"/>
          <p:cNvSpPr txBox="1"/>
          <p:nvPr/>
        </p:nvSpPr>
        <p:spPr>
          <a:xfrm>
            <a:off x="7162800" y="57435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127" name="TextBox 126"/>
          <p:cNvSpPr txBox="1"/>
          <p:nvPr/>
        </p:nvSpPr>
        <p:spPr>
          <a:xfrm>
            <a:off x="9353550" y="57435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128" name="Connector 127"/>
          <p:cNvCxnSpPr/>
          <p:nvPr/>
        </p:nvCxnSpPr>
        <p:spPr>
          <a:xfrm>
            <a:off x="190500" y="621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9" name="Rectangle 128"/>
          <p:cNvSpPr/>
          <p:nvPr/>
        </p:nvSpPr>
        <p:spPr>
          <a:xfrm>
            <a:off x="190500" y="6276975"/>
            <a:ext cx="285750" cy="15240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9050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131" name="TextBox 130"/>
          <p:cNvSpPr txBox="1"/>
          <p:nvPr/>
        </p:nvSpPr>
        <p:spPr>
          <a:xfrm>
            <a:off x="51435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M&amp;A</a:t>
            </a:r>
          </a:p>
        </p:txBody>
      </p:sp>
      <p:sp>
        <p:nvSpPr>
          <p:cNvPr id="132" name="Rectangle 131"/>
          <p:cNvSpPr/>
          <p:nvPr/>
        </p:nvSpPr>
        <p:spPr>
          <a:xfrm>
            <a:off x="923925" y="6276975"/>
            <a:ext cx="285750" cy="1524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9239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34" name="TextBox 133"/>
          <p:cNvSpPr txBox="1"/>
          <p:nvPr/>
        </p:nvSpPr>
        <p:spPr>
          <a:xfrm>
            <a:off x="12477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Product / portfolio</a:t>
            </a:r>
          </a:p>
        </p:txBody>
      </p:sp>
      <p:sp>
        <p:nvSpPr>
          <p:cNvPr id="135" name="Rectangle 134"/>
          <p:cNvSpPr/>
          <p:nvPr/>
        </p:nvSpPr>
        <p:spPr>
          <a:xfrm>
            <a:off x="2724150" y="6276975"/>
            <a:ext cx="285750" cy="152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72415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EX</a:t>
            </a:r>
          </a:p>
        </p:txBody>
      </p:sp>
      <p:sp>
        <p:nvSpPr>
          <p:cNvPr id="137" name="TextBox 136"/>
          <p:cNvSpPr txBox="1"/>
          <p:nvPr/>
        </p:nvSpPr>
        <p:spPr>
          <a:xfrm>
            <a:off x="30480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Expansion</a:t>
            </a:r>
          </a:p>
        </p:txBody>
      </p:sp>
      <p:sp>
        <p:nvSpPr>
          <p:cNvPr id="138" name="Rectangle 137"/>
          <p:cNvSpPr/>
          <p:nvPr/>
        </p:nvSpPr>
        <p:spPr>
          <a:xfrm>
            <a:off x="3857625" y="6276975"/>
            <a:ext cx="285750" cy="1524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38576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RD</a:t>
            </a:r>
          </a:p>
        </p:txBody>
      </p:sp>
      <p:sp>
        <p:nvSpPr>
          <p:cNvPr id="140" name="TextBox 139"/>
          <p:cNvSpPr txBox="1"/>
          <p:nvPr/>
        </p:nvSpPr>
        <p:spPr>
          <a:xfrm>
            <a:off x="41814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R&amp;D / technology</a:t>
            </a:r>
          </a:p>
        </p:txBody>
      </p:sp>
      <p:sp>
        <p:nvSpPr>
          <p:cNvPr id="141" name="Rectangle 140"/>
          <p:cNvSpPr/>
          <p:nvPr/>
        </p:nvSpPr>
        <p:spPr>
          <a:xfrm>
            <a:off x="5457825" y="6276975"/>
            <a:ext cx="285750" cy="152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54578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RG</a:t>
            </a:r>
          </a:p>
        </p:txBody>
      </p:sp>
      <p:sp>
        <p:nvSpPr>
          <p:cNvPr id="143" name="TextBox 142"/>
          <p:cNvSpPr txBox="1"/>
          <p:nvPr/>
        </p:nvSpPr>
        <p:spPr>
          <a:xfrm>
            <a:off x="57816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Regulation / compliance</a:t>
            </a:r>
          </a:p>
        </p:txBody>
      </p:sp>
      <p:sp>
        <p:nvSpPr>
          <p:cNvPr id="144" name="Rectangle 143"/>
          <p:cNvSpPr/>
          <p:nvPr/>
        </p:nvSpPr>
        <p:spPr>
          <a:xfrm>
            <a:off x="7524750" y="6276975"/>
            <a:ext cx="285750" cy="152400"/>
          </a:xfrm>
          <a:prstGeom prst="rect">
            <a:avLst/>
          </a:prstGeom>
          <a:solidFill>
            <a:srgbClr val="177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752475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CP</a:t>
            </a:r>
          </a:p>
        </p:txBody>
      </p:sp>
      <p:sp>
        <p:nvSpPr>
          <p:cNvPr id="146" name="TextBox 145"/>
          <p:cNvSpPr txBox="1"/>
          <p:nvPr/>
        </p:nvSpPr>
        <p:spPr>
          <a:xfrm>
            <a:off x="78486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Capital / funding</a:t>
            </a:r>
          </a:p>
        </p:txBody>
      </p:sp>
      <p:sp>
        <p:nvSpPr>
          <p:cNvPr id="147" name="TextBox 146"/>
          <p:cNvSpPr txBox="1"/>
          <p:nvPr/>
        </p:nvSpPr>
        <p:spPr>
          <a:xfrm>
            <a:off x="190500" y="6457950"/>
            <a:ext cx="11811000" cy="171450"/>
          </a:xfrm>
          <a:prstGeom prst="rect">
            <a:avLst/>
          </a:prstGeom>
          <a:noFill/>
        </p:spPr>
        <p:txBody>
          <a:bodyPr wrap="square" lIns="28575" rIns="28575" tIns="9525" bIns="9525" anchor="t">
            <a:spAutoFit/>
          </a:bodyPr>
          <a:lstStyle/>
          <a:p>
            <a:pPr algn="l"/>
            <a:r>
              <a:rPr sz="1100" b="0">
                <a:solidFill>
                  <a:srgbClr val="5F6B7A"/>
                </a:solidFill>
                <a:latin typeface="Calibri"/>
              </a:rPr>
              <a:t>Dates, deal values and evidence sources populate from the research feed; until then each row reads the player's most telling active strategy.</a:t>
            </a:r>
          </a:p>
        </p:txBody>
      </p:sp>
      <p:sp>
        <p:nvSpPr>
          <p:cNvPr id="148" name="TextBox 1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49" name="Picture 148" descr="lock.png"/>
          <p:cNvPicPr>
            <a:picLocks noChangeAspect="1"/>
          </p:cNvPicPr>
          <p:nvPr/>
        </p:nvPicPr>
        <p:blipFill>
          <a:blip r:embed="rId4"/>
          <a:stretch>
            <a:fillRect/>
          </a:stretch>
        </p:blipFill>
        <p:spPr>
          <a:xfrm>
            <a:off x="4126650" y="1278001"/>
            <a:ext cx="128699" cy="187198"/>
          </a:xfrm>
          <a:prstGeom prst="rect">
            <a:avLst/>
          </a:prstGeom>
        </p:spPr>
      </p:pic>
      <p:pic>
        <p:nvPicPr>
          <p:cNvPr id="150" name="Picture 149" descr="lock.png"/>
          <p:cNvPicPr>
            <a:picLocks noChangeAspect="1"/>
          </p:cNvPicPr>
          <p:nvPr/>
        </p:nvPicPr>
        <p:blipFill>
          <a:blip r:embed="rId4"/>
          <a:stretch>
            <a:fillRect/>
          </a:stretch>
        </p:blipFill>
        <p:spPr>
          <a:xfrm>
            <a:off x="4126650" y="1773301"/>
            <a:ext cx="128699" cy="187198"/>
          </a:xfrm>
          <a:prstGeom prst="rect">
            <a:avLst/>
          </a:prstGeom>
        </p:spPr>
      </p:pic>
      <p:pic>
        <p:nvPicPr>
          <p:cNvPr id="151" name="Picture 150" descr="lock.png"/>
          <p:cNvPicPr>
            <a:picLocks noChangeAspect="1"/>
          </p:cNvPicPr>
          <p:nvPr/>
        </p:nvPicPr>
        <p:blipFill>
          <a:blip r:embed="rId4"/>
          <a:stretch>
            <a:fillRect/>
          </a:stretch>
        </p:blipFill>
        <p:spPr>
          <a:xfrm>
            <a:off x="4126650" y="2268601"/>
            <a:ext cx="128699" cy="187198"/>
          </a:xfrm>
          <a:prstGeom prst="rect">
            <a:avLst/>
          </a:prstGeom>
        </p:spPr>
      </p:pic>
      <p:pic>
        <p:nvPicPr>
          <p:cNvPr id="152" name="Picture 151" descr="lock.png"/>
          <p:cNvPicPr>
            <a:picLocks noChangeAspect="1"/>
          </p:cNvPicPr>
          <p:nvPr/>
        </p:nvPicPr>
        <p:blipFill>
          <a:blip r:embed="rId4"/>
          <a:stretch>
            <a:fillRect/>
          </a:stretch>
        </p:blipFill>
        <p:spPr>
          <a:xfrm>
            <a:off x="4126650" y="2763901"/>
            <a:ext cx="128699" cy="187198"/>
          </a:xfrm>
          <a:prstGeom prst="rect">
            <a:avLst/>
          </a:prstGeom>
        </p:spPr>
      </p:pic>
      <p:pic>
        <p:nvPicPr>
          <p:cNvPr id="153" name="Picture 152" descr="lock.png"/>
          <p:cNvPicPr>
            <a:picLocks noChangeAspect="1"/>
          </p:cNvPicPr>
          <p:nvPr/>
        </p:nvPicPr>
        <p:blipFill>
          <a:blip r:embed="rId4"/>
          <a:stretch>
            <a:fillRect/>
          </a:stretch>
        </p:blipFill>
        <p:spPr>
          <a:xfrm>
            <a:off x="4126650" y="3259201"/>
            <a:ext cx="128699" cy="187198"/>
          </a:xfrm>
          <a:prstGeom prst="rect">
            <a:avLst/>
          </a:prstGeom>
        </p:spPr>
      </p:pic>
      <p:pic>
        <p:nvPicPr>
          <p:cNvPr id="154" name="Picture 153" descr="lock.png"/>
          <p:cNvPicPr>
            <a:picLocks noChangeAspect="1"/>
          </p:cNvPicPr>
          <p:nvPr/>
        </p:nvPicPr>
        <p:blipFill>
          <a:blip r:embed="rId4"/>
          <a:stretch>
            <a:fillRect/>
          </a:stretch>
        </p:blipFill>
        <p:spPr>
          <a:xfrm>
            <a:off x="4126650" y="3754501"/>
            <a:ext cx="128699" cy="187198"/>
          </a:xfrm>
          <a:prstGeom prst="rect">
            <a:avLst/>
          </a:prstGeom>
        </p:spPr>
      </p:pic>
      <p:pic>
        <p:nvPicPr>
          <p:cNvPr id="155" name="Picture 154" descr="lock.png"/>
          <p:cNvPicPr>
            <a:picLocks noChangeAspect="1"/>
          </p:cNvPicPr>
          <p:nvPr/>
        </p:nvPicPr>
        <p:blipFill>
          <a:blip r:embed="rId4"/>
          <a:stretch>
            <a:fillRect/>
          </a:stretch>
        </p:blipFill>
        <p:spPr>
          <a:xfrm>
            <a:off x="4126650" y="4249801"/>
            <a:ext cx="128699" cy="187198"/>
          </a:xfrm>
          <a:prstGeom prst="rect">
            <a:avLst/>
          </a:prstGeom>
        </p:spPr>
      </p:pic>
      <p:pic>
        <p:nvPicPr>
          <p:cNvPr id="156" name="Picture 155" descr="lock.png"/>
          <p:cNvPicPr>
            <a:picLocks noChangeAspect="1"/>
          </p:cNvPicPr>
          <p:nvPr/>
        </p:nvPicPr>
        <p:blipFill>
          <a:blip r:embed="rId4"/>
          <a:stretch>
            <a:fillRect/>
          </a:stretch>
        </p:blipFill>
        <p:spPr>
          <a:xfrm>
            <a:off x="4126650" y="4745101"/>
            <a:ext cx="128699" cy="187198"/>
          </a:xfrm>
          <a:prstGeom prst="rect">
            <a:avLst/>
          </a:prstGeom>
        </p:spPr>
      </p:pic>
      <p:pic>
        <p:nvPicPr>
          <p:cNvPr id="157" name="Picture 156" descr="lock.png"/>
          <p:cNvPicPr>
            <a:picLocks noChangeAspect="1"/>
          </p:cNvPicPr>
          <p:nvPr/>
        </p:nvPicPr>
        <p:blipFill>
          <a:blip r:embed="rId4"/>
          <a:stretch>
            <a:fillRect/>
          </a:stretch>
        </p:blipFill>
        <p:spPr>
          <a:xfrm>
            <a:off x="4126650" y="5240401"/>
            <a:ext cx="128699" cy="187198"/>
          </a:xfrm>
          <a:prstGeom prst="rect">
            <a:avLst/>
          </a:prstGeom>
        </p:spPr>
      </p:pic>
      <p:pic>
        <p:nvPicPr>
          <p:cNvPr id="158" name="Picture 157" descr="lock.png"/>
          <p:cNvPicPr>
            <a:picLocks noChangeAspect="1"/>
          </p:cNvPicPr>
          <p:nvPr/>
        </p:nvPicPr>
        <p:blipFill>
          <a:blip r:embed="rId4"/>
          <a:stretch>
            <a:fillRect/>
          </a:stretch>
        </p:blipFill>
        <p:spPr>
          <a:xfrm>
            <a:off x="4126650" y="5735701"/>
            <a:ext cx="128699" cy="187198"/>
          </a:xfrm>
          <a:prstGeom prst="rect">
            <a:avLst/>
          </a:prstGeom>
        </p:spPr>
      </p:pic>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Strategic Activity by Function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Where competitor activity concentrates by type and department, and what it means for each function</a:t>
            </a:r>
          </a:p>
        </p:txBody>
      </p:sp>
      <p:sp>
        <p:nvSpPr>
          <p:cNvPr id="10" name="Rectangle 9"/>
          <p:cNvSpPr/>
          <p:nvPr/>
        </p:nvSpPr>
        <p:spPr>
          <a:xfrm>
            <a:off x="190500" y="16383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5750" y="16002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Standard Process</a:t>
            </a:r>
          </a:p>
        </p:txBody>
      </p:sp>
      <p:sp>
        <p:nvSpPr>
          <p:cNvPr id="12" name="Rectangle 11"/>
          <p:cNvSpPr/>
          <p:nvPr/>
        </p:nvSpPr>
        <p:spPr>
          <a:xfrm>
            <a:off x="190500" y="18859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750" y="18478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VetriScience</a:t>
            </a:r>
          </a:p>
        </p:txBody>
      </p:sp>
      <p:sp>
        <p:nvSpPr>
          <p:cNvPr id="14" name="Rectangle 13"/>
          <p:cNvSpPr/>
          <p:nvPr/>
        </p:nvSpPr>
        <p:spPr>
          <a:xfrm>
            <a:off x="190500" y="21336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5750" y="20955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Dr. Fossum's</a:t>
            </a:r>
          </a:p>
        </p:txBody>
      </p:sp>
      <p:sp>
        <p:nvSpPr>
          <p:cNvPr id="16" name="Rectangle 15"/>
          <p:cNvSpPr/>
          <p:nvPr/>
        </p:nvSpPr>
        <p:spPr>
          <a:xfrm>
            <a:off x="190500" y="23812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5750" y="23431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Nestlé Purina PetCare</a:t>
            </a:r>
          </a:p>
        </p:txBody>
      </p:sp>
      <p:sp>
        <p:nvSpPr>
          <p:cNvPr id="18" name="Rectangle 17"/>
          <p:cNvSpPr/>
          <p:nvPr/>
        </p:nvSpPr>
        <p:spPr>
          <a:xfrm>
            <a:off x="190500" y="262890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5750" y="25908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PetHeal</a:t>
            </a:r>
          </a:p>
        </p:txBody>
      </p:sp>
      <p:sp>
        <p:nvSpPr>
          <p:cNvPr id="20" name="Rectangle 19"/>
          <p:cNvSpPr/>
          <p:nvPr/>
        </p:nvSpPr>
        <p:spPr>
          <a:xfrm>
            <a:off x="190500" y="287655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5750" y="28384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Senior Dogs Club</a:t>
            </a:r>
          </a:p>
        </p:txBody>
      </p:sp>
      <p:sp>
        <p:nvSpPr>
          <p:cNvPr id="22" name="Rectangle 21"/>
          <p:cNvSpPr/>
          <p:nvPr/>
        </p:nvSpPr>
        <p:spPr>
          <a:xfrm>
            <a:off x="190500" y="31242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5750" y="30861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VISYO Corporation</a:t>
            </a:r>
          </a:p>
        </p:txBody>
      </p:sp>
      <p:sp>
        <p:nvSpPr>
          <p:cNvPr id="24" name="Rectangle 23"/>
          <p:cNvSpPr/>
          <p:nvPr/>
        </p:nvSpPr>
        <p:spPr>
          <a:xfrm>
            <a:off x="190500" y="33718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5750" y="33337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NaturVet</a:t>
            </a:r>
          </a:p>
        </p:txBody>
      </p:sp>
      <p:sp>
        <p:nvSpPr>
          <p:cNvPr id="26" name="Rectangle 25"/>
          <p:cNvSpPr/>
          <p:nvPr/>
        </p:nvSpPr>
        <p:spPr>
          <a:xfrm>
            <a:off x="190500" y="36195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750" y="35814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Zesty Paws</a:t>
            </a:r>
          </a:p>
        </p:txBody>
      </p:sp>
      <p:sp>
        <p:nvSpPr>
          <p:cNvPr id="28" name="Rectangle 27"/>
          <p:cNvSpPr/>
          <p:nvPr/>
        </p:nvSpPr>
        <p:spPr>
          <a:xfrm>
            <a:off x="190500" y="38671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5750" y="38290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Ark Naturals</a:t>
            </a:r>
          </a:p>
        </p:txBody>
      </p:sp>
      <p:sp>
        <p:nvSpPr>
          <p:cNvPr id="30" name="TextBox 29"/>
          <p:cNvSpPr txBox="1"/>
          <p:nvPr/>
        </p:nvSpPr>
        <p:spPr>
          <a:xfrm>
            <a:off x="1714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Moves by type (count)</a:t>
            </a:r>
          </a:p>
        </p:txBody>
      </p:sp>
      <p:sp>
        <p:nvSpPr>
          <p:cNvPr id="31" name="TextBox 30"/>
          <p:cNvSpPr txBox="1"/>
          <p:nvPr/>
        </p:nvSpPr>
        <p:spPr>
          <a:xfrm>
            <a:off x="1714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MA</a:t>
            </a:r>
          </a:p>
        </p:txBody>
      </p:sp>
      <p:sp>
        <p:nvSpPr>
          <p:cNvPr id="32" name="TextBox 31"/>
          <p:cNvSpPr txBox="1"/>
          <p:nvPr/>
        </p:nvSpPr>
        <p:spPr>
          <a:xfrm>
            <a:off x="2264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PR</a:t>
            </a:r>
          </a:p>
        </p:txBody>
      </p:sp>
      <p:sp>
        <p:nvSpPr>
          <p:cNvPr id="33" name="TextBox 32"/>
          <p:cNvSpPr txBox="1"/>
          <p:nvPr/>
        </p:nvSpPr>
        <p:spPr>
          <a:xfrm>
            <a:off x="2815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EX</a:t>
            </a:r>
          </a:p>
        </p:txBody>
      </p:sp>
      <p:sp>
        <p:nvSpPr>
          <p:cNvPr id="34" name="TextBox 33"/>
          <p:cNvSpPr txBox="1"/>
          <p:nvPr/>
        </p:nvSpPr>
        <p:spPr>
          <a:xfrm>
            <a:off x="3365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RD</a:t>
            </a:r>
          </a:p>
        </p:txBody>
      </p:sp>
      <p:sp>
        <p:nvSpPr>
          <p:cNvPr id="35" name="TextBox 34"/>
          <p:cNvSpPr txBox="1"/>
          <p:nvPr/>
        </p:nvSpPr>
        <p:spPr>
          <a:xfrm>
            <a:off x="3915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RG</a:t>
            </a:r>
          </a:p>
        </p:txBody>
      </p:sp>
      <p:sp>
        <p:nvSpPr>
          <p:cNvPr id="36" name="TextBox 35"/>
          <p:cNvSpPr txBox="1"/>
          <p:nvPr/>
        </p:nvSpPr>
        <p:spPr>
          <a:xfrm>
            <a:off x="4466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CP</a:t>
            </a:r>
          </a:p>
        </p:txBody>
      </p:sp>
      <p:sp>
        <p:nvSpPr>
          <p:cNvPr id="37" name="Rectangle 36"/>
          <p:cNvSpPr/>
          <p:nvPr/>
        </p:nvSpPr>
        <p:spPr>
          <a:xfrm>
            <a:off x="1724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714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9" name="Rectangle 38"/>
          <p:cNvSpPr/>
          <p:nvPr/>
        </p:nvSpPr>
        <p:spPr>
          <a:xfrm>
            <a:off x="2274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824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15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2" name="Rectangle 41"/>
          <p:cNvSpPr/>
          <p:nvPr/>
        </p:nvSpPr>
        <p:spPr>
          <a:xfrm>
            <a:off x="3375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65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4" name="Rectangle 43"/>
          <p:cNvSpPr/>
          <p:nvPr/>
        </p:nvSpPr>
        <p:spPr>
          <a:xfrm>
            <a:off x="3925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915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6" name="Rectangle 45"/>
          <p:cNvSpPr/>
          <p:nvPr/>
        </p:nvSpPr>
        <p:spPr>
          <a:xfrm>
            <a:off x="4475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66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8" name="Rectangle 47"/>
          <p:cNvSpPr/>
          <p:nvPr/>
        </p:nvSpPr>
        <p:spPr>
          <a:xfrm>
            <a:off x="1724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274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264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51" name="Rectangle 50"/>
          <p:cNvSpPr/>
          <p:nvPr/>
        </p:nvSpPr>
        <p:spPr>
          <a:xfrm>
            <a:off x="2824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815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3" name="Rectangle 52"/>
          <p:cNvSpPr/>
          <p:nvPr/>
        </p:nvSpPr>
        <p:spPr>
          <a:xfrm>
            <a:off x="3375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365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5" name="Rectangle 54"/>
          <p:cNvSpPr/>
          <p:nvPr/>
        </p:nvSpPr>
        <p:spPr>
          <a:xfrm>
            <a:off x="3925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475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466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8" name="Rectangle 57"/>
          <p:cNvSpPr/>
          <p:nvPr/>
        </p:nvSpPr>
        <p:spPr>
          <a:xfrm>
            <a:off x="1724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714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0" name="Rectangle 59"/>
          <p:cNvSpPr/>
          <p:nvPr/>
        </p:nvSpPr>
        <p:spPr>
          <a:xfrm>
            <a:off x="2274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824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815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3" name="Rectangle 62"/>
          <p:cNvSpPr/>
          <p:nvPr/>
        </p:nvSpPr>
        <p:spPr>
          <a:xfrm>
            <a:off x="3375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365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5" name="Rectangle 64"/>
          <p:cNvSpPr/>
          <p:nvPr/>
        </p:nvSpPr>
        <p:spPr>
          <a:xfrm>
            <a:off x="3925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915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7" name="Rectangle 66"/>
          <p:cNvSpPr/>
          <p:nvPr/>
        </p:nvSpPr>
        <p:spPr>
          <a:xfrm>
            <a:off x="4475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466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9" name="Rectangle 68"/>
          <p:cNvSpPr/>
          <p:nvPr/>
        </p:nvSpPr>
        <p:spPr>
          <a:xfrm>
            <a:off x="1724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2274358"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264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72" name="Rectangle 71"/>
          <p:cNvSpPr/>
          <p:nvPr/>
        </p:nvSpPr>
        <p:spPr>
          <a:xfrm>
            <a:off x="2824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815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4" name="Rectangle 73"/>
          <p:cNvSpPr/>
          <p:nvPr/>
        </p:nvSpPr>
        <p:spPr>
          <a:xfrm>
            <a:off x="3375025"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365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6" name="Rectangle 75"/>
          <p:cNvSpPr/>
          <p:nvPr/>
        </p:nvSpPr>
        <p:spPr>
          <a:xfrm>
            <a:off x="3925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4475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466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9" name="Rectangle 78"/>
          <p:cNvSpPr/>
          <p:nvPr/>
        </p:nvSpPr>
        <p:spPr>
          <a:xfrm>
            <a:off x="1724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714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1" name="Rectangle 80"/>
          <p:cNvSpPr/>
          <p:nvPr/>
        </p:nvSpPr>
        <p:spPr>
          <a:xfrm>
            <a:off x="2274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824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815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4" name="Rectangle 83"/>
          <p:cNvSpPr/>
          <p:nvPr/>
        </p:nvSpPr>
        <p:spPr>
          <a:xfrm>
            <a:off x="3375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365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6" name="Rectangle 85"/>
          <p:cNvSpPr/>
          <p:nvPr/>
        </p:nvSpPr>
        <p:spPr>
          <a:xfrm>
            <a:off x="3925358"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915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8" name="Rectangle 87"/>
          <p:cNvSpPr/>
          <p:nvPr/>
        </p:nvSpPr>
        <p:spPr>
          <a:xfrm>
            <a:off x="4475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466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0" name="Rectangle 89"/>
          <p:cNvSpPr/>
          <p:nvPr/>
        </p:nvSpPr>
        <p:spPr>
          <a:xfrm>
            <a:off x="1724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2274358"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264833"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93" name="Rectangle 92"/>
          <p:cNvSpPr/>
          <p:nvPr/>
        </p:nvSpPr>
        <p:spPr>
          <a:xfrm>
            <a:off x="2824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815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5" name="Rectangle 94"/>
          <p:cNvSpPr/>
          <p:nvPr/>
        </p:nvSpPr>
        <p:spPr>
          <a:xfrm>
            <a:off x="3375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3365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7" name="Rectangle 96"/>
          <p:cNvSpPr/>
          <p:nvPr/>
        </p:nvSpPr>
        <p:spPr>
          <a:xfrm>
            <a:off x="3925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4475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466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0" name="Rectangle 99"/>
          <p:cNvSpPr/>
          <p:nvPr/>
        </p:nvSpPr>
        <p:spPr>
          <a:xfrm>
            <a:off x="1724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714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2" name="Rectangle 101"/>
          <p:cNvSpPr/>
          <p:nvPr/>
        </p:nvSpPr>
        <p:spPr>
          <a:xfrm>
            <a:off x="2274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2824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2815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5" name="Rectangle 104"/>
          <p:cNvSpPr/>
          <p:nvPr/>
        </p:nvSpPr>
        <p:spPr>
          <a:xfrm>
            <a:off x="3375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3365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7" name="Rectangle 106"/>
          <p:cNvSpPr/>
          <p:nvPr/>
        </p:nvSpPr>
        <p:spPr>
          <a:xfrm>
            <a:off x="3925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915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9" name="Rectangle 108"/>
          <p:cNvSpPr/>
          <p:nvPr/>
        </p:nvSpPr>
        <p:spPr>
          <a:xfrm>
            <a:off x="4475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466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1" name="Rectangle 110"/>
          <p:cNvSpPr/>
          <p:nvPr/>
        </p:nvSpPr>
        <p:spPr>
          <a:xfrm>
            <a:off x="1724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2274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264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14" name="Rectangle 113"/>
          <p:cNvSpPr/>
          <p:nvPr/>
        </p:nvSpPr>
        <p:spPr>
          <a:xfrm>
            <a:off x="2824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815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6" name="Rectangle 115"/>
          <p:cNvSpPr/>
          <p:nvPr/>
        </p:nvSpPr>
        <p:spPr>
          <a:xfrm>
            <a:off x="3375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3365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8" name="Rectangle 117"/>
          <p:cNvSpPr/>
          <p:nvPr/>
        </p:nvSpPr>
        <p:spPr>
          <a:xfrm>
            <a:off x="3925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4475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466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1" name="Rectangle 120"/>
          <p:cNvSpPr/>
          <p:nvPr/>
        </p:nvSpPr>
        <p:spPr>
          <a:xfrm>
            <a:off x="1724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714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3" name="Rectangle 122"/>
          <p:cNvSpPr/>
          <p:nvPr/>
        </p:nvSpPr>
        <p:spPr>
          <a:xfrm>
            <a:off x="2274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2824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2815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6" name="Rectangle 125"/>
          <p:cNvSpPr/>
          <p:nvPr/>
        </p:nvSpPr>
        <p:spPr>
          <a:xfrm>
            <a:off x="3375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365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8" name="Rectangle 127"/>
          <p:cNvSpPr/>
          <p:nvPr/>
        </p:nvSpPr>
        <p:spPr>
          <a:xfrm>
            <a:off x="3925358"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3915833"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0" name="Rectangle 129"/>
          <p:cNvSpPr/>
          <p:nvPr/>
        </p:nvSpPr>
        <p:spPr>
          <a:xfrm>
            <a:off x="4475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4466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2" name="Rectangle 131"/>
          <p:cNvSpPr/>
          <p:nvPr/>
        </p:nvSpPr>
        <p:spPr>
          <a:xfrm>
            <a:off x="1724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2274358"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2264833"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35" name="Rectangle 134"/>
          <p:cNvSpPr/>
          <p:nvPr/>
        </p:nvSpPr>
        <p:spPr>
          <a:xfrm>
            <a:off x="2824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815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7" name="Rectangle 136"/>
          <p:cNvSpPr/>
          <p:nvPr/>
        </p:nvSpPr>
        <p:spPr>
          <a:xfrm>
            <a:off x="3375025"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365500"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9" name="Rectangle 138"/>
          <p:cNvSpPr/>
          <p:nvPr/>
        </p:nvSpPr>
        <p:spPr>
          <a:xfrm>
            <a:off x="3925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4475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4466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42" name="TextBox 141"/>
          <p:cNvSpPr txBox="1"/>
          <p:nvPr/>
        </p:nvSpPr>
        <p:spPr>
          <a:xfrm>
            <a:off x="52070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department</a:t>
            </a:r>
          </a:p>
        </p:txBody>
      </p:sp>
      <p:sp>
        <p:nvSpPr>
          <p:cNvPr id="143" name="TextBox 142"/>
          <p:cNvSpPr txBox="1"/>
          <p:nvPr/>
        </p:nvSpPr>
        <p:spPr>
          <a:xfrm>
            <a:off x="5207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Product &amp; R&amp;D</a:t>
            </a:r>
          </a:p>
        </p:txBody>
      </p:sp>
      <p:sp>
        <p:nvSpPr>
          <p:cNvPr id="144" name="TextBox 143"/>
          <p:cNvSpPr txBox="1"/>
          <p:nvPr/>
        </p:nvSpPr>
        <p:spPr>
          <a:xfrm>
            <a:off x="6032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Corp. dev.</a:t>
            </a:r>
          </a:p>
        </p:txBody>
      </p:sp>
      <p:sp>
        <p:nvSpPr>
          <p:cNvPr id="145" name="TextBox 144"/>
          <p:cNvSpPr txBox="1"/>
          <p:nvPr/>
        </p:nvSpPr>
        <p:spPr>
          <a:xfrm>
            <a:off x="6858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Operations</a:t>
            </a:r>
          </a:p>
        </p:txBody>
      </p:sp>
      <p:sp>
        <p:nvSpPr>
          <p:cNvPr id="146" name="TextBox 145"/>
          <p:cNvSpPr txBox="1"/>
          <p:nvPr/>
        </p:nvSpPr>
        <p:spPr>
          <a:xfrm>
            <a:off x="7683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Legal &amp; reg.</a:t>
            </a:r>
          </a:p>
        </p:txBody>
      </p:sp>
      <p:sp>
        <p:nvSpPr>
          <p:cNvPr id="147" name="Rectangle 146"/>
          <p:cNvSpPr/>
          <p:nvPr/>
        </p:nvSpPr>
        <p:spPr>
          <a:xfrm>
            <a:off x="5216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5207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49" name="Rectangle 148"/>
          <p:cNvSpPr/>
          <p:nvPr/>
        </p:nvSpPr>
        <p:spPr>
          <a:xfrm>
            <a:off x="6042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6032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1" name="Rectangle 150"/>
          <p:cNvSpPr/>
          <p:nvPr/>
        </p:nvSpPr>
        <p:spPr>
          <a:xfrm>
            <a:off x="6867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858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3" name="Rectangle 152"/>
          <p:cNvSpPr/>
          <p:nvPr/>
        </p:nvSpPr>
        <p:spPr>
          <a:xfrm>
            <a:off x="7693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7683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5" name="Rectangle 154"/>
          <p:cNvSpPr/>
          <p:nvPr/>
        </p:nvSpPr>
        <p:spPr>
          <a:xfrm>
            <a:off x="5216525" y="18573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5207000" y="18573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57" name="Rectangle 156"/>
          <p:cNvSpPr/>
          <p:nvPr/>
        </p:nvSpPr>
        <p:spPr>
          <a:xfrm>
            <a:off x="6042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6867525" y="18573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6858000" y="18573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0" name="Rectangle 159"/>
          <p:cNvSpPr/>
          <p:nvPr/>
        </p:nvSpPr>
        <p:spPr>
          <a:xfrm>
            <a:off x="7693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216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5207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3" name="Rectangle 162"/>
          <p:cNvSpPr/>
          <p:nvPr/>
        </p:nvSpPr>
        <p:spPr>
          <a:xfrm>
            <a:off x="6042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032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5" name="Rectangle 164"/>
          <p:cNvSpPr/>
          <p:nvPr/>
        </p:nvSpPr>
        <p:spPr>
          <a:xfrm>
            <a:off x="6867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6858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7" name="Rectangle 166"/>
          <p:cNvSpPr/>
          <p:nvPr/>
        </p:nvSpPr>
        <p:spPr>
          <a:xfrm>
            <a:off x="7693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7683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9" name="Rectangle 168"/>
          <p:cNvSpPr/>
          <p:nvPr/>
        </p:nvSpPr>
        <p:spPr>
          <a:xfrm>
            <a:off x="5216525" y="23526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5207000" y="23526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71" name="Rectangle 170"/>
          <p:cNvSpPr/>
          <p:nvPr/>
        </p:nvSpPr>
        <p:spPr>
          <a:xfrm>
            <a:off x="6042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6867525" y="23526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6858000" y="23526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4" name="Rectangle 173"/>
          <p:cNvSpPr/>
          <p:nvPr/>
        </p:nvSpPr>
        <p:spPr>
          <a:xfrm>
            <a:off x="7693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5216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5207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7" name="Rectangle 176"/>
          <p:cNvSpPr/>
          <p:nvPr/>
        </p:nvSpPr>
        <p:spPr>
          <a:xfrm>
            <a:off x="6042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6032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9" name="Rectangle 178"/>
          <p:cNvSpPr/>
          <p:nvPr/>
        </p:nvSpPr>
        <p:spPr>
          <a:xfrm>
            <a:off x="6867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858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1" name="Rectangle 180"/>
          <p:cNvSpPr/>
          <p:nvPr/>
        </p:nvSpPr>
        <p:spPr>
          <a:xfrm>
            <a:off x="7693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7683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3" name="Rectangle 182"/>
          <p:cNvSpPr/>
          <p:nvPr/>
        </p:nvSpPr>
        <p:spPr>
          <a:xfrm>
            <a:off x="5216525" y="28479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5207000" y="28479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85" name="Rectangle 184"/>
          <p:cNvSpPr/>
          <p:nvPr/>
        </p:nvSpPr>
        <p:spPr>
          <a:xfrm>
            <a:off x="6042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6867525" y="28479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6858000" y="28479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8" name="Rectangle 187"/>
          <p:cNvSpPr/>
          <p:nvPr/>
        </p:nvSpPr>
        <p:spPr>
          <a:xfrm>
            <a:off x="7693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5216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5207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1" name="Rectangle 190"/>
          <p:cNvSpPr/>
          <p:nvPr/>
        </p:nvSpPr>
        <p:spPr>
          <a:xfrm>
            <a:off x="6042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6032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3" name="Rectangle 192"/>
          <p:cNvSpPr/>
          <p:nvPr/>
        </p:nvSpPr>
        <p:spPr>
          <a:xfrm>
            <a:off x="6867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6858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5" name="Rectangle 194"/>
          <p:cNvSpPr/>
          <p:nvPr/>
        </p:nvSpPr>
        <p:spPr>
          <a:xfrm>
            <a:off x="7693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7683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7" name="Rectangle 196"/>
          <p:cNvSpPr/>
          <p:nvPr/>
        </p:nvSpPr>
        <p:spPr>
          <a:xfrm>
            <a:off x="5216525" y="33432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5207000" y="33432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99" name="Rectangle 198"/>
          <p:cNvSpPr/>
          <p:nvPr/>
        </p:nvSpPr>
        <p:spPr>
          <a:xfrm>
            <a:off x="6042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6867525" y="33432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6858000" y="33432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2" name="Rectangle 201"/>
          <p:cNvSpPr/>
          <p:nvPr/>
        </p:nvSpPr>
        <p:spPr>
          <a:xfrm>
            <a:off x="7693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5216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5207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5" name="Rectangle 204"/>
          <p:cNvSpPr/>
          <p:nvPr/>
        </p:nvSpPr>
        <p:spPr>
          <a:xfrm>
            <a:off x="6042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6032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7" name="Rectangle 206"/>
          <p:cNvSpPr/>
          <p:nvPr/>
        </p:nvSpPr>
        <p:spPr>
          <a:xfrm>
            <a:off x="6867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6858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9" name="Rectangle 208"/>
          <p:cNvSpPr/>
          <p:nvPr/>
        </p:nvSpPr>
        <p:spPr>
          <a:xfrm>
            <a:off x="7693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7683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11" name="Rectangle 210"/>
          <p:cNvSpPr/>
          <p:nvPr/>
        </p:nvSpPr>
        <p:spPr>
          <a:xfrm>
            <a:off x="5216525" y="38385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5207000" y="38385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213" name="Rectangle 212"/>
          <p:cNvSpPr/>
          <p:nvPr/>
        </p:nvSpPr>
        <p:spPr>
          <a:xfrm>
            <a:off x="6042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6867525" y="38385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6858000" y="38385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16" name="Rectangle 215"/>
          <p:cNvSpPr/>
          <p:nvPr/>
        </p:nvSpPr>
        <p:spPr>
          <a:xfrm>
            <a:off x="7693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8699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region of activity</a:t>
            </a:r>
          </a:p>
        </p:txBody>
      </p:sp>
      <p:sp>
        <p:nvSpPr>
          <p:cNvPr id="218" name="TextBox 217"/>
          <p:cNvSpPr txBox="1"/>
          <p:nvPr/>
        </p:nvSpPr>
        <p:spPr>
          <a:xfrm>
            <a:off x="8699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N. America</a:t>
            </a:r>
          </a:p>
        </p:txBody>
      </p:sp>
      <p:sp>
        <p:nvSpPr>
          <p:cNvPr id="219" name="TextBox 218"/>
          <p:cNvSpPr txBox="1"/>
          <p:nvPr/>
        </p:nvSpPr>
        <p:spPr>
          <a:xfrm>
            <a:off x="9249833"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Europe</a:t>
            </a:r>
          </a:p>
        </p:txBody>
      </p:sp>
      <p:sp>
        <p:nvSpPr>
          <p:cNvPr id="220" name="TextBox 219"/>
          <p:cNvSpPr txBox="1"/>
          <p:nvPr/>
        </p:nvSpPr>
        <p:spPr>
          <a:xfrm>
            <a:off x="9800167"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S. Asia &amp; Pac.</a:t>
            </a:r>
          </a:p>
        </p:txBody>
      </p:sp>
      <p:sp>
        <p:nvSpPr>
          <p:cNvPr id="221" name="TextBox 220"/>
          <p:cNvSpPr txBox="1"/>
          <p:nvPr/>
        </p:nvSpPr>
        <p:spPr>
          <a:xfrm>
            <a:off x="10350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 Asia</a:t>
            </a:r>
          </a:p>
        </p:txBody>
      </p:sp>
      <p:sp>
        <p:nvSpPr>
          <p:cNvPr id="222" name="TextBox 221"/>
          <p:cNvSpPr txBox="1"/>
          <p:nvPr/>
        </p:nvSpPr>
        <p:spPr>
          <a:xfrm>
            <a:off x="10900833"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LATAM</a:t>
            </a:r>
          </a:p>
        </p:txBody>
      </p:sp>
      <p:sp>
        <p:nvSpPr>
          <p:cNvPr id="223" name="TextBox 222"/>
          <p:cNvSpPr txBox="1"/>
          <p:nvPr/>
        </p:nvSpPr>
        <p:spPr>
          <a:xfrm>
            <a:off x="11451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MEA</a:t>
            </a:r>
          </a:p>
        </p:txBody>
      </p:sp>
      <p:sp>
        <p:nvSpPr>
          <p:cNvPr id="224" name="Rectangle 223"/>
          <p:cNvSpPr/>
          <p:nvPr/>
        </p:nvSpPr>
        <p:spPr>
          <a:xfrm>
            <a:off x="8709025" y="16097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8699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26" name="Rectangle 225"/>
          <p:cNvSpPr/>
          <p:nvPr/>
        </p:nvSpPr>
        <p:spPr>
          <a:xfrm>
            <a:off x="9259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9249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28" name="Rectangle 227"/>
          <p:cNvSpPr/>
          <p:nvPr/>
        </p:nvSpPr>
        <p:spPr>
          <a:xfrm>
            <a:off x="9809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9800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0" name="Rectangle 229"/>
          <p:cNvSpPr/>
          <p:nvPr/>
        </p:nvSpPr>
        <p:spPr>
          <a:xfrm>
            <a:off x="10360025"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10910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11460692"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8709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9259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9249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36" name="Rectangle 235"/>
          <p:cNvSpPr/>
          <p:nvPr/>
        </p:nvSpPr>
        <p:spPr>
          <a:xfrm>
            <a:off x="9809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9800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8" name="Rectangle 237"/>
          <p:cNvSpPr/>
          <p:nvPr/>
        </p:nvSpPr>
        <p:spPr>
          <a:xfrm>
            <a:off x="10360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10350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0" name="Rectangle 239"/>
          <p:cNvSpPr/>
          <p:nvPr/>
        </p:nvSpPr>
        <p:spPr>
          <a:xfrm>
            <a:off x="10910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11460692"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8709025"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9259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9809692" y="21050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TextBox 244"/>
          <p:cNvSpPr txBox="1"/>
          <p:nvPr/>
        </p:nvSpPr>
        <p:spPr>
          <a:xfrm>
            <a:off x="9800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46" name="Rectangle 245"/>
          <p:cNvSpPr/>
          <p:nvPr/>
        </p:nvSpPr>
        <p:spPr>
          <a:xfrm>
            <a:off x="10360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10350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8" name="Rectangle 247"/>
          <p:cNvSpPr/>
          <p:nvPr/>
        </p:nvSpPr>
        <p:spPr>
          <a:xfrm>
            <a:off x="10910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TextBox 248"/>
          <p:cNvSpPr txBox="1"/>
          <p:nvPr/>
        </p:nvSpPr>
        <p:spPr>
          <a:xfrm>
            <a:off x="10900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0" name="Rectangle 249"/>
          <p:cNvSpPr/>
          <p:nvPr/>
        </p:nvSpPr>
        <p:spPr>
          <a:xfrm>
            <a:off x="11460692"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8709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9259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9809692"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10360025"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10350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56" name="Rectangle 255"/>
          <p:cNvSpPr/>
          <p:nvPr/>
        </p:nvSpPr>
        <p:spPr>
          <a:xfrm>
            <a:off x="10910358"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TextBox 256"/>
          <p:cNvSpPr txBox="1"/>
          <p:nvPr/>
        </p:nvSpPr>
        <p:spPr>
          <a:xfrm>
            <a:off x="10900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8" name="Rectangle 257"/>
          <p:cNvSpPr/>
          <p:nvPr/>
        </p:nvSpPr>
        <p:spPr>
          <a:xfrm>
            <a:off x="11460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11451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0" name="Rectangle 259"/>
          <p:cNvSpPr/>
          <p:nvPr/>
        </p:nvSpPr>
        <p:spPr>
          <a:xfrm>
            <a:off x="8709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8699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2" name="Rectangle 261"/>
          <p:cNvSpPr/>
          <p:nvPr/>
        </p:nvSpPr>
        <p:spPr>
          <a:xfrm>
            <a:off x="9259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9809692"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10360025"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10910358" y="26003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TextBox 265"/>
          <p:cNvSpPr txBox="1"/>
          <p:nvPr/>
        </p:nvSpPr>
        <p:spPr>
          <a:xfrm>
            <a:off x="10900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67" name="Rectangle 266"/>
          <p:cNvSpPr/>
          <p:nvPr/>
        </p:nvSpPr>
        <p:spPr>
          <a:xfrm>
            <a:off x="11460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TextBox 267"/>
          <p:cNvSpPr txBox="1"/>
          <p:nvPr/>
        </p:nvSpPr>
        <p:spPr>
          <a:xfrm>
            <a:off x="11451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9" name="Rectangle 268"/>
          <p:cNvSpPr/>
          <p:nvPr/>
        </p:nvSpPr>
        <p:spPr>
          <a:xfrm>
            <a:off x="8709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8699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71" name="Rectangle 270"/>
          <p:cNvSpPr/>
          <p:nvPr/>
        </p:nvSpPr>
        <p:spPr>
          <a:xfrm>
            <a:off x="9259358"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TextBox 271"/>
          <p:cNvSpPr txBox="1"/>
          <p:nvPr/>
        </p:nvSpPr>
        <p:spPr>
          <a:xfrm>
            <a:off x="9249833"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73" name="Rectangle 272"/>
          <p:cNvSpPr/>
          <p:nvPr/>
        </p:nvSpPr>
        <p:spPr>
          <a:xfrm>
            <a:off x="9809692"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ectangle 273"/>
          <p:cNvSpPr/>
          <p:nvPr/>
        </p:nvSpPr>
        <p:spPr>
          <a:xfrm>
            <a:off x="10360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Rectangle 274"/>
          <p:cNvSpPr/>
          <p:nvPr/>
        </p:nvSpPr>
        <p:spPr>
          <a:xfrm>
            <a:off x="10910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Rectangle 275"/>
          <p:cNvSpPr/>
          <p:nvPr/>
        </p:nvSpPr>
        <p:spPr>
          <a:xfrm>
            <a:off x="11460692"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TextBox 276"/>
          <p:cNvSpPr txBox="1"/>
          <p:nvPr/>
        </p:nvSpPr>
        <p:spPr>
          <a:xfrm>
            <a:off x="11451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78" name="Rectangle 277"/>
          <p:cNvSpPr/>
          <p:nvPr/>
        </p:nvSpPr>
        <p:spPr>
          <a:xfrm>
            <a:off x="8709025" y="30956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8699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80" name="Rectangle 279"/>
          <p:cNvSpPr/>
          <p:nvPr/>
        </p:nvSpPr>
        <p:spPr>
          <a:xfrm>
            <a:off x="9259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TextBox 280"/>
          <p:cNvSpPr txBox="1"/>
          <p:nvPr/>
        </p:nvSpPr>
        <p:spPr>
          <a:xfrm>
            <a:off x="9249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82" name="Rectangle 281"/>
          <p:cNvSpPr/>
          <p:nvPr/>
        </p:nvSpPr>
        <p:spPr>
          <a:xfrm>
            <a:off x="9809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TextBox 282"/>
          <p:cNvSpPr txBox="1"/>
          <p:nvPr/>
        </p:nvSpPr>
        <p:spPr>
          <a:xfrm>
            <a:off x="9800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84" name="Rectangle 283"/>
          <p:cNvSpPr/>
          <p:nvPr/>
        </p:nvSpPr>
        <p:spPr>
          <a:xfrm>
            <a:off x="10360025"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ectangle 284"/>
          <p:cNvSpPr/>
          <p:nvPr/>
        </p:nvSpPr>
        <p:spPr>
          <a:xfrm>
            <a:off x="10910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11460692"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Rectangle 286"/>
          <p:cNvSpPr/>
          <p:nvPr/>
        </p:nvSpPr>
        <p:spPr>
          <a:xfrm>
            <a:off x="8709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ectangle 287"/>
          <p:cNvSpPr/>
          <p:nvPr/>
        </p:nvSpPr>
        <p:spPr>
          <a:xfrm>
            <a:off x="9259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TextBox 288"/>
          <p:cNvSpPr txBox="1"/>
          <p:nvPr/>
        </p:nvSpPr>
        <p:spPr>
          <a:xfrm>
            <a:off x="9249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90" name="Rectangle 289"/>
          <p:cNvSpPr/>
          <p:nvPr/>
        </p:nvSpPr>
        <p:spPr>
          <a:xfrm>
            <a:off x="9809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TextBox 290"/>
          <p:cNvSpPr txBox="1"/>
          <p:nvPr/>
        </p:nvSpPr>
        <p:spPr>
          <a:xfrm>
            <a:off x="9800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92" name="Rectangle 291"/>
          <p:cNvSpPr/>
          <p:nvPr/>
        </p:nvSpPr>
        <p:spPr>
          <a:xfrm>
            <a:off x="10360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TextBox 292"/>
          <p:cNvSpPr txBox="1"/>
          <p:nvPr/>
        </p:nvSpPr>
        <p:spPr>
          <a:xfrm>
            <a:off x="10350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94" name="Rectangle 293"/>
          <p:cNvSpPr/>
          <p:nvPr/>
        </p:nvSpPr>
        <p:spPr>
          <a:xfrm>
            <a:off x="10910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ectangle 294"/>
          <p:cNvSpPr/>
          <p:nvPr/>
        </p:nvSpPr>
        <p:spPr>
          <a:xfrm>
            <a:off x="11460692"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Rectangle 295"/>
          <p:cNvSpPr/>
          <p:nvPr/>
        </p:nvSpPr>
        <p:spPr>
          <a:xfrm>
            <a:off x="8709025"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Rectangle 296"/>
          <p:cNvSpPr/>
          <p:nvPr/>
        </p:nvSpPr>
        <p:spPr>
          <a:xfrm>
            <a:off x="9259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Rectangle 297"/>
          <p:cNvSpPr/>
          <p:nvPr/>
        </p:nvSpPr>
        <p:spPr>
          <a:xfrm>
            <a:off x="9809692" y="35909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TextBox 298"/>
          <p:cNvSpPr txBox="1"/>
          <p:nvPr/>
        </p:nvSpPr>
        <p:spPr>
          <a:xfrm>
            <a:off x="9800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300" name="Rectangle 299"/>
          <p:cNvSpPr/>
          <p:nvPr/>
        </p:nvSpPr>
        <p:spPr>
          <a:xfrm>
            <a:off x="10360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TextBox 300"/>
          <p:cNvSpPr txBox="1"/>
          <p:nvPr/>
        </p:nvSpPr>
        <p:spPr>
          <a:xfrm>
            <a:off x="10350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02" name="Rectangle 301"/>
          <p:cNvSpPr/>
          <p:nvPr/>
        </p:nvSpPr>
        <p:spPr>
          <a:xfrm>
            <a:off x="10910358"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TextBox 302"/>
          <p:cNvSpPr txBox="1"/>
          <p:nvPr/>
        </p:nvSpPr>
        <p:spPr>
          <a:xfrm>
            <a:off x="10900833"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04" name="Rectangle 303"/>
          <p:cNvSpPr/>
          <p:nvPr/>
        </p:nvSpPr>
        <p:spPr>
          <a:xfrm>
            <a:off x="11460692"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Rectangle 304"/>
          <p:cNvSpPr/>
          <p:nvPr/>
        </p:nvSpPr>
        <p:spPr>
          <a:xfrm>
            <a:off x="8709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ectangle 305"/>
          <p:cNvSpPr/>
          <p:nvPr/>
        </p:nvSpPr>
        <p:spPr>
          <a:xfrm>
            <a:off x="9259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Rectangle 306"/>
          <p:cNvSpPr/>
          <p:nvPr/>
        </p:nvSpPr>
        <p:spPr>
          <a:xfrm>
            <a:off x="9809692"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Rectangle 307"/>
          <p:cNvSpPr/>
          <p:nvPr/>
        </p:nvSpPr>
        <p:spPr>
          <a:xfrm>
            <a:off x="10360025"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TextBox 308"/>
          <p:cNvSpPr txBox="1"/>
          <p:nvPr/>
        </p:nvSpPr>
        <p:spPr>
          <a:xfrm>
            <a:off x="10350500"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310" name="Rectangle 309"/>
          <p:cNvSpPr/>
          <p:nvPr/>
        </p:nvSpPr>
        <p:spPr>
          <a:xfrm>
            <a:off x="10910358"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TextBox 310"/>
          <p:cNvSpPr txBox="1"/>
          <p:nvPr/>
        </p:nvSpPr>
        <p:spPr>
          <a:xfrm>
            <a:off x="10900833"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12" name="Rectangle 311"/>
          <p:cNvSpPr/>
          <p:nvPr/>
        </p:nvSpPr>
        <p:spPr>
          <a:xfrm>
            <a:off x="11460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TextBox 312"/>
          <p:cNvSpPr txBox="1"/>
          <p:nvPr/>
        </p:nvSpPr>
        <p:spPr>
          <a:xfrm>
            <a:off x="11451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14" name="Rectangle 313"/>
          <p:cNvSpPr/>
          <p:nvPr/>
        </p:nvSpPr>
        <p:spPr>
          <a:xfrm>
            <a:off x="190500" y="4171950"/>
            <a:ext cx="209550" cy="123825"/>
          </a:xfrm>
          <a:prstGeom prst="rect">
            <a:avLst/>
          </a:prstGeom>
          <a:solidFill>
            <a:srgbClr val="CFE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TextBox 314"/>
          <p:cNvSpPr txBox="1"/>
          <p:nvPr/>
        </p:nvSpPr>
        <p:spPr>
          <a:xfrm>
            <a:off x="4381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1 move</a:t>
            </a:r>
          </a:p>
        </p:txBody>
      </p:sp>
      <p:sp>
        <p:nvSpPr>
          <p:cNvPr id="316" name="Rectangle 315"/>
          <p:cNvSpPr/>
          <p:nvPr/>
        </p:nvSpPr>
        <p:spPr>
          <a:xfrm>
            <a:off x="1238250" y="4171950"/>
            <a:ext cx="209550" cy="123825"/>
          </a:xfrm>
          <a:prstGeom prst="rect">
            <a:avLst/>
          </a:prstGeom>
          <a:solidFill>
            <a:srgbClr val="8FB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TextBox 316"/>
          <p:cNvSpPr txBox="1"/>
          <p:nvPr/>
        </p:nvSpPr>
        <p:spPr>
          <a:xfrm>
            <a:off x="148590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2 moves</a:t>
            </a:r>
          </a:p>
        </p:txBody>
      </p:sp>
      <p:sp>
        <p:nvSpPr>
          <p:cNvPr id="318" name="Rectangle 317"/>
          <p:cNvSpPr/>
          <p:nvPr/>
        </p:nvSpPr>
        <p:spPr>
          <a:xfrm>
            <a:off x="2286000" y="4171950"/>
            <a:ext cx="209550" cy="123825"/>
          </a:xfrm>
          <a:prstGeom prst="rect">
            <a:avLst/>
          </a:prstGeom>
          <a:solidFill>
            <a:srgbClr val="3D7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TextBox 318"/>
          <p:cNvSpPr txBox="1"/>
          <p:nvPr/>
        </p:nvSpPr>
        <p:spPr>
          <a:xfrm>
            <a:off x="25336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3+ moves</a:t>
            </a:r>
          </a:p>
        </p:txBody>
      </p:sp>
      <p:sp>
        <p:nvSpPr>
          <p:cNvPr id="320" name="TextBox 319"/>
          <p:cNvSpPr txBox="1"/>
          <p:nvPr/>
        </p:nvSpPr>
        <p:spPr>
          <a:xfrm>
            <a:off x="3524250" y="4133850"/>
            <a:ext cx="8477250" cy="190500"/>
          </a:xfrm>
          <a:prstGeom prst="rect">
            <a:avLst/>
          </a:prstGeom>
          <a:noFill/>
        </p:spPr>
        <p:txBody>
          <a:bodyPr wrap="square" lIns="28575" rIns="28575" tIns="9525" bIns="9525" anchor="ctr">
            <a:spAutoFit/>
          </a:bodyPr>
          <a:lstStyle/>
          <a:p>
            <a:pPr algn="l"/>
            <a:r>
              <a:rPr sz="1100" b="0">
                <a:solidFill>
                  <a:srgbClr val="5F6B7A"/>
                </a:solidFill>
                <a:latin typeface="Calibri"/>
              </a:rPr>
              <a:t>Type codes: MA M&amp;A, PR Product / portfolio, EX Expansion, RD R&amp;D / technology, RG Regulation / compliance, CP Capital / funding</a:t>
            </a:r>
          </a:p>
        </p:txBody>
      </p:sp>
      <p:cxnSp>
        <p:nvCxnSpPr>
          <p:cNvPr id="321" name="Connector 320"/>
          <p:cNvCxnSpPr/>
          <p:nvPr/>
        </p:nvCxnSpPr>
        <p:spPr>
          <a:xfrm>
            <a:off x="190500" y="4400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22" name="TextBox 321"/>
          <p:cNvSpPr txBox="1"/>
          <p:nvPr/>
        </p:nvSpPr>
        <p:spPr>
          <a:xfrm>
            <a:off x="190500" y="445770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WHAT IT MEANS FOR EACH OF YOUR DEPARTMENTS</a:t>
            </a:r>
          </a:p>
        </p:txBody>
      </p:sp>
      <p:sp>
        <p:nvSpPr>
          <p:cNvPr id="323" name="Rectangle 322"/>
          <p:cNvSpPr/>
          <p:nvPr/>
        </p:nvSpPr>
        <p:spPr>
          <a:xfrm>
            <a:off x="1905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TextBox 323"/>
          <p:cNvSpPr txBox="1"/>
          <p:nvPr/>
        </p:nvSpPr>
        <p:spPr>
          <a:xfrm>
            <a:off x="2667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Sales</a:t>
            </a:r>
          </a:p>
        </p:txBody>
      </p:sp>
      <p:sp>
        <p:nvSpPr>
          <p:cNvPr id="325" name="TextBox 324"/>
          <p:cNvSpPr txBox="1"/>
          <p:nvPr/>
        </p:nvSpPr>
        <p:spPr>
          <a:xfrm>
            <a:off x="1905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10 expansion moves target new regions and volume tiers: defend key accounts where rivals expand.</a:t>
            </a:r>
          </a:p>
        </p:txBody>
      </p:sp>
      <p:sp>
        <p:nvSpPr>
          <p:cNvPr id="326" name="Rectangle 325"/>
          <p:cNvSpPr/>
          <p:nvPr/>
        </p:nvSpPr>
        <p:spPr>
          <a:xfrm>
            <a:off x="21780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22542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Marketing</a:t>
            </a:r>
          </a:p>
        </p:txBody>
      </p:sp>
      <p:sp>
        <p:nvSpPr>
          <p:cNvPr id="328" name="TextBox 327"/>
          <p:cNvSpPr txBox="1"/>
          <p:nvPr/>
        </p:nvSpPr>
        <p:spPr>
          <a:xfrm>
            <a:off x="21780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Certification and compliance are being used as trust signals; make your own credentials visible.</a:t>
            </a:r>
          </a:p>
        </p:txBody>
      </p:sp>
      <p:sp>
        <p:nvSpPr>
          <p:cNvPr id="329" name="Rectangle 328"/>
          <p:cNvSpPr/>
          <p:nvPr/>
        </p:nvSpPr>
        <p:spPr>
          <a:xfrm>
            <a:off x="41656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TextBox 329"/>
          <p:cNvSpPr txBox="1"/>
          <p:nvPr/>
        </p:nvSpPr>
        <p:spPr>
          <a:xfrm>
            <a:off x="42418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Product and R&amp;D</a:t>
            </a:r>
          </a:p>
        </p:txBody>
      </p:sp>
      <p:sp>
        <p:nvSpPr>
          <p:cNvPr id="331" name="TextBox 330"/>
          <p:cNvSpPr txBox="1"/>
          <p:nvPr/>
        </p:nvSpPr>
        <p:spPr>
          <a:xfrm>
            <a:off x="41656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20 product and R&amp;D moves: benchmark launches and the technology roadmap.</a:t>
            </a:r>
          </a:p>
        </p:txBody>
      </p:sp>
      <p:sp>
        <p:nvSpPr>
          <p:cNvPr id="332" name="Rectangle 331"/>
          <p:cNvSpPr/>
          <p:nvPr/>
        </p:nvSpPr>
        <p:spPr>
          <a:xfrm>
            <a:off x="61531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TextBox 332"/>
          <p:cNvSpPr txBox="1"/>
          <p:nvPr/>
        </p:nvSpPr>
        <p:spPr>
          <a:xfrm>
            <a:off x="62293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Corporate development</a:t>
            </a:r>
          </a:p>
        </p:txBody>
      </p:sp>
      <p:sp>
        <p:nvSpPr>
          <p:cNvPr id="334" name="TextBox 333"/>
          <p:cNvSpPr txBox="1"/>
          <p:nvPr/>
        </p:nvSpPr>
        <p:spPr>
          <a:xfrm>
            <a:off x="61531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5 players are acquiring; the independent target list is shrinking.</a:t>
            </a:r>
          </a:p>
        </p:txBody>
      </p:sp>
      <p:sp>
        <p:nvSpPr>
          <p:cNvPr id="335" name="Rectangle 334"/>
          <p:cNvSpPr/>
          <p:nvPr/>
        </p:nvSpPr>
        <p:spPr>
          <a:xfrm>
            <a:off x="81407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82169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Operations</a:t>
            </a:r>
          </a:p>
        </p:txBody>
      </p:sp>
      <p:sp>
        <p:nvSpPr>
          <p:cNvPr id="337" name="TextBox 336"/>
          <p:cNvSpPr txBox="1"/>
          <p:nvPr/>
        </p:nvSpPr>
        <p:spPr>
          <a:xfrm>
            <a:off x="81407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Expansion moves add capacity in rivals' home regions; review supply and lead times.</a:t>
            </a:r>
          </a:p>
        </p:txBody>
      </p:sp>
      <p:sp>
        <p:nvSpPr>
          <p:cNvPr id="338" name="Rectangle 337"/>
          <p:cNvSpPr/>
          <p:nvPr/>
        </p:nvSpPr>
        <p:spPr>
          <a:xfrm>
            <a:off x="101282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TextBox 338"/>
          <p:cNvSpPr txBox="1"/>
          <p:nvPr/>
        </p:nvSpPr>
        <p:spPr>
          <a:xfrm>
            <a:off x="102044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Legal and regulatory</a:t>
            </a:r>
          </a:p>
        </p:txBody>
      </p:sp>
      <p:sp>
        <p:nvSpPr>
          <p:cNvPr id="340" name="TextBox 339"/>
          <p:cNvSpPr txBox="1"/>
          <p:nvPr/>
        </p:nvSpPr>
        <p:spPr>
          <a:xfrm>
            <a:off x="101282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5 players lean on certification; audit your own compliance position.</a:t>
            </a:r>
          </a:p>
        </p:txBody>
      </p:sp>
      <p:sp>
        <p:nvSpPr>
          <p:cNvPr id="341" name="TextBox 3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Senior Dog Cognitive Supplement Market, Global 2026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10" name="Rounded Rectangle 9"/>
          <p:cNvSpPr/>
          <p:nvPr/>
        </p:nvSpPr>
        <p:spPr>
          <a:xfrm>
            <a:off x="142875" y="1047750"/>
            <a:ext cx="5810250" cy="4000500"/>
          </a:xfrm>
          <a:prstGeom prst="roundRect">
            <a:avLst>
              <a:gd name="adj" fmla="val 131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049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Tier Ladder – Share of Market Value, 2026</a:t>
            </a:r>
          </a:p>
        </p:txBody>
      </p:sp>
      <p:sp>
        <p:nvSpPr>
          <p:cNvPr id="12" name="TextBox 11"/>
          <p:cNvSpPr txBox="1"/>
          <p:nvPr/>
        </p:nvSpPr>
        <p:spPr>
          <a:xfrm>
            <a:off x="238125" y="1304925"/>
            <a:ext cx="5619750" cy="247650"/>
          </a:xfrm>
          <a:prstGeom prst="rect">
            <a:avLst/>
          </a:prstGeom>
          <a:noFill/>
        </p:spPr>
        <p:txBody>
          <a:bodyPr wrap="square" lIns="28575" rIns="28575" tIns="9525" bIns="9525" anchor="ctr">
            <a:spAutoFit/>
          </a:bodyPr>
          <a:lstStyle/>
          <a:p>
            <a:pPr algn="l"/>
            <a:r>
              <a:rPr sz="1100" b="0">
                <a:solidFill>
                  <a:srgbClr val="6B7280"/>
                </a:solidFill>
                <a:latin typeface="Calibri"/>
              </a:rPr>
              <a:t/>
            </a:r>
          </a:p>
        </p:txBody>
      </p:sp>
      <p:sp>
        <p:nvSpPr>
          <p:cNvPr id="13" name="TextBox 12"/>
          <p:cNvSpPr txBox="1"/>
          <p:nvPr/>
        </p:nvSpPr>
        <p:spPr>
          <a:xfrm>
            <a:off x="257175" y="16002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1</a:t>
            </a:r>
          </a:p>
        </p:txBody>
      </p:sp>
      <p:sp>
        <p:nvSpPr>
          <p:cNvPr id="14" name="TextBox 13"/>
          <p:cNvSpPr txBox="1"/>
          <p:nvPr/>
        </p:nvSpPr>
        <p:spPr>
          <a:xfrm>
            <a:off x="257175" y="18097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Top / global players</a:t>
            </a:r>
          </a:p>
        </p:txBody>
      </p:sp>
      <p:sp>
        <p:nvSpPr>
          <p:cNvPr id="15" name="Rectangle 14"/>
          <p:cNvSpPr/>
          <p:nvPr/>
        </p:nvSpPr>
        <p:spPr>
          <a:xfrm>
            <a:off x="1266825" y="1581150"/>
            <a:ext cx="4533900" cy="476250"/>
          </a:xfrm>
          <a:prstGeom prst="rect">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62075" y="16097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17" name="TextBox 16"/>
          <p:cNvSpPr txBox="1"/>
          <p:nvPr/>
        </p:nvSpPr>
        <p:spPr>
          <a:xfrm>
            <a:off x="1362075" y="1809750"/>
            <a:ext cx="4381500"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18" name="TextBox 17"/>
          <p:cNvSpPr txBox="1"/>
          <p:nvPr/>
        </p:nvSpPr>
        <p:spPr>
          <a:xfrm>
            <a:off x="1266825" y="20669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Standard Process · VetriScience · Dr. Fossum's · Nestlé Purina PetCare</a:t>
            </a:r>
          </a:p>
        </p:txBody>
      </p:sp>
      <p:sp>
        <p:nvSpPr>
          <p:cNvPr id="19" name="TextBox 18"/>
          <p:cNvSpPr txBox="1"/>
          <p:nvPr/>
        </p:nvSpPr>
        <p:spPr>
          <a:xfrm>
            <a:off x="257175" y="24574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2</a:t>
            </a:r>
          </a:p>
        </p:txBody>
      </p:sp>
      <p:sp>
        <p:nvSpPr>
          <p:cNvPr id="20" name="TextBox 19"/>
          <p:cNvSpPr txBox="1"/>
          <p:nvPr/>
        </p:nvSpPr>
        <p:spPr>
          <a:xfrm>
            <a:off x="257175" y="26670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Mid-sized players</a:t>
            </a:r>
          </a:p>
        </p:txBody>
      </p:sp>
      <p:sp>
        <p:nvSpPr>
          <p:cNvPr id="21" name="Rectangle 20"/>
          <p:cNvSpPr/>
          <p:nvPr/>
        </p:nvSpPr>
        <p:spPr>
          <a:xfrm>
            <a:off x="1266825" y="2438400"/>
            <a:ext cx="3786554" cy="47625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62075" y="246697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3" name="TextBox 22"/>
          <p:cNvSpPr txBox="1"/>
          <p:nvPr/>
        </p:nvSpPr>
        <p:spPr>
          <a:xfrm>
            <a:off x="1362075" y="2667000"/>
            <a:ext cx="3634154"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24" name="TextBox 23"/>
          <p:cNvSpPr txBox="1"/>
          <p:nvPr/>
        </p:nvSpPr>
        <p:spPr>
          <a:xfrm>
            <a:off x="1266825" y="29241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PetHeal · Senior Dogs Club</a:t>
            </a:r>
          </a:p>
        </p:txBody>
      </p:sp>
      <p:sp>
        <p:nvSpPr>
          <p:cNvPr id="25" name="TextBox 24"/>
          <p:cNvSpPr txBox="1"/>
          <p:nvPr/>
        </p:nvSpPr>
        <p:spPr>
          <a:xfrm>
            <a:off x="257175" y="33147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3</a:t>
            </a:r>
          </a:p>
        </p:txBody>
      </p:sp>
      <p:sp>
        <p:nvSpPr>
          <p:cNvPr id="26" name="TextBox 25"/>
          <p:cNvSpPr txBox="1"/>
          <p:nvPr/>
        </p:nvSpPr>
        <p:spPr>
          <a:xfrm>
            <a:off x="257175" y="35242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Emerging / local players</a:t>
            </a:r>
          </a:p>
        </p:txBody>
      </p:sp>
      <p:sp>
        <p:nvSpPr>
          <p:cNvPr id="27" name="Rectangle 26"/>
          <p:cNvSpPr/>
          <p:nvPr/>
        </p:nvSpPr>
        <p:spPr>
          <a:xfrm>
            <a:off x="1266825" y="3295650"/>
            <a:ext cx="3487615" cy="4762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62075" y="33242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9" name="TextBox 28"/>
          <p:cNvSpPr txBox="1"/>
          <p:nvPr/>
        </p:nvSpPr>
        <p:spPr>
          <a:xfrm>
            <a:off x="1362075" y="3524250"/>
            <a:ext cx="3335215"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30" name="TextBox 29"/>
          <p:cNvSpPr txBox="1"/>
          <p:nvPr/>
        </p:nvSpPr>
        <p:spPr>
          <a:xfrm>
            <a:off x="1266825" y="37814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VISYO Corporation · NaturVet · Zesty Paws · Ark Naturals</a:t>
            </a:r>
          </a:p>
        </p:txBody>
      </p:sp>
      <p:sp>
        <p:nvSpPr>
          <p:cNvPr id="31" name="TextBox 30"/>
          <p:cNvSpPr txBox="1"/>
          <p:nvPr/>
        </p:nvSpPr>
        <p:spPr>
          <a:xfrm>
            <a:off x="257175" y="41719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Others</a:t>
            </a:r>
          </a:p>
        </p:txBody>
      </p:sp>
      <p:sp>
        <p:nvSpPr>
          <p:cNvPr id="32" name="TextBox 31"/>
          <p:cNvSpPr txBox="1"/>
          <p:nvPr/>
        </p:nvSpPr>
        <p:spPr>
          <a:xfrm>
            <a:off x="257175" y="43815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Long tail</a:t>
            </a:r>
          </a:p>
        </p:txBody>
      </p:sp>
      <p:sp>
        <p:nvSpPr>
          <p:cNvPr id="33" name="Rectangle 32"/>
          <p:cNvSpPr/>
          <p:nvPr/>
        </p:nvSpPr>
        <p:spPr>
          <a:xfrm>
            <a:off x="1266825" y="4152900"/>
            <a:ext cx="3637085" cy="476250"/>
          </a:xfrm>
          <a:prstGeom prst="rect">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62075" y="4181475"/>
            <a:ext cx="666750" cy="209550"/>
          </a:xfrm>
          <a:prstGeom prst="rect">
            <a:avLst/>
          </a:prstGeom>
          <a:noFill/>
        </p:spPr>
        <p:txBody>
          <a:bodyPr wrap="square" lIns="28575" rIns="28575" tIns="9525" bIns="9525" anchor="ctr">
            <a:spAutoFit/>
          </a:bodyPr>
          <a:lstStyle/>
          <a:p>
            <a:pPr algn="l"/>
            <a:r>
              <a:rPr sz="1100" b="1">
                <a:solidFill>
                  <a:srgbClr val="14213D"/>
                </a:solidFill>
                <a:latin typeface="Calibri"/>
              </a:rPr>
              <a:t> </a:t>
            </a:r>
          </a:p>
        </p:txBody>
      </p:sp>
      <p:sp>
        <p:nvSpPr>
          <p:cNvPr id="35" name="TextBox 34"/>
          <p:cNvSpPr txBox="1"/>
          <p:nvPr/>
        </p:nvSpPr>
        <p:spPr>
          <a:xfrm>
            <a:off x="1362075" y="4381500"/>
            <a:ext cx="3484685" cy="247650"/>
          </a:xfrm>
          <a:prstGeom prst="rect">
            <a:avLst/>
          </a:prstGeom>
          <a:noFill/>
        </p:spPr>
        <p:txBody>
          <a:bodyPr wrap="square" lIns="28575" rIns="28575" tIns="9525" bIns="9525" anchor="ctr">
            <a:spAutoFit/>
          </a:bodyPr>
          <a:lstStyle/>
          <a:p>
            <a:pPr algn="l"/>
            <a:r>
              <a:rPr sz="1100" b="0">
                <a:solidFill>
                  <a:srgbClr val="14213D"/>
                </a:solidFill>
                <a:latin typeface="Calibri"/>
              </a:rPr>
              <a:t/>
            </a:r>
          </a:p>
        </p:txBody>
      </p:sp>
      <p:sp>
        <p:nvSpPr>
          <p:cNvPr id="36" name="TextBox 35"/>
          <p:cNvSpPr txBox="1"/>
          <p:nvPr/>
        </p:nvSpPr>
        <p:spPr>
          <a:xfrm>
            <a:off x="1266825" y="46386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Regional &amp; niche suppliers</a:t>
            </a:r>
          </a:p>
        </p:txBody>
      </p:sp>
      <p:sp>
        <p:nvSpPr>
          <p:cNvPr id="37" name="Rounded Rectangle 36"/>
          <p:cNvSpPr/>
          <p:nvPr/>
        </p:nvSpPr>
        <p:spPr>
          <a:xfrm>
            <a:off x="142875" y="5162550"/>
            <a:ext cx="5810250" cy="1466850"/>
          </a:xfrm>
          <a:prstGeom prst="roundRect">
            <a:avLst>
              <a:gd name="adj" fmla="val 131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38125" y="52197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Concentration Read-out</a:t>
            </a:r>
          </a:p>
        </p:txBody>
      </p:sp>
      <p:sp>
        <p:nvSpPr>
          <p:cNvPr id="39" name="Rectangle 38"/>
          <p:cNvSpPr/>
          <p:nvPr/>
        </p:nvSpPr>
        <p:spPr>
          <a:xfrm>
            <a:off x="276225" y="5505450"/>
            <a:ext cx="1847850" cy="247650"/>
          </a:xfrm>
          <a:prstGeom prst="rect">
            <a:avLst/>
          </a:prstGeom>
          <a:solidFill>
            <a:srgbClr val="C9DAF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505450"/>
            <a:ext cx="1847850" cy="247650"/>
          </a:xfrm>
          <a:prstGeom prst="rect">
            <a:avLst/>
          </a:prstGeom>
          <a:noFill/>
        </p:spPr>
        <p:txBody>
          <a:bodyPr wrap="square" lIns="28575" rIns="28575" tIns="9525" bIns="9525" anchor="ctr">
            <a:spAutoFit/>
          </a:bodyPr>
          <a:lstStyle/>
          <a:p>
            <a:pPr algn="ctr"/>
            <a:r>
              <a:rPr sz="1100" b="1">
                <a:solidFill>
                  <a:srgbClr val="14213D"/>
                </a:solidFill>
                <a:latin typeface="Calibri"/>
              </a:rPr>
              <a:t>Fragmented HHI &lt; 1,500</a:t>
            </a:r>
          </a:p>
        </p:txBody>
      </p:sp>
      <p:sp>
        <p:nvSpPr>
          <p:cNvPr id="41" name="Rectangle 40"/>
          <p:cNvSpPr/>
          <p:nvPr/>
        </p:nvSpPr>
        <p:spPr>
          <a:xfrm>
            <a:off x="2124075" y="5505450"/>
            <a:ext cx="1847850"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12407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Moderate 1,500–2,500</a:t>
            </a:r>
          </a:p>
        </p:txBody>
      </p:sp>
      <p:sp>
        <p:nvSpPr>
          <p:cNvPr id="43" name="Rectangle 42"/>
          <p:cNvSpPr/>
          <p:nvPr/>
        </p:nvSpPr>
        <p:spPr>
          <a:xfrm>
            <a:off x="3971925" y="5505450"/>
            <a:ext cx="18478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7192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Concentrated &gt; 2,500</a:t>
            </a:r>
          </a:p>
        </p:txBody>
      </p:sp>
      <p:sp>
        <p:nvSpPr>
          <p:cNvPr id="45" name="TextBox 44"/>
          <p:cNvSpPr txBox="1"/>
          <p:nvPr/>
        </p:nvSpPr>
        <p:spPr>
          <a:xfrm>
            <a:off x="669665" y="5762625"/>
            <a:ext cx="1714500" cy="24765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6" name="TextBox 45"/>
          <p:cNvSpPr txBox="1"/>
          <p:nvPr/>
        </p:nvSpPr>
        <p:spPr>
          <a:xfrm>
            <a:off x="238125" y="5981700"/>
            <a:ext cx="5619750" cy="41910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7" name="Rounded Rectangle 46"/>
          <p:cNvSpPr/>
          <p:nvPr/>
        </p:nvSpPr>
        <p:spPr>
          <a:xfrm>
            <a:off x="6096000" y="1047750"/>
            <a:ext cx="5953125" cy="4000500"/>
          </a:xfrm>
          <a:prstGeom prst="roundRect">
            <a:avLst>
              <a:gd name="adj" fmla="val 12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91250" y="11049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Tier Profile Matrix</a:t>
            </a:r>
          </a:p>
        </p:txBody>
      </p:sp>
      <p:sp>
        <p:nvSpPr>
          <p:cNvPr id="49" name="TextBox 48"/>
          <p:cNvSpPr txBox="1"/>
          <p:nvPr/>
        </p:nvSpPr>
        <p:spPr>
          <a:xfrm>
            <a:off x="6191250" y="1304925"/>
            <a:ext cx="5762625" cy="247650"/>
          </a:xfrm>
          <a:prstGeom prst="rect">
            <a:avLst/>
          </a:prstGeom>
          <a:noFill/>
        </p:spPr>
        <p:txBody>
          <a:bodyPr wrap="square" lIns="28575" rIns="28575" tIns="9525" bIns="9525" anchor="ctr">
            <a:spAutoFit/>
          </a:bodyPr>
          <a:lstStyle/>
          <a:p>
            <a:pPr algn="l"/>
            <a:r>
              <a:rPr sz="1100" b="0">
                <a:solidFill>
                  <a:srgbClr val="6B7280"/>
                </a:solidFill>
                <a:latin typeface="Calibri"/>
              </a:rPr>
              <a:t>Size, growth and competitive characteristics of each tier</a:t>
            </a:r>
          </a:p>
        </p:txBody>
      </p:sp>
      <p:sp>
        <p:nvSpPr>
          <p:cNvPr id="50" name="Rectangle 49"/>
          <p:cNvSpPr/>
          <p:nvPr/>
        </p:nvSpPr>
        <p:spPr>
          <a:xfrm>
            <a:off x="6191250" y="1562100"/>
            <a:ext cx="16192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48400" y="1562100"/>
            <a:ext cx="1543050" cy="247650"/>
          </a:xfrm>
          <a:prstGeom prst="rect">
            <a:avLst/>
          </a:prstGeom>
          <a:noFill/>
        </p:spPr>
        <p:txBody>
          <a:bodyPr wrap="square" lIns="28575" rIns="28575" tIns="9525" bIns="9525" anchor="ctr">
            <a:spAutoFit/>
          </a:bodyPr>
          <a:lstStyle/>
          <a:p>
            <a:pPr algn="l"/>
            <a:r>
              <a:rPr sz="1100" b="1">
                <a:solidFill>
                  <a:srgbClr val="FFFFFF"/>
                </a:solidFill>
                <a:latin typeface="Calibri"/>
              </a:rPr>
              <a:t>Metric</a:t>
            </a:r>
          </a:p>
        </p:txBody>
      </p:sp>
      <p:sp>
        <p:nvSpPr>
          <p:cNvPr id="52" name="Rectangle 51"/>
          <p:cNvSpPr/>
          <p:nvPr/>
        </p:nvSpPr>
        <p:spPr>
          <a:xfrm>
            <a:off x="7810500" y="1562100"/>
            <a:ext cx="82867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8105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54" name="Rectangle 53"/>
          <p:cNvSpPr/>
          <p:nvPr/>
        </p:nvSpPr>
        <p:spPr>
          <a:xfrm>
            <a:off x="8639175" y="1562100"/>
            <a:ext cx="828675" cy="247650"/>
          </a:xfrm>
          <a:prstGeom prst="rect">
            <a:avLst/>
          </a:prstGeom>
          <a:solidFill>
            <a:srgbClr val="2E6DB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39175"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56" name="Rectangle 55"/>
          <p:cNvSpPr/>
          <p:nvPr/>
        </p:nvSpPr>
        <p:spPr>
          <a:xfrm>
            <a:off x="9467850" y="1562100"/>
            <a:ext cx="828675"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46785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58" name="Rectangle 57"/>
          <p:cNvSpPr/>
          <p:nvPr/>
        </p:nvSpPr>
        <p:spPr>
          <a:xfrm>
            <a:off x="10296525" y="1562100"/>
            <a:ext cx="828675" cy="247650"/>
          </a:xfrm>
          <a:prstGeom prst="rect">
            <a:avLst/>
          </a:prstGeom>
          <a:solidFill>
            <a:srgbClr val="9FC5E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296525" y="1562100"/>
            <a:ext cx="828675" cy="2476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60" name="Rectangle 59"/>
          <p:cNvSpPr/>
          <p:nvPr/>
        </p:nvSpPr>
        <p:spPr>
          <a:xfrm>
            <a:off x="11125200" y="1562100"/>
            <a:ext cx="828675" cy="247650"/>
          </a:xfrm>
          <a:prstGeom prst="rect">
            <a:avLst/>
          </a:prstGeom>
          <a:solidFill>
            <a:srgbClr val="10244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11252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Total</a:t>
            </a:r>
          </a:p>
        </p:txBody>
      </p:sp>
      <p:sp>
        <p:nvSpPr>
          <p:cNvPr id="62" name="Rectangle 61"/>
          <p:cNvSpPr/>
          <p:nvPr/>
        </p:nvSpPr>
        <p:spPr>
          <a:xfrm>
            <a:off x="6191250" y="1809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48400" y="1809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Players</a:t>
            </a:r>
          </a:p>
        </p:txBody>
      </p:sp>
      <p:sp>
        <p:nvSpPr>
          <p:cNvPr id="64" name="Rectangle 63"/>
          <p:cNvSpPr/>
          <p:nvPr/>
        </p:nvSpPr>
        <p:spPr>
          <a:xfrm>
            <a:off x="78105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82955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4</a:t>
            </a:r>
          </a:p>
        </p:txBody>
      </p:sp>
      <p:sp>
        <p:nvSpPr>
          <p:cNvPr id="66" name="Rectangle 65"/>
          <p:cNvSpPr/>
          <p:nvPr/>
        </p:nvSpPr>
        <p:spPr>
          <a:xfrm>
            <a:off x="863917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5822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2</a:t>
            </a:r>
          </a:p>
        </p:txBody>
      </p:sp>
      <p:sp>
        <p:nvSpPr>
          <p:cNvPr id="68" name="Rectangle 67"/>
          <p:cNvSpPr/>
          <p:nvPr/>
        </p:nvSpPr>
        <p:spPr>
          <a:xfrm>
            <a:off x="946785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48690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4</a:t>
            </a:r>
          </a:p>
        </p:txBody>
      </p:sp>
      <p:sp>
        <p:nvSpPr>
          <p:cNvPr id="70" name="Rectangle 69"/>
          <p:cNvSpPr/>
          <p:nvPr/>
        </p:nvSpPr>
        <p:spPr>
          <a:xfrm>
            <a:off x="1029652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31557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72" name="Rectangle 71"/>
          <p:cNvSpPr/>
          <p:nvPr/>
        </p:nvSpPr>
        <p:spPr>
          <a:xfrm>
            <a:off x="111252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1144250" y="18097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 </a:t>
            </a:r>
          </a:p>
        </p:txBody>
      </p:sp>
      <p:sp>
        <p:nvSpPr>
          <p:cNvPr id="74" name="Rectangle 73"/>
          <p:cNvSpPr/>
          <p:nvPr/>
        </p:nvSpPr>
        <p:spPr>
          <a:xfrm>
            <a:off x="6191250" y="2038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248400" y="2038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Value 2026 (US$ Mn)</a:t>
            </a:r>
          </a:p>
        </p:txBody>
      </p:sp>
      <p:sp>
        <p:nvSpPr>
          <p:cNvPr id="76" name="Rectangle 75"/>
          <p:cNvSpPr/>
          <p:nvPr/>
        </p:nvSpPr>
        <p:spPr>
          <a:xfrm>
            <a:off x="78105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82955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78" name="Rectangle 77"/>
          <p:cNvSpPr/>
          <p:nvPr/>
        </p:nvSpPr>
        <p:spPr>
          <a:xfrm>
            <a:off x="863917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65822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0" name="Rectangle 79"/>
          <p:cNvSpPr/>
          <p:nvPr/>
        </p:nvSpPr>
        <p:spPr>
          <a:xfrm>
            <a:off x="946785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48690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2" name="Rectangle 81"/>
          <p:cNvSpPr/>
          <p:nvPr/>
        </p:nvSpPr>
        <p:spPr>
          <a:xfrm>
            <a:off x="1029652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31557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4" name="Rectangle 83"/>
          <p:cNvSpPr/>
          <p:nvPr/>
        </p:nvSpPr>
        <p:spPr>
          <a:xfrm>
            <a:off x="111252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1144250" y="2038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 </a:t>
            </a:r>
          </a:p>
        </p:txBody>
      </p:sp>
      <p:sp>
        <p:nvSpPr>
          <p:cNvPr id="86" name="Rectangle 85"/>
          <p:cNvSpPr/>
          <p:nvPr/>
        </p:nvSpPr>
        <p:spPr>
          <a:xfrm>
            <a:off x="6191250" y="22669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248400" y="22669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2026</a:t>
            </a:r>
          </a:p>
        </p:txBody>
      </p:sp>
      <p:sp>
        <p:nvSpPr>
          <p:cNvPr id="88" name="Rectangle 87"/>
          <p:cNvSpPr/>
          <p:nvPr/>
        </p:nvSpPr>
        <p:spPr>
          <a:xfrm>
            <a:off x="78105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07624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0" name="TextBox 89"/>
          <p:cNvSpPr txBox="1"/>
          <p:nvPr/>
        </p:nvSpPr>
        <p:spPr>
          <a:xfrm>
            <a:off x="836390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1" name="Rectangle 90"/>
          <p:cNvSpPr/>
          <p:nvPr/>
        </p:nvSpPr>
        <p:spPr>
          <a:xfrm>
            <a:off x="863917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90492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3" name="TextBox 92"/>
          <p:cNvSpPr txBox="1"/>
          <p:nvPr/>
        </p:nvSpPr>
        <p:spPr>
          <a:xfrm>
            <a:off x="919257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4" name="Rectangle 93"/>
          <p:cNvSpPr/>
          <p:nvPr/>
        </p:nvSpPr>
        <p:spPr>
          <a:xfrm>
            <a:off x="946785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73359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6" name="TextBox 95"/>
          <p:cNvSpPr txBox="1"/>
          <p:nvPr/>
        </p:nvSpPr>
        <p:spPr>
          <a:xfrm>
            <a:off x="1002125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7" name="Rectangle 96"/>
          <p:cNvSpPr/>
          <p:nvPr/>
        </p:nvSpPr>
        <p:spPr>
          <a:xfrm>
            <a:off x="1029652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056227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9" name="TextBox 98"/>
          <p:cNvSpPr txBox="1"/>
          <p:nvPr/>
        </p:nvSpPr>
        <p:spPr>
          <a:xfrm>
            <a:off x="1084992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0" name="Rectangle 99"/>
          <p:cNvSpPr/>
          <p:nvPr/>
        </p:nvSpPr>
        <p:spPr>
          <a:xfrm>
            <a:off x="111252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1144250" y="22669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02" name="Rectangle 101"/>
          <p:cNvSpPr/>
          <p:nvPr/>
        </p:nvSpPr>
        <p:spPr>
          <a:xfrm>
            <a:off x="6191250" y="24955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248400" y="24955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2036</a:t>
            </a:r>
          </a:p>
        </p:txBody>
      </p:sp>
      <p:sp>
        <p:nvSpPr>
          <p:cNvPr id="104" name="Rectangle 103"/>
          <p:cNvSpPr/>
          <p:nvPr/>
        </p:nvSpPr>
        <p:spPr>
          <a:xfrm>
            <a:off x="78105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07624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6" name="TextBox 105"/>
          <p:cNvSpPr txBox="1"/>
          <p:nvPr/>
        </p:nvSpPr>
        <p:spPr>
          <a:xfrm>
            <a:off x="836390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7" name="Rectangle 106"/>
          <p:cNvSpPr/>
          <p:nvPr/>
        </p:nvSpPr>
        <p:spPr>
          <a:xfrm>
            <a:off x="863917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90492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9" name="TextBox 108"/>
          <p:cNvSpPr txBox="1"/>
          <p:nvPr/>
        </p:nvSpPr>
        <p:spPr>
          <a:xfrm>
            <a:off x="919257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0" name="Rectangle 109"/>
          <p:cNvSpPr/>
          <p:nvPr/>
        </p:nvSpPr>
        <p:spPr>
          <a:xfrm>
            <a:off x="946785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73359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12" name="TextBox 111"/>
          <p:cNvSpPr txBox="1"/>
          <p:nvPr/>
        </p:nvSpPr>
        <p:spPr>
          <a:xfrm>
            <a:off x="1002125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3" name="Rectangle 112"/>
          <p:cNvSpPr/>
          <p:nvPr/>
        </p:nvSpPr>
        <p:spPr>
          <a:xfrm>
            <a:off x="1029652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056227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15" name="TextBox 114"/>
          <p:cNvSpPr txBox="1"/>
          <p:nvPr/>
        </p:nvSpPr>
        <p:spPr>
          <a:xfrm>
            <a:off x="1084992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6" name="Rectangle 115"/>
          <p:cNvSpPr/>
          <p:nvPr/>
        </p:nvSpPr>
        <p:spPr>
          <a:xfrm>
            <a:off x="111252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1144250" y="24955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18" name="Rectangle 117"/>
          <p:cNvSpPr/>
          <p:nvPr/>
        </p:nvSpPr>
        <p:spPr>
          <a:xfrm>
            <a:off x="6191250" y="27241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6248400" y="27241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change (pp)</a:t>
            </a:r>
          </a:p>
        </p:txBody>
      </p:sp>
      <p:sp>
        <p:nvSpPr>
          <p:cNvPr id="120" name="Rectangle 119"/>
          <p:cNvSpPr/>
          <p:nvPr/>
        </p:nvSpPr>
        <p:spPr>
          <a:xfrm>
            <a:off x="78105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797528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2" name="TextBox 121"/>
          <p:cNvSpPr txBox="1"/>
          <p:nvPr/>
        </p:nvSpPr>
        <p:spPr>
          <a:xfrm>
            <a:off x="810863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3" name="Rectangle 122"/>
          <p:cNvSpPr/>
          <p:nvPr/>
        </p:nvSpPr>
        <p:spPr>
          <a:xfrm>
            <a:off x="863917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80395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5" name="TextBox 124"/>
          <p:cNvSpPr txBox="1"/>
          <p:nvPr/>
        </p:nvSpPr>
        <p:spPr>
          <a:xfrm>
            <a:off x="893730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6" name="Rectangle 125"/>
          <p:cNvSpPr/>
          <p:nvPr/>
        </p:nvSpPr>
        <p:spPr>
          <a:xfrm>
            <a:off x="946785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963263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8" name="TextBox 127"/>
          <p:cNvSpPr txBox="1"/>
          <p:nvPr/>
        </p:nvSpPr>
        <p:spPr>
          <a:xfrm>
            <a:off x="976598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9" name="Rectangle 128"/>
          <p:cNvSpPr/>
          <p:nvPr/>
        </p:nvSpPr>
        <p:spPr>
          <a:xfrm>
            <a:off x="1029652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046130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31" name="TextBox 130"/>
          <p:cNvSpPr txBox="1"/>
          <p:nvPr/>
        </p:nvSpPr>
        <p:spPr>
          <a:xfrm>
            <a:off x="1059465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2" name="Rectangle 131"/>
          <p:cNvSpPr/>
          <p:nvPr/>
        </p:nvSpPr>
        <p:spPr>
          <a:xfrm>
            <a:off x="111252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1144250" y="27241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34" name="Rectangle 133"/>
          <p:cNvSpPr/>
          <p:nvPr/>
        </p:nvSpPr>
        <p:spPr>
          <a:xfrm>
            <a:off x="6191250" y="2952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248400" y="2952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CAGR 2026–2036</a:t>
            </a:r>
          </a:p>
        </p:txBody>
      </p:sp>
      <p:sp>
        <p:nvSpPr>
          <p:cNvPr id="136" name="Rectangle 135"/>
          <p:cNvSpPr/>
          <p:nvPr/>
        </p:nvSpPr>
        <p:spPr>
          <a:xfrm>
            <a:off x="78105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810863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8" name="TextBox 137"/>
          <p:cNvSpPr txBox="1"/>
          <p:nvPr/>
        </p:nvSpPr>
        <p:spPr>
          <a:xfrm>
            <a:off x="833151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39" name="Rectangle 138"/>
          <p:cNvSpPr/>
          <p:nvPr/>
        </p:nvSpPr>
        <p:spPr>
          <a:xfrm>
            <a:off x="863917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893730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1" name="TextBox 140"/>
          <p:cNvSpPr txBox="1"/>
          <p:nvPr/>
        </p:nvSpPr>
        <p:spPr>
          <a:xfrm>
            <a:off x="916019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2" name="Rectangle 141"/>
          <p:cNvSpPr/>
          <p:nvPr/>
        </p:nvSpPr>
        <p:spPr>
          <a:xfrm>
            <a:off x="946785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76598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4" name="TextBox 143"/>
          <p:cNvSpPr txBox="1"/>
          <p:nvPr/>
        </p:nvSpPr>
        <p:spPr>
          <a:xfrm>
            <a:off x="998886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5" name="Rectangle 144"/>
          <p:cNvSpPr/>
          <p:nvPr/>
        </p:nvSpPr>
        <p:spPr>
          <a:xfrm>
            <a:off x="1029652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059465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7" name="TextBox 146"/>
          <p:cNvSpPr txBox="1"/>
          <p:nvPr/>
        </p:nvSpPr>
        <p:spPr>
          <a:xfrm>
            <a:off x="1081754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8" name="Rectangle 147"/>
          <p:cNvSpPr/>
          <p:nvPr/>
        </p:nvSpPr>
        <p:spPr>
          <a:xfrm>
            <a:off x="111252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11423332" y="2952750"/>
            <a:ext cx="232410" cy="228600"/>
          </a:xfrm>
          <a:prstGeom prst="rect">
            <a:avLst/>
          </a:prstGeom>
          <a:noFill/>
        </p:spPr>
        <p:txBody>
          <a:bodyPr wrap="none" lIns="0" rIns="0" tIns="0" bIns="0" anchor="ctr">
            <a:spAutoFit/>
          </a:bodyPr>
          <a:lstStyle/>
          <a:p>
            <a:pPr algn="ctr"/>
            <a:r>
              <a:rPr sz="1100" b="1">
                <a:solidFill>
                  <a:srgbClr val="14213D"/>
                </a:solidFill>
                <a:latin typeface="Calibri"/>
              </a:rPr>
              <a:t> </a:t>
            </a:r>
          </a:p>
        </p:txBody>
      </p:sp>
      <p:sp>
        <p:nvSpPr>
          <p:cNvPr id="150" name="TextBox 149"/>
          <p:cNvSpPr txBox="1"/>
          <p:nvPr/>
        </p:nvSpPr>
        <p:spPr>
          <a:xfrm>
            <a:off x="11646218" y="2952750"/>
            <a:ext cx="133350" cy="228600"/>
          </a:xfrm>
          <a:prstGeom prst="rect">
            <a:avLst/>
          </a:prstGeom>
          <a:noFill/>
        </p:spPr>
        <p:txBody>
          <a:bodyPr wrap="none" lIns="0" rIns="0" tIns="0" bIns="0" anchor="ctr">
            <a:spAutoFit/>
          </a:bodyPr>
          <a:lstStyle/>
          <a:p>
            <a:pPr algn="l"/>
            <a:r>
              <a:rPr sz="1100" b="1">
                <a:solidFill>
                  <a:srgbClr val="14213D"/>
                </a:solidFill>
                <a:latin typeface="Calibri"/>
              </a:rPr>
              <a:t>%</a:t>
            </a:r>
          </a:p>
        </p:txBody>
      </p:sp>
      <p:sp>
        <p:nvSpPr>
          <p:cNvPr id="151" name="Rectangle 150"/>
          <p:cNvSpPr/>
          <p:nvPr/>
        </p:nvSpPr>
        <p:spPr>
          <a:xfrm>
            <a:off x="6191250" y="3181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248400" y="3181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Avg / player (US$ Mn)</a:t>
            </a:r>
          </a:p>
        </p:txBody>
      </p:sp>
      <p:sp>
        <p:nvSpPr>
          <p:cNvPr id="153" name="Rectangle 152"/>
          <p:cNvSpPr/>
          <p:nvPr/>
        </p:nvSpPr>
        <p:spPr>
          <a:xfrm>
            <a:off x="78105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782955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5" name="Rectangle 154"/>
          <p:cNvSpPr/>
          <p:nvPr/>
        </p:nvSpPr>
        <p:spPr>
          <a:xfrm>
            <a:off x="863917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865822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7" name="Rectangle 156"/>
          <p:cNvSpPr/>
          <p:nvPr/>
        </p:nvSpPr>
        <p:spPr>
          <a:xfrm>
            <a:off x="946785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948690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9" name="Rectangle 158"/>
          <p:cNvSpPr/>
          <p:nvPr/>
        </p:nvSpPr>
        <p:spPr>
          <a:xfrm>
            <a:off x="1029652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1031557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a:t>
            </a:r>
          </a:p>
        </p:txBody>
      </p:sp>
      <p:sp>
        <p:nvSpPr>
          <p:cNvPr id="161" name="Rectangle 160"/>
          <p:cNvSpPr/>
          <p:nvPr/>
        </p:nvSpPr>
        <p:spPr>
          <a:xfrm>
            <a:off x="111252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1144250" y="3181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63" name="Rectangle 162"/>
          <p:cNvSpPr/>
          <p:nvPr/>
        </p:nvSpPr>
        <p:spPr>
          <a:xfrm>
            <a:off x="6191250" y="34099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248400" y="34099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Installed base share (units)</a:t>
            </a:r>
          </a:p>
        </p:txBody>
      </p:sp>
      <p:sp>
        <p:nvSpPr>
          <p:cNvPr id="165" name="Rectangle 164"/>
          <p:cNvSpPr/>
          <p:nvPr/>
        </p:nvSpPr>
        <p:spPr>
          <a:xfrm>
            <a:off x="78105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07624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67" name="TextBox 166"/>
          <p:cNvSpPr txBox="1"/>
          <p:nvPr/>
        </p:nvSpPr>
        <p:spPr>
          <a:xfrm>
            <a:off x="836390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68" name="Rectangle 167"/>
          <p:cNvSpPr/>
          <p:nvPr/>
        </p:nvSpPr>
        <p:spPr>
          <a:xfrm>
            <a:off x="863917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90492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0" name="TextBox 169"/>
          <p:cNvSpPr txBox="1"/>
          <p:nvPr/>
        </p:nvSpPr>
        <p:spPr>
          <a:xfrm>
            <a:off x="919257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1" name="Rectangle 170"/>
          <p:cNvSpPr/>
          <p:nvPr/>
        </p:nvSpPr>
        <p:spPr>
          <a:xfrm>
            <a:off x="946785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973359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3" name="TextBox 172"/>
          <p:cNvSpPr txBox="1"/>
          <p:nvPr/>
        </p:nvSpPr>
        <p:spPr>
          <a:xfrm>
            <a:off x="1002125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4" name="Rectangle 173"/>
          <p:cNvSpPr/>
          <p:nvPr/>
        </p:nvSpPr>
        <p:spPr>
          <a:xfrm>
            <a:off x="1029652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1056227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6" name="TextBox 175"/>
          <p:cNvSpPr txBox="1"/>
          <p:nvPr/>
        </p:nvSpPr>
        <p:spPr>
          <a:xfrm>
            <a:off x="1084992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7" name="Rectangle 176"/>
          <p:cNvSpPr/>
          <p:nvPr/>
        </p:nvSpPr>
        <p:spPr>
          <a:xfrm>
            <a:off x="111252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11144250" y="3409950"/>
            <a:ext cx="790575" cy="32385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79" name="Rectangle 178"/>
          <p:cNvSpPr/>
          <p:nvPr/>
        </p:nvSpPr>
        <p:spPr>
          <a:xfrm>
            <a:off x="6191250" y="37338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248400" y="37338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Price positioning</a:t>
            </a:r>
          </a:p>
        </p:txBody>
      </p:sp>
      <p:sp>
        <p:nvSpPr>
          <p:cNvPr id="181" name="Rectangle 180"/>
          <p:cNvSpPr/>
          <p:nvPr/>
        </p:nvSpPr>
        <p:spPr>
          <a:xfrm>
            <a:off x="78105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782955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Premium</a:t>
            </a:r>
          </a:p>
        </p:txBody>
      </p:sp>
      <p:sp>
        <p:nvSpPr>
          <p:cNvPr id="183" name="Rectangle 182"/>
          <p:cNvSpPr/>
          <p:nvPr/>
        </p:nvSpPr>
        <p:spPr>
          <a:xfrm>
            <a:off x="863917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865822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Mid / value</a:t>
            </a:r>
          </a:p>
        </p:txBody>
      </p:sp>
      <p:sp>
        <p:nvSpPr>
          <p:cNvPr id="185" name="Rectangle 184"/>
          <p:cNvSpPr/>
          <p:nvPr/>
        </p:nvSpPr>
        <p:spPr>
          <a:xfrm>
            <a:off x="946785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948690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Value / entry</a:t>
            </a:r>
          </a:p>
        </p:txBody>
      </p:sp>
      <p:sp>
        <p:nvSpPr>
          <p:cNvPr id="187" name="Rectangle 186"/>
          <p:cNvSpPr/>
          <p:nvPr/>
        </p:nvSpPr>
        <p:spPr>
          <a:xfrm>
            <a:off x="1029652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1031557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Mixed</a:t>
            </a:r>
          </a:p>
        </p:txBody>
      </p:sp>
      <p:sp>
        <p:nvSpPr>
          <p:cNvPr id="189" name="Rectangle 188"/>
          <p:cNvSpPr/>
          <p:nvPr/>
        </p:nvSpPr>
        <p:spPr>
          <a:xfrm>
            <a:off x="111252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11144250" y="37338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191" name="Rectangle 190"/>
          <p:cNvSpPr/>
          <p:nvPr/>
        </p:nvSpPr>
        <p:spPr>
          <a:xfrm>
            <a:off x="6191250" y="40576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6248400" y="40576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Route-to-market</a:t>
            </a:r>
          </a:p>
        </p:txBody>
      </p:sp>
      <p:sp>
        <p:nvSpPr>
          <p:cNvPr id="193" name="Rectangle 192"/>
          <p:cNvSpPr/>
          <p:nvPr/>
        </p:nvSpPr>
        <p:spPr>
          <a:xfrm>
            <a:off x="78105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782955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Direct / key accounts</a:t>
            </a:r>
          </a:p>
        </p:txBody>
      </p:sp>
      <p:sp>
        <p:nvSpPr>
          <p:cNvPr id="195" name="Rectangle 194"/>
          <p:cNvSpPr/>
          <p:nvPr/>
        </p:nvSpPr>
        <p:spPr>
          <a:xfrm>
            <a:off x="863917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865822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Distributors</a:t>
            </a:r>
          </a:p>
        </p:txBody>
      </p:sp>
      <p:sp>
        <p:nvSpPr>
          <p:cNvPr id="197" name="Rectangle 196"/>
          <p:cNvSpPr/>
          <p:nvPr/>
        </p:nvSpPr>
        <p:spPr>
          <a:xfrm>
            <a:off x="946785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948690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Regional partners</a:t>
            </a:r>
          </a:p>
        </p:txBody>
      </p:sp>
      <p:sp>
        <p:nvSpPr>
          <p:cNvPr id="199" name="Rectangle 198"/>
          <p:cNvSpPr/>
          <p:nvPr/>
        </p:nvSpPr>
        <p:spPr>
          <a:xfrm>
            <a:off x="1029652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1031557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Local / online</a:t>
            </a:r>
          </a:p>
        </p:txBody>
      </p:sp>
      <p:sp>
        <p:nvSpPr>
          <p:cNvPr id="201" name="Rectangle 200"/>
          <p:cNvSpPr/>
          <p:nvPr/>
        </p:nvSpPr>
        <p:spPr>
          <a:xfrm>
            <a:off x="111252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11144250" y="40576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03" name="Rectangle 202"/>
          <p:cNvSpPr/>
          <p:nvPr/>
        </p:nvSpPr>
        <p:spPr>
          <a:xfrm>
            <a:off x="6191250" y="43815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6248400" y="43815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Portfolio breadth</a:t>
            </a:r>
          </a:p>
        </p:txBody>
      </p:sp>
      <p:sp>
        <p:nvSpPr>
          <p:cNvPr id="205" name="Rectangle 204"/>
          <p:cNvSpPr/>
          <p:nvPr/>
        </p:nvSpPr>
        <p:spPr>
          <a:xfrm>
            <a:off x="78105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782955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Full portfolio</a:t>
            </a:r>
          </a:p>
        </p:txBody>
      </p:sp>
      <p:sp>
        <p:nvSpPr>
          <p:cNvPr id="207" name="Rectangle 206"/>
          <p:cNvSpPr/>
          <p:nvPr/>
        </p:nvSpPr>
        <p:spPr>
          <a:xfrm>
            <a:off x="863917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865822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2–3 core lines</a:t>
            </a:r>
          </a:p>
        </p:txBody>
      </p:sp>
      <p:sp>
        <p:nvSpPr>
          <p:cNvPr id="209" name="Rectangle 208"/>
          <p:cNvSpPr/>
          <p:nvPr/>
        </p:nvSpPr>
        <p:spPr>
          <a:xfrm>
            <a:off x="946785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948690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Single line</a:t>
            </a:r>
          </a:p>
        </p:txBody>
      </p:sp>
      <p:sp>
        <p:nvSpPr>
          <p:cNvPr id="211" name="Rectangle 210"/>
          <p:cNvSpPr/>
          <p:nvPr/>
        </p:nvSpPr>
        <p:spPr>
          <a:xfrm>
            <a:off x="1029652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1031557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Niche</a:t>
            </a:r>
          </a:p>
        </p:txBody>
      </p:sp>
      <p:sp>
        <p:nvSpPr>
          <p:cNvPr id="213" name="Rectangle 212"/>
          <p:cNvSpPr/>
          <p:nvPr/>
        </p:nvSpPr>
        <p:spPr>
          <a:xfrm>
            <a:off x="111252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11144250" y="43815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15" name="Rectangle 214"/>
          <p:cNvSpPr/>
          <p:nvPr/>
        </p:nvSpPr>
        <p:spPr>
          <a:xfrm>
            <a:off x="6191250" y="47053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6248400" y="47053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Strategic posture</a:t>
            </a:r>
          </a:p>
        </p:txBody>
      </p:sp>
      <p:sp>
        <p:nvSpPr>
          <p:cNvPr id="217" name="Rectangle 216"/>
          <p:cNvSpPr/>
          <p:nvPr/>
        </p:nvSpPr>
        <p:spPr>
          <a:xfrm>
            <a:off x="781050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78295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Defend &amp; bundle</a:t>
            </a:r>
          </a:p>
        </p:txBody>
      </p:sp>
      <p:sp>
        <p:nvSpPr>
          <p:cNvPr id="219" name="Rectangle 218"/>
          <p:cNvSpPr/>
          <p:nvPr/>
        </p:nvSpPr>
        <p:spPr>
          <a:xfrm>
            <a:off x="863917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865822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Niche deepening</a:t>
            </a:r>
          </a:p>
        </p:txBody>
      </p:sp>
      <p:sp>
        <p:nvSpPr>
          <p:cNvPr id="221" name="Rectangle 220"/>
          <p:cNvSpPr/>
          <p:nvPr/>
        </p:nvSpPr>
        <p:spPr>
          <a:xfrm>
            <a:off x="946785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948690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Scale-up or exit</a:t>
            </a:r>
          </a:p>
        </p:txBody>
      </p:sp>
      <p:sp>
        <p:nvSpPr>
          <p:cNvPr id="223" name="Rectangle 222"/>
          <p:cNvSpPr/>
          <p:nvPr/>
        </p:nvSpPr>
        <p:spPr>
          <a:xfrm>
            <a:off x="1029652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1031557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Long-tail</a:t>
            </a:r>
          </a:p>
        </p:txBody>
      </p:sp>
      <p:sp>
        <p:nvSpPr>
          <p:cNvPr id="225" name="Rectangle 224"/>
          <p:cNvSpPr/>
          <p:nvPr/>
        </p:nvSpPr>
        <p:spPr>
          <a:xfrm>
            <a:off x="11125200" y="47053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111442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27" name="Rounded Rectangle 226"/>
          <p:cNvSpPr/>
          <p:nvPr/>
        </p:nvSpPr>
        <p:spPr>
          <a:xfrm>
            <a:off x="6096000" y="5162550"/>
            <a:ext cx="5953125" cy="1466850"/>
          </a:xfrm>
          <a:prstGeom prst="roundRect">
            <a:avLst>
              <a:gd name="adj" fmla="val 12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TextBox 227"/>
          <p:cNvSpPr txBox="1"/>
          <p:nvPr/>
        </p:nvSpPr>
        <p:spPr>
          <a:xfrm>
            <a:off x="6191250" y="52197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229" name="TextBox 228"/>
          <p:cNvSpPr txBox="1"/>
          <p:nvPr/>
        </p:nvSpPr>
        <p:spPr>
          <a:xfrm>
            <a:off x="6210300" y="54673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0" name="TextBox 229"/>
          <p:cNvSpPr txBox="1"/>
          <p:nvPr/>
        </p:nvSpPr>
        <p:spPr>
          <a:xfrm>
            <a:off x="6343650" y="5467350"/>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1" name="TextBox 230"/>
          <p:cNvSpPr txBox="1"/>
          <p:nvPr/>
        </p:nvSpPr>
        <p:spPr>
          <a:xfrm>
            <a:off x="6210300" y="58483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2" name="TextBox 231"/>
          <p:cNvSpPr txBox="1"/>
          <p:nvPr/>
        </p:nvSpPr>
        <p:spPr>
          <a:xfrm>
            <a:off x="6343650" y="5848350"/>
            <a:ext cx="5591175" cy="37147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3" name="TextBox 232"/>
          <p:cNvSpPr txBox="1"/>
          <p:nvPr/>
        </p:nvSpPr>
        <p:spPr>
          <a:xfrm>
            <a:off x="6210300" y="6067425"/>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4" name="TextBox 233"/>
          <p:cNvSpPr txBox="1"/>
          <p:nvPr/>
        </p:nvSpPr>
        <p:spPr>
          <a:xfrm>
            <a:off x="6343650" y="6067425"/>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5" name="TextBox 2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6" name="Picture 235" descr="lock.png"/>
          <p:cNvPicPr>
            <a:picLocks noChangeAspect="1"/>
          </p:cNvPicPr>
          <p:nvPr/>
        </p:nvPicPr>
        <p:blipFill>
          <a:blip r:embed="rId4"/>
          <a:stretch>
            <a:fillRect/>
          </a:stretch>
        </p:blipFill>
        <p:spPr>
          <a:xfrm>
            <a:off x="1631100" y="1620901"/>
            <a:ext cx="128699" cy="187198"/>
          </a:xfrm>
          <a:prstGeom prst="rect">
            <a:avLst/>
          </a:prstGeom>
        </p:spPr>
      </p:pic>
      <p:pic>
        <p:nvPicPr>
          <p:cNvPr id="237" name="Picture 236" descr="lock.png"/>
          <p:cNvPicPr>
            <a:picLocks noChangeAspect="1"/>
          </p:cNvPicPr>
          <p:nvPr/>
        </p:nvPicPr>
        <p:blipFill>
          <a:blip r:embed="rId4"/>
          <a:stretch>
            <a:fillRect/>
          </a:stretch>
        </p:blipFill>
        <p:spPr>
          <a:xfrm>
            <a:off x="1631100" y="2478151"/>
            <a:ext cx="128699" cy="187198"/>
          </a:xfrm>
          <a:prstGeom prst="rect">
            <a:avLst/>
          </a:prstGeom>
        </p:spPr>
      </p:pic>
      <p:pic>
        <p:nvPicPr>
          <p:cNvPr id="238" name="Picture 237" descr="lock.png"/>
          <p:cNvPicPr>
            <a:picLocks noChangeAspect="1"/>
          </p:cNvPicPr>
          <p:nvPr/>
        </p:nvPicPr>
        <p:blipFill>
          <a:blip r:embed="rId4"/>
          <a:stretch>
            <a:fillRect/>
          </a:stretch>
        </p:blipFill>
        <p:spPr>
          <a:xfrm>
            <a:off x="1631100" y="3335401"/>
            <a:ext cx="128699" cy="187198"/>
          </a:xfrm>
          <a:prstGeom prst="rect">
            <a:avLst/>
          </a:prstGeom>
        </p:spPr>
      </p:pic>
      <p:pic>
        <p:nvPicPr>
          <p:cNvPr id="239" name="Picture 238" descr="lock.png"/>
          <p:cNvPicPr>
            <a:picLocks noChangeAspect="1"/>
          </p:cNvPicPr>
          <p:nvPr/>
        </p:nvPicPr>
        <p:blipFill>
          <a:blip r:embed="rId4"/>
          <a:stretch>
            <a:fillRect/>
          </a:stretch>
        </p:blipFill>
        <p:spPr>
          <a:xfrm>
            <a:off x="1631100" y="4192651"/>
            <a:ext cx="128699" cy="187198"/>
          </a:xfrm>
          <a:prstGeom prst="rect">
            <a:avLst/>
          </a:prstGeom>
        </p:spPr>
      </p:pic>
      <p:pic>
        <p:nvPicPr>
          <p:cNvPr id="240" name="Picture 239" descr="lock.png"/>
          <p:cNvPicPr>
            <a:picLocks noChangeAspect="1"/>
          </p:cNvPicPr>
          <p:nvPr/>
        </p:nvPicPr>
        <p:blipFill>
          <a:blip r:embed="rId4"/>
          <a:stretch>
            <a:fillRect/>
          </a:stretch>
        </p:blipFill>
        <p:spPr>
          <a:xfrm>
            <a:off x="11475188" y="1830451"/>
            <a:ext cx="128699" cy="187198"/>
          </a:xfrm>
          <a:prstGeom prst="rect">
            <a:avLst/>
          </a:prstGeom>
        </p:spPr>
      </p:pic>
      <p:pic>
        <p:nvPicPr>
          <p:cNvPr id="241" name="Picture 240" descr="lock.png"/>
          <p:cNvPicPr>
            <a:picLocks noChangeAspect="1"/>
          </p:cNvPicPr>
          <p:nvPr/>
        </p:nvPicPr>
        <p:blipFill>
          <a:blip r:embed="rId4"/>
          <a:stretch>
            <a:fillRect/>
          </a:stretch>
        </p:blipFill>
        <p:spPr>
          <a:xfrm>
            <a:off x="8160488" y="2059051"/>
            <a:ext cx="128699" cy="187198"/>
          </a:xfrm>
          <a:prstGeom prst="rect">
            <a:avLst/>
          </a:prstGeom>
        </p:spPr>
      </p:pic>
      <p:pic>
        <p:nvPicPr>
          <p:cNvPr id="242" name="Picture 241" descr="lock.png"/>
          <p:cNvPicPr>
            <a:picLocks noChangeAspect="1"/>
          </p:cNvPicPr>
          <p:nvPr/>
        </p:nvPicPr>
        <p:blipFill>
          <a:blip r:embed="rId4"/>
          <a:stretch>
            <a:fillRect/>
          </a:stretch>
        </p:blipFill>
        <p:spPr>
          <a:xfrm>
            <a:off x="8989163" y="2059051"/>
            <a:ext cx="128699" cy="187198"/>
          </a:xfrm>
          <a:prstGeom prst="rect">
            <a:avLst/>
          </a:prstGeom>
        </p:spPr>
      </p:pic>
      <p:pic>
        <p:nvPicPr>
          <p:cNvPr id="243" name="Picture 242" descr="lock.png"/>
          <p:cNvPicPr>
            <a:picLocks noChangeAspect="1"/>
          </p:cNvPicPr>
          <p:nvPr/>
        </p:nvPicPr>
        <p:blipFill>
          <a:blip r:embed="rId4"/>
          <a:stretch>
            <a:fillRect/>
          </a:stretch>
        </p:blipFill>
        <p:spPr>
          <a:xfrm>
            <a:off x="9817838" y="2059051"/>
            <a:ext cx="128699" cy="187198"/>
          </a:xfrm>
          <a:prstGeom prst="rect">
            <a:avLst/>
          </a:prstGeom>
        </p:spPr>
      </p:pic>
      <p:pic>
        <p:nvPicPr>
          <p:cNvPr id="244" name="Picture 243" descr="lock.png"/>
          <p:cNvPicPr>
            <a:picLocks noChangeAspect="1"/>
          </p:cNvPicPr>
          <p:nvPr/>
        </p:nvPicPr>
        <p:blipFill>
          <a:blip r:embed="rId4"/>
          <a:stretch>
            <a:fillRect/>
          </a:stretch>
        </p:blipFill>
        <p:spPr>
          <a:xfrm>
            <a:off x="10646513" y="2059051"/>
            <a:ext cx="128699" cy="187198"/>
          </a:xfrm>
          <a:prstGeom prst="rect">
            <a:avLst/>
          </a:prstGeom>
        </p:spPr>
      </p:pic>
      <p:pic>
        <p:nvPicPr>
          <p:cNvPr id="245" name="Picture 244" descr="lock.png"/>
          <p:cNvPicPr>
            <a:picLocks noChangeAspect="1"/>
          </p:cNvPicPr>
          <p:nvPr/>
        </p:nvPicPr>
        <p:blipFill>
          <a:blip r:embed="rId4"/>
          <a:stretch>
            <a:fillRect/>
          </a:stretch>
        </p:blipFill>
        <p:spPr>
          <a:xfrm>
            <a:off x="11475188" y="2059051"/>
            <a:ext cx="128699" cy="187198"/>
          </a:xfrm>
          <a:prstGeom prst="rect">
            <a:avLst/>
          </a:prstGeom>
        </p:spPr>
      </p:pic>
      <p:pic>
        <p:nvPicPr>
          <p:cNvPr id="246" name="Picture 245" descr="lock.png"/>
          <p:cNvPicPr>
            <a:picLocks noChangeAspect="1"/>
          </p:cNvPicPr>
          <p:nvPr/>
        </p:nvPicPr>
        <p:blipFill>
          <a:blip r:embed="rId4"/>
          <a:stretch>
            <a:fillRect/>
          </a:stretch>
        </p:blipFill>
        <p:spPr>
          <a:xfrm>
            <a:off x="8160488" y="2287651"/>
            <a:ext cx="128699" cy="187198"/>
          </a:xfrm>
          <a:prstGeom prst="rect">
            <a:avLst/>
          </a:prstGeom>
        </p:spPr>
      </p:pic>
      <p:pic>
        <p:nvPicPr>
          <p:cNvPr id="247" name="Picture 246" descr="lock.png"/>
          <p:cNvPicPr>
            <a:picLocks noChangeAspect="1"/>
          </p:cNvPicPr>
          <p:nvPr/>
        </p:nvPicPr>
        <p:blipFill>
          <a:blip r:embed="rId4"/>
          <a:stretch>
            <a:fillRect/>
          </a:stretch>
        </p:blipFill>
        <p:spPr>
          <a:xfrm>
            <a:off x="8989162" y="2287651"/>
            <a:ext cx="128699" cy="187198"/>
          </a:xfrm>
          <a:prstGeom prst="rect">
            <a:avLst/>
          </a:prstGeom>
        </p:spPr>
      </p:pic>
      <p:pic>
        <p:nvPicPr>
          <p:cNvPr id="248" name="Picture 247" descr="lock.png"/>
          <p:cNvPicPr>
            <a:picLocks noChangeAspect="1"/>
          </p:cNvPicPr>
          <p:nvPr/>
        </p:nvPicPr>
        <p:blipFill>
          <a:blip r:embed="rId4"/>
          <a:stretch>
            <a:fillRect/>
          </a:stretch>
        </p:blipFill>
        <p:spPr>
          <a:xfrm>
            <a:off x="9817838" y="2287651"/>
            <a:ext cx="128699" cy="187198"/>
          </a:xfrm>
          <a:prstGeom prst="rect">
            <a:avLst/>
          </a:prstGeom>
        </p:spPr>
      </p:pic>
      <p:pic>
        <p:nvPicPr>
          <p:cNvPr id="249" name="Picture 248" descr="lock.png"/>
          <p:cNvPicPr>
            <a:picLocks noChangeAspect="1"/>
          </p:cNvPicPr>
          <p:nvPr/>
        </p:nvPicPr>
        <p:blipFill>
          <a:blip r:embed="rId4"/>
          <a:stretch>
            <a:fillRect/>
          </a:stretch>
        </p:blipFill>
        <p:spPr>
          <a:xfrm>
            <a:off x="10646512" y="2287651"/>
            <a:ext cx="128699" cy="187198"/>
          </a:xfrm>
          <a:prstGeom prst="rect">
            <a:avLst/>
          </a:prstGeom>
        </p:spPr>
      </p:pic>
      <p:pic>
        <p:nvPicPr>
          <p:cNvPr id="250" name="Picture 249" descr="lock.png"/>
          <p:cNvPicPr>
            <a:picLocks noChangeAspect="1"/>
          </p:cNvPicPr>
          <p:nvPr/>
        </p:nvPicPr>
        <p:blipFill>
          <a:blip r:embed="rId4"/>
          <a:stretch>
            <a:fillRect/>
          </a:stretch>
        </p:blipFill>
        <p:spPr>
          <a:xfrm>
            <a:off x="8160488" y="2516251"/>
            <a:ext cx="128699" cy="187198"/>
          </a:xfrm>
          <a:prstGeom prst="rect">
            <a:avLst/>
          </a:prstGeom>
        </p:spPr>
      </p:pic>
      <p:pic>
        <p:nvPicPr>
          <p:cNvPr id="251" name="Picture 250" descr="lock.png"/>
          <p:cNvPicPr>
            <a:picLocks noChangeAspect="1"/>
          </p:cNvPicPr>
          <p:nvPr/>
        </p:nvPicPr>
        <p:blipFill>
          <a:blip r:embed="rId4"/>
          <a:stretch>
            <a:fillRect/>
          </a:stretch>
        </p:blipFill>
        <p:spPr>
          <a:xfrm>
            <a:off x="8989162" y="2516251"/>
            <a:ext cx="128699" cy="187198"/>
          </a:xfrm>
          <a:prstGeom prst="rect">
            <a:avLst/>
          </a:prstGeom>
        </p:spPr>
      </p:pic>
      <p:pic>
        <p:nvPicPr>
          <p:cNvPr id="252" name="Picture 251" descr="lock.png"/>
          <p:cNvPicPr>
            <a:picLocks noChangeAspect="1"/>
          </p:cNvPicPr>
          <p:nvPr/>
        </p:nvPicPr>
        <p:blipFill>
          <a:blip r:embed="rId4"/>
          <a:stretch>
            <a:fillRect/>
          </a:stretch>
        </p:blipFill>
        <p:spPr>
          <a:xfrm>
            <a:off x="9817838" y="2516251"/>
            <a:ext cx="128699" cy="187198"/>
          </a:xfrm>
          <a:prstGeom prst="rect">
            <a:avLst/>
          </a:prstGeom>
        </p:spPr>
      </p:pic>
      <p:pic>
        <p:nvPicPr>
          <p:cNvPr id="253" name="Picture 252" descr="lock.png"/>
          <p:cNvPicPr>
            <a:picLocks noChangeAspect="1"/>
          </p:cNvPicPr>
          <p:nvPr/>
        </p:nvPicPr>
        <p:blipFill>
          <a:blip r:embed="rId4"/>
          <a:stretch>
            <a:fillRect/>
          </a:stretch>
        </p:blipFill>
        <p:spPr>
          <a:xfrm>
            <a:off x="10646512" y="2516251"/>
            <a:ext cx="128699" cy="187198"/>
          </a:xfrm>
          <a:prstGeom prst="rect">
            <a:avLst/>
          </a:prstGeom>
        </p:spPr>
      </p:pic>
      <p:pic>
        <p:nvPicPr>
          <p:cNvPr id="254" name="Picture 253" descr="lock.png"/>
          <p:cNvPicPr>
            <a:picLocks noChangeAspect="1"/>
          </p:cNvPicPr>
          <p:nvPr/>
        </p:nvPicPr>
        <p:blipFill>
          <a:blip r:embed="rId4"/>
          <a:stretch>
            <a:fillRect/>
          </a:stretch>
        </p:blipFill>
        <p:spPr>
          <a:xfrm>
            <a:off x="8160487" y="2744851"/>
            <a:ext cx="128699" cy="187198"/>
          </a:xfrm>
          <a:prstGeom prst="rect">
            <a:avLst/>
          </a:prstGeom>
        </p:spPr>
      </p:pic>
      <p:pic>
        <p:nvPicPr>
          <p:cNvPr id="255" name="Picture 254" descr="lock.png"/>
          <p:cNvPicPr>
            <a:picLocks noChangeAspect="1"/>
          </p:cNvPicPr>
          <p:nvPr/>
        </p:nvPicPr>
        <p:blipFill>
          <a:blip r:embed="rId4"/>
          <a:stretch>
            <a:fillRect/>
          </a:stretch>
        </p:blipFill>
        <p:spPr>
          <a:xfrm>
            <a:off x="8989163" y="2744851"/>
            <a:ext cx="128699" cy="187198"/>
          </a:xfrm>
          <a:prstGeom prst="rect">
            <a:avLst/>
          </a:prstGeom>
        </p:spPr>
      </p:pic>
      <p:pic>
        <p:nvPicPr>
          <p:cNvPr id="256" name="Picture 255" descr="lock.png"/>
          <p:cNvPicPr>
            <a:picLocks noChangeAspect="1"/>
          </p:cNvPicPr>
          <p:nvPr/>
        </p:nvPicPr>
        <p:blipFill>
          <a:blip r:embed="rId4"/>
          <a:stretch>
            <a:fillRect/>
          </a:stretch>
        </p:blipFill>
        <p:spPr>
          <a:xfrm>
            <a:off x="9817837" y="2744851"/>
            <a:ext cx="128699" cy="187198"/>
          </a:xfrm>
          <a:prstGeom prst="rect">
            <a:avLst/>
          </a:prstGeom>
        </p:spPr>
      </p:pic>
      <p:pic>
        <p:nvPicPr>
          <p:cNvPr id="257" name="Picture 256" descr="lock.png"/>
          <p:cNvPicPr>
            <a:picLocks noChangeAspect="1"/>
          </p:cNvPicPr>
          <p:nvPr/>
        </p:nvPicPr>
        <p:blipFill>
          <a:blip r:embed="rId4"/>
          <a:stretch>
            <a:fillRect/>
          </a:stretch>
        </p:blipFill>
        <p:spPr>
          <a:xfrm>
            <a:off x="10646513" y="2744851"/>
            <a:ext cx="128699" cy="187198"/>
          </a:xfrm>
          <a:prstGeom prst="rect">
            <a:avLst/>
          </a:prstGeom>
        </p:spPr>
      </p:pic>
      <p:pic>
        <p:nvPicPr>
          <p:cNvPr id="258" name="Picture 257" descr="lock.png"/>
          <p:cNvPicPr>
            <a:picLocks noChangeAspect="1"/>
          </p:cNvPicPr>
          <p:nvPr/>
        </p:nvPicPr>
        <p:blipFill>
          <a:blip r:embed="rId4"/>
          <a:stretch>
            <a:fillRect/>
          </a:stretch>
        </p:blipFill>
        <p:spPr>
          <a:xfrm>
            <a:off x="8160487" y="2973451"/>
            <a:ext cx="128699" cy="187198"/>
          </a:xfrm>
          <a:prstGeom prst="rect">
            <a:avLst/>
          </a:prstGeom>
        </p:spPr>
      </p:pic>
      <p:pic>
        <p:nvPicPr>
          <p:cNvPr id="259" name="Picture 258" descr="lock.png"/>
          <p:cNvPicPr>
            <a:picLocks noChangeAspect="1"/>
          </p:cNvPicPr>
          <p:nvPr/>
        </p:nvPicPr>
        <p:blipFill>
          <a:blip r:embed="rId4"/>
          <a:stretch>
            <a:fillRect/>
          </a:stretch>
        </p:blipFill>
        <p:spPr>
          <a:xfrm>
            <a:off x="8989163" y="2973451"/>
            <a:ext cx="128699" cy="187198"/>
          </a:xfrm>
          <a:prstGeom prst="rect">
            <a:avLst/>
          </a:prstGeom>
        </p:spPr>
      </p:pic>
      <p:pic>
        <p:nvPicPr>
          <p:cNvPr id="260" name="Picture 259" descr="lock.png"/>
          <p:cNvPicPr>
            <a:picLocks noChangeAspect="1"/>
          </p:cNvPicPr>
          <p:nvPr/>
        </p:nvPicPr>
        <p:blipFill>
          <a:blip r:embed="rId4"/>
          <a:stretch>
            <a:fillRect/>
          </a:stretch>
        </p:blipFill>
        <p:spPr>
          <a:xfrm>
            <a:off x="9817837" y="2973451"/>
            <a:ext cx="128699" cy="187198"/>
          </a:xfrm>
          <a:prstGeom prst="rect">
            <a:avLst/>
          </a:prstGeom>
        </p:spPr>
      </p:pic>
      <p:pic>
        <p:nvPicPr>
          <p:cNvPr id="261" name="Picture 260" descr="lock.png"/>
          <p:cNvPicPr>
            <a:picLocks noChangeAspect="1"/>
          </p:cNvPicPr>
          <p:nvPr/>
        </p:nvPicPr>
        <p:blipFill>
          <a:blip r:embed="rId4"/>
          <a:stretch>
            <a:fillRect/>
          </a:stretch>
        </p:blipFill>
        <p:spPr>
          <a:xfrm>
            <a:off x="10646513" y="2973451"/>
            <a:ext cx="128699" cy="187198"/>
          </a:xfrm>
          <a:prstGeom prst="rect">
            <a:avLst/>
          </a:prstGeom>
        </p:spPr>
      </p:pic>
      <p:pic>
        <p:nvPicPr>
          <p:cNvPr id="262" name="Picture 261" descr="lock.png"/>
          <p:cNvPicPr>
            <a:picLocks noChangeAspect="1"/>
          </p:cNvPicPr>
          <p:nvPr/>
        </p:nvPicPr>
        <p:blipFill>
          <a:blip r:embed="rId4"/>
          <a:stretch>
            <a:fillRect/>
          </a:stretch>
        </p:blipFill>
        <p:spPr>
          <a:xfrm>
            <a:off x="11475187" y="2973451"/>
            <a:ext cx="128699" cy="187198"/>
          </a:xfrm>
          <a:prstGeom prst="rect">
            <a:avLst/>
          </a:prstGeom>
        </p:spPr>
      </p:pic>
      <p:pic>
        <p:nvPicPr>
          <p:cNvPr id="263" name="Picture 262" descr="lock.png"/>
          <p:cNvPicPr>
            <a:picLocks noChangeAspect="1"/>
          </p:cNvPicPr>
          <p:nvPr/>
        </p:nvPicPr>
        <p:blipFill>
          <a:blip r:embed="rId4"/>
          <a:stretch>
            <a:fillRect/>
          </a:stretch>
        </p:blipFill>
        <p:spPr>
          <a:xfrm>
            <a:off x="8160488" y="3202051"/>
            <a:ext cx="128699" cy="187198"/>
          </a:xfrm>
          <a:prstGeom prst="rect">
            <a:avLst/>
          </a:prstGeom>
        </p:spPr>
      </p:pic>
      <p:pic>
        <p:nvPicPr>
          <p:cNvPr id="264" name="Picture 263" descr="lock.png"/>
          <p:cNvPicPr>
            <a:picLocks noChangeAspect="1"/>
          </p:cNvPicPr>
          <p:nvPr/>
        </p:nvPicPr>
        <p:blipFill>
          <a:blip r:embed="rId4"/>
          <a:stretch>
            <a:fillRect/>
          </a:stretch>
        </p:blipFill>
        <p:spPr>
          <a:xfrm>
            <a:off x="8989163" y="3202051"/>
            <a:ext cx="128699" cy="187198"/>
          </a:xfrm>
          <a:prstGeom prst="rect">
            <a:avLst/>
          </a:prstGeom>
        </p:spPr>
      </p:pic>
      <p:pic>
        <p:nvPicPr>
          <p:cNvPr id="265" name="Picture 264" descr="lock.png"/>
          <p:cNvPicPr>
            <a:picLocks noChangeAspect="1"/>
          </p:cNvPicPr>
          <p:nvPr/>
        </p:nvPicPr>
        <p:blipFill>
          <a:blip r:embed="rId4"/>
          <a:stretch>
            <a:fillRect/>
          </a:stretch>
        </p:blipFill>
        <p:spPr>
          <a:xfrm>
            <a:off x="9817838" y="3202051"/>
            <a:ext cx="128699" cy="187198"/>
          </a:xfrm>
          <a:prstGeom prst="rect">
            <a:avLst/>
          </a:prstGeom>
        </p:spPr>
      </p:pic>
      <p:pic>
        <p:nvPicPr>
          <p:cNvPr id="266" name="Picture 265" descr="lock.png"/>
          <p:cNvPicPr>
            <a:picLocks noChangeAspect="1"/>
          </p:cNvPicPr>
          <p:nvPr/>
        </p:nvPicPr>
        <p:blipFill>
          <a:blip r:embed="rId4"/>
          <a:stretch>
            <a:fillRect/>
          </a:stretch>
        </p:blipFill>
        <p:spPr>
          <a:xfrm>
            <a:off x="8160488" y="3478276"/>
            <a:ext cx="128699" cy="187198"/>
          </a:xfrm>
          <a:prstGeom prst="rect">
            <a:avLst/>
          </a:prstGeom>
        </p:spPr>
      </p:pic>
      <p:pic>
        <p:nvPicPr>
          <p:cNvPr id="267" name="Picture 266" descr="lock.png"/>
          <p:cNvPicPr>
            <a:picLocks noChangeAspect="1"/>
          </p:cNvPicPr>
          <p:nvPr/>
        </p:nvPicPr>
        <p:blipFill>
          <a:blip r:embed="rId4"/>
          <a:stretch>
            <a:fillRect/>
          </a:stretch>
        </p:blipFill>
        <p:spPr>
          <a:xfrm>
            <a:off x="8989162" y="3478276"/>
            <a:ext cx="128699" cy="187198"/>
          </a:xfrm>
          <a:prstGeom prst="rect">
            <a:avLst/>
          </a:prstGeom>
        </p:spPr>
      </p:pic>
      <p:pic>
        <p:nvPicPr>
          <p:cNvPr id="268" name="Picture 267" descr="lock.png"/>
          <p:cNvPicPr>
            <a:picLocks noChangeAspect="1"/>
          </p:cNvPicPr>
          <p:nvPr/>
        </p:nvPicPr>
        <p:blipFill>
          <a:blip r:embed="rId4"/>
          <a:stretch>
            <a:fillRect/>
          </a:stretch>
        </p:blipFill>
        <p:spPr>
          <a:xfrm>
            <a:off x="9817838" y="3478276"/>
            <a:ext cx="128699" cy="187198"/>
          </a:xfrm>
          <a:prstGeom prst="rect">
            <a:avLst/>
          </a:prstGeom>
        </p:spPr>
      </p:pic>
      <p:pic>
        <p:nvPicPr>
          <p:cNvPr id="269" name="Picture 268" descr="lock.png"/>
          <p:cNvPicPr>
            <a:picLocks noChangeAspect="1"/>
          </p:cNvPicPr>
          <p:nvPr/>
        </p:nvPicPr>
        <p:blipFill>
          <a:blip r:embed="rId4"/>
          <a:stretch>
            <a:fillRect/>
          </a:stretch>
        </p:blipFill>
        <p:spPr>
          <a:xfrm>
            <a:off x="10646512" y="3478276"/>
            <a:ext cx="128699" cy="187198"/>
          </a:xfrm>
          <a:prstGeom prst="rect">
            <a:avLst/>
          </a:prstGeom>
        </p:spPr>
      </p:pic>
      <p:sp>
        <p:nvSpPr>
          <p:cNvPr id="270" name="TextBox 269"/>
          <p:cNvSpPr txBox="1"/>
          <p:nvPr/>
        </p:nvSpPr>
        <p:spPr>
          <a:xfrm>
            <a:off x="266700" y="1344930"/>
            <a:ext cx="491480" cy="186689"/>
          </a:xfrm>
          <a:prstGeom prst="rect">
            <a:avLst/>
          </a:prstGeom>
          <a:noFill/>
        </p:spPr>
        <p:txBody>
          <a:bodyPr wrap="none" lIns="0" rIns="0" tIns="0" bIns="0">
            <a:spAutoFit/>
          </a:bodyPr>
          <a:lstStyle/>
          <a:p>
            <a:r>
              <a:rPr sz="1100" b="0">
                <a:solidFill>
                  <a:srgbClr val="6B7280"/>
                </a:solidFill>
                <a:latin typeface="Calibri"/>
              </a:rPr>
              <a:t>Market</a:t>
            </a:r>
          </a:p>
        </p:txBody>
      </p:sp>
      <p:pic>
        <p:nvPicPr>
          <p:cNvPr id="271" name="Picture 270" descr="lock.png"/>
          <p:cNvPicPr>
            <a:picLocks noChangeAspect="1"/>
          </p:cNvPicPr>
          <p:nvPr/>
        </p:nvPicPr>
        <p:blipFill>
          <a:blip r:embed="rId4"/>
          <a:stretch>
            <a:fillRect/>
          </a:stretch>
        </p:blipFill>
        <p:spPr>
          <a:xfrm>
            <a:off x="706231" y="1335151"/>
            <a:ext cx="128699" cy="187198"/>
          </a:xfrm>
          <a:prstGeom prst="rect">
            <a:avLst/>
          </a:prstGeom>
        </p:spPr>
      </p:pic>
      <p:sp>
        <p:nvSpPr>
          <p:cNvPr id="272" name="TextBox 271"/>
          <p:cNvSpPr txBox="1"/>
          <p:nvPr/>
        </p:nvSpPr>
        <p:spPr>
          <a:xfrm>
            <a:off x="873727" y="1344930"/>
            <a:ext cx="1290389" cy="186689"/>
          </a:xfrm>
          <a:prstGeom prst="rect">
            <a:avLst/>
          </a:prstGeom>
          <a:noFill/>
        </p:spPr>
        <p:txBody>
          <a:bodyPr wrap="none" lIns="0" rIns="0" tIns="0" bIns="0">
            <a:spAutoFit/>
          </a:bodyPr>
          <a:lstStyle/>
          <a:p>
            <a:r>
              <a:rPr sz="1100" b="0">
                <a:solidFill>
                  <a:srgbClr val="6B7280"/>
                </a:solidFill>
                <a:latin typeface="Calibri"/>
              </a:rPr>
              <a:t>US$ Mn · Tier 1 share</a:t>
            </a:r>
          </a:p>
        </p:txBody>
      </p:sp>
      <p:pic>
        <p:nvPicPr>
          <p:cNvPr id="273" name="Picture 272" descr="lock.png"/>
          <p:cNvPicPr>
            <a:picLocks noChangeAspect="1"/>
          </p:cNvPicPr>
          <p:nvPr/>
        </p:nvPicPr>
        <p:blipFill>
          <a:blip r:embed="rId4"/>
          <a:stretch>
            <a:fillRect/>
          </a:stretch>
        </p:blipFill>
        <p:spPr>
          <a:xfrm>
            <a:off x="2112168" y="1335151"/>
            <a:ext cx="128699" cy="187198"/>
          </a:xfrm>
          <a:prstGeom prst="rect">
            <a:avLst/>
          </a:prstGeom>
        </p:spPr>
      </p:pic>
      <p:sp>
        <p:nvSpPr>
          <p:cNvPr id="274" name="TextBox 273"/>
          <p:cNvSpPr txBox="1"/>
          <p:nvPr/>
        </p:nvSpPr>
        <p:spPr>
          <a:xfrm>
            <a:off x="2279664" y="1344930"/>
            <a:ext cx="202803" cy="186689"/>
          </a:xfrm>
          <a:prstGeom prst="rect">
            <a:avLst/>
          </a:prstGeom>
          <a:noFill/>
        </p:spPr>
        <p:txBody>
          <a:bodyPr wrap="none" lIns="0" rIns="0" tIns="0" bIns="0">
            <a:spAutoFit/>
          </a:bodyPr>
          <a:lstStyle/>
          <a:p>
            <a:r>
              <a:rPr sz="1100" b="0">
                <a:solidFill>
                  <a:srgbClr val="6B7280"/>
                </a:solidFill>
                <a:latin typeface="Calibri"/>
              </a:rPr>
              <a:t>→</a:t>
            </a:r>
          </a:p>
        </p:txBody>
      </p:sp>
      <p:pic>
        <p:nvPicPr>
          <p:cNvPr id="275" name="Picture 274" descr="lock.png"/>
          <p:cNvPicPr>
            <a:picLocks noChangeAspect="1"/>
          </p:cNvPicPr>
          <p:nvPr/>
        </p:nvPicPr>
        <p:blipFill>
          <a:blip r:embed="rId4"/>
          <a:stretch>
            <a:fillRect/>
          </a:stretch>
        </p:blipFill>
        <p:spPr>
          <a:xfrm>
            <a:off x="2430519" y="1335151"/>
            <a:ext cx="128699" cy="187198"/>
          </a:xfrm>
          <a:prstGeom prst="rect">
            <a:avLst/>
          </a:prstGeom>
        </p:spPr>
      </p:pic>
      <p:sp>
        <p:nvSpPr>
          <p:cNvPr id="276" name="TextBox 275"/>
          <p:cNvSpPr txBox="1"/>
          <p:nvPr/>
        </p:nvSpPr>
        <p:spPr>
          <a:xfrm>
            <a:off x="2598014" y="1344930"/>
            <a:ext cx="528315" cy="186689"/>
          </a:xfrm>
          <a:prstGeom prst="rect">
            <a:avLst/>
          </a:prstGeom>
          <a:noFill/>
        </p:spPr>
        <p:txBody>
          <a:bodyPr wrap="none" lIns="0" rIns="0" tIns="0" bIns="0">
            <a:spAutoFit/>
          </a:bodyPr>
          <a:lstStyle/>
          <a:p>
            <a:r>
              <a:rPr sz="1100" b="0">
                <a:solidFill>
                  <a:srgbClr val="6B7280"/>
                </a:solidFill>
                <a:latin typeface="Calibri"/>
              </a:rPr>
              <a:t>by 2036</a:t>
            </a:r>
          </a:p>
        </p:txBody>
      </p:sp>
      <p:pic>
        <p:nvPicPr>
          <p:cNvPr id="277" name="Picture 276" descr="lock.png"/>
          <p:cNvPicPr>
            <a:picLocks noChangeAspect="1"/>
          </p:cNvPicPr>
          <p:nvPr/>
        </p:nvPicPr>
        <p:blipFill>
          <a:blip r:embed="rId4"/>
          <a:stretch>
            <a:fillRect/>
          </a:stretch>
        </p:blipFill>
        <p:spPr>
          <a:xfrm>
            <a:off x="1377182" y="1839976"/>
            <a:ext cx="128699" cy="187198"/>
          </a:xfrm>
          <a:prstGeom prst="rect">
            <a:avLst/>
          </a:prstGeom>
        </p:spPr>
      </p:pic>
      <p:sp>
        <p:nvSpPr>
          <p:cNvPr id="278" name="TextBox 277"/>
          <p:cNvSpPr txBox="1"/>
          <p:nvPr/>
        </p:nvSpPr>
        <p:spPr>
          <a:xfrm>
            <a:off x="1544678" y="1849755"/>
            <a:ext cx="1429543" cy="186689"/>
          </a:xfrm>
          <a:prstGeom prst="rect">
            <a:avLst/>
          </a:prstGeom>
          <a:noFill/>
        </p:spPr>
        <p:txBody>
          <a:bodyPr wrap="none" lIns="0" rIns="0" tIns="0" bIns="0">
            <a:spAutoFit/>
          </a:bodyPr>
          <a:lstStyle/>
          <a:p>
            <a:r>
              <a:rPr sz="1100" b="0">
                <a:solidFill>
                  <a:srgbClr val="FFFFFF"/>
                </a:solidFill>
                <a:latin typeface="Calibri"/>
              </a:rPr>
              <a:t>US$ Mn · 4 players · avg</a:t>
            </a:r>
          </a:p>
        </p:txBody>
      </p:sp>
      <p:pic>
        <p:nvPicPr>
          <p:cNvPr id="279" name="Picture 278" descr="lock.png"/>
          <p:cNvPicPr>
            <a:picLocks noChangeAspect="1"/>
          </p:cNvPicPr>
          <p:nvPr/>
        </p:nvPicPr>
        <p:blipFill>
          <a:blip r:embed="rId4"/>
          <a:stretch>
            <a:fillRect/>
          </a:stretch>
        </p:blipFill>
        <p:spPr>
          <a:xfrm>
            <a:off x="2922273" y="1839976"/>
            <a:ext cx="128699" cy="187198"/>
          </a:xfrm>
          <a:prstGeom prst="rect">
            <a:avLst/>
          </a:prstGeom>
        </p:spPr>
      </p:pic>
      <p:sp>
        <p:nvSpPr>
          <p:cNvPr id="280" name="TextBox 279"/>
          <p:cNvSpPr txBox="1"/>
          <p:nvPr/>
        </p:nvSpPr>
        <p:spPr>
          <a:xfrm>
            <a:off x="3089769" y="18497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1" name="Picture 280" descr="lock.png"/>
          <p:cNvPicPr>
            <a:picLocks noChangeAspect="1"/>
          </p:cNvPicPr>
          <p:nvPr/>
        </p:nvPicPr>
        <p:blipFill>
          <a:blip r:embed="rId4"/>
          <a:stretch>
            <a:fillRect/>
          </a:stretch>
        </p:blipFill>
        <p:spPr>
          <a:xfrm>
            <a:off x="1377182" y="2697226"/>
            <a:ext cx="128699" cy="187198"/>
          </a:xfrm>
          <a:prstGeom prst="rect">
            <a:avLst/>
          </a:prstGeom>
        </p:spPr>
      </p:pic>
      <p:sp>
        <p:nvSpPr>
          <p:cNvPr id="282" name="TextBox 281"/>
          <p:cNvSpPr txBox="1"/>
          <p:nvPr/>
        </p:nvSpPr>
        <p:spPr>
          <a:xfrm>
            <a:off x="1544678" y="2707005"/>
            <a:ext cx="1429543" cy="186689"/>
          </a:xfrm>
          <a:prstGeom prst="rect">
            <a:avLst/>
          </a:prstGeom>
          <a:noFill/>
        </p:spPr>
        <p:txBody>
          <a:bodyPr wrap="none" lIns="0" rIns="0" tIns="0" bIns="0">
            <a:spAutoFit/>
          </a:bodyPr>
          <a:lstStyle/>
          <a:p>
            <a:r>
              <a:rPr sz="1100" b="0">
                <a:solidFill>
                  <a:srgbClr val="FFFFFF"/>
                </a:solidFill>
                <a:latin typeface="Calibri"/>
              </a:rPr>
              <a:t>US$ Mn · 2 players · avg</a:t>
            </a:r>
          </a:p>
        </p:txBody>
      </p:sp>
      <p:pic>
        <p:nvPicPr>
          <p:cNvPr id="283" name="Picture 282" descr="lock.png"/>
          <p:cNvPicPr>
            <a:picLocks noChangeAspect="1"/>
          </p:cNvPicPr>
          <p:nvPr/>
        </p:nvPicPr>
        <p:blipFill>
          <a:blip r:embed="rId4"/>
          <a:stretch>
            <a:fillRect/>
          </a:stretch>
        </p:blipFill>
        <p:spPr>
          <a:xfrm>
            <a:off x="2922273" y="2697226"/>
            <a:ext cx="128699" cy="187198"/>
          </a:xfrm>
          <a:prstGeom prst="rect">
            <a:avLst/>
          </a:prstGeom>
        </p:spPr>
      </p:pic>
      <p:sp>
        <p:nvSpPr>
          <p:cNvPr id="284" name="TextBox 283"/>
          <p:cNvSpPr txBox="1"/>
          <p:nvPr/>
        </p:nvSpPr>
        <p:spPr>
          <a:xfrm>
            <a:off x="3089769" y="270700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5" name="Picture 284" descr="lock.png"/>
          <p:cNvPicPr>
            <a:picLocks noChangeAspect="1"/>
          </p:cNvPicPr>
          <p:nvPr/>
        </p:nvPicPr>
        <p:blipFill>
          <a:blip r:embed="rId4"/>
          <a:stretch>
            <a:fillRect/>
          </a:stretch>
        </p:blipFill>
        <p:spPr>
          <a:xfrm>
            <a:off x="1377182" y="3554476"/>
            <a:ext cx="128699" cy="187198"/>
          </a:xfrm>
          <a:prstGeom prst="rect">
            <a:avLst/>
          </a:prstGeom>
        </p:spPr>
      </p:pic>
      <p:sp>
        <p:nvSpPr>
          <p:cNvPr id="286" name="TextBox 285"/>
          <p:cNvSpPr txBox="1"/>
          <p:nvPr/>
        </p:nvSpPr>
        <p:spPr>
          <a:xfrm>
            <a:off x="1544678" y="3564255"/>
            <a:ext cx="1429543" cy="186689"/>
          </a:xfrm>
          <a:prstGeom prst="rect">
            <a:avLst/>
          </a:prstGeom>
          <a:noFill/>
        </p:spPr>
        <p:txBody>
          <a:bodyPr wrap="none" lIns="0" rIns="0" tIns="0" bIns="0">
            <a:spAutoFit/>
          </a:bodyPr>
          <a:lstStyle/>
          <a:p>
            <a:r>
              <a:rPr sz="1100" b="0">
                <a:solidFill>
                  <a:srgbClr val="FFFFFF"/>
                </a:solidFill>
                <a:latin typeface="Calibri"/>
              </a:rPr>
              <a:t>US$ Mn · 4 players · avg</a:t>
            </a:r>
          </a:p>
        </p:txBody>
      </p:sp>
      <p:pic>
        <p:nvPicPr>
          <p:cNvPr id="287" name="Picture 286" descr="lock.png"/>
          <p:cNvPicPr>
            <a:picLocks noChangeAspect="1"/>
          </p:cNvPicPr>
          <p:nvPr/>
        </p:nvPicPr>
        <p:blipFill>
          <a:blip r:embed="rId4"/>
          <a:stretch>
            <a:fillRect/>
          </a:stretch>
        </p:blipFill>
        <p:spPr>
          <a:xfrm>
            <a:off x="2922273" y="3554476"/>
            <a:ext cx="128699" cy="187198"/>
          </a:xfrm>
          <a:prstGeom prst="rect">
            <a:avLst/>
          </a:prstGeom>
        </p:spPr>
      </p:pic>
      <p:sp>
        <p:nvSpPr>
          <p:cNvPr id="288" name="TextBox 287"/>
          <p:cNvSpPr txBox="1"/>
          <p:nvPr/>
        </p:nvSpPr>
        <p:spPr>
          <a:xfrm>
            <a:off x="3089769" y="35642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9" name="Picture 288" descr="lock.png"/>
          <p:cNvPicPr>
            <a:picLocks noChangeAspect="1"/>
          </p:cNvPicPr>
          <p:nvPr/>
        </p:nvPicPr>
        <p:blipFill>
          <a:blip r:embed="rId4"/>
          <a:stretch>
            <a:fillRect/>
          </a:stretch>
        </p:blipFill>
        <p:spPr>
          <a:xfrm>
            <a:off x="1377182" y="4411726"/>
            <a:ext cx="128699" cy="187198"/>
          </a:xfrm>
          <a:prstGeom prst="rect">
            <a:avLst/>
          </a:prstGeom>
        </p:spPr>
      </p:pic>
      <p:sp>
        <p:nvSpPr>
          <p:cNvPr id="290" name="TextBox 289"/>
          <p:cNvSpPr txBox="1"/>
          <p:nvPr/>
        </p:nvSpPr>
        <p:spPr>
          <a:xfrm>
            <a:off x="1544678" y="4421505"/>
            <a:ext cx="1247006" cy="186689"/>
          </a:xfrm>
          <a:prstGeom prst="rect">
            <a:avLst/>
          </a:prstGeom>
          <a:noFill/>
        </p:spPr>
        <p:txBody>
          <a:bodyPr wrap="none" lIns="0" rIns="0" tIns="0" bIns="0">
            <a:spAutoFit/>
          </a:bodyPr>
          <a:lstStyle/>
          <a:p>
            <a:r>
              <a:rPr sz="1100" b="0">
                <a:solidFill>
                  <a:srgbClr val="14213D"/>
                </a:solidFill>
                <a:latin typeface="Calibri"/>
              </a:rPr>
              <a:t>US$ Mn · – · long tail</a:t>
            </a:r>
          </a:p>
        </p:txBody>
      </p:sp>
      <p:sp>
        <p:nvSpPr>
          <p:cNvPr id="291" name="TextBox 290"/>
          <p:cNvSpPr txBox="1"/>
          <p:nvPr/>
        </p:nvSpPr>
        <p:spPr>
          <a:xfrm>
            <a:off x="1241169" y="5802630"/>
            <a:ext cx="493662" cy="186689"/>
          </a:xfrm>
          <a:prstGeom prst="rect">
            <a:avLst/>
          </a:prstGeom>
          <a:noFill/>
        </p:spPr>
        <p:txBody>
          <a:bodyPr wrap="none" lIns="0" rIns="0" tIns="0" bIns="0">
            <a:spAutoFit/>
          </a:bodyPr>
          <a:lstStyle/>
          <a:p>
            <a:r>
              <a:rPr sz="1100" b="1">
                <a:solidFill>
                  <a:srgbClr val="2E7D32"/>
                </a:solidFill>
                <a:latin typeface="Calibri"/>
              </a:rPr>
              <a:t>▲</a:t>
            </a:r>
            <a:r>
              <a:rPr sz="1100" b="1">
                <a:solidFill>
                  <a:srgbClr val="14213D"/>
                </a:solidFill>
                <a:latin typeface="Calibri"/>
              </a:rPr>
              <a:t> HHI =</a:t>
            </a:r>
          </a:p>
        </p:txBody>
      </p:sp>
      <p:pic>
        <p:nvPicPr>
          <p:cNvPr id="292" name="Picture 291" descr="lock.png"/>
          <p:cNvPicPr>
            <a:picLocks noChangeAspect="1"/>
          </p:cNvPicPr>
          <p:nvPr/>
        </p:nvPicPr>
        <p:blipFill>
          <a:blip r:embed="rId4"/>
          <a:stretch>
            <a:fillRect/>
          </a:stretch>
        </p:blipFill>
        <p:spPr>
          <a:xfrm>
            <a:off x="1682883" y="5792851"/>
            <a:ext cx="128699" cy="187198"/>
          </a:xfrm>
          <a:prstGeom prst="rect">
            <a:avLst/>
          </a:prstGeom>
        </p:spPr>
      </p:pic>
      <p:sp>
        <p:nvSpPr>
          <p:cNvPr id="293" name="TextBox 292"/>
          <p:cNvSpPr txBox="1"/>
          <p:nvPr/>
        </p:nvSpPr>
        <p:spPr>
          <a:xfrm>
            <a:off x="876202" y="6107430"/>
            <a:ext cx="400893" cy="186689"/>
          </a:xfrm>
          <a:prstGeom prst="rect">
            <a:avLst/>
          </a:prstGeom>
          <a:noFill/>
        </p:spPr>
        <p:txBody>
          <a:bodyPr wrap="none" lIns="0" rIns="0" tIns="0" bIns="0">
            <a:spAutoFit/>
          </a:bodyPr>
          <a:lstStyle/>
          <a:p>
            <a:r>
              <a:rPr sz="1100" b="1">
                <a:solidFill>
                  <a:srgbClr val="14213D"/>
                </a:solidFill>
                <a:latin typeface="Calibri"/>
              </a:rPr>
              <a:t>CR4 =</a:t>
            </a:r>
          </a:p>
        </p:txBody>
      </p:sp>
      <p:pic>
        <p:nvPicPr>
          <p:cNvPr id="294" name="Picture 293" descr="lock.png"/>
          <p:cNvPicPr>
            <a:picLocks noChangeAspect="1"/>
          </p:cNvPicPr>
          <p:nvPr/>
        </p:nvPicPr>
        <p:blipFill>
          <a:blip r:embed="rId4"/>
          <a:stretch>
            <a:fillRect/>
          </a:stretch>
        </p:blipFill>
        <p:spPr>
          <a:xfrm>
            <a:off x="1225147" y="6097651"/>
            <a:ext cx="128699" cy="187198"/>
          </a:xfrm>
          <a:prstGeom prst="rect">
            <a:avLst/>
          </a:prstGeom>
        </p:spPr>
      </p:pic>
      <p:sp>
        <p:nvSpPr>
          <p:cNvPr id="295" name="TextBox 294"/>
          <p:cNvSpPr txBox="1"/>
          <p:nvPr/>
        </p:nvSpPr>
        <p:spPr>
          <a:xfrm>
            <a:off x="1392643" y="6107430"/>
            <a:ext cx="1068288" cy="186689"/>
          </a:xfrm>
          <a:prstGeom prst="rect">
            <a:avLst/>
          </a:prstGeom>
          <a:noFill/>
        </p:spPr>
        <p:txBody>
          <a:bodyPr wrap="none" lIns="0" rIns="0" tIns="0" bIns="0">
            <a:spAutoFit/>
          </a:bodyPr>
          <a:lstStyle/>
          <a:p>
            <a:r>
              <a:rPr sz="1100" b="1">
                <a:solidFill>
                  <a:srgbClr val="14213D"/>
                </a:solidFill>
                <a:latin typeface="Calibri"/>
              </a:rPr>
              <a:t>· Tier 1 : Others =</a:t>
            </a:r>
          </a:p>
        </p:txBody>
      </p:sp>
      <p:pic>
        <p:nvPicPr>
          <p:cNvPr id="296" name="Picture 295" descr="lock.png"/>
          <p:cNvPicPr>
            <a:picLocks noChangeAspect="1"/>
          </p:cNvPicPr>
          <p:nvPr/>
        </p:nvPicPr>
        <p:blipFill>
          <a:blip r:embed="rId4"/>
          <a:stretch>
            <a:fillRect/>
          </a:stretch>
        </p:blipFill>
        <p:spPr>
          <a:xfrm>
            <a:off x="2408983" y="6097651"/>
            <a:ext cx="128699" cy="187198"/>
          </a:xfrm>
          <a:prstGeom prst="rect">
            <a:avLst/>
          </a:prstGeom>
        </p:spPr>
      </p:pic>
      <p:sp>
        <p:nvSpPr>
          <p:cNvPr id="297" name="TextBox 296"/>
          <p:cNvSpPr txBox="1"/>
          <p:nvPr/>
        </p:nvSpPr>
        <p:spPr>
          <a:xfrm>
            <a:off x="2576478" y="6107430"/>
            <a:ext cx="1397620" cy="186689"/>
          </a:xfrm>
          <a:prstGeom prst="rect">
            <a:avLst/>
          </a:prstGeom>
          <a:noFill/>
        </p:spPr>
        <p:txBody>
          <a:bodyPr wrap="none" lIns="0" rIns="0" tIns="0" bIns="0">
            <a:spAutoFit/>
          </a:bodyPr>
          <a:lstStyle/>
          <a:p>
            <a:r>
              <a:rPr sz="1100" b="1">
                <a:solidFill>
                  <a:srgbClr val="14213D"/>
                </a:solidFill>
                <a:latin typeface="Calibri"/>
              </a:rPr>
              <a:t>: 1 · Top-player share =</a:t>
            </a:r>
          </a:p>
        </p:txBody>
      </p:sp>
      <p:pic>
        <p:nvPicPr>
          <p:cNvPr id="298" name="Picture 297" descr="lock.png"/>
          <p:cNvPicPr>
            <a:picLocks noChangeAspect="1"/>
          </p:cNvPicPr>
          <p:nvPr/>
        </p:nvPicPr>
        <p:blipFill>
          <a:blip r:embed="rId4"/>
          <a:stretch>
            <a:fillRect/>
          </a:stretch>
        </p:blipFill>
        <p:spPr>
          <a:xfrm>
            <a:off x="3922150" y="6097651"/>
            <a:ext cx="128699" cy="187198"/>
          </a:xfrm>
          <a:prstGeom prst="rect">
            <a:avLst/>
          </a:prstGeom>
        </p:spPr>
      </p:pic>
      <p:sp>
        <p:nvSpPr>
          <p:cNvPr id="299" name="TextBox 298"/>
          <p:cNvSpPr txBox="1"/>
          <p:nvPr/>
        </p:nvSpPr>
        <p:spPr>
          <a:xfrm>
            <a:off x="4089646" y="6107430"/>
            <a:ext cx="1206351" cy="186689"/>
          </a:xfrm>
          <a:prstGeom prst="rect">
            <a:avLst/>
          </a:prstGeom>
          <a:noFill/>
        </p:spPr>
        <p:txBody>
          <a:bodyPr wrap="none" lIns="0" rIns="0" tIns="0" bIns="0">
            <a:spAutoFit/>
          </a:bodyPr>
          <a:lstStyle/>
          <a:p>
            <a:r>
              <a:rPr sz="1100" b="1">
                <a:solidFill>
                  <a:srgbClr val="14213D"/>
                </a:solidFill>
                <a:latin typeface="Calibri"/>
              </a:rPr>
              <a:t>· Class: Fragmented</a:t>
            </a:r>
          </a:p>
        </p:txBody>
      </p:sp>
      <p:sp>
        <p:nvSpPr>
          <p:cNvPr id="300" name="TextBox 299"/>
          <p:cNvSpPr txBox="1"/>
          <p:nvPr/>
        </p:nvSpPr>
        <p:spPr>
          <a:xfrm>
            <a:off x="6372225" y="5476875"/>
            <a:ext cx="471561" cy="186689"/>
          </a:xfrm>
          <a:prstGeom prst="rect">
            <a:avLst/>
          </a:prstGeom>
          <a:noFill/>
        </p:spPr>
        <p:txBody>
          <a:bodyPr wrap="none" lIns="0" rIns="0" tIns="0" bIns="0">
            <a:spAutoFit/>
          </a:bodyPr>
          <a:lstStyle/>
          <a:p>
            <a:r>
              <a:rPr sz="1100" b="0">
                <a:solidFill>
                  <a:srgbClr val="14213D"/>
                </a:solidFill>
                <a:latin typeface="Calibri"/>
              </a:rPr>
              <a:t>Tier 1 (</a:t>
            </a:r>
          </a:p>
        </p:txBody>
      </p:sp>
      <p:pic>
        <p:nvPicPr>
          <p:cNvPr id="301" name="Picture 300" descr="lock.png"/>
          <p:cNvPicPr>
            <a:picLocks noChangeAspect="1"/>
          </p:cNvPicPr>
          <p:nvPr/>
        </p:nvPicPr>
        <p:blipFill>
          <a:blip r:embed="rId4"/>
          <a:stretch>
            <a:fillRect/>
          </a:stretch>
        </p:blipFill>
        <p:spPr>
          <a:xfrm>
            <a:off x="6791838" y="5467095"/>
            <a:ext cx="128699" cy="187198"/>
          </a:xfrm>
          <a:prstGeom prst="rect">
            <a:avLst/>
          </a:prstGeom>
        </p:spPr>
      </p:pic>
      <p:sp>
        <p:nvSpPr>
          <p:cNvPr id="302" name="TextBox 301"/>
          <p:cNvSpPr txBox="1"/>
          <p:nvPr/>
        </p:nvSpPr>
        <p:spPr>
          <a:xfrm>
            <a:off x="6959334" y="5476875"/>
            <a:ext cx="2550145" cy="186689"/>
          </a:xfrm>
          <a:prstGeom prst="rect">
            <a:avLst/>
          </a:prstGeom>
          <a:noFill/>
        </p:spPr>
        <p:txBody>
          <a:bodyPr wrap="none" lIns="0" rIns="0" tIns="0" bIns="0">
            <a:spAutoFit/>
          </a:bodyPr>
          <a:lstStyle/>
          <a:p>
            <a:r>
              <a:rPr sz="1100" b="0">
                <a:solidFill>
                  <a:srgbClr val="14213D"/>
                </a:solidFill>
                <a:latin typeface="Calibri"/>
              </a:rPr>
              <a:t>) holds the largest single block of value on a</a:t>
            </a:r>
          </a:p>
        </p:txBody>
      </p:sp>
      <p:pic>
        <p:nvPicPr>
          <p:cNvPr id="303" name="Picture 302" descr="lock.png"/>
          <p:cNvPicPr>
            <a:picLocks noChangeAspect="1"/>
          </p:cNvPicPr>
          <p:nvPr/>
        </p:nvPicPr>
        <p:blipFill>
          <a:blip r:embed="rId4"/>
          <a:stretch>
            <a:fillRect/>
          </a:stretch>
        </p:blipFill>
        <p:spPr>
          <a:xfrm>
            <a:off x="9457531" y="5467095"/>
            <a:ext cx="128699" cy="187198"/>
          </a:xfrm>
          <a:prstGeom prst="rect">
            <a:avLst/>
          </a:prstGeom>
        </p:spPr>
      </p:pic>
      <p:sp>
        <p:nvSpPr>
          <p:cNvPr id="304" name="TextBox 303"/>
          <p:cNvSpPr txBox="1"/>
          <p:nvPr/>
        </p:nvSpPr>
        <p:spPr>
          <a:xfrm>
            <a:off x="9625026" y="5476875"/>
            <a:ext cx="1259830" cy="186689"/>
          </a:xfrm>
          <a:prstGeom prst="rect">
            <a:avLst/>
          </a:prstGeom>
          <a:noFill/>
        </p:spPr>
        <p:txBody>
          <a:bodyPr wrap="none" lIns="0" rIns="0" tIns="0" bIns="0">
            <a:spAutoFit/>
          </a:bodyPr>
          <a:lstStyle/>
          <a:p>
            <a:r>
              <a:rPr sz="1100" b="0">
                <a:solidFill>
                  <a:srgbClr val="14213D"/>
                </a:solidFill>
                <a:latin typeface="Calibri"/>
              </a:rPr>
              <a:t>US$ Mn base; CR4 of</a:t>
            </a:r>
          </a:p>
        </p:txBody>
      </p:sp>
      <p:pic>
        <p:nvPicPr>
          <p:cNvPr id="305" name="Picture 304" descr="lock.png"/>
          <p:cNvPicPr>
            <a:picLocks noChangeAspect="1"/>
          </p:cNvPicPr>
          <p:nvPr/>
        </p:nvPicPr>
        <p:blipFill>
          <a:blip r:embed="rId4"/>
          <a:stretch>
            <a:fillRect/>
          </a:stretch>
        </p:blipFill>
        <p:spPr>
          <a:xfrm>
            <a:off x="10832908" y="5467095"/>
            <a:ext cx="128699" cy="187198"/>
          </a:xfrm>
          <a:prstGeom prst="rect">
            <a:avLst/>
          </a:prstGeom>
        </p:spPr>
      </p:pic>
      <p:sp>
        <p:nvSpPr>
          <p:cNvPr id="306" name="TextBox 305"/>
          <p:cNvSpPr txBox="1"/>
          <p:nvPr/>
        </p:nvSpPr>
        <p:spPr>
          <a:xfrm>
            <a:off x="11000404" y="5476875"/>
            <a:ext cx="678656" cy="186689"/>
          </a:xfrm>
          <a:prstGeom prst="rect">
            <a:avLst/>
          </a:prstGeom>
          <a:noFill/>
        </p:spPr>
        <p:txBody>
          <a:bodyPr wrap="none" lIns="0" rIns="0" tIns="0" bIns="0">
            <a:spAutoFit/>
          </a:bodyPr>
          <a:lstStyle/>
          <a:p>
            <a:r>
              <a:rPr sz="1100" b="0">
                <a:solidFill>
                  <a:srgbClr val="14213D"/>
                </a:solidFill>
                <a:latin typeface="Calibri"/>
              </a:rPr>
              <a:t>and HHI of</a:t>
            </a:r>
          </a:p>
        </p:txBody>
      </p:sp>
      <p:pic>
        <p:nvPicPr>
          <p:cNvPr id="307" name="Picture 306" descr="lock.png"/>
          <p:cNvPicPr>
            <a:picLocks noChangeAspect="1"/>
          </p:cNvPicPr>
          <p:nvPr/>
        </p:nvPicPr>
        <p:blipFill>
          <a:blip r:embed="rId4"/>
          <a:stretch>
            <a:fillRect/>
          </a:stretch>
        </p:blipFill>
        <p:spPr>
          <a:xfrm>
            <a:off x="6358757" y="5634735"/>
            <a:ext cx="128699" cy="187198"/>
          </a:xfrm>
          <a:prstGeom prst="rect">
            <a:avLst/>
          </a:prstGeom>
        </p:spPr>
      </p:pic>
      <p:sp>
        <p:nvSpPr>
          <p:cNvPr id="308" name="TextBox 307"/>
          <p:cNvSpPr txBox="1"/>
          <p:nvPr/>
        </p:nvSpPr>
        <p:spPr>
          <a:xfrm>
            <a:off x="6526253" y="5644515"/>
            <a:ext cx="2030635" cy="186689"/>
          </a:xfrm>
          <a:prstGeom prst="rect">
            <a:avLst/>
          </a:prstGeom>
          <a:noFill/>
        </p:spPr>
        <p:txBody>
          <a:bodyPr wrap="none" lIns="0" rIns="0" tIns="0" bIns="0">
            <a:spAutoFit/>
          </a:bodyPr>
          <a:lstStyle/>
          <a:p>
            <a:r>
              <a:rPr sz="1100" b="0">
                <a:solidFill>
                  <a:srgbClr val="14213D"/>
                </a:solidFill>
                <a:latin typeface="Calibri"/>
              </a:rPr>
              <a:t>classify the market as fragmented.</a:t>
            </a:r>
          </a:p>
        </p:txBody>
      </p:sp>
      <p:sp>
        <p:nvSpPr>
          <p:cNvPr id="309" name="TextBox 308"/>
          <p:cNvSpPr txBox="1"/>
          <p:nvPr/>
        </p:nvSpPr>
        <p:spPr>
          <a:xfrm>
            <a:off x="6372225" y="5857875"/>
            <a:ext cx="1331044" cy="186689"/>
          </a:xfrm>
          <a:prstGeom prst="rect">
            <a:avLst/>
          </a:prstGeom>
          <a:noFill/>
        </p:spPr>
        <p:txBody>
          <a:bodyPr wrap="none" lIns="0" rIns="0" tIns="0" bIns="0">
            <a:spAutoFit/>
          </a:bodyPr>
          <a:lstStyle/>
          <a:p>
            <a:r>
              <a:rPr sz="1100" b="0">
                <a:solidFill>
                  <a:srgbClr val="14213D"/>
                </a:solidFill>
                <a:latin typeface="Calibri"/>
              </a:rPr>
              <a:t>Tier 2 grows fastest at</a:t>
            </a:r>
          </a:p>
        </p:txBody>
      </p:sp>
      <p:pic>
        <p:nvPicPr>
          <p:cNvPr id="310" name="Picture 309" descr="lock.png"/>
          <p:cNvPicPr>
            <a:picLocks noChangeAspect="1"/>
          </p:cNvPicPr>
          <p:nvPr/>
        </p:nvPicPr>
        <p:blipFill>
          <a:blip r:embed="rId4"/>
          <a:stretch>
            <a:fillRect/>
          </a:stretch>
        </p:blipFill>
        <p:spPr>
          <a:xfrm>
            <a:off x="7651320" y="5848095"/>
            <a:ext cx="128699" cy="187198"/>
          </a:xfrm>
          <a:prstGeom prst="rect">
            <a:avLst/>
          </a:prstGeom>
        </p:spPr>
      </p:pic>
      <p:sp>
        <p:nvSpPr>
          <p:cNvPr id="311" name="TextBox 310"/>
          <p:cNvSpPr txBox="1"/>
          <p:nvPr/>
        </p:nvSpPr>
        <p:spPr>
          <a:xfrm>
            <a:off x="7818816" y="5857875"/>
            <a:ext cx="982868" cy="186689"/>
          </a:xfrm>
          <a:prstGeom prst="rect">
            <a:avLst/>
          </a:prstGeom>
          <a:noFill/>
        </p:spPr>
        <p:txBody>
          <a:bodyPr wrap="none" lIns="0" rIns="0" tIns="0" bIns="0">
            <a:spAutoFit/>
          </a:bodyPr>
          <a:lstStyle/>
          <a:p>
            <a:r>
              <a:rPr sz="1100" b="0">
                <a:solidFill>
                  <a:srgbClr val="14213D"/>
                </a:solidFill>
                <a:latin typeface="Calibri"/>
              </a:rPr>
              <a:t>CAGR, moving +</a:t>
            </a:r>
          </a:p>
        </p:txBody>
      </p:sp>
      <p:pic>
        <p:nvPicPr>
          <p:cNvPr id="312" name="Picture 311" descr="lock.png"/>
          <p:cNvPicPr>
            <a:picLocks noChangeAspect="1"/>
          </p:cNvPicPr>
          <p:nvPr/>
        </p:nvPicPr>
        <p:blipFill>
          <a:blip r:embed="rId4"/>
          <a:stretch>
            <a:fillRect/>
          </a:stretch>
        </p:blipFill>
        <p:spPr>
          <a:xfrm>
            <a:off x="8749737" y="5848095"/>
            <a:ext cx="128699" cy="187198"/>
          </a:xfrm>
          <a:prstGeom prst="rect">
            <a:avLst/>
          </a:prstGeom>
        </p:spPr>
      </p:pic>
      <p:sp>
        <p:nvSpPr>
          <p:cNvPr id="313" name="TextBox 312"/>
          <p:cNvSpPr txBox="1"/>
          <p:nvPr/>
        </p:nvSpPr>
        <p:spPr>
          <a:xfrm>
            <a:off x="8917232" y="5857875"/>
            <a:ext cx="1234727" cy="186689"/>
          </a:xfrm>
          <a:prstGeom prst="rect">
            <a:avLst/>
          </a:prstGeom>
          <a:noFill/>
        </p:spPr>
        <p:txBody>
          <a:bodyPr wrap="none" lIns="0" rIns="0" tIns="0" bIns="0">
            <a:spAutoFit/>
          </a:bodyPr>
          <a:lstStyle/>
          <a:p>
            <a:r>
              <a:rPr sz="1100" b="0">
                <a:solidFill>
                  <a:srgbClr val="14213D"/>
                </a:solidFill>
                <a:latin typeface="Calibri"/>
              </a:rPr>
              <a:t>pp of share by 2036.</a:t>
            </a:r>
          </a:p>
        </p:txBody>
      </p:sp>
      <p:sp>
        <p:nvSpPr>
          <p:cNvPr id="314" name="TextBox 313"/>
          <p:cNvSpPr txBox="1"/>
          <p:nvPr/>
        </p:nvSpPr>
        <p:spPr>
          <a:xfrm>
            <a:off x="6372225" y="6076950"/>
            <a:ext cx="2161604" cy="186689"/>
          </a:xfrm>
          <a:prstGeom prst="rect">
            <a:avLst/>
          </a:prstGeom>
          <a:noFill/>
        </p:spPr>
        <p:txBody>
          <a:bodyPr wrap="none" lIns="0" rIns="0" tIns="0" bIns="0">
            <a:spAutoFit/>
          </a:bodyPr>
          <a:lstStyle/>
          <a:p>
            <a:r>
              <a:rPr sz="1100" b="0">
                <a:solidFill>
                  <a:srgbClr val="14213D"/>
                </a:solidFill>
                <a:latin typeface="Calibri"/>
              </a:rPr>
              <a:t>Tier 3 and the long tail together hold</a:t>
            </a:r>
          </a:p>
        </p:txBody>
      </p:sp>
      <p:pic>
        <p:nvPicPr>
          <p:cNvPr id="315" name="Picture 314" descr="lock.png"/>
          <p:cNvPicPr>
            <a:picLocks noChangeAspect="1"/>
          </p:cNvPicPr>
          <p:nvPr/>
        </p:nvPicPr>
        <p:blipFill>
          <a:blip r:embed="rId4"/>
          <a:stretch>
            <a:fillRect/>
          </a:stretch>
        </p:blipFill>
        <p:spPr>
          <a:xfrm>
            <a:off x="8481881" y="6067170"/>
            <a:ext cx="128699" cy="187198"/>
          </a:xfrm>
          <a:prstGeom prst="rect">
            <a:avLst/>
          </a:prstGeom>
        </p:spPr>
      </p:pic>
      <p:sp>
        <p:nvSpPr>
          <p:cNvPr id="316" name="TextBox 315"/>
          <p:cNvSpPr txBox="1"/>
          <p:nvPr/>
        </p:nvSpPr>
        <p:spPr>
          <a:xfrm>
            <a:off x="8649376" y="6076950"/>
            <a:ext cx="2127498" cy="186689"/>
          </a:xfrm>
          <a:prstGeom prst="rect">
            <a:avLst/>
          </a:prstGeom>
          <a:noFill/>
        </p:spPr>
        <p:txBody>
          <a:bodyPr wrap="none" lIns="0" rIns="0" tIns="0" bIns="0">
            <a:spAutoFit/>
          </a:bodyPr>
          <a:lstStyle/>
          <a:p>
            <a:r>
              <a:rPr sz="1100" b="0">
                <a:solidFill>
                  <a:srgbClr val="14213D"/>
                </a:solidFill>
                <a:latin typeface="Calibri"/>
              </a:rPr>
              <a:t>of value; the average Tier 3 player is</a:t>
            </a:r>
          </a:p>
        </p:txBody>
      </p:sp>
      <p:pic>
        <p:nvPicPr>
          <p:cNvPr id="317" name="Picture 316" descr="lock.png"/>
          <p:cNvPicPr>
            <a:picLocks noChangeAspect="1"/>
          </p:cNvPicPr>
          <p:nvPr/>
        </p:nvPicPr>
        <p:blipFill>
          <a:blip r:embed="rId4"/>
          <a:stretch>
            <a:fillRect/>
          </a:stretch>
        </p:blipFill>
        <p:spPr>
          <a:xfrm>
            <a:off x="10724926" y="6067170"/>
            <a:ext cx="128699" cy="187198"/>
          </a:xfrm>
          <a:prstGeom prst="rect">
            <a:avLst/>
          </a:prstGeom>
        </p:spPr>
      </p:pic>
      <p:sp>
        <p:nvSpPr>
          <p:cNvPr id="318" name="TextBox 317"/>
          <p:cNvSpPr txBox="1"/>
          <p:nvPr/>
        </p:nvSpPr>
        <p:spPr>
          <a:xfrm>
            <a:off x="10892422" y="6076950"/>
            <a:ext cx="876473" cy="186689"/>
          </a:xfrm>
          <a:prstGeom prst="rect">
            <a:avLst/>
          </a:prstGeom>
          <a:noFill/>
        </p:spPr>
        <p:txBody>
          <a:bodyPr wrap="none" lIns="0" rIns="0" tIns="0" bIns="0">
            <a:spAutoFit/>
          </a:bodyPr>
          <a:lstStyle/>
          <a:p>
            <a:r>
              <a:rPr sz="1100" b="0">
                <a:solidFill>
                  <a:srgbClr val="14213D"/>
                </a:solidFill>
                <a:latin typeface="Calibri"/>
              </a:rPr>
              <a:t>x smaller than</a:t>
            </a:r>
          </a:p>
        </p:txBody>
      </p:sp>
      <p:sp>
        <p:nvSpPr>
          <p:cNvPr id="319" name="TextBox 318"/>
          <p:cNvSpPr txBox="1"/>
          <p:nvPr/>
        </p:nvSpPr>
        <p:spPr>
          <a:xfrm>
            <a:off x="6372225" y="6244590"/>
            <a:ext cx="1020539" cy="186689"/>
          </a:xfrm>
          <a:prstGeom prst="rect">
            <a:avLst/>
          </a:prstGeom>
          <a:noFill/>
        </p:spPr>
        <p:txBody>
          <a:bodyPr wrap="none" lIns="0" rIns="0" tIns="0" bIns="0">
            <a:spAutoFit/>
          </a:bodyPr>
          <a:lstStyle/>
          <a:p>
            <a:r>
              <a:rPr sz="1100" b="0">
                <a:solidFill>
                  <a:srgbClr val="14213D"/>
                </a:solidFill>
                <a:latin typeface="Calibri"/>
              </a:rPr>
              <a:t>a Tier 1 supplier.</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Senior Dog Cognitive Supplement Market, Global 2026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10" name="Rounded Rectangle 9"/>
          <p:cNvSpPr/>
          <p:nvPr/>
        </p:nvSpPr>
        <p:spPr>
          <a:xfrm>
            <a:off x="142875" y="1047750"/>
            <a:ext cx="11906250" cy="2381250"/>
          </a:xfrm>
          <a:prstGeom prst="roundRect">
            <a:avLst>
              <a:gd name="adj" fmla="val 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04900"/>
            <a:ext cx="11715750"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Shift, 2026 → 2036 – Tier Migration and Entry / Exit</a:t>
            </a:r>
          </a:p>
        </p:txBody>
      </p:sp>
      <p:sp>
        <p:nvSpPr>
          <p:cNvPr id="12" name="Rounded Rectangle 11"/>
          <p:cNvSpPr/>
          <p:nvPr/>
        </p:nvSpPr>
        <p:spPr>
          <a:xfrm>
            <a:off x="257175" y="1390650"/>
            <a:ext cx="1905000" cy="876300"/>
          </a:xfrm>
          <a:prstGeom prst="roundRect">
            <a:avLst>
              <a:gd name="adj" fmla="val 4000"/>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71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14" name="TextBox 13"/>
          <p:cNvSpPr txBox="1"/>
          <p:nvPr/>
        </p:nvSpPr>
        <p:spPr>
          <a:xfrm>
            <a:off x="2571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Top / global players</a:t>
            </a:r>
          </a:p>
        </p:txBody>
      </p:sp>
      <p:sp>
        <p:nvSpPr>
          <p:cNvPr id="15" name="TextBox 14"/>
          <p:cNvSpPr txBox="1"/>
          <p:nvPr/>
        </p:nvSpPr>
        <p:spPr>
          <a:xfrm>
            <a:off x="2952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16" name="TextBox 15"/>
          <p:cNvSpPr txBox="1"/>
          <p:nvPr/>
        </p:nvSpPr>
        <p:spPr>
          <a:xfrm>
            <a:off x="22383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17" name="Connector 16"/>
          <p:cNvCxnSpPr/>
          <p:nvPr/>
        </p:nvCxnSpPr>
        <p:spPr>
          <a:xfrm>
            <a:off x="23145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22383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22383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33432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383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22" name="Rounded Rectangle 21"/>
          <p:cNvSpPr/>
          <p:nvPr/>
        </p:nvSpPr>
        <p:spPr>
          <a:xfrm>
            <a:off x="3514725" y="1390650"/>
            <a:ext cx="1905000" cy="876300"/>
          </a:xfrm>
          <a:prstGeom prst="roundRect">
            <a:avLst>
              <a:gd name="adj" fmla="val 4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1472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24" name="TextBox 23"/>
          <p:cNvSpPr txBox="1"/>
          <p:nvPr/>
        </p:nvSpPr>
        <p:spPr>
          <a:xfrm>
            <a:off x="351472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Mid-sized players</a:t>
            </a:r>
          </a:p>
        </p:txBody>
      </p:sp>
      <p:sp>
        <p:nvSpPr>
          <p:cNvPr id="25" name="TextBox 24"/>
          <p:cNvSpPr txBox="1"/>
          <p:nvPr/>
        </p:nvSpPr>
        <p:spPr>
          <a:xfrm>
            <a:off x="35528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26" name="TextBox 25"/>
          <p:cNvSpPr txBox="1"/>
          <p:nvPr/>
        </p:nvSpPr>
        <p:spPr>
          <a:xfrm>
            <a:off x="549592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27" name="Connector 26"/>
          <p:cNvCxnSpPr/>
          <p:nvPr/>
        </p:nvCxnSpPr>
        <p:spPr>
          <a:xfrm>
            <a:off x="557212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549592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549592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60082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9592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32" name="Rounded Rectangle 31"/>
          <p:cNvSpPr/>
          <p:nvPr/>
        </p:nvSpPr>
        <p:spPr>
          <a:xfrm>
            <a:off x="6772275" y="1390650"/>
            <a:ext cx="1905000" cy="876300"/>
          </a:xfrm>
          <a:prstGeom prst="roundRect">
            <a:avLst>
              <a:gd name="adj" fmla="val 4000"/>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722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34" name="TextBox 33"/>
          <p:cNvSpPr txBox="1"/>
          <p:nvPr/>
        </p:nvSpPr>
        <p:spPr>
          <a:xfrm>
            <a:off x="67722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Emerging / local players</a:t>
            </a:r>
          </a:p>
        </p:txBody>
      </p:sp>
      <p:sp>
        <p:nvSpPr>
          <p:cNvPr id="35" name="TextBox 34"/>
          <p:cNvSpPr txBox="1"/>
          <p:nvPr/>
        </p:nvSpPr>
        <p:spPr>
          <a:xfrm>
            <a:off x="68103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36" name="TextBox 35"/>
          <p:cNvSpPr txBox="1"/>
          <p:nvPr/>
        </p:nvSpPr>
        <p:spPr>
          <a:xfrm>
            <a:off x="87534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2 up-tier (M&amp;A)</a:t>
            </a:r>
          </a:p>
        </p:txBody>
      </p:sp>
      <p:cxnSp>
        <p:nvCxnSpPr>
          <p:cNvPr id="37" name="Connector 36"/>
          <p:cNvCxnSpPr/>
          <p:nvPr/>
        </p:nvCxnSpPr>
        <p:spPr>
          <a:xfrm>
            <a:off x="88296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38" name="Freeform 37"/>
          <p:cNvSpPr/>
          <p:nvPr/>
        </p:nvSpPr>
        <p:spPr>
          <a:xfrm>
            <a:off x="87534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87534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40" name="Freeform 39"/>
          <p:cNvSpPr/>
          <p:nvPr/>
        </p:nvSpPr>
        <p:spPr>
          <a:xfrm>
            <a:off x="98583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534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1 down / exit</a:t>
            </a:r>
          </a:p>
        </p:txBody>
      </p:sp>
      <p:sp>
        <p:nvSpPr>
          <p:cNvPr id="42" name="Rounded Rectangle 41"/>
          <p:cNvSpPr/>
          <p:nvPr/>
        </p:nvSpPr>
        <p:spPr>
          <a:xfrm>
            <a:off x="10029825" y="1390650"/>
            <a:ext cx="1905000" cy="876300"/>
          </a:xfrm>
          <a:prstGeom prst="roundRect">
            <a:avLst>
              <a:gd name="adj" fmla="val 4000"/>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29825" y="1447800"/>
            <a:ext cx="1905000" cy="2095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44" name="TextBox 43"/>
          <p:cNvSpPr txBox="1"/>
          <p:nvPr/>
        </p:nvSpPr>
        <p:spPr>
          <a:xfrm>
            <a:off x="10029825" y="1676400"/>
            <a:ext cx="1905000" cy="17145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45" name="TextBox 44"/>
          <p:cNvSpPr txBox="1"/>
          <p:nvPr/>
        </p:nvSpPr>
        <p:spPr>
          <a:xfrm>
            <a:off x="100679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r>
          </a:p>
        </p:txBody>
      </p:sp>
      <p:sp>
        <p:nvSpPr>
          <p:cNvPr id="46" name="Rounded Rectangle 45"/>
          <p:cNvSpPr/>
          <p:nvPr/>
        </p:nvSpPr>
        <p:spPr>
          <a:xfrm>
            <a:off x="2571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MI KPI Value"/>
          <p:cNvSpPr txBox="1"/>
          <p:nvPr/>
        </p:nvSpPr>
        <p:spPr>
          <a:xfrm>
            <a:off x="3524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48" name="TextBox 47"/>
          <p:cNvSpPr txBox="1"/>
          <p:nvPr/>
        </p:nvSpPr>
        <p:spPr>
          <a:xfrm>
            <a:off x="11906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New entrants 2026–2036</a:t>
            </a:r>
          </a:p>
        </p:txBody>
      </p:sp>
      <p:sp>
        <p:nvSpPr>
          <p:cNvPr id="49" name="TextBox 48"/>
          <p:cNvSpPr txBox="1"/>
          <p:nvPr/>
        </p:nvSpPr>
        <p:spPr>
          <a:xfrm>
            <a:off x="11906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scaling up from the long tail</a:t>
            </a:r>
          </a:p>
        </p:txBody>
      </p:sp>
      <p:sp>
        <p:nvSpPr>
          <p:cNvPr id="50" name="Rounded Rectangle 49"/>
          <p:cNvSpPr/>
          <p:nvPr/>
        </p:nvSpPr>
        <p:spPr>
          <a:xfrm>
            <a:off x="32099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MI KPI Value"/>
          <p:cNvSpPr txBox="1"/>
          <p:nvPr/>
        </p:nvSpPr>
        <p:spPr>
          <a:xfrm>
            <a:off x="33051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2" name="TextBox 51"/>
          <p:cNvSpPr txBox="1"/>
          <p:nvPr/>
        </p:nvSpPr>
        <p:spPr>
          <a:xfrm>
            <a:off x="41433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Exits / acquisitions</a:t>
            </a:r>
          </a:p>
        </p:txBody>
      </p:sp>
      <p:sp>
        <p:nvSpPr>
          <p:cNvPr id="53" name="TextBox 52"/>
          <p:cNvSpPr txBox="1"/>
          <p:nvPr/>
        </p:nvSpPr>
        <p:spPr>
          <a:xfrm>
            <a:off x="41433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absorbed mainly by Tier 1–2 acquirers</a:t>
            </a:r>
          </a:p>
        </p:txBody>
      </p:sp>
      <p:sp>
        <p:nvSpPr>
          <p:cNvPr id="54" name="Rounded Rectangle 53"/>
          <p:cNvSpPr/>
          <p:nvPr/>
        </p:nvSpPr>
        <p:spPr>
          <a:xfrm>
            <a:off x="61626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MI KPI Value"/>
          <p:cNvSpPr txBox="1"/>
          <p:nvPr/>
        </p:nvSpPr>
        <p:spPr>
          <a:xfrm>
            <a:off x="62579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6" name="TextBox 55"/>
          <p:cNvSpPr txBox="1"/>
          <p:nvPr/>
        </p:nvSpPr>
        <p:spPr>
          <a:xfrm>
            <a:off x="70961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Net change in player count</a:t>
            </a:r>
          </a:p>
        </p:txBody>
      </p:sp>
      <p:sp>
        <p:nvSpPr>
          <p:cNvPr id="57" name="TextBox 56"/>
          <p:cNvSpPr txBox="1"/>
          <p:nvPr/>
        </p:nvSpPr>
        <p:spPr>
          <a:xfrm>
            <a:off x="70961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Between 2026 and 2036</a:t>
            </a:r>
          </a:p>
        </p:txBody>
      </p:sp>
      <p:sp>
        <p:nvSpPr>
          <p:cNvPr id="58" name="Rounded Rectangle 57"/>
          <p:cNvSpPr/>
          <p:nvPr/>
        </p:nvSpPr>
        <p:spPr>
          <a:xfrm>
            <a:off x="91154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MI KPI Value"/>
          <p:cNvSpPr txBox="1"/>
          <p:nvPr/>
        </p:nvSpPr>
        <p:spPr>
          <a:xfrm>
            <a:off x="92106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60" name="TextBox 59"/>
          <p:cNvSpPr txBox="1"/>
          <p:nvPr/>
        </p:nvSpPr>
        <p:spPr>
          <a:xfrm>
            <a:off x="100488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Share moving between tiers</a:t>
            </a:r>
          </a:p>
        </p:txBody>
      </p:sp>
      <p:sp>
        <p:nvSpPr>
          <p:cNvPr id="61" name="TextBox 60"/>
          <p:cNvSpPr txBox="1"/>
          <p:nvPr/>
        </p:nvSpPr>
        <p:spPr>
          <a:xfrm>
            <a:off x="100488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largest transfer: Others → Tier 2</a:t>
            </a:r>
          </a:p>
        </p:txBody>
      </p:sp>
      <p:sp>
        <p:nvSpPr>
          <p:cNvPr id="62" name="Rounded Rectangle 61"/>
          <p:cNvSpPr/>
          <p:nvPr/>
        </p:nvSpPr>
        <p:spPr>
          <a:xfrm>
            <a:off x="142875" y="3543300"/>
            <a:ext cx="7096125" cy="3086100"/>
          </a:xfrm>
          <a:prstGeom prst="roundRect">
            <a:avLst>
              <a:gd name="adj" fmla="val 107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38125" y="3600450"/>
            <a:ext cx="6905625"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Forces Shaping the Tier Structure (1 = weak, 5 = strong)</a:t>
            </a:r>
          </a:p>
        </p:txBody>
      </p:sp>
      <p:sp>
        <p:nvSpPr>
          <p:cNvPr id="64" name="Rectangle 63"/>
          <p:cNvSpPr/>
          <p:nvPr/>
        </p:nvSpPr>
        <p:spPr>
          <a:xfrm>
            <a:off x="238125" y="3867150"/>
            <a:ext cx="1428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95275" y="3867150"/>
            <a:ext cx="1352550" cy="247650"/>
          </a:xfrm>
          <a:prstGeom prst="rect">
            <a:avLst/>
          </a:prstGeom>
          <a:noFill/>
        </p:spPr>
        <p:txBody>
          <a:bodyPr wrap="square" lIns="28575" rIns="28575" tIns="9525" bIns="9525" anchor="ctr">
            <a:spAutoFit/>
          </a:bodyPr>
          <a:lstStyle/>
          <a:p>
            <a:pPr algn="l"/>
            <a:r>
              <a:rPr sz="1100" b="1">
                <a:solidFill>
                  <a:srgbClr val="FFFFFF"/>
                </a:solidFill>
                <a:latin typeface="Calibri"/>
              </a:rPr>
              <a:t>Force</a:t>
            </a:r>
          </a:p>
        </p:txBody>
      </p:sp>
      <p:sp>
        <p:nvSpPr>
          <p:cNvPr id="66" name="Rectangle 65"/>
          <p:cNvSpPr/>
          <p:nvPr/>
        </p:nvSpPr>
        <p:spPr>
          <a:xfrm>
            <a:off x="1666875" y="3867150"/>
            <a:ext cx="233362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724025" y="3867150"/>
            <a:ext cx="2257425" cy="247650"/>
          </a:xfrm>
          <a:prstGeom prst="rect">
            <a:avLst/>
          </a:prstGeom>
          <a:noFill/>
        </p:spPr>
        <p:txBody>
          <a:bodyPr wrap="square" lIns="28575" rIns="28575" tIns="9525" bIns="9525" anchor="ctr">
            <a:spAutoFit/>
          </a:bodyPr>
          <a:lstStyle/>
          <a:p>
            <a:pPr algn="l"/>
            <a:r>
              <a:rPr sz="1100" b="1">
                <a:solidFill>
                  <a:srgbClr val="FFFFFF"/>
                </a:solidFill>
                <a:latin typeface="Calibri"/>
              </a:rPr>
              <a:t>Drivers in the market</a:t>
            </a:r>
          </a:p>
        </p:txBody>
      </p:sp>
      <p:sp>
        <p:nvSpPr>
          <p:cNvPr id="68" name="Rectangle 67"/>
          <p:cNvSpPr/>
          <p:nvPr/>
        </p:nvSpPr>
        <p:spPr>
          <a:xfrm>
            <a:off x="4000500" y="3867150"/>
            <a:ext cx="666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057650" y="3867150"/>
            <a:ext cx="590550" cy="247650"/>
          </a:xfrm>
          <a:prstGeom prst="rect">
            <a:avLst/>
          </a:prstGeom>
          <a:noFill/>
        </p:spPr>
        <p:txBody>
          <a:bodyPr wrap="square" lIns="28575" rIns="28575" tIns="9525" bIns="9525" anchor="ctr">
            <a:spAutoFit/>
          </a:bodyPr>
          <a:lstStyle/>
          <a:p>
            <a:pPr algn="l"/>
            <a:r>
              <a:rPr sz="1100" b="1">
                <a:solidFill>
                  <a:srgbClr val="FFFFFF"/>
                </a:solidFill>
                <a:latin typeface="Calibri"/>
              </a:rPr>
              <a:t>Score</a:t>
            </a:r>
          </a:p>
        </p:txBody>
      </p:sp>
      <p:sp>
        <p:nvSpPr>
          <p:cNvPr id="70" name="Rectangle 69"/>
          <p:cNvSpPr/>
          <p:nvPr/>
        </p:nvSpPr>
        <p:spPr>
          <a:xfrm>
            <a:off x="4667250" y="3867150"/>
            <a:ext cx="2476500" cy="247650"/>
          </a:xfrm>
          <a:prstGeom prst="rect">
            <a:avLst/>
          </a:prstGeom>
          <a:solidFill>
            <a:srgbClr val="0E8C8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724400" y="3867150"/>
            <a:ext cx="2400300" cy="247650"/>
          </a:xfrm>
          <a:prstGeom prst="rect">
            <a:avLst/>
          </a:prstGeom>
          <a:noFill/>
        </p:spPr>
        <p:txBody>
          <a:bodyPr wrap="square" lIns="28575" rIns="28575" tIns="9525" bIns="9525" anchor="ctr">
            <a:spAutoFit/>
          </a:bodyPr>
          <a:lstStyle/>
          <a:p>
            <a:pPr algn="l"/>
            <a:r>
              <a:rPr sz="1100" b="1">
                <a:solidFill>
                  <a:srgbClr val="FFFFFF"/>
                </a:solidFill>
                <a:latin typeface="Calibri"/>
              </a:rPr>
              <a:t>Effect on tier structure</a:t>
            </a:r>
          </a:p>
        </p:txBody>
      </p:sp>
      <p:sp>
        <p:nvSpPr>
          <p:cNvPr id="72" name="Rectangle 71"/>
          <p:cNvSpPr/>
          <p:nvPr/>
        </p:nvSpPr>
        <p:spPr>
          <a:xfrm>
            <a:off x="238125" y="41148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95275" y="41148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Entry barriers</a:t>
            </a:r>
          </a:p>
        </p:txBody>
      </p:sp>
      <p:sp>
        <p:nvSpPr>
          <p:cNvPr id="74" name="Rectangle 73"/>
          <p:cNvSpPr/>
          <p:nvPr/>
        </p:nvSpPr>
        <p:spPr>
          <a:xfrm>
            <a:off x="1666875" y="41148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724025" y="41148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Certification, qualification, scale economics</a:t>
            </a:r>
          </a:p>
        </p:txBody>
      </p:sp>
      <p:sp>
        <p:nvSpPr>
          <p:cNvPr id="76" name="Rectangle 75"/>
          <p:cNvSpPr/>
          <p:nvPr/>
        </p:nvSpPr>
        <p:spPr>
          <a:xfrm>
            <a:off x="4000500" y="41148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57650" y="41148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78" name="Rectangle 77"/>
          <p:cNvSpPr/>
          <p:nvPr/>
        </p:nvSpPr>
        <p:spPr>
          <a:xfrm>
            <a:off x="4667250" y="41148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724400" y="41148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Protects Tier 1–2; slows new entry</a:t>
            </a:r>
          </a:p>
        </p:txBody>
      </p:sp>
      <p:sp>
        <p:nvSpPr>
          <p:cNvPr id="80" name="Rectangle 79"/>
          <p:cNvSpPr/>
          <p:nvPr/>
        </p:nvSpPr>
        <p:spPr>
          <a:xfrm>
            <a:off x="238125" y="45243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95275" y="45243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Buyer power</a:t>
            </a:r>
          </a:p>
        </p:txBody>
      </p:sp>
      <p:sp>
        <p:nvSpPr>
          <p:cNvPr id="82" name="Rectangle 81"/>
          <p:cNvSpPr/>
          <p:nvPr/>
        </p:nvSpPr>
        <p:spPr>
          <a:xfrm>
            <a:off x="1666875" y="45243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724025" y="452437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Key-account purchasing, multi-year supply contracts</a:t>
            </a:r>
          </a:p>
        </p:txBody>
      </p:sp>
      <p:sp>
        <p:nvSpPr>
          <p:cNvPr id="84" name="Rectangle 83"/>
          <p:cNvSpPr/>
          <p:nvPr/>
        </p:nvSpPr>
        <p:spPr>
          <a:xfrm>
            <a:off x="4000500" y="45243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057650" y="45243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86" name="Rectangle 85"/>
          <p:cNvSpPr/>
          <p:nvPr/>
        </p:nvSpPr>
        <p:spPr>
          <a:xfrm>
            <a:off x="4667250" y="45243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724400" y="452437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Compresses Tier 3 pricing</a:t>
            </a:r>
          </a:p>
        </p:txBody>
      </p:sp>
      <p:sp>
        <p:nvSpPr>
          <p:cNvPr id="88" name="Rectangle 87"/>
          <p:cNvSpPr/>
          <p:nvPr/>
        </p:nvSpPr>
        <p:spPr>
          <a:xfrm>
            <a:off x="238125" y="493395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95275" y="493395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Switching costs</a:t>
            </a:r>
          </a:p>
        </p:txBody>
      </p:sp>
      <p:sp>
        <p:nvSpPr>
          <p:cNvPr id="90" name="Rectangle 89"/>
          <p:cNvSpPr/>
          <p:nvPr/>
        </p:nvSpPr>
        <p:spPr>
          <a:xfrm>
            <a:off x="1666875" y="493395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724025" y="493395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Requalification, integration and retraining</a:t>
            </a:r>
          </a:p>
        </p:txBody>
      </p:sp>
      <p:sp>
        <p:nvSpPr>
          <p:cNvPr id="92" name="Rectangle 91"/>
          <p:cNvSpPr/>
          <p:nvPr/>
        </p:nvSpPr>
        <p:spPr>
          <a:xfrm>
            <a:off x="4000500" y="493395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057650" y="493395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94" name="Rectangle 93"/>
          <p:cNvSpPr/>
          <p:nvPr/>
        </p:nvSpPr>
        <p:spPr>
          <a:xfrm>
            <a:off x="4667250" y="493395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724400" y="493395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Locks in the installed base</a:t>
            </a:r>
          </a:p>
        </p:txBody>
      </p:sp>
      <p:sp>
        <p:nvSpPr>
          <p:cNvPr id="96" name="Rectangle 95"/>
          <p:cNvSpPr/>
          <p:nvPr/>
        </p:nvSpPr>
        <p:spPr>
          <a:xfrm>
            <a:off x="238125" y="534352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95275" y="534352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Technology substitution</a:t>
            </a:r>
          </a:p>
        </p:txBody>
      </p:sp>
      <p:sp>
        <p:nvSpPr>
          <p:cNvPr id="98" name="Rectangle 97"/>
          <p:cNvSpPr/>
          <p:nvPr/>
        </p:nvSpPr>
        <p:spPr>
          <a:xfrm>
            <a:off x="1666875" y="534352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724025" y="534352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Alternative materials and next-generation formats</a:t>
            </a:r>
          </a:p>
        </p:txBody>
      </p:sp>
      <p:sp>
        <p:nvSpPr>
          <p:cNvPr id="100" name="Rectangle 99"/>
          <p:cNvSpPr/>
          <p:nvPr/>
        </p:nvSpPr>
        <p:spPr>
          <a:xfrm>
            <a:off x="4000500" y="534352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057650" y="534352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02" name="Rectangle 101"/>
          <p:cNvSpPr/>
          <p:nvPr/>
        </p:nvSpPr>
        <p:spPr>
          <a:xfrm>
            <a:off x="4667250" y="534352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724400" y="534352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Opens demand to Tier 2–3 innovators</a:t>
            </a:r>
          </a:p>
        </p:txBody>
      </p:sp>
      <p:sp>
        <p:nvSpPr>
          <p:cNvPr id="104" name="Rectangle 103"/>
          <p:cNvSpPr/>
          <p:nvPr/>
        </p:nvSpPr>
        <p:spPr>
          <a:xfrm>
            <a:off x="238125" y="57531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95275" y="57531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Supplier power</a:t>
            </a:r>
          </a:p>
        </p:txBody>
      </p:sp>
      <p:sp>
        <p:nvSpPr>
          <p:cNvPr id="106" name="Rectangle 105"/>
          <p:cNvSpPr/>
          <p:nvPr/>
        </p:nvSpPr>
        <p:spPr>
          <a:xfrm>
            <a:off x="1666875" y="57531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724025" y="57531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Few qualified input and component suppliers</a:t>
            </a:r>
          </a:p>
        </p:txBody>
      </p:sp>
      <p:sp>
        <p:nvSpPr>
          <p:cNvPr id="108" name="Rectangle 107"/>
          <p:cNvSpPr/>
          <p:nvPr/>
        </p:nvSpPr>
        <p:spPr>
          <a:xfrm>
            <a:off x="4000500" y="57531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057650" y="57531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10" name="Rectangle 109"/>
          <p:cNvSpPr/>
          <p:nvPr/>
        </p:nvSpPr>
        <p:spPr>
          <a:xfrm>
            <a:off x="4667250" y="57531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4724400" y="57531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Raises input cost for sub-scale players</a:t>
            </a:r>
          </a:p>
        </p:txBody>
      </p:sp>
      <p:sp>
        <p:nvSpPr>
          <p:cNvPr id="112" name="Rectangle 111"/>
          <p:cNvSpPr/>
          <p:nvPr/>
        </p:nvSpPr>
        <p:spPr>
          <a:xfrm>
            <a:off x="238125" y="61626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95275" y="61626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Overall structural pressure</a:t>
            </a:r>
          </a:p>
        </p:txBody>
      </p:sp>
      <p:sp>
        <p:nvSpPr>
          <p:cNvPr id="114" name="Rectangle 113"/>
          <p:cNvSpPr/>
          <p:nvPr/>
        </p:nvSpPr>
        <p:spPr>
          <a:xfrm>
            <a:off x="1666875" y="61626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724025" y="6162675"/>
            <a:ext cx="2238375"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Average of the five forces</a:t>
            </a:r>
          </a:p>
        </p:txBody>
      </p:sp>
      <p:sp>
        <p:nvSpPr>
          <p:cNvPr id="116" name="Rectangle 115"/>
          <p:cNvSpPr/>
          <p:nvPr/>
        </p:nvSpPr>
        <p:spPr>
          <a:xfrm>
            <a:off x="4000500" y="61626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057650" y="61626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18" name="Rectangle 117"/>
          <p:cNvSpPr/>
          <p:nvPr/>
        </p:nvSpPr>
        <p:spPr>
          <a:xfrm>
            <a:off x="4667250" y="61626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724400" y="6162675"/>
            <a:ext cx="238125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Structure broadly stable</a:t>
            </a:r>
          </a:p>
        </p:txBody>
      </p:sp>
      <p:sp>
        <p:nvSpPr>
          <p:cNvPr id="120" name="Rounded Rectangle 119"/>
          <p:cNvSpPr/>
          <p:nvPr/>
        </p:nvSpPr>
        <p:spPr>
          <a:xfrm>
            <a:off x="7381875" y="3543300"/>
            <a:ext cx="4667250" cy="3086100"/>
          </a:xfrm>
          <a:prstGeom prst="roundRect">
            <a:avLst>
              <a:gd name="adj" fmla="val 163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7477125" y="3600450"/>
            <a:ext cx="4476750"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122" name="TextBox 121"/>
          <p:cNvSpPr txBox="1"/>
          <p:nvPr/>
        </p:nvSpPr>
        <p:spPr>
          <a:xfrm>
            <a:off x="7496175" y="384810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3" name="TextBox 122"/>
          <p:cNvSpPr txBox="1"/>
          <p:nvPr/>
        </p:nvSpPr>
        <p:spPr>
          <a:xfrm>
            <a:off x="7629525" y="3848100"/>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4" name="TextBox 123"/>
          <p:cNvSpPr txBox="1"/>
          <p:nvPr/>
        </p:nvSpPr>
        <p:spPr>
          <a:xfrm>
            <a:off x="7496175" y="4429125"/>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5" name="TextBox 124"/>
          <p:cNvSpPr txBox="1"/>
          <p:nvPr/>
        </p:nvSpPr>
        <p:spPr>
          <a:xfrm>
            <a:off x="7629525" y="4429125"/>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1 Tier 2 player is positioned to move up-tier by 2036 through M&amp;A and key-account wins – the main structural change of the decade.</a:t>
            </a:r>
          </a:p>
        </p:txBody>
      </p:sp>
      <p:sp>
        <p:nvSpPr>
          <p:cNvPr id="126" name="TextBox 125"/>
          <p:cNvSpPr txBox="1"/>
          <p:nvPr/>
        </p:nvSpPr>
        <p:spPr>
          <a:xfrm>
            <a:off x="7496175" y="50101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7" name="TextBox 126"/>
          <p:cNvSpPr txBox="1"/>
          <p:nvPr/>
        </p:nvSpPr>
        <p:spPr>
          <a:xfrm>
            <a:off x="7629525" y="50101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8" name="TextBox 127"/>
          <p:cNvSpPr txBox="1"/>
          <p:nvPr/>
        </p:nvSpPr>
        <p:spPr>
          <a:xfrm>
            <a:off x="7496175" y="54292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9" name="TextBox 128"/>
          <p:cNvSpPr txBox="1"/>
          <p:nvPr/>
        </p:nvSpPr>
        <p:spPr>
          <a:xfrm>
            <a:off x="7629525" y="54292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Buyer power (3 / 5) and technology substitution (3 / 5) are the dominant forces shaping the tier structure.</a:t>
            </a:r>
          </a:p>
        </p:txBody>
      </p:sp>
      <p:sp>
        <p:nvSpPr>
          <p:cNvPr id="130" name="TextBox 1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31" name="Picture 130" descr="lock.png"/>
          <p:cNvPicPr>
            <a:picLocks noChangeAspect="1"/>
          </p:cNvPicPr>
          <p:nvPr/>
        </p:nvPicPr>
        <p:blipFill>
          <a:blip r:embed="rId4"/>
          <a:stretch>
            <a:fillRect/>
          </a:stretch>
        </p:blipFill>
        <p:spPr>
          <a:xfrm>
            <a:off x="604726" y="2545080"/>
            <a:ext cx="257397" cy="374396"/>
          </a:xfrm>
          <a:prstGeom prst="rect">
            <a:avLst/>
          </a:prstGeom>
        </p:spPr>
      </p:pic>
      <p:pic>
        <p:nvPicPr>
          <p:cNvPr id="132" name="Picture 131" descr="lock.png"/>
          <p:cNvPicPr>
            <a:picLocks noChangeAspect="1"/>
          </p:cNvPicPr>
          <p:nvPr/>
        </p:nvPicPr>
        <p:blipFill>
          <a:blip r:embed="rId4"/>
          <a:stretch>
            <a:fillRect/>
          </a:stretch>
        </p:blipFill>
        <p:spPr>
          <a:xfrm>
            <a:off x="3557476" y="2545080"/>
            <a:ext cx="257397" cy="374396"/>
          </a:xfrm>
          <a:prstGeom prst="rect">
            <a:avLst/>
          </a:prstGeom>
        </p:spPr>
      </p:pic>
      <p:pic>
        <p:nvPicPr>
          <p:cNvPr id="133" name="Picture 132" descr="lock.png"/>
          <p:cNvPicPr>
            <a:picLocks noChangeAspect="1"/>
          </p:cNvPicPr>
          <p:nvPr/>
        </p:nvPicPr>
        <p:blipFill>
          <a:blip r:embed="rId4"/>
          <a:stretch>
            <a:fillRect/>
          </a:stretch>
        </p:blipFill>
        <p:spPr>
          <a:xfrm>
            <a:off x="6510226" y="2545080"/>
            <a:ext cx="257397" cy="374396"/>
          </a:xfrm>
          <a:prstGeom prst="rect">
            <a:avLst/>
          </a:prstGeom>
        </p:spPr>
      </p:pic>
      <p:pic>
        <p:nvPicPr>
          <p:cNvPr id="134" name="Picture 133" descr="lock.png"/>
          <p:cNvPicPr>
            <a:picLocks noChangeAspect="1"/>
          </p:cNvPicPr>
          <p:nvPr/>
        </p:nvPicPr>
        <p:blipFill>
          <a:blip r:embed="rId4"/>
          <a:stretch>
            <a:fillRect/>
          </a:stretch>
        </p:blipFill>
        <p:spPr>
          <a:xfrm>
            <a:off x="9462976" y="2545080"/>
            <a:ext cx="257397" cy="374396"/>
          </a:xfrm>
          <a:prstGeom prst="rect">
            <a:avLst/>
          </a:prstGeom>
        </p:spPr>
      </p:pic>
      <p:pic>
        <p:nvPicPr>
          <p:cNvPr id="135" name="Picture 134" descr="lock.png"/>
          <p:cNvPicPr>
            <a:picLocks noChangeAspect="1"/>
          </p:cNvPicPr>
          <p:nvPr/>
        </p:nvPicPr>
        <p:blipFill>
          <a:blip r:embed="rId4"/>
          <a:stretch>
            <a:fillRect/>
          </a:stretch>
        </p:blipFill>
        <p:spPr>
          <a:xfrm>
            <a:off x="4279050" y="4225988"/>
            <a:ext cx="128699" cy="187198"/>
          </a:xfrm>
          <a:prstGeom prst="rect">
            <a:avLst/>
          </a:prstGeom>
        </p:spPr>
      </p:pic>
      <p:pic>
        <p:nvPicPr>
          <p:cNvPr id="136" name="Picture 135" descr="lock.png"/>
          <p:cNvPicPr>
            <a:picLocks noChangeAspect="1"/>
          </p:cNvPicPr>
          <p:nvPr/>
        </p:nvPicPr>
        <p:blipFill>
          <a:blip r:embed="rId4"/>
          <a:stretch>
            <a:fillRect/>
          </a:stretch>
        </p:blipFill>
        <p:spPr>
          <a:xfrm>
            <a:off x="4279050" y="4635563"/>
            <a:ext cx="128699" cy="187198"/>
          </a:xfrm>
          <a:prstGeom prst="rect">
            <a:avLst/>
          </a:prstGeom>
        </p:spPr>
      </p:pic>
      <p:pic>
        <p:nvPicPr>
          <p:cNvPr id="137" name="Picture 136" descr="lock.png"/>
          <p:cNvPicPr>
            <a:picLocks noChangeAspect="1"/>
          </p:cNvPicPr>
          <p:nvPr/>
        </p:nvPicPr>
        <p:blipFill>
          <a:blip r:embed="rId4"/>
          <a:stretch>
            <a:fillRect/>
          </a:stretch>
        </p:blipFill>
        <p:spPr>
          <a:xfrm>
            <a:off x="4279050" y="5045138"/>
            <a:ext cx="128699" cy="187198"/>
          </a:xfrm>
          <a:prstGeom prst="rect">
            <a:avLst/>
          </a:prstGeom>
        </p:spPr>
      </p:pic>
      <p:pic>
        <p:nvPicPr>
          <p:cNvPr id="138" name="Picture 137" descr="lock.png"/>
          <p:cNvPicPr>
            <a:picLocks noChangeAspect="1"/>
          </p:cNvPicPr>
          <p:nvPr/>
        </p:nvPicPr>
        <p:blipFill>
          <a:blip r:embed="rId4"/>
          <a:stretch>
            <a:fillRect/>
          </a:stretch>
        </p:blipFill>
        <p:spPr>
          <a:xfrm>
            <a:off x="4279050" y="5454713"/>
            <a:ext cx="128699" cy="187198"/>
          </a:xfrm>
          <a:prstGeom prst="rect">
            <a:avLst/>
          </a:prstGeom>
        </p:spPr>
      </p:pic>
      <p:pic>
        <p:nvPicPr>
          <p:cNvPr id="139" name="Picture 138" descr="lock.png"/>
          <p:cNvPicPr>
            <a:picLocks noChangeAspect="1"/>
          </p:cNvPicPr>
          <p:nvPr/>
        </p:nvPicPr>
        <p:blipFill>
          <a:blip r:embed="rId4"/>
          <a:stretch>
            <a:fillRect/>
          </a:stretch>
        </p:blipFill>
        <p:spPr>
          <a:xfrm>
            <a:off x="4279050" y="5864288"/>
            <a:ext cx="128699" cy="187198"/>
          </a:xfrm>
          <a:prstGeom prst="rect">
            <a:avLst/>
          </a:prstGeom>
        </p:spPr>
      </p:pic>
      <p:pic>
        <p:nvPicPr>
          <p:cNvPr id="140" name="Picture 139" descr="lock.png"/>
          <p:cNvPicPr>
            <a:picLocks noChangeAspect="1"/>
          </p:cNvPicPr>
          <p:nvPr/>
        </p:nvPicPr>
        <p:blipFill>
          <a:blip r:embed="rId4"/>
          <a:stretch>
            <a:fillRect/>
          </a:stretch>
        </p:blipFill>
        <p:spPr>
          <a:xfrm>
            <a:off x="4279050" y="6273863"/>
            <a:ext cx="128699" cy="187198"/>
          </a:xfrm>
          <a:prstGeom prst="rect">
            <a:avLst/>
          </a:prstGeom>
        </p:spPr>
      </p:pic>
      <p:sp>
        <p:nvSpPr>
          <p:cNvPr id="141" name="TextBox 140"/>
          <p:cNvSpPr txBox="1"/>
          <p:nvPr/>
        </p:nvSpPr>
        <p:spPr>
          <a:xfrm>
            <a:off x="547018" y="1870710"/>
            <a:ext cx="929133" cy="186689"/>
          </a:xfrm>
          <a:prstGeom prst="rect">
            <a:avLst/>
          </a:prstGeom>
          <a:noFill/>
        </p:spPr>
        <p:txBody>
          <a:bodyPr wrap="none" lIns="0" rIns="0" tIns="0" bIns="0">
            <a:spAutoFit/>
          </a:bodyPr>
          <a:lstStyle/>
          <a:p>
            <a:r>
              <a:rPr sz="1100" b="1">
                <a:solidFill>
                  <a:srgbClr val="FFFFFF"/>
                </a:solidFill>
                <a:latin typeface="Calibri"/>
              </a:rPr>
              <a:t>4 → 5 players ·</a:t>
            </a:r>
          </a:p>
        </p:txBody>
      </p:sp>
      <p:pic>
        <p:nvPicPr>
          <p:cNvPr id="142" name="Picture 141" descr="lock.png"/>
          <p:cNvPicPr>
            <a:picLocks noChangeAspect="1"/>
          </p:cNvPicPr>
          <p:nvPr/>
        </p:nvPicPr>
        <p:blipFill>
          <a:blip r:embed="rId4"/>
          <a:stretch>
            <a:fillRect/>
          </a:stretch>
        </p:blipFill>
        <p:spPr>
          <a:xfrm>
            <a:off x="1424204" y="1860931"/>
            <a:ext cx="128699" cy="187198"/>
          </a:xfrm>
          <a:prstGeom prst="rect">
            <a:avLst/>
          </a:prstGeom>
        </p:spPr>
      </p:pic>
      <p:sp>
        <p:nvSpPr>
          <p:cNvPr id="143" name="TextBox 142"/>
          <p:cNvSpPr txBox="1"/>
          <p:nvPr/>
        </p:nvSpPr>
        <p:spPr>
          <a:xfrm>
            <a:off x="15916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4" name="Picture 143" descr="lock.png"/>
          <p:cNvPicPr>
            <a:picLocks noChangeAspect="1"/>
          </p:cNvPicPr>
          <p:nvPr/>
        </p:nvPicPr>
        <p:blipFill>
          <a:blip r:embed="rId4"/>
          <a:stretch>
            <a:fillRect/>
          </a:stretch>
        </p:blipFill>
        <p:spPr>
          <a:xfrm>
            <a:off x="1742554" y="1860931"/>
            <a:ext cx="128699" cy="187198"/>
          </a:xfrm>
          <a:prstGeom prst="rect">
            <a:avLst/>
          </a:prstGeom>
        </p:spPr>
      </p:pic>
      <p:sp>
        <p:nvSpPr>
          <p:cNvPr id="145" name="TextBox 144"/>
          <p:cNvSpPr txBox="1"/>
          <p:nvPr/>
        </p:nvSpPr>
        <p:spPr>
          <a:xfrm>
            <a:off x="10497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46" name="TextBox 145"/>
          <p:cNvSpPr txBox="1"/>
          <p:nvPr/>
        </p:nvSpPr>
        <p:spPr>
          <a:xfrm>
            <a:off x="3804568" y="1870710"/>
            <a:ext cx="929133" cy="186689"/>
          </a:xfrm>
          <a:prstGeom prst="rect">
            <a:avLst/>
          </a:prstGeom>
          <a:noFill/>
        </p:spPr>
        <p:txBody>
          <a:bodyPr wrap="none" lIns="0" rIns="0" tIns="0" bIns="0">
            <a:spAutoFit/>
          </a:bodyPr>
          <a:lstStyle/>
          <a:p>
            <a:r>
              <a:rPr sz="1100" b="1">
                <a:solidFill>
                  <a:srgbClr val="FFFFFF"/>
                </a:solidFill>
                <a:latin typeface="Calibri"/>
              </a:rPr>
              <a:t>2 → 2 players ·</a:t>
            </a:r>
          </a:p>
        </p:txBody>
      </p:sp>
      <p:pic>
        <p:nvPicPr>
          <p:cNvPr id="147" name="Picture 146" descr="lock.png"/>
          <p:cNvPicPr>
            <a:picLocks noChangeAspect="1"/>
          </p:cNvPicPr>
          <p:nvPr/>
        </p:nvPicPr>
        <p:blipFill>
          <a:blip r:embed="rId4"/>
          <a:stretch>
            <a:fillRect/>
          </a:stretch>
        </p:blipFill>
        <p:spPr>
          <a:xfrm>
            <a:off x="4681754" y="1860931"/>
            <a:ext cx="128699" cy="187198"/>
          </a:xfrm>
          <a:prstGeom prst="rect">
            <a:avLst/>
          </a:prstGeom>
        </p:spPr>
      </p:pic>
      <p:sp>
        <p:nvSpPr>
          <p:cNvPr id="148" name="TextBox 147"/>
          <p:cNvSpPr txBox="1"/>
          <p:nvPr/>
        </p:nvSpPr>
        <p:spPr>
          <a:xfrm>
            <a:off x="484924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9" name="Picture 148" descr="lock.png"/>
          <p:cNvPicPr>
            <a:picLocks noChangeAspect="1"/>
          </p:cNvPicPr>
          <p:nvPr/>
        </p:nvPicPr>
        <p:blipFill>
          <a:blip r:embed="rId4"/>
          <a:stretch>
            <a:fillRect/>
          </a:stretch>
        </p:blipFill>
        <p:spPr>
          <a:xfrm>
            <a:off x="5000104" y="1860931"/>
            <a:ext cx="128699" cy="187198"/>
          </a:xfrm>
          <a:prstGeom prst="rect">
            <a:avLst/>
          </a:prstGeom>
        </p:spPr>
      </p:pic>
      <p:sp>
        <p:nvSpPr>
          <p:cNvPr id="150" name="TextBox 149"/>
          <p:cNvSpPr txBox="1"/>
          <p:nvPr/>
        </p:nvSpPr>
        <p:spPr>
          <a:xfrm>
            <a:off x="430733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51" name="TextBox 150"/>
          <p:cNvSpPr txBox="1"/>
          <p:nvPr/>
        </p:nvSpPr>
        <p:spPr>
          <a:xfrm>
            <a:off x="7062118" y="1870710"/>
            <a:ext cx="929133" cy="186689"/>
          </a:xfrm>
          <a:prstGeom prst="rect">
            <a:avLst/>
          </a:prstGeom>
          <a:noFill/>
        </p:spPr>
        <p:txBody>
          <a:bodyPr wrap="none" lIns="0" rIns="0" tIns="0" bIns="0">
            <a:spAutoFit/>
          </a:bodyPr>
          <a:lstStyle/>
          <a:p>
            <a:r>
              <a:rPr sz="1100" b="1">
                <a:solidFill>
                  <a:srgbClr val="FFFFFF"/>
                </a:solidFill>
                <a:latin typeface="Calibri"/>
              </a:rPr>
              <a:t>4 → 4 players ·</a:t>
            </a:r>
          </a:p>
        </p:txBody>
      </p:sp>
      <p:pic>
        <p:nvPicPr>
          <p:cNvPr id="152" name="Picture 151" descr="lock.png"/>
          <p:cNvPicPr>
            <a:picLocks noChangeAspect="1"/>
          </p:cNvPicPr>
          <p:nvPr/>
        </p:nvPicPr>
        <p:blipFill>
          <a:blip r:embed="rId4"/>
          <a:stretch>
            <a:fillRect/>
          </a:stretch>
        </p:blipFill>
        <p:spPr>
          <a:xfrm>
            <a:off x="7939304" y="1860931"/>
            <a:ext cx="128699" cy="187198"/>
          </a:xfrm>
          <a:prstGeom prst="rect">
            <a:avLst/>
          </a:prstGeom>
        </p:spPr>
      </p:pic>
      <p:sp>
        <p:nvSpPr>
          <p:cNvPr id="153" name="TextBox 152"/>
          <p:cNvSpPr txBox="1"/>
          <p:nvPr/>
        </p:nvSpPr>
        <p:spPr>
          <a:xfrm>
            <a:off x="81067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54" name="Picture 153" descr="lock.png"/>
          <p:cNvPicPr>
            <a:picLocks noChangeAspect="1"/>
          </p:cNvPicPr>
          <p:nvPr/>
        </p:nvPicPr>
        <p:blipFill>
          <a:blip r:embed="rId4"/>
          <a:stretch>
            <a:fillRect/>
          </a:stretch>
        </p:blipFill>
        <p:spPr>
          <a:xfrm>
            <a:off x="8257654" y="1860931"/>
            <a:ext cx="128699" cy="187198"/>
          </a:xfrm>
          <a:prstGeom prst="rect">
            <a:avLst/>
          </a:prstGeom>
        </p:spPr>
      </p:pic>
      <p:sp>
        <p:nvSpPr>
          <p:cNvPr id="155" name="TextBox 154"/>
          <p:cNvSpPr txBox="1"/>
          <p:nvPr/>
        </p:nvSpPr>
        <p:spPr>
          <a:xfrm>
            <a:off x="75648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56" name="TextBox 155"/>
          <p:cNvSpPr txBox="1"/>
          <p:nvPr/>
        </p:nvSpPr>
        <p:spPr>
          <a:xfrm>
            <a:off x="10286075" y="1954530"/>
            <a:ext cx="638819" cy="186689"/>
          </a:xfrm>
          <a:prstGeom prst="rect">
            <a:avLst/>
          </a:prstGeom>
          <a:noFill/>
        </p:spPr>
        <p:txBody>
          <a:bodyPr wrap="none" lIns="0" rIns="0" tIns="0" bIns="0">
            <a:spAutoFit/>
          </a:bodyPr>
          <a:lstStyle/>
          <a:p>
            <a:r>
              <a:rPr sz="1100" b="1">
                <a:solidFill>
                  <a:srgbClr val="14213D"/>
                </a:solidFill>
                <a:latin typeface="Calibri"/>
              </a:rPr>
              <a:t>Long tail ·</a:t>
            </a:r>
          </a:p>
        </p:txBody>
      </p:sp>
      <p:pic>
        <p:nvPicPr>
          <p:cNvPr id="157" name="Picture 156" descr="lock.png"/>
          <p:cNvPicPr>
            <a:picLocks noChangeAspect="1"/>
          </p:cNvPicPr>
          <p:nvPr/>
        </p:nvPicPr>
        <p:blipFill>
          <a:blip r:embed="rId4"/>
          <a:stretch>
            <a:fillRect/>
          </a:stretch>
        </p:blipFill>
        <p:spPr>
          <a:xfrm>
            <a:off x="10872946" y="1944751"/>
            <a:ext cx="128699" cy="187198"/>
          </a:xfrm>
          <a:prstGeom prst="rect">
            <a:avLst/>
          </a:prstGeom>
        </p:spPr>
      </p:pic>
      <p:sp>
        <p:nvSpPr>
          <p:cNvPr id="158" name="TextBox 157"/>
          <p:cNvSpPr txBox="1"/>
          <p:nvPr/>
        </p:nvSpPr>
        <p:spPr>
          <a:xfrm>
            <a:off x="11040442" y="1954530"/>
            <a:ext cx="202803" cy="186689"/>
          </a:xfrm>
          <a:prstGeom prst="rect">
            <a:avLst/>
          </a:prstGeom>
          <a:noFill/>
        </p:spPr>
        <p:txBody>
          <a:bodyPr wrap="none" lIns="0" rIns="0" tIns="0" bIns="0">
            <a:spAutoFit/>
          </a:bodyPr>
          <a:lstStyle/>
          <a:p>
            <a:r>
              <a:rPr sz="1100" b="1">
                <a:solidFill>
                  <a:srgbClr val="14213D"/>
                </a:solidFill>
                <a:latin typeface="Calibri"/>
              </a:rPr>
              <a:t>→</a:t>
            </a:r>
          </a:p>
        </p:txBody>
      </p:sp>
      <p:pic>
        <p:nvPicPr>
          <p:cNvPr id="159" name="Picture 158" descr="lock.png"/>
          <p:cNvPicPr>
            <a:picLocks noChangeAspect="1"/>
          </p:cNvPicPr>
          <p:nvPr/>
        </p:nvPicPr>
        <p:blipFill>
          <a:blip r:embed="rId4"/>
          <a:stretch>
            <a:fillRect/>
          </a:stretch>
        </p:blipFill>
        <p:spPr>
          <a:xfrm>
            <a:off x="11191297" y="1944751"/>
            <a:ext cx="128699" cy="187198"/>
          </a:xfrm>
          <a:prstGeom prst="rect">
            <a:avLst/>
          </a:prstGeom>
        </p:spPr>
      </p:pic>
      <p:sp>
        <p:nvSpPr>
          <p:cNvPr id="160" name="TextBox 159"/>
          <p:cNvSpPr txBox="1"/>
          <p:nvPr/>
        </p:nvSpPr>
        <p:spPr>
          <a:xfrm>
            <a:off x="11358792" y="1954530"/>
            <a:ext cx="395982" cy="186689"/>
          </a:xfrm>
          <a:prstGeom prst="rect">
            <a:avLst/>
          </a:prstGeom>
          <a:noFill/>
        </p:spPr>
        <p:txBody>
          <a:bodyPr wrap="none" lIns="0" rIns="0" tIns="0" bIns="0">
            <a:spAutoFit/>
          </a:bodyPr>
          <a:lstStyle/>
          <a:p>
            <a:r>
              <a:rPr sz="1100" b="1">
                <a:solidFill>
                  <a:srgbClr val="14213D"/>
                </a:solidFill>
                <a:latin typeface="Calibri"/>
              </a:rPr>
              <a:t>share</a:t>
            </a:r>
          </a:p>
        </p:txBody>
      </p:sp>
      <p:sp>
        <p:nvSpPr>
          <p:cNvPr id="161" name="TextBox 160"/>
          <p:cNvSpPr txBox="1"/>
          <p:nvPr/>
        </p:nvSpPr>
        <p:spPr>
          <a:xfrm>
            <a:off x="7658100" y="3857625"/>
            <a:ext cx="1828179" cy="186689"/>
          </a:xfrm>
          <a:prstGeom prst="rect">
            <a:avLst/>
          </a:prstGeom>
          <a:noFill/>
        </p:spPr>
        <p:txBody>
          <a:bodyPr wrap="none" lIns="0" rIns="0" tIns="0" bIns="0">
            <a:spAutoFit/>
          </a:bodyPr>
          <a:lstStyle/>
          <a:p>
            <a:r>
              <a:rPr sz="1100" b="0">
                <a:solidFill>
                  <a:srgbClr val="14213D"/>
                </a:solidFill>
                <a:latin typeface="Calibri"/>
              </a:rPr>
              <a:t>The market is fragmented (HHI</a:t>
            </a:r>
          </a:p>
        </p:txBody>
      </p:sp>
      <p:pic>
        <p:nvPicPr>
          <p:cNvPr id="162" name="Picture 161" descr="lock.png"/>
          <p:cNvPicPr>
            <a:picLocks noChangeAspect="1"/>
          </p:cNvPicPr>
          <p:nvPr/>
        </p:nvPicPr>
        <p:blipFill>
          <a:blip r:embed="rId4"/>
          <a:stretch>
            <a:fillRect/>
          </a:stretch>
        </p:blipFill>
        <p:spPr>
          <a:xfrm>
            <a:off x="9434331" y="3847846"/>
            <a:ext cx="128699" cy="187198"/>
          </a:xfrm>
          <a:prstGeom prst="rect">
            <a:avLst/>
          </a:prstGeom>
        </p:spPr>
      </p:pic>
      <p:sp>
        <p:nvSpPr>
          <p:cNvPr id="163" name="TextBox 162"/>
          <p:cNvSpPr txBox="1"/>
          <p:nvPr/>
        </p:nvSpPr>
        <p:spPr>
          <a:xfrm>
            <a:off x="9601827" y="3857625"/>
            <a:ext cx="2068562" cy="186689"/>
          </a:xfrm>
          <a:prstGeom prst="rect">
            <a:avLst/>
          </a:prstGeom>
          <a:noFill/>
        </p:spPr>
        <p:txBody>
          <a:bodyPr wrap="none" lIns="0" rIns="0" tIns="0" bIns="0">
            <a:spAutoFit/>
          </a:bodyPr>
          <a:lstStyle/>
          <a:p>
            <a:r>
              <a:rPr sz="1100" b="0">
                <a:solidFill>
                  <a:srgbClr val="14213D"/>
                </a:solidFill>
                <a:latin typeface="Calibri"/>
              </a:rPr>
              <a:t>); Tier 1 sets pricing and innovation</a:t>
            </a:r>
          </a:p>
        </p:txBody>
      </p:sp>
      <p:sp>
        <p:nvSpPr>
          <p:cNvPr id="164" name="TextBox 163"/>
          <p:cNvSpPr txBox="1"/>
          <p:nvPr/>
        </p:nvSpPr>
        <p:spPr>
          <a:xfrm>
            <a:off x="7658100" y="4025265"/>
            <a:ext cx="2124769" cy="186689"/>
          </a:xfrm>
          <a:prstGeom prst="rect">
            <a:avLst/>
          </a:prstGeom>
          <a:noFill/>
        </p:spPr>
        <p:txBody>
          <a:bodyPr wrap="none" lIns="0" rIns="0" tIns="0" bIns="0">
            <a:spAutoFit/>
          </a:bodyPr>
          <a:lstStyle/>
          <a:p>
            <a:r>
              <a:rPr sz="1100" b="0">
                <a:solidFill>
                  <a:srgbClr val="14213D"/>
                </a:solidFill>
                <a:latin typeface="Calibri"/>
              </a:rPr>
              <a:t>benchmarks and is expected to hold</a:t>
            </a:r>
          </a:p>
        </p:txBody>
      </p:sp>
      <p:pic>
        <p:nvPicPr>
          <p:cNvPr id="165" name="Picture 164" descr="lock.png"/>
          <p:cNvPicPr>
            <a:picLocks noChangeAspect="1"/>
          </p:cNvPicPr>
          <p:nvPr/>
        </p:nvPicPr>
        <p:blipFill>
          <a:blip r:embed="rId4"/>
          <a:stretch>
            <a:fillRect/>
          </a:stretch>
        </p:blipFill>
        <p:spPr>
          <a:xfrm>
            <a:off x="9730921" y="4015486"/>
            <a:ext cx="128699" cy="187198"/>
          </a:xfrm>
          <a:prstGeom prst="rect">
            <a:avLst/>
          </a:prstGeom>
        </p:spPr>
      </p:pic>
      <p:sp>
        <p:nvSpPr>
          <p:cNvPr id="166" name="TextBox 165"/>
          <p:cNvSpPr txBox="1"/>
          <p:nvPr/>
        </p:nvSpPr>
        <p:spPr>
          <a:xfrm>
            <a:off x="9898416" y="4025265"/>
            <a:ext cx="1016992" cy="186689"/>
          </a:xfrm>
          <a:prstGeom prst="rect">
            <a:avLst/>
          </a:prstGeom>
          <a:noFill/>
        </p:spPr>
        <p:txBody>
          <a:bodyPr wrap="none" lIns="0" rIns="0" tIns="0" bIns="0">
            <a:spAutoFit/>
          </a:bodyPr>
          <a:lstStyle/>
          <a:p>
            <a:r>
              <a:rPr sz="1100" b="0">
                <a:solidFill>
                  <a:srgbClr val="14213D"/>
                </a:solidFill>
                <a:latin typeface="Calibri"/>
              </a:rPr>
              <a:t>of value in 2036.</a:t>
            </a:r>
          </a:p>
        </p:txBody>
      </p:sp>
      <p:sp>
        <p:nvSpPr>
          <p:cNvPr id="167" name="TextBox 166"/>
          <p:cNvSpPr txBox="1"/>
          <p:nvPr/>
        </p:nvSpPr>
        <p:spPr>
          <a:xfrm>
            <a:off x="7658100" y="5019675"/>
            <a:ext cx="3471019" cy="186689"/>
          </a:xfrm>
          <a:prstGeom prst="rect">
            <a:avLst/>
          </a:prstGeom>
          <a:noFill/>
        </p:spPr>
        <p:txBody>
          <a:bodyPr wrap="none" lIns="0" rIns="0" tIns="0" bIns="0">
            <a:spAutoFit/>
          </a:bodyPr>
          <a:lstStyle/>
          <a:p>
            <a:r>
              <a:rPr sz="1100" b="0">
                <a:solidFill>
                  <a:srgbClr val="14213D"/>
                </a:solidFill>
                <a:latin typeface="Calibri"/>
              </a:rPr>
              <a:t>Tier 3 and the long tail face the highest structural pressure (</a:t>
            </a:r>
          </a:p>
        </p:txBody>
      </p:sp>
      <p:pic>
        <p:nvPicPr>
          <p:cNvPr id="168" name="Picture 167" descr="lock.png"/>
          <p:cNvPicPr>
            <a:picLocks noChangeAspect="1"/>
          </p:cNvPicPr>
          <p:nvPr/>
        </p:nvPicPr>
        <p:blipFill>
          <a:blip r:embed="rId4"/>
          <a:stretch>
            <a:fillRect/>
          </a:stretch>
        </p:blipFill>
        <p:spPr>
          <a:xfrm>
            <a:off x="11077170" y="5009895"/>
            <a:ext cx="128699" cy="187198"/>
          </a:xfrm>
          <a:prstGeom prst="rect">
            <a:avLst/>
          </a:prstGeom>
        </p:spPr>
      </p:pic>
      <p:sp>
        <p:nvSpPr>
          <p:cNvPr id="169" name="TextBox 168"/>
          <p:cNvSpPr txBox="1"/>
          <p:nvPr/>
        </p:nvSpPr>
        <p:spPr>
          <a:xfrm>
            <a:off x="11244666" y="5019675"/>
            <a:ext cx="415081" cy="186689"/>
          </a:xfrm>
          <a:prstGeom prst="rect">
            <a:avLst/>
          </a:prstGeom>
          <a:noFill/>
        </p:spPr>
        <p:txBody>
          <a:bodyPr wrap="none" lIns="0" rIns="0" tIns="0" bIns="0">
            <a:spAutoFit/>
          </a:bodyPr>
          <a:lstStyle/>
          <a:p>
            <a:r>
              <a:rPr sz="1100" b="0">
                <a:solidFill>
                  <a:srgbClr val="14213D"/>
                </a:solidFill>
                <a:latin typeface="Calibri"/>
              </a:rPr>
              <a:t>/ 5); 2</a:t>
            </a:r>
          </a:p>
        </p:txBody>
      </p:sp>
      <p:sp>
        <p:nvSpPr>
          <p:cNvPr id="170" name="TextBox 169"/>
          <p:cNvSpPr txBox="1"/>
          <p:nvPr/>
        </p:nvSpPr>
        <p:spPr>
          <a:xfrm>
            <a:off x="7658100" y="5187315"/>
            <a:ext cx="2541413" cy="186689"/>
          </a:xfrm>
          <a:prstGeom prst="rect">
            <a:avLst/>
          </a:prstGeom>
          <a:noFill/>
        </p:spPr>
        <p:txBody>
          <a:bodyPr wrap="none" lIns="0" rIns="0" tIns="0" bIns="0">
            <a:spAutoFit/>
          </a:bodyPr>
          <a:lstStyle/>
          <a:p>
            <a:r>
              <a:rPr sz="1100" b="0">
                <a:solidFill>
                  <a:srgbClr val="14213D"/>
                </a:solidFill>
                <a:latin typeface="Calibri"/>
              </a:rPr>
              <a:t>players are expected to exit or be acquired.</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Senior Dog Cognitive Supplement Market Competitive Dashboard View (2026)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companies on portfolio, coverage, revenue, share, regional presence and strategy</a:t>
            </a:r>
          </a:p>
        </p:txBody>
      </p:sp>
      <p:sp>
        <p:nvSpPr>
          <p:cNvPr id="10" name="TextBox 9"/>
          <p:cNvSpPr txBox="1"/>
          <p:nvPr/>
        </p:nvSpPr>
        <p:spPr>
          <a:xfrm>
            <a:off x="285750" y="970754"/>
            <a:ext cx="10477500" cy="164283"/>
          </a:xfrm>
          <a:prstGeom prst="rect">
            <a:avLst/>
          </a:prstGeom>
          <a:noFill/>
        </p:spPr>
        <p:txBody>
          <a:bodyPr wrap="square" lIns="0" rIns="19050" tIns="0" bIns="0">
            <a:spAutoFit/>
          </a:bodyPr>
          <a:lstStyle/>
          <a:p>
            <a:pPr algn="l"/>
            <a:r>
              <a:rPr sz="1100" b="0">
                <a:solidFill>
                  <a:srgbClr val="6C7A89"/>
                </a:solidFill>
                <a:latin typeface="Calibri"/>
              </a:rPr>
              <a:t>Intensified competition across the leading players portfolio, revenue, share, regional presence and strategy.  All figures 2026.</a:t>
            </a:r>
          </a:p>
        </p:txBody>
      </p:sp>
      <p:sp>
        <p:nvSpPr>
          <p:cNvPr id="11" name="Rounded Rectangle 10"/>
          <p:cNvSpPr/>
          <p:nvPr/>
        </p:nvSpPr>
        <p:spPr>
          <a:xfrm>
            <a:off x="133350" y="1153291"/>
            <a:ext cx="11925300" cy="4563424"/>
          </a:xfrm>
          <a:prstGeom prst="roundRect">
            <a:avLst>
              <a:gd name="adj" fmla="val 16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33350" y="1171544"/>
            <a:ext cx="11925300" cy="365074"/>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3350" y="1171544"/>
            <a:ext cx="1143000" cy="4526917"/>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33350" y="153661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33350" y="179217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33350" y="263184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3350" y="2960407"/>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33350" y="3288973"/>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33350" y="4055629"/>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3350" y="504132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954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3717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4480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52437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007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6770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75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82967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9060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9823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33350" y="5698461"/>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71450" y="1536618"/>
            <a:ext cx="1085850" cy="255552"/>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Company / Brand</a:t>
            </a:r>
          </a:p>
        </p:txBody>
      </p:sp>
      <p:sp>
        <p:nvSpPr>
          <p:cNvPr id="36" name="TextBox 35"/>
          <p:cNvSpPr txBox="1"/>
          <p:nvPr/>
        </p:nvSpPr>
        <p:spPr>
          <a:xfrm>
            <a:off x="171450" y="1792170"/>
            <a:ext cx="1085850" cy="839670"/>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Product Portfolio</a:t>
            </a:r>
          </a:p>
        </p:txBody>
      </p:sp>
      <p:sp>
        <p:nvSpPr>
          <p:cNvPr id="37" name="TextBox 36"/>
          <p:cNvSpPr txBox="1"/>
          <p:nvPr/>
        </p:nvSpPr>
        <p:spPr>
          <a:xfrm>
            <a:off x="171450" y="2631840"/>
            <a:ext cx="1085850" cy="328567"/>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Overall Rev (US$ Mn)</a:t>
            </a:r>
          </a:p>
        </p:txBody>
      </p:sp>
      <p:sp>
        <p:nvSpPr>
          <p:cNvPr id="38" name="TextBox 37"/>
          <p:cNvSpPr txBox="1"/>
          <p:nvPr/>
        </p:nvSpPr>
        <p:spPr>
          <a:xfrm>
            <a:off x="171450" y="2960407"/>
            <a:ext cx="1085850" cy="328567"/>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Target Rev (US$ Mn)</a:t>
            </a:r>
          </a:p>
        </p:txBody>
      </p:sp>
      <p:sp>
        <p:nvSpPr>
          <p:cNvPr id="39" name="TextBox 38"/>
          <p:cNvSpPr txBox="1"/>
          <p:nvPr/>
        </p:nvSpPr>
        <p:spPr>
          <a:xfrm>
            <a:off x="171450" y="3288973"/>
            <a:ext cx="1085850" cy="766655"/>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Market Share (%)</a:t>
            </a:r>
          </a:p>
        </p:txBody>
      </p:sp>
      <p:sp>
        <p:nvSpPr>
          <p:cNvPr id="40" name="TextBox 39"/>
          <p:cNvSpPr txBox="1"/>
          <p:nvPr/>
        </p:nvSpPr>
        <p:spPr>
          <a:xfrm>
            <a:off x="171450" y="4055629"/>
            <a:ext cx="1085850" cy="985700"/>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Regional Presence</a:t>
            </a:r>
          </a:p>
        </p:txBody>
      </p:sp>
      <p:sp>
        <p:nvSpPr>
          <p:cNvPr id="41" name="TextBox 40"/>
          <p:cNvSpPr txBox="1"/>
          <p:nvPr/>
        </p:nvSpPr>
        <p:spPr>
          <a:xfrm>
            <a:off x="171450" y="5041328"/>
            <a:ext cx="1085850" cy="657133"/>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Strategies</a:t>
            </a:r>
          </a:p>
        </p:txBody>
      </p:sp>
      <p:sp>
        <p:nvSpPr>
          <p:cNvPr id="42" name="TextBox 41"/>
          <p:cNvSpPr txBox="1"/>
          <p:nvPr/>
        </p:nvSpPr>
        <p:spPr>
          <a:xfrm>
            <a:off x="13239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Standard Process</a:t>
            </a:r>
          </a:p>
        </p:txBody>
      </p:sp>
      <p:cxnSp>
        <p:nvCxnSpPr>
          <p:cNvPr id="43" name="Connector 42"/>
          <p:cNvCxnSpPr/>
          <p:nvPr/>
        </p:nvCxnSpPr>
        <p:spPr>
          <a:xfrm>
            <a:off x="16049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3239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A</a:t>
            </a:r>
          </a:p>
        </p:txBody>
      </p:sp>
      <p:sp>
        <p:nvSpPr>
          <p:cNvPr id="45" name="TextBox 44"/>
          <p:cNvSpPr txBox="1"/>
          <p:nvPr/>
        </p:nvSpPr>
        <p:spPr>
          <a:xfrm>
            <a:off x="13144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46" name="TextBox 45"/>
          <p:cNvSpPr txBox="1"/>
          <p:nvPr/>
        </p:nvSpPr>
        <p:spPr>
          <a:xfrm>
            <a:off x="131445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47" name="Rectangle 46"/>
          <p:cNvSpPr/>
          <p:nvPr/>
        </p:nvSpPr>
        <p:spPr>
          <a:xfrm>
            <a:off x="16049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7764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9478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3239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51" name="TextBox 50"/>
          <p:cNvSpPr txBox="1"/>
          <p:nvPr/>
        </p:nvSpPr>
        <p:spPr>
          <a:xfrm>
            <a:off x="13239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52" name="Oval 51"/>
          <p:cNvSpPr/>
          <p:nvPr/>
        </p:nvSpPr>
        <p:spPr>
          <a:xfrm>
            <a:off x="15859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1828800" y="3416749"/>
            <a:ext cx="209550" cy="237298"/>
          </a:xfrm>
          <a:custGeom>
            <a:avLst/>
            <a:gdLst/>
            <a:ahLst/>
            <a:cxnLst/>
            <a:rect l="l" t="t" r="r" b="b"/>
            <a:pathLst>
              <a:path w="22" h="26">
                <a:moveTo>
                  <a:pt x="0" y="26"/>
                </a:moveTo>
                <a:lnTo>
                  <a:pt x="0" y="0"/>
                </a:lnTo>
                <a:lnTo>
                  <a:pt x="4" y="0"/>
                </a:lnTo>
                <a:lnTo>
                  <a:pt x="8" y="1"/>
                </a:lnTo>
                <a:lnTo>
                  <a:pt x="11" y="2"/>
                </a:lnTo>
                <a:lnTo>
                  <a:pt x="14" y="4"/>
                </a:lnTo>
                <a:lnTo>
                  <a:pt x="17" y="6"/>
                </a:lnTo>
                <a:lnTo>
                  <a:pt x="20" y="8"/>
                </a:lnTo>
                <a:lnTo>
                  <a:pt x="22" y="1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6948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585912" y="3590159"/>
            <a:ext cx="495300" cy="127776"/>
          </a:xfrm>
          <a:prstGeom prst="rect">
            <a:avLst/>
          </a:prstGeom>
          <a:noFill/>
        </p:spPr>
        <p:txBody>
          <a:bodyPr wrap="square" lIns="28575" rIns="28575" tIns="9525" bIns="9525" anchor="ctr">
            <a:spAutoFit/>
          </a:bodyPr>
          <a:lstStyle/>
          <a:p>
            <a:pPr algn="ctr"/>
            <a:r>
              <a:rPr sz="1100" b="1">
                <a:solidFill>
                  <a:srgbClr val="0B2E4A"/>
                </a:solidFill>
                <a:latin typeface="Calibri"/>
              </a:rPr>
              <a:t> </a:t>
            </a:r>
          </a:p>
        </p:txBody>
      </p:sp>
      <p:sp>
        <p:nvSpPr>
          <p:cNvPr id="56" name="TextBox 55"/>
          <p:cNvSpPr txBox="1"/>
          <p:nvPr/>
        </p:nvSpPr>
        <p:spPr>
          <a:xfrm>
            <a:off x="13430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9AA3A8"/>
                </a:solidFill>
                <a:latin typeface="Calibri"/>
              </a:rPr>
              <a:t>▲</a:t>
            </a:r>
          </a:p>
        </p:txBody>
      </p:sp>
      <p:sp>
        <p:nvSpPr>
          <p:cNvPr id="57" name="Oval 56"/>
          <p:cNvSpPr/>
          <p:nvPr/>
        </p:nvSpPr>
        <p:spPr>
          <a:xfrm>
            <a:off x="14287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4287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59" name="Oval 58"/>
          <p:cNvSpPr/>
          <p:nvPr/>
        </p:nvSpPr>
        <p:spPr>
          <a:xfrm>
            <a:off x="16383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6383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61" name="Oval 60"/>
          <p:cNvSpPr/>
          <p:nvPr/>
        </p:nvSpPr>
        <p:spPr>
          <a:xfrm>
            <a:off x="18478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8478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63" name="Oval 62"/>
          <p:cNvSpPr/>
          <p:nvPr/>
        </p:nvSpPr>
        <p:spPr>
          <a:xfrm>
            <a:off x="20574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0574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65" name="Oval 64"/>
          <p:cNvSpPr/>
          <p:nvPr/>
        </p:nvSpPr>
        <p:spPr>
          <a:xfrm>
            <a:off x="15335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5335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67" name="Oval 66"/>
          <p:cNvSpPr/>
          <p:nvPr/>
        </p:nvSpPr>
        <p:spPr>
          <a:xfrm>
            <a:off x="17430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7430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69" name="Oval 68"/>
          <p:cNvSpPr/>
          <p:nvPr/>
        </p:nvSpPr>
        <p:spPr>
          <a:xfrm>
            <a:off x="19526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9526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71" name="TextBox 70"/>
          <p:cNvSpPr txBox="1"/>
          <p:nvPr/>
        </p:nvSpPr>
        <p:spPr>
          <a:xfrm>
            <a:off x="24003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VetriScience</a:t>
            </a:r>
          </a:p>
        </p:txBody>
      </p:sp>
      <p:cxnSp>
        <p:nvCxnSpPr>
          <p:cNvPr id="72" name="Connector 71"/>
          <p:cNvCxnSpPr/>
          <p:nvPr/>
        </p:nvCxnSpPr>
        <p:spPr>
          <a:xfrm>
            <a:off x="26812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24003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B</a:t>
            </a:r>
          </a:p>
        </p:txBody>
      </p:sp>
      <p:sp>
        <p:nvSpPr>
          <p:cNvPr id="74" name="TextBox 73"/>
          <p:cNvSpPr txBox="1"/>
          <p:nvPr/>
        </p:nvSpPr>
        <p:spPr>
          <a:xfrm>
            <a:off x="23907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75" name="TextBox 74"/>
          <p:cNvSpPr txBox="1"/>
          <p:nvPr/>
        </p:nvSpPr>
        <p:spPr>
          <a:xfrm>
            <a:off x="239077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76" name="Rectangle 75"/>
          <p:cNvSpPr/>
          <p:nvPr/>
        </p:nvSpPr>
        <p:spPr>
          <a:xfrm>
            <a:off x="26812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8527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0241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4003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80" name="TextBox 79"/>
          <p:cNvSpPr txBox="1"/>
          <p:nvPr/>
        </p:nvSpPr>
        <p:spPr>
          <a:xfrm>
            <a:off x="24003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81" name="Oval 80"/>
          <p:cNvSpPr/>
          <p:nvPr/>
        </p:nvSpPr>
        <p:spPr>
          <a:xfrm>
            <a:off x="26622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2914650" y="3416749"/>
            <a:ext cx="180975" cy="237298"/>
          </a:xfrm>
          <a:custGeom>
            <a:avLst/>
            <a:gdLst/>
            <a:ahLst/>
            <a:cxnLst/>
            <a:rect l="l" t="t" r="r" b="b"/>
            <a:pathLst>
              <a:path w="19" h="26">
                <a:moveTo>
                  <a:pt x="0" y="26"/>
                </a:moveTo>
                <a:lnTo>
                  <a:pt x="0" y="0"/>
                </a:lnTo>
                <a:lnTo>
                  <a:pt x="3" y="0"/>
                </a:lnTo>
                <a:lnTo>
                  <a:pt x="7" y="1"/>
                </a:lnTo>
                <a:lnTo>
                  <a:pt x="10" y="2"/>
                </a:lnTo>
                <a:lnTo>
                  <a:pt x="13" y="4"/>
                </a:lnTo>
                <a:lnTo>
                  <a:pt x="16" y="6"/>
                </a:lnTo>
                <a:lnTo>
                  <a:pt x="19" y="9"/>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7712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662238" y="3590159"/>
            <a:ext cx="495300" cy="127776"/>
          </a:xfrm>
          <a:prstGeom prst="rect">
            <a:avLst/>
          </a:prstGeom>
          <a:noFill/>
        </p:spPr>
        <p:txBody>
          <a:bodyPr wrap="square" lIns="28575" rIns="28575" tIns="9525" bIns="9525" anchor="ctr">
            <a:spAutoFit/>
          </a:bodyPr>
          <a:lstStyle/>
          <a:p>
            <a:pPr algn="ctr"/>
            <a:r>
              <a:rPr sz="1100" b="1">
                <a:solidFill>
                  <a:srgbClr val="0B2E4A"/>
                </a:solidFill>
                <a:latin typeface="Calibri"/>
              </a:rPr>
              <a:t> </a:t>
            </a:r>
          </a:p>
        </p:txBody>
      </p:sp>
      <p:sp>
        <p:nvSpPr>
          <p:cNvPr id="85" name="TextBox 84"/>
          <p:cNvSpPr txBox="1"/>
          <p:nvPr/>
        </p:nvSpPr>
        <p:spPr>
          <a:xfrm>
            <a:off x="24193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86" name="Oval 85"/>
          <p:cNvSpPr/>
          <p:nvPr/>
        </p:nvSpPr>
        <p:spPr>
          <a:xfrm>
            <a:off x="25050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5050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88" name="Oval 87"/>
          <p:cNvSpPr/>
          <p:nvPr/>
        </p:nvSpPr>
        <p:spPr>
          <a:xfrm>
            <a:off x="27146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7146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90" name="Oval 89"/>
          <p:cNvSpPr/>
          <p:nvPr/>
        </p:nvSpPr>
        <p:spPr>
          <a:xfrm>
            <a:off x="29241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9241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92" name="Oval 91"/>
          <p:cNvSpPr/>
          <p:nvPr/>
        </p:nvSpPr>
        <p:spPr>
          <a:xfrm>
            <a:off x="31337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1337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94" name="Oval 93"/>
          <p:cNvSpPr/>
          <p:nvPr/>
        </p:nvSpPr>
        <p:spPr>
          <a:xfrm>
            <a:off x="26098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6098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96" name="Oval 95"/>
          <p:cNvSpPr/>
          <p:nvPr/>
        </p:nvSpPr>
        <p:spPr>
          <a:xfrm>
            <a:off x="28194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8194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98" name="Oval 97"/>
          <p:cNvSpPr/>
          <p:nvPr/>
        </p:nvSpPr>
        <p:spPr>
          <a:xfrm>
            <a:off x="30289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30289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00" name="TextBox 99"/>
          <p:cNvSpPr txBox="1"/>
          <p:nvPr/>
        </p:nvSpPr>
        <p:spPr>
          <a:xfrm>
            <a:off x="34766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Dr. Fossum's</a:t>
            </a:r>
          </a:p>
        </p:txBody>
      </p:sp>
      <p:cxnSp>
        <p:nvCxnSpPr>
          <p:cNvPr id="101" name="Connector 100"/>
          <p:cNvCxnSpPr/>
          <p:nvPr/>
        </p:nvCxnSpPr>
        <p:spPr>
          <a:xfrm>
            <a:off x="375761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34766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C</a:t>
            </a:r>
          </a:p>
        </p:txBody>
      </p:sp>
      <p:sp>
        <p:nvSpPr>
          <p:cNvPr id="103" name="TextBox 102"/>
          <p:cNvSpPr txBox="1"/>
          <p:nvPr/>
        </p:nvSpPr>
        <p:spPr>
          <a:xfrm>
            <a:off x="346710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04" name="TextBox 103"/>
          <p:cNvSpPr txBox="1"/>
          <p:nvPr/>
        </p:nvSpPr>
        <p:spPr>
          <a:xfrm>
            <a:off x="3467100"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05" name="Rectangle 104"/>
          <p:cNvSpPr/>
          <p:nvPr/>
        </p:nvSpPr>
        <p:spPr>
          <a:xfrm>
            <a:off x="375761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3929062"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410051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47662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09" name="TextBox 108"/>
          <p:cNvSpPr txBox="1"/>
          <p:nvPr/>
        </p:nvSpPr>
        <p:spPr>
          <a:xfrm>
            <a:off x="347662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10" name="Oval 109"/>
          <p:cNvSpPr/>
          <p:nvPr/>
        </p:nvSpPr>
        <p:spPr>
          <a:xfrm>
            <a:off x="373856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Freeform 110"/>
          <p:cNvSpPr/>
          <p:nvPr/>
        </p:nvSpPr>
        <p:spPr>
          <a:xfrm>
            <a:off x="3981450" y="3416749"/>
            <a:ext cx="142875" cy="237298"/>
          </a:xfrm>
          <a:custGeom>
            <a:avLst/>
            <a:gdLst/>
            <a:ahLst/>
            <a:cxnLst/>
            <a:rect l="l" t="t" r="r" b="b"/>
            <a:pathLst>
              <a:path w="15" h="26">
                <a:moveTo>
                  <a:pt x="0" y="26"/>
                </a:moveTo>
                <a:lnTo>
                  <a:pt x="0" y="0"/>
                </a:lnTo>
                <a:lnTo>
                  <a:pt x="4" y="0"/>
                </a:lnTo>
                <a:lnTo>
                  <a:pt x="8" y="1"/>
                </a:lnTo>
                <a:lnTo>
                  <a:pt x="12" y="2"/>
                </a:lnTo>
                <a:lnTo>
                  <a:pt x="15" y="4"/>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384752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373856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14" name="TextBox 113"/>
          <p:cNvSpPr txBox="1"/>
          <p:nvPr/>
        </p:nvSpPr>
        <p:spPr>
          <a:xfrm>
            <a:off x="34956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115" name="Oval 114"/>
          <p:cNvSpPr/>
          <p:nvPr/>
        </p:nvSpPr>
        <p:spPr>
          <a:xfrm>
            <a:off x="35814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35814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17" name="Oval 116"/>
          <p:cNvSpPr/>
          <p:nvPr/>
        </p:nvSpPr>
        <p:spPr>
          <a:xfrm>
            <a:off x="37909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37909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19" name="Oval 118"/>
          <p:cNvSpPr/>
          <p:nvPr/>
        </p:nvSpPr>
        <p:spPr>
          <a:xfrm>
            <a:off x="40005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0005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21" name="Oval 120"/>
          <p:cNvSpPr/>
          <p:nvPr/>
        </p:nvSpPr>
        <p:spPr>
          <a:xfrm>
            <a:off x="42100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42100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23" name="Oval 122"/>
          <p:cNvSpPr/>
          <p:nvPr/>
        </p:nvSpPr>
        <p:spPr>
          <a:xfrm>
            <a:off x="36861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36861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25" name="Oval 124"/>
          <p:cNvSpPr/>
          <p:nvPr/>
        </p:nvSpPr>
        <p:spPr>
          <a:xfrm>
            <a:off x="38957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38957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27" name="Oval 126"/>
          <p:cNvSpPr/>
          <p:nvPr/>
        </p:nvSpPr>
        <p:spPr>
          <a:xfrm>
            <a:off x="41052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41052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29" name="TextBox 128"/>
          <p:cNvSpPr txBox="1"/>
          <p:nvPr/>
        </p:nvSpPr>
        <p:spPr>
          <a:xfrm>
            <a:off x="45529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Nestlé Purina PetCare</a:t>
            </a:r>
          </a:p>
        </p:txBody>
      </p:sp>
      <p:cxnSp>
        <p:nvCxnSpPr>
          <p:cNvPr id="130" name="Connector 129"/>
          <p:cNvCxnSpPr/>
          <p:nvPr/>
        </p:nvCxnSpPr>
        <p:spPr>
          <a:xfrm>
            <a:off x="483393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45529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D</a:t>
            </a:r>
          </a:p>
        </p:txBody>
      </p:sp>
      <p:sp>
        <p:nvSpPr>
          <p:cNvPr id="132" name="TextBox 131"/>
          <p:cNvSpPr txBox="1"/>
          <p:nvPr/>
        </p:nvSpPr>
        <p:spPr>
          <a:xfrm>
            <a:off x="454342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133" name="TextBox 132"/>
          <p:cNvSpPr txBox="1"/>
          <p:nvPr/>
        </p:nvSpPr>
        <p:spPr>
          <a:xfrm>
            <a:off x="454342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134" name="Rectangle 133"/>
          <p:cNvSpPr/>
          <p:nvPr/>
        </p:nvSpPr>
        <p:spPr>
          <a:xfrm>
            <a:off x="4833938"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500538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517683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455295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8" name="TextBox 137"/>
          <p:cNvSpPr txBox="1"/>
          <p:nvPr/>
        </p:nvSpPr>
        <p:spPr>
          <a:xfrm>
            <a:off x="455295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9" name="Oval 138"/>
          <p:cNvSpPr/>
          <p:nvPr/>
        </p:nvSpPr>
        <p:spPr>
          <a:xfrm>
            <a:off x="481488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5067300" y="3416749"/>
            <a:ext cx="95250" cy="237298"/>
          </a:xfrm>
          <a:custGeom>
            <a:avLst/>
            <a:gdLst/>
            <a:ahLst/>
            <a:cxnLst/>
            <a:rect l="l" t="t" r="r" b="b"/>
            <a:pathLst>
              <a:path w="10" h="26">
                <a:moveTo>
                  <a:pt x="0" y="26"/>
                </a:moveTo>
                <a:lnTo>
                  <a:pt x="0" y="0"/>
                </a:lnTo>
                <a:lnTo>
                  <a:pt x="3" y="0"/>
                </a:lnTo>
                <a:lnTo>
                  <a:pt x="7" y="1"/>
                </a:lnTo>
                <a:lnTo>
                  <a:pt x="10"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49238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481488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43" name="TextBox 142"/>
          <p:cNvSpPr txBox="1"/>
          <p:nvPr/>
        </p:nvSpPr>
        <p:spPr>
          <a:xfrm>
            <a:off x="45720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9AA3A8"/>
                </a:solidFill>
                <a:latin typeface="Calibri"/>
              </a:rPr>
              <a:t>▲</a:t>
            </a:r>
          </a:p>
        </p:txBody>
      </p:sp>
      <p:sp>
        <p:nvSpPr>
          <p:cNvPr id="144" name="Oval 143"/>
          <p:cNvSpPr/>
          <p:nvPr/>
        </p:nvSpPr>
        <p:spPr>
          <a:xfrm>
            <a:off x="46577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46577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46" name="Oval 145"/>
          <p:cNvSpPr/>
          <p:nvPr/>
        </p:nvSpPr>
        <p:spPr>
          <a:xfrm>
            <a:off x="48672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48672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48" name="Oval 147"/>
          <p:cNvSpPr/>
          <p:nvPr/>
        </p:nvSpPr>
        <p:spPr>
          <a:xfrm>
            <a:off x="50768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50768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50" name="Oval 149"/>
          <p:cNvSpPr/>
          <p:nvPr/>
        </p:nvSpPr>
        <p:spPr>
          <a:xfrm>
            <a:off x="52863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2863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52" name="Oval 151"/>
          <p:cNvSpPr/>
          <p:nvPr/>
        </p:nvSpPr>
        <p:spPr>
          <a:xfrm>
            <a:off x="47625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47625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54" name="Oval 153"/>
          <p:cNvSpPr/>
          <p:nvPr/>
        </p:nvSpPr>
        <p:spPr>
          <a:xfrm>
            <a:off x="497205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49720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56" name="Oval 155"/>
          <p:cNvSpPr/>
          <p:nvPr/>
        </p:nvSpPr>
        <p:spPr>
          <a:xfrm>
            <a:off x="51816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51816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58" name="TextBox 157"/>
          <p:cNvSpPr txBox="1"/>
          <p:nvPr/>
        </p:nvSpPr>
        <p:spPr>
          <a:xfrm>
            <a:off x="56292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PetHeal</a:t>
            </a:r>
          </a:p>
        </p:txBody>
      </p:sp>
      <p:cxnSp>
        <p:nvCxnSpPr>
          <p:cNvPr id="159" name="Connector 158"/>
          <p:cNvCxnSpPr/>
          <p:nvPr/>
        </p:nvCxnSpPr>
        <p:spPr>
          <a:xfrm>
            <a:off x="59102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60" name="TextBox 159"/>
          <p:cNvSpPr txBox="1"/>
          <p:nvPr/>
        </p:nvSpPr>
        <p:spPr>
          <a:xfrm>
            <a:off x="56292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E</a:t>
            </a:r>
          </a:p>
        </p:txBody>
      </p:sp>
      <p:sp>
        <p:nvSpPr>
          <p:cNvPr id="161" name="TextBox 160"/>
          <p:cNvSpPr txBox="1"/>
          <p:nvPr/>
        </p:nvSpPr>
        <p:spPr>
          <a:xfrm>
            <a:off x="56197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162" name="TextBox 161"/>
          <p:cNvSpPr txBox="1"/>
          <p:nvPr/>
        </p:nvSpPr>
        <p:spPr>
          <a:xfrm>
            <a:off x="561975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163" name="Rectangle 162"/>
          <p:cNvSpPr/>
          <p:nvPr/>
        </p:nvSpPr>
        <p:spPr>
          <a:xfrm>
            <a:off x="59102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60817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62531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56292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7" name="TextBox 166"/>
          <p:cNvSpPr txBox="1"/>
          <p:nvPr/>
        </p:nvSpPr>
        <p:spPr>
          <a:xfrm>
            <a:off x="56292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8" name="Oval 167"/>
          <p:cNvSpPr/>
          <p:nvPr/>
        </p:nvSpPr>
        <p:spPr>
          <a:xfrm>
            <a:off x="58912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Freeform 168"/>
          <p:cNvSpPr/>
          <p:nvPr/>
        </p:nvSpPr>
        <p:spPr>
          <a:xfrm>
            <a:off x="6134100" y="3416749"/>
            <a:ext cx="104775" cy="237298"/>
          </a:xfrm>
          <a:custGeom>
            <a:avLst/>
            <a:gdLst/>
            <a:ahLst/>
            <a:cxnLst/>
            <a:rect l="l" t="t" r="r" b="b"/>
            <a:pathLst>
              <a:path w="11" h="26">
                <a:moveTo>
                  <a:pt x="0" y="26"/>
                </a:moveTo>
                <a:lnTo>
                  <a:pt x="0" y="0"/>
                </a:lnTo>
                <a:lnTo>
                  <a:pt x="4" y="0"/>
                </a:lnTo>
                <a:lnTo>
                  <a:pt x="7" y="1"/>
                </a:lnTo>
                <a:lnTo>
                  <a:pt x="11"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600017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589121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72" name="TextBox 171"/>
          <p:cNvSpPr txBox="1"/>
          <p:nvPr/>
        </p:nvSpPr>
        <p:spPr>
          <a:xfrm>
            <a:off x="56483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Latin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9AA3A8"/>
                </a:solidFill>
                <a:latin typeface="Calibri"/>
              </a:rPr>
              <a:t>▲</a:t>
            </a:r>
          </a:p>
        </p:txBody>
      </p:sp>
      <p:sp>
        <p:nvSpPr>
          <p:cNvPr id="173" name="Oval 172"/>
          <p:cNvSpPr/>
          <p:nvPr/>
        </p:nvSpPr>
        <p:spPr>
          <a:xfrm>
            <a:off x="57340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57340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75" name="Oval 174"/>
          <p:cNvSpPr/>
          <p:nvPr/>
        </p:nvSpPr>
        <p:spPr>
          <a:xfrm>
            <a:off x="59436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59436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77" name="Oval 176"/>
          <p:cNvSpPr/>
          <p:nvPr/>
        </p:nvSpPr>
        <p:spPr>
          <a:xfrm>
            <a:off x="61531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61531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79" name="Oval 178"/>
          <p:cNvSpPr/>
          <p:nvPr/>
        </p:nvSpPr>
        <p:spPr>
          <a:xfrm>
            <a:off x="63627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3627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81" name="Oval 180"/>
          <p:cNvSpPr/>
          <p:nvPr/>
        </p:nvSpPr>
        <p:spPr>
          <a:xfrm>
            <a:off x="58388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58388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83" name="Oval 182"/>
          <p:cNvSpPr/>
          <p:nvPr/>
        </p:nvSpPr>
        <p:spPr>
          <a:xfrm>
            <a:off x="60483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60483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85" name="Oval 184"/>
          <p:cNvSpPr/>
          <p:nvPr/>
        </p:nvSpPr>
        <p:spPr>
          <a:xfrm>
            <a:off x="62579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62579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87" name="TextBox 186"/>
          <p:cNvSpPr txBox="1"/>
          <p:nvPr/>
        </p:nvSpPr>
        <p:spPr>
          <a:xfrm>
            <a:off x="67056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Senior Dogs Club</a:t>
            </a:r>
          </a:p>
        </p:txBody>
      </p:sp>
      <p:cxnSp>
        <p:nvCxnSpPr>
          <p:cNvPr id="188" name="Connector 187"/>
          <p:cNvCxnSpPr/>
          <p:nvPr/>
        </p:nvCxnSpPr>
        <p:spPr>
          <a:xfrm>
            <a:off x="69865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89" name="TextBox 188"/>
          <p:cNvSpPr txBox="1"/>
          <p:nvPr/>
        </p:nvSpPr>
        <p:spPr>
          <a:xfrm>
            <a:off x="67056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F</a:t>
            </a:r>
          </a:p>
        </p:txBody>
      </p:sp>
      <p:sp>
        <p:nvSpPr>
          <p:cNvPr id="190" name="TextBox 189"/>
          <p:cNvSpPr txBox="1"/>
          <p:nvPr/>
        </p:nvSpPr>
        <p:spPr>
          <a:xfrm>
            <a:off x="66960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91" name="TextBox 190"/>
          <p:cNvSpPr txBox="1"/>
          <p:nvPr/>
        </p:nvSpPr>
        <p:spPr>
          <a:xfrm>
            <a:off x="6696075"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92" name="Rectangle 191"/>
          <p:cNvSpPr/>
          <p:nvPr/>
        </p:nvSpPr>
        <p:spPr>
          <a:xfrm>
            <a:off x="69865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71580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73294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67056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6" name="TextBox 195"/>
          <p:cNvSpPr txBox="1"/>
          <p:nvPr/>
        </p:nvSpPr>
        <p:spPr>
          <a:xfrm>
            <a:off x="67056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7" name="Oval 196"/>
          <p:cNvSpPr/>
          <p:nvPr/>
        </p:nvSpPr>
        <p:spPr>
          <a:xfrm>
            <a:off x="69675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Freeform 197"/>
          <p:cNvSpPr/>
          <p:nvPr/>
        </p:nvSpPr>
        <p:spPr>
          <a:xfrm>
            <a:off x="7219950" y="3416749"/>
            <a:ext cx="95250" cy="237298"/>
          </a:xfrm>
          <a:custGeom>
            <a:avLst/>
            <a:gdLst/>
            <a:ahLst/>
            <a:cxnLst/>
            <a:rect l="l" t="t" r="r" b="b"/>
            <a:pathLst>
              <a:path w="10" h="26">
                <a:moveTo>
                  <a:pt x="0" y="26"/>
                </a:moveTo>
                <a:lnTo>
                  <a:pt x="0" y="0"/>
                </a:lnTo>
                <a:lnTo>
                  <a:pt x="3" y="0"/>
                </a:lnTo>
                <a:lnTo>
                  <a:pt x="6" y="1"/>
                </a:lnTo>
                <a:lnTo>
                  <a:pt x="10"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70765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696753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01" name="TextBox 200"/>
          <p:cNvSpPr txBox="1"/>
          <p:nvPr/>
        </p:nvSpPr>
        <p:spPr>
          <a:xfrm>
            <a:off x="67246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Middle East &amp; Africa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9AA3A8"/>
                </a:solidFill>
                <a:latin typeface="Calibri"/>
              </a:rPr>
              <a:t>▲</a:t>
            </a:r>
          </a:p>
        </p:txBody>
      </p:sp>
      <p:sp>
        <p:nvSpPr>
          <p:cNvPr id="202" name="Oval 201"/>
          <p:cNvSpPr/>
          <p:nvPr/>
        </p:nvSpPr>
        <p:spPr>
          <a:xfrm>
            <a:off x="68103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68103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04" name="Oval 203"/>
          <p:cNvSpPr/>
          <p:nvPr/>
        </p:nvSpPr>
        <p:spPr>
          <a:xfrm>
            <a:off x="70199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70199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06" name="Oval 205"/>
          <p:cNvSpPr/>
          <p:nvPr/>
        </p:nvSpPr>
        <p:spPr>
          <a:xfrm>
            <a:off x="72294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72294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08" name="Oval 207"/>
          <p:cNvSpPr/>
          <p:nvPr/>
        </p:nvSpPr>
        <p:spPr>
          <a:xfrm>
            <a:off x="74390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74390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10" name="Oval 209"/>
          <p:cNvSpPr/>
          <p:nvPr/>
        </p:nvSpPr>
        <p:spPr>
          <a:xfrm>
            <a:off x="69151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69151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12" name="Oval 211"/>
          <p:cNvSpPr/>
          <p:nvPr/>
        </p:nvSpPr>
        <p:spPr>
          <a:xfrm>
            <a:off x="71247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71247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14" name="Oval 213"/>
          <p:cNvSpPr/>
          <p:nvPr/>
        </p:nvSpPr>
        <p:spPr>
          <a:xfrm>
            <a:off x="73342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73342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16" name="TextBox 215"/>
          <p:cNvSpPr txBox="1"/>
          <p:nvPr/>
        </p:nvSpPr>
        <p:spPr>
          <a:xfrm>
            <a:off x="77819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VISYO Corporation</a:t>
            </a:r>
          </a:p>
        </p:txBody>
      </p:sp>
      <p:cxnSp>
        <p:nvCxnSpPr>
          <p:cNvPr id="217" name="Connector 216"/>
          <p:cNvCxnSpPr/>
          <p:nvPr/>
        </p:nvCxnSpPr>
        <p:spPr>
          <a:xfrm>
            <a:off x="806291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18" name="TextBox 217"/>
          <p:cNvSpPr txBox="1"/>
          <p:nvPr/>
        </p:nvSpPr>
        <p:spPr>
          <a:xfrm>
            <a:off x="77819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G</a:t>
            </a:r>
          </a:p>
        </p:txBody>
      </p:sp>
      <p:sp>
        <p:nvSpPr>
          <p:cNvPr id="219" name="TextBox 218"/>
          <p:cNvSpPr txBox="1"/>
          <p:nvPr/>
        </p:nvSpPr>
        <p:spPr>
          <a:xfrm>
            <a:off x="777240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220" name="TextBox 219"/>
          <p:cNvSpPr txBox="1"/>
          <p:nvPr/>
        </p:nvSpPr>
        <p:spPr>
          <a:xfrm>
            <a:off x="777240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221" name="Rectangle 220"/>
          <p:cNvSpPr/>
          <p:nvPr/>
        </p:nvSpPr>
        <p:spPr>
          <a:xfrm>
            <a:off x="806291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8234362"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840581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778192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5" name="TextBox 224"/>
          <p:cNvSpPr txBox="1"/>
          <p:nvPr/>
        </p:nvSpPr>
        <p:spPr>
          <a:xfrm>
            <a:off x="778192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6" name="Oval 225"/>
          <p:cNvSpPr/>
          <p:nvPr/>
        </p:nvSpPr>
        <p:spPr>
          <a:xfrm>
            <a:off x="804386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Freeform 226"/>
          <p:cNvSpPr/>
          <p:nvPr/>
        </p:nvSpPr>
        <p:spPr>
          <a:xfrm>
            <a:off x="8286750" y="3416749"/>
            <a:ext cx="85725" cy="237298"/>
          </a:xfrm>
          <a:custGeom>
            <a:avLst/>
            <a:gdLst/>
            <a:ahLst/>
            <a:cxnLst/>
            <a:rect l="l" t="t" r="r" b="b"/>
            <a:pathLst>
              <a:path w="9" h="26">
                <a:moveTo>
                  <a:pt x="0" y="26"/>
                </a:moveTo>
                <a:lnTo>
                  <a:pt x="0" y="0"/>
                </a:lnTo>
                <a:lnTo>
                  <a:pt x="5" y="0"/>
                </a:lnTo>
                <a:lnTo>
                  <a:pt x="9" y="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815282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804386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30" name="TextBox 229"/>
          <p:cNvSpPr txBox="1"/>
          <p:nvPr/>
        </p:nvSpPr>
        <p:spPr>
          <a:xfrm>
            <a:off x="78009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9AA3A8"/>
                </a:solidFill>
                <a:latin typeface="Calibri"/>
              </a:rPr>
              <a:t>▲</a:t>
            </a:r>
          </a:p>
        </p:txBody>
      </p:sp>
      <p:sp>
        <p:nvSpPr>
          <p:cNvPr id="231" name="Oval 230"/>
          <p:cNvSpPr/>
          <p:nvPr/>
        </p:nvSpPr>
        <p:spPr>
          <a:xfrm>
            <a:off x="78867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78867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33" name="Oval 232"/>
          <p:cNvSpPr/>
          <p:nvPr/>
        </p:nvSpPr>
        <p:spPr>
          <a:xfrm>
            <a:off x="80962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80962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35" name="Oval 234"/>
          <p:cNvSpPr/>
          <p:nvPr/>
        </p:nvSpPr>
        <p:spPr>
          <a:xfrm>
            <a:off x="83058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83058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37" name="Oval 236"/>
          <p:cNvSpPr/>
          <p:nvPr/>
        </p:nvSpPr>
        <p:spPr>
          <a:xfrm>
            <a:off x="85153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85153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39" name="Oval 238"/>
          <p:cNvSpPr/>
          <p:nvPr/>
        </p:nvSpPr>
        <p:spPr>
          <a:xfrm>
            <a:off x="79914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TextBox 239"/>
          <p:cNvSpPr txBox="1"/>
          <p:nvPr/>
        </p:nvSpPr>
        <p:spPr>
          <a:xfrm>
            <a:off x="79914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41" name="Oval 240"/>
          <p:cNvSpPr/>
          <p:nvPr/>
        </p:nvSpPr>
        <p:spPr>
          <a:xfrm>
            <a:off x="82010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82010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43" name="Oval 242"/>
          <p:cNvSpPr/>
          <p:nvPr/>
        </p:nvSpPr>
        <p:spPr>
          <a:xfrm>
            <a:off x="84105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84105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45" name="TextBox 244"/>
          <p:cNvSpPr txBox="1"/>
          <p:nvPr/>
        </p:nvSpPr>
        <p:spPr>
          <a:xfrm>
            <a:off x="88582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NaturVet</a:t>
            </a:r>
          </a:p>
        </p:txBody>
      </p:sp>
      <p:cxnSp>
        <p:nvCxnSpPr>
          <p:cNvPr id="246" name="Connector 245"/>
          <p:cNvCxnSpPr/>
          <p:nvPr/>
        </p:nvCxnSpPr>
        <p:spPr>
          <a:xfrm>
            <a:off x="913923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47" name="TextBox 246"/>
          <p:cNvSpPr txBox="1"/>
          <p:nvPr/>
        </p:nvSpPr>
        <p:spPr>
          <a:xfrm>
            <a:off x="88582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H</a:t>
            </a:r>
          </a:p>
        </p:txBody>
      </p:sp>
      <p:sp>
        <p:nvSpPr>
          <p:cNvPr id="248" name="TextBox 247"/>
          <p:cNvSpPr txBox="1"/>
          <p:nvPr/>
        </p:nvSpPr>
        <p:spPr>
          <a:xfrm>
            <a:off x="884872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249" name="TextBox 248"/>
          <p:cNvSpPr txBox="1"/>
          <p:nvPr/>
        </p:nvSpPr>
        <p:spPr>
          <a:xfrm>
            <a:off x="884872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250" name="Rectangle 249"/>
          <p:cNvSpPr/>
          <p:nvPr/>
        </p:nvSpPr>
        <p:spPr>
          <a:xfrm>
            <a:off x="9139238"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931068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948213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TextBox 252"/>
          <p:cNvSpPr txBox="1"/>
          <p:nvPr/>
        </p:nvSpPr>
        <p:spPr>
          <a:xfrm>
            <a:off x="885825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4" name="TextBox 253"/>
          <p:cNvSpPr txBox="1"/>
          <p:nvPr/>
        </p:nvSpPr>
        <p:spPr>
          <a:xfrm>
            <a:off x="885825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5" name="Oval 254"/>
          <p:cNvSpPr/>
          <p:nvPr/>
        </p:nvSpPr>
        <p:spPr>
          <a:xfrm>
            <a:off x="912018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Freeform 255"/>
          <p:cNvSpPr/>
          <p:nvPr/>
        </p:nvSpPr>
        <p:spPr>
          <a:xfrm>
            <a:off x="9372600" y="3416749"/>
            <a:ext cx="47625" cy="237298"/>
          </a:xfrm>
          <a:custGeom>
            <a:avLst/>
            <a:gdLst/>
            <a:ahLst/>
            <a:cxnLst/>
            <a:rect l="l" t="t" r="r" b="b"/>
            <a:pathLst>
              <a:path w="5" h="26">
                <a:moveTo>
                  <a:pt x="0" y="26"/>
                </a:moveTo>
                <a:lnTo>
                  <a:pt x="0" y="0"/>
                </a:lnTo>
                <a:lnTo>
                  <a:pt x="2" y="0"/>
                </a:lnTo>
                <a:lnTo>
                  <a:pt x="5"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Oval 256"/>
          <p:cNvSpPr/>
          <p:nvPr/>
        </p:nvSpPr>
        <p:spPr>
          <a:xfrm>
            <a:off x="92291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912018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59" name="TextBox 258"/>
          <p:cNvSpPr txBox="1"/>
          <p:nvPr/>
        </p:nvSpPr>
        <p:spPr>
          <a:xfrm>
            <a:off x="88773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260" name="Oval 259"/>
          <p:cNvSpPr/>
          <p:nvPr/>
        </p:nvSpPr>
        <p:spPr>
          <a:xfrm>
            <a:off x="89630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89630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62" name="Oval 261"/>
          <p:cNvSpPr/>
          <p:nvPr/>
        </p:nvSpPr>
        <p:spPr>
          <a:xfrm>
            <a:off x="91725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91725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64" name="Oval 263"/>
          <p:cNvSpPr/>
          <p:nvPr/>
        </p:nvSpPr>
        <p:spPr>
          <a:xfrm>
            <a:off x="93821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93821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66" name="Oval 265"/>
          <p:cNvSpPr/>
          <p:nvPr/>
        </p:nvSpPr>
        <p:spPr>
          <a:xfrm>
            <a:off x="95916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95916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68" name="Oval 267"/>
          <p:cNvSpPr/>
          <p:nvPr/>
        </p:nvSpPr>
        <p:spPr>
          <a:xfrm>
            <a:off x="90678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90678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70" name="Oval 269"/>
          <p:cNvSpPr/>
          <p:nvPr/>
        </p:nvSpPr>
        <p:spPr>
          <a:xfrm>
            <a:off x="927735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TextBox 270"/>
          <p:cNvSpPr txBox="1"/>
          <p:nvPr/>
        </p:nvSpPr>
        <p:spPr>
          <a:xfrm>
            <a:off x="92773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72" name="Oval 271"/>
          <p:cNvSpPr/>
          <p:nvPr/>
        </p:nvSpPr>
        <p:spPr>
          <a:xfrm>
            <a:off x="94869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94869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74" name="TextBox 273"/>
          <p:cNvSpPr txBox="1"/>
          <p:nvPr/>
        </p:nvSpPr>
        <p:spPr>
          <a:xfrm>
            <a:off x="99345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Zesty Paws</a:t>
            </a:r>
          </a:p>
        </p:txBody>
      </p:sp>
      <p:cxnSp>
        <p:nvCxnSpPr>
          <p:cNvPr id="275" name="Connector 274"/>
          <p:cNvCxnSpPr/>
          <p:nvPr/>
        </p:nvCxnSpPr>
        <p:spPr>
          <a:xfrm>
            <a:off x="102155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76" name="TextBox 275"/>
          <p:cNvSpPr txBox="1"/>
          <p:nvPr/>
        </p:nvSpPr>
        <p:spPr>
          <a:xfrm>
            <a:off x="99345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I</a:t>
            </a:r>
          </a:p>
        </p:txBody>
      </p:sp>
      <p:sp>
        <p:nvSpPr>
          <p:cNvPr id="277" name="TextBox 276"/>
          <p:cNvSpPr txBox="1"/>
          <p:nvPr/>
        </p:nvSpPr>
        <p:spPr>
          <a:xfrm>
            <a:off x="99250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278" name="TextBox 277"/>
          <p:cNvSpPr txBox="1"/>
          <p:nvPr/>
        </p:nvSpPr>
        <p:spPr>
          <a:xfrm>
            <a:off x="9925050"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279" name="Rectangle 278"/>
          <p:cNvSpPr/>
          <p:nvPr/>
        </p:nvSpPr>
        <p:spPr>
          <a:xfrm>
            <a:off x="102155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Rectangle 279"/>
          <p:cNvSpPr/>
          <p:nvPr/>
        </p:nvSpPr>
        <p:spPr>
          <a:xfrm>
            <a:off x="103870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105584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TextBox 281"/>
          <p:cNvSpPr txBox="1"/>
          <p:nvPr/>
        </p:nvSpPr>
        <p:spPr>
          <a:xfrm>
            <a:off x="99345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83" name="TextBox 282"/>
          <p:cNvSpPr txBox="1"/>
          <p:nvPr/>
        </p:nvSpPr>
        <p:spPr>
          <a:xfrm>
            <a:off x="99345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84" name="Oval 283"/>
          <p:cNvSpPr/>
          <p:nvPr/>
        </p:nvSpPr>
        <p:spPr>
          <a:xfrm>
            <a:off x="101965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Freeform 284"/>
          <p:cNvSpPr/>
          <p:nvPr/>
        </p:nvSpPr>
        <p:spPr>
          <a:xfrm>
            <a:off x="10439400" y="3416749"/>
            <a:ext cx="38100" cy="237298"/>
          </a:xfrm>
          <a:custGeom>
            <a:avLst/>
            <a:gdLst/>
            <a:ahLst/>
            <a:cxnLst/>
            <a:rect l="l" t="t" r="r" b="b"/>
            <a:pathLst>
              <a:path w="4" h="26">
                <a:moveTo>
                  <a:pt x="0" y="26"/>
                </a:moveTo>
                <a:lnTo>
                  <a:pt x="0" y="0"/>
                </a:lnTo>
                <a:lnTo>
                  <a:pt x="2" y="0"/>
                </a:lnTo>
                <a:lnTo>
                  <a:pt x="4"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Oval 285"/>
          <p:cNvSpPr/>
          <p:nvPr/>
        </p:nvSpPr>
        <p:spPr>
          <a:xfrm>
            <a:off x="103054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1019651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88" name="TextBox 287"/>
          <p:cNvSpPr txBox="1"/>
          <p:nvPr/>
        </p:nvSpPr>
        <p:spPr>
          <a:xfrm>
            <a:off x="99536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289" name="Oval 288"/>
          <p:cNvSpPr/>
          <p:nvPr/>
        </p:nvSpPr>
        <p:spPr>
          <a:xfrm>
            <a:off x="100393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TextBox 289"/>
          <p:cNvSpPr txBox="1"/>
          <p:nvPr/>
        </p:nvSpPr>
        <p:spPr>
          <a:xfrm>
            <a:off x="100393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91" name="Oval 290"/>
          <p:cNvSpPr/>
          <p:nvPr/>
        </p:nvSpPr>
        <p:spPr>
          <a:xfrm>
            <a:off x="102489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102489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93" name="Oval 292"/>
          <p:cNvSpPr/>
          <p:nvPr/>
        </p:nvSpPr>
        <p:spPr>
          <a:xfrm>
            <a:off x="104584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TextBox 293"/>
          <p:cNvSpPr txBox="1"/>
          <p:nvPr/>
        </p:nvSpPr>
        <p:spPr>
          <a:xfrm>
            <a:off x="104584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95" name="Oval 294"/>
          <p:cNvSpPr/>
          <p:nvPr/>
        </p:nvSpPr>
        <p:spPr>
          <a:xfrm>
            <a:off x="106680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TextBox 295"/>
          <p:cNvSpPr txBox="1"/>
          <p:nvPr/>
        </p:nvSpPr>
        <p:spPr>
          <a:xfrm>
            <a:off x="106680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97" name="Oval 296"/>
          <p:cNvSpPr/>
          <p:nvPr/>
        </p:nvSpPr>
        <p:spPr>
          <a:xfrm>
            <a:off x="101441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TextBox 297"/>
          <p:cNvSpPr txBox="1"/>
          <p:nvPr/>
        </p:nvSpPr>
        <p:spPr>
          <a:xfrm>
            <a:off x="101441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99" name="Oval 298"/>
          <p:cNvSpPr/>
          <p:nvPr/>
        </p:nvSpPr>
        <p:spPr>
          <a:xfrm>
            <a:off x="103536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TextBox 299"/>
          <p:cNvSpPr txBox="1"/>
          <p:nvPr/>
        </p:nvSpPr>
        <p:spPr>
          <a:xfrm>
            <a:off x="103536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01" name="Oval 300"/>
          <p:cNvSpPr/>
          <p:nvPr/>
        </p:nvSpPr>
        <p:spPr>
          <a:xfrm>
            <a:off x="105632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TextBox 301"/>
          <p:cNvSpPr txBox="1"/>
          <p:nvPr/>
        </p:nvSpPr>
        <p:spPr>
          <a:xfrm>
            <a:off x="105632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03" name="TextBox 302"/>
          <p:cNvSpPr txBox="1"/>
          <p:nvPr/>
        </p:nvSpPr>
        <p:spPr>
          <a:xfrm>
            <a:off x="110109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Ark Naturals</a:t>
            </a:r>
          </a:p>
        </p:txBody>
      </p:sp>
      <p:cxnSp>
        <p:nvCxnSpPr>
          <p:cNvPr id="304" name="Connector 303"/>
          <p:cNvCxnSpPr/>
          <p:nvPr/>
        </p:nvCxnSpPr>
        <p:spPr>
          <a:xfrm>
            <a:off x="112918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05" name="TextBox 304"/>
          <p:cNvSpPr txBox="1"/>
          <p:nvPr/>
        </p:nvSpPr>
        <p:spPr>
          <a:xfrm>
            <a:off x="110109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J</a:t>
            </a:r>
          </a:p>
        </p:txBody>
      </p:sp>
      <p:sp>
        <p:nvSpPr>
          <p:cNvPr id="306" name="TextBox 305"/>
          <p:cNvSpPr txBox="1"/>
          <p:nvPr/>
        </p:nvSpPr>
        <p:spPr>
          <a:xfrm>
            <a:off x="110013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307" name="TextBox 306"/>
          <p:cNvSpPr txBox="1"/>
          <p:nvPr/>
        </p:nvSpPr>
        <p:spPr>
          <a:xfrm>
            <a:off x="1100137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308" name="Rectangle 307"/>
          <p:cNvSpPr/>
          <p:nvPr/>
        </p:nvSpPr>
        <p:spPr>
          <a:xfrm>
            <a:off x="112918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ectangle 308"/>
          <p:cNvSpPr/>
          <p:nvPr/>
        </p:nvSpPr>
        <p:spPr>
          <a:xfrm>
            <a:off x="114633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Rectangle 309"/>
          <p:cNvSpPr/>
          <p:nvPr/>
        </p:nvSpPr>
        <p:spPr>
          <a:xfrm>
            <a:off x="116347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TextBox 310"/>
          <p:cNvSpPr txBox="1"/>
          <p:nvPr/>
        </p:nvSpPr>
        <p:spPr>
          <a:xfrm>
            <a:off x="110109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312" name="TextBox 311"/>
          <p:cNvSpPr txBox="1"/>
          <p:nvPr/>
        </p:nvSpPr>
        <p:spPr>
          <a:xfrm>
            <a:off x="110109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313" name="Oval 312"/>
          <p:cNvSpPr/>
          <p:nvPr/>
        </p:nvSpPr>
        <p:spPr>
          <a:xfrm>
            <a:off x="112728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Freeform 313"/>
          <p:cNvSpPr/>
          <p:nvPr/>
        </p:nvSpPr>
        <p:spPr>
          <a:xfrm>
            <a:off x="11525250" y="3416749"/>
            <a:ext cx="28575" cy="237298"/>
          </a:xfrm>
          <a:custGeom>
            <a:avLst/>
            <a:gdLst/>
            <a:ahLst/>
            <a:cxnLst/>
            <a:rect l="l" t="t" r="r" b="b"/>
            <a:pathLst>
              <a:path w="3" h="26">
                <a:moveTo>
                  <a:pt x="0" y="26"/>
                </a:moveTo>
                <a:lnTo>
                  <a:pt x="0" y="0"/>
                </a:lnTo>
                <a:lnTo>
                  <a:pt x="1" y="0"/>
                </a:lnTo>
                <a:lnTo>
                  <a:pt x="3"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Oval 314"/>
          <p:cNvSpPr/>
          <p:nvPr/>
        </p:nvSpPr>
        <p:spPr>
          <a:xfrm>
            <a:off x="113818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TextBox 315"/>
          <p:cNvSpPr txBox="1"/>
          <p:nvPr/>
        </p:nvSpPr>
        <p:spPr>
          <a:xfrm>
            <a:off x="1127283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317" name="TextBox 316"/>
          <p:cNvSpPr txBox="1"/>
          <p:nvPr/>
        </p:nvSpPr>
        <p:spPr>
          <a:xfrm>
            <a:off x="110299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9AA3A8"/>
                </a:solidFill>
                <a:latin typeface="Calibri"/>
              </a:rPr>
              <a:t>▲</a:t>
            </a:r>
          </a:p>
        </p:txBody>
      </p:sp>
      <p:sp>
        <p:nvSpPr>
          <p:cNvPr id="318" name="Oval 317"/>
          <p:cNvSpPr/>
          <p:nvPr/>
        </p:nvSpPr>
        <p:spPr>
          <a:xfrm>
            <a:off x="111156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TextBox 318"/>
          <p:cNvSpPr txBox="1"/>
          <p:nvPr/>
        </p:nvSpPr>
        <p:spPr>
          <a:xfrm>
            <a:off x="111156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320" name="Oval 319"/>
          <p:cNvSpPr/>
          <p:nvPr/>
        </p:nvSpPr>
        <p:spPr>
          <a:xfrm>
            <a:off x="113252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TextBox 320"/>
          <p:cNvSpPr txBox="1"/>
          <p:nvPr/>
        </p:nvSpPr>
        <p:spPr>
          <a:xfrm>
            <a:off x="113252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322" name="Oval 321"/>
          <p:cNvSpPr/>
          <p:nvPr/>
        </p:nvSpPr>
        <p:spPr>
          <a:xfrm>
            <a:off x="115347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TextBox 322"/>
          <p:cNvSpPr txBox="1"/>
          <p:nvPr/>
        </p:nvSpPr>
        <p:spPr>
          <a:xfrm>
            <a:off x="115347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324" name="Oval 323"/>
          <p:cNvSpPr/>
          <p:nvPr/>
        </p:nvSpPr>
        <p:spPr>
          <a:xfrm>
            <a:off x="117443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TextBox 324"/>
          <p:cNvSpPr txBox="1"/>
          <p:nvPr/>
        </p:nvSpPr>
        <p:spPr>
          <a:xfrm>
            <a:off x="117443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326" name="Oval 325"/>
          <p:cNvSpPr/>
          <p:nvPr/>
        </p:nvSpPr>
        <p:spPr>
          <a:xfrm>
            <a:off x="112204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112204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328" name="Oval 327"/>
          <p:cNvSpPr/>
          <p:nvPr/>
        </p:nvSpPr>
        <p:spPr>
          <a:xfrm>
            <a:off x="114300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TextBox 328"/>
          <p:cNvSpPr txBox="1"/>
          <p:nvPr/>
        </p:nvSpPr>
        <p:spPr>
          <a:xfrm>
            <a:off x="114300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30" name="Oval 329"/>
          <p:cNvSpPr/>
          <p:nvPr/>
        </p:nvSpPr>
        <p:spPr>
          <a:xfrm>
            <a:off x="116395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TextBox 330"/>
          <p:cNvSpPr txBox="1"/>
          <p:nvPr/>
        </p:nvSpPr>
        <p:spPr>
          <a:xfrm>
            <a:off x="116395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32" name="TextBox 331"/>
          <p:cNvSpPr txBox="1"/>
          <p:nvPr/>
        </p:nvSpPr>
        <p:spPr>
          <a:xfrm>
            <a:off x="285750" y="5716715"/>
            <a:ext cx="1116806" cy="164283"/>
          </a:xfrm>
          <a:prstGeom prst="rect">
            <a:avLst/>
          </a:prstGeom>
          <a:noFill/>
        </p:spPr>
        <p:txBody>
          <a:bodyPr wrap="square" lIns="0" rIns="0" tIns="0" bIns="0" anchor="ctr">
            <a:spAutoFit/>
          </a:bodyPr>
          <a:lstStyle/>
          <a:p>
            <a:pPr algn="l"/>
            <a:r>
              <a:rPr sz="1100" b="1">
                <a:solidFill>
                  <a:srgbClr val="2E2E2E"/>
                </a:solidFill>
                <a:latin typeface="Calibri"/>
              </a:rPr>
              <a:t>Product Portfolio:</a:t>
            </a:r>
          </a:p>
        </p:txBody>
      </p:sp>
      <p:sp>
        <p:nvSpPr>
          <p:cNvPr id="333" name="Rectangle 332"/>
          <p:cNvSpPr/>
          <p:nvPr/>
        </p:nvSpPr>
        <p:spPr>
          <a:xfrm>
            <a:off x="1383506" y="5744096"/>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TextBox 333"/>
          <p:cNvSpPr txBox="1"/>
          <p:nvPr/>
        </p:nvSpPr>
        <p:spPr>
          <a:xfrm>
            <a:off x="1535906" y="5716715"/>
            <a:ext cx="1304925" cy="164283"/>
          </a:xfrm>
          <a:prstGeom prst="rect">
            <a:avLst/>
          </a:prstGeom>
          <a:noFill/>
        </p:spPr>
        <p:txBody>
          <a:bodyPr wrap="square" lIns="0" rIns="0" tIns="0" bIns="0" anchor="ctr">
            <a:spAutoFit/>
          </a:bodyPr>
          <a:lstStyle/>
          <a:p>
            <a:pPr algn="l"/>
            <a:r>
              <a:rPr sz="1100" b="0">
                <a:solidFill>
                  <a:srgbClr val="2E2E2E"/>
                </a:solidFill>
                <a:latin typeface="Calibri"/>
              </a:rPr>
              <a:t>Capsules and Softgels</a:t>
            </a:r>
          </a:p>
        </p:txBody>
      </p:sp>
      <p:sp>
        <p:nvSpPr>
          <p:cNvPr id="335" name="Rectangle 334"/>
          <p:cNvSpPr/>
          <p:nvPr/>
        </p:nvSpPr>
        <p:spPr>
          <a:xfrm>
            <a:off x="2897981" y="5744096"/>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3050381" y="5716715"/>
            <a:ext cx="490538" cy="164283"/>
          </a:xfrm>
          <a:prstGeom prst="rect">
            <a:avLst/>
          </a:prstGeom>
          <a:noFill/>
        </p:spPr>
        <p:txBody>
          <a:bodyPr wrap="square" lIns="0" rIns="0" tIns="0" bIns="0" anchor="ctr">
            <a:spAutoFit/>
          </a:bodyPr>
          <a:lstStyle/>
          <a:p>
            <a:pPr algn="l"/>
            <a:r>
              <a:rPr sz="1100" b="0">
                <a:solidFill>
                  <a:srgbClr val="2E2E2E"/>
                </a:solidFill>
                <a:latin typeface="Calibri"/>
              </a:rPr>
              <a:t>Tablets</a:t>
            </a:r>
          </a:p>
        </p:txBody>
      </p:sp>
      <p:sp>
        <p:nvSpPr>
          <p:cNvPr id="337" name="Rectangle 336"/>
          <p:cNvSpPr/>
          <p:nvPr/>
        </p:nvSpPr>
        <p:spPr>
          <a:xfrm>
            <a:off x="3598069" y="5744096"/>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TextBox 337"/>
          <p:cNvSpPr txBox="1"/>
          <p:nvPr/>
        </p:nvSpPr>
        <p:spPr>
          <a:xfrm>
            <a:off x="3750469" y="5716715"/>
            <a:ext cx="709612" cy="164283"/>
          </a:xfrm>
          <a:prstGeom prst="rect">
            <a:avLst/>
          </a:prstGeom>
          <a:noFill/>
        </p:spPr>
        <p:txBody>
          <a:bodyPr wrap="square" lIns="0" rIns="0" tIns="0" bIns="0" anchor="ctr">
            <a:spAutoFit/>
          </a:bodyPr>
          <a:lstStyle/>
          <a:p>
            <a:pPr algn="l"/>
            <a:r>
              <a:rPr sz="1100" b="0">
                <a:solidFill>
                  <a:srgbClr val="2E2E2E"/>
                </a:solidFill>
                <a:latin typeface="Calibri"/>
              </a:rPr>
              <a:t>Chewables</a:t>
            </a:r>
          </a:p>
        </p:txBody>
      </p:sp>
      <p:sp>
        <p:nvSpPr>
          <p:cNvPr id="339" name="Rectangle 338"/>
          <p:cNvSpPr/>
          <p:nvPr/>
        </p:nvSpPr>
        <p:spPr>
          <a:xfrm>
            <a:off x="4498181" y="5744096"/>
            <a:ext cx="114300" cy="109522"/>
          </a:xfrm>
          <a:prstGeom prst="rect">
            <a:avLst/>
          </a:prstGeom>
          <a:solidFill>
            <a:srgbClr val="FFFFFF"/>
          </a:solidFill>
          <a:ln w="12700">
            <a:solidFill>
              <a:srgbClr val="6C7A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TextBox 339"/>
          <p:cNvSpPr txBox="1"/>
          <p:nvPr/>
        </p:nvSpPr>
        <p:spPr>
          <a:xfrm>
            <a:off x="4650581" y="5716715"/>
            <a:ext cx="740569" cy="164283"/>
          </a:xfrm>
          <a:prstGeom prst="rect">
            <a:avLst/>
          </a:prstGeom>
          <a:noFill/>
        </p:spPr>
        <p:txBody>
          <a:bodyPr wrap="square" lIns="0" rIns="0" tIns="0" bIns="0" anchor="ctr">
            <a:spAutoFit/>
          </a:bodyPr>
          <a:lstStyle/>
          <a:p>
            <a:pPr algn="l"/>
            <a:r>
              <a:rPr sz="1100" b="0">
                <a:solidFill>
                  <a:srgbClr val="2E2E2E"/>
                </a:solidFill>
                <a:latin typeface="Calibri"/>
              </a:rPr>
              <a:t>Not offered</a:t>
            </a:r>
          </a:p>
        </p:txBody>
      </p:sp>
      <p:sp>
        <p:nvSpPr>
          <p:cNvPr id="341" name="TextBox 340"/>
          <p:cNvSpPr txBox="1"/>
          <p:nvPr/>
        </p:nvSpPr>
        <p:spPr>
          <a:xfrm>
            <a:off x="285750" y="5890125"/>
            <a:ext cx="208915" cy="164283"/>
          </a:xfrm>
          <a:prstGeom prst="rect">
            <a:avLst/>
          </a:prstGeom>
          <a:noFill/>
        </p:spPr>
        <p:txBody>
          <a:bodyPr wrap="none" lIns="0" rIns="0" tIns="0" bIns="0" anchor="ctr">
            <a:spAutoFit/>
          </a:bodyPr>
          <a:lstStyle/>
          <a:p>
            <a:pPr algn="l"/>
            <a:r>
              <a:rPr sz="1100" b="1">
                <a:solidFill>
                  <a:srgbClr val="008189"/>
                </a:solidFill>
                <a:latin typeface="Calibri"/>
              </a:rPr>
              <a:t>✔</a:t>
            </a:r>
          </a:p>
        </p:txBody>
      </p:sp>
      <p:sp>
        <p:nvSpPr>
          <p:cNvPr id="342" name="TextBox 341"/>
          <p:cNvSpPr txBox="1"/>
          <p:nvPr/>
        </p:nvSpPr>
        <p:spPr>
          <a:xfrm>
            <a:off x="475615" y="5890125"/>
            <a:ext cx="457200" cy="164283"/>
          </a:xfrm>
          <a:prstGeom prst="rect">
            <a:avLst/>
          </a:prstGeom>
          <a:noFill/>
        </p:spPr>
        <p:txBody>
          <a:bodyPr wrap="square" lIns="0" rIns="0" tIns="0" bIns="0" anchor="ctr">
            <a:spAutoFit/>
          </a:bodyPr>
          <a:lstStyle/>
          <a:p>
            <a:pPr algn="l"/>
            <a:r>
              <a:rPr sz="1100" b="0">
                <a:solidFill>
                  <a:srgbClr val="2E2E2E"/>
                </a:solidFill>
                <a:latin typeface="Calibri"/>
              </a:rPr>
              <a:t>served</a:t>
            </a:r>
          </a:p>
        </p:txBody>
      </p:sp>
      <p:sp>
        <p:nvSpPr>
          <p:cNvPr id="343" name="TextBox 342"/>
          <p:cNvSpPr txBox="1"/>
          <p:nvPr/>
        </p:nvSpPr>
        <p:spPr>
          <a:xfrm>
            <a:off x="913765" y="5890125"/>
            <a:ext cx="208915" cy="164283"/>
          </a:xfrm>
          <a:prstGeom prst="rect">
            <a:avLst/>
          </a:prstGeom>
          <a:noFill/>
        </p:spPr>
        <p:txBody>
          <a:bodyPr wrap="none" lIns="0" rIns="0" tIns="0" bIns="0" anchor="ctr">
            <a:spAutoFit/>
          </a:bodyPr>
          <a:lstStyle/>
          <a:p>
            <a:pPr algn="l"/>
            <a:r>
              <a:rPr sz="1100" b="1">
                <a:solidFill>
                  <a:srgbClr val="E44D3A"/>
                </a:solidFill>
                <a:latin typeface="Calibri"/>
              </a:rPr>
              <a:t>✘</a:t>
            </a:r>
          </a:p>
        </p:txBody>
      </p:sp>
      <p:sp>
        <p:nvSpPr>
          <p:cNvPr id="344" name="TextBox 343"/>
          <p:cNvSpPr txBox="1"/>
          <p:nvPr/>
        </p:nvSpPr>
        <p:spPr>
          <a:xfrm>
            <a:off x="1103630" y="5890125"/>
            <a:ext cx="683419" cy="164283"/>
          </a:xfrm>
          <a:prstGeom prst="rect">
            <a:avLst/>
          </a:prstGeom>
          <a:noFill/>
        </p:spPr>
        <p:txBody>
          <a:bodyPr wrap="square" lIns="0" rIns="0" tIns="0" bIns="0" anchor="ctr">
            <a:spAutoFit/>
          </a:bodyPr>
          <a:lstStyle/>
          <a:p>
            <a:pPr algn="l"/>
            <a:r>
              <a:rPr sz="1100" b="0">
                <a:solidFill>
                  <a:srgbClr val="2E2E2E"/>
                </a:solidFill>
                <a:latin typeface="Calibri"/>
              </a:rPr>
              <a:t>not served</a:t>
            </a:r>
          </a:p>
        </p:txBody>
      </p:sp>
      <p:sp>
        <p:nvSpPr>
          <p:cNvPr id="345" name="TextBox 344"/>
          <p:cNvSpPr txBox="1"/>
          <p:nvPr/>
        </p:nvSpPr>
        <p:spPr>
          <a:xfrm>
            <a:off x="1939449" y="5890125"/>
            <a:ext cx="1183481" cy="164283"/>
          </a:xfrm>
          <a:prstGeom prst="rect">
            <a:avLst/>
          </a:prstGeom>
          <a:noFill/>
        </p:spPr>
        <p:txBody>
          <a:bodyPr wrap="square" lIns="0" rIns="0" tIns="0" bIns="0" anchor="ctr">
            <a:spAutoFit/>
          </a:bodyPr>
          <a:lstStyle/>
          <a:p>
            <a:pPr algn="l"/>
            <a:r>
              <a:rPr sz="1100" b="1">
                <a:solidFill>
                  <a:srgbClr val="2E2E2E"/>
                </a:solidFill>
                <a:latin typeface="Calibri"/>
              </a:rPr>
              <a:t>Regional presence:</a:t>
            </a:r>
          </a:p>
        </p:txBody>
      </p:sp>
      <p:sp>
        <p:nvSpPr>
          <p:cNvPr id="346" name="TextBox 345"/>
          <p:cNvSpPr txBox="1"/>
          <p:nvPr/>
        </p:nvSpPr>
        <p:spPr>
          <a:xfrm>
            <a:off x="3103880" y="5890125"/>
            <a:ext cx="208915" cy="164283"/>
          </a:xfrm>
          <a:prstGeom prst="rect">
            <a:avLst/>
          </a:prstGeom>
          <a:noFill/>
        </p:spPr>
        <p:txBody>
          <a:bodyPr wrap="none" lIns="0" rIns="0" tIns="0" bIns="0" anchor="ctr">
            <a:spAutoFit/>
          </a:bodyPr>
          <a:lstStyle/>
          <a:p>
            <a:pPr algn="l"/>
            <a:r>
              <a:rPr sz="1100" b="1">
                <a:solidFill>
                  <a:srgbClr val="0E72AE"/>
                </a:solidFill>
                <a:latin typeface="Calibri"/>
              </a:rPr>
              <a:t>▲</a:t>
            </a:r>
          </a:p>
        </p:txBody>
      </p:sp>
      <p:sp>
        <p:nvSpPr>
          <p:cNvPr id="347" name="TextBox 346"/>
          <p:cNvSpPr txBox="1"/>
          <p:nvPr/>
        </p:nvSpPr>
        <p:spPr>
          <a:xfrm>
            <a:off x="3293745" y="5890125"/>
            <a:ext cx="338138" cy="164283"/>
          </a:xfrm>
          <a:prstGeom prst="rect">
            <a:avLst/>
          </a:prstGeom>
          <a:noFill/>
        </p:spPr>
        <p:txBody>
          <a:bodyPr wrap="none" lIns="0" rIns="0" tIns="0" bIns="0" anchor="ctr">
            <a:spAutoFit/>
          </a:bodyPr>
          <a:lstStyle/>
          <a:p>
            <a:pPr algn="l"/>
            <a:r>
              <a:rPr sz="1100" b="0">
                <a:solidFill>
                  <a:srgbClr val="2E2E2E"/>
                </a:solidFill>
                <a:latin typeface="Calibri"/>
              </a:rPr>
              <a:t>High</a:t>
            </a:r>
          </a:p>
        </p:txBody>
      </p:sp>
      <p:sp>
        <p:nvSpPr>
          <p:cNvPr id="348" name="TextBox 347"/>
          <p:cNvSpPr txBox="1"/>
          <p:nvPr/>
        </p:nvSpPr>
        <p:spPr>
          <a:xfrm>
            <a:off x="3612832" y="5890125"/>
            <a:ext cx="208915" cy="164283"/>
          </a:xfrm>
          <a:prstGeom prst="rect">
            <a:avLst/>
          </a:prstGeom>
          <a:noFill/>
        </p:spPr>
        <p:txBody>
          <a:bodyPr wrap="none" lIns="0" rIns="0" tIns="0" bIns="0" anchor="ctr">
            <a:spAutoFit/>
          </a:bodyPr>
          <a:lstStyle/>
          <a:p>
            <a:pPr algn="l"/>
            <a:r>
              <a:rPr sz="1100" b="1">
                <a:solidFill>
                  <a:srgbClr val="A86F00"/>
                </a:solidFill>
                <a:latin typeface="Calibri"/>
              </a:rPr>
              <a:t>▲</a:t>
            </a:r>
          </a:p>
        </p:txBody>
      </p:sp>
      <p:sp>
        <p:nvSpPr>
          <p:cNvPr id="349" name="TextBox 348"/>
          <p:cNvSpPr txBox="1"/>
          <p:nvPr/>
        </p:nvSpPr>
        <p:spPr>
          <a:xfrm>
            <a:off x="3802698" y="5890125"/>
            <a:ext cx="576262" cy="164283"/>
          </a:xfrm>
          <a:prstGeom prst="rect">
            <a:avLst/>
          </a:prstGeom>
          <a:noFill/>
        </p:spPr>
        <p:txBody>
          <a:bodyPr wrap="square" lIns="0" rIns="0" tIns="0" bIns="0" anchor="ctr">
            <a:spAutoFit/>
          </a:bodyPr>
          <a:lstStyle/>
          <a:p>
            <a:pPr algn="l"/>
            <a:r>
              <a:rPr sz="1100" b="0">
                <a:solidFill>
                  <a:srgbClr val="2E2E2E"/>
                </a:solidFill>
                <a:latin typeface="Calibri"/>
              </a:rPr>
              <a:t>Medium</a:t>
            </a:r>
          </a:p>
        </p:txBody>
      </p:sp>
      <p:sp>
        <p:nvSpPr>
          <p:cNvPr id="350" name="TextBox 349"/>
          <p:cNvSpPr txBox="1"/>
          <p:nvPr/>
        </p:nvSpPr>
        <p:spPr>
          <a:xfrm>
            <a:off x="4340860" y="5890125"/>
            <a:ext cx="208915" cy="164283"/>
          </a:xfrm>
          <a:prstGeom prst="rect">
            <a:avLst/>
          </a:prstGeom>
          <a:noFill/>
        </p:spPr>
        <p:txBody>
          <a:bodyPr wrap="none" lIns="0" rIns="0" tIns="0" bIns="0" anchor="ctr">
            <a:spAutoFit/>
          </a:bodyPr>
          <a:lstStyle/>
          <a:p>
            <a:pPr algn="l"/>
            <a:r>
              <a:rPr sz="1100" b="1">
                <a:solidFill>
                  <a:srgbClr val="9AA3A8"/>
                </a:solidFill>
                <a:latin typeface="Calibri"/>
              </a:rPr>
              <a:t>▲</a:t>
            </a:r>
          </a:p>
        </p:txBody>
      </p:sp>
      <p:sp>
        <p:nvSpPr>
          <p:cNvPr id="351" name="TextBox 350"/>
          <p:cNvSpPr txBox="1"/>
          <p:nvPr/>
        </p:nvSpPr>
        <p:spPr>
          <a:xfrm>
            <a:off x="4530725" y="5890125"/>
            <a:ext cx="309562" cy="164283"/>
          </a:xfrm>
          <a:prstGeom prst="rect">
            <a:avLst/>
          </a:prstGeom>
          <a:noFill/>
        </p:spPr>
        <p:txBody>
          <a:bodyPr wrap="none" lIns="0" rIns="0" tIns="0" bIns="0" anchor="ctr">
            <a:spAutoFit/>
          </a:bodyPr>
          <a:lstStyle/>
          <a:p>
            <a:pPr algn="l"/>
            <a:r>
              <a:rPr sz="1100" b="0">
                <a:solidFill>
                  <a:srgbClr val="2E2E2E"/>
                </a:solidFill>
                <a:latin typeface="Calibri"/>
              </a:rPr>
              <a:t>Low</a:t>
            </a:r>
          </a:p>
        </p:txBody>
      </p:sp>
      <p:sp>
        <p:nvSpPr>
          <p:cNvPr id="352" name="Oval 351"/>
          <p:cNvSpPr/>
          <p:nvPr/>
        </p:nvSpPr>
        <p:spPr>
          <a:xfrm>
            <a:off x="285750"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TextBox 352"/>
          <p:cNvSpPr txBox="1"/>
          <p:nvPr/>
        </p:nvSpPr>
        <p:spPr>
          <a:xfrm>
            <a:off x="285750"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354" name="TextBox 353"/>
          <p:cNvSpPr txBox="1"/>
          <p:nvPr/>
        </p:nvSpPr>
        <p:spPr>
          <a:xfrm>
            <a:off x="495300" y="6072662"/>
            <a:ext cx="657225" cy="182537"/>
          </a:xfrm>
          <a:prstGeom prst="rect">
            <a:avLst/>
          </a:prstGeom>
          <a:noFill/>
        </p:spPr>
        <p:txBody>
          <a:bodyPr wrap="square" lIns="0" rIns="0" tIns="0" bIns="0" anchor="ctr">
            <a:spAutoFit/>
          </a:bodyPr>
          <a:lstStyle/>
          <a:p>
            <a:pPr algn="l"/>
            <a:r>
              <a:rPr sz="1100" b="0">
                <a:solidFill>
                  <a:srgbClr val="2E2E2E"/>
                </a:solidFill>
                <a:latin typeface="Calibri"/>
              </a:rPr>
              <a:t>Expansion</a:t>
            </a:r>
          </a:p>
        </p:txBody>
      </p:sp>
      <p:sp>
        <p:nvSpPr>
          <p:cNvPr id="355" name="Oval 354"/>
          <p:cNvSpPr/>
          <p:nvPr/>
        </p:nvSpPr>
        <p:spPr>
          <a:xfrm>
            <a:off x="124777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TextBox 355"/>
          <p:cNvSpPr txBox="1"/>
          <p:nvPr/>
        </p:nvSpPr>
        <p:spPr>
          <a:xfrm>
            <a:off x="124777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357" name="TextBox 356"/>
          <p:cNvSpPr txBox="1"/>
          <p:nvPr/>
        </p:nvSpPr>
        <p:spPr>
          <a:xfrm>
            <a:off x="1457325" y="6072662"/>
            <a:ext cx="1012031" cy="182537"/>
          </a:xfrm>
          <a:prstGeom prst="rect">
            <a:avLst/>
          </a:prstGeom>
          <a:noFill/>
        </p:spPr>
        <p:txBody>
          <a:bodyPr wrap="square" lIns="0" rIns="0" tIns="0" bIns="0" anchor="ctr">
            <a:spAutoFit/>
          </a:bodyPr>
          <a:lstStyle/>
          <a:p>
            <a:pPr algn="l"/>
            <a:r>
              <a:rPr sz="1100" b="0">
                <a:solidFill>
                  <a:srgbClr val="2E2E2E"/>
                </a:solidFill>
                <a:latin typeface="Calibri"/>
              </a:rPr>
              <a:t>R&amp;D Investment</a:t>
            </a:r>
          </a:p>
        </p:txBody>
      </p:sp>
      <p:sp>
        <p:nvSpPr>
          <p:cNvPr id="358" name="Oval 357"/>
          <p:cNvSpPr/>
          <p:nvPr/>
        </p:nvSpPr>
        <p:spPr>
          <a:xfrm>
            <a:off x="25646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TextBox 358"/>
          <p:cNvSpPr txBox="1"/>
          <p:nvPr/>
        </p:nvSpPr>
        <p:spPr>
          <a:xfrm>
            <a:off x="25646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360" name="TextBox 359"/>
          <p:cNvSpPr txBox="1"/>
          <p:nvPr/>
        </p:nvSpPr>
        <p:spPr>
          <a:xfrm>
            <a:off x="2774156" y="6072662"/>
            <a:ext cx="800100" cy="182537"/>
          </a:xfrm>
          <a:prstGeom prst="rect">
            <a:avLst/>
          </a:prstGeom>
          <a:noFill/>
        </p:spPr>
        <p:txBody>
          <a:bodyPr wrap="square" lIns="0" rIns="0" tIns="0" bIns="0" anchor="ctr">
            <a:spAutoFit/>
          </a:bodyPr>
          <a:lstStyle/>
          <a:p>
            <a:pPr algn="l"/>
            <a:r>
              <a:rPr sz="1100" b="0">
                <a:solidFill>
                  <a:srgbClr val="2E2E2E"/>
                </a:solidFill>
                <a:latin typeface="Calibri"/>
              </a:rPr>
              <a:t>Financial Aid</a:t>
            </a:r>
          </a:p>
        </p:txBody>
      </p:sp>
      <p:sp>
        <p:nvSpPr>
          <p:cNvPr id="361" name="Oval 360"/>
          <p:cNvSpPr/>
          <p:nvPr/>
        </p:nvSpPr>
        <p:spPr>
          <a:xfrm>
            <a:off x="36695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36695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363" name="TextBox 362"/>
          <p:cNvSpPr txBox="1"/>
          <p:nvPr/>
        </p:nvSpPr>
        <p:spPr>
          <a:xfrm>
            <a:off x="3879056" y="6072662"/>
            <a:ext cx="1328738" cy="182537"/>
          </a:xfrm>
          <a:prstGeom prst="rect">
            <a:avLst/>
          </a:prstGeom>
          <a:noFill/>
        </p:spPr>
        <p:txBody>
          <a:bodyPr wrap="square" lIns="0" rIns="0" tIns="0" bIns="0" anchor="ctr">
            <a:spAutoFit/>
          </a:bodyPr>
          <a:lstStyle/>
          <a:p>
            <a:pPr algn="l"/>
            <a:r>
              <a:rPr sz="1100" b="0">
                <a:solidFill>
                  <a:srgbClr val="2E2E2E"/>
                </a:solidFill>
                <a:latin typeface="Calibri"/>
              </a:rPr>
              <a:t>Product Development</a:t>
            </a:r>
          </a:p>
        </p:txBody>
      </p:sp>
      <p:sp>
        <p:nvSpPr>
          <p:cNvPr id="364" name="Oval 363"/>
          <p:cNvSpPr/>
          <p:nvPr/>
        </p:nvSpPr>
        <p:spPr>
          <a:xfrm>
            <a:off x="5303044"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TextBox 364"/>
          <p:cNvSpPr txBox="1"/>
          <p:nvPr/>
        </p:nvSpPr>
        <p:spPr>
          <a:xfrm>
            <a:off x="5303044"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366" name="TextBox 365"/>
          <p:cNvSpPr txBox="1"/>
          <p:nvPr/>
        </p:nvSpPr>
        <p:spPr>
          <a:xfrm>
            <a:off x="5512594" y="6072662"/>
            <a:ext cx="714375" cy="182537"/>
          </a:xfrm>
          <a:prstGeom prst="rect">
            <a:avLst/>
          </a:prstGeom>
          <a:noFill/>
        </p:spPr>
        <p:txBody>
          <a:bodyPr wrap="square" lIns="0" rIns="0" tIns="0" bIns="0" anchor="ctr">
            <a:spAutoFit/>
          </a:bodyPr>
          <a:lstStyle/>
          <a:p>
            <a:pPr algn="l"/>
            <a:r>
              <a:rPr sz="1100" b="0">
                <a:solidFill>
                  <a:srgbClr val="2E2E2E"/>
                </a:solidFill>
                <a:latin typeface="Calibri"/>
              </a:rPr>
              <a:t>Acquisition</a:t>
            </a:r>
          </a:p>
        </p:txBody>
      </p:sp>
      <p:sp>
        <p:nvSpPr>
          <p:cNvPr id="367" name="Oval 366"/>
          <p:cNvSpPr/>
          <p:nvPr/>
        </p:nvSpPr>
        <p:spPr>
          <a:xfrm>
            <a:off x="6322219"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TextBox 367"/>
          <p:cNvSpPr txBox="1"/>
          <p:nvPr/>
        </p:nvSpPr>
        <p:spPr>
          <a:xfrm>
            <a:off x="6322219"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69" name="TextBox 368"/>
          <p:cNvSpPr txBox="1"/>
          <p:nvPr/>
        </p:nvSpPr>
        <p:spPr>
          <a:xfrm>
            <a:off x="6531769" y="6072662"/>
            <a:ext cx="964406" cy="182537"/>
          </a:xfrm>
          <a:prstGeom prst="rect">
            <a:avLst/>
          </a:prstGeom>
          <a:noFill/>
        </p:spPr>
        <p:txBody>
          <a:bodyPr wrap="square" lIns="0" rIns="0" tIns="0" bIns="0" anchor="ctr">
            <a:spAutoFit/>
          </a:bodyPr>
          <a:lstStyle/>
          <a:p>
            <a:pPr algn="l"/>
            <a:r>
              <a:rPr sz="1100" b="0">
                <a:solidFill>
                  <a:srgbClr val="2E2E2E"/>
                </a:solidFill>
                <a:latin typeface="Calibri"/>
              </a:rPr>
              <a:t>Product Launch</a:t>
            </a:r>
          </a:p>
        </p:txBody>
      </p:sp>
      <p:sp>
        <p:nvSpPr>
          <p:cNvPr id="370" name="Oval 369"/>
          <p:cNvSpPr/>
          <p:nvPr/>
        </p:nvSpPr>
        <p:spPr>
          <a:xfrm>
            <a:off x="759142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TextBox 370"/>
          <p:cNvSpPr txBox="1"/>
          <p:nvPr/>
        </p:nvSpPr>
        <p:spPr>
          <a:xfrm>
            <a:off x="759142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72" name="TextBox 371"/>
          <p:cNvSpPr txBox="1"/>
          <p:nvPr/>
        </p:nvSpPr>
        <p:spPr>
          <a:xfrm>
            <a:off x="7800975" y="6072662"/>
            <a:ext cx="781050" cy="182537"/>
          </a:xfrm>
          <a:prstGeom prst="rect">
            <a:avLst/>
          </a:prstGeom>
          <a:noFill/>
        </p:spPr>
        <p:txBody>
          <a:bodyPr wrap="square" lIns="0" rIns="0" tIns="0" bIns="0" anchor="ctr">
            <a:spAutoFit/>
          </a:bodyPr>
          <a:lstStyle/>
          <a:p>
            <a:pPr algn="l"/>
            <a:r>
              <a:rPr sz="1100" b="0">
                <a:solidFill>
                  <a:srgbClr val="2E2E2E"/>
                </a:solidFill>
                <a:latin typeface="Calibri"/>
              </a:rPr>
              <a:t>Certification</a:t>
            </a:r>
          </a:p>
        </p:txBody>
      </p:sp>
      <p:sp>
        <p:nvSpPr>
          <p:cNvPr id="373" name="TextBox 372"/>
          <p:cNvSpPr txBox="1"/>
          <p:nvPr/>
        </p:nvSpPr>
        <p:spPr>
          <a:xfrm>
            <a:off x="285750" y="6273453"/>
            <a:ext cx="11620500" cy="155156"/>
          </a:xfrm>
          <a:prstGeom prst="rect">
            <a:avLst/>
          </a:prstGeom>
          <a:noFill/>
        </p:spPr>
        <p:txBody>
          <a:bodyPr wrap="square" lIns="0" rIns="0" tIns="0" bIns="0">
            <a:spAutoFit/>
          </a:bodyPr>
          <a:lstStyle/>
          <a:p>
            <a:pPr algn="l"/>
            <a:r>
              <a:rPr sz="1100" b="1">
                <a:solidFill>
                  <a:srgbClr val="A35313"/>
                </a:solidFill>
                <a:latin typeface="Calibri"/>
              </a:rPr>
              <a:t>Note: Market Share indicates the contribution of target revenue in Market</a:t>
            </a:r>
          </a:p>
        </p:txBody>
      </p:sp>
      <p:sp>
        <p:nvSpPr>
          <p:cNvPr id="374" name="TextBox 373"/>
          <p:cNvSpPr txBox="1"/>
          <p:nvPr/>
        </p:nvSpPr>
        <p:spPr>
          <a:xfrm>
            <a:off x="285750" y="6428609"/>
            <a:ext cx="11620500" cy="155156"/>
          </a:xfrm>
          <a:prstGeom prst="rect">
            <a:avLst/>
          </a:prstGeom>
          <a:noFill/>
        </p:spPr>
        <p:txBody>
          <a:bodyPr wrap="square" lIns="0" rIns="0" tIns="0" bIns="0">
            <a:spAutoFit/>
          </a:bodyPr>
          <a:lstStyle/>
          <a:p>
            <a:pPr algn="l"/>
            <a:r>
              <a:rPr sz="1100" b="1">
                <a:solidFill>
                  <a:srgbClr val="A35313"/>
                </a:solidFill>
                <a:latin typeface="Calibri"/>
              </a:rPr>
              <a:t>Revenue represents sales of the company from target market</a:t>
            </a:r>
          </a:p>
        </p:txBody>
      </p:sp>
      <p:sp>
        <p:nvSpPr>
          <p:cNvPr id="375" name="TextBox 37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76" name="Picture 375" descr="lock.png"/>
          <p:cNvPicPr>
            <a:picLocks noChangeAspect="1"/>
          </p:cNvPicPr>
          <p:nvPr/>
        </p:nvPicPr>
        <p:blipFill>
          <a:blip r:embed="rId4"/>
          <a:stretch>
            <a:fillRect/>
          </a:stretch>
        </p:blipFill>
        <p:spPr>
          <a:xfrm>
            <a:off x="1769213" y="2702524"/>
            <a:ext cx="128699" cy="187198"/>
          </a:xfrm>
          <a:prstGeom prst="rect">
            <a:avLst/>
          </a:prstGeom>
        </p:spPr>
      </p:pic>
      <p:pic>
        <p:nvPicPr>
          <p:cNvPr id="377" name="Picture 376" descr="lock.png"/>
          <p:cNvPicPr>
            <a:picLocks noChangeAspect="1"/>
          </p:cNvPicPr>
          <p:nvPr/>
        </p:nvPicPr>
        <p:blipFill>
          <a:blip r:embed="rId4"/>
          <a:stretch>
            <a:fillRect/>
          </a:stretch>
        </p:blipFill>
        <p:spPr>
          <a:xfrm>
            <a:off x="1769213" y="3031091"/>
            <a:ext cx="128699" cy="187198"/>
          </a:xfrm>
          <a:prstGeom prst="rect">
            <a:avLst/>
          </a:prstGeom>
        </p:spPr>
      </p:pic>
      <p:pic>
        <p:nvPicPr>
          <p:cNvPr id="378" name="Picture 377" descr="lock.png"/>
          <p:cNvPicPr>
            <a:picLocks noChangeAspect="1"/>
          </p:cNvPicPr>
          <p:nvPr/>
        </p:nvPicPr>
        <p:blipFill>
          <a:blip r:embed="rId4"/>
          <a:stretch>
            <a:fillRect/>
          </a:stretch>
        </p:blipFill>
        <p:spPr>
          <a:xfrm>
            <a:off x="1769212" y="3560448"/>
            <a:ext cx="128699" cy="187198"/>
          </a:xfrm>
          <a:prstGeom prst="rect">
            <a:avLst/>
          </a:prstGeom>
        </p:spPr>
      </p:pic>
      <p:pic>
        <p:nvPicPr>
          <p:cNvPr id="379" name="Picture 378" descr="lock.png"/>
          <p:cNvPicPr>
            <a:picLocks noChangeAspect="1"/>
          </p:cNvPicPr>
          <p:nvPr/>
        </p:nvPicPr>
        <p:blipFill>
          <a:blip r:embed="rId4"/>
          <a:stretch>
            <a:fillRect/>
          </a:stretch>
        </p:blipFill>
        <p:spPr>
          <a:xfrm>
            <a:off x="2845538" y="2702524"/>
            <a:ext cx="128699" cy="187198"/>
          </a:xfrm>
          <a:prstGeom prst="rect">
            <a:avLst/>
          </a:prstGeom>
        </p:spPr>
      </p:pic>
      <p:pic>
        <p:nvPicPr>
          <p:cNvPr id="380" name="Picture 379" descr="lock.png"/>
          <p:cNvPicPr>
            <a:picLocks noChangeAspect="1"/>
          </p:cNvPicPr>
          <p:nvPr/>
        </p:nvPicPr>
        <p:blipFill>
          <a:blip r:embed="rId4"/>
          <a:stretch>
            <a:fillRect/>
          </a:stretch>
        </p:blipFill>
        <p:spPr>
          <a:xfrm>
            <a:off x="2845538" y="3031091"/>
            <a:ext cx="128699" cy="187198"/>
          </a:xfrm>
          <a:prstGeom prst="rect">
            <a:avLst/>
          </a:prstGeom>
        </p:spPr>
      </p:pic>
      <p:pic>
        <p:nvPicPr>
          <p:cNvPr id="381" name="Picture 380" descr="lock.png"/>
          <p:cNvPicPr>
            <a:picLocks noChangeAspect="1"/>
          </p:cNvPicPr>
          <p:nvPr/>
        </p:nvPicPr>
        <p:blipFill>
          <a:blip r:embed="rId4"/>
          <a:stretch>
            <a:fillRect/>
          </a:stretch>
        </p:blipFill>
        <p:spPr>
          <a:xfrm>
            <a:off x="2845538" y="3560448"/>
            <a:ext cx="128699" cy="187198"/>
          </a:xfrm>
          <a:prstGeom prst="rect">
            <a:avLst/>
          </a:prstGeom>
        </p:spPr>
      </p:pic>
      <p:pic>
        <p:nvPicPr>
          <p:cNvPr id="382" name="Picture 381" descr="lock.png"/>
          <p:cNvPicPr>
            <a:picLocks noChangeAspect="1"/>
          </p:cNvPicPr>
          <p:nvPr/>
        </p:nvPicPr>
        <p:blipFill>
          <a:blip r:embed="rId4"/>
          <a:stretch>
            <a:fillRect/>
          </a:stretch>
        </p:blipFill>
        <p:spPr>
          <a:xfrm>
            <a:off x="3921863" y="2702524"/>
            <a:ext cx="128699" cy="187198"/>
          </a:xfrm>
          <a:prstGeom prst="rect">
            <a:avLst/>
          </a:prstGeom>
        </p:spPr>
      </p:pic>
      <p:pic>
        <p:nvPicPr>
          <p:cNvPr id="383" name="Picture 382" descr="lock.png"/>
          <p:cNvPicPr>
            <a:picLocks noChangeAspect="1"/>
          </p:cNvPicPr>
          <p:nvPr/>
        </p:nvPicPr>
        <p:blipFill>
          <a:blip r:embed="rId4"/>
          <a:stretch>
            <a:fillRect/>
          </a:stretch>
        </p:blipFill>
        <p:spPr>
          <a:xfrm>
            <a:off x="3921863" y="3031091"/>
            <a:ext cx="128699" cy="187198"/>
          </a:xfrm>
          <a:prstGeom prst="rect">
            <a:avLst/>
          </a:prstGeom>
        </p:spPr>
      </p:pic>
      <p:pic>
        <p:nvPicPr>
          <p:cNvPr id="384" name="Picture 383" descr="lock.png"/>
          <p:cNvPicPr>
            <a:picLocks noChangeAspect="1"/>
          </p:cNvPicPr>
          <p:nvPr/>
        </p:nvPicPr>
        <p:blipFill>
          <a:blip r:embed="rId4"/>
          <a:stretch>
            <a:fillRect/>
          </a:stretch>
        </p:blipFill>
        <p:spPr>
          <a:xfrm>
            <a:off x="3921862" y="3560448"/>
            <a:ext cx="128699" cy="187198"/>
          </a:xfrm>
          <a:prstGeom prst="rect">
            <a:avLst/>
          </a:prstGeom>
        </p:spPr>
      </p:pic>
      <p:pic>
        <p:nvPicPr>
          <p:cNvPr id="385" name="Picture 384" descr="lock.png"/>
          <p:cNvPicPr>
            <a:picLocks noChangeAspect="1"/>
          </p:cNvPicPr>
          <p:nvPr/>
        </p:nvPicPr>
        <p:blipFill>
          <a:blip r:embed="rId4"/>
          <a:stretch>
            <a:fillRect/>
          </a:stretch>
        </p:blipFill>
        <p:spPr>
          <a:xfrm>
            <a:off x="4998188" y="2702524"/>
            <a:ext cx="128699" cy="187198"/>
          </a:xfrm>
          <a:prstGeom prst="rect">
            <a:avLst/>
          </a:prstGeom>
        </p:spPr>
      </p:pic>
      <p:pic>
        <p:nvPicPr>
          <p:cNvPr id="386" name="Picture 385" descr="lock.png"/>
          <p:cNvPicPr>
            <a:picLocks noChangeAspect="1"/>
          </p:cNvPicPr>
          <p:nvPr/>
        </p:nvPicPr>
        <p:blipFill>
          <a:blip r:embed="rId4"/>
          <a:stretch>
            <a:fillRect/>
          </a:stretch>
        </p:blipFill>
        <p:spPr>
          <a:xfrm>
            <a:off x="4998188" y="3031091"/>
            <a:ext cx="128699" cy="187198"/>
          </a:xfrm>
          <a:prstGeom prst="rect">
            <a:avLst/>
          </a:prstGeom>
        </p:spPr>
      </p:pic>
      <p:pic>
        <p:nvPicPr>
          <p:cNvPr id="387" name="Picture 386" descr="lock.png"/>
          <p:cNvPicPr>
            <a:picLocks noChangeAspect="1"/>
          </p:cNvPicPr>
          <p:nvPr/>
        </p:nvPicPr>
        <p:blipFill>
          <a:blip r:embed="rId4"/>
          <a:stretch>
            <a:fillRect/>
          </a:stretch>
        </p:blipFill>
        <p:spPr>
          <a:xfrm>
            <a:off x="4998188" y="3560448"/>
            <a:ext cx="128699" cy="187198"/>
          </a:xfrm>
          <a:prstGeom prst="rect">
            <a:avLst/>
          </a:prstGeom>
        </p:spPr>
      </p:pic>
      <p:pic>
        <p:nvPicPr>
          <p:cNvPr id="388" name="Picture 387" descr="lock.png"/>
          <p:cNvPicPr>
            <a:picLocks noChangeAspect="1"/>
          </p:cNvPicPr>
          <p:nvPr/>
        </p:nvPicPr>
        <p:blipFill>
          <a:blip r:embed="rId4"/>
          <a:stretch>
            <a:fillRect/>
          </a:stretch>
        </p:blipFill>
        <p:spPr>
          <a:xfrm>
            <a:off x="6074513" y="2702524"/>
            <a:ext cx="128699" cy="187198"/>
          </a:xfrm>
          <a:prstGeom prst="rect">
            <a:avLst/>
          </a:prstGeom>
        </p:spPr>
      </p:pic>
      <p:pic>
        <p:nvPicPr>
          <p:cNvPr id="389" name="Picture 388" descr="lock.png"/>
          <p:cNvPicPr>
            <a:picLocks noChangeAspect="1"/>
          </p:cNvPicPr>
          <p:nvPr/>
        </p:nvPicPr>
        <p:blipFill>
          <a:blip r:embed="rId4"/>
          <a:stretch>
            <a:fillRect/>
          </a:stretch>
        </p:blipFill>
        <p:spPr>
          <a:xfrm>
            <a:off x="6074513" y="3031091"/>
            <a:ext cx="128699" cy="187198"/>
          </a:xfrm>
          <a:prstGeom prst="rect">
            <a:avLst/>
          </a:prstGeom>
        </p:spPr>
      </p:pic>
      <p:pic>
        <p:nvPicPr>
          <p:cNvPr id="390" name="Picture 389" descr="lock.png"/>
          <p:cNvPicPr>
            <a:picLocks noChangeAspect="1"/>
          </p:cNvPicPr>
          <p:nvPr/>
        </p:nvPicPr>
        <p:blipFill>
          <a:blip r:embed="rId4"/>
          <a:stretch>
            <a:fillRect/>
          </a:stretch>
        </p:blipFill>
        <p:spPr>
          <a:xfrm>
            <a:off x="6074512" y="3560448"/>
            <a:ext cx="128699" cy="187198"/>
          </a:xfrm>
          <a:prstGeom prst="rect">
            <a:avLst/>
          </a:prstGeom>
        </p:spPr>
      </p:pic>
      <p:pic>
        <p:nvPicPr>
          <p:cNvPr id="391" name="Picture 390" descr="lock.png"/>
          <p:cNvPicPr>
            <a:picLocks noChangeAspect="1"/>
          </p:cNvPicPr>
          <p:nvPr/>
        </p:nvPicPr>
        <p:blipFill>
          <a:blip r:embed="rId4"/>
          <a:stretch>
            <a:fillRect/>
          </a:stretch>
        </p:blipFill>
        <p:spPr>
          <a:xfrm>
            <a:off x="7150838" y="2702524"/>
            <a:ext cx="128699" cy="187198"/>
          </a:xfrm>
          <a:prstGeom prst="rect">
            <a:avLst/>
          </a:prstGeom>
        </p:spPr>
      </p:pic>
      <p:pic>
        <p:nvPicPr>
          <p:cNvPr id="392" name="Picture 391" descr="lock.png"/>
          <p:cNvPicPr>
            <a:picLocks noChangeAspect="1"/>
          </p:cNvPicPr>
          <p:nvPr/>
        </p:nvPicPr>
        <p:blipFill>
          <a:blip r:embed="rId4"/>
          <a:stretch>
            <a:fillRect/>
          </a:stretch>
        </p:blipFill>
        <p:spPr>
          <a:xfrm>
            <a:off x="7150838" y="3031091"/>
            <a:ext cx="128699" cy="187198"/>
          </a:xfrm>
          <a:prstGeom prst="rect">
            <a:avLst/>
          </a:prstGeom>
        </p:spPr>
      </p:pic>
      <p:pic>
        <p:nvPicPr>
          <p:cNvPr id="393" name="Picture 392" descr="lock.png"/>
          <p:cNvPicPr>
            <a:picLocks noChangeAspect="1"/>
          </p:cNvPicPr>
          <p:nvPr/>
        </p:nvPicPr>
        <p:blipFill>
          <a:blip r:embed="rId4"/>
          <a:stretch>
            <a:fillRect/>
          </a:stretch>
        </p:blipFill>
        <p:spPr>
          <a:xfrm>
            <a:off x="7150838" y="3560448"/>
            <a:ext cx="128699" cy="187198"/>
          </a:xfrm>
          <a:prstGeom prst="rect">
            <a:avLst/>
          </a:prstGeom>
        </p:spPr>
      </p:pic>
      <p:pic>
        <p:nvPicPr>
          <p:cNvPr id="394" name="Picture 393" descr="lock.png"/>
          <p:cNvPicPr>
            <a:picLocks noChangeAspect="1"/>
          </p:cNvPicPr>
          <p:nvPr/>
        </p:nvPicPr>
        <p:blipFill>
          <a:blip r:embed="rId4"/>
          <a:stretch>
            <a:fillRect/>
          </a:stretch>
        </p:blipFill>
        <p:spPr>
          <a:xfrm>
            <a:off x="8227163" y="2702524"/>
            <a:ext cx="128699" cy="187198"/>
          </a:xfrm>
          <a:prstGeom prst="rect">
            <a:avLst/>
          </a:prstGeom>
        </p:spPr>
      </p:pic>
      <p:pic>
        <p:nvPicPr>
          <p:cNvPr id="395" name="Picture 394" descr="lock.png"/>
          <p:cNvPicPr>
            <a:picLocks noChangeAspect="1"/>
          </p:cNvPicPr>
          <p:nvPr/>
        </p:nvPicPr>
        <p:blipFill>
          <a:blip r:embed="rId4"/>
          <a:stretch>
            <a:fillRect/>
          </a:stretch>
        </p:blipFill>
        <p:spPr>
          <a:xfrm>
            <a:off x="8227163" y="3031091"/>
            <a:ext cx="128699" cy="187198"/>
          </a:xfrm>
          <a:prstGeom prst="rect">
            <a:avLst/>
          </a:prstGeom>
        </p:spPr>
      </p:pic>
      <p:pic>
        <p:nvPicPr>
          <p:cNvPr id="396" name="Picture 395" descr="lock.png"/>
          <p:cNvPicPr>
            <a:picLocks noChangeAspect="1"/>
          </p:cNvPicPr>
          <p:nvPr/>
        </p:nvPicPr>
        <p:blipFill>
          <a:blip r:embed="rId4"/>
          <a:stretch>
            <a:fillRect/>
          </a:stretch>
        </p:blipFill>
        <p:spPr>
          <a:xfrm>
            <a:off x="8227162" y="3560448"/>
            <a:ext cx="128699" cy="187198"/>
          </a:xfrm>
          <a:prstGeom prst="rect">
            <a:avLst/>
          </a:prstGeom>
        </p:spPr>
      </p:pic>
      <p:pic>
        <p:nvPicPr>
          <p:cNvPr id="397" name="Picture 396" descr="lock.png"/>
          <p:cNvPicPr>
            <a:picLocks noChangeAspect="1"/>
          </p:cNvPicPr>
          <p:nvPr/>
        </p:nvPicPr>
        <p:blipFill>
          <a:blip r:embed="rId4"/>
          <a:stretch>
            <a:fillRect/>
          </a:stretch>
        </p:blipFill>
        <p:spPr>
          <a:xfrm>
            <a:off x="9303488" y="2702524"/>
            <a:ext cx="128699" cy="187198"/>
          </a:xfrm>
          <a:prstGeom prst="rect">
            <a:avLst/>
          </a:prstGeom>
        </p:spPr>
      </p:pic>
      <p:pic>
        <p:nvPicPr>
          <p:cNvPr id="398" name="Picture 397" descr="lock.png"/>
          <p:cNvPicPr>
            <a:picLocks noChangeAspect="1"/>
          </p:cNvPicPr>
          <p:nvPr/>
        </p:nvPicPr>
        <p:blipFill>
          <a:blip r:embed="rId4"/>
          <a:stretch>
            <a:fillRect/>
          </a:stretch>
        </p:blipFill>
        <p:spPr>
          <a:xfrm>
            <a:off x="9303488" y="3031091"/>
            <a:ext cx="128699" cy="187198"/>
          </a:xfrm>
          <a:prstGeom prst="rect">
            <a:avLst/>
          </a:prstGeom>
        </p:spPr>
      </p:pic>
      <p:pic>
        <p:nvPicPr>
          <p:cNvPr id="399" name="Picture 398" descr="lock.png"/>
          <p:cNvPicPr>
            <a:picLocks noChangeAspect="1"/>
          </p:cNvPicPr>
          <p:nvPr/>
        </p:nvPicPr>
        <p:blipFill>
          <a:blip r:embed="rId4"/>
          <a:stretch>
            <a:fillRect/>
          </a:stretch>
        </p:blipFill>
        <p:spPr>
          <a:xfrm>
            <a:off x="9303488" y="3560448"/>
            <a:ext cx="128699" cy="187198"/>
          </a:xfrm>
          <a:prstGeom prst="rect">
            <a:avLst/>
          </a:prstGeom>
        </p:spPr>
      </p:pic>
      <p:pic>
        <p:nvPicPr>
          <p:cNvPr id="400" name="Picture 399" descr="lock.png"/>
          <p:cNvPicPr>
            <a:picLocks noChangeAspect="1"/>
          </p:cNvPicPr>
          <p:nvPr/>
        </p:nvPicPr>
        <p:blipFill>
          <a:blip r:embed="rId4"/>
          <a:stretch>
            <a:fillRect/>
          </a:stretch>
        </p:blipFill>
        <p:spPr>
          <a:xfrm>
            <a:off x="10379813" y="2702524"/>
            <a:ext cx="128699" cy="187198"/>
          </a:xfrm>
          <a:prstGeom prst="rect">
            <a:avLst/>
          </a:prstGeom>
        </p:spPr>
      </p:pic>
      <p:pic>
        <p:nvPicPr>
          <p:cNvPr id="401" name="Picture 400" descr="lock.png"/>
          <p:cNvPicPr>
            <a:picLocks noChangeAspect="1"/>
          </p:cNvPicPr>
          <p:nvPr/>
        </p:nvPicPr>
        <p:blipFill>
          <a:blip r:embed="rId4"/>
          <a:stretch>
            <a:fillRect/>
          </a:stretch>
        </p:blipFill>
        <p:spPr>
          <a:xfrm>
            <a:off x="10379813" y="3031091"/>
            <a:ext cx="128699" cy="187198"/>
          </a:xfrm>
          <a:prstGeom prst="rect">
            <a:avLst/>
          </a:prstGeom>
        </p:spPr>
      </p:pic>
      <p:pic>
        <p:nvPicPr>
          <p:cNvPr id="402" name="Picture 401" descr="lock.png"/>
          <p:cNvPicPr>
            <a:picLocks noChangeAspect="1"/>
          </p:cNvPicPr>
          <p:nvPr/>
        </p:nvPicPr>
        <p:blipFill>
          <a:blip r:embed="rId4"/>
          <a:stretch>
            <a:fillRect/>
          </a:stretch>
        </p:blipFill>
        <p:spPr>
          <a:xfrm>
            <a:off x="10379812" y="3560448"/>
            <a:ext cx="128699" cy="187198"/>
          </a:xfrm>
          <a:prstGeom prst="rect">
            <a:avLst/>
          </a:prstGeom>
        </p:spPr>
      </p:pic>
      <p:pic>
        <p:nvPicPr>
          <p:cNvPr id="403" name="Picture 402" descr="lock.png"/>
          <p:cNvPicPr>
            <a:picLocks noChangeAspect="1"/>
          </p:cNvPicPr>
          <p:nvPr/>
        </p:nvPicPr>
        <p:blipFill>
          <a:blip r:embed="rId4"/>
          <a:stretch>
            <a:fillRect/>
          </a:stretch>
        </p:blipFill>
        <p:spPr>
          <a:xfrm>
            <a:off x="11456138" y="2702524"/>
            <a:ext cx="128699" cy="187198"/>
          </a:xfrm>
          <a:prstGeom prst="rect">
            <a:avLst/>
          </a:prstGeom>
        </p:spPr>
      </p:pic>
      <p:pic>
        <p:nvPicPr>
          <p:cNvPr id="404" name="Picture 403" descr="lock.png"/>
          <p:cNvPicPr>
            <a:picLocks noChangeAspect="1"/>
          </p:cNvPicPr>
          <p:nvPr/>
        </p:nvPicPr>
        <p:blipFill>
          <a:blip r:embed="rId4"/>
          <a:stretch>
            <a:fillRect/>
          </a:stretch>
        </p:blipFill>
        <p:spPr>
          <a:xfrm>
            <a:off x="11456138" y="3031091"/>
            <a:ext cx="128699" cy="187198"/>
          </a:xfrm>
          <a:prstGeom prst="rect">
            <a:avLst/>
          </a:prstGeom>
        </p:spPr>
      </p:pic>
      <p:pic>
        <p:nvPicPr>
          <p:cNvPr id="405" name="Picture 404" descr="lock.png"/>
          <p:cNvPicPr>
            <a:picLocks noChangeAspect="1"/>
          </p:cNvPicPr>
          <p:nvPr/>
        </p:nvPicPr>
        <p:blipFill>
          <a:blip r:embed="rId4"/>
          <a:stretch>
            <a:fillRect/>
          </a:stretch>
        </p:blipFill>
        <p:spPr>
          <a:xfrm>
            <a:off x="11456138" y="3560448"/>
            <a:ext cx="128699" cy="187198"/>
          </a:xfrm>
          <a:prstGeom prst="rect">
            <a:avLst/>
          </a:prstGeom>
        </p:spPr>
      </p:pic>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2">
            <a:extLst>
              <a:ext uri="{FF2B5EF4-FFF2-40B4-BE49-F238E27FC236}">
                <a16:creationId xmlns:a16="http://schemas.microsoft.com/office/drawing/2014/main" id="{CCC9DC92-CC39-269D-F4F6-1BCD7363F9A2}"/>
              </a:ext>
            </a:extLst>
          </p:cNvPr>
          <p:cNvSpPr/>
          <p:nvPr/>
        </p:nvSpPr>
        <p:spPr>
          <a:xfrm>
            <a:off x="0" y="0"/>
            <a:ext cx="12192000" cy="6858000"/>
          </a:xfrm>
          <a:prstGeom prst="rect">
            <a:avLst/>
          </a:prstGeom>
          <a:solidFill>
            <a:srgbClr val="FFFFFF"/>
          </a:solidFill>
          <a:ln>
            <a:solidFill>
              <a:srgbClr val="FFFFFF"/>
            </a:solidFill>
          </a:ln>
        </p:spPr>
        <p:style>
          <a:lnRef idx="2">
            <a:srgbClr val="2A5F8F">
              <a:shade val="15000"/>
            </a:srgbClr>
          </a:lnRef>
          <a:fillRef idx="1">
            <a:srgbClr val="2A5F8F"/>
          </a:fillRef>
          <a:effectRef idx="0">
            <a:srgbClr val="2A5F8F"/>
          </a:effectRef>
          <a:fontRef idx="minor">
            <a:srgbClr val="FFFFFF"/>
          </a:fontRef>
        </p:style>
        <p:txBody>
          <a:bodyPr rtlCol="0" anchor="ctr"/>
          <a:lstStyle/>
          <a:p>
            <a:pPr algn="ctr"/>
            <a:endParaRPr lang="en-US"/>
          </a:p>
        </p:txBody>
      </p:sp>
      <p:grpSp>
        <p:nvGrpSpPr>
          <p:cNvPr id="4" name="Group 23">
            <a:extLst>
              <a:ext uri="{FF2B5EF4-FFF2-40B4-BE49-F238E27FC236}">
                <a16:creationId xmlns:a16="http://schemas.microsoft.com/office/drawing/2014/main" id="{85B8B5CB-8306-A876-1A56-F5D391EBE3A2}"/>
              </a:ext>
            </a:extLst>
          </p:cNvPr>
          <p:cNvGrpSpPr>
            <a:grpSpLocks/>
          </p:cNvGrpSpPr>
          <p:nvPr/>
        </p:nvGrpSpPr>
        <p:grpSpPr bwMode="auto">
          <a:xfrm>
            <a:off x="152400" y="164419"/>
            <a:ext cx="12039600" cy="6021387"/>
            <a:chOff x="76010" y="229820"/>
            <a:chExt cx="12039981" cy="6021526"/>
          </a:xfrm>
        </p:grpSpPr>
        <p:sp>
          <p:nvSpPr>
            <p:cNvPr id="5" name="Rectangle 22">
              <a:extLst>
                <a:ext uri="{FF2B5EF4-FFF2-40B4-BE49-F238E27FC236}">
                  <a16:creationId xmlns:a16="http://schemas.microsoft.com/office/drawing/2014/main" id="{899C401F-7B85-B769-45BD-852117B2EFA8}"/>
                </a:ext>
              </a:extLst>
            </p:cNvPr>
            <p:cNvSpPr>
              <a:spLocks noChangeArrowheads="1"/>
            </p:cNvSpPr>
            <p:nvPr/>
          </p:nvSpPr>
          <p:spPr bwMode="auto">
            <a:xfrm>
              <a:off x="4523037" y="5943569"/>
              <a:ext cx="31459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tabLst>
                  <a:tab pos="930275" algn="l"/>
                </a:tabLst>
                <a:defRPr>
                  <a:solidFill>
                    <a:srgbClr val="000000"/>
                  </a:solidFill>
                  <a:latin typeface="Arial" panose="020B0604020202020204" pitchFamily="34" charset="0"/>
                  <a:cs typeface="Arial" panose="020B0604020202020204" pitchFamily="34" charset="0"/>
                </a:defRPr>
              </a:lvl1pPr>
              <a:lvl2pPr marL="742950" indent="-285750">
                <a:tabLst>
                  <a:tab pos="930275" algn="l"/>
                </a:tabLst>
                <a:defRPr>
                  <a:solidFill>
                    <a:srgbClr val="000000"/>
                  </a:solidFill>
                  <a:latin typeface="Arial" panose="020B0604020202020204" pitchFamily="34" charset="0"/>
                  <a:cs typeface="Arial" panose="020B0604020202020204" pitchFamily="34" charset="0"/>
                </a:defRPr>
              </a:lvl2pPr>
              <a:lvl3pPr marL="1143000" indent="-228600">
                <a:tabLst>
                  <a:tab pos="930275" algn="l"/>
                </a:tabLst>
                <a:defRPr>
                  <a:solidFill>
                    <a:srgbClr val="000000"/>
                  </a:solidFill>
                  <a:latin typeface="Arial" panose="020B0604020202020204" pitchFamily="34" charset="0"/>
                  <a:cs typeface="Arial" panose="020B0604020202020204" pitchFamily="34" charset="0"/>
                </a:defRPr>
              </a:lvl3pPr>
              <a:lvl4pPr marL="1600200" indent="-228600">
                <a:tabLst>
                  <a:tab pos="930275" algn="l"/>
                </a:tabLst>
                <a:defRPr>
                  <a:solidFill>
                    <a:srgbClr val="000000"/>
                  </a:solidFill>
                  <a:latin typeface="Arial" panose="020B0604020202020204" pitchFamily="34" charset="0"/>
                  <a:cs typeface="Arial" panose="020B0604020202020204" pitchFamily="34" charset="0"/>
                </a:defRPr>
              </a:lvl4pPr>
              <a:lvl5pPr marL="2057400" indent="-228600">
                <a:tabLst>
                  <a:tab pos="930275" algn="l"/>
                </a:tabLst>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9pPr>
            </a:lstStyle>
            <a:p>
              <a:pPr algn="ctr">
                <a:spcBef>
                  <a:spcPts val="200"/>
                </a:spcBef>
                <a:spcAft>
                  <a:spcPts val="200"/>
                </a:spcAft>
              </a:pPr>
              <a:r>
                <a:rPr lang="en-GB" altLang="en-US" sz="1400" b="1">
                  <a:ea typeface="MS PGothic" panose="020B0600070205080204" pitchFamily="34" charset="-128"/>
                </a:rPr>
                <a:t>Email: sales@futuremarketinsights.com</a:t>
              </a:r>
            </a:p>
          </p:txBody>
        </p:sp>
        <p:grpSp>
          <p:nvGrpSpPr>
            <p:cNvPr id="6" name="Group 21">
              <a:extLst>
                <a:ext uri="{FF2B5EF4-FFF2-40B4-BE49-F238E27FC236}">
                  <a16:creationId xmlns:a16="http://schemas.microsoft.com/office/drawing/2014/main" id="{5FBB3E24-8D41-905A-6BA3-11149D7E0A50}"/>
                </a:ext>
              </a:extLst>
            </p:cNvPr>
            <p:cNvGrpSpPr>
              <a:grpSpLocks/>
            </p:cNvGrpSpPr>
            <p:nvPr/>
          </p:nvGrpSpPr>
          <p:grpSpPr bwMode="auto">
            <a:xfrm>
              <a:off x="76010" y="229820"/>
              <a:ext cx="12039981" cy="5526596"/>
              <a:chOff x="76010" y="229820"/>
              <a:chExt cx="12039981" cy="5526596"/>
            </a:xfrm>
          </p:grpSpPr>
          <p:grpSp>
            <p:nvGrpSpPr>
              <p:cNvPr id="7" name="Group 24">
                <a:extLst>
                  <a:ext uri="{FF2B5EF4-FFF2-40B4-BE49-F238E27FC236}">
                    <a16:creationId xmlns:a16="http://schemas.microsoft.com/office/drawing/2014/main" id="{34C0848D-58FD-B698-603B-B8D2C7863B12}"/>
                  </a:ext>
                </a:extLst>
              </p:cNvPr>
              <p:cNvGrpSpPr>
                <a:grpSpLocks/>
              </p:cNvGrpSpPr>
              <p:nvPr/>
            </p:nvGrpSpPr>
            <p:grpSpPr bwMode="auto">
              <a:xfrm>
                <a:off x="76010" y="3513022"/>
                <a:ext cx="12039981" cy="54864"/>
                <a:chOff x="980685" y="3697699"/>
                <a:chExt cx="9950397" cy="54864"/>
              </a:xfrm>
            </p:grpSpPr>
            <p:sp>
              <p:nvSpPr>
                <p:cNvPr id="8" name="Rectangle 44">
                  <a:extLst>
                    <a:ext uri="{FF2B5EF4-FFF2-40B4-BE49-F238E27FC236}">
                      <a16:creationId xmlns:a16="http://schemas.microsoft.com/office/drawing/2014/main" id="{4C55A7B5-34B4-8F78-1AE4-63BEB5D835CF}"/>
                    </a:ext>
                  </a:extLst>
                </p:cNvPr>
                <p:cNvSpPr/>
                <p:nvPr/>
              </p:nvSpPr>
              <p:spPr>
                <a:xfrm>
                  <a:off x="980685" y="3697523"/>
                  <a:ext cx="3109499" cy="55563"/>
                </a:xfrm>
                <a:prstGeom prst="rect">
                  <a:avLst/>
                </a:prstGeom>
                <a:solidFill>
                  <a:srgbClr val="92C73E"/>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sp>
              <p:nvSpPr>
                <p:cNvPr id="9" name="Rectangle 45">
                  <a:extLst>
                    <a:ext uri="{FF2B5EF4-FFF2-40B4-BE49-F238E27FC236}">
                      <a16:creationId xmlns:a16="http://schemas.microsoft.com/office/drawing/2014/main" id="{F34EF18C-34C1-6B37-6F48-1B3AC01098EE}"/>
                    </a:ext>
                  </a:extLst>
                </p:cNvPr>
                <p:cNvSpPr/>
                <p:nvPr/>
              </p:nvSpPr>
              <p:spPr>
                <a:xfrm>
                  <a:off x="4401134" y="3697523"/>
                  <a:ext cx="3109499" cy="55563"/>
                </a:xfrm>
                <a:prstGeom prst="rect">
                  <a:avLst/>
                </a:prstGeom>
                <a:solidFill>
                  <a:srgbClr val="EF5123"/>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sp>
              <p:nvSpPr>
                <p:cNvPr id="10" name="Rectangle 46">
                  <a:extLst>
                    <a:ext uri="{FF2B5EF4-FFF2-40B4-BE49-F238E27FC236}">
                      <a16:creationId xmlns:a16="http://schemas.microsoft.com/office/drawing/2014/main" id="{1DC20229-C001-A2E1-EEF4-879BB49DF54C}"/>
                    </a:ext>
                  </a:extLst>
                </p:cNvPr>
                <p:cNvSpPr/>
                <p:nvPr/>
              </p:nvSpPr>
              <p:spPr>
                <a:xfrm>
                  <a:off x="7821583" y="3697523"/>
                  <a:ext cx="3109499" cy="55563"/>
                </a:xfrm>
                <a:prstGeom prst="rect">
                  <a:avLst/>
                </a:prstGeom>
                <a:solidFill>
                  <a:srgbClr val="8F288C"/>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grpSp>
          <p:grpSp>
            <p:nvGrpSpPr>
              <p:cNvPr id="11" name="Group 7">
                <a:extLst>
                  <a:ext uri="{FF2B5EF4-FFF2-40B4-BE49-F238E27FC236}">
                    <a16:creationId xmlns:a16="http://schemas.microsoft.com/office/drawing/2014/main" id="{F5B19A97-FB1F-FD32-44EF-0C72BC8DD69D}"/>
                  </a:ext>
                </a:extLst>
              </p:cNvPr>
              <p:cNvGrpSpPr>
                <a:grpSpLocks/>
              </p:cNvGrpSpPr>
              <p:nvPr/>
            </p:nvGrpSpPr>
            <p:grpSpPr bwMode="auto">
              <a:xfrm>
                <a:off x="249774" y="3716063"/>
                <a:ext cx="11668690" cy="2040353"/>
                <a:chOff x="249774" y="3716063"/>
                <a:chExt cx="11668690" cy="2040353"/>
              </a:xfrm>
            </p:grpSpPr>
            <p:cxnSp>
              <p:nvCxnSpPr>
                <p:cNvPr id="12" name="Straight Connector 13">
                  <a:extLst>
                    <a:ext uri="{FF2B5EF4-FFF2-40B4-BE49-F238E27FC236}">
                      <a16:creationId xmlns:a16="http://schemas.microsoft.com/office/drawing/2014/main" id="{6212A6C9-95CF-65EB-6160-29A1FA8799D8}"/>
                    </a:ext>
                  </a:extLst>
                </p:cNvPr>
                <p:cNvCxnSpPr/>
                <p:nvPr/>
              </p:nvCxnSpPr>
              <p:spPr>
                <a:xfrm>
                  <a:off x="2973289"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cxnSp>
              <p:nvCxnSpPr>
                <p:cNvPr id="13" name="Straight Connector 14">
                  <a:extLst>
                    <a:ext uri="{FF2B5EF4-FFF2-40B4-BE49-F238E27FC236}">
                      <a16:creationId xmlns:a16="http://schemas.microsoft.com/office/drawing/2014/main" id="{5569CE85-C66C-AE72-E1E5-D22A37A01501}"/>
                    </a:ext>
                  </a:extLst>
                </p:cNvPr>
                <p:cNvCxnSpPr/>
                <p:nvPr/>
              </p:nvCxnSpPr>
              <p:spPr>
                <a:xfrm>
                  <a:off x="6226179"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cxnSp>
              <p:nvCxnSpPr>
                <p:cNvPr id="14" name="Straight Connector 15">
                  <a:extLst>
                    <a:ext uri="{FF2B5EF4-FFF2-40B4-BE49-F238E27FC236}">
                      <a16:creationId xmlns:a16="http://schemas.microsoft.com/office/drawing/2014/main" id="{7FFA3833-E6A1-2A12-9739-19E5C6B0D04D}"/>
                    </a:ext>
                  </a:extLst>
                </p:cNvPr>
                <p:cNvCxnSpPr/>
                <p:nvPr/>
              </p:nvCxnSpPr>
              <p:spPr>
                <a:xfrm>
                  <a:off x="9426680"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grpSp>
              <p:nvGrpSpPr>
                <p:cNvPr id="15" name="Group 3">
                  <a:extLst>
                    <a:ext uri="{FF2B5EF4-FFF2-40B4-BE49-F238E27FC236}">
                      <a16:creationId xmlns:a16="http://schemas.microsoft.com/office/drawing/2014/main" id="{D6026827-3752-097F-C4B9-B5B0A33C1EE7}"/>
                    </a:ext>
                  </a:extLst>
                </p:cNvPr>
                <p:cNvGrpSpPr>
                  <a:grpSpLocks/>
                </p:cNvGrpSpPr>
                <p:nvPr/>
              </p:nvGrpSpPr>
              <p:grpSpPr bwMode="auto">
                <a:xfrm>
                  <a:off x="6746181" y="3731157"/>
                  <a:ext cx="2280186" cy="1706483"/>
                  <a:chOff x="6498583" y="3532655"/>
                  <a:chExt cx="2280186" cy="1706483"/>
                </a:xfrm>
              </p:grpSpPr>
              <p:grpSp>
                <p:nvGrpSpPr>
                  <p:cNvPr id="16" name="Group 28">
                    <a:extLst>
                      <a:ext uri="{FF2B5EF4-FFF2-40B4-BE49-F238E27FC236}">
                        <a16:creationId xmlns:a16="http://schemas.microsoft.com/office/drawing/2014/main" id="{F6A97133-09A9-4882-223C-0670F6DFD7E0}"/>
                      </a:ext>
                    </a:extLst>
                  </p:cNvPr>
                  <p:cNvGrpSpPr>
                    <a:grpSpLocks/>
                  </p:cNvGrpSpPr>
                  <p:nvPr/>
                </p:nvGrpSpPr>
                <p:grpSpPr bwMode="auto">
                  <a:xfrm>
                    <a:off x="6498583" y="3653110"/>
                    <a:ext cx="2280186" cy="1586028"/>
                    <a:chOff x="6373418" y="3837787"/>
                    <a:chExt cx="2280186" cy="1586028"/>
                  </a:xfrm>
                </p:grpSpPr>
                <p:sp>
                  <p:nvSpPr>
                    <p:cNvPr id="17" name="TextBox 39">
                      <a:extLst>
                        <a:ext uri="{FF2B5EF4-FFF2-40B4-BE49-F238E27FC236}">
                          <a16:creationId xmlns:a16="http://schemas.microsoft.com/office/drawing/2014/main" id="{46D75380-0311-71C0-CC91-426529CAAF89}"/>
                        </a:ext>
                      </a:extLst>
                    </p:cNvPr>
                    <p:cNvSpPr txBox="1">
                      <a:spLocks noChangeArrowheads="1"/>
                    </p:cNvSpPr>
                    <p:nvPr/>
                  </p:nvSpPr>
                  <p:spPr bwMode="auto">
                    <a:xfrm>
                      <a:off x="6734296" y="3837787"/>
                      <a:ext cx="19193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FF4500"/>
                          </a:solidFill>
                        </a:rPr>
                        <a:t>Middle East &amp; Africa</a:t>
                      </a:r>
                    </a:p>
                  </p:txBody>
                </p:sp>
                <p:sp>
                  <p:nvSpPr>
                    <p:cNvPr id="18" name="TextBox 42">
                      <a:extLst>
                        <a:ext uri="{FF2B5EF4-FFF2-40B4-BE49-F238E27FC236}">
                          <a16:creationId xmlns:a16="http://schemas.microsoft.com/office/drawing/2014/main" id="{5809E9B9-E741-68AD-D217-E199E00794EE}"/>
                        </a:ext>
                      </a:extLst>
                    </p:cNvPr>
                    <p:cNvSpPr txBox="1"/>
                    <p:nvPr/>
                  </p:nvSpPr>
                  <p:spPr>
                    <a:xfrm>
                      <a:off x="6374132" y="4322952"/>
                      <a:ext cx="1760594" cy="306395"/>
                    </a:xfrm>
                    <a:prstGeom prst="rect">
                      <a:avLst/>
                    </a:prstGeom>
                    <a:noFill/>
                  </p:spPr>
                  <p:txBody>
                    <a:bodyPr wrap="none">
                      <a:spAutoFit/>
                    </a:bodyPr>
                    <a:lstStyle/>
                    <a:p>
                      <a:pPr>
                        <a:defRPr/>
                      </a:pPr>
                      <a:r>
                        <a:rPr lang="en-IN" sz="1400" b="1" dirty="0">
                          <a:solidFill>
                            <a:srgbClr val="F8F8F8">
                              <a:lumMod val="25000"/>
                            </a:srgbClr>
                          </a:solidFill>
                        </a:rPr>
                        <a:t>Market Access DMCC</a:t>
                      </a:r>
                    </a:p>
                  </p:txBody>
                </p:sp>
                <p:sp>
                  <p:nvSpPr>
                    <p:cNvPr id="19" name="TextBox 41">
                      <a:extLst>
                        <a:ext uri="{FF2B5EF4-FFF2-40B4-BE49-F238E27FC236}">
                          <a16:creationId xmlns:a16="http://schemas.microsoft.com/office/drawing/2014/main" id="{9B546961-C861-56A8-7E65-8596A932CE67}"/>
                        </a:ext>
                      </a:extLst>
                    </p:cNvPr>
                    <p:cNvSpPr txBox="1">
                      <a:spLocks noChangeArrowheads="1"/>
                    </p:cNvSpPr>
                    <p:nvPr/>
                  </p:nvSpPr>
                  <p:spPr bwMode="auto">
                    <a:xfrm>
                      <a:off x="6373418" y="4592818"/>
                      <a:ext cx="212314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1602-6 Jumeirah Bay X2 Tower,</a:t>
                      </a:r>
                    </a:p>
                    <a:p>
                      <a:r>
                        <a:rPr lang="en-US" altLang="en-US" sz="1200"/>
                        <a:t>Plot No: JLT-PH2-X2A,</a:t>
                      </a:r>
                    </a:p>
                    <a:p>
                      <a:r>
                        <a:rPr lang="en-US" altLang="en-US" sz="1200"/>
                        <a:t>Jumeirah Lakes Towers, Dubai,</a:t>
                      </a:r>
                    </a:p>
                    <a:p>
                      <a:r>
                        <a:rPr lang="en-US" altLang="en-US" sz="1200"/>
                        <a:t>United Arab Emirates</a:t>
                      </a:r>
                      <a:endParaRPr lang="en-IN" altLang="en-US" sz="1200"/>
                    </a:p>
                  </p:txBody>
                </p:sp>
              </p:grpSp>
              <p:pic>
                <p:nvPicPr>
                  <p:cNvPr id="20" name="Picture 40">
                    <a:extLst>
                      <a:ext uri="{FF2B5EF4-FFF2-40B4-BE49-F238E27FC236}">
                        <a16:creationId xmlns:a16="http://schemas.microsoft.com/office/drawing/2014/main" id="{5156A16E-B887-4177-3106-696D2F06FC26}"/>
                      </a:ext>
                    </a:extLst>
                  </p:cNvPr>
                  <p:cNvPicPr>
                    <a:picLocks noChangeAspect="1"/>
                  </p:cNvPicPr>
                  <p:nvPr/>
                </p:nvPicPr>
                <p:blipFill>
                  <a:blip r:embed="rId2">
                    <a:duotone>
                      <a:srgbClr val="A35313">
                        <a:shade val="45000"/>
                        <a:satMod val="135000"/>
                      </a:srgbClr>
                      <a:prstClr val="white"/>
                    </a:duotone>
                  </a:blip>
                  <a:stretch>
                    <a:fillRect/>
                  </a:stretch>
                </p:blipFill>
                <p:spPr>
                  <a:xfrm>
                    <a:off x="6553299" y="3532655"/>
                    <a:ext cx="314753" cy="579465"/>
                  </a:xfrm>
                  <a:prstGeom prst="rect">
                    <a:avLst/>
                  </a:prstGeom>
                </p:spPr>
              </p:pic>
            </p:grpSp>
            <p:grpSp>
              <p:nvGrpSpPr>
                <p:cNvPr id="21" name="Group 5">
                  <a:extLst>
                    <a:ext uri="{FF2B5EF4-FFF2-40B4-BE49-F238E27FC236}">
                      <a16:creationId xmlns:a16="http://schemas.microsoft.com/office/drawing/2014/main" id="{2A4B2992-1262-B6DC-A65D-C0A800D496DF}"/>
                    </a:ext>
                  </a:extLst>
                </p:cNvPr>
                <p:cNvGrpSpPr>
                  <a:grpSpLocks/>
                </p:cNvGrpSpPr>
                <p:nvPr/>
              </p:nvGrpSpPr>
              <p:grpSpPr bwMode="auto">
                <a:xfrm>
                  <a:off x="3461337" y="3716063"/>
                  <a:ext cx="2276777" cy="2040353"/>
                  <a:chOff x="3837718" y="3645035"/>
                  <a:chExt cx="2276777" cy="2040353"/>
                </a:xfrm>
              </p:grpSpPr>
              <p:grpSp>
                <p:nvGrpSpPr>
                  <p:cNvPr id="22" name="Group 27">
                    <a:extLst>
                      <a:ext uri="{FF2B5EF4-FFF2-40B4-BE49-F238E27FC236}">
                        <a16:creationId xmlns:a16="http://schemas.microsoft.com/office/drawing/2014/main" id="{6828E551-2150-B3BA-D2CA-97B824FA8924}"/>
                      </a:ext>
                    </a:extLst>
                  </p:cNvPr>
                  <p:cNvGrpSpPr>
                    <a:grpSpLocks/>
                  </p:cNvGrpSpPr>
                  <p:nvPr/>
                </p:nvGrpSpPr>
                <p:grpSpPr bwMode="auto">
                  <a:xfrm>
                    <a:off x="3837718" y="3780584"/>
                    <a:ext cx="2276777" cy="1904804"/>
                    <a:chOff x="3358345" y="3965261"/>
                    <a:chExt cx="2276777" cy="1904804"/>
                  </a:xfrm>
                </p:grpSpPr>
                <p:sp>
                  <p:nvSpPr>
                    <p:cNvPr id="23" name="TextBox 42">
                      <a:extLst>
                        <a:ext uri="{FF2B5EF4-FFF2-40B4-BE49-F238E27FC236}">
                          <a16:creationId xmlns:a16="http://schemas.microsoft.com/office/drawing/2014/main" id="{A41A6F39-951D-AE17-5A44-85C21DFFF8C3}"/>
                        </a:ext>
                      </a:extLst>
                    </p:cNvPr>
                    <p:cNvSpPr txBox="1">
                      <a:spLocks noChangeArrowheads="1"/>
                    </p:cNvSpPr>
                    <p:nvPr/>
                  </p:nvSpPr>
                  <p:spPr bwMode="auto">
                    <a:xfrm>
                      <a:off x="3744196" y="3965261"/>
                      <a:ext cx="9705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048B42"/>
                          </a:solidFill>
                        </a:rPr>
                        <a:t>Americas</a:t>
                      </a:r>
                    </a:p>
                  </p:txBody>
                </p:sp>
                <p:sp>
                  <p:nvSpPr>
                    <p:cNvPr id="24" name="TextBox 36">
                      <a:extLst>
                        <a:ext uri="{FF2B5EF4-FFF2-40B4-BE49-F238E27FC236}">
                          <a16:creationId xmlns:a16="http://schemas.microsoft.com/office/drawing/2014/main" id="{40F1E73B-005C-8069-CCAA-3318246B265D}"/>
                        </a:ext>
                      </a:extLst>
                    </p:cNvPr>
                    <p:cNvSpPr txBox="1"/>
                    <p:nvPr/>
                  </p:nvSpPr>
                  <p:spPr>
                    <a:xfrm>
                      <a:off x="3357675" y="4448839"/>
                      <a:ext cx="1871722" cy="307982"/>
                    </a:xfrm>
                    <a:prstGeom prst="rect">
                      <a:avLst/>
                    </a:prstGeom>
                    <a:noFill/>
                  </p:spPr>
                  <p:txBody>
                    <a:bodyPr wrap="none">
                      <a:spAutoFit/>
                    </a:bodyPr>
                    <a:lstStyle/>
                    <a:p>
                      <a:pPr>
                        <a:defRPr/>
                      </a:pPr>
                      <a:r>
                        <a:rPr lang="en-IN" sz="1400" b="1" dirty="0">
                          <a:solidFill>
                            <a:srgbClr val="F8F8F8">
                              <a:lumMod val="25000"/>
                            </a:srgbClr>
                          </a:solidFill>
                        </a:rPr>
                        <a:t>Future Market Insights</a:t>
                      </a:r>
                    </a:p>
                  </p:txBody>
                </p:sp>
                <p:sp>
                  <p:nvSpPr>
                    <p:cNvPr id="25" name="TextBox 44">
                      <a:extLst>
                        <a:ext uri="{FF2B5EF4-FFF2-40B4-BE49-F238E27FC236}">
                          <a16:creationId xmlns:a16="http://schemas.microsoft.com/office/drawing/2014/main" id="{4ACA2C08-410D-CEED-63E0-EB4A1E0D76C3}"/>
                        </a:ext>
                      </a:extLst>
                    </p:cNvPr>
                    <p:cNvSpPr txBox="1">
                      <a:spLocks noChangeArrowheads="1"/>
                    </p:cNvSpPr>
                    <p:nvPr/>
                  </p:nvSpPr>
                  <p:spPr bwMode="auto">
                    <a:xfrm>
                      <a:off x="3358345" y="4720292"/>
                      <a:ext cx="227677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616 Corporate Way, Suite 2-9018,</a:t>
                      </a:r>
                    </a:p>
                    <a:p>
                      <a:r>
                        <a:rPr lang="en-US" altLang="en-US" sz="1200"/>
                        <a:t>Valley Cottage, NY 10989,</a:t>
                      </a:r>
                    </a:p>
                    <a:p>
                      <a:r>
                        <a:rPr lang="en-US" altLang="en-US" sz="1200"/>
                        <a:t>United States</a:t>
                      </a:r>
                      <a:endParaRPr lang="en-IN" altLang="en-US" sz="1200"/>
                    </a:p>
                  </p:txBody>
                </p:sp>
                <p:sp>
                  <p:nvSpPr>
                    <p:cNvPr id="26" name="TextBox 45">
                      <a:extLst>
                        <a:ext uri="{FF2B5EF4-FFF2-40B4-BE49-F238E27FC236}">
                          <a16:creationId xmlns:a16="http://schemas.microsoft.com/office/drawing/2014/main" id="{FE65EAAC-CE25-57B8-E88C-905CD3E8F924}"/>
                        </a:ext>
                      </a:extLst>
                    </p:cNvPr>
                    <p:cNvSpPr txBox="1">
                      <a:spLocks noChangeArrowheads="1"/>
                    </p:cNvSpPr>
                    <p:nvPr/>
                  </p:nvSpPr>
                  <p:spPr bwMode="auto">
                    <a:xfrm>
                      <a:off x="3358345" y="5593066"/>
                      <a:ext cx="14073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+1-347-918-3531</a:t>
                      </a:r>
                      <a:endParaRPr lang="en-IN" altLang="en-US" sz="1200"/>
                    </a:p>
                  </p:txBody>
                </p:sp>
              </p:grpSp>
              <p:pic>
                <p:nvPicPr>
                  <p:cNvPr id="27" name="Picture 34">
                    <a:extLst>
                      <a:ext uri="{FF2B5EF4-FFF2-40B4-BE49-F238E27FC236}">
                        <a16:creationId xmlns:a16="http://schemas.microsoft.com/office/drawing/2014/main" id="{AE4DE93F-AF7B-7477-A367-DD4AF96A40A2}"/>
                      </a:ext>
                    </a:extLst>
                  </p:cNvPr>
                  <p:cNvPicPr>
                    <a:picLocks noChangeAspect="1"/>
                  </p:cNvPicPr>
                  <p:nvPr/>
                </p:nvPicPr>
                <p:blipFill>
                  <a:blip r:embed="rId3">
                    <a:duotone>
                      <a:srgbClr val="008189">
                        <a:shade val="45000"/>
                        <a:satMod val="135000"/>
                      </a:srgbClr>
                      <a:prstClr val="white"/>
                    </a:duotone>
                  </a:blip>
                  <a:stretch>
                    <a:fillRect/>
                  </a:stretch>
                </p:blipFill>
                <p:spPr>
                  <a:xfrm>
                    <a:off x="3941302" y="3645035"/>
                    <a:ext cx="304826" cy="609653"/>
                  </a:xfrm>
                  <a:prstGeom prst="rect">
                    <a:avLst/>
                  </a:prstGeom>
                </p:spPr>
              </p:pic>
            </p:grpSp>
            <p:grpSp>
              <p:nvGrpSpPr>
                <p:cNvPr id="28" name="Group 6">
                  <a:extLst>
                    <a:ext uri="{FF2B5EF4-FFF2-40B4-BE49-F238E27FC236}">
                      <a16:creationId xmlns:a16="http://schemas.microsoft.com/office/drawing/2014/main" id="{190EABA1-B31E-3B09-B1F2-A13884B8AD17}"/>
                    </a:ext>
                  </a:extLst>
                </p:cNvPr>
                <p:cNvGrpSpPr>
                  <a:grpSpLocks/>
                </p:cNvGrpSpPr>
                <p:nvPr/>
              </p:nvGrpSpPr>
              <p:grpSpPr bwMode="auto">
                <a:xfrm>
                  <a:off x="249774" y="3783125"/>
                  <a:ext cx="2236703" cy="1973291"/>
                  <a:chOff x="1216927" y="3772923"/>
                  <a:chExt cx="2236703" cy="1973291"/>
                </a:xfrm>
              </p:grpSpPr>
              <p:grpSp>
                <p:nvGrpSpPr>
                  <p:cNvPr id="29" name="Group 25">
                    <a:extLst>
                      <a:ext uri="{FF2B5EF4-FFF2-40B4-BE49-F238E27FC236}">
                        <a16:creationId xmlns:a16="http://schemas.microsoft.com/office/drawing/2014/main" id="{A1A8DC19-AF5B-6C89-F2CD-2778F01B419C}"/>
                      </a:ext>
                    </a:extLst>
                  </p:cNvPr>
                  <p:cNvGrpSpPr>
                    <a:grpSpLocks/>
                  </p:cNvGrpSpPr>
                  <p:nvPr/>
                </p:nvGrpSpPr>
                <p:grpSpPr bwMode="auto">
                  <a:xfrm>
                    <a:off x="1216927" y="3841410"/>
                    <a:ext cx="2236703" cy="1904804"/>
                    <a:chOff x="343272" y="4026087"/>
                    <a:chExt cx="2236703" cy="1904804"/>
                  </a:xfrm>
                </p:grpSpPr>
                <p:sp>
                  <p:nvSpPr>
                    <p:cNvPr id="30" name="TextBox 29">
                      <a:extLst>
                        <a:ext uri="{FF2B5EF4-FFF2-40B4-BE49-F238E27FC236}">
                          <a16:creationId xmlns:a16="http://schemas.microsoft.com/office/drawing/2014/main" id="{C78C136C-FF65-10A5-69D0-6976A498591E}"/>
                        </a:ext>
                      </a:extLst>
                    </p:cNvPr>
                    <p:cNvSpPr txBox="1"/>
                    <p:nvPr/>
                  </p:nvSpPr>
                  <p:spPr>
                    <a:xfrm>
                      <a:off x="963283" y="4025467"/>
                      <a:ext cx="1347831" cy="338146"/>
                    </a:xfrm>
                    <a:prstGeom prst="rect">
                      <a:avLst/>
                    </a:prstGeom>
                    <a:noFill/>
                  </p:spPr>
                  <p:txBody>
                    <a:bodyPr wrap="none">
                      <a:spAutoFit/>
                    </a:bodyPr>
                    <a:lstStyle/>
                    <a:p>
                      <a:pPr>
                        <a:defRPr/>
                      </a:pPr>
                      <a:r>
                        <a:rPr lang="en-IN" sz="1600" b="1" dirty="0">
                          <a:solidFill>
                            <a:srgbClr val="2A5F8F">
                              <a:lumMod val="50000"/>
                            </a:srgbClr>
                          </a:solidFill>
                        </a:rPr>
                        <a:t>Headquarters</a:t>
                      </a:r>
                    </a:p>
                  </p:txBody>
                </p:sp>
                <p:sp>
                  <p:nvSpPr>
                    <p:cNvPr id="31" name="TextBox 30">
                      <a:extLst>
                        <a:ext uri="{FF2B5EF4-FFF2-40B4-BE49-F238E27FC236}">
                          <a16:creationId xmlns:a16="http://schemas.microsoft.com/office/drawing/2014/main" id="{5CFB6527-6D97-69B5-C71C-CC03EB68BBF7}"/>
                        </a:ext>
                      </a:extLst>
                    </p:cNvPr>
                    <p:cNvSpPr txBox="1"/>
                    <p:nvPr/>
                  </p:nvSpPr>
                  <p:spPr>
                    <a:xfrm>
                      <a:off x="342551" y="4509666"/>
                      <a:ext cx="2225746" cy="307982"/>
                    </a:xfrm>
                    <a:prstGeom prst="rect">
                      <a:avLst/>
                    </a:prstGeom>
                    <a:noFill/>
                  </p:spPr>
                  <p:txBody>
                    <a:bodyPr wrap="none">
                      <a:spAutoFit/>
                    </a:bodyPr>
                    <a:lstStyle/>
                    <a:p>
                      <a:pPr>
                        <a:defRPr/>
                      </a:pPr>
                      <a:r>
                        <a:rPr lang="en-IN" sz="1400" b="1" dirty="0">
                          <a:solidFill>
                            <a:srgbClr val="F8F8F8">
                              <a:lumMod val="25000"/>
                            </a:srgbClr>
                          </a:solidFill>
                        </a:rPr>
                        <a:t>Future Market Insights, Inc.</a:t>
                      </a:r>
                    </a:p>
                  </p:txBody>
                </p:sp>
                <p:sp>
                  <p:nvSpPr>
                    <p:cNvPr id="32" name="TextBox 48">
                      <a:extLst>
                        <a:ext uri="{FF2B5EF4-FFF2-40B4-BE49-F238E27FC236}">
                          <a16:creationId xmlns:a16="http://schemas.microsoft.com/office/drawing/2014/main" id="{5E42A1C6-BB29-D226-788C-C515B7D7F676}"/>
                        </a:ext>
                      </a:extLst>
                    </p:cNvPr>
                    <p:cNvSpPr txBox="1">
                      <a:spLocks noChangeArrowheads="1"/>
                    </p:cNvSpPr>
                    <p:nvPr/>
                  </p:nvSpPr>
                  <p:spPr bwMode="auto">
                    <a:xfrm>
                      <a:off x="343272" y="4781118"/>
                      <a:ext cx="223670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Christiana Corporate,</a:t>
                      </a:r>
                    </a:p>
                    <a:p>
                      <a:r>
                        <a:rPr lang="en-US" altLang="en-US" sz="1200"/>
                        <a:t>200 Continental Drive, Suite 401,</a:t>
                      </a:r>
                    </a:p>
                    <a:p>
                      <a:r>
                        <a:rPr lang="en-US" altLang="en-US" sz="1200"/>
                        <a:t>Newark, Delaware - 19713,</a:t>
                      </a:r>
                    </a:p>
                    <a:p>
                      <a:r>
                        <a:rPr lang="en-US" altLang="en-US" sz="1200"/>
                        <a:t>United States</a:t>
                      </a:r>
                      <a:endParaRPr lang="en-IN" altLang="en-US" sz="1200"/>
                    </a:p>
                  </p:txBody>
                </p:sp>
                <p:sp>
                  <p:nvSpPr>
                    <p:cNvPr id="33" name="TextBox 49">
                      <a:extLst>
                        <a:ext uri="{FF2B5EF4-FFF2-40B4-BE49-F238E27FC236}">
                          <a16:creationId xmlns:a16="http://schemas.microsoft.com/office/drawing/2014/main" id="{7B0EBAC2-0F15-2082-71DE-E18F4A36524D}"/>
                        </a:ext>
                      </a:extLst>
                    </p:cNvPr>
                    <p:cNvSpPr txBox="1">
                      <a:spLocks noChangeArrowheads="1"/>
                    </p:cNvSpPr>
                    <p:nvPr/>
                  </p:nvSpPr>
                  <p:spPr bwMode="auto">
                    <a:xfrm>
                      <a:off x="343272" y="5653892"/>
                      <a:ext cx="14073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+1-845-579-5705</a:t>
                      </a:r>
                      <a:endParaRPr lang="en-IN" altLang="en-US" sz="1200"/>
                    </a:p>
                  </p:txBody>
                </p:sp>
              </p:grpSp>
              <p:pic>
                <p:nvPicPr>
                  <p:cNvPr id="34" name="Picture 28">
                    <a:extLst>
                      <a:ext uri="{FF2B5EF4-FFF2-40B4-BE49-F238E27FC236}">
                        <a16:creationId xmlns:a16="http://schemas.microsoft.com/office/drawing/2014/main" id="{B598E670-72B9-922C-CBE9-A98B47FD87DC}"/>
                      </a:ext>
                    </a:extLst>
                  </p:cNvPr>
                  <p:cNvPicPr>
                    <a:picLocks noChangeAspect="1"/>
                  </p:cNvPicPr>
                  <p:nvPr/>
                </p:nvPicPr>
                <p:blipFill>
                  <a:blip r:embed="rId4">
                    <a:duotone>
                      <a:srgbClr val="2A5F8F">
                        <a:shade val="45000"/>
                        <a:satMod val="135000"/>
                      </a:srgbClr>
                      <a:prstClr val="white"/>
                    </a:duotone>
                  </a:blip>
                  <a:stretch>
                    <a:fillRect/>
                  </a:stretch>
                </p:blipFill>
                <p:spPr>
                  <a:xfrm>
                    <a:off x="1306513" y="3772923"/>
                    <a:ext cx="469433" cy="475529"/>
                  </a:xfrm>
                  <a:prstGeom prst="rect">
                    <a:avLst/>
                  </a:prstGeom>
                </p:spPr>
              </p:pic>
            </p:grpSp>
            <p:grpSp>
              <p:nvGrpSpPr>
                <p:cNvPr id="35" name="Group 2">
                  <a:extLst>
                    <a:ext uri="{FF2B5EF4-FFF2-40B4-BE49-F238E27FC236}">
                      <a16:creationId xmlns:a16="http://schemas.microsoft.com/office/drawing/2014/main" id="{4F9635CF-9D3F-75B0-5B7E-AEF9828266C3}"/>
                    </a:ext>
                  </a:extLst>
                </p:cNvPr>
                <p:cNvGrpSpPr>
                  <a:grpSpLocks/>
                </p:cNvGrpSpPr>
                <p:nvPr/>
              </p:nvGrpSpPr>
              <p:grpSpPr bwMode="auto">
                <a:xfrm>
                  <a:off x="9935559" y="3767762"/>
                  <a:ext cx="1982905" cy="1988654"/>
                  <a:chOff x="9005815" y="3745083"/>
                  <a:chExt cx="1982905" cy="1988654"/>
                </a:xfrm>
              </p:grpSpPr>
              <p:grpSp>
                <p:nvGrpSpPr>
                  <p:cNvPr id="36" name="Group 29">
                    <a:extLst>
                      <a:ext uri="{FF2B5EF4-FFF2-40B4-BE49-F238E27FC236}">
                        <a16:creationId xmlns:a16="http://schemas.microsoft.com/office/drawing/2014/main" id="{17F31F47-291F-4405-8AEA-EC1AAB6AA332}"/>
                      </a:ext>
                    </a:extLst>
                  </p:cNvPr>
                  <p:cNvGrpSpPr>
                    <a:grpSpLocks/>
                  </p:cNvGrpSpPr>
                  <p:nvPr/>
                </p:nvGrpSpPr>
                <p:grpSpPr bwMode="auto">
                  <a:xfrm>
                    <a:off x="9005815" y="3828933"/>
                    <a:ext cx="1982905" cy="1904804"/>
                    <a:chOff x="9388489" y="4013610"/>
                    <a:chExt cx="1982905" cy="1904804"/>
                  </a:xfrm>
                </p:grpSpPr>
                <p:sp>
                  <p:nvSpPr>
                    <p:cNvPr id="37" name="TextBox 32">
                      <a:extLst>
                        <a:ext uri="{FF2B5EF4-FFF2-40B4-BE49-F238E27FC236}">
                          <a16:creationId xmlns:a16="http://schemas.microsoft.com/office/drawing/2014/main" id="{C20F854C-8002-E239-0772-DDA0A057E702}"/>
                        </a:ext>
                      </a:extLst>
                    </p:cNvPr>
                    <p:cNvSpPr txBox="1">
                      <a:spLocks noChangeArrowheads="1"/>
                    </p:cNvSpPr>
                    <p:nvPr/>
                  </p:nvSpPr>
                  <p:spPr bwMode="auto">
                    <a:xfrm>
                      <a:off x="9829414" y="4013610"/>
                      <a:ext cx="7897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8F288C"/>
                          </a:solidFill>
                        </a:rPr>
                        <a:t>Europe</a:t>
                      </a:r>
                    </a:p>
                  </p:txBody>
                </p:sp>
                <p:sp>
                  <p:nvSpPr>
                    <p:cNvPr id="38" name="TextBox 23">
                      <a:extLst>
                        <a:ext uri="{FF2B5EF4-FFF2-40B4-BE49-F238E27FC236}">
                          <a16:creationId xmlns:a16="http://schemas.microsoft.com/office/drawing/2014/main" id="{3322F8A5-D2B8-33CA-96AC-DF4EE7ACCB80}"/>
                        </a:ext>
                      </a:extLst>
                    </p:cNvPr>
                    <p:cNvSpPr txBox="1"/>
                    <p:nvPr/>
                  </p:nvSpPr>
                  <p:spPr>
                    <a:xfrm>
                      <a:off x="9389214" y="4498775"/>
                      <a:ext cx="1870134" cy="307982"/>
                    </a:xfrm>
                    <a:prstGeom prst="rect">
                      <a:avLst/>
                    </a:prstGeom>
                    <a:noFill/>
                  </p:spPr>
                  <p:txBody>
                    <a:bodyPr wrap="none">
                      <a:spAutoFit/>
                    </a:bodyPr>
                    <a:lstStyle/>
                    <a:p>
                      <a:pPr>
                        <a:defRPr/>
                      </a:pPr>
                      <a:r>
                        <a:rPr lang="en-IN" sz="1400" b="1" dirty="0">
                          <a:solidFill>
                            <a:srgbClr val="F8F8F8">
                              <a:lumMod val="25000"/>
                            </a:srgbClr>
                          </a:solidFill>
                        </a:rPr>
                        <a:t>Future Market Insights</a:t>
                      </a:r>
                    </a:p>
                  </p:txBody>
                </p:sp>
                <p:sp>
                  <p:nvSpPr>
                    <p:cNvPr id="39" name="TextBox 36">
                      <a:extLst>
                        <a:ext uri="{FF2B5EF4-FFF2-40B4-BE49-F238E27FC236}">
                          <a16:creationId xmlns:a16="http://schemas.microsoft.com/office/drawing/2014/main" id="{BF5AF88F-6B60-2785-4EAA-4D18C1EE2E10}"/>
                        </a:ext>
                      </a:extLst>
                    </p:cNvPr>
                    <p:cNvSpPr txBox="1">
                      <a:spLocks noChangeArrowheads="1"/>
                    </p:cNvSpPr>
                    <p:nvPr/>
                  </p:nvSpPr>
                  <p:spPr bwMode="auto">
                    <a:xfrm>
                      <a:off x="9402137" y="4768641"/>
                      <a:ext cx="196925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3rd Floor, 207 Regent Street,</a:t>
                      </a:r>
                    </a:p>
                    <a:p>
                      <a:r>
                        <a:rPr lang="en-US" altLang="en-US" sz="1200"/>
                        <a:t>London W1B 3HH</a:t>
                      </a:r>
                    </a:p>
                    <a:p>
                      <a:r>
                        <a:rPr lang="en-US" altLang="en-US" sz="1200"/>
                        <a:t>United Kingdom</a:t>
                      </a:r>
                      <a:endParaRPr lang="en-IN" altLang="en-US" sz="1200"/>
                    </a:p>
                  </p:txBody>
                </p:sp>
                <p:sp>
                  <p:nvSpPr>
                    <p:cNvPr id="40" name="TextBox 37">
                      <a:extLst>
                        <a:ext uri="{FF2B5EF4-FFF2-40B4-BE49-F238E27FC236}">
                          <a16:creationId xmlns:a16="http://schemas.microsoft.com/office/drawing/2014/main" id="{6C7DE665-66A8-41DE-5008-32252CDA85C7}"/>
                        </a:ext>
                      </a:extLst>
                    </p:cNvPr>
                    <p:cNvSpPr txBox="1">
                      <a:spLocks noChangeArrowheads="1"/>
                    </p:cNvSpPr>
                    <p:nvPr/>
                  </p:nvSpPr>
                  <p:spPr bwMode="auto">
                    <a:xfrm>
                      <a:off x="9388489" y="5641415"/>
                      <a:ext cx="16882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D: +44 (0) 20 3287 4268</a:t>
                      </a:r>
                      <a:endParaRPr lang="en-IN" altLang="en-US" sz="1200"/>
                    </a:p>
                  </p:txBody>
                </p:sp>
                <p:sp>
                  <p:nvSpPr>
                    <p:cNvPr id="41" name="TextBox 38">
                      <a:extLst>
                        <a:ext uri="{FF2B5EF4-FFF2-40B4-BE49-F238E27FC236}">
                          <a16:creationId xmlns:a16="http://schemas.microsoft.com/office/drawing/2014/main" id="{7192F681-8D30-360D-BE9D-3B3024A1F2DD}"/>
                        </a:ext>
                      </a:extLst>
                    </p:cNvPr>
                    <p:cNvSpPr txBox="1">
                      <a:spLocks noChangeArrowheads="1"/>
                    </p:cNvSpPr>
                    <p:nvPr/>
                  </p:nvSpPr>
                  <p:spPr bwMode="auto">
                    <a:xfrm>
                      <a:off x="9388489" y="5392439"/>
                      <a:ext cx="169424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+ 44 (0) 20 8123 9659</a:t>
                      </a:r>
                      <a:endParaRPr lang="en-IN" altLang="en-US" sz="1200"/>
                    </a:p>
                  </p:txBody>
                </p:sp>
              </p:grpSp>
              <p:pic>
                <p:nvPicPr>
                  <p:cNvPr id="42" name="Picture 21">
                    <a:extLst>
                      <a:ext uri="{FF2B5EF4-FFF2-40B4-BE49-F238E27FC236}">
                        <a16:creationId xmlns:a16="http://schemas.microsoft.com/office/drawing/2014/main" id="{0DB190B5-E4D9-2234-7560-F46B079C348A}"/>
                      </a:ext>
                    </a:extLst>
                  </p:cNvPr>
                  <p:cNvPicPr>
                    <a:picLocks noChangeAspect="1"/>
                  </p:cNvPicPr>
                  <p:nvPr/>
                </p:nvPicPr>
                <p:blipFill>
                  <a:blip r:embed="rId5">
                    <a:duotone>
                      <a:srgbClr val="40315E">
                        <a:shade val="45000"/>
                        <a:satMod val="135000"/>
                      </a:srgbClr>
                      <a:prstClr val="white"/>
                    </a:duotone>
                  </a:blip>
                  <a:stretch>
                    <a:fillRect/>
                  </a:stretch>
                </p:blipFill>
                <p:spPr>
                  <a:xfrm>
                    <a:off x="9124235" y="3745083"/>
                    <a:ext cx="348835" cy="506254"/>
                  </a:xfrm>
                  <a:prstGeom prst="rect">
                    <a:avLst/>
                  </a:prstGeom>
                </p:spPr>
              </p:pic>
            </p:grpSp>
          </p:grpSp>
          <p:sp>
            <p:nvSpPr>
              <p:cNvPr id="43" name="TextBox 55">
                <a:extLst>
                  <a:ext uri="{FF2B5EF4-FFF2-40B4-BE49-F238E27FC236}">
                    <a16:creationId xmlns:a16="http://schemas.microsoft.com/office/drawing/2014/main" id="{143EC9E9-5458-9CB8-6ACE-446AFE79BB51}"/>
                  </a:ext>
                </a:extLst>
              </p:cNvPr>
              <p:cNvSpPr txBox="1">
                <a:spLocks noChangeArrowheads="1"/>
              </p:cNvSpPr>
              <p:nvPr/>
            </p:nvSpPr>
            <p:spPr bwMode="auto">
              <a:xfrm>
                <a:off x="274514" y="798871"/>
                <a:ext cx="1890261" cy="2041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pPr algn="ctr">
                  <a:lnSpc>
                    <a:spcPts val="7600"/>
                  </a:lnSpc>
                </a:pPr>
                <a:r>
                  <a:rPr lang="en-IN" altLang="en-US" sz="8000">
                    <a:solidFill>
                      <a:srgbClr val="00B0F0"/>
                    </a:solidFill>
                    <a:latin typeface="Juxtaposer"/>
                  </a:rPr>
                  <a:t>Thank</a:t>
                </a:r>
                <a:br>
                  <a:rPr lang="en-IN" altLang="en-US" sz="8000">
                    <a:solidFill>
                      <a:srgbClr val="00B0F0"/>
                    </a:solidFill>
                    <a:latin typeface="Juxtaposer"/>
                  </a:rPr>
                </a:br>
                <a:r>
                  <a:rPr lang="en-IN" altLang="en-US" sz="8000">
                    <a:solidFill>
                      <a:srgbClr val="00B0F0"/>
                    </a:solidFill>
                    <a:latin typeface="Juxtaposer"/>
                  </a:rPr>
                  <a:t>You</a:t>
                </a:r>
              </a:p>
            </p:txBody>
          </p:sp>
          <p:pic>
            <p:nvPicPr>
              <p:cNvPr id="44" name="Picture 10">
                <a:extLst>
                  <a:ext uri="{FF2B5EF4-FFF2-40B4-BE49-F238E27FC236}">
                    <a16:creationId xmlns:a16="http://schemas.microsoft.com/office/drawing/2014/main" id="{BB144989-CF53-8B1E-220B-C1AE23628EE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492719" y="229820"/>
                <a:ext cx="3171090" cy="3179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5" name="Group 19">
                <a:extLst>
                  <a:ext uri="{FF2B5EF4-FFF2-40B4-BE49-F238E27FC236}">
                    <a16:creationId xmlns:a16="http://schemas.microsoft.com/office/drawing/2014/main" id="{31EE7083-91D9-EAE9-7B4A-61CD2CD28015}"/>
                  </a:ext>
                </a:extLst>
              </p:cNvPr>
              <p:cNvGrpSpPr>
                <a:grpSpLocks/>
              </p:cNvGrpSpPr>
              <p:nvPr/>
            </p:nvGrpSpPr>
            <p:grpSpPr bwMode="auto">
              <a:xfrm>
                <a:off x="6166925" y="272562"/>
                <a:ext cx="5750562" cy="3051976"/>
                <a:chOff x="6166925" y="272562"/>
                <a:chExt cx="5750562" cy="3051976"/>
              </a:xfrm>
            </p:grpSpPr>
            <p:pic>
              <p:nvPicPr>
                <p:cNvPr id="46" name="Picture 1">
                  <a:extLst>
                    <a:ext uri="{FF2B5EF4-FFF2-40B4-BE49-F238E27FC236}">
                      <a16:creationId xmlns:a16="http://schemas.microsoft.com/office/drawing/2014/main" id="{021C83A4-8483-5171-EA6C-FF76CE65A12D}"/>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166925" y="2103900"/>
                  <a:ext cx="5750562" cy="12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58">
                  <a:extLst>
                    <a:ext uri="{FF2B5EF4-FFF2-40B4-BE49-F238E27FC236}">
                      <a16:creationId xmlns:a16="http://schemas.microsoft.com/office/drawing/2014/main" id="{38693FBE-DE43-1025-B0DC-2ADDCCB25AB1}"/>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493725" y="272562"/>
                  <a:ext cx="3096962" cy="1740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spTree>
  </p:cSld>
  <p:clrMapOvr>
    <a:masterClrMapping/>
  </p:clrMapOvr>
</p:sld>
</file>

<file path=ppt/theme/theme1.xml><?xml version="1.0" encoding="utf-8"?>
<a:theme xmlns:a="http://schemas.openxmlformats.org/drawingml/2006/main" name="Office Theme">
  <a:themeElements>
    <a:clrScheme name="Custom 70">
      <a:dk1>
        <a:sysClr val="windowText" lastClr="000000"/>
      </a:dk1>
      <a:lt1>
        <a:sysClr val="window" lastClr="FFFFFF"/>
      </a:lt1>
      <a:dk2>
        <a:srgbClr val="000000"/>
      </a:dk2>
      <a:lt2>
        <a:srgbClr val="F8F8F8"/>
      </a:lt2>
      <a:accent1>
        <a:srgbClr val="3D85C6"/>
      </a:accent1>
      <a:accent2>
        <a:srgbClr val="9E7E0A"/>
      </a:accent2>
      <a:accent3>
        <a:srgbClr val="40315E"/>
      </a:accent3>
      <a:accent4>
        <a:srgbClr val="008189"/>
      </a:accent4>
      <a:accent5>
        <a:srgbClr val="A35313"/>
      </a:accent5>
      <a:accent6>
        <a:srgbClr val="5F5F5F"/>
      </a:accent6>
      <a:hlink>
        <a:srgbClr val="5F5F5F"/>
      </a:hlink>
      <a:folHlink>
        <a:srgbClr val="919191"/>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